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522d68ca07440d" /><Relationship Type="http://schemas.openxmlformats.org/officeDocument/2006/relationships/extended-properties" Target="/docProps/app.xml" Id="R979ddc2dd6054dfa" /><Relationship Type="http://schemas.openxmlformats.org/officeDocument/2006/relationships/officeDocument" Target="/ppt/presentation.xml" Id="Rad124fd2545342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39723676864a34"/>
  </p:sldMasterIdLst>
  <p:notesMasterIdLst>
    <p:notesMasterId xmlns:r="http://schemas.openxmlformats.org/officeDocument/2006/relationships" r:id="R8c8b8cf413b64f32"/>
  </p:notesMasterIdLst>
  <p:sldIdLst>
    <p:sldId xmlns:r="http://schemas.openxmlformats.org/officeDocument/2006/relationships" id="256" r:id="R0fe3778fe6cb4db6"/>
    <p:sldId xmlns:r="http://schemas.openxmlformats.org/officeDocument/2006/relationships" id="257" r:id="Re692404e2ed34243"/>
    <p:sldId xmlns:r="http://schemas.openxmlformats.org/officeDocument/2006/relationships" id="258" r:id="Ra8e855761c0f4f29"/>
    <p:sldId xmlns:r="http://schemas.openxmlformats.org/officeDocument/2006/relationships" id="259" r:id="R965445c8ccf94408"/>
    <p:sldId xmlns:r="http://schemas.openxmlformats.org/officeDocument/2006/relationships" id="260" r:id="Re908c248b7bd409b"/>
    <p:sldId xmlns:r="http://schemas.openxmlformats.org/officeDocument/2006/relationships" id="261" r:id="R08251c8575ce4f73"/>
    <p:sldId xmlns:r="http://schemas.openxmlformats.org/officeDocument/2006/relationships" id="262" r:id="R8fa96c78e573415b"/>
    <p:sldId xmlns:r="http://schemas.openxmlformats.org/officeDocument/2006/relationships" id="263" r:id="R0a03bf94c4764128"/>
    <p:sldId xmlns:r="http://schemas.openxmlformats.org/officeDocument/2006/relationships" id="264" r:id="Rfaf47d1324f54bed"/>
    <p:sldId xmlns:r="http://schemas.openxmlformats.org/officeDocument/2006/relationships" id="265" r:id="Rb7f2323bf3b54a5f"/>
    <p:sldId xmlns:r="http://schemas.openxmlformats.org/officeDocument/2006/relationships" id="266" r:id="R5acd7a4d882e4fe7"/>
    <p:sldId xmlns:r="http://schemas.openxmlformats.org/officeDocument/2006/relationships" id="267" r:id="Rf1a5d3ad6b0c43c5"/>
    <p:sldId xmlns:r="http://schemas.openxmlformats.org/officeDocument/2006/relationships" id="268" r:id="R0184812cfda543df"/>
    <p:sldId xmlns:r="http://schemas.openxmlformats.org/officeDocument/2006/relationships" id="269" r:id="R871d548af1064a0e"/>
    <p:sldId xmlns:r="http://schemas.openxmlformats.org/officeDocument/2006/relationships" id="270" r:id="R511c3317d0484163"/>
    <p:sldId xmlns:r="http://schemas.openxmlformats.org/officeDocument/2006/relationships" id="271" r:id="R22e4a69deb5e4e19"/>
    <p:sldId xmlns:r="http://schemas.openxmlformats.org/officeDocument/2006/relationships" id="272" r:id="R75de881eb30542c1"/>
    <p:sldId xmlns:r="http://schemas.openxmlformats.org/officeDocument/2006/relationships" id="273" r:id="R8822c32228b84222"/>
    <p:sldId xmlns:r="http://schemas.openxmlformats.org/officeDocument/2006/relationships" id="274" r:id="R0b662f8be6ed4d4c"/>
    <p:sldId xmlns:r="http://schemas.openxmlformats.org/officeDocument/2006/relationships" id="275" r:id="Rb596fb78b6aa4f1e"/>
    <p:sldId xmlns:r="http://schemas.openxmlformats.org/officeDocument/2006/relationships" id="276" r:id="R0d390e2f078f4dd7"/>
    <p:sldId xmlns:r="http://schemas.openxmlformats.org/officeDocument/2006/relationships" id="277" r:id="R5878db95b86b4e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8ac4eba14940cd" /><Relationship Type="http://schemas.openxmlformats.org/officeDocument/2006/relationships/slideMaster" Target="/ppt/slideMasters/slideMaster1.xml" Id="Rd539723676864a34" /><Relationship Type="http://schemas.openxmlformats.org/officeDocument/2006/relationships/notesMaster" Target="/ppt/notesMasters/notesMaster1.xml" Id="R8c8b8cf413b64f32" /><Relationship Type="http://schemas.openxmlformats.org/officeDocument/2006/relationships/presProps" Target="/ppt/presProps.xml" Id="R30cc11902de044f0" /><Relationship Type="http://schemas.openxmlformats.org/officeDocument/2006/relationships/tableStyles" Target="/ppt/tableStyles.xml" Id="R1674f632bf0d42cf" /><Relationship Type="http://schemas.openxmlformats.org/officeDocument/2006/relationships/slide" Target="/ppt/slides/slide1.xml" Id="R0fe3778fe6cb4db6" /><Relationship Type="http://schemas.openxmlformats.org/officeDocument/2006/relationships/slide" Target="/ppt/slides/slide2.xml" Id="Re692404e2ed34243" /><Relationship Type="http://schemas.openxmlformats.org/officeDocument/2006/relationships/slide" Target="/ppt/slides/slide3.xml" Id="Ra8e855761c0f4f29" /><Relationship Type="http://schemas.openxmlformats.org/officeDocument/2006/relationships/slide" Target="/ppt/slides/slide4.xml" Id="R965445c8ccf94408" /><Relationship Type="http://schemas.openxmlformats.org/officeDocument/2006/relationships/slide" Target="/ppt/slides/slide5.xml" Id="Re908c248b7bd409b" /><Relationship Type="http://schemas.openxmlformats.org/officeDocument/2006/relationships/slide" Target="/ppt/slides/slide6.xml" Id="R08251c8575ce4f73" /><Relationship Type="http://schemas.openxmlformats.org/officeDocument/2006/relationships/slide" Target="/ppt/slides/slide7.xml" Id="R8fa96c78e573415b" /><Relationship Type="http://schemas.openxmlformats.org/officeDocument/2006/relationships/slide" Target="/ppt/slides/slide8.xml" Id="R0a03bf94c4764128" /><Relationship Type="http://schemas.openxmlformats.org/officeDocument/2006/relationships/slide" Target="/ppt/slides/slide9.xml" Id="Rfaf47d1324f54bed" /><Relationship Type="http://schemas.openxmlformats.org/officeDocument/2006/relationships/slide" Target="/ppt/slides/slide10.xml" Id="Rb7f2323bf3b54a5f" /><Relationship Type="http://schemas.openxmlformats.org/officeDocument/2006/relationships/slide" Target="/ppt/slides/slide11.xml" Id="R5acd7a4d882e4fe7" /><Relationship Type="http://schemas.openxmlformats.org/officeDocument/2006/relationships/slide" Target="/ppt/slides/slide12.xml" Id="Rf1a5d3ad6b0c43c5" /><Relationship Type="http://schemas.openxmlformats.org/officeDocument/2006/relationships/slide" Target="/ppt/slides/slide13.xml" Id="R0184812cfda543df" /><Relationship Type="http://schemas.openxmlformats.org/officeDocument/2006/relationships/slide" Target="/ppt/slides/slide14.xml" Id="R871d548af1064a0e" /><Relationship Type="http://schemas.openxmlformats.org/officeDocument/2006/relationships/slide" Target="/ppt/slides/slide15.xml" Id="R511c3317d0484163" /><Relationship Type="http://schemas.openxmlformats.org/officeDocument/2006/relationships/slide" Target="/ppt/slides/slide16.xml" Id="R22e4a69deb5e4e19" /><Relationship Type="http://schemas.openxmlformats.org/officeDocument/2006/relationships/slide" Target="/ppt/slides/slide17.xml" Id="R75de881eb30542c1" /><Relationship Type="http://schemas.openxmlformats.org/officeDocument/2006/relationships/slide" Target="/ppt/slides/slide18.xml" Id="R8822c32228b84222" /><Relationship Type="http://schemas.openxmlformats.org/officeDocument/2006/relationships/slide" Target="/ppt/slides/slide19.xml" Id="R0b662f8be6ed4d4c" /><Relationship Type="http://schemas.openxmlformats.org/officeDocument/2006/relationships/slide" Target="/ppt/slides/slide20.xml" Id="Rb596fb78b6aa4f1e" /><Relationship Type="http://schemas.openxmlformats.org/officeDocument/2006/relationships/slide" Target="/ppt/slides/slide21.xml" Id="R0d390e2f078f4dd7" /><Relationship Type="http://schemas.openxmlformats.org/officeDocument/2006/relationships/slide" Target="/ppt/slides/slide22.xml" Id="R5878db95b86b4e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55c3a551c24f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9e841e2d9f4f63" /><Relationship Type="http://schemas.openxmlformats.org/officeDocument/2006/relationships/notesMaster" Target="/ppt/notesMasters/notesMaster1.xml" Id="R8f07efb18e7d45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22c74393f549b1" /><Relationship Type="http://schemas.openxmlformats.org/officeDocument/2006/relationships/notesMaster" Target="/ppt/notesMasters/notesMaster1.xml" Id="R57e159ccc3b141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4992ebf8fa45fd" /><Relationship Type="http://schemas.openxmlformats.org/officeDocument/2006/relationships/notesMaster" Target="/ppt/notesMasters/notesMaster1.xml" Id="Red40e6c8386e43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50886a9c194c75" /><Relationship Type="http://schemas.openxmlformats.org/officeDocument/2006/relationships/notesMaster" Target="/ppt/notesMasters/notesMaster1.xml" Id="Rab1c67160e9945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fc82f95ed3438c" /><Relationship Type="http://schemas.openxmlformats.org/officeDocument/2006/relationships/notesMaster" Target="/ppt/notesMasters/notesMaster1.xml" Id="Redcb7d8862e041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af3268133f47a2" /><Relationship Type="http://schemas.openxmlformats.org/officeDocument/2006/relationships/notesMaster" Target="/ppt/notesMasters/notesMaster1.xml" Id="Rb267559d3b6142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167eca8ae54b5c" /><Relationship Type="http://schemas.openxmlformats.org/officeDocument/2006/relationships/notesMaster" Target="/ppt/notesMasters/notesMaster1.xml" Id="Rad54f898850540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66c6af59d34662" /><Relationship Type="http://schemas.openxmlformats.org/officeDocument/2006/relationships/notesMaster" Target="/ppt/notesMasters/notesMaster1.xml" Id="Rc20d59c9f88a45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2cfce1147a4b90" /><Relationship Type="http://schemas.openxmlformats.org/officeDocument/2006/relationships/notesMaster" Target="/ppt/notesMasters/notesMaster1.xml" Id="R98195d4e871446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f12c9147c143f8" /><Relationship Type="http://schemas.openxmlformats.org/officeDocument/2006/relationships/notesMaster" Target="/ppt/notesMasters/notesMaster1.xml" Id="R0a95fb6f21a445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c08da349be47ec" /><Relationship Type="http://schemas.openxmlformats.org/officeDocument/2006/relationships/notesMaster" Target="/ppt/notesMasters/notesMaster1.xml" Id="Rb8b3f47393cc41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b07e611730f42cb" /><Relationship Type="http://schemas.openxmlformats.org/officeDocument/2006/relationships/notesMaster" Target="/ppt/notesMasters/notesMaster1.xml" Id="R0a03d04b04d84d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a8e0530a0d4e03" /><Relationship Type="http://schemas.openxmlformats.org/officeDocument/2006/relationships/notesMaster" Target="/ppt/notesMasters/notesMaster1.xml" Id="R67681460658d455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9473bd10ba34538" /><Relationship Type="http://schemas.openxmlformats.org/officeDocument/2006/relationships/notesMaster" Target="/ppt/notesMasters/notesMaster1.xml" Id="Rf760f283654a442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cec5ecbcd704297" /><Relationship Type="http://schemas.openxmlformats.org/officeDocument/2006/relationships/notesMaster" Target="/ppt/notesMasters/notesMaster1.xml" Id="Rd5fdf954853c449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5832e582a08408b" /><Relationship Type="http://schemas.openxmlformats.org/officeDocument/2006/relationships/notesMaster" Target="/ppt/notesMasters/notesMaster1.xml" Id="R367e9db55d2545c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44b623cd1b74230" /><Relationship Type="http://schemas.openxmlformats.org/officeDocument/2006/relationships/notesMaster" Target="/ppt/notesMasters/notesMaster1.xml" Id="Rc3b64050dbec47f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bdee4b261974731" /><Relationship Type="http://schemas.openxmlformats.org/officeDocument/2006/relationships/notesMaster" Target="/ppt/notesMasters/notesMaster1.xml" Id="R9b90a531be87453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d54194ae92e424f" /><Relationship Type="http://schemas.openxmlformats.org/officeDocument/2006/relationships/notesMaster" Target="/ppt/notesMasters/notesMaster1.xml" Id="R9a9256133c7447e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da4195a4b274635" /><Relationship Type="http://schemas.openxmlformats.org/officeDocument/2006/relationships/notesMaster" Target="/ppt/notesMasters/notesMaster1.xml" Id="R4d8d7ded3ab8480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1b1e86d68cd40fa" /><Relationship Type="http://schemas.openxmlformats.org/officeDocument/2006/relationships/notesMaster" Target="/ppt/notesMasters/notesMaster1.xml" Id="R720b18f3c2c14f6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77c176de2ea47a9" /><Relationship Type="http://schemas.openxmlformats.org/officeDocument/2006/relationships/notesMaster" Target="/ppt/notesMasters/notesMaster1.xml" Id="R713932952d2543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[5]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[6]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[9]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[6]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[9]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[11]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[11]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[12]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[7]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[7]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[9]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[5]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[9]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26eaabdb1245c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d758c6854a40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73aeca10f94d6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02480f76ca406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587a07d015403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cdb063c61f45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F82381-3E26-4E1B-930B-0555185718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56C062E-20C8-44FA-9235-4D67942B60A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C655AB8-C671-401D-AE2C-F6029E37D2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B0AAE8-6FE3-4D9F-8290-D24EF04488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3F15A44-81E4-4271-9E49-79FAFEBA2E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4884CB0-5527-44DC-A5C7-4B0AE760B3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3A16BD-0F38-47BD-82C6-5130644E0E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F6A6E10-A374-441F-8B94-E7666CED714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5CA473-B9DC-414F-A4BE-BC7AB2DF0B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0FBBE19-138A-4F1C-9A96-86364BC7E9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e25124c14e4ffe" /><Relationship Type="http://schemas.openxmlformats.org/officeDocument/2006/relationships/slideLayout" Target="/ppt/slideLayouts/slideLayout1.xml" Id="R5faecda76ce041cb" /><Relationship Type="http://schemas.openxmlformats.org/officeDocument/2006/relationships/slideLayout" Target="/ppt/slideLayouts/slideLayout2.xml" Id="R8508384dfd12410c" /><Relationship Type="http://schemas.openxmlformats.org/officeDocument/2006/relationships/slideLayout" Target="/ppt/slideLayouts/slideLayout3.xml" Id="Rf09c3c73af9a415a" /><Relationship Type="http://schemas.openxmlformats.org/officeDocument/2006/relationships/slideLayout" Target="/ppt/slideLayouts/slideLayout4.xml" Id="Rafcd2bff90744203" /><Relationship Type="http://schemas.openxmlformats.org/officeDocument/2006/relationships/slideLayout" Target="/ppt/slideLayouts/slideLayout5.xml" Id="Rec025c5bc34140d6" /><Relationship Type="http://schemas.openxmlformats.org/officeDocument/2006/relationships/slideLayout" Target="/ppt/slideLayouts/slideLayout6.xml" Id="Re9d11380bf4247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aecda76ce041cb"/>
    <p:sldLayoutId xmlns:r="http://schemas.openxmlformats.org/officeDocument/2006/relationships" id="2147483650" r:id="R8508384dfd12410c"/>
    <p:sldLayoutId xmlns:r="http://schemas.openxmlformats.org/officeDocument/2006/relationships" id="2147483651" r:id="Rf09c3c73af9a415a"/>
    <p:sldLayoutId xmlns:r="http://schemas.openxmlformats.org/officeDocument/2006/relationships" id="2147483652" r:id="Rafcd2bff90744203"/>
    <p:sldLayoutId xmlns:r="http://schemas.openxmlformats.org/officeDocument/2006/relationships" id="2147483653" r:id="Rec025c5bc34140d6"/>
    <p:sldLayoutId xmlns:r="http://schemas.openxmlformats.org/officeDocument/2006/relationships" id="2147483654" r:id="Re9d11380bf4247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1d2735f50c4e78" /><Relationship Type="http://schemas.openxmlformats.org/officeDocument/2006/relationships/notesSlide" Target="/ppt/notesSlides/notesSlide1.xml" Id="R628969ecd3a941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076293c2b64c3a" /><Relationship Type="http://schemas.openxmlformats.org/officeDocument/2006/relationships/notesSlide" Target="/ppt/notesSlides/notesSlide2.xml" Id="Rf09361e0b5a844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b7722943814b0d" /><Relationship Type="http://schemas.openxmlformats.org/officeDocument/2006/relationships/chart" Target="/ppt/slides/charts/chart1.xml" Id="R080cd97d4b4c4bc5" /><Relationship Type="http://schemas.openxmlformats.org/officeDocument/2006/relationships/chart" Target="/ppt/slides/charts/chart2.xml" Id="R120198928b834d05" /><Relationship Type="http://schemas.openxmlformats.org/officeDocument/2006/relationships/notesSlide" Target="/ppt/notesSlides/notesSlide3.xml" Id="Rd38e43b754744b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ee8dbb875944c0" /><Relationship Type="http://schemas.openxmlformats.org/officeDocument/2006/relationships/notesSlide" Target="/ppt/notesSlides/notesSlide4.xml" Id="R3bded23f3d8a4d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a52e4472564f7f" /><Relationship Type="http://schemas.openxmlformats.org/officeDocument/2006/relationships/notesSlide" Target="/ppt/notesSlides/notesSlide5.xml" Id="R16be5d4552d64b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3402a8eb844770" /><Relationship Type="http://schemas.openxmlformats.org/officeDocument/2006/relationships/notesSlide" Target="/ppt/notesSlides/notesSlide6.xml" Id="R51dab37db17e45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3ee10e56a24e9b" /><Relationship Type="http://schemas.openxmlformats.org/officeDocument/2006/relationships/notesSlide" Target="/ppt/notesSlides/notesSlide7.xml" Id="Rcdb7a10c56ba47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779be3fe69474c" /><Relationship Type="http://schemas.openxmlformats.org/officeDocument/2006/relationships/notesSlide" Target="/ppt/notesSlides/notesSlide8.xml" Id="R6a2e84dd524349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d86a1425374fbe" /><Relationship Type="http://schemas.openxmlformats.org/officeDocument/2006/relationships/notesSlide" Target="/ppt/notesSlides/notesSlide9.xml" Id="R2dc10668315946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6f5de1c4814d4d" /><Relationship Type="http://schemas.openxmlformats.org/officeDocument/2006/relationships/notesSlide" Target="/ppt/notesSlides/notesSlide10.xml" Id="R5681924a391141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3e378fe5b444ef" /><Relationship Type="http://schemas.openxmlformats.org/officeDocument/2006/relationships/notesSlide" Target="/ppt/notesSlides/notesSlide11.xml" Id="R7f6330c492e54a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6339bc31d24080" /><Relationship Type="http://schemas.openxmlformats.org/officeDocument/2006/relationships/notesSlide" Target="/ppt/notesSlides/notesSlide12.xml" Id="R0e95c81069ab45c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ae0e509b614e43" /><Relationship Type="http://schemas.openxmlformats.org/officeDocument/2006/relationships/notesSlide" Target="/ppt/notesSlides/notesSlide13.xml" Id="R50dafb0c0c1a447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0b1aac2e094166" /><Relationship Type="http://schemas.openxmlformats.org/officeDocument/2006/relationships/notesSlide" Target="/ppt/notesSlides/notesSlide14.xml" Id="R8bdbb876dcac4f8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cfee8d1fdb4d8b" /><Relationship Type="http://schemas.openxmlformats.org/officeDocument/2006/relationships/notesSlide" Target="/ppt/notesSlides/notesSlide15.xml" Id="Rbff4bc08f07142b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f1feff9a904a59" /><Relationship Type="http://schemas.openxmlformats.org/officeDocument/2006/relationships/notesSlide" Target="/ppt/notesSlides/notesSlide16.xml" Id="Rb30d21a0542b408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bfec930d54487e" /><Relationship Type="http://schemas.openxmlformats.org/officeDocument/2006/relationships/notesSlide" Target="/ppt/notesSlides/notesSlide17.xml" Id="R9ac78cafee0d43e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ff2f610381434b" /><Relationship Type="http://schemas.openxmlformats.org/officeDocument/2006/relationships/hyperlink" Target="https://docs.nvidia.com/cuda/cuda-c-best-practices-guide/index.html" TargetMode="External" Id="Raf21a769323b40dd" /><Relationship Type="http://schemas.openxmlformats.org/officeDocument/2006/relationships/hyperlink" Target="https://docs.nvidia.com/gpudirect-storage/overview-guide/index.html" TargetMode="External" Id="Rd8e73ef7f2c34537" /><Relationship Type="http://schemas.openxmlformats.org/officeDocument/2006/relationships/hyperlink" Target="https://docs.nvidia.com/gpudirect-storage/design-guide/index.html" TargetMode="External" Id="R828df0bc25754189" /><Relationship Type="http://schemas.openxmlformats.org/officeDocument/2006/relationships/hyperlink" Target="https://docs.nvidia.com/megatron-core/developer-guide/latest/user-guide/parallelism-guide.html" TargetMode="External" Id="R1180e2b21b014471" /><Relationship Type="http://schemas.openxmlformats.org/officeDocument/2006/relationships/notesSlide" Target="/ppt/notesSlides/notesSlide18.xml" Id="R4124bc2aecd74ef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7853fbe3184ab3" /><Relationship Type="http://schemas.openxmlformats.org/officeDocument/2006/relationships/hyperlink" Target="https://www.iea.org/reports/key-questions-on-energy-and-ai/executive-summary" TargetMode="External" Id="Rb2c423cc613344c1" /><Relationship Type="http://schemas.openxmlformats.org/officeDocument/2006/relationships/hyperlink" Target="https://www.nsf.gov/cise/updates/nairr-2-years-advancing-american-artificial-intelligence" TargetMode="External" Id="Rc372d35d94054d64" /><Relationship Type="http://schemas.openxmlformats.org/officeDocument/2006/relationships/hyperlink" Target="https://aclanthology.org/P19-1355/" TargetMode="External" Id="R040d242b0820428e" /><Relationship Type="http://schemas.openxmlformats.org/officeDocument/2006/relationships/hyperlink" Target="https://arxiv.org/abs/2304.03271v5" TargetMode="External" Id="Rb2526a5124054c64" /><Relationship Type="http://schemas.openxmlformats.org/officeDocument/2006/relationships/notesSlide" Target="/ppt/notesSlides/notesSlide19.xml" Id="R9e6200837df34af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5b1cd8289949c0" /><Relationship Type="http://schemas.openxmlformats.org/officeDocument/2006/relationships/hyperlink" Target="https://arxiv.org/abs/1907.10597" TargetMode="External" Id="R69f8abc90093477d" /><Relationship Type="http://schemas.openxmlformats.org/officeDocument/2006/relationships/hyperlink" Target="https://arxiv.org/abs/1906.08935v2" TargetMode="External" Id="Ra672cacd8a274edb" /><Relationship Type="http://schemas.openxmlformats.org/officeDocument/2006/relationships/hyperlink" Target="https://aclanthology.org/2024.cl-3.8/" TargetMode="External" Id="Rdef2b55314ab425e" /><Relationship Type="http://schemas.openxmlformats.org/officeDocument/2006/relationships/hyperlink" Target="https://arxiv.org/abs/2010.15581v1" TargetMode="External" Id="R7138e347c5ce4463" /><Relationship Type="http://schemas.openxmlformats.org/officeDocument/2006/relationships/notesSlide" Target="/ppt/notesSlides/notesSlide20.xml" Id="Rca924fcca311402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c6ea7c35984483" /><Relationship Type="http://schemas.openxmlformats.org/officeDocument/2006/relationships/hyperlink" Target="https://arxiv.org/abs/2106.11750v1" TargetMode="External" Id="Rd5316cd9772d4251" /><Relationship Type="http://schemas.openxmlformats.org/officeDocument/2006/relationships/hyperlink" Target="https://www.oecd.org/en/topics/ai-principles.html" TargetMode="External" Id="Radfe2becd86e4eac" /><Relationship Type="http://schemas.openxmlformats.org/officeDocument/2006/relationships/hyperlink" Target="https://airc.nist.gov/airmf-resources/playbook/" TargetMode="External" Id="R6754a2deebc04103" /><Relationship Type="http://schemas.openxmlformats.org/officeDocument/2006/relationships/notesSlide" Target="/ppt/notesSlides/notesSlide21.xml" Id="Rafe2a3a5a3164dd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5a5004ac694af6" /><Relationship Type="http://schemas.openxmlformats.org/officeDocument/2006/relationships/notesSlide" Target="/ppt/notesSlides/notesSlide22.xml" Id="R111b2067f7694d3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Electricity (TWh)</c:v>
          </c:tx>
          <c:spPr>
            <a:solidFill xmlns:a="http://schemas.openxmlformats.org/drawingml/2006/main">
              <a:srgbClr val="007B83"/>
            </a:solidFill>
          </c:spPr>
          <c:cat>
            <c:strRef>
              <c:f>'Chart Data'!$A$2:$A$3</c:f>
              <c:strCache>
                <c:ptCount val="2"/>
                <c:pt idx="0">
                  <c:v>2025 estimate</c:v>
                </c:pt>
                <c:pt idx="1">
                  <c:v>2030 projection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485</c:v>
                </c:pt>
                <c:pt idx="1">
                  <c:v>950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2025 growth</c:v>
          </c:tx>
          <c:spPr>
            <a:solidFill xmlns:a="http://schemas.openxmlformats.org/drawingml/2006/main">
              <a:srgbClr val="B55E24"/>
            </a:solidFill>
          </c:spPr>
          <c:cat>
            <c:strRef>
              <c:f>'Chart Data'!$A$2:$A$3</c:f>
              <c:strCache>
                <c:ptCount val="2"/>
                <c:pt idx="0">
                  <c:v>All data centres</c:v>
                </c:pt>
                <c:pt idx="1">
                  <c:v>AI-focused subset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0.17</c:v>
                </c:pt>
                <c:pt idx="1">
                  <c:v>0.5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IT3143 • Applied 2 • Task 2">
            <a:extLst xmlns:a="http://schemas.openxmlformats.org/drawingml/2006/main">
              <a:ext uri="{FF2B5EF4-FFF2-40B4-BE49-F238E27FC236}">
                <a16:creationId xmlns:a16="http://schemas.microsoft.com/office/drawing/2014/main" id="{D66B21E0-B495-4F47-884D-0D926FD9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CD7D5"/>
                </a:solidFill>
                <a:latin typeface="Arial"/>
                <a:ea typeface="Arial"/>
                <a:cs typeface="Arial"/>
              </a:rPr>
              <a:t>FIT3143 • Applied 2 • Task 2</a:t>
            </a:r>
          </a:p>
        </p:txBody>
      </p:sp>
      <p:sp>
        <p:nvSpPr>
          <p:cNvPr id="2" name="Responsible HPC for AI">
            <a:extLst xmlns:a="http://schemas.openxmlformats.org/drawingml/2006/main">
              <a:ext uri="{FF2B5EF4-FFF2-40B4-BE49-F238E27FC236}">
                <a16:creationId xmlns:a16="http://schemas.microsoft.com/office/drawing/2014/main" id="{89810903-C6C8-4790-A3AF-2235CE71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Responsible HPC for AI</a:t>
            </a:r>
          </a:p>
        </p:txBody>
      </p:sp>
      <p:sp>
        <p:nvSpPr>
          <p:cNvPr id="3" name="CUDA design and performance • Evidence, trade-offs and ">
            <a:extLst xmlns:a="http://schemas.openxmlformats.org/drawingml/2006/main">
              <a:ext uri="{FF2B5EF4-FFF2-40B4-BE49-F238E27FC236}">
                <a16:creationId xmlns:a16="http://schemas.microsoft.com/office/drawing/2014/main" id="{98C2E1A6-F8C8-4E22-B1EF-FC198D59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CDCE4"/>
                </a:solidFill>
                <a:latin typeface="Arial"/>
                <a:ea typeface="Arial"/>
                <a:cs typeface="Arial"/>
              </a:rPr>
              <a:t>CUDA design and performance • Evidence, trade-offs and accountable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A315A-965F-488D-9B90-68AF3CE1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77082"/>
            </a:solidFill>
            <a:prstDash val="solid"/>
          </a:ln>
        </p:spPr>
      </p:sp>
      <p:sp>
        <p:nvSpPr>
          <p:cNvPr id="5" name="Savin Vindiv De Alwis  ·  35221631">
            <a:extLst xmlns:a="http://schemas.openxmlformats.org/drawingml/2006/main">
              <a:ext uri="{FF2B5EF4-FFF2-40B4-BE49-F238E27FC236}">
                <a16:creationId xmlns:a16="http://schemas.microsoft.com/office/drawing/2014/main" id="{0A6B3CA5-AC57-42A9-AC93-B331A90E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 Vindiv De Alwis · 35221631</a:t>
            </a:r>
          </a:p>
        </p:txBody>
      </p:sp>
      <p:sp>
        <p:nvSpPr>
          <p:cNvPr id="6" name="sdea0018@student.monash.edu">
            <a:extLst xmlns:a="http://schemas.openxmlformats.org/drawingml/2006/main">
              <a:ext uri="{FF2B5EF4-FFF2-40B4-BE49-F238E27FC236}">
                <a16:creationId xmlns:a16="http://schemas.microsoft.com/office/drawing/2014/main" id="{98D6D665-8A07-4398-872A-A7FFD0D6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sdea0018@student.monash.edu</a:t>
            </a:r>
          </a:p>
        </p:txBody>
      </p:sp>
      <p:sp>
        <p:nvSpPr>
          <p:cNvPr id="7" name="Shamle Thilaksiri  ·  35512075">
            <a:extLst xmlns:a="http://schemas.openxmlformats.org/drawingml/2006/main">
              <a:ext uri="{FF2B5EF4-FFF2-40B4-BE49-F238E27FC236}">
                <a16:creationId xmlns:a16="http://schemas.microsoft.com/office/drawing/2014/main" id="{914A5D01-125B-44B6-8B60-31CAC3E1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Shamle Thilaksiri · 35512075</a:t>
            </a:r>
          </a:p>
        </p:txBody>
      </p:sp>
      <p:sp>
        <p:nvSpPr>
          <p:cNvPr id="8" name="wthi0003@student.monash.edu">
            <a:extLst xmlns:a="http://schemas.openxmlformats.org/drawingml/2006/main">
              <a:ext uri="{FF2B5EF4-FFF2-40B4-BE49-F238E27FC236}">
                <a16:creationId xmlns:a16="http://schemas.microsoft.com/office/drawing/2014/main" id="{7317917B-46A3-4DDC-8500-FCEE9E02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wthi0003@student.monash.edu</a:t>
            </a:r>
          </a:p>
        </p:txBody>
      </p:sp>
      <p:sp>
        <p:nvSpPr>
          <p:cNvPr id="9" name="8 October 2026  •  Core evidence within each answer sec">
            <a:extLst xmlns:a="http://schemas.openxmlformats.org/drawingml/2006/main">
              <a:ext uri="{FF2B5EF4-FFF2-40B4-BE49-F238E27FC236}">
                <a16:creationId xmlns:a16="http://schemas.microsoft.com/office/drawing/2014/main" id="{249F1F3D-DE41-4417-8836-A7CE5356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858500" cy="21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8 October 2026 • Core evidence within each answer section; optional supporting material follows</a:t>
            </a:r>
          </a:p>
        </p:txBody>
      </p:sp>
    </p:spTree>
    <p:extLst>
      <p:ext uri="{BB962C8B-B14F-4D97-AF65-F5344CB8AC3E}">
        <p14:creationId xmlns:p14="http://schemas.microsoft.com/office/powerpoint/2010/main" val="17032834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ask 2 • HPC and AI">
            <a:extLst xmlns:a="http://schemas.openxmlformats.org/drawingml/2006/main">
              <a:ext uri="{FF2B5EF4-FFF2-40B4-BE49-F238E27FC236}">
                <a16:creationId xmlns:a16="http://schemas.microsoft.com/office/drawing/2014/main" id="{9B6C21F0-A8B5-4394-8509-8405CB09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 • HPC and AI</a:t>
            </a:r>
          </a:p>
        </p:txBody>
      </p:sp>
      <p:sp>
        <p:nvSpPr>
          <p:cNvPr id="2" name="Parallel training across a compute cluster">
            <a:extLst xmlns:a="http://schemas.openxmlformats.org/drawingml/2006/main">
              <a:ext uri="{FF2B5EF4-FFF2-40B4-BE49-F238E27FC236}">
                <a16:creationId xmlns:a16="http://schemas.microsoft.com/office/drawing/2014/main" id="{44CC548E-5FB5-4FE2-9545-CB5A8634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 training across a compute cluster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FE776-846B-481B-9453-4DC68C74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0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93EDB-16B7-4784-A7A2-9573B001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1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3F783-93B8-4331-9BA0-9773B1E1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2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63D34-061F-4402-B5A2-4FC9BF54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Gradient all-reduce: average + share → consistent update on every GPU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454A3-43B6-44A0-92C6-D5F10CFDB507}"/>
              </a:ext>
            </a:extLst>
          </p:cNvPr>
          <p:cNvCxnSpPr/>
          <p:nvPr/>
        </p:nvCxnSpPr>
        <p:spPr>
          <a:xfrm xmlns:a="http://schemas.openxmlformats.org/drawingml/2006/main">
            <a:off x="20955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463DAC-A6BE-4DA6-A436-E5F0BF51836E}"/>
              </a:ext>
            </a:extLst>
          </p:cNvPr>
          <p:cNvCxnSpPr/>
          <p:nvPr/>
        </p:nvCxnSpPr>
        <p:spPr>
          <a:xfrm xmlns:a="http://schemas.openxmlformats.org/drawingml/2006/main">
            <a:off x="60960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07DC5-DD6A-4B78-B006-39D2D18F2E7D}"/>
              </a:ext>
            </a:extLst>
          </p:cNvPr>
          <p:cNvCxnSpPr/>
          <p:nvPr/>
        </p:nvCxnSpPr>
        <p:spPr>
          <a:xfrm xmlns:a="http://schemas.openxmlformats.org/drawingml/2006/main">
            <a:off x="100965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sp>
        <p:nvSpPr>
          <p:cNvPr id="10" name="Interconnect:&#10;latency and bandwidth">
            <a:extLst xmlns:a="http://schemas.openxmlformats.org/drawingml/2006/main">
              <a:ext uri="{FF2B5EF4-FFF2-40B4-BE49-F238E27FC236}">
                <a16:creationId xmlns:a16="http://schemas.microsoft.com/office/drawing/2014/main" id="{A9DE87FA-4E1E-423F-9C19-47C58E74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38475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Interconnect:</a:t>
            </a:r>
          </a:p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latency and bandwidth</a:t>
            </a:r>
          </a:p>
        </p:txBody>
      </p:sp>
      <p:sp>
        <p:nvSpPr>
          <p:cNvPr id="11" name="Gradient synchronization&#10;before each update">
            <a:extLst xmlns:a="http://schemas.openxmlformats.org/drawingml/2006/main">
              <a:ext uri="{FF2B5EF4-FFF2-40B4-BE49-F238E27FC236}">
                <a16:creationId xmlns:a16="http://schemas.microsoft.com/office/drawing/2014/main" id="{B5222717-AD8C-48BE-B7B2-802F5D20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384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Gradient synchronization</a:t>
            </a:r>
          </a:p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before each update</a:t>
            </a:r>
          </a:p>
        </p:txBody>
      </p:sp>
      <p:sp>
        <p:nvSpPr>
          <p:cNvPr id="12" name="HPC combines processors, memory, networks and storage. ">
            <a:extLst xmlns:a="http://schemas.openxmlformats.org/drawingml/2006/main">
              <a:ext uri="{FF2B5EF4-FFF2-40B4-BE49-F238E27FC236}">
                <a16:creationId xmlns:a16="http://schemas.microsoft.com/office/drawing/2014/main" id="{D7A3DF8E-0B55-47A1-BAC8-1EE0868C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521970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HPC combines processors, memory, networks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storage. Tensor/pipeline parallelism can also split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model.</a:t>
            </a:r>
          </a:p>
        </p:txBody>
      </p:sp>
      <p:sp>
        <p:nvSpPr>
          <p:cNvPr id="13" name="More GPUs enable larger work; communication, serial wor">
            <a:extLst xmlns:a="http://schemas.openxmlformats.org/drawingml/2006/main">
              <a:ext uri="{FF2B5EF4-FFF2-40B4-BE49-F238E27FC236}">
                <a16:creationId xmlns:a16="http://schemas.microsoft.com/office/drawing/2014/main" id="{FD512802-A532-479F-9E1D-912C87CE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52975"/>
            <a:ext cx="51625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GPUs enable larger work; communication,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serial work and imbalance limit speedup. Evaluate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useful output against resource cost.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3C4CBA-019D-4833-B6A9-0DF53360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Scaling adds capacity and communication: ethical costs ">
            <a:extLst xmlns:a="http://schemas.openxmlformats.org/drawingml/2006/main">
              <a:ext uri="{FF2B5EF4-FFF2-40B4-BE49-F238E27FC236}">
                <a16:creationId xmlns:a16="http://schemas.microsoft.com/office/drawing/2014/main" id="{B89A2D65-D0EF-439F-A2D3-842E492A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adds capacity and communication: ethical costs depend on useful work.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E6B40-84EB-4B2B-B7C9-5561BDBA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5] NVIDIA Megatron parallelism; [2] NVIDIA CU">
            <a:extLst xmlns:a="http://schemas.openxmlformats.org/drawingml/2006/main">
              <a:ext uri="{FF2B5EF4-FFF2-40B4-BE49-F238E27FC236}">
                <a16:creationId xmlns:a16="http://schemas.microsoft.com/office/drawing/2014/main" id="{03779D1E-909D-4280-B10C-51154E01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[5] NVIDIA Megatron parallelism; [2] NVIDIA CUDA Best Practices</a:t>
            </a:r>
          </a:p>
        </p:txBody>
      </p:sp>
      <p:sp>
        <p:nvSpPr>
          <p:cNvPr id="18" name="2 / 22">
            <a:extLst xmlns:a="http://schemas.openxmlformats.org/drawingml/2006/main">
              <a:ext uri="{FF2B5EF4-FFF2-40B4-BE49-F238E27FC236}">
                <a16:creationId xmlns:a16="http://schemas.microsoft.com/office/drawing/2014/main" id="{6ADF0BD5-E11B-4E8B-BCE1-0F3E9C01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 / 22</a:t>
            </a:r>
          </a:p>
        </p:txBody>
      </p:sp>
    </p:spTree>
    <p:extLst>
      <p:ext uri="{BB962C8B-B14F-4D97-AF65-F5344CB8AC3E}">
        <p14:creationId xmlns:p14="http://schemas.microsoft.com/office/powerpoint/2010/main" val="4904183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a)">
            <a:extLst xmlns:a="http://schemas.openxmlformats.org/drawingml/2006/main">
              <a:ext uri="{FF2B5EF4-FFF2-40B4-BE49-F238E27FC236}">
                <a16:creationId xmlns:a16="http://schemas.microsoft.com/office/drawing/2014/main" id="{CC780F5C-742F-487E-B43A-3997C9DD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2(a)</a:t>
            </a:r>
          </a:p>
        </p:txBody>
      </p:sp>
      <p:sp>
        <p:nvSpPr>
          <p:cNvPr id="2" name="Electricity demand and environmental costs">
            <a:extLst xmlns:a="http://schemas.openxmlformats.org/drawingml/2006/main">
              <a:ext uri="{FF2B5EF4-FFF2-40B4-BE49-F238E27FC236}">
                <a16:creationId xmlns:a16="http://schemas.microsoft.com/office/drawing/2014/main" id="{09A7CBD2-1B1D-43F4-B62B-A9393550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demand and environmental costs</a:t>
            </a:r>
          </a:p>
        </p:txBody>
      </p:sp>
      <p:sp>
        <p:nvSpPr>
          <p:cNvPr id="3" name="Global data-centre electricity (TWh/year)">
            <a:extLst xmlns:a="http://schemas.openxmlformats.org/drawingml/2006/main">
              <a:ext uri="{FF2B5EF4-FFF2-40B4-BE49-F238E27FC236}">
                <a16:creationId xmlns:a16="http://schemas.microsoft.com/office/drawing/2014/main" id="{7A55ED09-D686-46A4-9F5D-8F0EEA4A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Global data-centre electricity (TWh/year)</a:t>
            </a:r>
          </a:p>
        </p:txBody>
      </p:sp>
      <p:sp>
        <p:nvSpPr>
          <p:cNvPr id="4" name="Electricity growth during 2025">
            <a:extLst xmlns:a="http://schemas.openxmlformats.org/drawingml/2006/main">
              <a:ext uri="{FF2B5EF4-FFF2-40B4-BE49-F238E27FC236}">
                <a16:creationId xmlns:a16="http://schemas.microsoft.com/office/drawing/2014/main" id="{1A1F50E1-9EA4-48E9-B21C-20D19C3B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growth during 2025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63C137C-AFEC-429D-9095-2A8BC7E4BE77}"/>
              </a:ext>
            </a:extLst>
          </p:cNvPr>
          <p:cNvGraphicFramePr/>
          <p:nvPr/>
        </p:nvGraphicFramePr>
        <p:xfrm>
          <a:off xmlns:a="http://schemas.openxmlformats.org/drawingml/2006/main" x="609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0cd97d4b4c4bc5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B5E6BB37-F284-454C-9898-6B5507A7A04A}"/>
              </a:ext>
            </a:extLst>
          </p:cNvPr>
          <p:cNvGraphicFramePr/>
          <p:nvPr/>
        </p:nvGraphicFramePr>
        <p:xfrm>
          <a:off xmlns:a="http://schemas.openxmlformats.org/drawingml/2006/main" x="6324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0198928b834d05"/>
          </a:graphicData>
        </a:graphic>
      </p:graphicFrame>
      <p:sp>
        <p:nvSpPr>
          <p:cNvPr id="7" name="IEA 2026: ≈96% increase to 2030. These cover the whole ">
            <a:extLst xmlns:a="http://schemas.openxmlformats.org/drawingml/2006/main">
              <a:ext uri="{FF2B5EF4-FFF2-40B4-BE49-F238E27FC236}">
                <a16:creationId xmlns:a16="http://schemas.microsoft.com/office/drawing/2014/main" id="{40ECDA7C-D27E-4A3C-A381-71CBF0BB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2026: ≈96% increase to 2030. These cover the whole sector, not AI training alone; growth categories overlap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cannot be added.</a:t>
            </a:r>
          </a:p>
        </p:txBody>
      </p:sp>
      <p:sp>
        <p:nvSpPr>
          <p:cNvPr id="8" name="Research comparison: Green AI [10] emphasizes efficienc">
            <a:extLst xmlns:a="http://schemas.openxmlformats.org/drawingml/2006/main">
              <a:ext uri="{FF2B5EF4-FFF2-40B4-BE49-F238E27FC236}">
                <a16:creationId xmlns:a16="http://schemas.microsoft.com/office/drawing/2014/main" id="{960495FD-F254-4E01-A139-59F1B304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comparison: Green AI [10] emphasizes efficiency; water research [9] adds site/time constraints. Track energy,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 and local cooling impacts.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B17C8-821D-4394-8095-C150520B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6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4C4DF9CC-697A-4D69-8775-A9D53D4C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[6] IEA 2026: sector estimates and projection; [9] Li et al. 2025 revision: water impacts; [10] Schwartz et al. 2019: efficiency reporting</a:t>
            </a:r>
          </a:p>
        </p:txBody>
      </p:sp>
      <p:sp>
        <p:nvSpPr>
          <p:cNvPr id="11" name="3 / 22">
            <a:extLst xmlns:a="http://schemas.openxmlformats.org/drawingml/2006/main">
              <a:ext uri="{FF2B5EF4-FFF2-40B4-BE49-F238E27FC236}">
                <a16:creationId xmlns:a16="http://schemas.microsoft.com/office/drawing/2014/main" id="{18AD9275-57E7-423C-93A9-6B46249A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 / 22</a:t>
            </a:r>
          </a:p>
        </p:txBody>
      </p:sp>
    </p:spTree>
    <p:extLst>
      <p:ext uri="{BB962C8B-B14F-4D97-AF65-F5344CB8AC3E}">
        <p14:creationId xmlns:p14="http://schemas.microsoft.com/office/powerpoint/2010/main" val="15655478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ask 2(a) • Illustrative energy calculation">
            <a:extLst xmlns:a="http://schemas.openxmlformats.org/drawingml/2006/main">
              <a:ext uri="{FF2B5EF4-FFF2-40B4-BE49-F238E27FC236}">
                <a16:creationId xmlns:a16="http://schemas.microsoft.com/office/drawing/2014/main" id="{02D5309D-C795-4BC8-B6D0-9BE66F22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2(a) • Illustrative energy calculation</a:t>
            </a:r>
          </a:p>
        </p:txBody>
      </p:sp>
      <p:sp>
        <p:nvSpPr>
          <p:cNvPr id="2" name="A faster job can consume more energy">
            <a:extLst xmlns:a="http://schemas.openxmlformats.org/drawingml/2006/main">
              <a:ext uri="{FF2B5EF4-FFF2-40B4-BE49-F238E27FC236}">
                <a16:creationId xmlns:a16="http://schemas.microsoft.com/office/drawing/2014/main" id="{DFD578D8-B94A-4E43-A161-414A3D40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faster job can consume more energy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DBF3D-3E73-4FE1-A389-F061592D10A6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Assumed configuration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Completed runtime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Whole-job energy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10191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Lower parallel scale; 1 kW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2.0 hours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 × 2.0 = 2.0 kWh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191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Higher parallel scale; 2 kW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1.2 hours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 × 1.2 = 2.4 kWh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Illustrative constant power assumptions, not measuremen">
            <a:extLst xmlns:a="http://schemas.openxmlformats.org/drawingml/2006/main">
              <a:ext uri="{FF2B5EF4-FFF2-40B4-BE49-F238E27FC236}">
                <a16:creationId xmlns:a16="http://schemas.microsoft.com/office/drawing/2014/main" id="{FB50446C-5DA7-4425-8830-2D86165E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Illustrative constant power assumptions, not measurements. Same useful output is assumed; faster completion uses 20% more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energy here.</a:t>
            </a:r>
          </a:p>
        </p:txBody>
      </p:sp>
      <p:sp>
        <p:nvSpPr>
          <p:cNvPr id="5" name="E = ∫ P(t) dt     •     Carbon ≈ Σ Einterval × carbon i">
            <a:extLst xmlns:a="http://schemas.openxmlformats.org/drawingml/2006/main">
              <a:ext uri="{FF2B5EF4-FFF2-40B4-BE49-F238E27FC236}">
                <a16:creationId xmlns:a16="http://schemas.microsoft.com/office/drawing/2014/main" id="{D321760D-57BB-43C7-993C-CC47784E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 = ∫ P(t) dt • Carbon ≈ Σ Einterval × carbon intensity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0E871-D613-44D6-91CB-85C76051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7" name="Sources: [8] Strubell et al. 2019: cost and equity; [10">
            <a:extLst xmlns:a="http://schemas.openxmlformats.org/drawingml/2006/main">
              <a:ext uri="{FF2B5EF4-FFF2-40B4-BE49-F238E27FC236}">
                <a16:creationId xmlns:a16="http://schemas.microsoft.com/office/drawing/2014/main" id="{743FBA01-BD52-494E-947A-107DDAE9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[8] Strubell et al. 2019: cost and equity; [10] Schwartz et al. 2019: efficiency reporting; [2] NVIDIA CUDA Best Practices</a:t>
            </a:r>
          </a:p>
        </p:txBody>
      </p:sp>
      <p:sp>
        <p:nvSpPr>
          <p:cNvPr id="8" name="4 / 22">
            <a:extLst xmlns:a="http://schemas.openxmlformats.org/drawingml/2006/main">
              <a:ext uri="{FF2B5EF4-FFF2-40B4-BE49-F238E27FC236}">
                <a16:creationId xmlns:a16="http://schemas.microsoft.com/office/drawing/2014/main" id="{D034F7FB-2214-42FD-BDE8-9A7851E8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 / 22</a:t>
            </a:r>
          </a:p>
        </p:txBody>
      </p:sp>
    </p:spTree>
    <p:extLst>
      <p:ext uri="{BB962C8B-B14F-4D97-AF65-F5344CB8AC3E}">
        <p14:creationId xmlns:p14="http://schemas.microsoft.com/office/powerpoint/2010/main" val="10782842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ask 2(a) • Environmental accounting">
            <a:extLst xmlns:a="http://schemas.openxmlformats.org/drawingml/2006/main">
              <a:ext uri="{FF2B5EF4-FFF2-40B4-BE49-F238E27FC236}">
                <a16:creationId xmlns:a16="http://schemas.microsoft.com/office/drawing/2014/main" id="{74A511E2-A487-49E1-A082-28B48FDA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2(a) • Environmental accounting</a:t>
            </a:r>
          </a:p>
        </p:txBody>
      </p:sp>
      <p:sp>
        <p:nvSpPr>
          <p:cNvPr id="2" name="Environmental accounting and evidence limits">
            <a:extLst xmlns:a="http://schemas.openxmlformats.org/drawingml/2006/main">
              <a:ext uri="{FF2B5EF4-FFF2-40B4-BE49-F238E27FC236}">
                <a16:creationId xmlns:a16="http://schemas.microsoft.com/office/drawing/2014/main" id="{E6B16DAD-3E67-4CA2-9F51-737ED400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Environmental accounting and evidence limits</a:t>
            </a:r>
          </a:p>
        </p:txBody>
      </p:sp>
      <p:sp>
        <p:nvSpPr>
          <p:cNvPr id="3" name="Define what is counted">
            <a:extLst xmlns:a="http://schemas.openxmlformats.org/drawingml/2006/main">
              <a:ext uri="{FF2B5EF4-FFF2-40B4-BE49-F238E27FC236}">
                <a16:creationId xmlns:a16="http://schemas.microsoft.com/office/drawing/2014/main" id="{4A464E33-44E9-4D1D-A872-A23BECE7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Define what is counted</a:t>
            </a:r>
          </a:p>
        </p:txBody>
      </p:sp>
      <p:sp>
        <p:nvSpPr>
          <p:cNvPr id="4" name="Energy (kWh) integrates power (kW) over hours. Operatio">
            <a:extLst xmlns:a="http://schemas.openxmlformats.org/drawingml/2006/main">
              <a:ext uri="{FF2B5EF4-FFF2-40B4-BE49-F238E27FC236}">
                <a16:creationId xmlns:a16="http://schemas.microsoft.com/office/drawing/2014/main" id="{B9D812AC-49B5-4236-BFB5-491F18D0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(kWh) integrates power (kW) over hours.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Operational emissions ≈ Σ energy in each interval ×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that interval’s carbon intensity (kg CO₂e/kWh).</a:t>
            </a:r>
          </a:p>
        </p:txBody>
      </p:sp>
      <p:sp>
        <p:nvSpPr>
          <p:cNvPr id="5" name="Report accelerators, host CPUs, storage/networking and ">
            <a:extLst xmlns:a="http://schemas.openxmlformats.org/drawingml/2006/main">
              <a:ext uri="{FF2B5EF4-FFF2-40B4-BE49-F238E27FC236}">
                <a16:creationId xmlns:a16="http://schemas.microsoft.com/office/drawing/2014/main" id="{F582226C-3ACB-47A0-BDA5-EF3C3636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Report accelerators, host CPUs, storage/networking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allocated cooling overhead; include failed runs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repeated tuning when evaluating a project.</a:t>
            </a:r>
          </a:p>
        </p:txBody>
      </p:sp>
      <p:sp>
        <p:nvSpPr>
          <p:cNvPr id="6" name="Hardware manufacture and disposal are embodied impacts ">
            <a:extLst xmlns:a="http://schemas.openxmlformats.org/drawingml/2006/main">
              <a:ext uri="{FF2B5EF4-FFF2-40B4-BE49-F238E27FC236}">
                <a16:creationId xmlns:a16="http://schemas.microsoft.com/office/drawing/2014/main" id="{FA784BA9-6A9D-40F2-8B9C-A1839A9D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Hardware manufacture and disposal are embodied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impacts beyond operational electricity.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withdrawal and water consumption are different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measures.</a:t>
            </a:r>
          </a:p>
        </p:txBody>
      </p:sp>
      <p:sp>
        <p:nvSpPr>
          <p:cNvPr id="7" name="Compare the evidence">
            <a:extLst xmlns:a="http://schemas.openxmlformats.org/drawingml/2006/main">
              <a:ext uri="{FF2B5EF4-FFF2-40B4-BE49-F238E27FC236}">
                <a16:creationId xmlns:a16="http://schemas.microsoft.com/office/drawing/2014/main" id="{B1D3977D-8A53-4886-9FF9-827F5344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Compare the evidence</a:t>
            </a:r>
          </a:p>
        </p:txBody>
      </p:sp>
      <p:sp>
        <p:nvSpPr>
          <p:cNvPr id="8" name="Strubell et al. quantify costs for selected historical ">
            <a:extLst xmlns:a="http://schemas.openxmlformats.org/drawingml/2006/main">
              <a:ext uri="{FF2B5EF4-FFF2-40B4-BE49-F238E27FC236}">
                <a16:creationId xmlns:a16="http://schemas.microsoft.com/office/drawing/2014/main" id="{DE5AE01D-C1C9-4159-9271-39FE21AB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Strubell et al. quantify costs for selected historical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NLP training/development workloads; those values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are not universal 2026 model footprints.</a:t>
            </a:r>
          </a:p>
        </p:txBody>
      </p:sp>
      <p:sp>
        <p:nvSpPr>
          <p:cNvPr id="9" name="Green AI motivates reporting efficiency alongside accur">
            <a:extLst xmlns:a="http://schemas.openxmlformats.org/drawingml/2006/main">
              <a:ext uri="{FF2B5EF4-FFF2-40B4-BE49-F238E27FC236}">
                <a16:creationId xmlns:a16="http://schemas.microsoft.com/office/drawing/2014/main" id="{38241A06-9061-4EB5-92E1-FFB70BD8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Green AI motivates reporting efficiency alongside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accuracy; Li et al. show why water varies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place/time. Carbon alone misses local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pressures.</a:t>
            </a:r>
          </a:p>
        </p:txBody>
      </p:sp>
      <p:sp>
        <p:nvSpPr>
          <p:cNvPr id="10" name="IEA sector totals provide context, not causal attributi">
            <a:extLst xmlns:a="http://schemas.openxmlformats.org/drawingml/2006/main">
              <a:ext uri="{FF2B5EF4-FFF2-40B4-BE49-F238E27FC236}">
                <a16:creationId xmlns:a16="http://schemas.microsoft.com/office/drawing/2014/main" id="{B5D0F30A-70C7-412D-BBF6-D4AD42E5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sector totals provide context, not causal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attribution to one model. Forecasts depend 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 and infrastructure assumptions; local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grid/cooling effects differ by site.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A3129-AC90-4D7A-B886-C0B1660E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EFCC1D-4FE7-4186-8BCE-0F3667DF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6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ECA18701-A035-4103-9B91-7680A7A3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[6] IEA 2026: sector estimates and projection; [8] Strubell et al. 2019: cost and equity; [9] Li et al. 2025 revision: water impacts; [10] Schwartz et al. 2019: efficiency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reporting</a:t>
            </a:r>
          </a:p>
        </p:txBody>
      </p:sp>
      <p:sp>
        <p:nvSpPr>
          <p:cNvPr id="14" name="5 / 22">
            <a:extLst xmlns:a="http://schemas.openxmlformats.org/drawingml/2006/main">
              <a:ext uri="{FF2B5EF4-FFF2-40B4-BE49-F238E27FC236}">
                <a16:creationId xmlns:a16="http://schemas.microsoft.com/office/drawing/2014/main" id="{9B74617B-2BB1-427A-8BF2-A0D070D5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 / 22</a:t>
            </a:r>
          </a:p>
        </p:txBody>
      </p:sp>
    </p:spTree>
    <p:extLst>
      <p:ext uri="{BB962C8B-B14F-4D97-AF65-F5344CB8AC3E}">
        <p14:creationId xmlns:p14="http://schemas.microsoft.com/office/powerpoint/2010/main" val="820826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7F215-2334-4902-A65B-D4FB1339093A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95350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92C9E-11C6-4056-ACA9-D781A8353607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21945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9" name="Task 2(b)">
            <a:extLst xmlns:a="http://schemas.openxmlformats.org/drawingml/2006/main">
              <a:ext uri="{FF2B5EF4-FFF2-40B4-BE49-F238E27FC236}">
                <a16:creationId xmlns:a16="http://schemas.microsoft.com/office/drawing/2014/main" id="{B66AFBBA-D832-4566-87E8-260DD02B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2(b)</a:t>
            </a:r>
          </a:p>
        </p:txBody>
      </p:sp>
      <p:sp>
        <p:nvSpPr>
          <p:cNvPr id="2" name="Privacy, security and model fairness">
            <a:extLst xmlns:a="http://schemas.openxmlformats.org/drawingml/2006/main">
              <a:ext uri="{FF2B5EF4-FFF2-40B4-BE49-F238E27FC236}">
                <a16:creationId xmlns:a16="http://schemas.microsoft.com/office/drawing/2014/main" id="{6BBAB127-D4E3-4AE7-BE9E-34012A80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Privacy, security and model fairness</a:t>
            </a:r>
          </a:p>
        </p:txBody>
      </p:sp>
      <p:sp>
        <p:nvSpPr>
          <p:cNvPr id="3" name="Security: protect distributed intermediates">
            <a:extLst xmlns:a="http://schemas.openxmlformats.org/drawingml/2006/main">
              <a:ext uri="{FF2B5EF4-FFF2-40B4-BE49-F238E27FC236}">
                <a16:creationId xmlns:a16="http://schemas.microsoft.com/office/drawing/2014/main" id="{71BFEC39-0FC9-4B1D-A20E-7DEB3B7B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3875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Security: protect distributed intermediates</a:t>
            </a:r>
          </a:p>
        </p:txBody>
      </p:sp>
      <p:sp>
        <p:nvSpPr>
          <p:cNvPr id="4" name="Fairness: evaluate affected groups">
            <a:extLst xmlns:a="http://schemas.openxmlformats.org/drawingml/2006/main">
              <a:ext uri="{FF2B5EF4-FFF2-40B4-BE49-F238E27FC236}">
                <a16:creationId xmlns:a16="http://schemas.microsoft.com/office/drawing/2014/main" id="{B0508447-08AA-42AD-A3B3-D0438A28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5257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Fairness: evaluate affected groups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F28A01-8AFE-427B-95C7-716463A9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Workers exchange gradients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save checkpoints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24603-258D-4BBF-ACF5-D1624522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Least privilege, isolation,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protected transport/storage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5B8739-D520-4813-8A89-FB28C48C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9775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coverage and model outputs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differ across groups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DA05E-D37F-47AB-8E70-DE19DCF6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Disaggregated, harm-specific tests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mitigation and reevaluation</a:t>
            </a:r>
          </a:p>
        </p:txBody>
      </p:sp>
      <p:sp>
        <p:nvSpPr>
          <p:cNvPr id="11" name="Zhu et al. [11]: exposed gradients can reconstruct inpu">
            <a:extLst xmlns:a="http://schemas.openxmlformats.org/drawingml/2006/main">
              <a:ext uri="{FF2B5EF4-FFF2-40B4-BE49-F238E27FC236}">
                <a16:creationId xmlns:a16="http://schemas.microsoft.com/office/drawing/2014/main" id="{DBCB92DA-7ACB-4585-8EB8-DA267012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5219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Zhu et al. [11]: exposed gradients can reconstruct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inputs in studied settings. Not every production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collective leaks.</a:t>
            </a:r>
          </a:p>
        </p:txBody>
      </p:sp>
      <p:sp>
        <p:nvSpPr>
          <p:cNvPr id="12" name="Gallegos et al. [12]: metrics, datasets and mitigations">
            <a:extLst xmlns:a="http://schemas.openxmlformats.org/drawingml/2006/main">
              <a:ext uri="{FF2B5EF4-FFF2-40B4-BE49-F238E27FC236}">
                <a16:creationId xmlns:a16="http://schemas.microsoft.com/office/drawing/2014/main" id="{D21C6D84-954B-44C5-A6D4-61D660D8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52578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[12]: metrics, datasets and mitigations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differ. Apply these to cluster-trained models; scale alone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does not guarantee fairness.</a:t>
            </a:r>
          </a:p>
        </p:txBody>
      </p:sp>
      <p:sp>
        <p:nvSpPr>
          <p:cNvPr id="13" name="Provenance/permissions, replica access and dual-use rev">
            <a:extLst xmlns:a="http://schemas.openxmlformats.org/drawingml/2006/main">
              <a:ext uri="{FF2B5EF4-FFF2-40B4-BE49-F238E27FC236}">
                <a16:creationId xmlns:a16="http://schemas.microsoft.com/office/drawing/2014/main" id="{910FFF80-71CA-407D-B1AD-C1A038E1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Provenance/permissions, replica access and dual-use review need owners. Encryption alone cannot establish fair outputs.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D77AD9-5411-44E8-A857-546848B4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Protect distributed data and evaluate harms; more compu">
            <a:extLst xmlns:a="http://schemas.openxmlformats.org/drawingml/2006/main">
              <a:ext uri="{FF2B5EF4-FFF2-40B4-BE49-F238E27FC236}">
                <a16:creationId xmlns:a16="http://schemas.microsoft.com/office/drawing/2014/main" id="{4075E589-647F-44C5-A126-3C18F8C3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 distributed data and evaluate harms; more compute is not a fairness guarantee.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3145B8-CF9C-44A2-84F0-3BB7840E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11] Zhu et al. 2019: exposed gradients; [12] ">
            <a:extLst xmlns:a="http://schemas.openxmlformats.org/drawingml/2006/main">
              <a:ext uri="{FF2B5EF4-FFF2-40B4-BE49-F238E27FC236}">
                <a16:creationId xmlns:a16="http://schemas.microsoft.com/office/drawing/2014/main" id="{94DF6A37-0CDB-4546-997A-6B553407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[11] Zhu et al. 2019: exposed gradients; [12] Gallegos et al. 2024: fairness evaluation; [15] OECD: rights, fairness and accountability; [16] NIST: Govern, Map, Measure,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</a:t>
            </a:r>
          </a:p>
        </p:txBody>
      </p:sp>
      <p:sp>
        <p:nvSpPr>
          <p:cNvPr id="18" name="6 / 22">
            <a:extLst xmlns:a="http://schemas.openxmlformats.org/drawingml/2006/main">
              <a:ext uri="{FF2B5EF4-FFF2-40B4-BE49-F238E27FC236}">
                <a16:creationId xmlns:a16="http://schemas.microsoft.com/office/drawing/2014/main" id="{9FF77D20-8D8C-4BA1-BB5D-A3762A6F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6 / 22</a:t>
            </a:r>
          </a:p>
        </p:txBody>
      </p:sp>
    </p:spTree>
    <p:extLst>
      <p:ext uri="{BB962C8B-B14F-4D97-AF65-F5344CB8AC3E}">
        <p14:creationId xmlns:p14="http://schemas.microsoft.com/office/powerpoint/2010/main" val="3571946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ask 2(b) • Proposed governance controls">
            <a:extLst xmlns:a="http://schemas.openxmlformats.org/drawingml/2006/main">
              <a:ext uri="{FF2B5EF4-FFF2-40B4-BE49-F238E27FC236}">
                <a16:creationId xmlns:a16="http://schemas.microsoft.com/office/drawing/2014/main" id="{3EB8434E-3A1C-4470-A722-44DBE64C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2(b) • Proposed governance controls</a:t>
            </a:r>
          </a:p>
        </p:txBody>
      </p:sp>
      <p:sp>
        <p:nvSpPr>
          <p:cNvPr id="2" name="Governance controls and remaining risks">
            <a:extLst xmlns:a="http://schemas.openxmlformats.org/drawingml/2006/main">
              <a:ext uri="{FF2B5EF4-FFF2-40B4-BE49-F238E27FC236}">
                <a16:creationId xmlns:a16="http://schemas.microsoft.com/office/drawing/2014/main" id="{567F4F35-A059-4CCA-8A82-146650AB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Governance controls and remaining risks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75327-D5FF-4E3D-AAB8-C3EE17BF7557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 / stakeholder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control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Residual limitation / owner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Dataset misuse / data subjects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Provenance, permission checks, retention limits and access logs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licence alone may not justify every use; data steward reviews purpose.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Gradient/checkpoint exposure / participants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Least privilege, tenant isolation, protected transport and secure checkpoint storage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 endpoints can still see sensitive values; security owner models insider risk.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Unsafe dual use / affected public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Authorized-use review, restricted access where justified and review of deployment risks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Controls cannot prevent every misuse; accountable owner weighs benefits/restrictions.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Distributed replicas / operators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copies, deletion obligations and incident response across workers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Replication increases the number of assets to protect; operator audits recovery.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These are proposed mitigations informed by research/fra">
            <a:extLst xmlns:a="http://schemas.openxmlformats.org/drawingml/2006/main">
              <a:ext uri="{FF2B5EF4-FFF2-40B4-BE49-F238E27FC236}">
                <a16:creationId xmlns:a16="http://schemas.microsoft.com/office/drawing/2014/main" id="{00727532-BEFF-4D79-9216-E2D6F0D4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These are proposed mitigations informed by research/frameworks, not a proof of privacy or a compliance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D9D0E-E8F4-4A36-994D-2C207381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1] Zhu et al. 2019: exposed gradients; [15] ">
            <a:extLst xmlns:a="http://schemas.openxmlformats.org/drawingml/2006/main">
              <a:ext uri="{FF2B5EF4-FFF2-40B4-BE49-F238E27FC236}">
                <a16:creationId xmlns:a16="http://schemas.microsoft.com/office/drawing/2014/main" id="{4513DD12-F927-4737-8A02-FC6A0767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[11] Zhu et al. 2019: exposed gradients; [15] OECD: rights, fairness and accountability; [16] NIST: Govern, Map, Measure, Manage</a:t>
            </a:r>
          </a:p>
        </p:txBody>
      </p:sp>
      <p:sp>
        <p:nvSpPr>
          <p:cNvPr id="7" name="7 / 22">
            <a:extLst xmlns:a="http://schemas.openxmlformats.org/drawingml/2006/main">
              <a:ext uri="{FF2B5EF4-FFF2-40B4-BE49-F238E27FC236}">
                <a16:creationId xmlns:a16="http://schemas.microsoft.com/office/drawing/2014/main" id="{AFD439C1-5F5C-41A2-803C-F97FBA16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7 / 22</a:t>
            </a:r>
          </a:p>
        </p:txBody>
      </p:sp>
    </p:spTree>
    <p:extLst>
      <p:ext uri="{BB962C8B-B14F-4D97-AF65-F5344CB8AC3E}">
        <p14:creationId xmlns:p14="http://schemas.microsoft.com/office/powerpoint/2010/main" val="14328037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ask 2(b) • Fairness with large-scale compute">
            <a:extLst xmlns:a="http://schemas.openxmlformats.org/drawingml/2006/main">
              <a:ext uri="{FF2B5EF4-FFF2-40B4-BE49-F238E27FC236}">
                <a16:creationId xmlns:a16="http://schemas.microsoft.com/office/drawing/2014/main" id="{DF54D569-03D9-4D2D-AF9E-DA558091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2(b) • Fairness with large-scale compute</a:t>
            </a:r>
          </a:p>
        </p:txBody>
      </p:sp>
      <p:sp>
        <p:nvSpPr>
          <p:cNvPr id="2" name="Fairness evaluation with large-scale compute">
            <a:extLst xmlns:a="http://schemas.openxmlformats.org/drawingml/2006/main">
              <a:ext uri="{FF2B5EF4-FFF2-40B4-BE49-F238E27FC236}">
                <a16:creationId xmlns:a16="http://schemas.microsoft.com/office/drawing/2014/main" id="{FF06FDFC-48E6-4F96-A401-39E13287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Fairness evaluation with large-scale compute</a:t>
            </a:r>
          </a:p>
        </p:txBody>
      </p:sp>
      <p:sp>
        <p:nvSpPr>
          <p:cNvPr id="3" name="Compute connection">
            <a:extLst xmlns:a="http://schemas.openxmlformats.org/drawingml/2006/main">
              <a:ext uri="{FF2B5EF4-FFF2-40B4-BE49-F238E27FC236}">
                <a16:creationId xmlns:a16="http://schemas.microsoft.com/office/drawing/2014/main" id="{F864B026-DAB8-4A6D-9D1B-3616432F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Compute connection</a:t>
            </a:r>
          </a:p>
        </p:txBody>
      </p:sp>
      <p:sp>
        <p:nvSpPr>
          <p:cNvPr id="4" name="An illustrative multilingual LLM service may have unequ">
            <a:extLst xmlns:a="http://schemas.openxmlformats.org/drawingml/2006/main">
              <a:ext uri="{FF2B5EF4-FFF2-40B4-BE49-F238E27FC236}">
                <a16:creationId xmlns:a16="http://schemas.microsoft.com/office/drawing/2014/main" id="{306E0B7D-DB87-4DD2-9AEA-BAF6AE82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 illustrative multilingual LLM service may have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performance or stereotyped outputs across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language groups. Identify the actual harm before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choosing a metric.</a:t>
            </a:r>
          </a:p>
        </p:txBody>
      </p:sp>
      <p:sp>
        <p:nvSpPr>
          <p:cNvPr id="5" name="A cluster enables larger datasets and repeated training">
            <a:extLst xmlns:a="http://schemas.openxmlformats.org/drawingml/2006/main">
              <a:ext uri="{FF2B5EF4-FFF2-40B4-BE49-F238E27FC236}">
                <a16:creationId xmlns:a16="http://schemas.microsoft.com/office/drawing/2014/main" id="{C9236708-3AEB-483C-9F94-A3063C60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cluster enables larger datasets and repeated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training, but neither data volume nor GPU count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guarantees representative data or equitable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outcomes.</a:t>
            </a:r>
          </a:p>
        </p:txBody>
      </p:sp>
      <p:sp>
        <p:nvSpPr>
          <p:cNvPr id="6" name="Reserve evaluation compute for affected groups; documen">
            <a:extLst xmlns:a="http://schemas.openxmlformats.org/drawingml/2006/main">
              <a:ext uri="{FF2B5EF4-FFF2-40B4-BE49-F238E27FC236}">
                <a16:creationId xmlns:a16="http://schemas.microsoft.com/office/drawing/2014/main" id="{55A10BBE-8113-447B-8879-9A6C5218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Reserve evaluation compute for affected groups;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document dataset coverage and compare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 error or harmful-output rates using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task-appropriate test.</a:t>
            </a:r>
          </a:p>
        </p:txBody>
      </p:sp>
      <p:sp>
        <p:nvSpPr>
          <p:cNvPr id="7" name="Evidence and decision">
            <a:extLst xmlns:a="http://schemas.openxmlformats.org/drawingml/2006/main">
              <a:ext uri="{FF2B5EF4-FFF2-40B4-BE49-F238E27FC236}">
                <a16:creationId xmlns:a16="http://schemas.microsoft.com/office/drawing/2014/main" id="{4B472D30-0DA3-4512-B637-C731B7F4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Evidence and decision</a:t>
            </a:r>
          </a:p>
        </p:txBody>
      </p:sp>
      <p:sp>
        <p:nvSpPr>
          <p:cNvPr id="8" name="Gallegos et al. separate metrics, evaluation datasets a">
            <a:extLst xmlns:a="http://schemas.openxmlformats.org/drawingml/2006/main">
              <a:ext uri="{FF2B5EF4-FFF2-40B4-BE49-F238E27FC236}">
                <a16:creationId xmlns:a16="http://schemas.microsoft.com/office/drawing/2014/main" id="{00AB1F5E-6325-461F-9B65-04529681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separate metrics, evaluation datasets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mitigation stages. A single aggregate accuracy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score can hide a relevant subgroup harm.</a:t>
            </a:r>
          </a:p>
        </p:txBody>
      </p:sp>
      <p:sp>
        <p:nvSpPr>
          <p:cNvPr id="9" name="Specify justified acceptance criteria before training; ">
            <a:extLst xmlns:a="http://schemas.openxmlformats.org/drawingml/2006/main">
              <a:ext uri="{FF2B5EF4-FFF2-40B4-BE49-F238E27FC236}">
                <a16:creationId xmlns:a16="http://schemas.microsoft.com/office/drawing/2014/main" id="{1D6B5EA2-5E81-4394-A739-564623EA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Specify justified acceptance criteria before training;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uncertainty and small-group sample limits.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Mitigate, reevaluate, and document unresolved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harms.</a:t>
            </a:r>
          </a:p>
        </p:txBody>
      </p:sp>
      <p:sp>
        <p:nvSpPr>
          <p:cNvPr id="10" name="Security and fairness have different objectives: encryp">
            <a:extLst xmlns:a="http://schemas.openxmlformats.org/drawingml/2006/main">
              <a:ext uri="{FF2B5EF4-FFF2-40B4-BE49-F238E27FC236}">
                <a16:creationId xmlns:a16="http://schemas.microsoft.com/office/drawing/2014/main" id="{D4B020CE-6450-465D-8A52-7B632E6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 and fairness have different objectives: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encrypted gradients do not establish fair outputs.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source supports model-bias analysis, not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claim that HPC itself causes bias.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7D10A-B662-4E80-886D-8856BB4D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67C72-3F5C-47EC-8F72-1E9648C9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2] Gallegos et al. 2024: fairness evaluation">
            <a:extLst xmlns:a="http://schemas.openxmlformats.org/drawingml/2006/main">
              <a:ext uri="{FF2B5EF4-FFF2-40B4-BE49-F238E27FC236}">
                <a16:creationId xmlns:a16="http://schemas.microsoft.com/office/drawing/2014/main" id="{ABFD280B-642A-484C-BA17-CC293434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[12] Gallegos et al. 2024: fairness evaluation; [15] OECD: rights, fairness and accountability; [16] NIST: Govern, Map, Measure, Manage</a:t>
            </a:r>
          </a:p>
        </p:txBody>
      </p:sp>
      <p:sp>
        <p:nvSpPr>
          <p:cNvPr id="14" name="8 / 22">
            <a:extLst xmlns:a="http://schemas.openxmlformats.org/drawingml/2006/main">
              <a:ext uri="{FF2B5EF4-FFF2-40B4-BE49-F238E27FC236}">
                <a16:creationId xmlns:a16="http://schemas.microsoft.com/office/drawing/2014/main" id="{6586C30C-6311-41BB-889D-474FBAB7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8 / 22</a:t>
            </a:r>
          </a:p>
        </p:txBody>
      </p:sp>
    </p:spTree>
    <p:extLst>
      <p:ext uri="{BB962C8B-B14F-4D97-AF65-F5344CB8AC3E}">
        <p14:creationId xmlns:p14="http://schemas.microsoft.com/office/powerpoint/2010/main" val="16267141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c)">
            <a:extLst xmlns:a="http://schemas.openxmlformats.org/drawingml/2006/main">
              <a:ext uri="{FF2B5EF4-FFF2-40B4-BE49-F238E27FC236}">
                <a16:creationId xmlns:a16="http://schemas.microsoft.com/office/drawing/2014/main" id="{604A05DA-B578-408B-A1E3-21D3F163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2(c)</a:t>
            </a:r>
          </a:p>
        </p:txBody>
      </p:sp>
      <p:sp>
        <p:nvSpPr>
          <p:cNvPr id="2" name="Unequal access to HPC resources">
            <a:extLst xmlns:a="http://schemas.openxmlformats.org/drawingml/2006/main">
              <a:ext uri="{FF2B5EF4-FFF2-40B4-BE49-F238E27FC236}">
                <a16:creationId xmlns:a16="http://schemas.microsoft.com/office/drawing/2014/main" id="{4B7BDA64-EFBE-4B51-91AB-29F399DB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access to HPC resources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9895C-AE19-4118-BF5E-91EE285DC396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857500"/>
                <a:gridCol w="4095750"/>
                <a:gridCol w="4019550"/>
              </a:tblGrid>
              <a:tr h="53340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shows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cannot establish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Ahmed &amp; Wahed [13]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Historical research participation and compute concentration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Current worldwide access or a universal causal effect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Strubell et al. [8]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Selected NLP workload costs and financial barriers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The cost of every current AI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urrent response: NAIRR supported &gt;600 teams and &gt;6,000">
            <a:extLst xmlns:a="http://schemas.openxmlformats.org/drawingml/2006/main">
              <a:ext uri="{FF2B5EF4-FFF2-40B4-BE49-F238E27FC236}">
                <a16:creationId xmlns:a16="http://schemas.microsoft.com/office/drawing/2014/main" id="{99DECC18-47B2-4F48-887C-E89162F8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Current response: NAIRR supported &gt;600 teams and &gt;6,000 students</a:t>
            </a:r>
          </a:p>
        </p:txBody>
      </p:sp>
      <p:sp>
        <p:nvSpPr>
          <p:cNvPr id="5" name="NSF, March 2026; US programme since 2024. Reach does no">
            <a:extLst xmlns:a="http://schemas.openxmlformats.org/drawingml/2006/main">
              <a:ext uri="{FF2B5EF4-FFF2-40B4-BE49-F238E27FC236}">
                <a16:creationId xmlns:a16="http://schemas.microsoft.com/office/drawing/2014/main" id="{8D0650A3-F5F0-4338-B83B-8FD71A1E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NSF, March 2026; US programme since 2024. Reach does not prove global equality.</a:t>
            </a:r>
          </a:p>
        </p:txBody>
      </p:sp>
      <p:sp>
        <p:nvSpPr>
          <p:cNvPr id="6" name="Proposal: transparent GPU-hour allocation, smaller-inst">
            <a:extLst xmlns:a="http://schemas.openxmlformats.org/drawingml/2006/main">
              <a:ext uri="{FF2B5EF4-FFF2-40B4-BE49-F238E27FC236}">
                <a16:creationId xmlns:a16="http://schemas.microsoft.com/office/drawing/2014/main" id="{8304192D-8370-4230-9EB2-803AAF65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Proposal: transparent GPU-hour allocation, smaller-institution support and appeals. Trade-off: reserved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can reduce immediate utilization or delay urgent jobs.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A39AD-1DB1-4675-BF76-C0531AE6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8" name="Shared capacity helps; allocation, expertise and reprod">
            <a:extLst xmlns:a="http://schemas.openxmlformats.org/drawingml/2006/main">
              <a:ext uri="{FF2B5EF4-FFF2-40B4-BE49-F238E27FC236}">
                <a16:creationId xmlns:a16="http://schemas.microsoft.com/office/drawing/2014/main" id="{78777450-F96E-456E-AB84-5000063B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Shared capacity helps; allocation, expertise and reproducibility still need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F5DC5F-C34F-4B00-88E1-130BF4E1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7] NSF 2026: US programme reach; [8] Strubell">
            <a:extLst xmlns:a="http://schemas.openxmlformats.org/drawingml/2006/main">
              <a:ext uri="{FF2B5EF4-FFF2-40B4-BE49-F238E27FC236}">
                <a16:creationId xmlns:a16="http://schemas.microsoft.com/office/drawing/2014/main" id="{D3744E22-2531-40D0-802F-584B88FB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[7] NSF 2026: US programme reach; [8] Strubell et al. 2019: cost and equity; [13] Ahmed and Wahed 2020: compute divide</a:t>
            </a:r>
          </a:p>
        </p:txBody>
      </p:sp>
      <p:sp>
        <p:nvSpPr>
          <p:cNvPr id="11" name="9 / 22">
            <a:extLst xmlns:a="http://schemas.openxmlformats.org/drawingml/2006/main">
              <a:ext uri="{FF2B5EF4-FFF2-40B4-BE49-F238E27FC236}">
                <a16:creationId xmlns:a16="http://schemas.microsoft.com/office/drawing/2014/main" id="{BC12A532-FF85-4048-8589-79ACFABD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9 / 22</a:t>
            </a:r>
          </a:p>
        </p:txBody>
      </p:sp>
    </p:spTree>
    <p:extLst>
      <p:ext uri="{BB962C8B-B14F-4D97-AF65-F5344CB8AC3E}">
        <p14:creationId xmlns:p14="http://schemas.microsoft.com/office/powerpoint/2010/main" val="14795573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ask 2(c) • Research and allocation decisions">
            <a:extLst xmlns:a="http://schemas.openxmlformats.org/drawingml/2006/main">
              <a:ext uri="{FF2B5EF4-FFF2-40B4-BE49-F238E27FC236}">
                <a16:creationId xmlns:a16="http://schemas.microsoft.com/office/drawing/2014/main" id="{680C12EC-C650-48BB-8BE4-8F4582E2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2(c) • Research and allocation decisions</a:t>
            </a:r>
          </a:p>
        </p:txBody>
      </p:sp>
      <p:sp>
        <p:nvSpPr>
          <p:cNvPr id="2" name="Access research and allocation choices">
            <a:extLst xmlns:a="http://schemas.openxmlformats.org/drawingml/2006/main">
              <a:ext uri="{FF2B5EF4-FFF2-40B4-BE49-F238E27FC236}">
                <a16:creationId xmlns:a16="http://schemas.microsoft.com/office/drawing/2014/main" id="{4F0914D7-5E50-4142-B05F-43E015E0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research and allocation choices</a:t>
            </a:r>
          </a:p>
        </p:txBody>
      </p:sp>
      <p:sp>
        <p:nvSpPr>
          <p:cNvPr id="3" name="Research comparison">
            <a:extLst xmlns:a="http://schemas.openxmlformats.org/drawingml/2006/main">
              <a:ext uri="{FF2B5EF4-FFF2-40B4-BE49-F238E27FC236}">
                <a16:creationId xmlns:a16="http://schemas.microsoft.com/office/drawing/2014/main" id="{5C44E68D-F809-404D-AFB3-FBC91033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Research comparison</a:t>
            </a:r>
          </a:p>
        </p:txBody>
      </p:sp>
      <p:sp>
        <p:nvSpPr>
          <p:cNvPr id="4" name="Ahmed and Wahed study historical conference participati">
            <a:extLst xmlns:a="http://schemas.openxmlformats.org/drawingml/2006/main">
              <a:ext uri="{FF2B5EF4-FFF2-40B4-BE49-F238E27FC236}">
                <a16:creationId xmlns:a16="http://schemas.microsoft.com/office/drawing/2014/main" id="{5B7AA629-57F1-4569-A5D9-5D3BBD87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Ahmed and Wahed study historical conference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participation and a compute divide. Strubell et al.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financial/resource barriers in selected NLP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workloads.</a:t>
            </a:r>
          </a:p>
        </p:txBody>
      </p:sp>
      <p:sp>
        <p:nvSpPr>
          <p:cNvPr id="5" name="The first concerns institutional participation; the sec">
            <a:extLst xmlns:a="http://schemas.openxmlformats.org/drawingml/2006/main">
              <a:ext uri="{FF2B5EF4-FFF2-40B4-BE49-F238E27FC236}">
                <a16:creationId xmlns:a16="http://schemas.microsoft.com/office/drawing/2014/main" id="{C3B113A9-D85D-4821-93F9-59B72BD1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first concerns institutional participation;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second concerns workload cost. Together they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motivate access support, but neither is a current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worldwide access census.</a:t>
            </a:r>
          </a:p>
        </p:txBody>
      </p:sp>
      <p:sp>
        <p:nvSpPr>
          <p:cNvPr id="6" name="NSF’s March 2026 participation figures describe a US sh">
            <a:extLst xmlns:a="http://schemas.openxmlformats.org/drawingml/2006/main">
              <a:ext uri="{FF2B5EF4-FFF2-40B4-BE49-F238E27FC236}">
                <a16:creationId xmlns:a16="http://schemas.microsoft.com/office/drawing/2014/main" id="{84597BA2-4B93-4576-9492-7F98B1DC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NSF’s March 2026 participation figures describe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 shared-resource response. Programme reach is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proof of equal allocation, global access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eliminated inequality.</a:t>
            </a:r>
          </a:p>
        </p:txBody>
      </p:sp>
      <p:sp>
        <p:nvSpPr>
          <p:cNvPr id="7" name="Proposed shared-cluster policy">
            <a:extLst xmlns:a="http://schemas.openxmlformats.org/drawingml/2006/main">
              <a:ext uri="{FF2B5EF4-FFF2-40B4-BE49-F238E27FC236}">
                <a16:creationId xmlns:a16="http://schemas.microsoft.com/office/drawing/2014/main" id="{212958E1-8DC9-4158-9E11-F894A0B7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Proposed shared-cluster policy</a:t>
            </a:r>
          </a:p>
        </p:txBody>
      </p:sp>
      <p:sp>
        <p:nvSpPr>
          <p:cNvPr id="8" name="Publish eligibility, GPU-hour limits and allocation cri">
            <a:extLst xmlns:a="http://schemas.openxmlformats.org/drawingml/2006/main">
              <a:ext uri="{FF2B5EF4-FFF2-40B4-BE49-F238E27FC236}">
                <a16:creationId xmlns:a16="http://schemas.microsoft.com/office/drawing/2014/main" id="{B42879DC-4D37-40C1-8772-5C1312DA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Publish eligibility, GPU-hour limits and allocation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criteria; reserve some capacity for teaching, smaller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institutions and independent replication.</a:t>
            </a:r>
          </a:p>
        </p:txBody>
      </p:sp>
      <p:sp>
        <p:nvSpPr>
          <p:cNvPr id="9" name="Provide application support and training; allow appeals">
            <a:extLst xmlns:a="http://schemas.openxmlformats.org/drawingml/2006/main">
              <a:ext uri="{FF2B5EF4-FFF2-40B4-BE49-F238E27FC236}">
                <a16:creationId xmlns:a16="http://schemas.microsoft.com/office/drawing/2014/main" id="{F43F3A07-9FFA-4BAA-A212-9AFFE6F0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Provide application support and training; allow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appeals. Track applicant-to-award outcomes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waiting times across institution groups with privacy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10" name="Trade-offs: reservations may reduce immediate utilizati">
            <a:extLst xmlns:a="http://schemas.openxmlformats.org/drawingml/2006/main">
              <a:ext uri="{FF2B5EF4-FFF2-40B4-BE49-F238E27FC236}">
                <a16:creationId xmlns:a16="http://schemas.microsoft.com/office/drawing/2014/main" id="{EAB128CF-26EC-4EB8-8F61-61E2967C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396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Trade-offs: reservations may reduce immediate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utilization; queueing can delay urgent work;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unrestricted access can conflict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security/budgets. Prevent repeated deferral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resource starvation.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867946-BD12-413E-8D16-7A31CC99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1EB419-3566-4D46-A227-B6717030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7] NSF 2026: US programme reach; [8] Strubell">
            <a:extLst xmlns:a="http://schemas.openxmlformats.org/drawingml/2006/main">
              <a:ext uri="{FF2B5EF4-FFF2-40B4-BE49-F238E27FC236}">
                <a16:creationId xmlns:a16="http://schemas.microsoft.com/office/drawing/2014/main" id="{D72A5900-458F-4B85-9A62-B580F601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[7] NSF 2026: US programme reach; [8] Strubell et al. 2019: cost and equity; [13] Ahmed and Wahed 2020: compute divide</a:t>
            </a:r>
          </a:p>
        </p:txBody>
      </p:sp>
      <p:sp>
        <p:nvSpPr>
          <p:cNvPr id="14" name="10 / 22">
            <a:extLst xmlns:a="http://schemas.openxmlformats.org/drawingml/2006/main">
              <a:ext uri="{FF2B5EF4-FFF2-40B4-BE49-F238E27FC236}">
                <a16:creationId xmlns:a16="http://schemas.microsoft.com/office/drawing/2014/main" id="{FD8BFB14-B809-4B13-B190-6E42C1A0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10 / 22</a:t>
            </a:r>
          </a:p>
        </p:txBody>
      </p:sp>
    </p:spTree>
    <p:extLst>
      <p:ext uri="{BB962C8B-B14F-4D97-AF65-F5344CB8AC3E}">
        <p14:creationId xmlns:p14="http://schemas.microsoft.com/office/powerpoint/2010/main" val="14551856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A5412E-58F5-4ADD-B2EC-623149057B9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819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B529E-D3F1-42DA-8869-F641AFCFCB9F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814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7" name="Task 2(d)">
            <a:extLst xmlns:a="http://schemas.openxmlformats.org/drawingml/2006/main">
              <a:ext uri="{FF2B5EF4-FFF2-40B4-BE49-F238E27FC236}">
                <a16:creationId xmlns:a16="http://schemas.microsoft.com/office/drawing/2014/main" id="{F04CEC9E-C041-4F8C-9E32-1222FFB3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2(d)</a:t>
            </a:r>
          </a:p>
        </p:txBody>
      </p:sp>
      <p:sp>
        <p:nvSpPr>
          <p:cNvPr id="2" name="An accountable HPC approval process">
            <a:extLst xmlns:a="http://schemas.openxmlformats.org/drawingml/2006/main">
              <a:ext uri="{FF2B5EF4-FFF2-40B4-BE49-F238E27FC236}">
                <a16:creationId xmlns:a16="http://schemas.microsoft.com/office/drawing/2014/main" id="{FDB84513-C7E8-43DD-96B7-537DA675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An accountable HPC approval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3C49F-3932-433A-ABCB-FDE8B332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Define outcome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accountable owner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0B7C6D-768F-4BC6-A9A7-A27D95FA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 quality,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and harms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8DFEA-CDA8-4515-B579-DFD58998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/ defer /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reduce scale / redesign</a:t>
            </a:r>
          </a:p>
        </p:txBody>
      </p:sp>
      <p:sp>
        <p:nvSpPr>
          <p:cNvPr id="8" name="Green AI: efficiency evidence [10]  •  Carbon-aware sch">
            <a:extLst xmlns:a="http://schemas.openxmlformats.org/drawingml/2006/main">
              <a:ext uri="{FF2B5EF4-FFF2-40B4-BE49-F238E27FC236}">
                <a16:creationId xmlns:a16="http://schemas.microsoft.com/office/drawing/2014/main" id="{B1CCAD46-FFC1-4920-AF4C-E4EE9258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Green AI: efficiency evidence [10] • Carbon-aware scheduling: flexible work [14]</a:t>
            </a:r>
          </a:p>
        </p:txBody>
      </p:sp>
      <p:sp>
        <p:nvSpPr>
          <p:cNvPr id="9" name="OECD: values and rights [15]  •  NIST: Govern, Map, Mea">
            <a:extLst xmlns:a="http://schemas.openxmlformats.org/drawingml/2006/main">
              <a:ext uri="{FF2B5EF4-FFF2-40B4-BE49-F238E27FC236}">
                <a16:creationId xmlns:a16="http://schemas.microsoft.com/office/drawing/2014/main" id="{9E0D5767-2071-4109-A0C5-FED37CAF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OECD: values and rights [15] • NIST: Govern, Map, Measure, Manage [16]</a:t>
            </a:r>
          </a:p>
        </p:txBody>
      </p:sp>
      <p:sp>
        <p:nvSpPr>
          <p:cNvPr id="10" name="Use an energy budget, security/group evaluation and tra">
            <a:extLst xmlns:a="http://schemas.openxmlformats.org/drawingml/2006/main">
              <a:ext uri="{FF2B5EF4-FFF2-40B4-BE49-F238E27FC236}">
                <a16:creationId xmlns:a16="http://schemas.microsoft.com/office/drawing/2014/main" id="{D2F7690D-ECBC-40CA-B6E4-1B5D428A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 an energy budget, security/group evaluation and transparent access rules. Record owner, rationale,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exceptions and outcomes.</a:t>
            </a:r>
          </a:p>
        </p:txBody>
      </p:sp>
      <p:sp>
        <p:nvSpPr>
          <p:cNvPr id="11" name="Measurement informs action: shift flexible jobs to clea">
            <a:extLst xmlns:a="http://schemas.openxmlformats.org/drawingml/2006/main">
              <a:ext uri="{FF2B5EF4-FFF2-40B4-BE49-F238E27FC236}">
                <a16:creationId xmlns:a16="http://schemas.microsoft.com/office/drawing/2014/main" id="{6B645747-7EB4-4786-9DAD-DEC61098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5078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Measurement informs action: shift flexible jobs to cleaner periods within deadlines/capacity. Forecast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uncertainty, water stress and urgent access can change the decision.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3F16F8-1044-4EB2-8362-5AADD2B7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3" name="Approve useful work with explicit budgets, safeguards a">
            <a:extLst xmlns:a="http://schemas.openxmlformats.org/drawingml/2006/main">
              <a:ext uri="{FF2B5EF4-FFF2-40B4-BE49-F238E27FC236}">
                <a16:creationId xmlns:a16="http://schemas.microsoft.com/office/drawing/2014/main" id="{D43F522B-9712-498E-83E8-202AC4AF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useful work with explicit budgets, safeguards and an accountable owner.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6C6A22-9CED-4DA9-BAC2-6D96B8BC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5" name="Sources: [10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94DEB5B2-8D6D-4B38-8389-CA72D93A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Schwartz et al. 2019: efficiency reporting; [14] Radovanovic et al. 2021: flexible scheduling; [15] OECD: rights, fairness and accountability; [16]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16" name="11 / 22">
            <a:extLst xmlns:a="http://schemas.openxmlformats.org/drawingml/2006/main">
              <a:ext uri="{FF2B5EF4-FFF2-40B4-BE49-F238E27FC236}">
                <a16:creationId xmlns:a16="http://schemas.microsoft.com/office/drawing/2014/main" id="{1A605C23-8A31-417B-BD68-A298F0ED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11 / 22</a:t>
            </a:r>
          </a:p>
        </p:txBody>
      </p:sp>
    </p:spTree>
    <p:extLst>
      <p:ext uri="{BB962C8B-B14F-4D97-AF65-F5344CB8AC3E}">
        <p14:creationId xmlns:p14="http://schemas.microsoft.com/office/powerpoint/2010/main" val="8651833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ask 2(d) • Framework actions and owners">
            <a:extLst xmlns:a="http://schemas.openxmlformats.org/drawingml/2006/main">
              <a:ext uri="{FF2B5EF4-FFF2-40B4-BE49-F238E27FC236}">
                <a16:creationId xmlns:a16="http://schemas.microsoft.com/office/drawing/2014/main" id="{F04E333F-E4CF-45ED-9901-883DF367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2(d) • Framework actions and owners</a:t>
            </a:r>
          </a:p>
        </p:txBody>
      </p:sp>
      <p:sp>
        <p:nvSpPr>
          <p:cNvPr id="2" name="Framework roles and accountable decisions">
            <a:extLst xmlns:a="http://schemas.openxmlformats.org/drawingml/2006/main">
              <a:ext uri="{FF2B5EF4-FFF2-40B4-BE49-F238E27FC236}">
                <a16:creationId xmlns:a16="http://schemas.microsoft.com/office/drawing/2014/main" id="{C0ADA948-D584-4F65-BAF4-0ABFFC8D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Framework roles and accountable decisions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99E1C-FFAB-4DA2-A364-37CEE13241E0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Function / 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Concrete action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/ responsible role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Govern / OECD values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ownership, data rules, access policy and escalation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Accountable owner accepts obligations and review process.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Map /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Define use, stakeholders, misuse risks, deadline and alternatives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Data/risk stewards establish the application-specific scope.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 / Green AI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energy per useful outcome, model quality, group harms and scaling efficiency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Operator/evaluator provides evidence and uncertainty.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Manage / scheduling research +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Approve, defer, reduce scale or redesign; enforce safeguards and review outcomes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Owner authorizes exceptions or rejects unresolved risks.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Our proposal combines measurement, scheduling and risk ">
            <a:extLst xmlns:a="http://schemas.openxmlformats.org/drawingml/2006/main">
              <a:ext uri="{FF2B5EF4-FFF2-40B4-BE49-F238E27FC236}">
                <a16:creationId xmlns:a16="http://schemas.microsoft.com/office/drawing/2014/main" id="{1437F3AF-04D7-40C6-B15F-9FC2D306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Our proposal combines measurement, scheduling and risk management. NIST Govern spans the other functions; risk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management is iterative, not a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31356-A666-47AD-8A07-098433CA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0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C27BCF2D-C5BA-4618-B554-5A9621B8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Schwartz et al. 2019: efficiency reporting; [14] Radovanovic et al. 2021: flexible scheduling; [15] OECD: rights, fairness and accountability; [16]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7" name="12 / 22">
            <a:extLst xmlns:a="http://schemas.openxmlformats.org/drawingml/2006/main">
              <a:ext uri="{FF2B5EF4-FFF2-40B4-BE49-F238E27FC236}">
                <a16:creationId xmlns:a16="http://schemas.microsoft.com/office/drawing/2014/main" id="{E200F74E-9933-4F07-BCD0-F41D6785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12 / 22</a:t>
            </a:r>
          </a:p>
        </p:txBody>
      </p:sp>
    </p:spTree>
    <p:extLst>
      <p:ext uri="{BB962C8B-B14F-4D97-AF65-F5344CB8AC3E}">
        <p14:creationId xmlns:p14="http://schemas.microsoft.com/office/powerpoint/2010/main" val="1960337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8085C-D45B-4B5A-945F-B49291E80BB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48550" y="2314575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4297E-C08A-4BF7-A580-4FB6061E31DB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81350" y="23145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6" name="Task 2(d) • Carbon-aware scheduling">
            <a:extLst xmlns:a="http://schemas.openxmlformats.org/drawingml/2006/main">
              <a:ext uri="{FF2B5EF4-FFF2-40B4-BE49-F238E27FC236}">
                <a16:creationId xmlns:a16="http://schemas.microsoft.com/office/drawing/2014/main" id="{1C2E6972-047C-44CA-A0EB-5B3A0534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2(d) • Carbon-aware scheduling</a:t>
            </a:r>
          </a:p>
        </p:txBody>
      </p:sp>
      <p:sp>
        <p:nvSpPr>
          <p:cNvPr id="2" name="Carbon-aware scheduling under constraints">
            <a:extLst xmlns:a="http://schemas.openxmlformats.org/drawingml/2006/main">
              <a:ext uri="{FF2B5EF4-FFF2-40B4-BE49-F238E27FC236}">
                <a16:creationId xmlns:a16="http://schemas.microsoft.com/office/drawing/2014/main" id="{1ADB8D1F-6BAD-4DAE-86AE-0AE2731A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Carbon-aware scheduling under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780F6-D2A9-4A12-94A1-889DB3F0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7D64F-3BDB-4EB5-91BA-9BBACEE2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38325"/>
            <a:ext cx="2933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Lower-carbon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forecast window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F3E3A-35B0-4201-949D-F88E86DD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38325"/>
            <a:ext cx="2686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Complete before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8" name="Research [14] demonstrates shifting temporally flexible">
            <a:extLst xmlns:a="http://schemas.openxmlformats.org/drawingml/2006/main">
              <a:ext uri="{FF2B5EF4-FFF2-40B4-BE49-F238E27FC236}">
                <a16:creationId xmlns:a16="http://schemas.microsoft.com/office/drawing/2014/main" id="{41055975-4B38-4313-BA66-25B99267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[14] demonstrates shifting temporally flexible workloads using forecasts while preserving daily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capacity. It does not show every urgent GPU job can wait.</a:t>
            </a:r>
          </a:p>
        </p:txBody>
      </p:sp>
      <p:sp>
        <p:nvSpPr>
          <p:cNvPr id="9" name="Proposed rule: defer only if deadline, energy budget, w">
            <a:extLst xmlns:a="http://schemas.openxmlformats.org/drawingml/2006/main">
              <a:ext uri="{FF2B5EF4-FFF2-40B4-BE49-F238E27FC236}">
                <a16:creationId xmlns:a16="http://schemas.microsoft.com/office/drawing/2014/main" id="{BDFEEE10-BD9A-4A48-BAE1-BC633190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Proposed rule: defer only if deadline, energy budget, water/site limits and equitable waiting-time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commitments remain satisfied; record exceptions.</a:t>
            </a:r>
          </a:p>
        </p:txBody>
      </p:sp>
      <p:sp>
        <p:nvSpPr>
          <p:cNvPr id="10" name="No feasible window: reduce scale, redesign or approve a">
            <a:extLst xmlns:a="http://schemas.openxmlformats.org/drawingml/2006/main">
              <a:ext uri="{FF2B5EF4-FFF2-40B4-BE49-F238E27FC236}">
                <a16:creationId xmlns:a16="http://schemas.microsoft.com/office/drawing/2014/main" id="{64FD3A93-D12E-4022-8350-6093302D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 feasible window: reduce scale, redesign or approve a justified urgent exception. Prevent indefinite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deferral. Data residency and transfer costs constrain moving work between sites.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3B515-D74A-4F20-B5B3-C6B91CF8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2" name="Flexible jobs may move; urgent jobs, water constraints ">
            <a:extLst xmlns:a="http://schemas.openxmlformats.org/drawingml/2006/main">
              <a:ext uri="{FF2B5EF4-FFF2-40B4-BE49-F238E27FC236}">
                <a16:creationId xmlns:a16="http://schemas.microsoft.com/office/drawing/2014/main" id="{7A065D25-68D4-4783-B5F9-5C95D359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jobs may move; urgent jobs, water constraints and access commitments can override deferral.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29A6B-32DC-4AA8-9CEA-2DBC65E9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4" name="Sources: [9] Li et al. 2025 revision: water impacts; [1">
            <a:extLst xmlns:a="http://schemas.openxmlformats.org/drawingml/2006/main">
              <a:ext uri="{FF2B5EF4-FFF2-40B4-BE49-F238E27FC236}">
                <a16:creationId xmlns:a16="http://schemas.microsoft.com/office/drawing/2014/main" id="{6349FA10-1359-453D-9D2C-4E31E493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[9] Li et al. 2025 revision: water impacts; [14] Radovanovic et al. 2021: flexible scheduling; [16] NIST: Govern, Map, Measure, Manage</a:t>
            </a:r>
          </a:p>
        </p:txBody>
      </p:sp>
      <p:sp>
        <p:nvSpPr>
          <p:cNvPr id="15" name="13 / 22">
            <a:extLst xmlns:a="http://schemas.openxmlformats.org/drawingml/2006/main">
              <a:ext uri="{FF2B5EF4-FFF2-40B4-BE49-F238E27FC236}">
                <a16:creationId xmlns:a16="http://schemas.microsoft.com/office/drawing/2014/main" id="{16C7713D-A824-40B4-B347-68734F25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13 / 22</a:t>
            </a:r>
          </a:p>
        </p:txBody>
      </p:sp>
    </p:spTree>
    <p:extLst>
      <p:ext uri="{BB962C8B-B14F-4D97-AF65-F5344CB8AC3E}">
        <p14:creationId xmlns:p14="http://schemas.microsoft.com/office/powerpoint/2010/main" val="4963221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asks 1 and 2 • Conclusions and limitations">
            <a:extLst xmlns:a="http://schemas.openxmlformats.org/drawingml/2006/main">
              <a:ext uri="{FF2B5EF4-FFF2-40B4-BE49-F238E27FC236}">
                <a16:creationId xmlns:a16="http://schemas.microsoft.com/office/drawing/2014/main" id="{C55DECAF-6B71-4C7C-AC86-C7D29AD9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Tasks 1 and 2 • Conclusions and limitations</a:t>
            </a:r>
          </a:p>
        </p:txBody>
      </p:sp>
      <p:sp>
        <p:nvSpPr>
          <p:cNvPr id="2" name="Conclusions and next measurements">
            <a:extLst xmlns:a="http://schemas.openxmlformats.org/drawingml/2006/main">
              <a:ext uri="{FF2B5EF4-FFF2-40B4-BE49-F238E27FC236}">
                <a16:creationId xmlns:a16="http://schemas.microsoft.com/office/drawing/2014/main" id="{41B81C74-B755-4FA6-B6DD-93E341AB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Conclusions and next measurements</a:t>
            </a:r>
          </a:p>
        </p:txBody>
      </p:sp>
      <p:sp>
        <p:nvSpPr>
          <p:cNvPr id="3" name="GPU rotation">
            <a:extLst xmlns:a="http://schemas.openxmlformats.org/drawingml/2006/main">
              <a:ext uri="{FF2B5EF4-FFF2-40B4-BE49-F238E27FC236}">
                <a16:creationId xmlns:a16="http://schemas.microsoft.com/office/drawing/2014/main" id="{22CE081A-BA21-4B58-A6E0-8311C01E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GPU rotation</a:t>
            </a:r>
          </a:p>
        </p:txBody>
      </p:sp>
      <p:sp>
        <p:nvSpPr>
          <p:cNvPr id="4" name="Inverse gathering exposes independent pixel work. SM sc">
            <a:extLst xmlns:a="http://schemas.openxmlformats.org/drawingml/2006/main">
              <a:ext uri="{FF2B5EF4-FFF2-40B4-BE49-F238E27FC236}">
                <a16:creationId xmlns:a16="http://schemas.microsoft.com/office/drawing/2014/main" id="{B84467E9-D21B-4ADB-BEE2-50EB49C0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Inverse gathering exposes independent pixel work.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SM scheduling, memory locality and transfer costs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determine achieved performance.</a:t>
            </a:r>
          </a:p>
        </p:txBody>
      </p:sp>
      <p:sp>
        <p:nvSpPr>
          <p:cNvPr id="5" name="Choose a CPU baseline and compare completed equivalent ">
            <a:extLst xmlns:a="http://schemas.openxmlformats.org/drawingml/2006/main">
              <a:ext uri="{FF2B5EF4-FFF2-40B4-BE49-F238E27FC236}">
                <a16:creationId xmlns:a16="http://schemas.microsoft.com/office/drawing/2014/main" id="{D4BCEEC8-A4D6-4686-A091-71D7FB96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Choose a CPU baseline and compare completed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equivalent pipelines. GDS is conditional on storage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bottlenecks, a compatible data path and verified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support.</a:t>
            </a:r>
          </a:p>
        </p:txBody>
      </p:sp>
      <p:sp>
        <p:nvSpPr>
          <p:cNvPr id="6" name="Next: compile the teaching examples, check output again">
            <a:extLst xmlns:a="http://schemas.openxmlformats.org/drawingml/2006/main">
              <a:ext uri="{FF2B5EF4-FFF2-40B4-BE49-F238E27FC236}">
                <a16:creationId xmlns:a16="http://schemas.microsoft.com/office/drawing/2014/main" id="{6E07CFBC-C7C8-4C14-894A-71F25EDE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compile the teaching examples, check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against a CPU reference and profile representative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 sizes/angles/batches. No result is assumed.</a:t>
            </a:r>
          </a:p>
        </p:txBody>
      </p:sp>
      <p:sp>
        <p:nvSpPr>
          <p:cNvPr id="7" name="Responsible scaling">
            <a:extLst xmlns:a="http://schemas.openxmlformats.org/drawingml/2006/main">
              <a:ext uri="{FF2B5EF4-FFF2-40B4-BE49-F238E27FC236}">
                <a16:creationId xmlns:a16="http://schemas.microsoft.com/office/drawing/2014/main" id="{9C3CA72C-4149-4EE3-8E56-68BDC51A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Responsible scaling</a:t>
            </a:r>
          </a:p>
        </p:txBody>
      </p:sp>
      <p:sp>
        <p:nvSpPr>
          <p:cNvPr id="8" name="More compute can enable valuable research while concent">
            <a:extLst xmlns:a="http://schemas.openxmlformats.org/drawingml/2006/main">
              <a:ext uri="{FF2B5EF4-FFF2-40B4-BE49-F238E27FC236}">
                <a16:creationId xmlns:a16="http://schemas.microsoft.com/office/drawing/2014/main" id="{32E7B691-E095-46A3-9118-59FA6851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compute can enable valuable research while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concentrating access and increasing resource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demand. Approve scale for useful outcomes,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9" name="Combine job-level energy/resource evidence, separate se">
            <a:extLst xmlns:a="http://schemas.openxmlformats.org/drawingml/2006/main">
              <a:ext uri="{FF2B5EF4-FFF2-40B4-BE49-F238E27FC236}">
                <a16:creationId xmlns:a16="http://schemas.microsoft.com/office/drawing/2014/main" id="{32F8B5AD-C345-42F0-80FF-89B4814D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Combine job-level energy/resource evidence,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 security/fairness evaluation, transparent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allocations and deadline-aware scheduling.</a:t>
            </a:r>
          </a:p>
        </p:txBody>
      </p:sp>
      <p:sp>
        <p:nvSpPr>
          <p:cNvPr id="10" name="Next: measure a real cluster job’s energy, quality, sca">
            <a:extLst xmlns:a="http://schemas.openxmlformats.org/drawingml/2006/main">
              <a:ext uri="{FF2B5EF4-FFF2-40B4-BE49-F238E27FC236}">
                <a16:creationId xmlns:a16="http://schemas.microsoft.com/office/drawing/2014/main" id="{2224F956-B5C1-4AC4-8B38-9D36931B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measure a real cluster job’s energy, quality,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efficiency and allocation outcomes; revise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policy when evidence or conditions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030F40-EBF4-4608-9372-97AE88B3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B4EEA-E3C2-428A-8981-2E412AAD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2] NVIDIA CUDA Best Practices; [3] NVIDIA GDS">
            <a:extLst xmlns:a="http://schemas.openxmlformats.org/drawingml/2006/main">
              <a:ext uri="{FF2B5EF4-FFF2-40B4-BE49-F238E27FC236}">
                <a16:creationId xmlns:a16="http://schemas.microsoft.com/office/drawing/2014/main" id="{0420949B-3DD5-4E74-9DCD-8B6500A2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NVIDIA CUDA Best Practices; [3] NVIDIA GDS overview; [4] NVIDIA GDS design; [10] Schwartz et al. 2019: efficiency reporting; [14] Radovanovic et al. 2021: flexible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scheduling; [16] NIST: Govern, Map, Measure, Manage</a:t>
            </a:r>
          </a:p>
        </p:txBody>
      </p:sp>
      <p:sp>
        <p:nvSpPr>
          <p:cNvPr id="14" name="14 / 22">
            <a:extLst xmlns:a="http://schemas.openxmlformats.org/drawingml/2006/main">
              <a:ext uri="{FF2B5EF4-FFF2-40B4-BE49-F238E27FC236}">
                <a16:creationId xmlns:a16="http://schemas.microsoft.com/office/drawing/2014/main" id="{E334BAAA-C251-438C-ABFB-574A0D8A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14 / 22</a:t>
            </a:r>
          </a:p>
        </p:txBody>
      </p:sp>
    </p:spTree>
    <p:extLst>
      <p:ext uri="{BB962C8B-B14F-4D97-AF65-F5344CB8AC3E}">
        <p14:creationId xmlns:p14="http://schemas.microsoft.com/office/powerpoint/2010/main" val="10308189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ppendix • Reading guide">
            <a:extLst xmlns:a="http://schemas.openxmlformats.org/drawingml/2006/main">
              <a:ext uri="{FF2B5EF4-FFF2-40B4-BE49-F238E27FC236}">
                <a16:creationId xmlns:a16="http://schemas.microsoft.com/office/drawing/2014/main" id="{C4FDC2BE-E89E-4806-8321-00E23E37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Reading guide</a:t>
            </a:r>
          </a:p>
        </p:txBody>
      </p:sp>
      <p:sp>
        <p:nvSpPr>
          <p:cNvPr id="2" name="Optional supporting material">
            <a:extLst xmlns:a="http://schemas.openxmlformats.org/drawingml/2006/main">
              <a:ext uri="{FF2B5EF4-FFF2-40B4-BE49-F238E27FC236}">
                <a16:creationId xmlns:a16="http://schemas.microsoft.com/office/drawing/2014/main" id="{B0375B0C-AC8E-43BF-8BA2-5F2B8C41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Optional supporting material</a:t>
            </a:r>
          </a:p>
        </p:txBody>
      </p:sp>
      <p:sp>
        <p:nvSpPr>
          <p:cNvPr id="3" name="Task 1: implementation expansions">
            <a:extLst xmlns:a="http://schemas.openxmlformats.org/drawingml/2006/main">
              <a:ext uri="{FF2B5EF4-FFF2-40B4-BE49-F238E27FC236}">
                <a16:creationId xmlns:a16="http://schemas.microsoft.com/office/drawing/2014/main" id="{C337CF75-BCC3-4DB2-BD68-C2C655A5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1: implementation expansions</a:t>
            </a:r>
          </a:p>
        </p:txBody>
      </p:sp>
      <p:sp>
        <p:nvSpPr>
          <p:cNvPr id="4" name="The Task 1 answers already contain the rotation formula">
            <a:extLst xmlns:a="http://schemas.openxmlformats.org/drawingml/2006/main">
              <a:ext uri="{FF2B5EF4-FFF2-40B4-BE49-F238E27FC236}">
                <a16:creationId xmlns:a16="http://schemas.microsoft.com/office/drawing/2014/main" id="{5F6770EC-0BFD-46E9-8B63-B8261F36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Task 1 answers already contain the rotation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formula, worked calculation, kernel, host launch,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launch-shape comparison and stream/overlap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example.</a:t>
            </a:r>
          </a:p>
        </p:txBody>
      </p:sp>
      <p:sp>
        <p:nvSpPr>
          <p:cNvPr id="5" name="The following slides expand coordinate conventions and ">
            <a:extLst xmlns:a="http://schemas.openxmlformats.org/drawingml/2006/main">
              <a:ext uri="{FF2B5EF4-FFF2-40B4-BE49-F238E27FC236}">
                <a16:creationId xmlns:a16="http://schemas.microsoft.com/office/drawing/2014/main" id="{C5462BF0-F92D-4169-B4FA-AE82F058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following slides expand coordinate conventions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complete source examples, then give an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optional profiling plan and GDS background.</a:t>
            </a:r>
          </a:p>
        </p:txBody>
      </p:sp>
      <p:sp>
        <p:nvSpPr>
          <p:cNvPr id="6" name="Task 2: supplementary comparisons">
            <a:extLst xmlns:a="http://schemas.openxmlformats.org/drawingml/2006/main">
              <a:ext uri="{FF2B5EF4-FFF2-40B4-BE49-F238E27FC236}">
                <a16:creationId xmlns:a16="http://schemas.microsoft.com/office/drawing/2014/main" id="{479EA6D7-6673-40BB-8996-137CD1D5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2: supplementary comparisons</a:t>
            </a:r>
          </a:p>
        </p:txBody>
      </p:sp>
      <p:sp>
        <p:nvSpPr>
          <p:cNvPr id="7" name="The Task 2 answers already contain energy/carbon calcul">
            <a:extLst xmlns:a="http://schemas.openxmlformats.org/drawingml/2006/main">
              <a:ext uri="{FF2B5EF4-FFF2-40B4-BE49-F238E27FC236}">
                <a16:creationId xmlns:a16="http://schemas.microsoft.com/office/drawing/2014/main" id="{7ED9EBC6-AAC2-40D7-95FD-5AFD38EB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Task 2 answers already contain energy/carbon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calculations, research comparisons, governance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fairness decisions, access policy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accountable scheduling.</a:t>
            </a:r>
          </a:p>
        </p:txBody>
      </p:sp>
      <p:sp>
        <p:nvSpPr>
          <p:cNvPr id="8" name="Additional parallelism and cross-topic comparison table">
            <a:extLst xmlns:a="http://schemas.openxmlformats.org/drawingml/2006/main">
              <a:ext uri="{FF2B5EF4-FFF2-40B4-BE49-F238E27FC236}">
                <a16:creationId xmlns:a16="http://schemas.microsoft.com/office/drawing/2014/main" id="{11D21C7F-2EC2-4C56-96FD-F3D7BD95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Additional parallelism and cross-topic comparison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tables follow. Website references and one brief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AI-use declaration complete the deck.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95F31-766E-4E27-B91F-60C68C96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E9EFF-CEF8-42A9-8994-08E43198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1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34BD923E-3195-4C22-8242-D2D573F2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2" name="15 / 22">
            <a:extLst xmlns:a="http://schemas.openxmlformats.org/drawingml/2006/main">
              <a:ext uri="{FF2B5EF4-FFF2-40B4-BE49-F238E27FC236}">
                <a16:creationId xmlns:a16="http://schemas.microsoft.com/office/drawing/2014/main" id="{EAC68BDF-8CAD-4980-BB4C-F34A181F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15 / 22</a:t>
            </a:r>
          </a:p>
        </p:txBody>
      </p:sp>
    </p:spTree>
    <p:extLst>
      <p:ext uri="{BB962C8B-B14F-4D97-AF65-F5344CB8AC3E}">
        <p14:creationId xmlns:p14="http://schemas.microsoft.com/office/powerpoint/2010/main" val="17116659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1">
            <a:extLst xmlns:a="http://schemas.openxmlformats.org/drawingml/2006/main">
              <a:ext uri="{FF2B5EF4-FFF2-40B4-BE49-F238E27FC236}">
                <a16:creationId xmlns:a16="http://schemas.microsoft.com/office/drawing/2014/main" id="{84E741C3-EAE1-44E5-8EF1-B6B1A148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B1</a:t>
            </a:r>
          </a:p>
        </p:txBody>
      </p:sp>
      <p:sp>
        <p:nvSpPr>
          <p:cNvPr id="2" name="Parallelism, dependencies and scaling limits">
            <a:extLst xmlns:a="http://schemas.openxmlformats.org/drawingml/2006/main">
              <a:ext uri="{FF2B5EF4-FFF2-40B4-BE49-F238E27FC236}">
                <a16:creationId xmlns:a16="http://schemas.microsoft.com/office/drawing/2014/main" id="{E9F58F1C-031A-4C0B-81F8-AAEBF365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Parallelism, dependencies and scaling limits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1BD34C-DA26-4B97-9EB5-21ECA1FC24FA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Partition and communication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Scaling limitation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Replicate model; partition batches; reduce/average gradients before a consistent update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Collective latency/bandwidth and stragglers.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Tensor parallel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Partition computations within a layer; exchange partial results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Frequent inter-device communication.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Pipeline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layers to stages; pass activations/gradients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Stage imbalance and pipeline bubbles.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Fixed workload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More GPUs reduce only the parallelizable portion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Serial work and communication bound speedup.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Larger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Scale capacity/model/data with added resources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different claim from halving a fixed job’s runtime.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All-reduce is a collective result-sharing concept, not ">
            <a:extLst xmlns:a="http://schemas.openxmlformats.org/drawingml/2006/main">
              <a:ext uri="{FF2B5EF4-FFF2-40B4-BE49-F238E27FC236}">
                <a16:creationId xmlns:a16="http://schemas.microsoft.com/office/drawing/2014/main" id="{93A6E72A-222E-4E86-A2E2-8BFCB380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All-reduce is a collective result-sharing concept, not a claim that every AI framework uses the exact classroom MPI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ADA14-90AB-48A0-B163-27BFE5A5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5] NVIDIA Megatron parallelism; [2] NVIDIA CU">
            <a:extLst xmlns:a="http://schemas.openxmlformats.org/drawingml/2006/main">
              <a:ext uri="{FF2B5EF4-FFF2-40B4-BE49-F238E27FC236}">
                <a16:creationId xmlns:a16="http://schemas.microsoft.com/office/drawing/2014/main" id="{AFC6F8D1-1601-4F62-86AD-32779455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[5] NVIDIA Megatron parallelism; [2] NVIDIA CUDA Best Practices</a:t>
            </a:r>
          </a:p>
        </p:txBody>
      </p:sp>
      <p:sp>
        <p:nvSpPr>
          <p:cNvPr id="7" name="16 / 22">
            <a:extLst xmlns:a="http://schemas.openxmlformats.org/drawingml/2006/main">
              <a:ext uri="{FF2B5EF4-FFF2-40B4-BE49-F238E27FC236}">
                <a16:creationId xmlns:a16="http://schemas.microsoft.com/office/drawing/2014/main" id="{C635396A-8DBF-4A07-AE70-63D9DC3F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16 / 22</a:t>
            </a:r>
          </a:p>
        </p:txBody>
      </p:sp>
    </p:spTree>
    <p:extLst>
      <p:ext uri="{BB962C8B-B14F-4D97-AF65-F5344CB8AC3E}">
        <p14:creationId xmlns:p14="http://schemas.microsoft.com/office/powerpoint/2010/main" val="21300089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2">
            <a:extLst xmlns:a="http://schemas.openxmlformats.org/drawingml/2006/main">
              <a:ext uri="{FF2B5EF4-FFF2-40B4-BE49-F238E27FC236}">
                <a16:creationId xmlns:a16="http://schemas.microsoft.com/office/drawing/2014/main" id="{C7FE951E-F7BD-4A84-9EB5-6BF6E992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B2</a:t>
            </a:r>
          </a:p>
        </p:txBody>
      </p:sp>
      <p:sp>
        <p:nvSpPr>
          <p:cNvPr id="2" name="Research comparisons across all four topics">
            <a:extLst xmlns:a="http://schemas.openxmlformats.org/drawingml/2006/main">
              <a:ext uri="{FF2B5EF4-FFF2-40B4-BE49-F238E27FC236}">
                <a16:creationId xmlns:a16="http://schemas.microsoft.com/office/drawing/2014/main" id="{B8AFEF62-69D5-4B05-9166-08F5EF02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comparisons across all four topics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675E6-BFCE-4A60-83B7-2AE1FF314157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Topic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 / limit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(a) Environment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Cost/efficiency research [8,10] versus water-footprint research [9]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Useful-output efficiency and local resource pressure need different measures.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(b) Governance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 reconstruction [11] versus fairness evaluation survey [12]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exposure and unequal outcomes are distinct failure mechanisms.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(c) Access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Institutional participation [13] versus workload cost/equity [8]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Concentration and financial barriers reinforce a concern; scopes differ.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(d) Frameworks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Efficiency-reporting argument [10] versus operational scheduling [14]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Measurement motivates action; scheduling depends on flexibility and forecasts.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Current institutional evidence [6,7] and governance fra">
            <a:extLst xmlns:a="http://schemas.openxmlformats.org/drawingml/2006/main">
              <a:ext uri="{FF2B5EF4-FFF2-40B4-BE49-F238E27FC236}">
                <a16:creationId xmlns:a16="http://schemas.microsoft.com/office/drawing/2014/main" id="{DC5BAF6C-94CD-4DDC-9A57-5B9779E3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Current institutional evidence [6,7] and governance frameworks [15,16] complement the research; they do not replace its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methodological limits.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DBF00-9678-4358-8A3C-FA094C6B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8] Strubell et al. 2019: cost and equity; [9]">
            <a:extLst xmlns:a="http://schemas.openxmlformats.org/drawingml/2006/main">
              <a:ext uri="{FF2B5EF4-FFF2-40B4-BE49-F238E27FC236}">
                <a16:creationId xmlns:a16="http://schemas.microsoft.com/office/drawing/2014/main" id="{D6B6662B-835A-4035-AA7E-EBA43CFF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[8] Strubell et al. 2019: cost and equity; [9] Li et al. 2025 revision: water impacts; [10] Schwartz et al. 2019: efficiency reporting; [11] Zhu et al. 2019: exposed gradients; [12]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Gallegos et al. 2024: fairness evaluation; [13] Ahmed and Wahed 2020: compute divide; [14] Radovanovic et al. 2021: flexible scheduling</a:t>
            </a:r>
          </a:p>
        </p:txBody>
      </p:sp>
      <p:sp>
        <p:nvSpPr>
          <p:cNvPr id="7" name="17 / 22">
            <a:extLst xmlns:a="http://schemas.openxmlformats.org/drawingml/2006/main">
              <a:ext uri="{FF2B5EF4-FFF2-40B4-BE49-F238E27FC236}">
                <a16:creationId xmlns:a16="http://schemas.microsoft.com/office/drawing/2014/main" id="{78A21E07-3A48-4D7D-B452-7EEC372A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17 / 22</a:t>
            </a:r>
          </a:p>
        </p:txBody>
      </p:sp>
    </p:spTree>
    <p:extLst>
      <p:ext uri="{BB962C8B-B14F-4D97-AF65-F5344CB8AC3E}">
        <p14:creationId xmlns:p14="http://schemas.microsoft.com/office/powerpoint/2010/main" val="63436428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1/4">
            <a:extLst xmlns:a="http://schemas.openxmlformats.org/drawingml/2006/main">
              <a:ext uri="{FF2B5EF4-FFF2-40B4-BE49-F238E27FC236}">
                <a16:creationId xmlns:a16="http://schemas.microsoft.com/office/drawing/2014/main" id="{41C5DE74-4A4A-4E51-A6C0-89AFB65E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1/4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2BFBDE09-7D01-4CF2-85DF-2A8E2B9C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2] NVIDIA, CUDA C++ Best Practices Guide, online docum">
            <a:extLst xmlns:a="http://schemas.openxmlformats.org/drawingml/2006/main">
              <a:ext uri="{FF2B5EF4-FFF2-40B4-BE49-F238E27FC236}">
                <a16:creationId xmlns:a16="http://schemas.microsoft.com/office/drawing/2014/main" id="{D4683C6A-56F3-4D14-86CE-7D12432E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[2] NVIDIA, CUDA C++ Best Practices Guide, online documentation, accessed Oct. 8, 2026.</a:t>
            </a:r>
          </a:p>
        </p:txBody>
      </p:sp>
      <p:sp>
        <p:nvSpPr>
          <p:cNvPr id="4" name="https://docs.nvidia.com/cuda/cuda-c-best-practices-guid">
            <a:extLst xmlns:a="http://schemas.openxmlformats.org/drawingml/2006/main">
              <a:ext uri="{FF2B5EF4-FFF2-40B4-BE49-F238E27FC236}">
                <a16:creationId xmlns:a16="http://schemas.microsoft.com/office/drawing/2014/main" id="{4646E4C9-4F4E-49AB-AED9-A383056F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af21a769323b40dd"/>
              </a:rPr>
              <a:t>https://docs.nvidia.com/cuda/cuda-c-best-practices-guide/index.html</a:t>
            </a:r>
          </a:p>
        </p:txBody>
      </p:sp>
      <p:sp>
        <p:nvSpPr>
          <p:cNvPr id="5" name="[3] NVIDIA, GPUDirect Storage Overview Guide, online do">
            <a:extLst xmlns:a="http://schemas.openxmlformats.org/drawingml/2006/main">
              <a:ext uri="{FF2B5EF4-FFF2-40B4-BE49-F238E27FC236}">
                <a16:creationId xmlns:a16="http://schemas.microsoft.com/office/drawing/2014/main" id="{BE159984-8BE6-4144-AE62-4270F1C5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[3] NVIDIA, GPUDirect Storage Overview Guide, online documentation, accessed Oct. 8, 2026.</a:t>
            </a:r>
          </a:p>
        </p:txBody>
      </p:sp>
      <p:sp>
        <p:nvSpPr>
          <p:cNvPr id="6" name="https://docs.nvidia.com/gpudirect-storage/overview-guid">
            <a:extLst xmlns:a="http://schemas.openxmlformats.org/drawingml/2006/main">
              <a:ext uri="{FF2B5EF4-FFF2-40B4-BE49-F238E27FC236}">
                <a16:creationId xmlns:a16="http://schemas.microsoft.com/office/drawing/2014/main" id="{D3BACDEA-6583-4B5C-9D69-A65992DD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d8e73ef7f2c34537"/>
              </a:rPr>
              <a:t>https://docs.nvidia.com/gpudirect-storage/overview-guide/index.html</a:t>
            </a:r>
          </a:p>
        </p:txBody>
      </p:sp>
      <p:sp>
        <p:nvSpPr>
          <p:cNvPr id="7" name="[4] NVIDIA, GPUDirect Storage Design Guide, online docu">
            <a:extLst xmlns:a="http://schemas.openxmlformats.org/drawingml/2006/main">
              <a:ext uri="{FF2B5EF4-FFF2-40B4-BE49-F238E27FC236}">
                <a16:creationId xmlns:a16="http://schemas.microsoft.com/office/drawing/2014/main" id="{4DB84858-D582-485C-B99B-9667DC84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[4] NVIDIA, GPUDirect Storage Design Guide, online documentation, accessed Oct. 8, 2026.</a:t>
            </a:r>
          </a:p>
        </p:txBody>
      </p:sp>
      <p:sp>
        <p:nvSpPr>
          <p:cNvPr id="8" name="https://docs.nvidia.com/gpudirect-storage/design-guide/">
            <a:extLst xmlns:a="http://schemas.openxmlformats.org/drawingml/2006/main">
              <a:ext uri="{FF2B5EF4-FFF2-40B4-BE49-F238E27FC236}">
                <a16:creationId xmlns:a16="http://schemas.microsoft.com/office/drawing/2014/main" id="{61A530A0-BAC4-40C1-A449-08D15D25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718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828df0bc25754189"/>
              </a:rPr>
              <a:t>https://docs.nvidia.com/gpudirect-storage/design-guide/index.html</a:t>
            </a:r>
          </a:p>
        </p:txBody>
      </p:sp>
      <p:sp>
        <p:nvSpPr>
          <p:cNvPr id="9" name="[5] NVIDIA, “Parallelism strategies guide,” Megatron Co">
            <a:extLst xmlns:a="http://schemas.openxmlformats.org/drawingml/2006/main">
              <a:ext uri="{FF2B5EF4-FFF2-40B4-BE49-F238E27FC236}">
                <a16:creationId xmlns:a16="http://schemas.microsoft.com/office/drawing/2014/main" id="{E1E6EB8A-559B-4D99-9614-35E4F930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8387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[5] NVIDIA, “Parallelism strategies guide,” Megatron Core, online documentation, accessed Oct. 8, 2026.</a:t>
            </a:r>
          </a:p>
        </p:txBody>
      </p:sp>
      <p:sp>
        <p:nvSpPr>
          <p:cNvPr id="10" name="https://docs.nvidia.com/megatron-core/developer-guide/l">
            <a:extLst xmlns:a="http://schemas.openxmlformats.org/drawingml/2006/main">
              <a:ext uri="{FF2B5EF4-FFF2-40B4-BE49-F238E27FC236}">
                <a16:creationId xmlns:a16="http://schemas.microsoft.com/office/drawing/2014/main" id="{528EF1D1-828F-405C-9BF1-BBCDD686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2618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1180e2b21b014471"/>
              </a:rPr>
              <a:t>https://docs.nvidia.com/megatron-core/developer-guide/latest/user-guide/parallelism-guide.html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36B5E1-DE99-4F1C-8AC5-48B4F667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2669A9EF-DABC-4A00-BD11-8D592EF0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18 / 22">
            <a:extLst xmlns:a="http://schemas.openxmlformats.org/drawingml/2006/main">
              <a:ext uri="{FF2B5EF4-FFF2-40B4-BE49-F238E27FC236}">
                <a16:creationId xmlns:a16="http://schemas.microsoft.com/office/drawing/2014/main" id="{8DA5777B-D549-4167-BB45-488AB821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18 / 22</a:t>
            </a:r>
          </a:p>
        </p:txBody>
      </p:sp>
    </p:spTree>
    <p:extLst>
      <p:ext uri="{BB962C8B-B14F-4D97-AF65-F5344CB8AC3E}">
        <p14:creationId xmlns:p14="http://schemas.microsoft.com/office/powerpoint/2010/main" val="14908741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2/4">
            <a:extLst xmlns:a="http://schemas.openxmlformats.org/drawingml/2006/main">
              <a:ext uri="{FF2B5EF4-FFF2-40B4-BE49-F238E27FC236}">
                <a16:creationId xmlns:a16="http://schemas.microsoft.com/office/drawing/2014/main" id="{1975F47C-C0F1-4F1D-8A8E-17EE0BD4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2/4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27826C03-F3F9-4A04-B4AF-894E2622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6] International Energy Agency, Key Questions on Energ">
            <a:extLst xmlns:a="http://schemas.openxmlformats.org/drawingml/2006/main">
              <a:ext uri="{FF2B5EF4-FFF2-40B4-BE49-F238E27FC236}">
                <a16:creationId xmlns:a16="http://schemas.microsoft.com/office/drawing/2014/main" id="{20EAE40A-7464-449E-91DB-AFEB50F6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[6] International Energy Agency, Key Questions on Energy and AI, executive summary, Apr. 16, 2026, CC BY 4.0, accessed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Oct. 8, 2026.</a:t>
            </a:r>
          </a:p>
        </p:txBody>
      </p:sp>
      <p:sp>
        <p:nvSpPr>
          <p:cNvPr id="4" name="https://www.iea.org/reports/key-questions-on-energy-and">
            <a:extLst xmlns:a="http://schemas.openxmlformats.org/drawingml/2006/main">
              <a:ext uri="{FF2B5EF4-FFF2-40B4-BE49-F238E27FC236}">
                <a16:creationId xmlns:a16="http://schemas.microsoft.com/office/drawing/2014/main" id="{05D0D55B-1193-49B3-BAE5-CC9232A9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b2c423cc613344c1"/>
              </a:rPr>
              <a:t>https://www.iea.org/reports/key-questions-on-energy-and-ai/executive-summary</a:t>
            </a:r>
          </a:p>
        </p:txBody>
      </p:sp>
      <p:sp>
        <p:nvSpPr>
          <p:cNvPr id="5" name="[7] U.S. National Science Foundation, “NAIRR at 2 years">
            <a:extLst xmlns:a="http://schemas.openxmlformats.org/drawingml/2006/main">
              <a:ext uri="{FF2B5EF4-FFF2-40B4-BE49-F238E27FC236}">
                <a16:creationId xmlns:a16="http://schemas.microsoft.com/office/drawing/2014/main" id="{C7E5E373-D685-4794-AA1D-9057D5FD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[7] U.S. National Science Foundation, “NAIRR at 2 years: Advancing American artificial intelligence innovation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leadership,” Mar. 19, 2026, accessed Oct. 8, 2026.</a:t>
            </a:r>
          </a:p>
        </p:txBody>
      </p:sp>
      <p:sp>
        <p:nvSpPr>
          <p:cNvPr id="6" name="https://www.nsf.gov/cise/updates/nairr-2-years-advancin">
            <a:extLst xmlns:a="http://schemas.openxmlformats.org/drawingml/2006/main">
              <a:ext uri="{FF2B5EF4-FFF2-40B4-BE49-F238E27FC236}">
                <a16:creationId xmlns:a16="http://schemas.microsoft.com/office/drawing/2014/main" id="{264FAD85-5675-4F96-B407-096D4C05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782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c372d35d94054d64"/>
              </a:rPr>
              <a:t>https://www.nsf.gov/cise/updates/nairr-2-years-advancing-american-artificial-intelligence</a:t>
            </a:r>
          </a:p>
        </p:txBody>
      </p:sp>
      <p:sp>
        <p:nvSpPr>
          <p:cNvPr id="7" name="[8] E. Strubell, A. Ganesh, and A. McCallum, “Energy an">
            <a:extLst xmlns:a="http://schemas.openxmlformats.org/drawingml/2006/main">
              <a:ext uri="{FF2B5EF4-FFF2-40B4-BE49-F238E27FC236}">
                <a16:creationId xmlns:a16="http://schemas.microsoft.com/office/drawing/2014/main" id="{E8866430-80E8-444C-858A-900FBA5D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902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[8] E. Strubell, A. Ganesh, and A. McCallum, “Energy and policy considerations for deep learning in NLP,” in Proc. ACL,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2019, pp. 3645–3650, doi: 10.18653/v1/P19-1355.</a:t>
            </a:r>
          </a:p>
        </p:txBody>
      </p:sp>
      <p:sp>
        <p:nvSpPr>
          <p:cNvPr id="8" name="https://aclanthology.org/P19-1355/">
            <a:extLst xmlns:a="http://schemas.openxmlformats.org/drawingml/2006/main">
              <a:ext uri="{FF2B5EF4-FFF2-40B4-BE49-F238E27FC236}">
                <a16:creationId xmlns:a16="http://schemas.microsoft.com/office/drawing/2014/main" id="{3C892680-CD97-438A-9AF0-F80DE47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128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040d242b0820428e"/>
              </a:rPr>
              <a:t>https://aclanthology.org/P19-1355/</a:t>
            </a:r>
          </a:p>
        </p:txBody>
      </p:sp>
      <p:sp>
        <p:nvSpPr>
          <p:cNvPr id="9" name="[9] P. Li, J. Yang, M. A. Islam, and S. Ren, “Making AI">
            <a:extLst xmlns:a="http://schemas.openxmlformats.org/drawingml/2006/main">
              <a:ext uri="{FF2B5EF4-FFF2-40B4-BE49-F238E27FC236}">
                <a16:creationId xmlns:a16="http://schemas.microsoft.com/office/drawing/2014/main" id="{2E5620F8-47BC-4CB1-96DA-DECB8377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248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[9] P. Li, J. Yang, M. A. Islam, and S. Ren, “Making AI less ‘thirsty’: Uncovering and addressing the secret water footprint of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 models,” arXiv:2304.03271v5, Mar. 26, 2025; first submitted 2023.</a:t>
            </a:r>
          </a:p>
        </p:txBody>
      </p:sp>
      <p:sp>
        <p:nvSpPr>
          <p:cNvPr id="10" name="https://arxiv.org/abs/2304.03271v5">
            <a:extLst xmlns:a="http://schemas.openxmlformats.org/drawingml/2006/main">
              <a:ext uri="{FF2B5EF4-FFF2-40B4-BE49-F238E27FC236}">
                <a16:creationId xmlns:a16="http://schemas.microsoft.com/office/drawing/2014/main" id="{78C34C31-D247-4FD1-87B9-2154CD89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474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b2526a5124054c64"/>
              </a:rPr>
              <a:t>https://arxiv.org/abs/2304.03271v5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01FD2-E374-4AA7-A93F-85C17F35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201E4644-23E9-4D54-AC57-5FBF8A3E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19 / 22">
            <a:extLst xmlns:a="http://schemas.openxmlformats.org/drawingml/2006/main">
              <a:ext uri="{FF2B5EF4-FFF2-40B4-BE49-F238E27FC236}">
                <a16:creationId xmlns:a16="http://schemas.microsoft.com/office/drawing/2014/main" id="{8106C55A-F4E0-402C-91F2-383ADAE0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19 / 22</a:t>
            </a:r>
          </a:p>
        </p:txBody>
      </p:sp>
    </p:spTree>
    <p:extLst>
      <p:ext uri="{BB962C8B-B14F-4D97-AF65-F5344CB8AC3E}">
        <p14:creationId xmlns:p14="http://schemas.microsoft.com/office/powerpoint/2010/main" val="123554416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3/4">
            <a:extLst xmlns:a="http://schemas.openxmlformats.org/drawingml/2006/main">
              <a:ext uri="{FF2B5EF4-FFF2-40B4-BE49-F238E27FC236}">
                <a16:creationId xmlns:a16="http://schemas.microsoft.com/office/drawing/2014/main" id="{B8D89D93-1BA0-47F1-96AB-6D0AC446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3/4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B9FA8CCE-20A4-4CDF-9C31-23CBF1F6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0] R. Schwartz, J. Dodge, N. A. Smith, and O. Etzioni">
            <a:extLst xmlns:a="http://schemas.openxmlformats.org/drawingml/2006/main">
              <a:ext uri="{FF2B5EF4-FFF2-40B4-BE49-F238E27FC236}">
                <a16:creationId xmlns:a16="http://schemas.microsoft.com/office/drawing/2014/main" id="{7E2AF804-F0CE-4435-B251-598D1B68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[10] R. Schwartz, J. Dodge, N. A. Smith, and O. Etzioni, “Green AI,” arXiv:1907.10597, 2019.</a:t>
            </a:r>
          </a:p>
        </p:txBody>
      </p:sp>
      <p:sp>
        <p:nvSpPr>
          <p:cNvPr id="4" name="https://arxiv.org/abs/1907.10597">
            <a:extLst xmlns:a="http://schemas.openxmlformats.org/drawingml/2006/main">
              <a:ext uri="{FF2B5EF4-FFF2-40B4-BE49-F238E27FC236}">
                <a16:creationId xmlns:a16="http://schemas.microsoft.com/office/drawing/2014/main" id="{8C84BC83-9277-4912-B058-AD5C27FC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69f8abc90093477d"/>
              </a:rPr>
              <a:t>https://arxiv.org/abs/1907.10597</a:t>
            </a:r>
          </a:p>
        </p:txBody>
      </p:sp>
      <p:sp>
        <p:nvSpPr>
          <p:cNvPr id="5" name="[11] L. Zhu, Z. Liu, and S. Han, “Deep leakage from gra">
            <a:extLst xmlns:a="http://schemas.openxmlformats.org/drawingml/2006/main">
              <a:ext uri="{FF2B5EF4-FFF2-40B4-BE49-F238E27FC236}">
                <a16:creationId xmlns:a16="http://schemas.microsoft.com/office/drawing/2014/main" id="{DC04CE00-2DE0-4140-AF5B-A38382AB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[11] L. Zhu, Z. Liu, and S. Han, “Deep leakage from gradients,” arXiv:1906.08935v2, 2019.</a:t>
            </a:r>
          </a:p>
        </p:txBody>
      </p:sp>
      <p:sp>
        <p:nvSpPr>
          <p:cNvPr id="6" name="https://arxiv.org/abs/1906.08935v2">
            <a:extLst xmlns:a="http://schemas.openxmlformats.org/drawingml/2006/main">
              <a:ext uri="{FF2B5EF4-FFF2-40B4-BE49-F238E27FC236}">
                <a16:creationId xmlns:a16="http://schemas.microsoft.com/office/drawing/2014/main" id="{F3B916C1-46E1-4101-92C2-9CE6AC88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a672cacd8a274edb"/>
              </a:rPr>
              <a:t>https://arxiv.org/abs/1906.08935v2</a:t>
            </a:r>
          </a:p>
        </p:txBody>
      </p:sp>
      <p:sp>
        <p:nvSpPr>
          <p:cNvPr id="7" name="[12] I. O. Gallegos et al., “Bias and fairness in large">
            <a:extLst xmlns:a="http://schemas.openxmlformats.org/drawingml/2006/main">
              <a:ext uri="{FF2B5EF4-FFF2-40B4-BE49-F238E27FC236}">
                <a16:creationId xmlns:a16="http://schemas.microsoft.com/office/drawing/2014/main" id="{957C87B8-40DB-4225-A3C8-58759803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[12] I. O. Gallegos et al., “Bias and fairness in large language models: A survey,” Computational Linguistics, vol. 50, no. 3,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pp. 1097–1179, 2024, doi: 10.1162/coli_a_00524.</a:t>
            </a:r>
          </a:p>
        </p:txBody>
      </p:sp>
      <p:sp>
        <p:nvSpPr>
          <p:cNvPr id="8" name="https://aclanthology.org/2024.cl-3.8/">
            <a:extLst xmlns:a="http://schemas.openxmlformats.org/drawingml/2006/main">
              <a:ext uri="{FF2B5EF4-FFF2-40B4-BE49-F238E27FC236}">
                <a16:creationId xmlns:a16="http://schemas.microsoft.com/office/drawing/2014/main" id="{5463360D-6830-42B0-ADCC-A746C2E1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522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def2b55314ab425e"/>
              </a:rPr>
              <a:t>https://aclanthology.org/2024.cl-3.8/</a:t>
            </a:r>
          </a:p>
        </p:txBody>
      </p:sp>
      <p:sp>
        <p:nvSpPr>
          <p:cNvPr id="9" name="[13] N. Ahmed and M. Wahed, “The de-democratization of ">
            <a:extLst xmlns:a="http://schemas.openxmlformats.org/drawingml/2006/main">
              <a:ext uri="{FF2B5EF4-FFF2-40B4-BE49-F238E27FC236}">
                <a16:creationId xmlns:a16="http://schemas.microsoft.com/office/drawing/2014/main" id="{6BDE0203-AA0B-47EE-83FE-B3431C10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641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[13] N. Ahmed and M. Wahed, “The de-democratization of AI: Deep learning and the compute divide in artificial intelligence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research,” arXiv:2010.15581v1, 2020.</a:t>
            </a:r>
          </a:p>
        </p:txBody>
      </p:sp>
      <p:sp>
        <p:nvSpPr>
          <p:cNvPr id="10" name="https://arxiv.org/abs/2010.15581v1">
            <a:extLst xmlns:a="http://schemas.openxmlformats.org/drawingml/2006/main">
              <a:ext uri="{FF2B5EF4-FFF2-40B4-BE49-F238E27FC236}">
                <a16:creationId xmlns:a16="http://schemas.microsoft.com/office/drawing/2014/main" id="{E63A5DD8-36A3-4624-8768-8062F4D2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7138e347c5ce4463"/>
              </a:rPr>
              <a:t>https://arxiv.org/abs/2010.15581v1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7BA6A-5A8B-4EFD-BA4D-B163BC9D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3AB316CA-AAAF-4833-8D1F-4FE80034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20 / 22">
            <a:extLst xmlns:a="http://schemas.openxmlformats.org/drawingml/2006/main">
              <a:ext uri="{FF2B5EF4-FFF2-40B4-BE49-F238E27FC236}">
                <a16:creationId xmlns:a16="http://schemas.microsoft.com/office/drawing/2014/main" id="{2C1EA37C-991A-4954-98CF-147E9005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20 / 22</a:t>
            </a:r>
          </a:p>
        </p:txBody>
      </p:sp>
    </p:spTree>
    <p:extLst>
      <p:ext uri="{BB962C8B-B14F-4D97-AF65-F5344CB8AC3E}">
        <p14:creationId xmlns:p14="http://schemas.microsoft.com/office/powerpoint/2010/main" val="196119009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• References 4/4">
            <a:extLst xmlns:a="http://schemas.openxmlformats.org/drawingml/2006/main">
              <a:ext uri="{FF2B5EF4-FFF2-40B4-BE49-F238E27FC236}">
                <a16:creationId xmlns:a16="http://schemas.microsoft.com/office/drawing/2014/main" id="{77323FE8-D5F9-44B6-8BE5-297561D8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4/4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10BFF8F4-06BA-47F8-BFB2-9637BA15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4] A. Radovanovic et al., “Carbon-aware computing for">
            <a:extLst xmlns:a="http://schemas.openxmlformats.org/drawingml/2006/main">
              <a:ext uri="{FF2B5EF4-FFF2-40B4-BE49-F238E27FC236}">
                <a16:creationId xmlns:a16="http://schemas.microsoft.com/office/drawing/2014/main" id="{73D8C083-70E7-42B4-81CB-DF0503A3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[14] A. Radovanovic et al., “Carbon-aware computing for datacenters,” arXiv:2106.11750v1, 2021.</a:t>
            </a:r>
          </a:p>
        </p:txBody>
      </p:sp>
      <p:sp>
        <p:nvSpPr>
          <p:cNvPr id="4" name="https://arxiv.org/abs/2106.11750v1">
            <a:extLst xmlns:a="http://schemas.openxmlformats.org/drawingml/2006/main">
              <a:ext uri="{FF2B5EF4-FFF2-40B4-BE49-F238E27FC236}">
                <a16:creationId xmlns:a16="http://schemas.microsoft.com/office/drawing/2014/main" id="{3CCB0721-87D8-4465-8929-165E6CD1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d5316cd9772d4251"/>
              </a:rPr>
              <a:t>https://arxiv.org/abs/2106.11750v1</a:t>
            </a:r>
          </a:p>
        </p:txBody>
      </p:sp>
      <p:sp>
        <p:nvSpPr>
          <p:cNvPr id="5" name="[15] OECD, “OECD AI Principles,” adopted 2019, updated ">
            <a:extLst xmlns:a="http://schemas.openxmlformats.org/drawingml/2006/main">
              <a:ext uri="{FF2B5EF4-FFF2-40B4-BE49-F238E27FC236}">
                <a16:creationId xmlns:a16="http://schemas.microsoft.com/office/drawing/2014/main" id="{8E8EEBEE-5A99-4402-8C08-94EE92F7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[15] OECD, “OECD AI Principles,” adopted 2019, updated 2024, accessed Oct. 8, 2026.</a:t>
            </a:r>
          </a:p>
        </p:txBody>
      </p:sp>
      <p:sp>
        <p:nvSpPr>
          <p:cNvPr id="6" name="https://www.oecd.org/en/topics/ai-principles.html">
            <a:extLst xmlns:a="http://schemas.openxmlformats.org/drawingml/2006/main">
              <a:ext uri="{FF2B5EF4-FFF2-40B4-BE49-F238E27FC236}">
                <a16:creationId xmlns:a16="http://schemas.microsoft.com/office/drawing/2014/main" id="{B3219ADD-920E-48E5-9D07-B970D7C3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adfe2becd86e4eac"/>
              </a:rPr>
              <a:t>https://www.oecd.org/en/topics/ai-principles.html</a:t>
            </a:r>
          </a:p>
        </p:txBody>
      </p:sp>
      <p:sp>
        <p:nvSpPr>
          <p:cNvPr id="7" name="[16] NIST, AI Risk Management Framework 1.0 Playbook, f">
            <a:extLst xmlns:a="http://schemas.openxmlformats.org/drawingml/2006/main">
              <a:ext uri="{FF2B5EF4-FFF2-40B4-BE49-F238E27FC236}">
                <a16:creationId xmlns:a16="http://schemas.microsoft.com/office/drawing/2014/main" id="{C0E5C4F0-A378-4AAD-8C1C-B8DD7B01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[16] NIST, AI Risk Management Framework 1.0 Playbook, framework 2023, current online resource, accessed Oct. 8, 2026.</a:t>
            </a:r>
          </a:p>
        </p:txBody>
      </p:sp>
      <p:sp>
        <p:nvSpPr>
          <p:cNvPr id="8" name="https://airc.nist.gov/airmf-resources/playbook/">
            <a:extLst xmlns:a="http://schemas.openxmlformats.org/drawingml/2006/main">
              <a:ext uri="{FF2B5EF4-FFF2-40B4-BE49-F238E27FC236}">
                <a16:creationId xmlns:a16="http://schemas.microsoft.com/office/drawing/2014/main" id="{333CE6CF-6EB7-412E-BCB3-E865BEA8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718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6754a2deebc04103"/>
              </a:rPr>
              <a:t>https://airc.nist.gov/airmf-resources/playbook/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F2CEA4-F641-41E1-9F8D-7F85CB75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D02EC90E-2874-4DD5-9C3E-60378A6F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1" name="21 / 22">
            <a:extLst xmlns:a="http://schemas.openxmlformats.org/drawingml/2006/main">
              <a:ext uri="{FF2B5EF4-FFF2-40B4-BE49-F238E27FC236}">
                <a16:creationId xmlns:a16="http://schemas.microsoft.com/office/drawing/2014/main" id="{945F526E-57CA-421F-A50E-0ACE8BD0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21 / 22</a:t>
            </a:r>
          </a:p>
        </p:txBody>
      </p:sp>
    </p:spTree>
    <p:extLst>
      <p:ext uri="{BB962C8B-B14F-4D97-AF65-F5344CB8AC3E}">
        <p14:creationId xmlns:p14="http://schemas.microsoft.com/office/powerpoint/2010/main" val="71540996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ppendix • AI declaration">
            <a:extLst xmlns:a="http://schemas.openxmlformats.org/drawingml/2006/main">
              <a:ext uri="{FF2B5EF4-FFF2-40B4-BE49-F238E27FC236}">
                <a16:creationId xmlns:a16="http://schemas.microsoft.com/office/drawing/2014/main" id="{ED57B645-52FB-47E3-B25A-234D0029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AI declaration</a:t>
            </a:r>
          </a:p>
        </p:txBody>
      </p:sp>
      <p:sp>
        <p:nvSpPr>
          <p:cNvPr id="2" name="AI use declaration">
            <a:extLst xmlns:a="http://schemas.openxmlformats.org/drawingml/2006/main">
              <a:ext uri="{FF2B5EF4-FFF2-40B4-BE49-F238E27FC236}">
                <a16:creationId xmlns:a16="http://schemas.microsoft.com/office/drawing/2014/main" id="{43F85046-B2FE-48BF-9CBF-8D32F6E9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AI use declaration</a:t>
            </a:r>
          </a:p>
        </p:txBody>
      </p:sp>
      <p:sp>
        <p:nvSpPr>
          <p:cNvPr id="3" name="AI model and tool">
            <a:extLst xmlns:a="http://schemas.openxmlformats.org/drawingml/2006/main">
              <a:ext uri="{FF2B5EF4-FFF2-40B4-BE49-F238E27FC236}">
                <a16:creationId xmlns:a16="http://schemas.microsoft.com/office/drawing/2014/main" id="{925030D8-8C60-43E2-AA6E-412939F3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AI model and tool</a:t>
            </a:r>
          </a:p>
        </p:txBody>
      </p:sp>
      <p:sp>
        <p:nvSpPr>
          <p:cNvPr id="4" name="OpenAI GPT-6, accessed through Codex.">
            <a:extLst xmlns:a="http://schemas.openxmlformats.org/drawingml/2006/main">
              <a:ext uri="{FF2B5EF4-FFF2-40B4-BE49-F238E27FC236}">
                <a16:creationId xmlns:a16="http://schemas.microsoft.com/office/drawing/2014/main" id="{822C5F70-F36B-4605-9D3B-7FCFF372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OpenAI GPT-6, accessed through Codex.</a:t>
            </a:r>
          </a:p>
        </p:txBody>
      </p:sp>
      <p:sp>
        <p:nvSpPr>
          <p:cNvPr id="5" name="How AI was used">
            <a:extLst xmlns:a="http://schemas.openxmlformats.org/drawingml/2006/main">
              <a:ext uri="{FF2B5EF4-FFF2-40B4-BE49-F238E27FC236}">
                <a16:creationId xmlns:a16="http://schemas.microsoft.com/office/drawing/2014/main" id="{59FB3A46-4EFF-44DC-A4C6-2B7D7147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How AI was used</a:t>
            </a:r>
          </a:p>
        </p:txBody>
      </p:sp>
      <p:sp>
        <p:nvSpPr>
          <p:cNvPr id="6" name="Research and source checks; drafting and revision of ex">
            <a:extLst xmlns:a="http://schemas.openxmlformats.org/drawingml/2006/main">
              <a:ext uri="{FF2B5EF4-FFF2-40B4-BE49-F238E27FC236}">
                <a16:creationId xmlns:a16="http://schemas.microsoft.com/office/drawing/2014/main" id="{15A26725-D60E-4BB3-BD56-D5DB5D26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and source checks; drafting and revision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of explanations and CUDA teaching examples;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creation of diagrams and charts; presentation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formatting and assembly.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C2F04-3B2E-4F51-AE2F-DC6DB2FF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106514-23E9-4473-BE18-A364EFD2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9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45974F77-6CEC-43FE-AB2E-9AC489FA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0" name="22 / 22">
            <a:extLst xmlns:a="http://schemas.openxmlformats.org/drawingml/2006/main">
              <a:ext uri="{FF2B5EF4-FFF2-40B4-BE49-F238E27FC236}">
                <a16:creationId xmlns:a16="http://schemas.microsoft.com/office/drawing/2014/main" id="{8379655D-D90B-4B99-8AB0-F308BC09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22 / 22</a:t>
            </a:r>
          </a:p>
        </p:txBody>
      </p:sp>
    </p:spTree>
    <p:extLst>
      <p:ext uri="{BB962C8B-B14F-4D97-AF65-F5344CB8AC3E}">
        <p14:creationId xmlns:p14="http://schemas.microsoft.com/office/powerpoint/2010/main" val="15675673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2026-10-08T12:56:31.5240000Z</dcterms:created>
  <dcterms:modified xsi:type="dcterms:W3CDTF">2026-10-08T12:56:31.5240000Z</dcterms:modified>
</coreProperties>
</file>