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c27cce92b94c5a" /><Relationship Type="http://schemas.openxmlformats.org/officeDocument/2006/relationships/extended-properties" Target="/docProps/app.xml" Id="R610271969a0a43f5" /><Relationship Type="http://schemas.openxmlformats.org/officeDocument/2006/relationships/officeDocument" Target="/ppt/presentation.xml" Id="Rf63a5d7eada64a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75cb3b266a43d7"/>
  </p:sldMasterIdLst>
  <p:notesMasterIdLst>
    <p:notesMasterId xmlns:r="http://schemas.openxmlformats.org/officeDocument/2006/relationships" r:id="R4b343caa4c064485"/>
  </p:notesMasterIdLst>
  <p:sldIdLst>
    <p:sldId xmlns:r="http://schemas.openxmlformats.org/officeDocument/2006/relationships" id="256" r:id="Rb89dba021ec44d7a"/>
    <p:sldId xmlns:r="http://schemas.openxmlformats.org/officeDocument/2006/relationships" id="257" r:id="R9845c037caa54a57"/>
    <p:sldId xmlns:r="http://schemas.openxmlformats.org/officeDocument/2006/relationships" id="258" r:id="R311d1ee5cbaf4579"/>
    <p:sldId xmlns:r="http://schemas.openxmlformats.org/officeDocument/2006/relationships" id="259" r:id="R06ed1e4ff0924e3c"/>
    <p:sldId xmlns:r="http://schemas.openxmlformats.org/officeDocument/2006/relationships" id="260" r:id="R6df4b59b0f85452b"/>
    <p:sldId xmlns:r="http://schemas.openxmlformats.org/officeDocument/2006/relationships" id="261" r:id="R22d1d957979349ac"/>
    <p:sldId xmlns:r="http://schemas.openxmlformats.org/officeDocument/2006/relationships" id="262" r:id="R4edca1ebb3c34a3b"/>
    <p:sldId xmlns:r="http://schemas.openxmlformats.org/officeDocument/2006/relationships" id="263" r:id="R7aee0f3f40204fe0"/>
    <p:sldId xmlns:r="http://schemas.openxmlformats.org/officeDocument/2006/relationships" id="264" r:id="R746d397d639e48d0"/>
    <p:sldId xmlns:r="http://schemas.openxmlformats.org/officeDocument/2006/relationships" id="265" r:id="R124ff1e63481443b"/>
    <p:sldId xmlns:r="http://schemas.openxmlformats.org/officeDocument/2006/relationships" id="266" r:id="Rd2d6e95085f740bf"/>
    <p:sldId xmlns:r="http://schemas.openxmlformats.org/officeDocument/2006/relationships" id="267" r:id="Rceaa251535254003"/>
    <p:sldId xmlns:r="http://schemas.openxmlformats.org/officeDocument/2006/relationships" id="268" r:id="R380afe49974c4921"/>
    <p:sldId xmlns:r="http://schemas.openxmlformats.org/officeDocument/2006/relationships" id="269" r:id="Rda758cee0a964dbc"/>
    <p:sldId xmlns:r="http://schemas.openxmlformats.org/officeDocument/2006/relationships" id="270" r:id="R3cef82b045b3490f"/>
    <p:sldId xmlns:r="http://schemas.openxmlformats.org/officeDocument/2006/relationships" id="271" r:id="R521354a664404d5a"/>
    <p:sldId xmlns:r="http://schemas.openxmlformats.org/officeDocument/2006/relationships" id="272" r:id="Ra49c7599584f4caa"/>
    <p:sldId xmlns:r="http://schemas.openxmlformats.org/officeDocument/2006/relationships" id="273" r:id="R6788610f1bab4bfb"/>
    <p:sldId xmlns:r="http://schemas.openxmlformats.org/officeDocument/2006/relationships" id="274" r:id="R4b4b9f8db38b4cdd"/>
    <p:sldId xmlns:r="http://schemas.openxmlformats.org/officeDocument/2006/relationships" id="275" r:id="R8dfc7f601d6744a0"/>
    <p:sldId xmlns:r="http://schemas.openxmlformats.org/officeDocument/2006/relationships" id="276" r:id="R0bff661c92f44201"/>
    <p:sldId xmlns:r="http://schemas.openxmlformats.org/officeDocument/2006/relationships" id="277" r:id="Re3290212b12c4e3d"/>
    <p:sldId xmlns:r="http://schemas.openxmlformats.org/officeDocument/2006/relationships" id="278" r:id="R581412b23d8440bf"/>
    <p:sldId xmlns:r="http://schemas.openxmlformats.org/officeDocument/2006/relationships" id="279" r:id="R980bcd9e4c984d43"/>
    <p:sldId xmlns:r="http://schemas.openxmlformats.org/officeDocument/2006/relationships" id="280" r:id="R752bdce486b44909"/>
    <p:sldId xmlns:r="http://schemas.openxmlformats.org/officeDocument/2006/relationships" id="281" r:id="Rf8422daa49494561"/>
    <p:sldId xmlns:r="http://schemas.openxmlformats.org/officeDocument/2006/relationships" id="282" r:id="R385f47ddf97d4967"/>
    <p:sldId xmlns:r="http://schemas.openxmlformats.org/officeDocument/2006/relationships" id="283" r:id="Rf006666a40f344d6"/>
    <p:sldId xmlns:r="http://schemas.openxmlformats.org/officeDocument/2006/relationships" id="284" r:id="R4b01ffcd5ac7493d"/>
    <p:sldId xmlns:r="http://schemas.openxmlformats.org/officeDocument/2006/relationships" id="285" r:id="Rc1e72115fd164324"/>
    <p:sldId xmlns:r="http://schemas.openxmlformats.org/officeDocument/2006/relationships" id="286" r:id="R22f658d59d7c40bd"/>
    <p:sldId xmlns:r="http://schemas.openxmlformats.org/officeDocument/2006/relationships" id="287" r:id="R88f6d42e856c41ef"/>
    <p:sldId xmlns:r="http://schemas.openxmlformats.org/officeDocument/2006/relationships" id="288" r:id="Re0d755ba25f54da3"/>
    <p:sldId xmlns:r="http://schemas.openxmlformats.org/officeDocument/2006/relationships" id="289" r:id="R624cb2996a124857"/>
    <p:sldId xmlns:r="http://schemas.openxmlformats.org/officeDocument/2006/relationships" id="290" r:id="R10ee0a8e72314289"/>
    <p:sldId xmlns:r="http://schemas.openxmlformats.org/officeDocument/2006/relationships" id="291" r:id="Rc3d7389081f744f0"/>
    <p:sldId xmlns:r="http://schemas.openxmlformats.org/officeDocument/2006/relationships" id="292" r:id="R0cd3a963d708442f"/>
    <p:sldId xmlns:r="http://schemas.openxmlformats.org/officeDocument/2006/relationships" id="293" r:id="R4e03bef77f16499f"/>
    <p:sldId xmlns:r="http://schemas.openxmlformats.org/officeDocument/2006/relationships" id="294" r:id="R3fe019c9c4af495f"/>
    <p:sldId xmlns:r="http://schemas.openxmlformats.org/officeDocument/2006/relationships" id="295" r:id="R186968fbdb1641da"/>
    <p:sldId xmlns:r="http://schemas.openxmlformats.org/officeDocument/2006/relationships" id="296" r:id="Rb05addf1f15a47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2a21e0ee8a4fce" /><Relationship Type="http://schemas.openxmlformats.org/officeDocument/2006/relationships/slideMaster" Target="/ppt/slideMasters/slideMaster1.xml" Id="R8f75cb3b266a43d7" /><Relationship Type="http://schemas.openxmlformats.org/officeDocument/2006/relationships/notesMaster" Target="/ppt/notesMasters/notesMaster1.xml" Id="R4b343caa4c064485" /><Relationship Type="http://schemas.openxmlformats.org/officeDocument/2006/relationships/presProps" Target="/ppt/presProps.xml" Id="R72f0f6985b9d409b" /><Relationship Type="http://schemas.openxmlformats.org/officeDocument/2006/relationships/tableStyles" Target="/ppt/tableStyles.xml" Id="R6eed48d060a5453d" /><Relationship Type="http://schemas.openxmlformats.org/officeDocument/2006/relationships/slide" Target="/ppt/slides/slide1.xml" Id="Rb89dba021ec44d7a" /><Relationship Type="http://schemas.openxmlformats.org/officeDocument/2006/relationships/slide" Target="/ppt/slides/slide2.xml" Id="R9845c037caa54a57" /><Relationship Type="http://schemas.openxmlformats.org/officeDocument/2006/relationships/slide" Target="/ppt/slides/slide3.xml" Id="R311d1ee5cbaf4579" /><Relationship Type="http://schemas.openxmlformats.org/officeDocument/2006/relationships/slide" Target="/ppt/slides/slide4.xml" Id="R06ed1e4ff0924e3c" /><Relationship Type="http://schemas.openxmlformats.org/officeDocument/2006/relationships/slide" Target="/ppt/slides/slide5.xml" Id="R6df4b59b0f85452b" /><Relationship Type="http://schemas.openxmlformats.org/officeDocument/2006/relationships/slide" Target="/ppt/slides/slide6.xml" Id="R22d1d957979349ac" /><Relationship Type="http://schemas.openxmlformats.org/officeDocument/2006/relationships/slide" Target="/ppt/slides/slide7.xml" Id="R4edca1ebb3c34a3b" /><Relationship Type="http://schemas.openxmlformats.org/officeDocument/2006/relationships/slide" Target="/ppt/slides/slide8.xml" Id="R7aee0f3f40204fe0" /><Relationship Type="http://schemas.openxmlformats.org/officeDocument/2006/relationships/slide" Target="/ppt/slides/slide9.xml" Id="R746d397d639e48d0" /><Relationship Type="http://schemas.openxmlformats.org/officeDocument/2006/relationships/slide" Target="/ppt/slides/slide10.xml" Id="R124ff1e63481443b" /><Relationship Type="http://schemas.openxmlformats.org/officeDocument/2006/relationships/slide" Target="/ppt/slides/slide11.xml" Id="Rd2d6e95085f740bf" /><Relationship Type="http://schemas.openxmlformats.org/officeDocument/2006/relationships/slide" Target="/ppt/slides/slide12.xml" Id="Rceaa251535254003" /><Relationship Type="http://schemas.openxmlformats.org/officeDocument/2006/relationships/slide" Target="/ppt/slides/slide13.xml" Id="R380afe49974c4921" /><Relationship Type="http://schemas.openxmlformats.org/officeDocument/2006/relationships/slide" Target="/ppt/slides/slide14.xml" Id="Rda758cee0a964dbc" /><Relationship Type="http://schemas.openxmlformats.org/officeDocument/2006/relationships/slide" Target="/ppt/slides/slide15.xml" Id="R3cef82b045b3490f" /><Relationship Type="http://schemas.openxmlformats.org/officeDocument/2006/relationships/slide" Target="/ppt/slides/slide16.xml" Id="R521354a664404d5a" /><Relationship Type="http://schemas.openxmlformats.org/officeDocument/2006/relationships/slide" Target="/ppt/slides/slide17.xml" Id="Ra49c7599584f4caa" /><Relationship Type="http://schemas.openxmlformats.org/officeDocument/2006/relationships/slide" Target="/ppt/slides/slide18.xml" Id="R6788610f1bab4bfb" /><Relationship Type="http://schemas.openxmlformats.org/officeDocument/2006/relationships/slide" Target="/ppt/slides/slide19.xml" Id="R4b4b9f8db38b4cdd" /><Relationship Type="http://schemas.openxmlformats.org/officeDocument/2006/relationships/slide" Target="/ppt/slides/slide20.xml" Id="R8dfc7f601d6744a0" /><Relationship Type="http://schemas.openxmlformats.org/officeDocument/2006/relationships/slide" Target="/ppt/slides/slide21.xml" Id="R0bff661c92f44201" /><Relationship Type="http://schemas.openxmlformats.org/officeDocument/2006/relationships/slide" Target="/ppt/slides/slide22.xml" Id="Re3290212b12c4e3d" /><Relationship Type="http://schemas.openxmlformats.org/officeDocument/2006/relationships/slide" Target="/ppt/slides/slide23.xml" Id="R581412b23d8440bf" /><Relationship Type="http://schemas.openxmlformats.org/officeDocument/2006/relationships/slide" Target="/ppt/slides/slide24.xml" Id="R980bcd9e4c984d43" /><Relationship Type="http://schemas.openxmlformats.org/officeDocument/2006/relationships/slide" Target="/ppt/slides/slide25.xml" Id="R752bdce486b44909" /><Relationship Type="http://schemas.openxmlformats.org/officeDocument/2006/relationships/slide" Target="/ppt/slides/slide26.xml" Id="Rf8422daa49494561" /><Relationship Type="http://schemas.openxmlformats.org/officeDocument/2006/relationships/slide" Target="/ppt/slides/slide27.xml" Id="R385f47ddf97d4967" /><Relationship Type="http://schemas.openxmlformats.org/officeDocument/2006/relationships/slide" Target="/ppt/slides/slide28.xml" Id="Rf006666a40f344d6" /><Relationship Type="http://schemas.openxmlformats.org/officeDocument/2006/relationships/slide" Target="/ppt/slides/slide29.xml" Id="R4b01ffcd5ac7493d" /><Relationship Type="http://schemas.openxmlformats.org/officeDocument/2006/relationships/slide" Target="/ppt/slides/slide30.xml" Id="Rc1e72115fd164324" /><Relationship Type="http://schemas.openxmlformats.org/officeDocument/2006/relationships/slide" Target="/ppt/slides/slide31.xml" Id="R22f658d59d7c40bd" /><Relationship Type="http://schemas.openxmlformats.org/officeDocument/2006/relationships/slide" Target="/ppt/slides/slide32.xml" Id="R88f6d42e856c41ef" /><Relationship Type="http://schemas.openxmlformats.org/officeDocument/2006/relationships/slide" Target="/ppt/slides/slide33.xml" Id="Re0d755ba25f54da3" /><Relationship Type="http://schemas.openxmlformats.org/officeDocument/2006/relationships/slide" Target="/ppt/slides/slide34.xml" Id="R624cb2996a124857" /><Relationship Type="http://schemas.openxmlformats.org/officeDocument/2006/relationships/slide" Target="/ppt/slides/slide35.xml" Id="R10ee0a8e72314289" /><Relationship Type="http://schemas.openxmlformats.org/officeDocument/2006/relationships/slide" Target="/ppt/slides/slide36.xml" Id="Rc3d7389081f744f0" /><Relationship Type="http://schemas.openxmlformats.org/officeDocument/2006/relationships/slide" Target="/ppt/slides/slide37.xml" Id="R0cd3a963d708442f" /><Relationship Type="http://schemas.openxmlformats.org/officeDocument/2006/relationships/slide" Target="/ppt/slides/slide38.xml" Id="R4e03bef77f16499f" /><Relationship Type="http://schemas.openxmlformats.org/officeDocument/2006/relationships/slide" Target="/ppt/slides/slide39.xml" Id="R3fe019c9c4af495f" /><Relationship Type="http://schemas.openxmlformats.org/officeDocument/2006/relationships/slide" Target="/ppt/slides/slide40.xml" Id="R186968fbdb1641da" /><Relationship Type="http://schemas.openxmlformats.org/officeDocument/2006/relationships/slide" Target="/ppt/slides/slide41.xml" Id="Rb05addf1f15a47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792f15ab234f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7458041c634d24" /><Relationship Type="http://schemas.openxmlformats.org/officeDocument/2006/relationships/notesMaster" Target="/ppt/notesMasters/notesMaster1.xml" Id="R53fba1f6e62248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4a4eb0d8f34c2c" /><Relationship Type="http://schemas.openxmlformats.org/officeDocument/2006/relationships/notesMaster" Target="/ppt/notesMasters/notesMaster1.xml" Id="Rbdbb2dbe8db146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17f6b0076440c3" /><Relationship Type="http://schemas.openxmlformats.org/officeDocument/2006/relationships/notesMaster" Target="/ppt/notesMasters/notesMaster1.xml" Id="R7a1bf344010043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56d8516e4b43a6" /><Relationship Type="http://schemas.openxmlformats.org/officeDocument/2006/relationships/notesMaster" Target="/ppt/notesMasters/notesMaster1.xml" Id="Ra229945872d742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6c5153f0194b5a" /><Relationship Type="http://schemas.openxmlformats.org/officeDocument/2006/relationships/notesMaster" Target="/ppt/notesMasters/notesMaster1.xml" Id="R583e383fabc145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e3c834368f4d71" /><Relationship Type="http://schemas.openxmlformats.org/officeDocument/2006/relationships/notesMaster" Target="/ppt/notesMasters/notesMaster1.xml" Id="R463efa92847a47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19ddb9a1194e8d" /><Relationship Type="http://schemas.openxmlformats.org/officeDocument/2006/relationships/notesMaster" Target="/ppt/notesMasters/notesMaster1.xml" Id="R19af7f99da0b47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df3a6b008e4d8e" /><Relationship Type="http://schemas.openxmlformats.org/officeDocument/2006/relationships/notesMaster" Target="/ppt/notesMasters/notesMaster1.xml" Id="R8e6f53626dc841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a52dd268754bef" /><Relationship Type="http://schemas.openxmlformats.org/officeDocument/2006/relationships/notesMaster" Target="/ppt/notesMasters/notesMaster1.xml" Id="R4e7a5cd862984f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2365e1312745a4" /><Relationship Type="http://schemas.openxmlformats.org/officeDocument/2006/relationships/notesMaster" Target="/ppt/notesMasters/notesMaster1.xml" Id="R11fe5a1932024f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c86a707fbd4a48" /><Relationship Type="http://schemas.openxmlformats.org/officeDocument/2006/relationships/notesMaster" Target="/ppt/notesMasters/notesMaster1.xml" Id="Re7ce694d647f49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25d05516da4caf" /><Relationship Type="http://schemas.openxmlformats.org/officeDocument/2006/relationships/notesMaster" Target="/ppt/notesMasters/notesMaster1.xml" Id="Rfab0be530cb544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67fe6474c44ca2" /><Relationship Type="http://schemas.openxmlformats.org/officeDocument/2006/relationships/notesMaster" Target="/ppt/notesMasters/notesMaster1.xml" Id="Rbf937d52c6c34c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ac2ec9cefa4242" /><Relationship Type="http://schemas.openxmlformats.org/officeDocument/2006/relationships/notesMaster" Target="/ppt/notesMasters/notesMaster1.xml" Id="Rdce3c6d4941e46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e2a955a6fc4086" /><Relationship Type="http://schemas.openxmlformats.org/officeDocument/2006/relationships/notesMaster" Target="/ppt/notesMasters/notesMaster1.xml" Id="R742664ede1c0470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a421d8cc8ad4346" /><Relationship Type="http://schemas.openxmlformats.org/officeDocument/2006/relationships/notesMaster" Target="/ppt/notesMasters/notesMaster1.xml" Id="R6183cd418871412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3cacdfe75314b4e" /><Relationship Type="http://schemas.openxmlformats.org/officeDocument/2006/relationships/notesMaster" Target="/ppt/notesMasters/notesMaster1.xml" Id="R153ec7bc8ba146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e46e9b56ee4eed" /><Relationship Type="http://schemas.openxmlformats.org/officeDocument/2006/relationships/notesMaster" Target="/ppt/notesMasters/notesMaster1.xml" Id="R2da28927b061498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e84931388c746ca" /><Relationship Type="http://schemas.openxmlformats.org/officeDocument/2006/relationships/notesMaster" Target="/ppt/notesMasters/notesMaster1.xml" Id="R3446045bd9bc4a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3e4c05ca3745a3" /><Relationship Type="http://schemas.openxmlformats.org/officeDocument/2006/relationships/notesMaster" Target="/ppt/notesMasters/notesMaster1.xml" Id="Rdadcc7a1599041e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9ca928453b4aab" /><Relationship Type="http://schemas.openxmlformats.org/officeDocument/2006/relationships/notesMaster" Target="/ppt/notesMasters/notesMaster1.xml" Id="Ra4e90dc2f8bb41b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ac912fd2c7941b3" /><Relationship Type="http://schemas.openxmlformats.org/officeDocument/2006/relationships/notesMaster" Target="/ppt/notesMasters/notesMaster1.xml" Id="Rebef50e5e9f84f2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a4d6e57e90142df" /><Relationship Type="http://schemas.openxmlformats.org/officeDocument/2006/relationships/notesMaster" Target="/ppt/notesMasters/notesMaster1.xml" Id="Red0d2a3002014d3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a1acd06939a4b46" /><Relationship Type="http://schemas.openxmlformats.org/officeDocument/2006/relationships/notesMaster" Target="/ppt/notesMasters/notesMaster1.xml" Id="Rbfdbba6ce0dd450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cd36b2d54ec4e92" /><Relationship Type="http://schemas.openxmlformats.org/officeDocument/2006/relationships/notesMaster" Target="/ppt/notesMasters/notesMaster1.xml" Id="Rf2deabc69727483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972cc1d527f4f15" /><Relationship Type="http://schemas.openxmlformats.org/officeDocument/2006/relationships/notesMaster" Target="/ppt/notesMasters/notesMaster1.xml" Id="R7a1942ed1d554d7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ce17e3821784cb3" /><Relationship Type="http://schemas.openxmlformats.org/officeDocument/2006/relationships/notesMaster" Target="/ppt/notesMasters/notesMaster1.xml" Id="R3909cc6c83e34f2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6936e92ca0b4dcf" /><Relationship Type="http://schemas.openxmlformats.org/officeDocument/2006/relationships/notesMaster" Target="/ppt/notesMasters/notesMaster1.xml" Id="R3040bee595dc469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ec6cc7f61d74f79" /><Relationship Type="http://schemas.openxmlformats.org/officeDocument/2006/relationships/notesMaster" Target="/ppt/notesMasters/notesMaster1.xml" Id="Rff3bafee0d804ea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5041880a0b14754" /><Relationship Type="http://schemas.openxmlformats.org/officeDocument/2006/relationships/notesMaster" Target="/ppt/notesMasters/notesMaster1.xml" Id="R18b06865b790408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d686ffb80904775" /><Relationship Type="http://schemas.openxmlformats.org/officeDocument/2006/relationships/notesMaster" Target="/ppt/notesMasters/notesMaster1.xml" Id="Rde333d48d4cf496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59b268439734d42" /><Relationship Type="http://schemas.openxmlformats.org/officeDocument/2006/relationships/notesMaster" Target="/ppt/notesMasters/notesMaster1.xml" Id="R75ea6d8e54a44b3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962d4689ce4421d" /><Relationship Type="http://schemas.openxmlformats.org/officeDocument/2006/relationships/notesMaster" Target="/ppt/notesMasters/notesMaster1.xml" Id="R648f23adb5e6450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a89b25a24354d92" /><Relationship Type="http://schemas.openxmlformats.org/officeDocument/2006/relationships/notesMaster" Target="/ppt/notesMasters/notesMaster1.xml" Id="Rf727689e7569487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8e050d17c7c4340" /><Relationship Type="http://schemas.openxmlformats.org/officeDocument/2006/relationships/notesMaster" Target="/ppt/notesMasters/notesMaster1.xml" Id="R05f3a875c75e41f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afac696bc51451e" /><Relationship Type="http://schemas.openxmlformats.org/officeDocument/2006/relationships/notesMaster" Target="/ppt/notesMasters/notesMaster1.xml" Id="Rc67731d3244242c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d5c7de3f360478c" /><Relationship Type="http://schemas.openxmlformats.org/officeDocument/2006/relationships/notesMaster" Target="/ppt/notesMasters/notesMaster1.xml" Id="R3c943c9f5ead40c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0c5b2cf1bdd4e8d" /><Relationship Type="http://schemas.openxmlformats.org/officeDocument/2006/relationships/notesMaster" Target="/ppt/notesMasters/notesMaster1.xml" Id="Rdcb77e541e334f8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d30f010ba0a4e39" /><Relationship Type="http://schemas.openxmlformats.org/officeDocument/2006/relationships/notesMaster" Target="/ppt/notesMasters/notesMaster1.xml" Id="R9b8c93b896b04ba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637e9b7c42f47a2" /><Relationship Type="http://schemas.openxmlformats.org/officeDocument/2006/relationships/notesMaster" Target="/ppt/notesMasters/notesMaster1.xml" Id="R00094ffd6bd740a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fb85193ebca4dfe" /><Relationship Type="http://schemas.openxmlformats.org/officeDocument/2006/relationships/notesMaster" Target="/ppt/notesMasters/notesMaster1.xml" Id="Rbb5d29f91a1547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[20] NVIDIA, “Rotate,” NPP Image Geometry Transforms, CUDA 13.0.3 archive documentation, accessed Oct. 8, 2026.</a:t>
            </a:r>
          </a:p>
          <a:p xmlns:a="http://schemas.openxmlformats.org/drawingml/2006/main">
            <a:r>
              <a:t>https://docs.nvidia.com/cuda/archive/13.0.3/npp/image_geometry_transforms.html#rotate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31767efd54a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cf466072541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e56261cdb41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f90d27fd04f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b07c0fadc4e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c66d8745e48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3920C8-DF7E-4080-8B35-827DED683B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322974-63B4-4A05-84D5-AE08B1B7D17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FDEA82-BD04-48FC-9903-6A0A71CAC6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1250B9-C95E-40B4-A99D-624239670A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FFC402-7B9C-4A09-BD48-1BC823EB31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FB493C-75AF-4DEA-A77C-0D679BE1E0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DCDC01-58E9-4193-8031-003BFCE12C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877506-8027-460B-8816-974DA6A711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06406D-D805-402F-B299-E9997F4D5F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E23314-1AAC-482E-BDA6-F7A69A5ACA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47db4fe4d2407a" /><Relationship Type="http://schemas.openxmlformats.org/officeDocument/2006/relationships/slideLayout" Target="/ppt/slideLayouts/slideLayout1.xml" Id="Ra04258d9718846f2" /><Relationship Type="http://schemas.openxmlformats.org/officeDocument/2006/relationships/slideLayout" Target="/ppt/slideLayouts/slideLayout2.xml" Id="Rce43c88124894257" /><Relationship Type="http://schemas.openxmlformats.org/officeDocument/2006/relationships/slideLayout" Target="/ppt/slideLayouts/slideLayout3.xml" Id="R5787bc7412584b6c" /><Relationship Type="http://schemas.openxmlformats.org/officeDocument/2006/relationships/slideLayout" Target="/ppt/slideLayouts/slideLayout4.xml" Id="R80429a225a2243a7" /><Relationship Type="http://schemas.openxmlformats.org/officeDocument/2006/relationships/slideLayout" Target="/ppt/slideLayouts/slideLayout5.xml" Id="R39b47a11379b404f" /><Relationship Type="http://schemas.openxmlformats.org/officeDocument/2006/relationships/slideLayout" Target="/ppt/slideLayouts/slideLayout6.xml" Id="R2897d65e417540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4258d9718846f2"/>
    <p:sldLayoutId xmlns:r="http://schemas.openxmlformats.org/officeDocument/2006/relationships" id="2147483650" r:id="Rce43c88124894257"/>
    <p:sldLayoutId xmlns:r="http://schemas.openxmlformats.org/officeDocument/2006/relationships" id="2147483651" r:id="R5787bc7412584b6c"/>
    <p:sldLayoutId xmlns:r="http://schemas.openxmlformats.org/officeDocument/2006/relationships" id="2147483652" r:id="R80429a225a2243a7"/>
    <p:sldLayoutId xmlns:r="http://schemas.openxmlformats.org/officeDocument/2006/relationships" id="2147483653" r:id="R39b47a11379b404f"/>
    <p:sldLayoutId xmlns:r="http://schemas.openxmlformats.org/officeDocument/2006/relationships" id="2147483654" r:id="R2897d65e417540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52571c78c343ae" /><Relationship Type="http://schemas.openxmlformats.org/officeDocument/2006/relationships/notesSlide" Target="/ppt/notesSlides/notesSlide1.xml" Id="R469fe13fbcaa4e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d176f9c3f34f1e" /><Relationship Type="http://schemas.openxmlformats.org/officeDocument/2006/relationships/notesSlide" Target="/ppt/notesSlides/notesSlide2.xml" Id="R15b8a2b0efee42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eb249918124571" /><Relationship Type="http://schemas.openxmlformats.org/officeDocument/2006/relationships/notesSlide" Target="/ppt/notesSlides/notesSlide3.xml" Id="R0d8491fa326e4e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f93e3a93d94aa2" /><Relationship Type="http://schemas.openxmlformats.org/officeDocument/2006/relationships/notesSlide" Target="/ppt/notesSlides/notesSlide4.xml" Id="Rf832bc2d89eb4f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b2007840d546e2" /><Relationship Type="http://schemas.openxmlformats.org/officeDocument/2006/relationships/notesSlide" Target="/ppt/notesSlides/notesSlide5.xml" Id="R350e648aa44148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ba114c21e94b4e" /><Relationship Type="http://schemas.openxmlformats.org/officeDocument/2006/relationships/notesSlide" Target="/ppt/notesSlides/notesSlide6.xml" Id="R5a7f64a1b1b54e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7cc71111284f63" /><Relationship Type="http://schemas.openxmlformats.org/officeDocument/2006/relationships/notesSlide" Target="/ppt/notesSlides/notesSlide7.xml" Id="R35f709c7e3d643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afe4ee625d4617" /><Relationship Type="http://schemas.openxmlformats.org/officeDocument/2006/relationships/notesSlide" Target="/ppt/notesSlides/notesSlide8.xml" Id="Reee7d1cc96f444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f99271aff141f7" /><Relationship Type="http://schemas.openxmlformats.org/officeDocument/2006/relationships/chart" Target="/ppt/slides/charts/chart1.xml" Id="R1afd175f2d8f49e3" /><Relationship Type="http://schemas.openxmlformats.org/officeDocument/2006/relationships/chart" Target="/ppt/slides/charts/chart2.xml" Id="Rdcf7ad1c624b43d9" /><Relationship Type="http://schemas.openxmlformats.org/officeDocument/2006/relationships/notesSlide" Target="/ppt/notesSlides/notesSlide9.xml" Id="R4d9a1973a9c34c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03a013045d4f12" /><Relationship Type="http://schemas.openxmlformats.org/officeDocument/2006/relationships/notesSlide" Target="/ppt/notesSlides/notesSlide10.xml" Id="R937617a2b65d4e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5683fa4cc4056" /><Relationship Type="http://schemas.openxmlformats.org/officeDocument/2006/relationships/notesSlide" Target="/ppt/notesSlides/notesSlide11.xml" Id="R40835e930f9e42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161c3d318340f8" /><Relationship Type="http://schemas.openxmlformats.org/officeDocument/2006/relationships/notesSlide" Target="/ppt/notesSlides/notesSlide12.xml" Id="Rc15a16709edb4a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29aeae94b14a85" /><Relationship Type="http://schemas.openxmlformats.org/officeDocument/2006/relationships/notesSlide" Target="/ppt/notesSlides/notesSlide13.xml" Id="R46d2ee7a909e48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0c91704ffa45ba" /><Relationship Type="http://schemas.openxmlformats.org/officeDocument/2006/relationships/notesSlide" Target="/ppt/notesSlides/notesSlide14.xml" Id="R416bbac712da41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a5aa5bd6934b88" /><Relationship Type="http://schemas.openxmlformats.org/officeDocument/2006/relationships/notesSlide" Target="/ppt/notesSlides/notesSlide15.xml" Id="R1751ef1483624f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36726af5e14296" /><Relationship Type="http://schemas.openxmlformats.org/officeDocument/2006/relationships/notesSlide" Target="/ppt/notesSlides/notesSlide16.xml" Id="R0cce8037e37842b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a4e3c8738a4c88" /><Relationship Type="http://schemas.openxmlformats.org/officeDocument/2006/relationships/notesSlide" Target="/ppt/notesSlides/notesSlide17.xml" Id="Rbd95f697f1c14c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865e26b8e54c8f" /><Relationship Type="http://schemas.openxmlformats.org/officeDocument/2006/relationships/notesSlide" Target="/ppt/notesSlides/notesSlide18.xml" Id="R868055b31eb443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92771afb6b4f86" /><Relationship Type="http://schemas.openxmlformats.org/officeDocument/2006/relationships/notesSlide" Target="/ppt/notesSlides/notesSlide19.xml" Id="R25fc2d59f8284f1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b9375dbb5742c3" /><Relationship Type="http://schemas.openxmlformats.org/officeDocument/2006/relationships/notesSlide" Target="/ppt/notesSlides/notesSlide20.xml" Id="R6daced48a1dc45f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772a7731142b2" /><Relationship Type="http://schemas.openxmlformats.org/officeDocument/2006/relationships/notesSlide" Target="/ppt/notesSlides/notesSlide21.xml" Id="R2f2555711ab342f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4489eb330f4788" /><Relationship Type="http://schemas.openxmlformats.org/officeDocument/2006/relationships/notesSlide" Target="/ppt/notesSlides/notesSlide22.xml" Id="R90b5df7046ca412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dedfeb91004df9" /><Relationship Type="http://schemas.openxmlformats.org/officeDocument/2006/relationships/notesSlide" Target="/ppt/notesSlides/notesSlide23.xml" Id="Rb646aefadcdc404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95dd358a54956" /><Relationship Type="http://schemas.openxmlformats.org/officeDocument/2006/relationships/notesSlide" Target="/ppt/notesSlides/notesSlide24.xml" Id="Rf63b0b35c2394e8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65db8dba1d4b97" /><Relationship Type="http://schemas.openxmlformats.org/officeDocument/2006/relationships/notesSlide" Target="/ppt/notesSlides/notesSlide25.xml" Id="R2feb3ab9b83c499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268bbd4b7a4740" /><Relationship Type="http://schemas.openxmlformats.org/officeDocument/2006/relationships/notesSlide" Target="/ppt/notesSlides/notesSlide26.xml" Id="R631c6a804a7340a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be8fa17c0145b5" /><Relationship Type="http://schemas.openxmlformats.org/officeDocument/2006/relationships/notesSlide" Target="/ppt/notesSlides/notesSlide27.xml" Id="R11b3891e04da4ca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de8dbe4ab14c4a" /><Relationship Type="http://schemas.openxmlformats.org/officeDocument/2006/relationships/notesSlide" Target="/ppt/notesSlides/notesSlide28.xml" Id="R103823cf07bb45d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d3047d258d4471" /><Relationship Type="http://schemas.openxmlformats.org/officeDocument/2006/relationships/notesSlide" Target="/ppt/notesSlides/notesSlide29.xml" Id="R79c70a672c6e4e5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22094b84594d26" /><Relationship Type="http://schemas.openxmlformats.org/officeDocument/2006/relationships/notesSlide" Target="/ppt/notesSlides/notesSlide30.xml" Id="R42f759b7bc83491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049e301904f50" /><Relationship Type="http://schemas.openxmlformats.org/officeDocument/2006/relationships/notesSlide" Target="/ppt/notesSlides/notesSlide31.xml" Id="R658a056efa09460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111d2e69604832" /><Relationship Type="http://schemas.openxmlformats.org/officeDocument/2006/relationships/notesSlide" Target="/ppt/notesSlides/notesSlide32.xml" Id="R55a056f5df98469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d9a1f39b3147dc" /><Relationship Type="http://schemas.openxmlformats.org/officeDocument/2006/relationships/notesSlide" Target="/ppt/notesSlides/notesSlide33.xml" Id="Rc1f3ab0836bf4a1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509517c3864df7" /><Relationship Type="http://schemas.openxmlformats.org/officeDocument/2006/relationships/notesSlide" Target="/ppt/notesSlides/notesSlide34.xml" Id="Rd60a70ddf6274d9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38f9b562084d54" /><Relationship Type="http://schemas.openxmlformats.org/officeDocument/2006/relationships/hyperlink" Target="https://docs.nvidia.com/cuda/cuda-programming-guide/01-introduction/programming-model.html" TargetMode="External" Id="R6191515eef4a4e2f" /><Relationship Type="http://schemas.openxmlformats.org/officeDocument/2006/relationships/notesSlide" Target="/ppt/notesSlides/notesSlide35.xml" Id="R600424dc50f44b8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c33d808e5d442b" /><Relationship Type="http://schemas.openxmlformats.org/officeDocument/2006/relationships/hyperlink" Target="https://docs.nvidia.com/cuda/cuda-c-best-practices-guide/index.html" TargetMode="External" Id="R846beb86c97d4411" /><Relationship Type="http://schemas.openxmlformats.org/officeDocument/2006/relationships/hyperlink" Target="https://docs.nvidia.com/gpudirect-storage/overview-guide/index.html" TargetMode="External" Id="R2553bd24e415484a" /><Relationship Type="http://schemas.openxmlformats.org/officeDocument/2006/relationships/hyperlink" Target="https://docs.nvidia.com/gpudirect-storage/design-guide/index.html" TargetMode="External" Id="Rd1099cbc80e04c30" /><Relationship Type="http://schemas.openxmlformats.org/officeDocument/2006/relationships/hyperlink" Target="https://docs.nvidia.com/megatron-core/developer-guide/latest/user-guide/parallelism-guide.html" TargetMode="External" Id="Rbab9dfc793f54fb3" /><Relationship Type="http://schemas.openxmlformats.org/officeDocument/2006/relationships/notesSlide" Target="/ppt/notesSlides/notesSlide36.xml" Id="R17334301c2f949e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b6b562ff294efc" /><Relationship Type="http://schemas.openxmlformats.org/officeDocument/2006/relationships/hyperlink" Target="https://www.iea.org/reports/key-questions-on-energy-and-ai/executive-summary" TargetMode="External" Id="R5b181d92e8fb4af6" /><Relationship Type="http://schemas.openxmlformats.org/officeDocument/2006/relationships/hyperlink" Target="https://www.nsf.gov/cise/updates/nairr-2-years-advancing-american-artificial-intelligence" TargetMode="External" Id="Rfc72cda3932b4277" /><Relationship Type="http://schemas.openxmlformats.org/officeDocument/2006/relationships/hyperlink" Target="https://aclanthology.org/P19-1355/" TargetMode="External" Id="R4348b489421c4e32" /><Relationship Type="http://schemas.openxmlformats.org/officeDocument/2006/relationships/hyperlink" Target="https://arxiv.org/abs/2304.03271v5" TargetMode="External" Id="Rdc1acbdb92794cba" /><Relationship Type="http://schemas.openxmlformats.org/officeDocument/2006/relationships/notesSlide" Target="/ppt/notesSlides/notesSlide37.xml" Id="R78f9d5920f794b4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073724798d472a" /><Relationship Type="http://schemas.openxmlformats.org/officeDocument/2006/relationships/hyperlink" Target="https://arxiv.org/abs/1907.10597" TargetMode="External" Id="R8602050a39534fac" /><Relationship Type="http://schemas.openxmlformats.org/officeDocument/2006/relationships/hyperlink" Target="https://arxiv.org/abs/1906.08935v2" TargetMode="External" Id="R7b7033e05c814624" /><Relationship Type="http://schemas.openxmlformats.org/officeDocument/2006/relationships/hyperlink" Target="https://aclanthology.org/2024.cl-3.8/" TargetMode="External" Id="Rabba5e56ca534115" /><Relationship Type="http://schemas.openxmlformats.org/officeDocument/2006/relationships/hyperlink" Target="https://arxiv.org/abs/2010.15581v1" TargetMode="External" Id="R5935c9799613427c" /><Relationship Type="http://schemas.openxmlformats.org/officeDocument/2006/relationships/notesSlide" Target="/ppt/notesSlides/notesSlide38.xml" Id="R33f3f92b9c2c499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ddde2bff5a4b3c" /><Relationship Type="http://schemas.openxmlformats.org/officeDocument/2006/relationships/hyperlink" Target="https://arxiv.org/abs/2106.11750v1" TargetMode="External" Id="R0b3db490b935489f" /><Relationship Type="http://schemas.openxmlformats.org/officeDocument/2006/relationships/hyperlink" Target="https://www.oecd.org/en/topics/ai-principles.html" TargetMode="External" Id="R891815253b994db4" /><Relationship Type="http://schemas.openxmlformats.org/officeDocument/2006/relationships/hyperlink" Target="https://airc.nist.gov/airmf-resources/playbook/" TargetMode="External" Id="Rcf566643ac5e4494" /><Relationship Type="http://schemas.openxmlformats.org/officeDocument/2006/relationships/hyperlink" Target="https://docs.nvidia.com/cuda/archive/13.0.3/npp/image_geometry_transforms.html#rotate" TargetMode="External" Id="R2914d4695dc7499f" /><Relationship Type="http://schemas.openxmlformats.org/officeDocument/2006/relationships/notesSlide" Target="/ppt/notesSlides/notesSlide39.xml" Id="Rbd9c4bbfd0d14c9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d4f8de3f4c4557" /><Relationship Type="http://schemas.openxmlformats.org/officeDocument/2006/relationships/notesSlide" Target="/ppt/notesSlides/notesSlide40.xml" Id="Rbe967f5c3e304bc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65e01787fa409a" /><Relationship Type="http://schemas.openxmlformats.org/officeDocument/2006/relationships/notesSlide" Target="/ppt/notesSlides/notesSlide41.xml" Id="R80c348d2414f4a2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s 1 and 2">
            <a:extLst xmlns:a="http://schemas.openxmlformats.org/drawingml/2006/main">
              <a:ext uri="{FF2B5EF4-FFF2-40B4-BE49-F238E27FC236}">
                <a16:creationId xmlns:a16="http://schemas.microsoft.com/office/drawing/2014/main" id="{A1978C7E-1D04-4CCD-B766-303D46ED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Tasks 1 and 2</a:t>
            </a:r>
          </a:p>
        </p:txBody>
      </p:sp>
      <p:sp>
        <p:nvSpPr>
          <p:cNvPr id="2" name="GPU image rotation&#10;and 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94BAC85D-6FE2-40D7-BF49-91F6E555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GPU image rotation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1F16BDE7-5C26-43CA-AA74-78A3A03D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27D08-F86F-4EF5-8048-DC3445EB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6476942B-885B-47C0-9435-D0793862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EAE3B347-A6AB-4671-9ECE-3A7563FB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712303F2-4B07-49E0-B6AB-F4603F51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67F25061-CF7E-491D-9F9B-BCF26DDE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Detailed evidence, references and AI">
            <a:extLst xmlns:a="http://schemas.openxmlformats.org/drawingml/2006/main">
              <a:ext uri="{FF2B5EF4-FFF2-40B4-BE49-F238E27FC236}">
                <a16:creationId xmlns:a16="http://schemas.microsoft.com/office/drawing/2014/main" id="{4BDD0A73-B351-434F-A65C-1F251E71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Detailed evidence, references and AI declaration follow in the appendix</a:t>
            </a:r>
          </a:p>
        </p:txBody>
      </p:sp>
    </p:spTree>
    <p:extLst>
      <p:ext uri="{BB962C8B-B14F-4D97-AF65-F5344CB8AC3E}">
        <p14:creationId xmlns:p14="http://schemas.microsoft.com/office/powerpoint/2010/main" val="867307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731CA-DF84-4F3F-B267-FF62C84AB6C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583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128C6-5E39-4BB9-8E20-AE70FEB8344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342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AA57C-4B76-4062-A0E4-01EDE1E8FE3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101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2801C-B655-42D5-BC77-01E0E556255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860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5" name="Task 1(a)">
            <a:extLst xmlns:a="http://schemas.openxmlformats.org/drawingml/2006/main">
              <a:ext uri="{FF2B5EF4-FFF2-40B4-BE49-F238E27FC236}">
                <a16:creationId xmlns:a16="http://schemas.microsoft.com/office/drawing/2014/main" id="{0ACB4852-AFF6-4EB5-A22B-3C5AFEC1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1(a)</a:t>
            </a:r>
          </a:p>
        </p:txBody>
      </p:sp>
      <p:sp>
        <p:nvSpPr>
          <p:cNvPr id="2" name="Host–GPU image data flow">
            <a:extLst xmlns:a="http://schemas.openxmlformats.org/drawingml/2006/main">
              <a:ext uri="{FF2B5EF4-FFF2-40B4-BE49-F238E27FC236}">
                <a16:creationId xmlns:a16="http://schemas.microsoft.com/office/drawing/2014/main" id="{6B4566D4-A540-4E64-8822-CA73E710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Host–GPU image data flow</a:t>
            </a:r>
          </a:p>
        </p:txBody>
      </p:sp>
      <p:sp>
        <p:nvSpPr>
          <p:cNvPr id="3" name="CPU: load/decode, allocate, launch, save">
            <a:extLst xmlns:a="http://schemas.openxmlformats.org/drawingml/2006/main">
              <a:ext uri="{FF2B5EF4-FFF2-40B4-BE49-F238E27FC236}">
                <a16:creationId xmlns:a16="http://schemas.microsoft.com/office/drawing/2014/main" id="{A1141438-FF72-43D8-95AE-AD312AFA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CPU: load/decode, allocate, launch, save</a:t>
            </a:r>
          </a:p>
        </p:txBody>
      </p:sp>
      <p:sp>
        <p:nvSpPr>
          <p:cNvPr id="4" name="GPU: read input, rotate, write output">
            <a:extLst xmlns:a="http://schemas.openxmlformats.org/drawingml/2006/main">
              <a:ext uri="{FF2B5EF4-FFF2-40B4-BE49-F238E27FC236}">
                <a16:creationId xmlns:a16="http://schemas.microsoft.com/office/drawing/2014/main" id="{A0F6DC64-8E4D-4077-92D8-B41CFFBA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GPU: read input, rotate, write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27248-B1AE-4CCC-90B2-BF539131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encoded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DB5C4-A812-4C94-AB06-516BF744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DDR example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pixels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81EED-3A1E-4726-BD11-FD29FCC4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buffer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A1AF8-DBE7-4EFF-A83E-F6A8383B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7DDF9-32D0-4BBA-AE73-6C1BDE44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pixels</a:t>
            </a:r>
          </a:p>
        </p:txBody>
      </p:sp>
      <p:sp>
        <p:nvSpPr>
          <p:cNvPr id="14" name="CPU&#10;decode">
            <a:extLst xmlns:a="http://schemas.openxmlformats.org/drawingml/2006/main">
              <a:ext uri="{FF2B5EF4-FFF2-40B4-BE49-F238E27FC236}">
                <a16:creationId xmlns:a16="http://schemas.microsoft.com/office/drawing/2014/main" id="{FE074602-43C5-4358-8142-8A417F33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CPU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decode</a:t>
            </a:r>
          </a:p>
        </p:txBody>
      </p:sp>
      <p:sp>
        <p:nvSpPr>
          <p:cNvPr id="15" name="H2D&#10;PCIe">
            <a:extLst xmlns:a="http://schemas.openxmlformats.org/drawingml/2006/main">
              <a:ext uri="{FF2B5EF4-FFF2-40B4-BE49-F238E27FC236}">
                <a16:creationId xmlns:a16="http://schemas.microsoft.com/office/drawing/2014/main" id="{78DA3275-149E-400A-81A3-809D0A5F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H2D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6" name="CUDA&#10;kernel">
            <a:extLst xmlns:a="http://schemas.openxmlformats.org/drawingml/2006/main">
              <a:ext uri="{FF2B5EF4-FFF2-40B4-BE49-F238E27FC236}">
                <a16:creationId xmlns:a16="http://schemas.microsoft.com/office/drawing/2014/main" id="{FF8AEACC-D731-46E0-B638-E495DAD2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CUDA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7" name="D2H&#10;PCIe">
            <a:extLst xmlns:a="http://schemas.openxmlformats.org/drawingml/2006/main">
              <a:ext uri="{FF2B5EF4-FFF2-40B4-BE49-F238E27FC236}">
                <a16:creationId xmlns:a16="http://schemas.microsoft.com/office/drawing/2014/main" id="{AADE4A4F-886C-45DC-A2BB-096D1F31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D2H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8" name="H2D: host → device. D2H: device → host. Separate buffer">
            <a:extLst xmlns:a="http://schemas.openxmlformats.org/drawingml/2006/main">
              <a:ext uri="{FF2B5EF4-FFF2-40B4-BE49-F238E27FC236}">
                <a16:creationId xmlns:a16="http://schemas.microsoft.com/office/drawing/2014/main" id="{6DF287A3-8A04-4BD7-87F1-6DDB241B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H2D: host → device. D2H: device → host. Separate buffers; DMA (direct memory access) engines transfer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over PCIe.</a:t>
            </a:r>
          </a:p>
        </p:txBody>
      </p:sp>
      <p:sp>
        <p:nvSpPr>
          <p:cNvPr id="19" name="GPU memory bandwidth differs from PCIe bandwidth. Pinne">
            <a:extLst xmlns:a="http://schemas.openxmlformats.org/drawingml/2006/main">
              <a:ext uri="{FF2B5EF4-FFF2-40B4-BE49-F238E27FC236}">
                <a16:creationId xmlns:a16="http://schemas.microsoft.com/office/drawing/2014/main" id="{C5A0D5E9-B7A9-4ECD-80B4-65376D3D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222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 bandwidth differs from PCIe bandwidth. Pinned RAM supports DMA; pageable RAM may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stage. Complete output before saving or reuse.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5F08C3-770A-4765-8479-EAB93EB1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21" name="The CPU orchestrates I/O and launches; the GPU rotates ">
            <a:extLst xmlns:a="http://schemas.openxmlformats.org/drawingml/2006/main">
              <a:ext uri="{FF2B5EF4-FFF2-40B4-BE49-F238E27FC236}">
                <a16:creationId xmlns:a16="http://schemas.microsoft.com/office/drawing/2014/main" id="{9F909A7B-6EAD-4E35-BFFB-55D7DBDA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CPU orchestrates I/O and launches; the GPU rotates decoded pixels.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CEF0EF-CCBC-4768-B8FA-C1E58F4B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3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1E2ECD50-6304-4693-B2CF-C90E9A6A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24" name="2 / 41">
            <a:extLst xmlns:a="http://schemas.openxmlformats.org/drawingml/2006/main">
              <a:ext uri="{FF2B5EF4-FFF2-40B4-BE49-F238E27FC236}">
                <a16:creationId xmlns:a16="http://schemas.microsoft.com/office/drawing/2014/main" id="{0EDA9C91-EDBA-4E1E-8FC7-0A116D45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41</a:t>
            </a:r>
          </a:p>
        </p:txBody>
      </p:sp>
    </p:spTree>
    <p:extLst>
      <p:ext uri="{BB962C8B-B14F-4D97-AF65-F5344CB8AC3E}">
        <p14:creationId xmlns:p14="http://schemas.microsoft.com/office/powerpoint/2010/main" val="7930231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101ED-3BAE-4DFE-A355-9695D0F9B5E3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25063" y="27622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8" name="Task 1(b)">
            <a:extLst xmlns:a="http://schemas.openxmlformats.org/drawingml/2006/main">
              <a:ext uri="{FF2B5EF4-FFF2-40B4-BE49-F238E27FC236}">
                <a16:creationId xmlns:a16="http://schemas.microsoft.com/office/drawing/2014/main" id="{AF18E199-4974-492C-A046-F673ED0E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Rotation as independent output work">
            <a:extLst xmlns:a="http://schemas.openxmlformats.org/drawingml/2006/main">
              <a:ext uri="{FF2B5EF4-FFF2-40B4-BE49-F238E27FC236}">
                <a16:creationId xmlns:a16="http://schemas.microsoft.com/office/drawing/2014/main" id="{1C114884-A7F9-4A83-B5A4-F119440E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 independent output work</a:t>
            </a:r>
          </a:p>
        </p:txBody>
      </p:sp>
      <p:sp>
        <p:nvSpPr>
          <p:cNvPr id="3" name="Inverse mapping in y-down image coordinates">
            <a:extLst xmlns:a="http://schemas.openxmlformats.org/drawingml/2006/main">
              <a:ext uri="{FF2B5EF4-FFF2-40B4-BE49-F238E27FC236}">
                <a16:creationId xmlns:a16="http://schemas.microsoft.com/office/drawing/2014/main" id="{1BDBD809-AF89-4764-9A51-4907FFAF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65722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Inverse mapping in y-down image coordinates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DD907-538E-43C5-B69A-D5B3AE3B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80085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x = c*(x-cx) - s*(y-cy) + cx;&#10;sy = s*(x-cx) + c*(y-cy)">
            <a:extLst xmlns:a="http://schemas.openxmlformats.org/drawingml/2006/main">
              <a:ext uri="{FF2B5EF4-FFF2-40B4-BE49-F238E27FC236}">
                <a16:creationId xmlns:a16="http://schemas.microsoft.com/office/drawing/2014/main" id="{C757FB27-90A3-42CD-8DCB-31092252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572250" cy="11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sx = c*(x-cx) - s*(y-cy) + cx;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sy = s*(x-cx) + c*(y-cy) + cy;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ix = floor(sx + 0.5);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iy = floor(sy + 0.5);</a:t>
            </a:r>
          </a:p>
        </p:txBody>
      </p:sp>
      <p:sp>
        <p:nvSpPr>
          <p:cNvPr id="6" name="c = cos θ; s = sin θ; center = ((W−1)/2, (H−1)/2)">
            <a:extLst xmlns:a="http://schemas.openxmlformats.org/drawingml/2006/main">
              <a:ext uri="{FF2B5EF4-FFF2-40B4-BE49-F238E27FC236}">
                <a16:creationId xmlns:a16="http://schemas.microsoft.com/office/drawing/2014/main" id="{B890C5ED-0A21-47CA-9B90-B77C2A2F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69913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cos θ; s = sin θ; center = ((W−1)/2, (H−1)/2)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79C8F-EF1F-44DD-BBDD-471973D8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76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(x,y)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485DC-432E-460C-ABE6-522B5BDF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00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 input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(ix,iy)</a:t>
            </a:r>
          </a:p>
        </p:txBody>
      </p:sp>
      <p:sp>
        <p:nvSpPr>
          <p:cNvPr id="10" name="lookup">
            <a:extLst xmlns:a="http://schemas.openxmlformats.org/drawingml/2006/main">
              <a:ext uri="{FF2B5EF4-FFF2-40B4-BE49-F238E27FC236}">
                <a16:creationId xmlns:a16="http://schemas.microsoft.com/office/drawing/2014/main" id="{9CB998E5-0CAC-4F0A-896D-1222E6C3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24175"/>
            <a:ext cx="1066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lookup</a:t>
            </a:r>
          </a:p>
        </p:txBody>
      </p:sp>
      <p:sp>
        <p:nvSpPr>
          <p:cNvPr id="11" name="Positive θ rotates visually counterclockwise. Use a fix">
            <a:extLst xmlns:a="http://schemas.openxmlformats.org/drawingml/2006/main">
              <a:ext uri="{FF2B5EF4-FFF2-40B4-BE49-F238E27FC236}">
                <a16:creationId xmlns:a16="http://schemas.microsoft.com/office/drawing/2014/main" id="{69DC44A7-5FC8-4E35-BE87-817018DF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7152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rotates visually counterclockwise. Use a fixed canvas; rounded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source indices outside the image produce black.</a:t>
            </a:r>
          </a:p>
        </p:txBody>
      </p:sp>
      <p:sp>
        <p:nvSpPr>
          <p:cNvPr id="12" name="Brightness touches the same pixel in/out; rotation gath">
            <a:extLst xmlns:a="http://schemas.openxmlformats.org/drawingml/2006/main">
              <a:ext uri="{FF2B5EF4-FFF2-40B4-BE49-F238E27FC236}">
                <a16:creationId xmlns:a16="http://schemas.microsoft.com/office/drawing/2014/main" id="{63803D18-234A-41AE-A273-EC00CCC1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8428"/>
            <a:ext cx="77152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Brightness touches the same pixel in/out; rotation gathers a different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source. Nearest-neighbour sampling is simple but can alias.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2F652-F53B-4287-A101-D8C26D78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4" name="One thread owns one output pixel: gather a source value">
            <a:extLst xmlns:a="http://schemas.openxmlformats.org/drawingml/2006/main">
              <a:ext uri="{FF2B5EF4-FFF2-40B4-BE49-F238E27FC236}">
                <a16:creationId xmlns:a16="http://schemas.microsoft.com/office/drawing/2014/main" id="{8069674B-05E9-4D5B-8BA8-DBFCD5AC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One thread owns one output pixel: gather a source value, then write once.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D95CF2-D30B-4DE0-91BD-D1E1FA5E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6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2FFB3AD4-2365-42A6-AD4B-1697A36E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7" name="3 / 41">
            <a:extLst xmlns:a="http://schemas.openxmlformats.org/drawingml/2006/main">
              <a:ext uri="{FF2B5EF4-FFF2-40B4-BE49-F238E27FC236}">
                <a16:creationId xmlns:a16="http://schemas.microsoft.com/office/drawing/2014/main" id="{86ED761A-AFD8-43FB-AFEC-49055A87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41</a:t>
            </a:r>
          </a:p>
        </p:txBody>
      </p:sp>
    </p:spTree>
    <p:extLst>
      <p:ext uri="{BB962C8B-B14F-4D97-AF65-F5344CB8AC3E}">
        <p14:creationId xmlns:p14="http://schemas.microsoft.com/office/powerpoint/2010/main" val="20868381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ask 1(b)">
            <a:extLst xmlns:a="http://schemas.openxmlformats.org/drawingml/2006/main">
              <a:ext uri="{FF2B5EF4-FFF2-40B4-BE49-F238E27FC236}">
                <a16:creationId xmlns:a16="http://schemas.microsoft.com/office/drawing/2014/main" id="{65B0D78D-4B87-427C-8120-BDAE123C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launch and execution hierarchy">
            <a:extLst xmlns:a="http://schemas.openxmlformats.org/drawingml/2006/main">
              <a:ext uri="{FF2B5EF4-FFF2-40B4-BE49-F238E27FC236}">
                <a16:creationId xmlns:a16="http://schemas.microsoft.com/office/drawing/2014/main" id="{B6E6FD9F-185F-4D62-BE66-9000D4D3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launch and execution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B3F69-1BC6-4684-8C71-8F1C4515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9436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16);&#10;dim3 grid(64,64);&#10;rotate_rgb&lt;&lt;&lt;grid,">
            <a:extLst xmlns:a="http://schemas.openxmlformats.org/drawingml/2006/main">
              <a:ext uri="{FF2B5EF4-FFF2-40B4-BE49-F238E27FC236}">
                <a16:creationId xmlns:a16="http://schemas.microsoft.com/office/drawing/2014/main" id="{30BDBAC0-D55E-4B5F-88A5-6F2DA527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00" cy="1101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block(16,16);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grid(64,64);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rotate_rgb&lt;&lt;&lt;grid,block&gt;&gt;&gt;(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d_in,d_out,1024,1024,c,s);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6B735-EF9B-4CF6-AD08-20CB352F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943600" cy="948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6" name="x = blockIdx.x*blockDim.x + threadIdx.x;&#10;y = blockIdx.y">
            <a:extLst xmlns:a="http://schemas.openxmlformats.org/drawingml/2006/main">
              <a:ext uri="{FF2B5EF4-FFF2-40B4-BE49-F238E27FC236}">
                <a16:creationId xmlns:a16="http://schemas.microsoft.com/office/drawing/2014/main" id="{2DBA5D43-07F2-4F43-9F9F-C84B3B0D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5715000" cy="815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x = blockIdx.x*blockDim.x + threadIdx.x;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y = blockIdx.y*blockDim.y + threadIdx.y;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if (x &gt;= W || y &gt;= H) return;</a:t>
            </a:r>
          </a:p>
        </p:txBody>
      </p:sp>
      <p:sp>
        <p:nvSpPr>
          <p:cNvPr id="7" name="1024 × 1024 output">
            <a:extLst xmlns:a="http://schemas.openxmlformats.org/drawingml/2006/main">
              <a:ext uri="{FF2B5EF4-FFF2-40B4-BE49-F238E27FC236}">
                <a16:creationId xmlns:a16="http://schemas.microsoft.com/office/drawing/2014/main" id="{0D037B98-646F-49F0-97F7-1EF6B32E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43434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1024 × 1024 output</a:t>
            </a:r>
          </a:p>
        </p:txBody>
      </p:sp>
      <p:sp>
        <p:nvSpPr>
          <p:cNvPr id="8" name="64 × 64 = 4,096 blocks">
            <a:extLst xmlns:a="http://schemas.openxmlformats.org/drawingml/2006/main">
              <a:ext uri="{FF2B5EF4-FFF2-40B4-BE49-F238E27FC236}">
                <a16:creationId xmlns:a16="http://schemas.microsoft.com/office/drawing/2014/main" id="{C5888C44-88AD-456C-BC0E-D5A980F6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8597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64 × 64 = 4,096 blocks</a:t>
            </a:r>
          </a:p>
        </p:txBody>
      </p:sp>
      <p:sp>
        <p:nvSpPr>
          <p:cNvPr id="9" name="16 × 16 = 256 threads/block">
            <a:extLst xmlns:a="http://schemas.openxmlformats.org/drawingml/2006/main">
              <a:ext uri="{FF2B5EF4-FFF2-40B4-BE49-F238E27FC236}">
                <a16:creationId xmlns:a16="http://schemas.microsoft.com/office/drawing/2014/main" id="{F3757119-A241-4349-897F-4A202FAA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16 × 16 = 256 threads/block</a:t>
            </a:r>
          </a:p>
        </p:txBody>
      </p:sp>
      <p:sp>
        <p:nvSpPr>
          <p:cNvPr id="10" name="1,048,576 logical threads">
            <a:extLst xmlns:a="http://schemas.openxmlformats.org/drawingml/2006/main">
              <a:ext uri="{FF2B5EF4-FFF2-40B4-BE49-F238E27FC236}">
                <a16:creationId xmlns:a16="http://schemas.microsoft.com/office/drawing/2014/main" id="{136277B5-4A0F-4AD6-A350-AF2BF448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5752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1,048,576 logical threads</a:t>
            </a:r>
          </a:p>
        </p:txBody>
      </p:sp>
      <p:sp>
        <p:nvSpPr>
          <p:cNvPr id="11" name="32 threads/warp → 8 warps/block">
            <a:extLst xmlns:a="http://schemas.openxmlformats.org/drawingml/2006/main">
              <a:ext uri="{FF2B5EF4-FFF2-40B4-BE49-F238E27FC236}">
                <a16:creationId xmlns:a16="http://schemas.microsoft.com/office/drawing/2014/main" id="{8C088985-3949-4876-8126-2E997090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32 threads/warp → 8 warps/block</a:t>
            </a:r>
          </a:p>
        </p:txBody>
      </p:sp>
      <p:sp>
        <p:nvSpPr>
          <p:cNvPr id="12" name="One highlighted warp within a 16-wide block">
            <a:extLst xmlns:a="http://schemas.openxmlformats.org/drawingml/2006/main">
              <a:ext uri="{FF2B5EF4-FFF2-40B4-BE49-F238E27FC236}">
                <a16:creationId xmlns:a16="http://schemas.microsoft.com/office/drawing/2014/main" id="{6480C02B-E86D-404F-A32D-64E35E53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29075"/>
            <a:ext cx="4343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One highlighted warp within a 16-wide block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97BDB-7483-4F64-9C75-A5426656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80303-E905-4B83-B769-B43D9A3C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9E030-C0A9-4A96-8648-FD725C80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537B6-951A-4FB0-A3F8-9C6C38B0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9527C-7F82-487C-85B4-98E2EFF1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3B64A-B2CE-42FF-A46F-8274E895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F97C9-23A6-4B6D-860E-6BF23CBC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4A1444-91E9-4C7B-A735-AD2BCADC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EF3D9-54AB-4E72-BF78-17D815AA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0C8DEE-7B58-4454-8A47-9E37EC82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4A16EA-B28A-4797-8E37-44145031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58DBF-92A6-465D-966A-3FCD036C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DC4C24-DD57-4A6D-8630-023D55B7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146004-F1BC-4F2D-A93E-0930F3C9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F2721D-B864-48ED-88FF-3F3270F3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6961D8-E7E2-4B26-845D-F785EEE6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6F33D2-0270-467F-B755-FBE27716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F077D5-1032-4BC4-84E4-942DE821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6D97DF-F1BD-4E12-A1D7-3FE518BC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2C4E70-B5A5-4195-8C4E-70638B5D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FEE2DD-EEA6-4F71-BC0E-100F3CD0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7EA441-7846-4470-B66A-EFDDFA31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27ED54-EA77-43C3-A215-A4291928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CCEB06-9155-4709-BC5D-A1332E96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94A794-B44C-4929-83B7-DA9ABC7E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ADF3E1-4D92-42B2-9415-57E00ED9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C0DDF7-8133-4E97-9507-4251EA24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9B3CCC-10B6-41F7-8C21-CEA861CE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7F726B-8C78-4DB7-BCBB-7C557E09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91C021-BCF8-4974-8EA4-CB13C1BA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8244E5-BD86-40B2-AF9D-6774D561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1F88C8-3FAA-4366-A357-8BD803BE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5" name="Non-multiple dimensions: ceil-divide the grid and keep ">
            <a:extLst xmlns:a="http://schemas.openxmlformats.org/drawingml/2006/main">
              <a:ext uri="{FF2B5EF4-FFF2-40B4-BE49-F238E27FC236}">
                <a16:creationId xmlns:a16="http://schemas.microsoft.com/office/drawing/2014/main" id="{543E6167-BC0F-4F6C-869D-2B344A1C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Non-multiple dimensions: ceil-divide the grid and keep the bounds guard.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C6A582-5AE1-4EC7-B632-52BFBA01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47" name="A grid specifies logical work; finite SMs schedule its ">
            <a:extLst xmlns:a="http://schemas.openxmlformats.org/drawingml/2006/main">
              <a:ext uri="{FF2B5EF4-FFF2-40B4-BE49-F238E27FC236}">
                <a16:creationId xmlns:a16="http://schemas.microsoft.com/office/drawing/2014/main" id="{D970BA11-7A9F-4390-A396-A3711F64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grid specifies logical work; finite SMs schedule its blocks and warps.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E92376-A877-409B-ACF3-84F5426E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49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1A9648C6-F19E-49C6-B385-1EFB2EFB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50" name="4 / 41">
            <a:extLst xmlns:a="http://schemas.openxmlformats.org/drawingml/2006/main">
              <a:ext uri="{FF2B5EF4-FFF2-40B4-BE49-F238E27FC236}">
                <a16:creationId xmlns:a16="http://schemas.microsoft.com/office/drawing/2014/main" id="{9645D40D-2DE3-4A79-9EA9-39D3590D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41</a:t>
            </a:r>
          </a:p>
        </p:txBody>
      </p:sp>
    </p:spTree>
    <p:extLst>
      <p:ext uri="{BB962C8B-B14F-4D97-AF65-F5344CB8AC3E}">
        <p14:creationId xmlns:p14="http://schemas.microsoft.com/office/powerpoint/2010/main" val="18227127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23960-3BBE-43C1-BEDC-56E94A09033E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9644063" y="2305050"/>
            <a:ext cx="4763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1(b)">
            <a:extLst xmlns:a="http://schemas.openxmlformats.org/drawingml/2006/main">
              <a:ext uri="{FF2B5EF4-FFF2-40B4-BE49-F238E27FC236}">
                <a16:creationId xmlns:a16="http://schemas.microsoft.com/office/drawing/2014/main" id="{726FFE46-91F0-45C6-8DDB-112A69B9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features that affect throughput">
            <a:extLst xmlns:a="http://schemas.openxmlformats.org/drawingml/2006/main">
              <a:ext uri="{FF2B5EF4-FFF2-40B4-BE49-F238E27FC236}">
                <a16:creationId xmlns:a16="http://schemas.microsoft.com/office/drawing/2014/main" id="{14B9E812-9F47-48B9-887A-AA64ABC5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features that affect throughput</a:t>
            </a:r>
          </a:p>
        </p:txBody>
      </p:sp>
      <p:sp>
        <p:nvSpPr>
          <p:cNvPr id="3" name="Example: independent brightness channels">
            <a:extLst xmlns:a="http://schemas.openxmlformats.org/drawingml/2006/main">
              <a:ext uri="{FF2B5EF4-FFF2-40B4-BE49-F238E27FC236}">
                <a16:creationId xmlns:a16="http://schemas.microsoft.com/office/drawing/2014/main" id="{7C593CA4-F89A-4549-A89F-E5048737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238875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Example: independent brightness channels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16EB3-8FE9-4B2B-A8DE-6FAE5914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419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ize_t p = 3*(size_t(y)*W + x);&#10;for (int ch=0; ch&lt;3; ++">
            <a:extLst xmlns:a="http://schemas.openxmlformats.org/drawingml/2006/main">
              <a:ext uri="{FF2B5EF4-FFF2-40B4-BE49-F238E27FC236}">
                <a16:creationId xmlns:a16="http://schemas.microsoft.com/office/drawing/2014/main" id="{B616FB7C-2470-47A2-8438-5F2D3381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619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size_t p = 3*(size_t(y)*W + x);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for (int ch=0; ch&lt;3; ++ch) {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v = int(in[p+ch]) + delta;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out[p+ch] = v&lt;0 ? 0 : (v&gt;255 ? 255 : v);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Excerpt after coordinate/bounds checks; valid contiguou">
            <a:extLst xmlns:a="http://schemas.openxmlformats.org/drawingml/2006/main">
              <a:ext uri="{FF2B5EF4-FFF2-40B4-BE49-F238E27FC236}">
                <a16:creationId xmlns:a16="http://schemas.microsoft.com/office/drawing/2014/main" id="{01EDEEF9-CA0E-4E7A-AB57-E424CFD0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32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Excerpt after coordinate/bounds checks; valid contiguous RGB buffers.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9CC5E-0375-4AFD-A94A-4A1633EA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2914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Pending blocks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8CF8B-9513-4FDB-B2A1-847F6C80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0375"/>
            <a:ext cx="3667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Streaming multiprocessor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→ execution units</a:t>
            </a:r>
          </a:p>
        </p:txBody>
      </p:sp>
      <p:sp>
        <p:nvSpPr>
          <p:cNvPr id="10" name="SIMT = single instruction, multiple threads. A warp iss">
            <a:extLst xmlns:a="http://schemas.openxmlformats.org/drawingml/2006/main">
              <a:ext uri="{FF2B5EF4-FFF2-40B4-BE49-F238E27FC236}">
                <a16:creationId xmlns:a16="http://schemas.microsoft.com/office/drawing/2014/main" id="{813EAEFD-97D6-4E28-8259-10EFF5C3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95775"/>
            <a:ext cx="38671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SIMT = single instruction, multiple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threads. A warp issues common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instructions; divergent paths can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efficiency.</a:t>
            </a:r>
          </a:p>
        </p:txBody>
      </p:sp>
      <p:sp>
        <p:nvSpPr>
          <p:cNvPr id="11" name="Resident warps hide latency; registers limit residency.">
            <a:extLst xmlns:a="http://schemas.openxmlformats.org/drawingml/2006/main">
              <a:ext uri="{FF2B5EF4-FFF2-40B4-BE49-F238E27FC236}">
                <a16:creationId xmlns:a16="http://schemas.microsoft.com/office/drawing/2014/main" id="{56B1FB38-CFF7-4FF6-9863-EC964DED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651510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hide latency; registers limit residency.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Coalescing groups nearby accesses into fewer transactions;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can disrupt read locality.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A7B8D-72D2-4EE6-A774-57983B0F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Concurrency helps only when memory access and resource ">
            <a:extLst xmlns:a="http://schemas.openxmlformats.org/drawingml/2006/main">
              <a:ext uri="{FF2B5EF4-FFF2-40B4-BE49-F238E27FC236}">
                <a16:creationId xmlns:a16="http://schemas.microsoft.com/office/drawing/2014/main" id="{919DE779-FED6-41D7-B129-3CF7C6EE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Concurrency helps only when memory access and resource use support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7AF70-EBC1-4BF1-93CA-D98F73B0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25CD70D8-1B70-45BE-BC19-F2862DD3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16" name="5 / 41">
            <a:extLst xmlns:a="http://schemas.openxmlformats.org/drawingml/2006/main">
              <a:ext uri="{FF2B5EF4-FFF2-40B4-BE49-F238E27FC236}">
                <a16:creationId xmlns:a16="http://schemas.microsoft.com/office/drawing/2014/main" id="{B78CF9B3-7255-43AB-B68D-381059A9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41</a:t>
            </a:r>
          </a:p>
        </p:txBody>
      </p:sp>
    </p:spTree>
    <p:extLst>
      <p:ext uri="{BB962C8B-B14F-4D97-AF65-F5344CB8AC3E}">
        <p14:creationId xmlns:p14="http://schemas.microsoft.com/office/powerpoint/2010/main" val="21068200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ask 1(b)">
            <a:extLst xmlns:a="http://schemas.openxmlformats.org/drawingml/2006/main">
              <a:ext uri="{FF2B5EF4-FFF2-40B4-BE49-F238E27FC236}">
                <a16:creationId xmlns:a16="http://schemas.microsoft.com/office/drawing/2014/main" id="{6A6E9E9E-4D95-4A49-B55D-3C5E81C8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Expected speedup and its limits">
            <a:extLst xmlns:a="http://schemas.openxmlformats.org/drawingml/2006/main">
              <a:ext uri="{FF2B5EF4-FFF2-40B4-BE49-F238E27FC236}">
                <a16:creationId xmlns:a16="http://schemas.microsoft.com/office/drawing/2014/main" id="{14FED7E7-FA90-4F2F-824D-74A777A0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Expected speedup and its limits</a:t>
            </a:r>
          </a:p>
        </p:txBody>
      </p:sp>
      <p:sp>
        <p:nvSpPr>
          <p:cNvPr id="3" name="Baseline: single CPU thread, same rotation and sampling">
            <a:extLst xmlns:a="http://schemas.openxmlformats.org/drawingml/2006/main">
              <a:ext uri="{FF2B5EF4-FFF2-40B4-BE49-F238E27FC236}">
                <a16:creationId xmlns:a16="http://schemas.microsoft.com/office/drawing/2014/main" id="{24630EB2-80AD-4848-B385-F68D7286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Baseline: single CPU thread, same rotation and sampling</a:t>
            </a:r>
          </a:p>
        </p:txBody>
      </p:sp>
      <p:sp>
        <p:nvSpPr>
          <p:cNvPr id="4" name="Also compare a multithreaded CPU; identical output and ">
            <a:extLst xmlns:a="http://schemas.openxmlformats.org/drawingml/2006/main">
              <a:ext uri="{FF2B5EF4-FFF2-40B4-BE49-F238E27FC236}">
                <a16:creationId xmlns:a16="http://schemas.microsoft.com/office/drawing/2014/main" id="{F6C02345-7706-4259-9E25-6D29AEBB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Also compare a multithreaded CPU; identical output and timing boundaries.</a:t>
            </a:r>
          </a:p>
        </p:txBody>
      </p:sp>
      <p:sp>
        <p:nvSpPr>
          <p:cNvPr id="5" name="Speedup = TCPU / TGPU,total">
            <a:extLst xmlns:a="http://schemas.openxmlformats.org/drawingml/2006/main">
              <a:ext uri="{FF2B5EF4-FFF2-40B4-BE49-F238E27FC236}">
                <a16:creationId xmlns:a16="http://schemas.microsoft.com/office/drawing/2014/main" id="{BD200F3C-19B1-4425-A0C5-02DD27BE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439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= TCPU / TGPU,total</a:t>
            </a:r>
          </a:p>
        </p:txBody>
      </p:sp>
      <p:sp>
        <p:nvSpPr>
          <p:cNvPr id="6" name="TGPU,total = allocation/setup + H2D + kernel + D2H">
            <a:extLst xmlns:a="http://schemas.openxmlformats.org/drawingml/2006/main">
              <a:ext uri="{FF2B5EF4-FFF2-40B4-BE49-F238E27FC236}">
                <a16:creationId xmlns:a16="http://schemas.microsoft.com/office/drawing/2014/main" id="{CAF0156E-C0F5-4297-BC7C-0E226A76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TGPU,total = allocation/setup + H2D + kernel + D2H</a:t>
            </a:r>
          </a:p>
        </p:txBody>
      </p:sp>
      <p:sp>
        <p:nvSpPr>
          <p:cNvPr id="7" name="Many GPU execution units and high device bandwidth favo">
            <a:extLst xmlns:a="http://schemas.openxmlformats.org/drawingml/2006/main">
              <a:ext uri="{FF2B5EF4-FFF2-40B4-BE49-F238E27FC236}">
                <a16:creationId xmlns:a16="http://schemas.microsoft.com/office/drawing/2014/main" id="{C1AAA876-6E5D-4E10-8BC7-4CDB0FAE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2197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Many GPU execution units and high device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bandwidth favor parallel throughput. Large or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images amortize setup; gathered reads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limit bandwidth.</a:t>
            </a:r>
          </a:p>
        </p:txBody>
      </p:sp>
      <p:sp>
        <p:nvSpPr>
          <p:cNvPr id="8" name="Week 7: S = 1 / (s + (1−s)/a). s is the unchanged seria">
            <a:extLst xmlns:a="http://schemas.openxmlformats.org/drawingml/2006/main">
              <a:ext uri="{FF2B5EF4-FFF2-40B4-BE49-F238E27FC236}">
                <a16:creationId xmlns:a16="http://schemas.microsoft.com/office/drawing/2014/main" id="{C732095D-BE8F-45F3-843D-A871E60C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51625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Week 7: S = 1 / (s + (1−s)/a). s is the unchanged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share; a accelerates the remainder. s = 0.20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gives a 5× ideal ceiling before added transfers.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Theoretical, not measured.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4C2BC-AE7D-4D11-8C54-75BBAABE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0" name="Expect gains for large or resident workloads; measure t">
            <a:extLst xmlns:a="http://schemas.openxmlformats.org/drawingml/2006/main">
              <a:ext uri="{FF2B5EF4-FFF2-40B4-BE49-F238E27FC236}">
                <a16:creationId xmlns:a16="http://schemas.microsoft.com/office/drawing/2014/main" id="{CF838BC7-DDF3-4A5B-9DAC-CFA115BA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 gains for large or resident workloads; measure the whole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50668-6F3A-4C18-B322-42423BA5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650AD220-40AB-4222-923E-12B586D5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</a:t>
            </a:r>
          </a:p>
        </p:txBody>
      </p:sp>
      <p:sp>
        <p:nvSpPr>
          <p:cNvPr id="13" name="6 / 41">
            <a:extLst xmlns:a="http://schemas.openxmlformats.org/drawingml/2006/main">
              <a:ext uri="{FF2B5EF4-FFF2-40B4-BE49-F238E27FC236}">
                <a16:creationId xmlns:a16="http://schemas.microsoft.com/office/drawing/2014/main" id="{9B9BB87D-C827-4F7C-B8CD-F1EACB94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41</a:t>
            </a:r>
          </a:p>
        </p:txBody>
      </p:sp>
    </p:spTree>
    <p:extLst>
      <p:ext uri="{BB962C8B-B14F-4D97-AF65-F5344CB8AC3E}">
        <p14:creationId xmlns:p14="http://schemas.microsoft.com/office/powerpoint/2010/main" val="10444145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A48AC-118E-4E82-9156-AC99DF2B51BB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86100" y="4095750"/>
            <a:ext cx="619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70838-43EE-4A1D-A2DD-7FAD3173ACE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72350" y="23431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B6C82-5148-428E-A4AA-6331E3863F9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57475" y="23431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3" name="Task 1(c)">
            <a:extLst xmlns:a="http://schemas.openxmlformats.org/drawingml/2006/main">
              <a:ext uri="{FF2B5EF4-FFF2-40B4-BE49-F238E27FC236}">
                <a16:creationId xmlns:a16="http://schemas.microsoft.com/office/drawing/2014/main" id="{CD1D9500-7E83-4CB3-BC6F-E4F2295B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1(c)</a:t>
            </a:r>
          </a:p>
        </p:txBody>
      </p:sp>
      <p:sp>
        <p:nvSpPr>
          <p:cNvPr id="2" name="GPUDirect Storage and rotation">
            <a:extLst xmlns:a="http://schemas.openxmlformats.org/drawingml/2006/main">
              <a:ext uri="{FF2B5EF4-FFF2-40B4-BE49-F238E27FC236}">
                <a16:creationId xmlns:a16="http://schemas.microsoft.com/office/drawing/2014/main" id="{AFC2EA99-3AA5-45B3-B266-97E0A2E4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GPUDirect Storage and rotation</a:t>
            </a:r>
          </a:p>
        </p:txBody>
      </p:sp>
      <p:sp>
        <p:nvSpPr>
          <p:cNvPr id="3" name="Conventional storage path">
            <a:extLst xmlns:a="http://schemas.openxmlformats.org/drawingml/2006/main">
              <a:ext uri="{FF2B5EF4-FFF2-40B4-BE49-F238E27FC236}">
                <a16:creationId xmlns:a16="http://schemas.microsoft.com/office/drawing/2014/main" id="{584AC573-D8F0-42E7-BA87-F44E8D75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storage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9CFCC-2C69-49C9-ACD2-D6EDCEFF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047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CF6C3-CDAB-4E45-8925-AE5AC30E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71675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B5EC2-2181-4251-9161-047FD818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71675"/>
            <a:ext cx="2305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9" name="storage read">
            <a:extLst xmlns:a="http://schemas.openxmlformats.org/drawingml/2006/main">
              <a:ext uri="{FF2B5EF4-FFF2-40B4-BE49-F238E27FC236}">
                <a16:creationId xmlns:a16="http://schemas.microsoft.com/office/drawing/2014/main" id="{76E29F6E-EC2B-4EB9-97DF-352203B3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57400"/>
            <a:ext cx="15240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 read</a:t>
            </a:r>
          </a:p>
        </p:txBody>
      </p:sp>
      <p:sp>
        <p:nvSpPr>
          <p:cNvPr id="10" name="H2D / PCIe">
            <a:extLst xmlns:a="http://schemas.openxmlformats.org/drawingml/2006/main">
              <a:ext uri="{FF2B5EF4-FFF2-40B4-BE49-F238E27FC236}">
                <a16:creationId xmlns:a16="http://schemas.microsoft.com/office/drawing/2014/main" id="{2C7809E7-C86F-4842-A244-F9D84D13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1628775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 / PCIe</a:t>
            </a:r>
          </a:p>
        </p:txBody>
      </p:sp>
      <p:sp>
        <p:nvSpPr>
          <p:cNvPr id="11" name="GDS direct path (supported configuration)">
            <a:extLst xmlns:a="http://schemas.openxmlformats.org/drawingml/2006/main">
              <a:ext uri="{FF2B5EF4-FFF2-40B4-BE49-F238E27FC236}">
                <a16:creationId xmlns:a16="http://schemas.microsoft.com/office/drawing/2014/main" id="{2EC74157-0BF8-4759-8F12-56661A86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6200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GDS direct path (supported configuration)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B223E-0489-4694-81C3-C4E0FD60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Storage-side DMA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NVMe / NIC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41B96-3379-416B-BAC5-7A467287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38550"/>
            <a:ext cx="2305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15" name="PCIe data path bypasses host staging">
            <a:extLst xmlns:a="http://schemas.openxmlformats.org/drawingml/2006/main">
              <a:ext uri="{FF2B5EF4-FFF2-40B4-BE49-F238E27FC236}">
                <a16:creationId xmlns:a16="http://schemas.microsoft.com/office/drawing/2014/main" id="{3AAD4A3E-E813-4298-898B-8C3EBCC8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724275"/>
            <a:ext cx="49720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data path bypasses host staging</a:t>
            </a:r>
          </a:p>
        </p:txBody>
      </p:sp>
      <p:sp>
        <p:nvSpPr>
          <p:cNvPr id="16" name="CPU issues cuFile I/O; compatibility fallback may stage">
            <a:extLst xmlns:a="http://schemas.openxmlformats.org/drawingml/2006/main">
              <a:ext uri="{FF2B5EF4-FFF2-40B4-BE49-F238E27FC236}">
                <a16:creationId xmlns:a16="http://schemas.microsoft.com/office/drawing/2014/main" id="{6B6A774A-2C57-40F5-97FC-B46421B6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issues cuFile I/O; compatibility fallback may stage through RAM.</a:t>
            </a:r>
          </a:p>
        </p:txBody>
      </p:sp>
      <p:sp>
        <p:nvSpPr>
          <p:cNvPr id="17" name="CPU-decoded / already-in-RAM image: little benefit. Lar">
            <a:extLst xmlns:a="http://schemas.openxmlformats.org/drawingml/2006/main">
              <a:ext uri="{FF2B5EF4-FFF2-40B4-BE49-F238E27FC236}">
                <a16:creationId xmlns:a16="http://schemas.microsoft.com/office/drawing/2014/main" id="{C38D9507-3DB8-4C83-BFA8-1AEBAFE3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CPU-decoded / already-in-RAM image: little benefit. Large storage-bound batches with GPU-ready data: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possible benefit, verify direct path and total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78B83-55CD-4959-92C3-F38C438B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GDS can reduce storage staging; it does not accelerate ">
            <a:extLst xmlns:a="http://schemas.openxmlformats.org/drawingml/2006/main">
              <a:ext uri="{FF2B5EF4-FFF2-40B4-BE49-F238E27FC236}">
                <a16:creationId xmlns:a16="http://schemas.microsoft.com/office/drawing/2014/main" id="{C87B4A21-E0D5-4024-817C-BF6ED058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can reduce storage staging; it does not accelerate rotation arithmetic.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98023-CCED-489F-987C-2A818BB3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6] NVIDIA GDS overview; [7] NVIDIA GDS design">
            <a:extLst xmlns:a="http://schemas.openxmlformats.org/drawingml/2006/main">
              <a:ext uri="{FF2B5EF4-FFF2-40B4-BE49-F238E27FC236}">
                <a16:creationId xmlns:a16="http://schemas.microsoft.com/office/drawing/2014/main" id="{98A3518B-2CA7-4EEE-9435-F1D8C1F3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NVIDIA GDS overview; [7] NVIDIA GDS design</a:t>
            </a:r>
          </a:p>
        </p:txBody>
      </p:sp>
      <p:sp>
        <p:nvSpPr>
          <p:cNvPr id="22" name="7 / 41">
            <a:extLst xmlns:a="http://schemas.openxmlformats.org/drawingml/2006/main">
              <a:ext uri="{FF2B5EF4-FFF2-40B4-BE49-F238E27FC236}">
                <a16:creationId xmlns:a16="http://schemas.microsoft.com/office/drawing/2014/main" id="{FCFC7819-A3CE-4144-948B-2D32E46C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41</a:t>
            </a:r>
          </a:p>
        </p:txBody>
      </p:sp>
    </p:spTree>
    <p:extLst>
      <p:ext uri="{BB962C8B-B14F-4D97-AF65-F5344CB8AC3E}">
        <p14:creationId xmlns:p14="http://schemas.microsoft.com/office/powerpoint/2010/main" val="9522022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BC597386-DB82-4A26-9F15-10C19573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2AED735C-3E4C-4F4D-A69B-552596F1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1914C-B1DA-4E9C-B173-DBDA2798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6EAAC-5DAD-4390-B6CD-A72D4B7F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7838D-408D-4E4F-9DA6-B1F5BA2E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49C14-B02D-49F1-B468-6D6A3072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all-reduce: average + share → consistent update on every GPU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81977-3ECE-4119-BA7E-C3F2BD9587D7}"/>
              </a:ext>
            </a:extLst>
          </p:cNvPr>
          <p:cNvCxnSpPr/>
          <p:nvPr/>
        </p:nvCxnSpPr>
        <p:spPr>
          <a:xfrm xmlns:a="http://schemas.openxmlformats.org/drawingml/2006/main">
            <a:off x="2095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DCDF0-9FC9-49FD-B997-153EA558FF82}"/>
              </a:ext>
            </a:extLst>
          </p:cNvPr>
          <p:cNvCxnSpPr/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3A9F9-4014-4BD1-A2CB-B632A2A4D0B7}"/>
              </a:ext>
            </a:extLst>
          </p:cNvPr>
          <p:cNvCxnSpPr/>
          <p:nvPr/>
        </p:nvCxnSpPr>
        <p:spPr>
          <a:xfrm xmlns:a="http://schemas.openxmlformats.org/drawingml/2006/main">
            <a:off x="10096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sp>
        <p:nvSpPr>
          <p:cNvPr id="10" name="Interconnect:&#10;latency and bandwidth">
            <a:extLst xmlns:a="http://schemas.openxmlformats.org/drawingml/2006/main">
              <a:ext uri="{FF2B5EF4-FFF2-40B4-BE49-F238E27FC236}">
                <a16:creationId xmlns:a16="http://schemas.microsoft.com/office/drawing/2014/main" id="{49AA10C4-C034-456B-8155-0CAB371B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latency and bandwidth</a:t>
            </a:r>
          </a:p>
        </p:txBody>
      </p:sp>
      <p:sp>
        <p:nvSpPr>
          <p:cNvPr id="11" name="Gradient synchronization&#10;before each update">
            <a:extLst xmlns:a="http://schemas.openxmlformats.org/drawingml/2006/main">
              <a:ext uri="{FF2B5EF4-FFF2-40B4-BE49-F238E27FC236}">
                <a16:creationId xmlns:a16="http://schemas.microsoft.com/office/drawing/2014/main" id="{7EB844EE-3D93-493D-B8F0-FD99281D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Gradient synchronization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before each update</a:t>
            </a:r>
          </a:p>
        </p:txBody>
      </p:sp>
      <p:sp>
        <p:nvSpPr>
          <p:cNvPr id="12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4B69F120-4B1D-48D9-9CBA-447302C5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3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5EB268F5-0126-450E-82F4-1BB4D294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CB565-1E2C-42F6-A324-FF9E369C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C486C8EB-D52B-4F98-B4CE-D8D8406A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60716-E241-4B50-8FF7-E7798648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EEF79D68-B076-4F59-B7AF-5E971E59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18" name="8 / 41">
            <a:extLst xmlns:a="http://schemas.openxmlformats.org/drawingml/2006/main">
              <a:ext uri="{FF2B5EF4-FFF2-40B4-BE49-F238E27FC236}">
                <a16:creationId xmlns:a16="http://schemas.microsoft.com/office/drawing/2014/main" id="{389290AC-3698-4854-BCFF-D844C662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41</a:t>
            </a:r>
          </a:p>
        </p:txBody>
      </p:sp>
    </p:spTree>
    <p:extLst>
      <p:ext uri="{BB962C8B-B14F-4D97-AF65-F5344CB8AC3E}">
        <p14:creationId xmlns:p14="http://schemas.microsoft.com/office/powerpoint/2010/main" val="21381772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CFAD1881-0AC8-4001-B4DE-5E28C3D2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3FA81767-89C0-4AE8-BEC1-D62B86ED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8191C9C2-4BFD-4030-A71A-5F3E1385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644CB035-8690-4EDF-BB89-F0F77C6F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EBB97FD-4DEC-4B04-9CAC-B87B66E7887B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fd175f2d8f49e3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6942284-195B-407F-B2CA-306764D38A3A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f7ad1c624b43d9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7D48E775-D7B4-4D0B-A9CA-F63B7AFF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3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1FEF8363-EF33-4A08-9363-936113A3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[13] emphasizes efficiency; water research [12]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7DE89-5DB8-46FF-A0D4-1484C3C4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4B033C93-50EE-48C9-8A58-F8FDD3F9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[12] Li et al. 2025 revision: water impacts; [13] Schwartz et al. 2019: efficiency reporting</a:t>
            </a:r>
          </a:p>
        </p:txBody>
      </p:sp>
      <p:sp>
        <p:nvSpPr>
          <p:cNvPr id="11" name="9 / 41">
            <a:extLst xmlns:a="http://schemas.openxmlformats.org/drawingml/2006/main">
              <a:ext uri="{FF2B5EF4-FFF2-40B4-BE49-F238E27FC236}">
                <a16:creationId xmlns:a16="http://schemas.microsoft.com/office/drawing/2014/main" id="{42E20325-66DB-4086-8F8B-D1FE35B1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41</a:t>
            </a:r>
          </a:p>
        </p:txBody>
      </p:sp>
    </p:spTree>
    <p:extLst>
      <p:ext uri="{BB962C8B-B14F-4D97-AF65-F5344CB8AC3E}">
        <p14:creationId xmlns:p14="http://schemas.microsoft.com/office/powerpoint/2010/main" val="10840125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6ABC9-9EDB-40B6-9438-55309FF82E57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FF015-B81C-435A-8D61-26F6E53366C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E5668615-C151-4733-B6E9-E781D843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6FFE2948-9212-4905-8722-F39CADE5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D78B00E1-D7AB-4BBB-BA2F-9FA8915F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4168C5EA-F7FC-44D3-96BD-4D41B709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80A21-1208-4E1E-B028-1F95C728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49FAD-0ED8-4435-89DA-EE2E4995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CA311-1BA0-430C-8517-5846EA07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A3D81-2F6E-45D8-AD56-120D2047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4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F857E169-52B0-409B-AF7F-8EE7A920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[14]: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5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3EB706A3-8059-461C-BCE0-6AE8BD45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[15]: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Apply these to cluster-trained models; scale alone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does not guarantee fairness.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7503BDCF-762F-47DB-AE9A-FE450B33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4C9A3-9A34-44C9-B32B-0E3D7DF3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0AC3A22A-5491-4674-9046-EADA5DF5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B9C75-C1DB-40C2-A4B5-75EACB76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4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9CD456A1-B311-49CA-98C0-0A9DD264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[15] Gallegos et al. 2024: fairness evaluation; [18] OECD: rights, fairness and accountability; [19]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10 / 41">
            <a:extLst xmlns:a="http://schemas.openxmlformats.org/drawingml/2006/main">
              <a:ext uri="{FF2B5EF4-FFF2-40B4-BE49-F238E27FC236}">
                <a16:creationId xmlns:a16="http://schemas.microsoft.com/office/drawing/2014/main" id="{94DF33AE-3AE2-4B1B-A23C-13558BEC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41</a:t>
            </a:r>
          </a:p>
        </p:txBody>
      </p:sp>
    </p:spTree>
    <p:extLst>
      <p:ext uri="{BB962C8B-B14F-4D97-AF65-F5344CB8AC3E}">
        <p14:creationId xmlns:p14="http://schemas.microsoft.com/office/powerpoint/2010/main" val="9412075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34317C8A-188E-44D5-A1A3-4B3CBFC7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713C7CA5-7463-49EE-9DBB-1C4652F2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3D98A-7951-46E9-85C7-84125C0AB799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[16]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A3191930-90E6-4C91-8B6C-05F14CFF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BAF09A0D-35C1-41A8-B952-1B884A74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CEEB981E-1B7A-4DB2-800C-F8BC255E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A0029-113E-4E78-8945-2AA65DE1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AA82A3A9-F447-4AC4-BFF3-2296A4D6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F9C60-C593-4A08-89FB-75CBE4B3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37431D27-7F28-4AAC-93C8-108CA9D1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</a:t>
            </a:r>
          </a:p>
        </p:txBody>
      </p:sp>
      <p:sp>
        <p:nvSpPr>
          <p:cNvPr id="11" name="11 / 41">
            <a:extLst xmlns:a="http://schemas.openxmlformats.org/drawingml/2006/main">
              <a:ext uri="{FF2B5EF4-FFF2-40B4-BE49-F238E27FC236}">
                <a16:creationId xmlns:a16="http://schemas.microsoft.com/office/drawing/2014/main" id="{661BB055-DB54-4F20-963A-28BDCCE2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41</a:t>
            </a:r>
          </a:p>
        </p:txBody>
      </p:sp>
    </p:spTree>
    <p:extLst>
      <p:ext uri="{BB962C8B-B14F-4D97-AF65-F5344CB8AC3E}">
        <p14:creationId xmlns:p14="http://schemas.microsoft.com/office/powerpoint/2010/main" val="3898856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915EF-030E-4389-A99D-878F0A2E29E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4A92D-A905-4C82-A488-816AD7DF350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99739056-B5C6-4FAD-9EAA-929A43E2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D0E764B2-16C3-4F6D-BD4F-4D89753F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6C0F9-8BB5-4D8D-8406-F45157F7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3DFFD-9AC9-4322-8EB2-B3E800A0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9EA25-3310-4943-9312-4C515452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3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F9919B74-514D-437B-BAD7-07E0F95B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[13] • Carbon-aware scheduling: flexible work [17]</a:t>
            </a:r>
          </a:p>
        </p:txBody>
      </p:sp>
      <p:sp>
        <p:nvSpPr>
          <p:cNvPr id="9" name="OECD: values and rights [18]  •  NIST: Govern, Map, Mea">
            <a:extLst xmlns:a="http://schemas.openxmlformats.org/drawingml/2006/main">
              <a:ext uri="{FF2B5EF4-FFF2-40B4-BE49-F238E27FC236}">
                <a16:creationId xmlns:a16="http://schemas.microsoft.com/office/drawing/2014/main" id="{986D15C9-3F14-4EDA-8265-5846C0D2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[18] • NIST: Govern, Map, Measure, Manage [19]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75FCDD45-8CB1-4EBD-8F25-9168E325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F40A454B-3130-4A97-9543-CA54913C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A2FDC-731A-4813-A4D5-8890EDD5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F6AB2254-70E9-48E1-A1D7-8C3D5A51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F6D75-69FA-4FDE-BEEF-F100C35B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C8209848-3BBD-4C1B-87A2-7D556C8C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12 / 41">
            <a:extLst xmlns:a="http://schemas.openxmlformats.org/drawingml/2006/main">
              <a:ext uri="{FF2B5EF4-FFF2-40B4-BE49-F238E27FC236}">
                <a16:creationId xmlns:a16="http://schemas.microsoft.com/office/drawing/2014/main" id="{8B682B98-13B3-48AD-B9D7-5DEA8EC7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41</a:t>
            </a:r>
          </a:p>
        </p:txBody>
      </p:sp>
    </p:spTree>
    <p:extLst>
      <p:ext uri="{BB962C8B-B14F-4D97-AF65-F5344CB8AC3E}">
        <p14:creationId xmlns:p14="http://schemas.microsoft.com/office/powerpoint/2010/main" val="10795455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E570703C-35A9-49AE-8395-86D8C790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Supporting detail and limitations">
            <a:extLst xmlns:a="http://schemas.openxmlformats.org/drawingml/2006/main">
              <a:ext uri="{FF2B5EF4-FFF2-40B4-BE49-F238E27FC236}">
                <a16:creationId xmlns:a16="http://schemas.microsoft.com/office/drawing/2014/main" id="{9D2EB5CC-7FEB-4F91-B2A8-1A16272D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Supporting detail and limitations</a:t>
            </a:r>
          </a:p>
        </p:txBody>
      </p:sp>
      <p:sp>
        <p:nvSpPr>
          <p:cNvPr id="3" name="Task 1: design evidence">
            <a:extLst xmlns:a="http://schemas.openxmlformats.org/drawingml/2006/main">
              <a:ext uri="{FF2B5EF4-FFF2-40B4-BE49-F238E27FC236}">
                <a16:creationId xmlns:a16="http://schemas.microsoft.com/office/drawing/2014/main" id="{28096A80-531E-405D-BDCB-E3393EEF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design evidence</a:t>
            </a:r>
          </a:p>
        </p:txBody>
      </p:sp>
      <p:sp>
        <p:nvSpPr>
          <p:cNvPr id="4" name="Rotation assumptions, a worked example and full CUDA te">
            <a:extLst xmlns:a="http://schemas.openxmlformats.org/drawingml/2006/main">
              <a:ext uri="{FF2B5EF4-FFF2-40B4-BE49-F238E27FC236}">
                <a16:creationId xmlns:a16="http://schemas.microsoft.com/office/drawing/2014/main" id="{524F4A0A-7AB7-4E70-91CD-46573EEA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assumptions, a worked example and full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excerpts are included on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following slides.</a:t>
            </a:r>
          </a:p>
        </p:txBody>
      </p:sp>
      <p:sp>
        <p:nvSpPr>
          <p:cNvPr id="5" name="Performance explanations use a stated CPU baseline and ">
            <a:extLst xmlns:a="http://schemas.openxmlformats.org/drawingml/2006/main">
              <a:ext uri="{FF2B5EF4-FFF2-40B4-BE49-F238E27FC236}">
                <a16:creationId xmlns:a16="http://schemas.microsoft.com/office/drawing/2014/main" id="{6903F219-F641-49C8-83DF-6BC0BC8C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explanations use a stated CPU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baseline and theoretical bounds. No measured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or compiled CUDA result is claimed.</a:t>
            </a:r>
          </a:p>
        </p:txBody>
      </p:sp>
      <p:sp>
        <p:nvSpPr>
          <p:cNvPr id="6" name="GDS is evaluated for the actual CPU-decoded pipeline an">
            <a:extLst xmlns:a="http://schemas.openxmlformats.org/drawingml/2006/main">
              <a:ext uri="{FF2B5EF4-FFF2-40B4-BE49-F238E27FC236}">
                <a16:creationId xmlns:a16="http://schemas.microsoft.com/office/drawing/2014/main" id="{74555503-85AD-41AC-86D8-63E1ED31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is evaluated for the actual CPU-decoded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pipeline and a conditional storage-bound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alternative.</a:t>
            </a:r>
          </a:p>
        </p:txBody>
      </p:sp>
      <p:sp>
        <p:nvSpPr>
          <p:cNvPr id="7" name="Task 2: research and decisions">
            <a:extLst xmlns:a="http://schemas.openxmlformats.org/drawingml/2006/main">
              <a:ext uri="{FF2B5EF4-FFF2-40B4-BE49-F238E27FC236}">
                <a16:creationId xmlns:a16="http://schemas.microsoft.com/office/drawing/2014/main" id="{CB55C0C4-BAC0-4168-94BC-E9368EF5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research and decisions</a:t>
            </a:r>
          </a:p>
        </p:txBody>
      </p:sp>
      <p:sp>
        <p:nvSpPr>
          <p:cNvPr id="8" name="Each required topic has evidence, a comparison, propose">
            <a:extLst xmlns:a="http://schemas.openxmlformats.org/drawingml/2006/main">
              <a:ext uri="{FF2B5EF4-FFF2-40B4-BE49-F238E27FC236}">
                <a16:creationId xmlns:a16="http://schemas.microsoft.com/office/drawing/2014/main" id="{54E10ECC-40D2-40F1-973E-FA4E21AA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 required topic has evidence, a comparison,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measures and limitations. A cluster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scenario is illustrative, not an observed experiment.</a:t>
            </a:r>
          </a:p>
        </p:txBody>
      </p:sp>
      <p:sp>
        <p:nvSpPr>
          <p:cNvPr id="9" name="Sector electricity data do not establish a particular t">
            <a:extLst xmlns:a="http://schemas.openxmlformats.org/drawingml/2006/main">
              <a:ext uri="{FF2B5EF4-FFF2-40B4-BE49-F238E27FC236}">
                <a16:creationId xmlns:a16="http://schemas.microsoft.com/office/drawing/2014/main" id="{008BC99C-52B7-4E4B-A5A8-17720FBB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Sector electricity data do not establish a particular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 job’s footprint. Historical research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distinguished from current programme reach.</a:t>
            </a:r>
          </a:p>
        </p:txBody>
      </p:sp>
      <p:sp>
        <p:nvSpPr>
          <p:cNvPr id="10" name="References and a brief AI use declaration are part of t">
            <a:extLst xmlns:a="http://schemas.openxmlformats.org/drawingml/2006/main">
              <a:ext uri="{FF2B5EF4-FFF2-40B4-BE49-F238E27FC236}">
                <a16:creationId xmlns:a16="http://schemas.microsoft.com/office/drawing/2014/main" id="{1FFF4040-CF83-4057-9FE7-9B3FB723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 and a brief AI use declaration are part of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this presentation. There is no separate report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dependency.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4757F-6A6E-4A9D-927B-BC282187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A4C81-7A98-408C-9FFC-D82F57C2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3076932-F7AC-4560-B7CB-89A37B52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13 / 41">
            <a:extLst xmlns:a="http://schemas.openxmlformats.org/drawingml/2006/main">
              <a:ext uri="{FF2B5EF4-FFF2-40B4-BE49-F238E27FC236}">
                <a16:creationId xmlns:a16="http://schemas.microsoft.com/office/drawing/2014/main" id="{A2EC6DB6-3793-4796-BBFC-68B5DE07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41</a:t>
            </a:r>
          </a:p>
        </p:txBody>
      </p:sp>
    </p:spTree>
    <p:extLst>
      <p:ext uri="{BB962C8B-B14F-4D97-AF65-F5344CB8AC3E}">
        <p14:creationId xmlns:p14="http://schemas.microsoft.com/office/powerpoint/2010/main" val="926145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">
            <a:extLst xmlns:a="http://schemas.openxmlformats.org/drawingml/2006/main">
              <a:ext uri="{FF2B5EF4-FFF2-40B4-BE49-F238E27FC236}">
                <a16:creationId xmlns:a16="http://schemas.microsoft.com/office/drawing/2014/main" id="{D1C16DD7-2BF0-47E9-967A-EA58796E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</a:t>
            </a:r>
          </a:p>
        </p:txBody>
      </p:sp>
      <p:sp>
        <p:nvSpPr>
          <p:cNvPr id="2" name="Rotation coordinates and sampling">
            <a:extLst xmlns:a="http://schemas.openxmlformats.org/drawingml/2006/main">
              <a:ext uri="{FF2B5EF4-FFF2-40B4-BE49-F238E27FC236}">
                <a16:creationId xmlns:a16="http://schemas.microsoft.com/office/drawing/2014/main" id="{EB6885EB-B6D7-4618-87B7-37BAB1DA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coordinates and sampling</a:t>
            </a:r>
          </a:p>
        </p:txBody>
      </p:sp>
      <p:sp>
        <p:nvSpPr>
          <p:cNvPr id="3" name="Coordinate convention">
            <a:extLst xmlns:a="http://schemas.openxmlformats.org/drawingml/2006/main">
              <a:ext uri="{FF2B5EF4-FFF2-40B4-BE49-F238E27FC236}">
                <a16:creationId xmlns:a16="http://schemas.microsoft.com/office/drawing/2014/main" id="{E0E68673-16AE-4C6D-A948-9C5D7469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Coordinate convention</a:t>
            </a:r>
          </a:p>
        </p:txBody>
      </p:sp>
      <p:sp>
        <p:nvSpPr>
          <p:cNvPr id="4" name="Input/output: contiguous 8-bit RGB; positive width W an">
            <a:extLst xmlns:a="http://schemas.openxmlformats.org/drawingml/2006/main">
              <a:ext uri="{FF2B5EF4-FFF2-40B4-BE49-F238E27FC236}">
                <a16:creationId xmlns:a16="http://schemas.microsoft.com/office/drawing/2014/main" id="{6826288B-DA43-4F10-8EDF-7FABEA59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Input/output: contiguous 8-bit RGB; positive width 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height H; x points right and y points down. Input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output buffers are distinct.</a:t>
            </a:r>
          </a:p>
        </p:txBody>
      </p:sp>
      <p:sp>
        <p:nvSpPr>
          <p:cNvPr id="5" name="Rotate around cx = (W − 1)/2 and cy = (H − 1)/2. Positi">
            <a:extLst xmlns:a="http://schemas.openxmlformats.org/drawingml/2006/main">
              <a:ext uri="{FF2B5EF4-FFF2-40B4-BE49-F238E27FC236}">
                <a16:creationId xmlns:a16="http://schemas.microsoft.com/office/drawing/2014/main" id="{217BEC1D-84D2-416F-BF80-AFA4838C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Rotate around cx = (W − 1)/2 and cy = (H − 1)/2.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is visually counterclockwise; the host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supplies c = cos θ and s = sin θ in radians.</a:t>
            </a:r>
          </a:p>
        </p:txBody>
      </p:sp>
      <p:sp>
        <p:nvSpPr>
          <p:cNvPr id="6" name="Forward image-coordinate rotation uses [c s; −s c]. Inv">
            <a:extLst xmlns:a="http://schemas.openxmlformats.org/drawingml/2006/main">
              <a:ext uri="{FF2B5EF4-FFF2-40B4-BE49-F238E27FC236}">
                <a16:creationId xmlns:a16="http://schemas.microsoft.com/office/drawing/2014/main" id="{D0D2F976-6C81-4C3C-AEDA-20A99F8C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image-coordinate rotation uses [c s; −s c].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Inverting it gives source offsets [c −s; s c] ×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offsets, then restores the center.</a:t>
            </a:r>
          </a:p>
        </p:txBody>
      </p:sp>
      <p:sp>
        <p:nvSpPr>
          <p:cNvPr id="7" name="Deliberate design choices">
            <a:extLst xmlns:a="http://schemas.openxmlformats.org/drawingml/2006/main">
              <a:ext uri="{FF2B5EF4-FFF2-40B4-BE49-F238E27FC236}">
                <a16:creationId xmlns:a16="http://schemas.microsoft.com/office/drawing/2014/main" id="{016FDFEC-C8D6-40F5-A7C3-5A872560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Deliberate design choices</a:t>
            </a:r>
          </a:p>
        </p:txBody>
      </p:sp>
      <p:sp>
        <p:nvSpPr>
          <p:cNvPr id="8" name="Nearest-neighbour indices: ix = floor(sx + 0.5), iy = f">
            <a:extLst xmlns:a="http://schemas.openxmlformats.org/drawingml/2006/main">
              <a:ext uri="{FF2B5EF4-FFF2-40B4-BE49-F238E27FC236}">
                <a16:creationId xmlns:a16="http://schemas.microsoft.com/office/drawing/2014/main" id="{17EB07D2-5D3A-49E6-93C0-4BF7963F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indices: ix = floor(sx + 0.5), iy =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floor(sy + 0.5). Copy three channels if the rounded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indices are in bounds; otherwise write black.</a:t>
            </a:r>
          </a:p>
        </p:txBody>
      </p:sp>
      <p:sp>
        <p:nvSpPr>
          <p:cNvPr id="9" name="The fixed W × H canvas can crop rotated corners. Neares">
            <a:extLst xmlns:a="http://schemas.openxmlformats.org/drawingml/2006/main">
              <a:ext uri="{FF2B5EF4-FFF2-40B4-BE49-F238E27FC236}">
                <a16:creationId xmlns:a16="http://schemas.microsoft.com/office/drawing/2014/main" id="{7A7CE7F4-6A99-4EAA-A18A-24F9D8AA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fixed W × H canvas can crop rotated corners.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sampling can alias; bilinear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interpolation improves smoothness but adds 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reads/arithmetic.</a:t>
            </a:r>
          </a:p>
        </p:txBody>
      </p:sp>
      <p:sp>
        <p:nvSpPr>
          <p:cNvPr id="10" name="Forward scatter can leave holes or competing writes aft">
            <a:extLst xmlns:a="http://schemas.openxmlformats.org/drawingml/2006/main">
              <a:ext uri="{FF2B5EF4-FFF2-40B4-BE49-F238E27FC236}">
                <a16:creationId xmlns:a16="http://schemas.microsoft.com/office/drawing/2014/main" id="{F86951FB-83DA-4A76-9139-DC219FFE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scatter can leave holes or competing writes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after rounding. Inverse gathering assigns every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exactly one writer. NPP offers library rotation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 explicit interpolation/ROI choices.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31780-E3B5-48C2-B3E7-0CF56309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EB651-5F4B-4959-A253-7CD049C2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] Topic 8: GPU architecture and CUDA; [20] N">
            <a:extLst xmlns:a="http://schemas.openxmlformats.org/drawingml/2006/main">
              <a:ext uri="{FF2B5EF4-FFF2-40B4-BE49-F238E27FC236}">
                <a16:creationId xmlns:a16="http://schemas.microsoft.com/office/drawing/2014/main" id="{3E1CA50B-14DF-4239-8E04-170515EE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[20] NVIDIA NPP: library alternative</a:t>
            </a:r>
          </a:p>
        </p:txBody>
      </p:sp>
      <p:sp>
        <p:nvSpPr>
          <p:cNvPr id="14" name="14 / 41">
            <a:extLst xmlns:a="http://schemas.openxmlformats.org/drawingml/2006/main">
              <a:ext uri="{FF2B5EF4-FFF2-40B4-BE49-F238E27FC236}">
                <a16:creationId xmlns:a16="http://schemas.microsoft.com/office/drawing/2014/main" id="{8168B468-175F-4E94-B08B-459D8BA9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41</a:t>
            </a:r>
          </a:p>
        </p:txBody>
      </p:sp>
    </p:spTree>
    <p:extLst>
      <p:ext uri="{BB962C8B-B14F-4D97-AF65-F5344CB8AC3E}">
        <p14:creationId xmlns:p14="http://schemas.microsoft.com/office/powerpoint/2010/main" val="6929696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ppendix A2">
            <a:extLst xmlns:a="http://schemas.openxmlformats.org/drawingml/2006/main">
              <a:ext uri="{FF2B5EF4-FFF2-40B4-BE49-F238E27FC236}">
                <a16:creationId xmlns:a16="http://schemas.microsoft.com/office/drawing/2014/main" id="{365FA150-0549-4B5F-8E4A-B870727D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A2</a:t>
            </a:r>
          </a:p>
        </p:txBody>
      </p:sp>
      <p:sp>
        <p:nvSpPr>
          <p:cNvPr id="2" name="A 90-degree rotation example">
            <a:extLst xmlns:a="http://schemas.openxmlformats.org/drawingml/2006/main">
              <a:ext uri="{FF2B5EF4-FFF2-40B4-BE49-F238E27FC236}">
                <a16:creationId xmlns:a16="http://schemas.microsoft.com/office/drawing/2014/main" id="{60382E88-62A7-47ED-B16A-F78D816F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90-degree rotation example</a:t>
            </a:r>
          </a:p>
        </p:txBody>
      </p:sp>
      <p:sp>
        <p:nvSpPr>
          <p:cNvPr id="3" name="Input">
            <a:extLst xmlns:a="http://schemas.openxmlformats.org/drawingml/2006/main">
              <a:ext uri="{FF2B5EF4-FFF2-40B4-BE49-F238E27FC236}">
                <a16:creationId xmlns:a16="http://schemas.microsoft.com/office/drawing/2014/main" id="{2BA06B0A-46A8-4A26-9079-6C7F7A59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730C9-A11D-4676-94C8-30CDBD36A5BC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utput: 90° counterclockwise">
            <a:extLst xmlns:a="http://schemas.openxmlformats.org/drawingml/2006/main">
              <a:ext uri="{FF2B5EF4-FFF2-40B4-BE49-F238E27FC236}">
                <a16:creationId xmlns:a16="http://schemas.microsoft.com/office/drawing/2014/main" id="{A350C242-8025-493D-BD84-D70E1E7F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Output: 90° counterclockwise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F1B85-BEAC-4DDD-A61B-FBA1F7F8F795}"/>
              </a:ext>
            </a:extLst>
          </p:cNvPr>
          <p:cNvGraphicFramePr/>
          <p:nvPr/>
        </p:nvGraphicFramePr>
        <p:xfrm>
          <a:off xmlns:a="http://schemas.openxmlformats.org/drawingml/2006/main" x="756285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θ = 90°&#10;c = 0, s = 1&#10;center = (2,2)">
            <a:extLst xmlns:a="http://schemas.openxmlformats.org/drawingml/2006/main">
              <a:ext uri="{FF2B5EF4-FFF2-40B4-BE49-F238E27FC236}">
                <a16:creationId xmlns:a16="http://schemas.microsoft.com/office/drawing/2014/main" id="{80944F64-ACD9-4327-838F-65563090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2057400" cy="959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θ = 90°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0, s = 1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center = (2,2)</a:t>
            </a:r>
          </a:p>
        </p:txBody>
      </p:sp>
      <p:sp>
        <p:nvSpPr>
          <p:cNvPr id="8" name="Output (0,1) → source (3,0) → value 3">
            <a:extLst xmlns:a="http://schemas.openxmlformats.org/drawingml/2006/main">
              <a:ext uri="{FF2B5EF4-FFF2-40B4-BE49-F238E27FC236}">
                <a16:creationId xmlns:a16="http://schemas.microsoft.com/office/drawing/2014/main" id="{5F048373-4BFF-4C84-B7E0-0843C375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(0,1) → source (3,0) → value 3</a:t>
            </a:r>
          </a:p>
        </p:txBody>
      </p:sp>
      <p:sp>
        <p:nvSpPr>
          <p:cNvPr id="9" name="The matrix values are illustrative pixel identifiers, n">
            <a:extLst xmlns:a="http://schemas.openxmlformats.org/drawingml/2006/main">
              <a:ext uri="{FF2B5EF4-FFF2-40B4-BE49-F238E27FC236}">
                <a16:creationId xmlns:a16="http://schemas.microsoft.com/office/drawing/2014/main" id="{FADC2B46-D7E2-4719-B0F6-C96CD686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 matrix values are illustrative pixel identifiers, not channel intensities.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E28AC-F29A-4BEA-BCA1-164EE591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1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0CF01E71-C3E7-4A23-848B-415002C2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2" name="15 / 41">
            <a:extLst xmlns:a="http://schemas.openxmlformats.org/drawingml/2006/main">
              <a:ext uri="{FF2B5EF4-FFF2-40B4-BE49-F238E27FC236}">
                <a16:creationId xmlns:a16="http://schemas.microsoft.com/office/drawing/2014/main" id="{FC5DA3F1-A196-41E3-94FE-FF0DE261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41</a:t>
            </a:r>
          </a:p>
        </p:txBody>
      </p:sp>
    </p:spTree>
    <p:extLst>
      <p:ext uri="{BB962C8B-B14F-4D97-AF65-F5344CB8AC3E}">
        <p14:creationId xmlns:p14="http://schemas.microsoft.com/office/powerpoint/2010/main" val="14499038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3">
            <a:extLst xmlns:a="http://schemas.openxmlformats.org/drawingml/2006/main">
              <a:ext uri="{FF2B5EF4-FFF2-40B4-BE49-F238E27FC236}">
                <a16:creationId xmlns:a16="http://schemas.microsoft.com/office/drawing/2014/main" id="{FB3851C1-0FA7-4CAF-BDF0-76BECC20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A3</a:t>
            </a:r>
          </a:p>
        </p:txBody>
      </p:sp>
      <p:sp>
        <p:nvSpPr>
          <p:cNvPr id="2" name="Crafted CUDA example: RGB brightness">
            <a:extLst xmlns:a="http://schemas.openxmlformats.org/drawingml/2006/main">
              <a:ext uri="{FF2B5EF4-FFF2-40B4-BE49-F238E27FC236}">
                <a16:creationId xmlns:a16="http://schemas.microsoft.com/office/drawing/2014/main" id="{71200BDC-D91C-41AA-AB4B-F6757C1D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RGB brightness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4A546-C9E3-445D-A3FE-F9E0D558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brightness_rgb(const unsigned char* inp">
            <a:extLst xmlns:a="http://schemas.openxmlformats.org/drawingml/2006/main">
              <a:ext uri="{FF2B5EF4-FFF2-40B4-BE49-F238E27FC236}">
                <a16:creationId xmlns:a16="http://schemas.microsoft.com/office/drawing/2014/main" id="{5B4A1560-66DF-4B79-90C4-503C5019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brightness_rgb(const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brightness)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offset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(size_t(y) * size_t(width) + size_t(x))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int value = int(input[offset + channel]) + brightness;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output[offset + channel]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value &lt; 0 ? 0 : (value &gt; 255 ? 255 : value);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Same operation on independent pixels: a data-parallel k">
            <a:extLst xmlns:a="http://schemas.openxmlformats.org/drawingml/2006/main">
              <a:ext uri="{FF2B5EF4-FFF2-40B4-BE49-F238E27FC236}">
                <a16:creationId xmlns:a16="http://schemas.microsoft.com/office/drawing/2014/main" id="{7CE425B4-3597-4670-9967-59D003EB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operation 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pixels: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data-parallel kernel.</a:t>
            </a:r>
          </a:p>
        </p:txBody>
      </p:sp>
      <p:sp>
        <p:nvSpPr>
          <p:cNvPr id="6" name="Assume brightness in [−255,255]. Integer addition avoid">
            <a:extLst xmlns:a="http://schemas.openxmlformats.org/drawingml/2006/main">
              <a:ext uri="{FF2B5EF4-FFF2-40B4-BE49-F238E27FC236}">
                <a16:creationId xmlns:a16="http://schemas.microsoft.com/office/drawing/2014/main" id="{6E5F0C06-8D06-425C-905D-525E827F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Assume brightness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[−255,255]. Integer addition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avoids uint8 wrap; clamp each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 to [0,255].</a:t>
            </a:r>
          </a:p>
        </p:txBody>
      </p:sp>
      <p:sp>
        <p:nvSpPr>
          <p:cNvPr id="7" name="Adjacent threads touch adjacent pixel locations, provid">
            <a:extLst xmlns:a="http://schemas.openxmlformats.org/drawingml/2006/main">
              <a:ext uri="{FF2B5EF4-FFF2-40B4-BE49-F238E27FC236}">
                <a16:creationId xmlns:a16="http://schemas.microsoft.com/office/drawing/2014/main" id="{103FA295-0BFD-442B-B9F7-DF7A9392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2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threads touch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pixel locations,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providing useful locality.</a:t>
            </a:r>
          </a:p>
        </p:txBody>
      </p:sp>
      <p:sp>
        <p:nvSpPr>
          <p:cNvPr id="8" name="Illustrative CUDA C++; uncompiled and unbenchmarked.">
            <a:extLst xmlns:a="http://schemas.openxmlformats.org/drawingml/2006/main">
              <a:ext uri="{FF2B5EF4-FFF2-40B4-BE49-F238E27FC236}">
                <a16:creationId xmlns:a16="http://schemas.microsoft.com/office/drawing/2014/main" id="{564DB927-7352-4FF0-89BD-0B4015F5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6537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CUDA C++;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uncompiled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unbenchmarked.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FE019-B47C-4E10-8051-11E48A71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518F46AA-F433-452F-93BC-47137BF8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1" name="16 / 41">
            <a:extLst xmlns:a="http://schemas.openxmlformats.org/drawingml/2006/main">
              <a:ext uri="{FF2B5EF4-FFF2-40B4-BE49-F238E27FC236}">
                <a16:creationId xmlns:a16="http://schemas.microsoft.com/office/drawing/2014/main" id="{CE13932D-4C56-4EA2-A2D2-DA30A1BB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41</a:t>
            </a:r>
          </a:p>
        </p:txBody>
      </p:sp>
    </p:spTree>
    <p:extLst>
      <p:ext uri="{BB962C8B-B14F-4D97-AF65-F5344CB8AC3E}">
        <p14:creationId xmlns:p14="http://schemas.microsoft.com/office/powerpoint/2010/main" val="6472493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4">
            <a:extLst xmlns:a="http://schemas.openxmlformats.org/drawingml/2006/main">
              <a:ext uri="{FF2B5EF4-FFF2-40B4-BE49-F238E27FC236}">
                <a16:creationId xmlns:a16="http://schemas.microsoft.com/office/drawing/2014/main" id="{2C4E63D8-2CB6-4A75-9645-A8BA875F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A4</a:t>
            </a:r>
          </a:p>
        </p:txBody>
      </p:sp>
      <p:sp>
        <p:nvSpPr>
          <p:cNvPr id="2" name="Crafted CUDA example: inverse mapping">
            <a:extLst xmlns:a="http://schemas.openxmlformats.org/drawingml/2006/main">
              <a:ext uri="{FF2B5EF4-FFF2-40B4-BE49-F238E27FC236}">
                <a16:creationId xmlns:a16="http://schemas.microsoft.com/office/drawing/2014/main" id="{D41E38AB-97B4-404F-8998-3720B54E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inverse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79305-6AC2-4AE6-B06F-813E574F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rotate_rgb(const unsigned char* input,&#10;">
            <a:extLst xmlns:a="http://schemas.openxmlformats.org/drawingml/2006/main">
              <a:ext uri="{FF2B5EF4-FFF2-40B4-BE49-F238E27FC236}">
                <a16:creationId xmlns:a16="http://schemas.microsoft.com/office/drawing/2014/main" id="{2481045F-783A-4BEA-8FF5-D69CA6D6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rotate_rgb(const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c,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cx = (width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cy = (height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sx = c * (x - cx) - s * (y - cy) + cx;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sy = s * (x - cx) + c * (y - cy) + cy;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ix = int(floorf(sx + 0.5f));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iy = int(floorf(sy + 0.5f));</a:t>
            </a:r>
          </a:p>
        </p:txBody>
      </p:sp>
      <p:sp>
        <p:nvSpPr>
          <p:cNvPr id="5" name="Global coordinates come from block/thread indices.">
            <a:extLst xmlns:a="http://schemas.openxmlformats.org/drawingml/2006/main">
              <a:ext uri="{FF2B5EF4-FFF2-40B4-BE49-F238E27FC236}">
                <a16:creationId xmlns:a16="http://schemas.microsoft.com/office/drawing/2014/main" id="{DDC6E414-9A0F-4A45-9075-65B2175A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coordinates come from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block/thread indices.</a:t>
            </a:r>
          </a:p>
        </p:txBody>
      </p:sp>
      <p:sp>
        <p:nvSpPr>
          <p:cNvPr id="6" name="The guard handles partial edge blocks before any memory">
            <a:extLst xmlns:a="http://schemas.openxmlformats.org/drawingml/2006/main">
              <a:ext uri="{FF2B5EF4-FFF2-40B4-BE49-F238E27FC236}">
                <a16:creationId xmlns:a16="http://schemas.microsoft.com/office/drawing/2014/main" id="{3AFA1501-BA23-42B7-8508-8C46671A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guard handles partial edge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blocks before any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access.</a:t>
            </a:r>
          </a:p>
        </p:txBody>
      </p:sp>
      <p:sp>
        <p:nvSpPr>
          <p:cNvPr id="7" name="The host computes sine/cosine once per angle.">
            <a:extLst xmlns:a="http://schemas.openxmlformats.org/drawingml/2006/main">
              <a:ext uri="{FF2B5EF4-FFF2-40B4-BE49-F238E27FC236}">
                <a16:creationId xmlns:a16="http://schemas.microsoft.com/office/drawing/2014/main" id="{5733B129-369C-42E0-BF33-4DCC2001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host computes sine/cosine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per angle.</a:t>
            </a:r>
          </a:p>
        </p:txBody>
      </p:sp>
      <p:sp>
        <p:nvSpPr>
          <p:cNvPr id="8" name="Nearest-neighbour mapping uses the documented y-down co">
            <a:extLst xmlns:a="http://schemas.openxmlformats.org/drawingml/2006/main">
              <a:ext uri="{FF2B5EF4-FFF2-40B4-BE49-F238E27FC236}">
                <a16:creationId xmlns:a16="http://schemas.microsoft.com/office/drawing/2014/main" id="{5583F920-5450-4B78-9B69-B48C37AB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858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mapping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uses the documented y-down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BAF84-2C16-48E4-8A13-CBC6F2E0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536E7F0A-B151-425E-B519-0D92C0C2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1" name="17 / 41">
            <a:extLst xmlns:a="http://schemas.openxmlformats.org/drawingml/2006/main">
              <a:ext uri="{FF2B5EF4-FFF2-40B4-BE49-F238E27FC236}">
                <a16:creationId xmlns:a16="http://schemas.microsoft.com/office/drawing/2014/main" id="{1F2E14BF-EE3D-4866-BF88-9E6314D5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41</a:t>
            </a:r>
          </a:p>
        </p:txBody>
      </p:sp>
    </p:spTree>
    <p:extLst>
      <p:ext uri="{BB962C8B-B14F-4D97-AF65-F5344CB8AC3E}">
        <p14:creationId xmlns:p14="http://schemas.microsoft.com/office/powerpoint/2010/main" val="10638354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5">
            <a:extLst xmlns:a="http://schemas.openxmlformats.org/drawingml/2006/main">
              <a:ext uri="{FF2B5EF4-FFF2-40B4-BE49-F238E27FC236}">
                <a16:creationId xmlns:a16="http://schemas.microsoft.com/office/drawing/2014/main" id="{A8CC4450-0AB4-4D7C-B3D1-FB89FD1C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A5</a:t>
            </a:r>
          </a:p>
        </p:txBody>
      </p:sp>
      <p:sp>
        <p:nvSpPr>
          <p:cNvPr id="2" name="Crafted CUDA example: safe output writes">
            <a:extLst xmlns:a="http://schemas.openxmlformats.org/drawingml/2006/main">
              <a:ext uri="{FF2B5EF4-FFF2-40B4-BE49-F238E27FC236}">
                <a16:creationId xmlns:a16="http://schemas.microsoft.com/office/drawing/2014/main" id="{374CA7B2-4957-47B2-9B85-DC7245B9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safe output writes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A87FA-99E7-4660-A761-4970BA7E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    const size_t destination =&#10;        (size_t(y) * siz">
            <a:extLst xmlns:a="http://schemas.openxmlformats.org/drawingml/2006/main">
              <a:ext uri="{FF2B5EF4-FFF2-40B4-BE49-F238E27FC236}">
                <a16:creationId xmlns:a16="http://schemas.microsoft.com/office/drawing/2014/main" id="{B5E9B38B-402F-4853-B3DB-E9935D75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destination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(size_t(y) * size_t(width) + size_t(x)) * 3;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(ix &gt;= 0 &amp;&amp; ix &lt; width &amp;&amp; iy &gt;= 0 &amp;&amp; iy &lt;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size_t source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(size_t(iy) * size_t(width) + size_t(ix))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input[source + channel];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0;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GB address = 3 × (row × width + column).">
            <a:extLst xmlns:a="http://schemas.openxmlformats.org/drawingml/2006/main">
              <a:ext uri="{FF2B5EF4-FFF2-40B4-BE49-F238E27FC236}">
                <a16:creationId xmlns:a16="http://schemas.microsoft.com/office/drawing/2014/main" id="{FB37AB50-8660-41BE-A31F-B0613597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RGB address = 3 × (row ×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width + column).</a:t>
            </a:r>
          </a:p>
        </p:txBody>
      </p:sp>
      <p:sp>
        <p:nvSpPr>
          <p:cNvPr id="6" name="Every valid output gets three channels, including black">
            <a:extLst xmlns:a="http://schemas.openxmlformats.org/drawingml/2006/main">
              <a:ext uri="{FF2B5EF4-FFF2-40B4-BE49-F238E27FC236}">
                <a16:creationId xmlns:a16="http://schemas.microsoft.com/office/drawing/2014/main" id="{5821CAA2-C4EB-4302-80B4-830DD6CE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Every valid output gets three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channels, including black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borders.</a:t>
            </a:r>
          </a:p>
        </p:txBody>
      </p:sp>
      <p:sp>
        <p:nvSpPr>
          <p:cNvPr id="7" name="No atomics, mutex or block barrier is needed: writers h">
            <a:extLst xmlns:a="http://schemas.openxmlformats.org/drawingml/2006/main">
              <a:ext uri="{FF2B5EF4-FFF2-40B4-BE49-F238E27FC236}">
                <a16:creationId xmlns:a16="http://schemas.microsoft.com/office/drawing/2014/main" id="{C8D28C06-027E-4DF1-AAE2-B83AC318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atomics, mutex or block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barrier is needed: writers have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disjoint destinations.</a:t>
            </a:r>
          </a:p>
        </p:txBody>
      </p:sp>
      <p:sp>
        <p:nvSpPr>
          <p:cNvPr id="8" name="Total work Θ(W × H); input/output storage Θ(W × H) each">
            <a:extLst xmlns:a="http://schemas.openxmlformats.org/drawingml/2006/main">
              <a:ext uri="{FF2B5EF4-FFF2-40B4-BE49-F238E27FC236}">
                <a16:creationId xmlns:a16="http://schemas.microsoft.com/office/drawing/2014/main" id="{B3919929-6DEF-4EE1-8201-FDB994B6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568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work Θ(W × H);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 storage Θ(W × H)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F7990-1793-4569-A220-CAB61C8A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39C6BE05-9399-4F66-9B92-E2710A78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[22] Topic 9B: mutual exclusion and allocation</a:t>
            </a:r>
          </a:p>
        </p:txBody>
      </p:sp>
      <p:sp>
        <p:nvSpPr>
          <p:cNvPr id="11" name="18 / 41">
            <a:extLst xmlns:a="http://schemas.openxmlformats.org/drawingml/2006/main">
              <a:ext uri="{FF2B5EF4-FFF2-40B4-BE49-F238E27FC236}">
                <a16:creationId xmlns:a16="http://schemas.microsoft.com/office/drawing/2014/main" id="{D883F915-DAE1-41A3-A237-5F96BFA6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41</a:t>
            </a:r>
          </a:p>
        </p:txBody>
      </p:sp>
    </p:spTree>
    <p:extLst>
      <p:ext uri="{BB962C8B-B14F-4D97-AF65-F5344CB8AC3E}">
        <p14:creationId xmlns:p14="http://schemas.microsoft.com/office/powerpoint/2010/main" val="10122855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6">
            <a:extLst xmlns:a="http://schemas.openxmlformats.org/drawingml/2006/main">
              <a:ext uri="{FF2B5EF4-FFF2-40B4-BE49-F238E27FC236}">
                <a16:creationId xmlns:a16="http://schemas.microsoft.com/office/drawing/2014/main" id="{C003263D-45BB-47D5-B396-55371559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A6</a:t>
            </a:r>
          </a:p>
        </p:txBody>
      </p:sp>
      <p:sp>
        <p:nvSpPr>
          <p:cNvPr id="2" name="Host orchestration and completion">
            <a:extLst xmlns:a="http://schemas.openxmlformats.org/drawingml/2006/main">
              <a:ext uri="{FF2B5EF4-FFF2-40B4-BE49-F238E27FC236}">
                <a16:creationId xmlns:a16="http://schemas.microsoft.com/office/drawing/2014/main" id="{A12601DB-4F2D-4ED1-8C4D-C6E76DE4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orchestration and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637D4-1913-4AD7-92B8-49F212A3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64198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 16);&#10;dim3 grid(1u + (unsigned(W)-1u)/blo">
            <a:extLst xmlns:a="http://schemas.openxmlformats.org/drawingml/2006/main">
              <a:ext uri="{FF2B5EF4-FFF2-40B4-BE49-F238E27FC236}">
                <a16:creationId xmlns:a16="http://schemas.microsoft.com/office/drawing/2014/main" id="{3E6EA68E-CD60-4501-B014-935D4568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 16);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grid(1u + (unsigned(W)-1u)/block.x,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1u + (unsigned(H)-1u)/block.y);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cudaMemcpy(d_in, h_in,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cudaMemcpyHostToDevice);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 block&gt;&gt;&gt;(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d_in, d_out, W, H,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cudaMemcpy(h_out, d_out,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cudaMemcpyDeviceToHost);</a:t>
            </a:r>
          </a:p>
        </p:txBody>
      </p:sp>
      <p:sp>
        <p:nvSpPr>
          <p:cNvPr id="5" name="Illustrative excerpt, not a complete program: W/H &gt; 0; ">
            <a:extLst xmlns:a="http://schemas.openxmlformats.org/drawingml/2006/main">
              <a:ext uri="{FF2B5EF4-FFF2-40B4-BE49-F238E27FC236}">
                <a16:creationId xmlns:a16="http://schemas.microsoft.com/office/drawing/2014/main" id="{CC869C58-D155-48CE-A209-27E231A1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191250" cy="782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excerpt, not a complete program: W/H &gt; 0; bytes = 3 × W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× H checked in size_t; valid separate buffers; grid/device limits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validated.</a:t>
            </a:r>
          </a:p>
        </p:txBody>
      </p:sp>
      <p:sp>
        <p:nvSpPr>
          <p:cNvPr id="6" name="CPU loads/decodes, allocates host/device buffers, check">
            <a:extLst xmlns:a="http://schemas.openxmlformats.org/drawingml/2006/main">
              <a:ext uri="{FF2B5EF4-FFF2-40B4-BE49-F238E27FC236}">
                <a16:creationId xmlns:a16="http://schemas.microsoft.com/office/drawing/2014/main" id="{01B38A7B-BB82-49CF-AA37-6912A784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81150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loads/decodes, allocates host/device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buffers, checks every API/launch/completion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result, saves output and frees resources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safely.</a:t>
            </a:r>
          </a:p>
        </p:txBody>
      </p:sp>
      <p:sp>
        <p:nvSpPr>
          <p:cNvPr id="7" name="For this ordered synchronous-copy example, D2H supplies">
            <a:extLst xmlns:a="http://schemas.openxmlformats.org/drawingml/2006/main">
              <a:ext uri="{FF2B5EF4-FFF2-40B4-BE49-F238E27FC236}">
                <a16:creationId xmlns:a16="http://schemas.microsoft.com/office/drawing/2014/main" id="{BCDC8179-4B96-4DAE-AD5D-6163DFC5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30068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this ordered synchronous-copy example,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 supplies completed host data. A launch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asynchronous; launch-error checks alone do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establish successful completion.</a:t>
            </a:r>
          </a:p>
        </p:txBody>
      </p:sp>
      <p:sp>
        <p:nvSpPr>
          <p:cNvPr id="8" name="Pinned host storage is page-locked and supports efficie">
            <a:extLst xmlns:a="http://schemas.openxmlformats.org/drawingml/2006/main">
              <a:ext uri="{FF2B5EF4-FFF2-40B4-BE49-F238E27FC236}">
                <a16:creationId xmlns:a16="http://schemas.microsoft.com/office/drawing/2014/main" id="{A96A62CA-5216-4525-A5E2-CD43C9F8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78986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storage is page-locked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supports efficient DMA. Pageable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need runtime staging. Avoid excessive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F2EEE-B1AC-497B-81E2-31C324D2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3] To">
            <a:extLst xmlns:a="http://schemas.openxmlformats.org/drawingml/2006/main">
              <a:ext uri="{FF2B5EF4-FFF2-40B4-BE49-F238E27FC236}">
                <a16:creationId xmlns:a16="http://schemas.microsoft.com/office/drawing/2014/main" id="{8C7A66DE-AF41-4F59-86C8-C1E99D46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[3] Topic 9A: synchronization; [4] NVIDIA CUDA programming model; [5] NVIDIA CUDA Best Practices</a:t>
            </a:r>
          </a:p>
        </p:txBody>
      </p:sp>
      <p:sp>
        <p:nvSpPr>
          <p:cNvPr id="11" name="19 / 41">
            <a:extLst xmlns:a="http://schemas.openxmlformats.org/drawingml/2006/main">
              <a:ext uri="{FF2B5EF4-FFF2-40B4-BE49-F238E27FC236}">
                <a16:creationId xmlns:a16="http://schemas.microsoft.com/office/drawing/2014/main" id="{DCE97004-6E3E-4A0D-98C0-B077C315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41</a:t>
            </a:r>
          </a:p>
        </p:txBody>
      </p:sp>
    </p:spTree>
    <p:extLst>
      <p:ext uri="{BB962C8B-B14F-4D97-AF65-F5344CB8AC3E}">
        <p14:creationId xmlns:p14="http://schemas.microsoft.com/office/powerpoint/2010/main" val="16821273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A7">
            <a:extLst xmlns:a="http://schemas.openxmlformats.org/drawingml/2006/main">
              <a:ext uri="{FF2B5EF4-FFF2-40B4-BE49-F238E27FC236}">
                <a16:creationId xmlns:a16="http://schemas.microsoft.com/office/drawing/2014/main" id="{46D97950-1122-45D1-84B6-5F18C0F8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A7</a:t>
            </a:r>
          </a:p>
        </p:txBody>
      </p:sp>
      <p:sp>
        <p:nvSpPr>
          <p:cNvPr id="2" name="Launch shape and memory access">
            <a:extLst xmlns:a="http://schemas.openxmlformats.org/drawingml/2006/main">
              <a:ext uri="{FF2B5EF4-FFF2-40B4-BE49-F238E27FC236}">
                <a16:creationId xmlns:a16="http://schemas.microsoft.com/office/drawing/2014/main" id="{E2898C12-DAE7-4142-9E85-AD42C557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 shape and memory access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72712-A726-4014-9EB1-EAFAE09D8DA6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Choice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Performance implication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 × 16 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two 16-wide rows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Reasonable 2D starting point; row edges/alignment matter.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32 × 8 block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one 32-wide row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May improve row-oriented access; no universal winner.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Output gathering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Adjacent x threads write adjacent RGB pixels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 write locality; per-channel byte operations still require efficient transactions.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Rotated input reads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Angle changes the source addresses visited by a warp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Irregular gathers can reduce effective read bandwidth/cache reuse.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residency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Registers, shared memory and block/thread limits constrain active warps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Helps hide latency; maximum occupancy is not automatically fastest.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ompute grid for each block shape. Profile actual tra">
            <a:extLst xmlns:a="http://schemas.openxmlformats.org/drawingml/2006/main">
              <a:ext uri="{FF2B5EF4-FFF2-40B4-BE49-F238E27FC236}">
                <a16:creationId xmlns:a16="http://schemas.microsoft.com/office/drawing/2014/main" id="{0664F7EB-5C6A-4848-B74D-87B7EDD1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Recompute grid for each block shape. Profile actual transactions, latency and registers before selecting a shape.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41CE2-21B2-4008-80C9-CC2C170A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91B74604-5517-41F1-A49D-9C90BFF8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7" name="20 / 41">
            <a:extLst xmlns:a="http://schemas.openxmlformats.org/drawingml/2006/main">
              <a:ext uri="{FF2B5EF4-FFF2-40B4-BE49-F238E27FC236}">
                <a16:creationId xmlns:a16="http://schemas.microsoft.com/office/drawing/2014/main" id="{505E38F1-BC67-4C70-88CA-4DCFDF68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41</a:t>
            </a:r>
          </a:p>
        </p:txBody>
      </p:sp>
    </p:spTree>
    <p:extLst>
      <p:ext uri="{BB962C8B-B14F-4D97-AF65-F5344CB8AC3E}">
        <p14:creationId xmlns:p14="http://schemas.microsoft.com/office/powerpoint/2010/main" val="12069023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8">
            <a:extLst xmlns:a="http://schemas.openxmlformats.org/drawingml/2006/main">
              <a:ext uri="{FF2B5EF4-FFF2-40B4-BE49-F238E27FC236}">
                <a16:creationId xmlns:a16="http://schemas.microsoft.com/office/drawing/2014/main" id="{A81CCAED-C390-48CC-9379-D0084F59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A8</a:t>
            </a:r>
          </a:p>
        </p:txBody>
      </p:sp>
      <p:sp>
        <p:nvSpPr>
          <p:cNvPr id="2" name="Asynchronous work within one stream">
            <a:extLst xmlns:a="http://schemas.openxmlformats.org/drawingml/2006/main">
              <a:ext uri="{FF2B5EF4-FFF2-40B4-BE49-F238E27FC236}">
                <a16:creationId xmlns:a16="http://schemas.microsoft.com/office/drawing/2014/main" id="{1E673B48-FD68-4928-B66E-C7C74D7B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 work within one 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499BC-8A40-40D3-85B4-65E3F567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35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cudaError_t enqueue_rotation(const unsigned char* h_inp">
            <a:extLst xmlns:a="http://schemas.openxmlformats.org/drawingml/2006/main">
              <a:ext uri="{FF2B5EF4-FFF2-40B4-BE49-F238E27FC236}">
                <a16:creationId xmlns:a16="http://schemas.microsoft.com/office/drawing/2014/main" id="{1D22AEDC-0A5B-4269-B597-624310BC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22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cudaError_t enqueue_rotation(const unsigned char* h_input,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h_output,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size_t bytes, int width,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float c, float 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cudaStream_t stream)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block(32, 8);  // 256 threads.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grid = rotation_grid(width, height, block);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cudaError_t status = cudaMemcpyAsync(d_input, h_input,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cudaMemcpyHostToDevice,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rotate_rgb&lt;&lt;&lt;grid, block, 0, stream&gt;&gt;&gt;(d_input,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 width, height,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status = 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return cudaMemcpyAsync(h_output, d_output,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cudaMemcpyDeviceToHost,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Full enqueue function; rotation_grid uses the ceil-divi">
            <a:extLst xmlns:a="http://schemas.openxmlformats.org/drawingml/2006/main">
              <a:ext uri="{FF2B5EF4-FFF2-40B4-BE49-F238E27FC236}">
                <a16:creationId xmlns:a16="http://schemas.microsoft.com/office/drawing/2014/main" id="{EA8433A5-4D1A-4524-A267-27E5EDA4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Full enqueue function;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rotation_grid uses the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ceil-division shown in A6.</a:t>
            </a:r>
          </a:p>
        </p:txBody>
      </p:sp>
      <p:sp>
        <p:nvSpPr>
          <p:cNvPr id="6" name="Pinned host buffers and checked sizes are preconditions">
            <a:extLst xmlns:a="http://schemas.openxmlformats.org/drawingml/2006/main">
              <a:ext uri="{FF2B5EF4-FFF2-40B4-BE49-F238E27FC236}">
                <a16:creationId xmlns:a16="http://schemas.microsoft.com/office/drawing/2014/main" id="{D560740C-1029-4582-B993-C5D08900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buffers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checked sizes are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preconditions.</a:t>
            </a:r>
          </a:p>
        </p:txBody>
      </p:sp>
      <p:sp>
        <p:nvSpPr>
          <p:cNvPr id="7" name="Success means submitted work; wait before reading, reus">
            <a:extLst xmlns:a="http://schemas.openxmlformats.org/drawingml/2006/main">
              <a:ext uri="{FF2B5EF4-FFF2-40B4-BE49-F238E27FC236}">
                <a16:creationId xmlns:a16="http://schemas.microsoft.com/office/drawing/2014/main" id="{3B9098E7-DBC8-420E-BFC0-5887B36A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7402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Success means submitted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work; wait before reading,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reusing or freeing buffers.</a:t>
            </a:r>
          </a:p>
        </p:txBody>
      </p:sp>
      <p:sp>
        <p:nvSpPr>
          <p:cNvPr id="8" name="On error, previously enqueued work may still be pending">
            <a:extLst xmlns:a="http://schemas.openxmlformats.org/drawingml/2006/main">
              <a:ext uri="{FF2B5EF4-FFF2-40B4-BE49-F238E27FC236}">
                <a16:creationId xmlns:a16="http://schemas.microsoft.com/office/drawing/2014/main" id="{BC6FAB03-2371-40CD-884B-CFEE0A1B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5528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 error, previously enqueued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 may still be pending.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CFF40-C824-494F-BC1D-F84D1D07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3] Topic 9A: synchronization; [5] NVIDIA CUDA">
            <a:extLst xmlns:a="http://schemas.openxmlformats.org/drawingml/2006/main">
              <a:ext uri="{FF2B5EF4-FFF2-40B4-BE49-F238E27FC236}">
                <a16:creationId xmlns:a16="http://schemas.microsoft.com/office/drawing/2014/main" id="{D0EA527D-B0BC-405F-AE55-51EB6709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Topic 9A: synchronization; [5] NVIDIA CUDA Best Practices</a:t>
            </a:r>
          </a:p>
        </p:txBody>
      </p:sp>
      <p:sp>
        <p:nvSpPr>
          <p:cNvPr id="11" name="21 / 41">
            <a:extLst xmlns:a="http://schemas.openxmlformats.org/drawingml/2006/main">
              <a:ext uri="{FF2B5EF4-FFF2-40B4-BE49-F238E27FC236}">
                <a16:creationId xmlns:a16="http://schemas.microsoft.com/office/drawing/2014/main" id="{1C00C5E0-9B21-4544-BF30-D90BAD75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41</a:t>
            </a:r>
          </a:p>
        </p:txBody>
      </p:sp>
    </p:spTree>
    <p:extLst>
      <p:ext uri="{BB962C8B-B14F-4D97-AF65-F5344CB8AC3E}">
        <p14:creationId xmlns:p14="http://schemas.microsoft.com/office/powerpoint/2010/main" val="139595081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C5260-58C2-4611-996B-AA05A95B850D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05825" y="37909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682F1-6C65-4E86-B578-FCD4C309237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353175" y="37909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8FD76-568C-429F-96AF-01DA384B518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981825" y="23907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7255E-26D8-422A-B73A-975121538CC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29175" y="23907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3" name="Appendix A9">
            <a:extLst xmlns:a="http://schemas.openxmlformats.org/drawingml/2006/main">
              <a:ext uri="{FF2B5EF4-FFF2-40B4-BE49-F238E27FC236}">
                <a16:creationId xmlns:a16="http://schemas.microsoft.com/office/drawing/2014/main" id="{6C645CCD-1145-4FF4-A8E3-61373AD6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A9</a:t>
            </a:r>
          </a:p>
        </p:txBody>
      </p:sp>
      <p:sp>
        <p:nvSpPr>
          <p:cNvPr id="2" name="Batch overlap and GPU residency">
            <a:extLst xmlns:a="http://schemas.openxmlformats.org/drawingml/2006/main">
              <a:ext uri="{FF2B5EF4-FFF2-40B4-BE49-F238E27FC236}">
                <a16:creationId xmlns:a16="http://schemas.microsoft.com/office/drawing/2014/main" id="{460C9706-6586-493E-8E80-63A18268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Batch overlap and GPU residency</a:t>
            </a:r>
          </a:p>
        </p:txBody>
      </p:sp>
      <p:sp>
        <p:nvSpPr>
          <p:cNvPr id="3" name="Same stream: H2D → kernel → D2H, in order">
            <a:extLst xmlns:a="http://schemas.openxmlformats.org/drawingml/2006/main">
              <a:ext uri="{FF2B5EF4-FFF2-40B4-BE49-F238E27FC236}">
                <a16:creationId xmlns:a16="http://schemas.microsoft.com/office/drawing/2014/main" id="{7B7F8828-2CF1-4A7D-A0BB-DE3925BB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Same stream: H2D → kernel → D2H, in order</a:t>
            </a:r>
          </a:p>
        </p:txBody>
      </p:sp>
      <p:sp>
        <p:nvSpPr>
          <p:cNvPr id="4" name="Stream A / image A">
            <a:extLst xmlns:a="http://schemas.openxmlformats.org/drawingml/2006/main">
              <a:ext uri="{FF2B5EF4-FFF2-40B4-BE49-F238E27FC236}">
                <a16:creationId xmlns:a16="http://schemas.microsoft.com/office/drawing/2014/main" id="{75521763-96C7-4BA1-86BC-D4BC91C5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1907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 A / image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19DBA-41BC-40BA-8D68-B07B8CE3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F3BE1-2B50-4E9B-8E70-60DB99D9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F2F62-7546-43FC-AE11-296C496C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0" name="Stream B / image B">
            <a:extLst xmlns:a="http://schemas.openxmlformats.org/drawingml/2006/main">
              <a:ext uri="{FF2B5EF4-FFF2-40B4-BE49-F238E27FC236}">
                <a16:creationId xmlns:a16="http://schemas.microsoft.com/office/drawing/2014/main" id="{D138B0DC-7876-4C14-A532-F96422FB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907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 B / image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1D2AD-04B3-4020-9A94-769B25F1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6DAEA-6B5B-421C-AC33-73CD3E56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0BBFD-45F5-4964-98F2-5BF20895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6" name="Schematic overlap opportunity; not measured durations o">
            <a:extLst xmlns:a="http://schemas.openxmlformats.org/drawingml/2006/main">
              <a:ext uri="{FF2B5EF4-FFF2-40B4-BE49-F238E27FC236}">
                <a16:creationId xmlns:a16="http://schemas.microsoft.com/office/drawing/2014/main" id="{E444F615-0AD5-413F-BEA6-63A2986F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Schematic overlap opportunity; not measured durations or guaranteed simultaneous execution.</a:t>
            </a:r>
          </a:p>
        </p:txBody>
      </p:sp>
      <p:sp>
        <p:nvSpPr>
          <p:cNvPr id="17" name="Independent streams + separate pinned/device buffers + ">
            <a:extLst xmlns:a="http://schemas.openxmlformats.org/drawingml/2006/main">
              <a:ext uri="{FF2B5EF4-FFF2-40B4-BE49-F238E27FC236}">
                <a16:creationId xmlns:a16="http://schemas.microsoft.com/office/drawing/2014/main" id="{D36D2E85-A327-4E23-A8A8-C7248AB8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streams + separate pinned/device buffers + supporting copy/compute resources. Synchronize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reuse. Extra buffers consume memory; device residency avoids unnecessary round trips.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E5B506-4BD3-4150-91CC-227240F0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Overlap changes the critical path, not the amount of ro">
            <a:extLst xmlns:a="http://schemas.openxmlformats.org/drawingml/2006/main">
              <a:ext uri="{FF2B5EF4-FFF2-40B4-BE49-F238E27FC236}">
                <a16:creationId xmlns:a16="http://schemas.microsoft.com/office/drawing/2014/main" id="{64BE9FF3-2E4F-4B47-BB7E-92D29DD6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 changes the critical path, not the amount of rotation 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A1183-2D35-4FF0-AC94-5E21961A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3] Topic 9A: synchronization; [5] NVIDIA CUDA">
            <a:extLst xmlns:a="http://schemas.openxmlformats.org/drawingml/2006/main">
              <a:ext uri="{FF2B5EF4-FFF2-40B4-BE49-F238E27FC236}">
                <a16:creationId xmlns:a16="http://schemas.microsoft.com/office/drawing/2014/main" id="{A0B6BBE0-AB87-4A7B-9347-4674B6C8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Topic 9A: synchronization; [5] NVIDIA CUDA Best Practices</a:t>
            </a:r>
          </a:p>
        </p:txBody>
      </p:sp>
      <p:sp>
        <p:nvSpPr>
          <p:cNvPr id="22" name="22 / 41">
            <a:extLst xmlns:a="http://schemas.openxmlformats.org/drawingml/2006/main">
              <a:ext uri="{FF2B5EF4-FFF2-40B4-BE49-F238E27FC236}">
                <a16:creationId xmlns:a16="http://schemas.microsoft.com/office/drawing/2014/main" id="{ED479BF3-C3D5-4F82-B510-7AE7C157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41</a:t>
            </a:r>
          </a:p>
        </p:txBody>
      </p:sp>
    </p:spTree>
    <p:extLst>
      <p:ext uri="{BB962C8B-B14F-4D97-AF65-F5344CB8AC3E}">
        <p14:creationId xmlns:p14="http://schemas.microsoft.com/office/powerpoint/2010/main" val="110989738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0">
            <a:extLst xmlns:a="http://schemas.openxmlformats.org/drawingml/2006/main">
              <a:ext uri="{FF2B5EF4-FFF2-40B4-BE49-F238E27FC236}">
                <a16:creationId xmlns:a16="http://schemas.microsoft.com/office/drawing/2014/main" id="{09EB07A7-6276-48C0-A277-3C95C4F2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A10</a:t>
            </a:r>
          </a:p>
        </p:txBody>
      </p:sp>
      <p:sp>
        <p:nvSpPr>
          <p:cNvPr id="2" name="Fair speedup comparison and profiling">
            <a:extLst xmlns:a="http://schemas.openxmlformats.org/drawingml/2006/main">
              <a:ext uri="{FF2B5EF4-FFF2-40B4-BE49-F238E27FC236}">
                <a16:creationId xmlns:a16="http://schemas.microsoft.com/office/drawing/2014/main" id="{FE32789E-1D33-447E-A129-625B60E1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 speedup comparison and profiling</a:t>
            </a:r>
          </a:p>
        </p:txBody>
      </p:sp>
      <p:sp>
        <p:nvSpPr>
          <p:cNvPr id="3" name="Comparable baselines">
            <a:extLst xmlns:a="http://schemas.openxmlformats.org/drawingml/2006/main">
              <a:ext uri="{FF2B5EF4-FFF2-40B4-BE49-F238E27FC236}">
                <a16:creationId xmlns:a16="http://schemas.microsoft.com/office/drawing/2014/main" id="{CAF9DAEA-7416-49E0-900C-C06938AB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Comparable baselines</a:t>
            </a:r>
          </a:p>
        </p:txBody>
      </p:sp>
      <p:sp>
        <p:nvSpPr>
          <p:cNvPr id="4" name="Primary baseline: one CPU thread performs the same RGB ">
            <a:extLst xmlns:a="http://schemas.openxmlformats.org/drawingml/2006/main">
              <a:ext uri="{FF2B5EF4-FFF2-40B4-BE49-F238E27FC236}">
                <a16:creationId xmlns:a16="http://schemas.microsoft.com/office/drawing/2014/main" id="{998C5595-C6BD-4CDC-B6A7-B4D761C7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Primary baseline: one CPU thread performs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RGB inverse mapping, nearest-neighbour rule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fixed canvas. Also compare a multithreaded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for a stronger practical baseline.</a:t>
            </a:r>
          </a:p>
        </p:txBody>
      </p:sp>
      <p:sp>
        <p:nvSpPr>
          <p:cNvPr id="5" name="Use identical inputs/angles and verify identical or jus">
            <a:extLst xmlns:a="http://schemas.openxmlformats.org/drawingml/2006/main">
              <a:ext uri="{FF2B5EF4-FFF2-40B4-BE49-F238E27FC236}">
                <a16:creationId xmlns:a16="http://schemas.microsoft.com/office/drawing/2014/main" id="{B77F3DD6-485D-44E7-A2B9-F79255F8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identical inputs/angles and verify identical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justified numerically equivalent outputs. Include file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decoding/I/O in both paths or exclude it from both.</a:t>
            </a:r>
          </a:p>
        </p:txBody>
      </p:sp>
      <p:sp>
        <p:nvSpPr>
          <p:cNvPr id="6" name="For the stated decoded-buffer comparison, include GPU a">
            <a:extLst xmlns:a="http://schemas.openxmlformats.org/drawingml/2006/main">
              <a:ext uri="{FF2B5EF4-FFF2-40B4-BE49-F238E27FC236}">
                <a16:creationId xmlns:a16="http://schemas.microsoft.com/office/drawing/2014/main" id="{DE2874A5-360B-4259-837B-760347C8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the stated decoded-buffer comparison, include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allocation, H2D, launch, completed kernel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D2H; CPU timing covers the corresponding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 and rotation.</a:t>
            </a:r>
          </a:p>
        </p:txBody>
      </p:sp>
      <p:sp>
        <p:nvSpPr>
          <p:cNvPr id="7" name="Measure the bottleneck">
            <a:extLst xmlns:a="http://schemas.openxmlformats.org/drawingml/2006/main">
              <a:ext uri="{FF2B5EF4-FFF2-40B4-BE49-F238E27FC236}">
                <a16:creationId xmlns:a16="http://schemas.microsoft.com/office/drawing/2014/main" id="{889CBE76-43D9-4A3D-BC24-C6B83003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Measure the bottleneck</a:t>
            </a:r>
          </a:p>
        </p:txBody>
      </p:sp>
      <p:sp>
        <p:nvSpPr>
          <p:cNvPr id="8" name="Report cold-start and warmed repeated runs separately. ">
            <a:extLst xmlns:a="http://schemas.openxmlformats.org/drawingml/2006/main">
              <a:ext uri="{FF2B5EF4-FFF2-40B4-BE49-F238E27FC236}">
                <a16:creationId xmlns:a16="http://schemas.microsoft.com/office/drawing/2014/main" id="{53BE968E-07B1-4A79-96B1-5525EB35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cold-start and warmed repeated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separately. Use CUDA events for kernel elapsed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time after completion and a host timer through final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completion for total latency.</a:t>
            </a:r>
          </a:p>
        </p:txBody>
      </p:sp>
      <p:sp>
        <p:nvSpPr>
          <p:cNvPr id="9" name="Vary image size, angle, block shape and batch size; rec">
            <a:extLst xmlns:a="http://schemas.openxmlformats.org/drawingml/2006/main">
              <a:ext uri="{FF2B5EF4-FFF2-40B4-BE49-F238E27FC236}">
                <a16:creationId xmlns:a16="http://schemas.microsoft.com/office/drawing/2014/main" id="{B9151D87-9975-4EF7-AFE1-0B87E00F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Vary image size, angle, block shape and batch size;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 hardware, transfer mode, register use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effective memory/link bandwidth.</a:t>
            </a:r>
          </a:p>
        </p:txBody>
      </p:sp>
      <p:sp>
        <p:nvSpPr>
          <p:cNvPr id="10" name="The sequential sum does not apply unchanged to overlapp">
            <a:extLst xmlns:a="http://schemas.openxmlformats.org/drawingml/2006/main">
              <a:ext uri="{FF2B5EF4-FFF2-40B4-BE49-F238E27FC236}">
                <a16:creationId xmlns:a16="http://schemas.microsoft.com/office/drawing/2014/main" id="{B20F409C-ADF2-432F-BCE7-EBA028A2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sequential sum does not apply unchanged to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overlapping streams: measure the completed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critical path. Lower kernel time alone cannot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establish end-to-end speedup.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ED22B-738E-49FC-9DC9-EB0B24B3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26771-BC8A-444E-B407-2E2BFD86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52D1DE8B-0583-484D-A828-7A65FB7F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</a:t>
            </a:r>
          </a:p>
        </p:txBody>
      </p:sp>
      <p:sp>
        <p:nvSpPr>
          <p:cNvPr id="14" name="23 / 41">
            <a:extLst xmlns:a="http://schemas.openxmlformats.org/drawingml/2006/main">
              <a:ext uri="{FF2B5EF4-FFF2-40B4-BE49-F238E27FC236}">
                <a16:creationId xmlns:a16="http://schemas.microsoft.com/office/drawing/2014/main" id="{6071436A-6605-4F5D-B23E-6786CBC2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23 / 41</a:t>
            </a:r>
          </a:p>
        </p:txBody>
      </p:sp>
    </p:spTree>
    <p:extLst>
      <p:ext uri="{BB962C8B-B14F-4D97-AF65-F5344CB8AC3E}">
        <p14:creationId xmlns:p14="http://schemas.microsoft.com/office/powerpoint/2010/main" val="6042453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1">
            <a:extLst xmlns:a="http://schemas.openxmlformats.org/drawingml/2006/main">
              <a:ext uri="{FF2B5EF4-FFF2-40B4-BE49-F238E27FC236}">
                <a16:creationId xmlns:a16="http://schemas.microsoft.com/office/drawing/2014/main" id="{0621CA8A-260B-4C71-9DB5-DED7F7E2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A11</a:t>
            </a:r>
          </a:p>
        </p:txBody>
      </p:sp>
      <p:sp>
        <p:nvSpPr>
          <p:cNvPr id="2" name="GDS decision for the proposed pipeline">
            <a:extLst xmlns:a="http://schemas.openxmlformats.org/drawingml/2006/main">
              <a:ext uri="{FF2B5EF4-FFF2-40B4-BE49-F238E27FC236}">
                <a16:creationId xmlns:a16="http://schemas.microsoft.com/office/drawing/2014/main" id="{C7A3E25E-4CE4-4E7A-9637-87256871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decision for the proposed pipeline</a:t>
            </a:r>
          </a:p>
        </p:txBody>
      </p:sp>
      <p:sp>
        <p:nvSpPr>
          <p:cNvPr id="3" name="Conventional decoded-image path">
            <a:extLst xmlns:a="http://schemas.openxmlformats.org/drawingml/2006/main">
              <a:ext uri="{FF2B5EF4-FFF2-40B4-BE49-F238E27FC236}">
                <a16:creationId xmlns:a16="http://schemas.microsoft.com/office/drawing/2014/main" id="{BEF84205-55AC-4C5D-AB65-1589A9AF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decoded-image path</a:t>
            </a:r>
          </a:p>
        </p:txBody>
      </p:sp>
      <p:sp>
        <p:nvSpPr>
          <p:cNvPr id="4" name="CPU decoding requires host-visible compressed bytes and">
            <a:extLst xmlns:a="http://schemas.openxmlformats.org/drawingml/2006/main">
              <a:ext uri="{FF2B5EF4-FFF2-40B4-BE49-F238E27FC236}">
                <a16:creationId xmlns:a16="http://schemas.microsoft.com/office/drawing/2014/main" id="{4256C1B2-B778-4BC4-8D1E-1A45EE00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decoding requires host-visible compressed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and produces pixels in RAM. Those pixels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copied to the GPU; the rotation kernel then runs.</a:t>
            </a:r>
          </a:p>
        </p:txBody>
      </p:sp>
      <p:sp>
        <p:nvSpPr>
          <p:cNvPr id="5" name="A single small image already in RAM gains little from b">
            <a:extLst xmlns:a="http://schemas.openxmlformats.org/drawingml/2006/main">
              <a:ext uri="{FF2B5EF4-FFF2-40B4-BE49-F238E27FC236}">
                <a16:creationId xmlns:a16="http://schemas.microsoft.com/office/drawing/2014/main" id="{936DC78B-4954-42AE-A189-6853C9F2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single small image already in RAM gains little from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bypassing a storage step that is no longer on its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path.</a:t>
            </a:r>
          </a:p>
        </p:txBody>
      </p:sp>
      <p:sp>
        <p:nvSpPr>
          <p:cNvPr id="6" name="GDS does not decode an image, bypass an application’s C">
            <a:extLst xmlns:a="http://schemas.openxmlformats.org/drawingml/2006/main">
              <a:ext uri="{FF2B5EF4-FFF2-40B4-BE49-F238E27FC236}">
                <a16:creationId xmlns:a16="http://schemas.microsoft.com/office/drawing/2014/main" id="{611A3FFA-2214-414A-ACB6-1FD6DE75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does not decode an image, bypass an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application’s CPU transformation, or make GPU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memory access itself faster.</a:t>
            </a:r>
          </a:p>
        </p:txBody>
      </p:sp>
      <p:sp>
        <p:nvSpPr>
          <p:cNvPr id="7" name="Conditional batch alternative">
            <a:extLst xmlns:a="http://schemas.openxmlformats.org/drawingml/2006/main">
              <a:ext uri="{FF2B5EF4-FFF2-40B4-BE49-F238E27FC236}">
                <a16:creationId xmlns:a16="http://schemas.microsoft.com/office/drawing/2014/main" id="{BFC66CE7-D5BC-4628-81F1-BECF1B25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Conditional batch alternative</a:t>
            </a:r>
          </a:p>
        </p:txBody>
      </p:sp>
      <p:sp>
        <p:nvSpPr>
          <p:cNvPr id="8" name="Large storage-bound batches of GPU-ready pixels, or a c">
            <a:extLst xmlns:a="http://schemas.openxmlformats.org/drawingml/2006/main">
              <a:ext uri="{FF2B5EF4-FFF2-40B4-BE49-F238E27FC236}">
                <a16:creationId xmlns:a16="http://schemas.microsoft.com/office/drawing/2014/main" id="{D329F48C-631B-47C5-9272-6F36EA72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Large storage-bound batches of GPU-ready pixels,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or a compatible GPU decoding pipeline, may avoid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via cuFile and storage-side DMA.</a:t>
            </a:r>
          </a:p>
        </p:txBody>
      </p:sp>
      <p:sp>
        <p:nvSpPr>
          <p:cNvPr id="9" name="Verify the GPU, storage/filesystem, software and PCIe t">
            <a:extLst xmlns:a="http://schemas.openxmlformats.org/drawingml/2006/main">
              <a:ext uri="{FF2B5EF4-FFF2-40B4-BE49-F238E27FC236}">
                <a16:creationId xmlns:a16="http://schemas.microsoft.com/office/drawing/2014/main" id="{B9A7650F-0AAC-4403-AD1E-60BEBE0D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Verify the GPU, storage/filesystem, software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topology support the direct path. Compatibility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fallback uses host staging and is not evidence of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direct DMA.</a:t>
            </a:r>
          </a:p>
        </p:txBody>
      </p:sp>
      <p:sp>
        <p:nvSpPr>
          <p:cNvPr id="10" name="Adopt only if completed batch time/CPU overhead improve">
            <a:extLst xmlns:a="http://schemas.openxmlformats.org/drawingml/2006/main">
              <a:ext uri="{FF2B5EF4-FFF2-40B4-BE49-F238E27FC236}">
                <a16:creationId xmlns:a16="http://schemas.microsoft.com/office/drawing/2014/main" id="{E2B8235E-1158-466B-B209-4D241780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Adopt only if completed batch time/CPU overhead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improve on the real workload; include extra buffers,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 and storage bandwidth. Otherwise retain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conventional copies.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9AFF4-9D8D-48EC-8A59-794547AF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49A61-8E7F-4236-9C57-A1114018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6] NVIDIA GDS overview; [7] NVIDIA GDS design">
            <a:extLst xmlns:a="http://schemas.openxmlformats.org/drawingml/2006/main">
              <a:ext uri="{FF2B5EF4-FFF2-40B4-BE49-F238E27FC236}">
                <a16:creationId xmlns:a16="http://schemas.microsoft.com/office/drawing/2014/main" id="{132280A1-84AD-40E1-BF04-05E61D01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NVIDIA GDS overview; [7] NVIDIA GDS design</a:t>
            </a:r>
          </a:p>
        </p:txBody>
      </p:sp>
      <p:sp>
        <p:nvSpPr>
          <p:cNvPr id="14" name="24 / 41">
            <a:extLst xmlns:a="http://schemas.openxmlformats.org/drawingml/2006/main">
              <a:ext uri="{FF2B5EF4-FFF2-40B4-BE49-F238E27FC236}">
                <a16:creationId xmlns:a16="http://schemas.microsoft.com/office/drawing/2014/main" id="{FB8F2ECF-8C07-4F61-BEF3-391553F9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24 / 41</a:t>
            </a:r>
          </a:p>
        </p:txBody>
      </p:sp>
    </p:spTree>
    <p:extLst>
      <p:ext uri="{BB962C8B-B14F-4D97-AF65-F5344CB8AC3E}">
        <p14:creationId xmlns:p14="http://schemas.microsoft.com/office/powerpoint/2010/main" val="174303872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B83CA133-C418-4A84-899D-5A8F6E9E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7D5F68FA-0E99-42E4-ABB8-CCB5C300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4A2B1-F427-4735-A478-5810A7EB11A5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9309019F-F5F3-42EA-8FB9-2D2151F7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238BC-BF3E-481B-8DBD-CACAAD59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08172BD1-CF1A-4F7A-802A-B7945795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7" name="25 / 41">
            <a:extLst xmlns:a="http://schemas.openxmlformats.org/drawingml/2006/main">
              <a:ext uri="{FF2B5EF4-FFF2-40B4-BE49-F238E27FC236}">
                <a16:creationId xmlns:a16="http://schemas.microsoft.com/office/drawing/2014/main" id="{5BA5277B-481A-4B9C-ADFF-3EC17EC4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25 / 41</a:t>
            </a:r>
          </a:p>
        </p:txBody>
      </p:sp>
    </p:spTree>
    <p:extLst>
      <p:ext uri="{BB962C8B-B14F-4D97-AF65-F5344CB8AC3E}">
        <p14:creationId xmlns:p14="http://schemas.microsoft.com/office/powerpoint/2010/main" val="55541114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pendix B2 • Illustrative calculation">
            <a:extLst xmlns:a="http://schemas.openxmlformats.org/drawingml/2006/main">
              <a:ext uri="{FF2B5EF4-FFF2-40B4-BE49-F238E27FC236}">
                <a16:creationId xmlns:a16="http://schemas.microsoft.com/office/drawing/2014/main" id="{2722ACAE-07A8-47F6-84BF-BA666C2B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 • Illustrative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EFA5C415-11ED-4B92-8F56-B484CBA3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FEA77-C772-4661-A899-536FC00D0CC2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84A19CB4-7647-431C-8EA9-658AC9FE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 more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D645C174-063E-4C0F-9435-1295B430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1CCBD-2F8E-483F-B780-46FAD5B1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2] Topic 7A: dependencies and Amdahl; [11] St">
            <a:extLst xmlns:a="http://schemas.openxmlformats.org/drawingml/2006/main">
              <a:ext uri="{FF2B5EF4-FFF2-40B4-BE49-F238E27FC236}">
                <a16:creationId xmlns:a16="http://schemas.microsoft.com/office/drawing/2014/main" id="{397D50EC-59BA-4FDB-8119-97477230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[11] Strubell et al. 2019: cost and equity; [13] Schwartz et al. 2019: efficiency reporting</a:t>
            </a:r>
          </a:p>
        </p:txBody>
      </p:sp>
      <p:sp>
        <p:nvSpPr>
          <p:cNvPr id="8" name="26 / 41">
            <a:extLst xmlns:a="http://schemas.openxmlformats.org/drawingml/2006/main">
              <a:ext uri="{FF2B5EF4-FFF2-40B4-BE49-F238E27FC236}">
                <a16:creationId xmlns:a16="http://schemas.microsoft.com/office/drawing/2014/main" id="{B0062264-5CC2-462B-9E5D-5D6904A3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26 / 41</a:t>
            </a:r>
          </a:p>
        </p:txBody>
      </p:sp>
    </p:spTree>
    <p:extLst>
      <p:ext uri="{BB962C8B-B14F-4D97-AF65-F5344CB8AC3E}">
        <p14:creationId xmlns:p14="http://schemas.microsoft.com/office/powerpoint/2010/main" val="5338134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3">
            <a:extLst xmlns:a="http://schemas.openxmlformats.org/drawingml/2006/main">
              <a:ext uri="{FF2B5EF4-FFF2-40B4-BE49-F238E27FC236}">
                <a16:creationId xmlns:a16="http://schemas.microsoft.com/office/drawing/2014/main" id="{7C41E033-B715-4588-B763-2DF75FD3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B3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83364266-8541-4D79-BB16-E16127C1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584E66D5-2136-497F-A177-141A79DC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6ABFC8FA-D683-47A7-9446-F3AF8200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0F5112BB-65B4-4BF3-A152-4FD8A6A4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EA86278F-B99F-462A-BC08-0F0BC73F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6F119223-9FD9-4EB9-A7A7-DB4AACE7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32ABF294-3421-46BE-A4BB-29BA2575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A142F0A9-93C9-445D-B3AE-A4ACAB4D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2C576D29-0EC3-4266-B844-8D2F15C4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B91C9-3130-4DC5-B7A4-29E2BA59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DD092-00A7-4748-A4D5-1FED9E23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6336A925-C85D-431E-95ED-35E366F3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[11] Strubell et al. 2019: cost and equity; [12] Li et al. 2025 revision: water impacts;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27 / 41">
            <a:extLst xmlns:a="http://schemas.openxmlformats.org/drawingml/2006/main">
              <a:ext uri="{FF2B5EF4-FFF2-40B4-BE49-F238E27FC236}">
                <a16:creationId xmlns:a16="http://schemas.microsoft.com/office/drawing/2014/main" id="{520A98F0-0CB6-4819-B622-2F95AE70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27 / 41</a:t>
            </a:r>
          </a:p>
        </p:txBody>
      </p:sp>
    </p:spTree>
    <p:extLst>
      <p:ext uri="{BB962C8B-B14F-4D97-AF65-F5344CB8AC3E}">
        <p14:creationId xmlns:p14="http://schemas.microsoft.com/office/powerpoint/2010/main" val="76721155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4 • Proposed cluster policy">
            <a:extLst xmlns:a="http://schemas.openxmlformats.org/drawingml/2006/main">
              <a:ext uri="{FF2B5EF4-FFF2-40B4-BE49-F238E27FC236}">
                <a16:creationId xmlns:a16="http://schemas.microsoft.com/office/drawing/2014/main" id="{9160C277-35D5-4249-A8A5-9461D7A2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B4 • Proposed cluster policy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E482FBB1-7898-4462-8CBB-59AD71AC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252B3-83D2-4153-9D7F-0F1C62DB39A7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A9588CD4-63E3-4864-9631-7556E9FD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935E1-EBEA-447C-9C78-9131D536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4] Zhu et al. 2019: exposed gradients; [18] ">
            <a:extLst xmlns:a="http://schemas.openxmlformats.org/drawingml/2006/main">
              <a:ext uri="{FF2B5EF4-FFF2-40B4-BE49-F238E27FC236}">
                <a16:creationId xmlns:a16="http://schemas.microsoft.com/office/drawing/2014/main" id="{72054227-8754-4023-A293-295142C5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[18] OECD: rights, fairness and accountability; [19] NIST: Govern, Map, Measure, Manage</a:t>
            </a:r>
          </a:p>
        </p:txBody>
      </p:sp>
      <p:sp>
        <p:nvSpPr>
          <p:cNvPr id="7" name="28 / 41">
            <a:extLst xmlns:a="http://schemas.openxmlformats.org/drawingml/2006/main">
              <a:ext uri="{FF2B5EF4-FFF2-40B4-BE49-F238E27FC236}">
                <a16:creationId xmlns:a16="http://schemas.microsoft.com/office/drawing/2014/main" id="{3A2E70A5-B3D4-4E27-8987-9C6C6823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28 / 41</a:t>
            </a:r>
          </a:p>
        </p:txBody>
      </p:sp>
    </p:spTree>
    <p:extLst>
      <p:ext uri="{BB962C8B-B14F-4D97-AF65-F5344CB8AC3E}">
        <p14:creationId xmlns:p14="http://schemas.microsoft.com/office/powerpoint/2010/main" val="95281384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5 • Proposed example">
            <a:extLst xmlns:a="http://schemas.openxmlformats.org/drawingml/2006/main">
              <a:ext uri="{FF2B5EF4-FFF2-40B4-BE49-F238E27FC236}">
                <a16:creationId xmlns:a16="http://schemas.microsoft.com/office/drawing/2014/main" id="{24FAF67D-24B5-4C8B-9754-DD684CA8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B5 • Proposed example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6C311F8D-4099-4470-A6D4-06E3394A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88F9E73A-656E-46CE-9988-8C07B28E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LLM service may have unequ">
            <a:extLst xmlns:a="http://schemas.openxmlformats.org/drawingml/2006/main">
              <a:ext uri="{FF2B5EF4-FFF2-40B4-BE49-F238E27FC236}">
                <a16:creationId xmlns:a16="http://schemas.microsoft.com/office/drawing/2014/main" id="{DF48F366-B4D7-4EF0-8428-E02FE94D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LLM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B7A89A2F-FBAF-4E8C-83D3-4D89579C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20A012E3-4388-42BC-9907-15A6E51F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F44F2E57-5B7E-47AF-9B92-FA5BD15F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E13F3ED8-615E-44A2-BB8C-808A2139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A2BC9985-64E8-4DCE-913B-ACB7CE67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7ABA86F9-8219-4524-9E7E-5341AB61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6D9B9-4422-4C0F-9497-AF136075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668F2-43B5-4F3D-A64B-3B2037B1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5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E1E25101-B45A-484E-BF1B-1068256D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[15] Gallegos et al. 2024: fairness evaluation; [18] OECD: rights, fairness and accountability; [19] NIST: Govern, Map, Measure, Manage</a:t>
            </a:r>
          </a:p>
        </p:txBody>
      </p:sp>
      <p:sp>
        <p:nvSpPr>
          <p:cNvPr id="14" name="29 / 41">
            <a:extLst xmlns:a="http://schemas.openxmlformats.org/drawingml/2006/main">
              <a:ext uri="{FF2B5EF4-FFF2-40B4-BE49-F238E27FC236}">
                <a16:creationId xmlns:a16="http://schemas.microsoft.com/office/drawing/2014/main" id="{33E48F13-42B0-41C8-BB72-B7E18066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29 / 41</a:t>
            </a:r>
          </a:p>
        </p:txBody>
      </p:sp>
    </p:spTree>
    <p:extLst>
      <p:ext uri="{BB962C8B-B14F-4D97-AF65-F5344CB8AC3E}">
        <p14:creationId xmlns:p14="http://schemas.microsoft.com/office/powerpoint/2010/main" val="8907433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6">
            <a:extLst xmlns:a="http://schemas.openxmlformats.org/drawingml/2006/main">
              <a:ext uri="{FF2B5EF4-FFF2-40B4-BE49-F238E27FC236}">
                <a16:creationId xmlns:a16="http://schemas.microsoft.com/office/drawing/2014/main" id="{9D40B5CD-6D4B-474A-B81C-4204E722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B6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1532803A-ECB8-4BE3-A64B-5E9FADE3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EDAE1C37-D01B-4CCF-AABA-E041976B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A192A809-58D3-483F-A0C1-F3D1975A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CBE85C3E-B4A1-4617-BA47-501CAE5B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8CE937FC-D94A-42AA-A554-75B1C102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D1FD37D0-1178-425F-ABD7-E7A6C51E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A5B54D2F-6125-4A27-8AB4-B88CD71D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59F87947-7EE4-4CC5-A94D-734A8EFF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B7C78649-56FD-4C80-A99D-41883D18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72C93-D468-46AB-8022-68DFE56D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EDA06-26C9-4877-87B8-A40B4C43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D8EC8865-E3CB-4BAF-B8CD-DF083F71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divide; [22] Topic 9B: mutual exclusion and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allocation</a:t>
            </a:r>
          </a:p>
        </p:txBody>
      </p:sp>
      <p:sp>
        <p:nvSpPr>
          <p:cNvPr id="14" name="30 / 41">
            <a:extLst xmlns:a="http://schemas.openxmlformats.org/drawingml/2006/main">
              <a:ext uri="{FF2B5EF4-FFF2-40B4-BE49-F238E27FC236}">
                <a16:creationId xmlns:a16="http://schemas.microsoft.com/office/drawing/2014/main" id="{94F2E272-079A-4D7C-8987-0758C60E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30 / 41</a:t>
            </a:r>
          </a:p>
        </p:txBody>
      </p:sp>
    </p:spTree>
    <p:extLst>
      <p:ext uri="{BB962C8B-B14F-4D97-AF65-F5344CB8AC3E}">
        <p14:creationId xmlns:p14="http://schemas.microsoft.com/office/powerpoint/2010/main" val="1186101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7 • Proposed application">
            <a:extLst xmlns:a="http://schemas.openxmlformats.org/drawingml/2006/main">
              <a:ext uri="{FF2B5EF4-FFF2-40B4-BE49-F238E27FC236}">
                <a16:creationId xmlns:a16="http://schemas.microsoft.com/office/drawing/2014/main" id="{4F738B53-1DAD-4C8D-A090-FE69F3FD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B7 • Proposed application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CB4C8B7A-0ECE-4474-A7AB-1309E957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EE565-F8E8-4C3F-8908-017E2D058CD7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Our proposal combines measurement, scheduling and risk ">
            <a:extLst xmlns:a="http://schemas.openxmlformats.org/drawingml/2006/main">
              <a:ext uri="{FF2B5EF4-FFF2-40B4-BE49-F238E27FC236}">
                <a16:creationId xmlns:a16="http://schemas.microsoft.com/office/drawing/2014/main" id="{FC2ACAC1-4B26-4310-977C-AB943519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Our proposal combines measurement, scheduling and risk management. NIST Govern spans the other functions; risk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 is iterative, not a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1C307-94AE-4707-A338-BCA747CB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BFD63D44-79FC-49D5-B35D-8B0CFCE9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31 / 41">
            <a:extLst xmlns:a="http://schemas.openxmlformats.org/drawingml/2006/main">
              <a:ext uri="{FF2B5EF4-FFF2-40B4-BE49-F238E27FC236}">
                <a16:creationId xmlns:a16="http://schemas.microsoft.com/office/drawing/2014/main" id="{C1CBA84D-D756-4674-A543-800904F1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31 / 41</a:t>
            </a:r>
          </a:p>
        </p:txBody>
      </p:sp>
    </p:spTree>
    <p:extLst>
      <p:ext uri="{BB962C8B-B14F-4D97-AF65-F5344CB8AC3E}">
        <p14:creationId xmlns:p14="http://schemas.microsoft.com/office/powerpoint/2010/main" val="201093773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8F76A-0BF3-4FB1-8961-6EBAEEFEBA4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01461-C1DD-4A16-83C0-38529C8374FA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6" name="Appendix B8 • Illustrative policy">
            <a:extLst xmlns:a="http://schemas.openxmlformats.org/drawingml/2006/main">
              <a:ext uri="{FF2B5EF4-FFF2-40B4-BE49-F238E27FC236}">
                <a16:creationId xmlns:a16="http://schemas.microsoft.com/office/drawing/2014/main" id="{605295E1-126B-4C0C-8A3E-B0AB5BAD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B8 • Illustrative policy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4E19C22C-EACA-4130-A417-62FDFC74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5C82B-FD55-4E05-B76C-A96B454B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4F6AA-2CB1-455B-B0E5-2237031D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664F1-D6D4-42EF-AA8F-7636A298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7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8D34B2D2-EF78-4A47-9AE3-B65FBF1B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[17]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1240EAAC-F0EF-435C-8908-BD9FD77B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DF1CD918-4692-4885-9E80-F99B7784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7C4BC-3F91-45C7-BD40-D672765C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10A56ADB-6BE2-4FBC-9BEC-69556559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0116A-0D47-4148-93A6-C019292A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12] Li et al. 2025 revision: water impacts; [">
            <a:extLst xmlns:a="http://schemas.openxmlformats.org/drawingml/2006/main">
              <a:ext uri="{FF2B5EF4-FFF2-40B4-BE49-F238E27FC236}">
                <a16:creationId xmlns:a16="http://schemas.microsoft.com/office/drawing/2014/main" id="{F3904F72-B8EF-4C15-8A46-4ECCF751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Li et al. 2025 revision: water impacts; [17] Radovanovic et al. 2021: flexible scheduling; [19] NIST: Govern, Map, Measure, Manage</a:t>
            </a:r>
          </a:p>
        </p:txBody>
      </p:sp>
      <p:sp>
        <p:nvSpPr>
          <p:cNvPr id="15" name="32 / 41">
            <a:extLst xmlns:a="http://schemas.openxmlformats.org/drawingml/2006/main">
              <a:ext uri="{FF2B5EF4-FFF2-40B4-BE49-F238E27FC236}">
                <a16:creationId xmlns:a16="http://schemas.microsoft.com/office/drawing/2014/main" id="{325BC92B-3609-4DB0-BB8E-5FFABF66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32 / 41</a:t>
            </a:r>
          </a:p>
        </p:txBody>
      </p:sp>
    </p:spTree>
    <p:extLst>
      <p:ext uri="{BB962C8B-B14F-4D97-AF65-F5344CB8AC3E}">
        <p14:creationId xmlns:p14="http://schemas.microsoft.com/office/powerpoint/2010/main" val="143748717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9">
            <a:extLst xmlns:a="http://schemas.openxmlformats.org/drawingml/2006/main">
              <a:ext uri="{FF2B5EF4-FFF2-40B4-BE49-F238E27FC236}">
                <a16:creationId xmlns:a16="http://schemas.microsoft.com/office/drawing/2014/main" id="{A6B8B923-1D53-4A20-8BF0-BB02AF3E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B9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AF057D68-C318-4B37-8F8B-81DCA769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D94CF-E572-482A-80B8-D778986AF309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[11,13] versus water-footprint research [12]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[14] versus fairness evaluation survey [15]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[16] versus workload cost/equity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[13] versus operational scheduling [17]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9,10] and governance fr">
            <a:extLst xmlns:a="http://schemas.openxmlformats.org/drawingml/2006/main">
              <a:ext uri="{FF2B5EF4-FFF2-40B4-BE49-F238E27FC236}">
                <a16:creationId xmlns:a16="http://schemas.microsoft.com/office/drawing/2014/main" id="{0344D7F1-05BF-4541-9C6F-1AF695C5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[9,10] and governance frameworks [18,19] complement the research; they do not replace its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115B6-03AA-4301-B59D-D56CC910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Strubell et al. 2019: cost and equity; [1">
            <a:extLst xmlns:a="http://schemas.openxmlformats.org/drawingml/2006/main">
              <a:ext uri="{FF2B5EF4-FFF2-40B4-BE49-F238E27FC236}">
                <a16:creationId xmlns:a16="http://schemas.microsoft.com/office/drawing/2014/main" id="{EB4434D2-CFBD-4CE4-B1BC-EE071D4B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Strubell et al. 2019: cost and equity; [12] Li et al. 2025 revision: water impacts; [13] Schwartz et al. 2019: efficiency reporting; [14] Zhu et al. 2019: exposed gradients;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[15] Gallegos et al. 2024: fairness evaluation; [16] Ahmed and Wahed 2020: compute divide; [17] Radovanovic et al. 2021: flexible scheduling</a:t>
            </a:r>
          </a:p>
        </p:txBody>
      </p:sp>
      <p:sp>
        <p:nvSpPr>
          <p:cNvPr id="7" name="33 / 41">
            <a:extLst xmlns:a="http://schemas.openxmlformats.org/drawingml/2006/main">
              <a:ext uri="{FF2B5EF4-FFF2-40B4-BE49-F238E27FC236}">
                <a16:creationId xmlns:a16="http://schemas.microsoft.com/office/drawing/2014/main" id="{224E5121-8335-4638-91B2-B72CB7A9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33 / 41</a:t>
            </a:r>
          </a:p>
        </p:txBody>
      </p:sp>
    </p:spTree>
    <p:extLst>
      <p:ext uri="{BB962C8B-B14F-4D97-AF65-F5344CB8AC3E}">
        <p14:creationId xmlns:p14="http://schemas.microsoft.com/office/powerpoint/2010/main" val="131824508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Synthesis">
            <a:extLst xmlns:a="http://schemas.openxmlformats.org/drawingml/2006/main">
              <a:ext uri="{FF2B5EF4-FFF2-40B4-BE49-F238E27FC236}">
                <a16:creationId xmlns:a16="http://schemas.microsoft.com/office/drawing/2014/main" id="{C3E942A8-BC07-497E-981D-CA9BE977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Synthesis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E6029A31-7CCA-4BB1-9F8C-8FEBA691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19ACD862-C981-4E1E-BA8E-0491FFE5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6B921445-9FF1-4928-92A3-76812A4F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99F95E49-6070-490A-9DAA-8DE08868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A36B8320-B5F8-4416-8D1B-1F9D6F3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4E1736A5-ED27-486E-A225-AE55C009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1A6E4475-9B2B-474B-A386-10608891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46B305B1-B0D4-45DF-9F0F-0AD75BE8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74A0D596-5CBE-4413-9B26-FFA28B91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E0250-8C08-48E3-8660-6E977A87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89740-48CF-4F06-938E-E1703004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026DFF9A-FABA-4216-B6D3-72808B66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Practices; [6] NVIDIA GDS overview; [7] NVIDIA GDS design;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reporting; [17] Radovanovic et al. 2021: flexible scheduling; [19] NIST: Govern, Map, Measure, Manage</a:t>
            </a:r>
          </a:p>
        </p:txBody>
      </p:sp>
      <p:sp>
        <p:nvSpPr>
          <p:cNvPr id="14" name="34 / 41">
            <a:extLst xmlns:a="http://schemas.openxmlformats.org/drawingml/2006/main">
              <a:ext uri="{FF2B5EF4-FFF2-40B4-BE49-F238E27FC236}">
                <a16:creationId xmlns:a16="http://schemas.microsoft.com/office/drawing/2014/main" id="{DCE232FD-CA5D-408C-9493-1DFA407F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34 / 41</a:t>
            </a:r>
          </a:p>
        </p:txBody>
      </p:sp>
    </p:spTree>
    <p:extLst>
      <p:ext uri="{BB962C8B-B14F-4D97-AF65-F5344CB8AC3E}">
        <p14:creationId xmlns:p14="http://schemas.microsoft.com/office/powerpoint/2010/main" val="68728151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6">
            <a:extLst xmlns:a="http://schemas.openxmlformats.org/drawingml/2006/main">
              <a:ext uri="{FF2B5EF4-FFF2-40B4-BE49-F238E27FC236}">
                <a16:creationId xmlns:a16="http://schemas.microsoft.com/office/drawing/2014/main" id="{0EC934E7-6720-4894-B295-57122D87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CB4E5FCD-0024-4E6F-9CEB-B7423C9B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] Monash University, FIT3143 Topic 8: Vector processi">
            <a:extLst xmlns:a="http://schemas.openxmlformats.org/drawingml/2006/main">
              <a:ext uri="{FF2B5EF4-FFF2-40B4-BE49-F238E27FC236}">
                <a16:creationId xmlns:a16="http://schemas.microsoft.com/office/drawing/2014/main" id="{6DC476B5-DCE9-4242-A229-3766BBD6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[1] Monash University, FIT3143 Topic 8: Vector processing, GPUs and NPUs, course slides, 2024, pp. 18–23, 32–35,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41–46.</a:t>
            </a:r>
          </a:p>
        </p:txBody>
      </p:sp>
      <p:sp>
        <p:nvSpPr>
          <p:cNvPr id="4" name="../context/FIT3143-Topic-8-2024.pdf">
            <a:extLst xmlns:a="http://schemas.openxmlformats.org/drawingml/2006/main">
              <a:ext uri="{FF2B5EF4-FFF2-40B4-BE49-F238E27FC236}">
                <a16:creationId xmlns:a16="http://schemas.microsoft.com/office/drawing/2014/main" id="{8F7075CE-780A-4327-96ED-31F9616D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../context/FIT3143-Topic-8-2024.pdf</a:t>
            </a:r>
          </a:p>
        </p:txBody>
      </p:sp>
      <p:sp>
        <p:nvSpPr>
          <p:cNvPr id="5" name="[2] Monash University, FIT3143 Topic 7A: Parallel perfo">
            <a:extLst xmlns:a="http://schemas.openxmlformats.org/drawingml/2006/main">
              <a:ext uri="{FF2B5EF4-FFF2-40B4-BE49-F238E27FC236}">
                <a16:creationId xmlns:a16="http://schemas.microsoft.com/office/drawing/2014/main" id="{3F8EC998-1A9D-45CB-98FC-6BD9B3F1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Monash University, FIT3143 Topic 7A: Parallel performance and Amdahl reasoning, course slides, 2024, pp. 6–15,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18–27.</a:t>
            </a:r>
          </a:p>
        </p:txBody>
      </p:sp>
      <p:sp>
        <p:nvSpPr>
          <p:cNvPr id="6" name="../context/FIT3143-Topic-7A-2024.pdf">
            <a:extLst xmlns:a="http://schemas.openxmlformats.org/drawingml/2006/main">
              <a:ext uri="{FF2B5EF4-FFF2-40B4-BE49-F238E27FC236}">
                <a16:creationId xmlns:a16="http://schemas.microsoft.com/office/drawing/2014/main" id="{FA0F9C92-A959-4CFB-B96E-D7CC184D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../context/FIT3143-Topic-7A-2024.pdf</a:t>
            </a:r>
          </a:p>
        </p:txBody>
      </p:sp>
      <p:sp>
        <p:nvSpPr>
          <p:cNvPr id="7" name="[3] Monash University, FIT3143 Topic 9A: Synchronizatio">
            <a:extLst xmlns:a="http://schemas.openxmlformats.org/drawingml/2006/main">
              <a:ext uri="{FF2B5EF4-FFF2-40B4-BE49-F238E27FC236}">
                <a16:creationId xmlns:a16="http://schemas.microsoft.com/office/drawing/2014/main" id="{FDEDAEDD-CF17-4642-AB29-EE564F96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Monash University, FIT3143 Topic 9A: Synchronization and dependencies, course slides, 2024, pp. 2–7.</a:t>
            </a:r>
          </a:p>
        </p:txBody>
      </p:sp>
      <p:sp>
        <p:nvSpPr>
          <p:cNvPr id="8" name="../context/FIT3143-Topic-9A-2024.pdf">
            <a:extLst xmlns:a="http://schemas.openxmlformats.org/drawingml/2006/main">
              <a:ext uri="{FF2B5EF4-FFF2-40B4-BE49-F238E27FC236}">
                <a16:creationId xmlns:a16="http://schemas.microsoft.com/office/drawing/2014/main" id="{EA5A7D9F-DE2D-4CE1-A1E7-97A1903A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../context/FIT3143-Topic-9A-2024.pdf</a:t>
            </a:r>
          </a:p>
        </p:txBody>
      </p:sp>
      <p:sp>
        <p:nvSpPr>
          <p:cNvPr id="9" name="[4] NVIDIA, “Programming model,” CUDA Programming Guide">
            <a:extLst xmlns:a="http://schemas.openxmlformats.org/drawingml/2006/main">
              <a:ext uri="{FF2B5EF4-FFF2-40B4-BE49-F238E27FC236}">
                <a16:creationId xmlns:a16="http://schemas.microsoft.com/office/drawing/2014/main" id="{85F9A38A-6BDC-4D80-9684-641AC1CF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[4] NVIDIA, “Programming model,” CUDA Programming Guide, online documentation, accessed Oct. 8, 2026.</a:t>
            </a:r>
          </a:p>
        </p:txBody>
      </p:sp>
      <p:sp>
        <p:nvSpPr>
          <p:cNvPr id="10" name="https://docs.nvidia.com/cuda/cuda-programming-guide/01-">
            <a:extLst xmlns:a="http://schemas.openxmlformats.org/drawingml/2006/main">
              <a:ext uri="{FF2B5EF4-FFF2-40B4-BE49-F238E27FC236}">
                <a16:creationId xmlns:a16="http://schemas.microsoft.com/office/drawing/2014/main" id="{4F4D2405-205B-4E69-A000-E56B880E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191515eef4a4e2f"/>
              </a:rPr>
              <a:t>https://docs.nvidia.com/cuda/cuda-programming-guide/01-introduction/programming-model.html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ABAEB-7F5B-4798-A8F2-03AD0A14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1FB82F86-26A3-4D53-9984-E771CE69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5 / 41">
            <a:extLst xmlns:a="http://schemas.openxmlformats.org/drawingml/2006/main">
              <a:ext uri="{FF2B5EF4-FFF2-40B4-BE49-F238E27FC236}">
                <a16:creationId xmlns:a16="http://schemas.microsoft.com/office/drawing/2014/main" id="{760AD83A-9530-4FA3-85BA-19928603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35 / 41</a:t>
            </a:r>
          </a:p>
        </p:txBody>
      </p:sp>
    </p:spTree>
    <p:extLst>
      <p:ext uri="{BB962C8B-B14F-4D97-AF65-F5344CB8AC3E}">
        <p14:creationId xmlns:p14="http://schemas.microsoft.com/office/powerpoint/2010/main" val="4034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6">
            <a:extLst xmlns:a="http://schemas.openxmlformats.org/drawingml/2006/main">
              <a:ext uri="{FF2B5EF4-FFF2-40B4-BE49-F238E27FC236}">
                <a16:creationId xmlns:a16="http://schemas.microsoft.com/office/drawing/2014/main" id="{7D87DD14-F729-418B-B389-1103F57B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E67F0E7F-FE9F-4A69-A78C-D8AE2750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5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034A012E-A9FA-4F50-BAAA-9F3F7BE2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CUDA C++ Best Practices Guide, online documentation, accessed Oct. 8, 2026.</a:t>
            </a:r>
          </a:p>
        </p:txBody>
      </p:sp>
      <p:sp>
        <p:nvSpPr>
          <p:cNvPr id="4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0392FFAE-8CBC-4A30-B169-A1AAC049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46beb86c97d4411"/>
              </a:rPr>
              <a:t>https://docs.nvidia.com/cuda/cuda-c-best-practices-guide/index.html</a:t>
            </a:r>
          </a:p>
        </p:txBody>
      </p:sp>
      <p:sp>
        <p:nvSpPr>
          <p:cNvPr id="5" name="[6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B2489649-F09A-4B1F-9625-D13EB84F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NVIDIA, GPUDirect Storage Overview Guide, online documentation, accessed Oct. 8, 2026.</a:t>
            </a:r>
          </a:p>
        </p:txBody>
      </p:sp>
      <p:sp>
        <p:nvSpPr>
          <p:cNvPr id="6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7376C290-C96B-497A-A43E-734B60FE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553bd24e415484a"/>
              </a:rPr>
              <a:t>https://docs.nvidia.com/gpudirect-storage/overview-guide/index.html</a:t>
            </a:r>
          </a:p>
        </p:txBody>
      </p:sp>
      <p:sp>
        <p:nvSpPr>
          <p:cNvPr id="7" name="[7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7659C34F-7CC7-4A70-880D-FEAD8F67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NVIDIA, GPUDirect Storage Design Guide, online documentation, accessed Oct. 8, 2026.</a:t>
            </a:r>
          </a:p>
        </p:txBody>
      </p:sp>
      <p:sp>
        <p:nvSpPr>
          <p:cNvPr id="8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06D25564-4AA4-40A9-8113-F8DA938D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d1099cbc80e04c30"/>
              </a:rPr>
              <a:t>https://docs.nvidia.com/gpudirect-storage/design-guide/index.html</a:t>
            </a:r>
          </a:p>
        </p:txBody>
      </p:sp>
      <p:sp>
        <p:nvSpPr>
          <p:cNvPr id="9" name="[8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BFA4ACB4-2DD6-40D4-860E-3C5DEA11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NVIDIA, “Parallelism strategies guide,” Megatron Core, online documentation, accessed Oct. 8, 2026.</a:t>
            </a:r>
          </a:p>
        </p:txBody>
      </p:sp>
      <p:sp>
        <p:nvSpPr>
          <p:cNvPr id="10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033544D2-EAF9-4955-B381-669F90FC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ab9dfc793f54fb3"/>
              </a:rPr>
              <a:t>https://docs.nvidia.com/megatron-core/developer-guide/latest/user-guide/parallelism-guide.html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982DB-D98D-49ED-A3E7-6656B854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EBE6832-750A-44CE-8171-23014E73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6 / 41">
            <a:extLst xmlns:a="http://schemas.openxmlformats.org/drawingml/2006/main">
              <a:ext uri="{FF2B5EF4-FFF2-40B4-BE49-F238E27FC236}">
                <a16:creationId xmlns:a16="http://schemas.microsoft.com/office/drawing/2014/main" id="{34345C87-F70F-45C3-AAA3-1A63B1BB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36 / 41</a:t>
            </a:r>
          </a:p>
        </p:txBody>
      </p:sp>
    </p:spTree>
    <p:extLst>
      <p:ext uri="{BB962C8B-B14F-4D97-AF65-F5344CB8AC3E}">
        <p14:creationId xmlns:p14="http://schemas.microsoft.com/office/powerpoint/2010/main" val="153756464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6">
            <a:extLst xmlns:a="http://schemas.openxmlformats.org/drawingml/2006/main">
              <a:ext uri="{FF2B5EF4-FFF2-40B4-BE49-F238E27FC236}">
                <a16:creationId xmlns:a16="http://schemas.microsoft.com/office/drawing/2014/main" id="{356B4EDB-E478-4492-9858-F8607F8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B4E71665-0526-44CE-AD64-E2527BE1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9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E5A44FEF-65D1-4756-BC84-EE06E492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4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7A4ADA3E-46FE-41B0-83DD-9182D959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b181d92e8fb4af6"/>
              </a:rPr>
              <a:t>https://www.iea.org/reports/key-questions-on-energy-and-ai/executive-summary</a:t>
            </a:r>
          </a:p>
        </p:txBody>
      </p:sp>
      <p:sp>
        <p:nvSpPr>
          <p:cNvPr id="5" name="[10] U.S. National Science Foundation, “NAIRR at 2 year">
            <a:extLst xmlns:a="http://schemas.openxmlformats.org/drawingml/2006/main">
              <a:ext uri="{FF2B5EF4-FFF2-40B4-BE49-F238E27FC236}">
                <a16:creationId xmlns:a16="http://schemas.microsoft.com/office/drawing/2014/main" id="{861A1ADA-54F7-416A-B443-996D30E2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6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8B4DEA5B-B88B-420D-804E-42F6923A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c72cda3932b4277"/>
              </a:rPr>
              <a:t>https://www.nsf.gov/cise/updates/nairr-2-years-advancing-american-artificial-intelligence</a:t>
            </a:r>
          </a:p>
        </p:txBody>
      </p:sp>
      <p:sp>
        <p:nvSpPr>
          <p:cNvPr id="7" name="[11] E. Strubell, A. Ganesh, and A. McCallum, “Energy a">
            <a:extLst xmlns:a="http://schemas.openxmlformats.org/drawingml/2006/main">
              <a:ext uri="{FF2B5EF4-FFF2-40B4-BE49-F238E27FC236}">
                <a16:creationId xmlns:a16="http://schemas.microsoft.com/office/drawing/2014/main" id="{4CC193E0-3411-4B08-910B-F60A125D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8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DF9AEE59-5F72-458D-97B4-37AAB011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128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4348b489421c4e32"/>
              </a:rPr>
              <a:t>https://aclanthology.org/P19-1355/</a:t>
            </a:r>
          </a:p>
        </p:txBody>
      </p:sp>
      <p:sp>
        <p:nvSpPr>
          <p:cNvPr id="9" name="[12] P. Li, J. Yang, M. A. Islam, and S. Ren, “Making A">
            <a:extLst xmlns:a="http://schemas.openxmlformats.org/drawingml/2006/main">
              <a:ext uri="{FF2B5EF4-FFF2-40B4-BE49-F238E27FC236}">
                <a16:creationId xmlns:a16="http://schemas.microsoft.com/office/drawing/2014/main" id="{F341FBED-FBDA-482D-A91C-31FF6BC9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248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10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2F7281B3-0EEC-4527-B238-663373B5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474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dc1acbdb92794cba"/>
              </a:rPr>
              <a:t>https://arxiv.org/abs/2304.03271v5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E8238-95CF-4C80-8220-9818FBF8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B4011E7-C748-4025-9C22-F1C03EB5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7 / 41">
            <a:extLst xmlns:a="http://schemas.openxmlformats.org/drawingml/2006/main">
              <a:ext uri="{FF2B5EF4-FFF2-40B4-BE49-F238E27FC236}">
                <a16:creationId xmlns:a16="http://schemas.microsoft.com/office/drawing/2014/main" id="{053BC378-8EAD-4265-B2BA-99043DDD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37 / 41</a:t>
            </a:r>
          </a:p>
        </p:txBody>
      </p:sp>
    </p:spTree>
    <p:extLst>
      <p:ext uri="{BB962C8B-B14F-4D97-AF65-F5344CB8AC3E}">
        <p14:creationId xmlns:p14="http://schemas.microsoft.com/office/powerpoint/2010/main" val="123097475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4/6">
            <a:extLst xmlns:a="http://schemas.openxmlformats.org/drawingml/2006/main">
              <a:ext uri="{FF2B5EF4-FFF2-40B4-BE49-F238E27FC236}">
                <a16:creationId xmlns:a16="http://schemas.microsoft.com/office/drawing/2014/main" id="{EB994ADD-E5FB-453B-B2AE-139AE8AE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5118F066-4B84-42AB-A1CE-D873C0C3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3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BECB0B60-09BE-4D22-8642-BD2E3645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R. Schwartz, J. Dodge, N. A. Smith, and O. Etzioni, “Green AI,” arXiv:1907.10597, 2019.</a:t>
            </a:r>
          </a:p>
        </p:txBody>
      </p:sp>
      <p:sp>
        <p:nvSpPr>
          <p:cNvPr id="4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61DB1D07-840C-462A-8CEE-5D51B89F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602050a39534fac"/>
              </a:rPr>
              <a:t>https://arxiv.org/abs/1907.10597</a:t>
            </a:r>
          </a:p>
        </p:txBody>
      </p:sp>
      <p:sp>
        <p:nvSpPr>
          <p:cNvPr id="5" name="[14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42712547-286B-4712-928D-638749BB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L. Zhu, Z. Liu, and S. Han, “Deep leakage from gradients,” arXiv:1906.08935v2, 2019.</a:t>
            </a:r>
          </a:p>
        </p:txBody>
      </p:sp>
      <p:sp>
        <p:nvSpPr>
          <p:cNvPr id="6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9BFC0DD3-1D12-449B-B734-1CDC6665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b7033e05c814624"/>
              </a:rPr>
              <a:t>https://arxiv.org/abs/1906.08935v2</a:t>
            </a:r>
          </a:p>
        </p:txBody>
      </p:sp>
      <p:sp>
        <p:nvSpPr>
          <p:cNvPr id="7" name="[15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547E96F7-4FE1-40EA-B554-462D8727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8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7BFE9123-D072-49C1-92F4-50A4BCA2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abba5e56ca534115"/>
              </a:rPr>
              <a:t>https://aclanthology.org/2024.cl-3.8/</a:t>
            </a:r>
          </a:p>
        </p:txBody>
      </p:sp>
      <p:sp>
        <p:nvSpPr>
          <p:cNvPr id="9" name="[16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564B84A5-2165-46CF-ABEA-60F59718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10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AB7548CF-6DFD-4126-A0A6-49DF2BFF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935c9799613427c"/>
              </a:rPr>
              <a:t>https://arxiv.org/abs/2010.15581v1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E68E4-5D13-4872-9A2B-90A5A3F3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95C40736-C645-4165-A440-8D9552F1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8 / 41">
            <a:extLst xmlns:a="http://schemas.openxmlformats.org/drawingml/2006/main">
              <a:ext uri="{FF2B5EF4-FFF2-40B4-BE49-F238E27FC236}">
                <a16:creationId xmlns:a16="http://schemas.microsoft.com/office/drawing/2014/main" id="{61173C71-1336-4D4F-914E-4D9C5A97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38 / 41</a:t>
            </a:r>
          </a:p>
        </p:txBody>
      </p:sp>
    </p:spTree>
    <p:extLst>
      <p:ext uri="{BB962C8B-B14F-4D97-AF65-F5344CB8AC3E}">
        <p14:creationId xmlns:p14="http://schemas.microsoft.com/office/powerpoint/2010/main" val="132569209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5/6">
            <a:extLst xmlns:a="http://schemas.openxmlformats.org/drawingml/2006/main">
              <a:ext uri="{FF2B5EF4-FFF2-40B4-BE49-F238E27FC236}">
                <a16:creationId xmlns:a16="http://schemas.microsoft.com/office/drawing/2014/main" id="{1266D743-8DEF-4D4C-8CEB-AAA4098D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5/6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34F1660D-9D75-45A4-AEF9-4D6EA66F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7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D2107B8F-1E4C-4690-84B5-3945FF95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[17] A. Radovanovic et al., “Carbon-aware computing for datacenters,” arXiv:2106.11750v1, 2021.</a:t>
            </a:r>
          </a:p>
        </p:txBody>
      </p:sp>
      <p:sp>
        <p:nvSpPr>
          <p:cNvPr id="4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2B2DC030-D12A-49A8-AD72-1DCC578D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b3db490b935489f"/>
              </a:rPr>
              <a:t>https://arxiv.org/abs/2106.11750v1</a:t>
            </a:r>
          </a:p>
        </p:txBody>
      </p:sp>
      <p:sp>
        <p:nvSpPr>
          <p:cNvPr id="5" name="[18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71A2E7BF-1860-42D5-9DD0-C977DE5D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[18] OECD, “OECD AI Principles,” adopted 2019, updated 2024, accessed Oct. 8, 2026.</a:t>
            </a:r>
          </a:p>
        </p:txBody>
      </p:sp>
      <p:sp>
        <p:nvSpPr>
          <p:cNvPr id="6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22FDC825-DD3A-4BC3-8AD8-8F71DD85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91815253b994db4"/>
              </a:rPr>
              <a:t>https://www.oecd.org/en/topics/ai-principles.html</a:t>
            </a:r>
          </a:p>
        </p:txBody>
      </p:sp>
      <p:sp>
        <p:nvSpPr>
          <p:cNvPr id="7" name="[19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0AC2F343-62EE-4A01-83A1-D485F5FD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[19] NIST, AI Risk Management Framework 1.0 Playbook, framework 2023, current online resource, accessed Oct. 8, 2026.</a:t>
            </a:r>
          </a:p>
        </p:txBody>
      </p:sp>
      <p:sp>
        <p:nvSpPr>
          <p:cNvPr id="8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0609D00B-E0BC-4030-8024-ABF6ED3D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f566643ac5e4494"/>
              </a:rPr>
              <a:t>https://airc.nist.gov/airmf-resources/playbook/</a:t>
            </a:r>
          </a:p>
        </p:txBody>
      </p:sp>
      <p:sp>
        <p:nvSpPr>
          <p:cNvPr id="9" name="[20] NVIDIA, “Rotate,” NPP Image Geometry Transforms, C">
            <a:extLst xmlns:a="http://schemas.openxmlformats.org/drawingml/2006/main">
              <a:ext uri="{FF2B5EF4-FFF2-40B4-BE49-F238E27FC236}">
                <a16:creationId xmlns:a16="http://schemas.microsoft.com/office/drawing/2014/main" id="{3CD6419A-E6F3-46C4-B230-70F7A743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[20] NVIDIA, “Rotate,” NPP Image Geometry Transforms, CUDA 13.0.3 archive documentation, accessed Oct. 8, 2026.</a:t>
            </a:r>
          </a:p>
        </p:txBody>
      </p:sp>
      <p:sp>
        <p:nvSpPr>
          <p:cNvPr id="10" name="https://docs.nvidia.com/cuda/archive/13.0.3/npp/image_g">
            <a:extLst xmlns:a="http://schemas.openxmlformats.org/drawingml/2006/main">
              <a:ext uri="{FF2B5EF4-FFF2-40B4-BE49-F238E27FC236}">
                <a16:creationId xmlns:a16="http://schemas.microsoft.com/office/drawing/2014/main" id="{AC1BD934-9326-4AF3-BD91-E0E25296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914d4695dc7499f"/>
              </a:rPr>
              <a:t>https://docs.nvidia.com/cuda/archive/13.0.3/npp/image_geometry_transforms.html#rotate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DA7B6-FDAB-4572-9E5F-C5A1A8C1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04D271B-6B76-4151-83DF-B3A3E331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9 / 41">
            <a:extLst xmlns:a="http://schemas.openxmlformats.org/drawingml/2006/main">
              <a:ext uri="{FF2B5EF4-FFF2-40B4-BE49-F238E27FC236}">
                <a16:creationId xmlns:a16="http://schemas.microsoft.com/office/drawing/2014/main" id="{B64F44E0-5389-4D4A-BCEA-1CFF7646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39 / 41</a:t>
            </a:r>
          </a:p>
        </p:txBody>
      </p:sp>
    </p:spTree>
    <p:extLst>
      <p:ext uri="{BB962C8B-B14F-4D97-AF65-F5344CB8AC3E}">
        <p14:creationId xmlns:p14="http://schemas.microsoft.com/office/powerpoint/2010/main" val="213788516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ppendix • References 6/6">
            <a:extLst xmlns:a="http://schemas.openxmlformats.org/drawingml/2006/main">
              <a:ext uri="{FF2B5EF4-FFF2-40B4-BE49-F238E27FC236}">
                <a16:creationId xmlns:a16="http://schemas.microsoft.com/office/drawing/2014/main" id="{0193DCA9-A03A-45EA-A851-20250113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6/6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8DE1C53D-CB36-43DD-A2F0-878360D6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21] Monash University, FIT3143 Week 5 combined course ">
            <a:extLst xmlns:a="http://schemas.openxmlformats.org/drawingml/2006/main">
              <a:ext uri="{FF2B5EF4-FFF2-40B4-BE49-F238E27FC236}">
                <a16:creationId xmlns:a16="http://schemas.microsoft.com/office/drawing/2014/main" id="{3B7B9DD2-E468-4DD9-9D9B-96F82C57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[21] Monash University, FIT3143 Week 5 combined course material, MPI collectives, pp. 148–155.</a:t>
            </a:r>
          </a:p>
        </p:txBody>
      </p:sp>
      <p:sp>
        <p:nvSpPr>
          <p:cNvPr id="4" name="../context/FIT3143_Week_5_Combined.pdf">
            <a:extLst xmlns:a="http://schemas.openxmlformats.org/drawingml/2006/main">
              <a:ext uri="{FF2B5EF4-FFF2-40B4-BE49-F238E27FC236}">
                <a16:creationId xmlns:a16="http://schemas.microsoft.com/office/drawing/2014/main" id="{FD31E677-8DE2-4018-818F-4A648D28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../context/FIT3143_Week_5_Combined.pdf</a:t>
            </a:r>
          </a:p>
        </p:txBody>
      </p:sp>
      <p:sp>
        <p:nvSpPr>
          <p:cNvPr id="5" name="[22] Monash University, FIT3143 Topic 9B: Mutual exclus">
            <a:extLst xmlns:a="http://schemas.openxmlformats.org/drawingml/2006/main">
              <a:ext uri="{FF2B5EF4-FFF2-40B4-BE49-F238E27FC236}">
                <a16:creationId xmlns:a16="http://schemas.microsoft.com/office/drawing/2014/main" id="{82C9DE03-E17C-444F-8053-39D1D90F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[22] Monash University, FIT3143 Topic 9B: Mutual exclusion and resource allocation, course slides, 2024, pp. 4–16, 24–32.</a:t>
            </a:r>
          </a:p>
        </p:txBody>
      </p:sp>
      <p:sp>
        <p:nvSpPr>
          <p:cNvPr id="6" name="../context/FIT3143-Topic-9B-2024.pdf">
            <a:extLst xmlns:a="http://schemas.openxmlformats.org/drawingml/2006/main">
              <a:ext uri="{FF2B5EF4-FFF2-40B4-BE49-F238E27FC236}">
                <a16:creationId xmlns:a16="http://schemas.microsoft.com/office/drawing/2014/main" id="{522CA44B-BFFC-47C1-B269-CAC67DB9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../context/FIT3143-Topic-9B-2024.pdf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3AE2A-DEC6-4B0A-BA38-DB58FA30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6DC1B27-598C-4B99-88B6-C76C2D50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9" name="40 / 41">
            <a:extLst xmlns:a="http://schemas.openxmlformats.org/drawingml/2006/main">
              <a:ext uri="{FF2B5EF4-FFF2-40B4-BE49-F238E27FC236}">
                <a16:creationId xmlns:a16="http://schemas.microsoft.com/office/drawing/2014/main" id="{B19BB7E6-8CCC-43F4-B81D-88C9971C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40 / 41</a:t>
            </a:r>
          </a:p>
        </p:txBody>
      </p:sp>
    </p:spTree>
    <p:extLst>
      <p:ext uri="{BB962C8B-B14F-4D97-AF65-F5344CB8AC3E}">
        <p14:creationId xmlns:p14="http://schemas.microsoft.com/office/powerpoint/2010/main" val="181193541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5CAF8881-ACAD-45FF-B31A-0F8A19A3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use declaration">
            <a:extLst xmlns:a="http://schemas.openxmlformats.org/drawingml/2006/main">
              <a:ext uri="{FF2B5EF4-FFF2-40B4-BE49-F238E27FC236}">
                <a16:creationId xmlns:a16="http://schemas.microsoft.com/office/drawing/2014/main" id="{61E8EBA4-8B97-40D5-933D-84C721E3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use declaration</a:t>
            </a:r>
          </a:p>
        </p:txBody>
      </p:sp>
      <p:sp>
        <p:nvSpPr>
          <p:cNvPr id="3" name="AI model and tool">
            <a:extLst xmlns:a="http://schemas.openxmlformats.org/drawingml/2006/main">
              <a:ext uri="{FF2B5EF4-FFF2-40B4-BE49-F238E27FC236}">
                <a16:creationId xmlns:a16="http://schemas.microsoft.com/office/drawing/2014/main" id="{EF21860F-125F-4282-A934-3F0218F0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AI model and tool</a:t>
            </a:r>
          </a:p>
        </p:txBody>
      </p:sp>
      <p:sp>
        <p:nvSpPr>
          <p:cNvPr id="4" name="OpenAI GPT-6, accessed through Codex.">
            <a:extLst xmlns:a="http://schemas.openxmlformats.org/drawingml/2006/main">
              <a:ext uri="{FF2B5EF4-FFF2-40B4-BE49-F238E27FC236}">
                <a16:creationId xmlns:a16="http://schemas.microsoft.com/office/drawing/2014/main" id="{65A7B79A-C66F-42DA-AF82-B18E6896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GPT-6, accessed through Codex.</a:t>
            </a:r>
          </a:p>
        </p:txBody>
      </p:sp>
      <p:sp>
        <p:nvSpPr>
          <p:cNvPr id="5" name="How AI was used">
            <a:extLst xmlns:a="http://schemas.openxmlformats.org/drawingml/2006/main">
              <a:ext uri="{FF2B5EF4-FFF2-40B4-BE49-F238E27FC236}">
                <a16:creationId xmlns:a16="http://schemas.microsoft.com/office/drawing/2014/main" id="{032B9C9E-AD13-466F-A43A-85753765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How AI was used</a:t>
            </a:r>
          </a:p>
        </p:txBody>
      </p:sp>
      <p:sp>
        <p:nvSpPr>
          <p:cNvPr id="6" name="Research and source checks; drafting and revision of ex">
            <a:extLst xmlns:a="http://schemas.openxmlformats.org/drawingml/2006/main">
              <a:ext uri="{FF2B5EF4-FFF2-40B4-BE49-F238E27FC236}">
                <a16:creationId xmlns:a16="http://schemas.microsoft.com/office/drawing/2014/main" id="{5DEFE09F-449A-4253-A2AC-C67D94FD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and source checks; drafting and revision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 explanations and CUDA teaching examples;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creation of diagrams and charts; presentation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formatting and assembly.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62E6D-8240-47CE-A8C6-A8CF59F9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FDD13-C59B-4AD9-AD4D-452A4C6C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9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5E88205-1AD1-42F1-86B8-A7598857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0" name="41 / 41">
            <a:extLst xmlns:a="http://schemas.openxmlformats.org/drawingml/2006/main">
              <a:ext uri="{FF2B5EF4-FFF2-40B4-BE49-F238E27FC236}">
                <a16:creationId xmlns:a16="http://schemas.microsoft.com/office/drawing/2014/main" id="{E750A2F0-6683-428C-B58B-23D6E902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41 / 41</a:t>
            </a:r>
          </a:p>
        </p:txBody>
      </p:sp>
    </p:spTree>
    <p:extLst>
      <p:ext uri="{BB962C8B-B14F-4D97-AF65-F5344CB8AC3E}">
        <p14:creationId xmlns:p14="http://schemas.microsoft.com/office/powerpoint/2010/main" val="127183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2026-10-08T12:41:17.8190000Z</dcterms:created>
  <dcterms:modified xsi:type="dcterms:W3CDTF">2026-10-08T12:41:17.8200000Z</dcterms:modified>
</coreProperties>
</file>