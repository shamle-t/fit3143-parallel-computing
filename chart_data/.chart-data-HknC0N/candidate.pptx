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593251225c4c7c" /><Relationship Type="http://schemas.openxmlformats.org/officeDocument/2006/relationships/extended-properties" Target="/docProps/app.xml" Id="Rda8e33bef35c4fab" /><Relationship Type="http://schemas.openxmlformats.org/officeDocument/2006/relationships/officeDocument" Target="/ppt/presentation.xml" Id="Ra03297668f234f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46df927c0734ed2"/>
  </p:sldMasterIdLst>
  <p:notesMasterIdLst>
    <p:notesMasterId xmlns:r="http://schemas.openxmlformats.org/officeDocument/2006/relationships" r:id="R018d1b8a31624856"/>
  </p:notesMasterIdLst>
  <p:sldIdLst>
    <p:sldId xmlns:r="http://schemas.openxmlformats.org/officeDocument/2006/relationships" id="256" r:id="Rf3e62e1188ca4a0c"/>
    <p:sldId xmlns:r="http://schemas.openxmlformats.org/officeDocument/2006/relationships" id="257" r:id="Ra7570633ad624fdf"/>
    <p:sldId xmlns:r="http://schemas.openxmlformats.org/officeDocument/2006/relationships" id="258" r:id="R86a73bbf69ea4bab"/>
    <p:sldId xmlns:r="http://schemas.openxmlformats.org/officeDocument/2006/relationships" id="259" r:id="R92af0a4ec5824654"/>
    <p:sldId xmlns:r="http://schemas.openxmlformats.org/officeDocument/2006/relationships" id="260" r:id="R0052ca2ec57741b9"/>
    <p:sldId xmlns:r="http://schemas.openxmlformats.org/officeDocument/2006/relationships" id="261" r:id="R4aeb915ca50b4093"/>
    <p:sldId xmlns:r="http://schemas.openxmlformats.org/officeDocument/2006/relationships" id="262" r:id="R596864ab5daf40c5"/>
    <p:sldId xmlns:r="http://schemas.openxmlformats.org/officeDocument/2006/relationships" id="263" r:id="R8b2fe99969e14a45"/>
    <p:sldId xmlns:r="http://schemas.openxmlformats.org/officeDocument/2006/relationships" id="264" r:id="Rdd62ee6893d54fdb"/>
    <p:sldId xmlns:r="http://schemas.openxmlformats.org/officeDocument/2006/relationships" id="265" r:id="Rff8fb0016237438c"/>
    <p:sldId xmlns:r="http://schemas.openxmlformats.org/officeDocument/2006/relationships" id="266" r:id="R4f3cd801b93244aa"/>
    <p:sldId xmlns:r="http://schemas.openxmlformats.org/officeDocument/2006/relationships" id="267" r:id="Rc1ccfd503f6041d3"/>
    <p:sldId xmlns:r="http://schemas.openxmlformats.org/officeDocument/2006/relationships" id="268" r:id="R5ba29b1a7fa74d18"/>
    <p:sldId xmlns:r="http://schemas.openxmlformats.org/officeDocument/2006/relationships" id="269" r:id="R888dc4f935da4423"/>
    <p:sldId xmlns:r="http://schemas.openxmlformats.org/officeDocument/2006/relationships" id="270" r:id="Rd88a0e8cd52b475b"/>
    <p:sldId xmlns:r="http://schemas.openxmlformats.org/officeDocument/2006/relationships" id="271" r:id="R8e4a0b230f604b3f"/>
    <p:sldId xmlns:r="http://schemas.openxmlformats.org/officeDocument/2006/relationships" id="272" r:id="Rb7db7b460c5e431d"/>
    <p:sldId xmlns:r="http://schemas.openxmlformats.org/officeDocument/2006/relationships" id="273" r:id="R54b224e30232475a"/>
    <p:sldId xmlns:r="http://schemas.openxmlformats.org/officeDocument/2006/relationships" id="274" r:id="R355a671a237640f4"/>
    <p:sldId xmlns:r="http://schemas.openxmlformats.org/officeDocument/2006/relationships" id="275" r:id="R175e033ac3f34836"/>
    <p:sldId xmlns:r="http://schemas.openxmlformats.org/officeDocument/2006/relationships" id="276" r:id="Rb4eb00afbc194599"/>
    <p:sldId xmlns:r="http://schemas.openxmlformats.org/officeDocument/2006/relationships" id="277" r:id="Rb69b2bacbdd14cc3"/>
    <p:sldId xmlns:r="http://schemas.openxmlformats.org/officeDocument/2006/relationships" id="278" r:id="R72f16f3c1a6445b7"/>
    <p:sldId xmlns:r="http://schemas.openxmlformats.org/officeDocument/2006/relationships" id="279" r:id="R32c979d2141f447e"/>
    <p:sldId xmlns:r="http://schemas.openxmlformats.org/officeDocument/2006/relationships" id="280" r:id="R2f58f112f1254e89"/>
    <p:sldId xmlns:r="http://schemas.openxmlformats.org/officeDocument/2006/relationships" id="281" r:id="Rbd7fab0fda734c0a"/>
    <p:sldId xmlns:r="http://schemas.openxmlformats.org/officeDocument/2006/relationships" id="282" r:id="Re336f90327ef4415"/>
    <p:sldId xmlns:r="http://schemas.openxmlformats.org/officeDocument/2006/relationships" id="283" r:id="Re02cce69aa9d45ba"/>
    <p:sldId xmlns:r="http://schemas.openxmlformats.org/officeDocument/2006/relationships" id="284" r:id="R1e5c6cdc603345a3"/>
    <p:sldId xmlns:r="http://schemas.openxmlformats.org/officeDocument/2006/relationships" id="285" r:id="R4cb62783da0e4cb1"/>
    <p:sldId xmlns:r="http://schemas.openxmlformats.org/officeDocument/2006/relationships" id="286" r:id="R3319bf8bc8f04798"/>
    <p:sldId xmlns:r="http://schemas.openxmlformats.org/officeDocument/2006/relationships" id="287" r:id="R4c50635eb1484e3b"/>
    <p:sldId xmlns:r="http://schemas.openxmlformats.org/officeDocument/2006/relationships" id="288" r:id="R9ad0dfd0a971497b"/>
    <p:sldId xmlns:r="http://schemas.openxmlformats.org/officeDocument/2006/relationships" id="289" r:id="R2627c1ae127e4ad7"/>
    <p:sldId xmlns:r="http://schemas.openxmlformats.org/officeDocument/2006/relationships" id="290" r:id="Rb3e5547c296046c9"/>
    <p:sldId xmlns:r="http://schemas.openxmlformats.org/officeDocument/2006/relationships" id="291" r:id="R07745505660e49b3"/>
    <p:sldId xmlns:r="http://schemas.openxmlformats.org/officeDocument/2006/relationships" id="292" r:id="R4887db46bd0b451e"/>
    <p:sldId xmlns:r="http://schemas.openxmlformats.org/officeDocument/2006/relationships" id="293" r:id="R61398efc1b0549e7"/>
    <p:sldId xmlns:r="http://schemas.openxmlformats.org/officeDocument/2006/relationships" id="294" r:id="R3e5bab5cead14574"/>
    <p:sldId xmlns:r="http://schemas.openxmlformats.org/officeDocument/2006/relationships" id="295" r:id="Rb2067633d8c94ae5"/>
    <p:sldId xmlns:r="http://schemas.openxmlformats.org/officeDocument/2006/relationships" id="296" r:id="Rd867182cce0e496c"/>
    <p:sldId xmlns:r="http://schemas.openxmlformats.org/officeDocument/2006/relationships" id="297" r:id="R1fa5acc98e56441d"/>
    <p:sldId xmlns:r="http://schemas.openxmlformats.org/officeDocument/2006/relationships" id="298" r:id="R5501c4e0c0574c2d"/>
    <p:sldId xmlns:r="http://schemas.openxmlformats.org/officeDocument/2006/relationships" id="299" r:id="R3dac262912c14426"/>
    <p:sldId xmlns:r="http://schemas.openxmlformats.org/officeDocument/2006/relationships" id="300" r:id="R7e7d9b1810ce4752"/>
    <p:sldId xmlns:r="http://schemas.openxmlformats.org/officeDocument/2006/relationships" id="301" r:id="R972a798db5ee4153"/>
    <p:sldId xmlns:r="http://schemas.openxmlformats.org/officeDocument/2006/relationships" id="302" r:id="R31a9be9fac1440f9"/>
    <p:sldId xmlns:r="http://schemas.openxmlformats.org/officeDocument/2006/relationships" id="303" r:id="R994745f947db418c"/>
    <p:sldId xmlns:r="http://schemas.openxmlformats.org/officeDocument/2006/relationships" id="304" r:id="Rff272d703bd64a9c"/>
    <p:sldId xmlns:r="http://schemas.openxmlformats.org/officeDocument/2006/relationships" id="305" r:id="R8b2900ae329c4d0a"/>
    <p:sldId xmlns:r="http://schemas.openxmlformats.org/officeDocument/2006/relationships" id="306" r:id="R0b1880c99ed74d51"/>
    <p:sldId xmlns:r="http://schemas.openxmlformats.org/officeDocument/2006/relationships" id="307" r:id="R8ba01c44f5844183"/>
    <p:sldId xmlns:r="http://schemas.openxmlformats.org/officeDocument/2006/relationships" id="308" r:id="R5409bc365ad24468"/>
    <p:sldId xmlns:r="http://schemas.openxmlformats.org/officeDocument/2006/relationships" id="309" r:id="R88315b62690941f9"/>
    <p:sldId xmlns:r="http://schemas.openxmlformats.org/officeDocument/2006/relationships" id="310" r:id="Rf638ac78c94449c6"/>
    <p:sldId xmlns:r="http://schemas.openxmlformats.org/officeDocument/2006/relationships" id="311" r:id="Rc02b7906864b4d98"/>
    <p:sldId xmlns:r="http://schemas.openxmlformats.org/officeDocument/2006/relationships" id="312" r:id="R958ac69ce6ce4c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6cb0dd84eb423d" /><Relationship Type="http://schemas.openxmlformats.org/officeDocument/2006/relationships/slideMaster" Target="/ppt/slideMasters/slideMaster1.xml" Id="R846df927c0734ed2" /><Relationship Type="http://schemas.openxmlformats.org/officeDocument/2006/relationships/notesMaster" Target="/ppt/notesMasters/notesMaster1.xml" Id="R018d1b8a31624856" /><Relationship Type="http://schemas.openxmlformats.org/officeDocument/2006/relationships/presProps" Target="/ppt/presProps.xml" Id="Rbce5a2a4ec7a4446" /><Relationship Type="http://schemas.openxmlformats.org/officeDocument/2006/relationships/tableStyles" Target="/ppt/tableStyles.xml" Id="R32ad20d6c40242c5" /><Relationship Type="http://schemas.openxmlformats.org/officeDocument/2006/relationships/slide" Target="/ppt/slides/slide1.xml" Id="Rf3e62e1188ca4a0c" /><Relationship Type="http://schemas.openxmlformats.org/officeDocument/2006/relationships/slide" Target="/ppt/slides/slide2.xml" Id="Ra7570633ad624fdf" /><Relationship Type="http://schemas.openxmlformats.org/officeDocument/2006/relationships/slide" Target="/ppt/slides/slide3.xml" Id="R86a73bbf69ea4bab" /><Relationship Type="http://schemas.openxmlformats.org/officeDocument/2006/relationships/slide" Target="/ppt/slides/slide4.xml" Id="R92af0a4ec5824654" /><Relationship Type="http://schemas.openxmlformats.org/officeDocument/2006/relationships/slide" Target="/ppt/slides/slide5.xml" Id="R0052ca2ec57741b9" /><Relationship Type="http://schemas.openxmlformats.org/officeDocument/2006/relationships/slide" Target="/ppt/slides/slide6.xml" Id="R4aeb915ca50b4093" /><Relationship Type="http://schemas.openxmlformats.org/officeDocument/2006/relationships/slide" Target="/ppt/slides/slide7.xml" Id="R596864ab5daf40c5" /><Relationship Type="http://schemas.openxmlformats.org/officeDocument/2006/relationships/slide" Target="/ppt/slides/slide8.xml" Id="R8b2fe99969e14a45" /><Relationship Type="http://schemas.openxmlformats.org/officeDocument/2006/relationships/slide" Target="/ppt/slides/slide9.xml" Id="Rdd62ee6893d54fdb" /><Relationship Type="http://schemas.openxmlformats.org/officeDocument/2006/relationships/slide" Target="/ppt/slides/slide10.xml" Id="Rff8fb0016237438c" /><Relationship Type="http://schemas.openxmlformats.org/officeDocument/2006/relationships/slide" Target="/ppt/slides/slide11.xml" Id="R4f3cd801b93244aa" /><Relationship Type="http://schemas.openxmlformats.org/officeDocument/2006/relationships/slide" Target="/ppt/slides/slide12.xml" Id="Rc1ccfd503f6041d3" /><Relationship Type="http://schemas.openxmlformats.org/officeDocument/2006/relationships/slide" Target="/ppt/slides/slide13.xml" Id="R5ba29b1a7fa74d18" /><Relationship Type="http://schemas.openxmlformats.org/officeDocument/2006/relationships/slide" Target="/ppt/slides/slide14.xml" Id="R888dc4f935da4423" /><Relationship Type="http://schemas.openxmlformats.org/officeDocument/2006/relationships/slide" Target="/ppt/slides/slide15.xml" Id="Rd88a0e8cd52b475b" /><Relationship Type="http://schemas.openxmlformats.org/officeDocument/2006/relationships/slide" Target="/ppt/slides/slide16.xml" Id="R8e4a0b230f604b3f" /><Relationship Type="http://schemas.openxmlformats.org/officeDocument/2006/relationships/slide" Target="/ppt/slides/slide17.xml" Id="Rb7db7b460c5e431d" /><Relationship Type="http://schemas.openxmlformats.org/officeDocument/2006/relationships/slide" Target="/ppt/slides/slide18.xml" Id="R54b224e30232475a" /><Relationship Type="http://schemas.openxmlformats.org/officeDocument/2006/relationships/slide" Target="/ppt/slides/slide19.xml" Id="R355a671a237640f4" /><Relationship Type="http://schemas.openxmlformats.org/officeDocument/2006/relationships/slide" Target="/ppt/slides/slide20.xml" Id="R175e033ac3f34836" /><Relationship Type="http://schemas.openxmlformats.org/officeDocument/2006/relationships/slide" Target="/ppt/slides/slide21.xml" Id="Rb4eb00afbc194599" /><Relationship Type="http://schemas.openxmlformats.org/officeDocument/2006/relationships/slide" Target="/ppt/slides/slide22.xml" Id="Rb69b2bacbdd14cc3" /><Relationship Type="http://schemas.openxmlformats.org/officeDocument/2006/relationships/slide" Target="/ppt/slides/slide23.xml" Id="R72f16f3c1a6445b7" /><Relationship Type="http://schemas.openxmlformats.org/officeDocument/2006/relationships/slide" Target="/ppt/slides/slide24.xml" Id="R32c979d2141f447e" /><Relationship Type="http://schemas.openxmlformats.org/officeDocument/2006/relationships/slide" Target="/ppt/slides/slide25.xml" Id="R2f58f112f1254e89" /><Relationship Type="http://schemas.openxmlformats.org/officeDocument/2006/relationships/slide" Target="/ppt/slides/slide26.xml" Id="Rbd7fab0fda734c0a" /><Relationship Type="http://schemas.openxmlformats.org/officeDocument/2006/relationships/slide" Target="/ppt/slides/slide27.xml" Id="Re336f90327ef4415" /><Relationship Type="http://schemas.openxmlformats.org/officeDocument/2006/relationships/slide" Target="/ppt/slides/slide28.xml" Id="Re02cce69aa9d45ba" /><Relationship Type="http://schemas.openxmlformats.org/officeDocument/2006/relationships/slide" Target="/ppt/slides/slide29.xml" Id="R1e5c6cdc603345a3" /><Relationship Type="http://schemas.openxmlformats.org/officeDocument/2006/relationships/slide" Target="/ppt/slides/slide30.xml" Id="R4cb62783da0e4cb1" /><Relationship Type="http://schemas.openxmlformats.org/officeDocument/2006/relationships/slide" Target="/ppt/slides/slide31.xml" Id="R3319bf8bc8f04798" /><Relationship Type="http://schemas.openxmlformats.org/officeDocument/2006/relationships/slide" Target="/ppt/slides/slide32.xml" Id="R4c50635eb1484e3b" /><Relationship Type="http://schemas.openxmlformats.org/officeDocument/2006/relationships/slide" Target="/ppt/slides/slide33.xml" Id="R9ad0dfd0a971497b" /><Relationship Type="http://schemas.openxmlformats.org/officeDocument/2006/relationships/slide" Target="/ppt/slides/slide34.xml" Id="R2627c1ae127e4ad7" /><Relationship Type="http://schemas.openxmlformats.org/officeDocument/2006/relationships/slide" Target="/ppt/slides/slide35.xml" Id="Rb3e5547c296046c9" /><Relationship Type="http://schemas.openxmlformats.org/officeDocument/2006/relationships/slide" Target="/ppt/slides/slide36.xml" Id="R07745505660e49b3" /><Relationship Type="http://schemas.openxmlformats.org/officeDocument/2006/relationships/slide" Target="/ppt/slides/slide37.xml" Id="R4887db46bd0b451e" /><Relationship Type="http://schemas.openxmlformats.org/officeDocument/2006/relationships/slide" Target="/ppt/slides/slide38.xml" Id="R61398efc1b0549e7" /><Relationship Type="http://schemas.openxmlformats.org/officeDocument/2006/relationships/slide" Target="/ppt/slides/slide39.xml" Id="R3e5bab5cead14574" /><Relationship Type="http://schemas.openxmlformats.org/officeDocument/2006/relationships/slide" Target="/ppt/slides/slide40.xml" Id="Rb2067633d8c94ae5" /><Relationship Type="http://schemas.openxmlformats.org/officeDocument/2006/relationships/slide" Target="/ppt/slides/slide41.xml" Id="Rd867182cce0e496c" /><Relationship Type="http://schemas.openxmlformats.org/officeDocument/2006/relationships/slide" Target="/ppt/slides/slide42.xml" Id="R1fa5acc98e56441d" /><Relationship Type="http://schemas.openxmlformats.org/officeDocument/2006/relationships/slide" Target="/ppt/slides/slide43.xml" Id="R5501c4e0c0574c2d" /><Relationship Type="http://schemas.openxmlformats.org/officeDocument/2006/relationships/slide" Target="/ppt/slides/slide44.xml" Id="R3dac262912c14426" /><Relationship Type="http://schemas.openxmlformats.org/officeDocument/2006/relationships/slide" Target="/ppt/slides/slide45.xml" Id="R7e7d9b1810ce4752" /><Relationship Type="http://schemas.openxmlformats.org/officeDocument/2006/relationships/slide" Target="/ppt/slides/slide46.xml" Id="R972a798db5ee4153" /><Relationship Type="http://schemas.openxmlformats.org/officeDocument/2006/relationships/slide" Target="/ppt/slides/slide47.xml" Id="R31a9be9fac1440f9" /><Relationship Type="http://schemas.openxmlformats.org/officeDocument/2006/relationships/slide" Target="/ppt/slides/slide48.xml" Id="R994745f947db418c" /><Relationship Type="http://schemas.openxmlformats.org/officeDocument/2006/relationships/slide" Target="/ppt/slides/slide49.xml" Id="Rff272d703bd64a9c" /><Relationship Type="http://schemas.openxmlformats.org/officeDocument/2006/relationships/slide" Target="/ppt/slides/slide50.xml" Id="R8b2900ae329c4d0a" /><Relationship Type="http://schemas.openxmlformats.org/officeDocument/2006/relationships/slide" Target="/ppt/slides/slide51.xml" Id="R0b1880c99ed74d51" /><Relationship Type="http://schemas.openxmlformats.org/officeDocument/2006/relationships/slide" Target="/ppt/slides/slide52.xml" Id="R8ba01c44f5844183" /><Relationship Type="http://schemas.openxmlformats.org/officeDocument/2006/relationships/slide" Target="/ppt/slides/slide53.xml" Id="R5409bc365ad24468" /><Relationship Type="http://schemas.openxmlformats.org/officeDocument/2006/relationships/slide" Target="/ppt/slides/slide54.xml" Id="R88315b62690941f9" /><Relationship Type="http://schemas.openxmlformats.org/officeDocument/2006/relationships/slide" Target="/ppt/slides/slide55.xml" Id="Rf638ac78c94449c6" /><Relationship Type="http://schemas.openxmlformats.org/officeDocument/2006/relationships/slide" Target="/ppt/slides/slide56.xml" Id="Rc02b7906864b4d98" /><Relationship Type="http://schemas.openxmlformats.org/officeDocument/2006/relationships/slide" Target="/ppt/slides/slide57.xml" Id="R958ac69ce6ce4c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847daeb9a54c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96f1513642490b" /><Relationship Type="http://schemas.openxmlformats.org/officeDocument/2006/relationships/notesMaster" Target="/ppt/notesMasters/notesMaster1.xml" Id="Ra6c6789a21914f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c7a4f83f8b482f" /><Relationship Type="http://schemas.openxmlformats.org/officeDocument/2006/relationships/notesMaster" Target="/ppt/notesMasters/notesMaster1.xml" Id="R15cf2daa7bbd42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f5c76cfeaf41bf" /><Relationship Type="http://schemas.openxmlformats.org/officeDocument/2006/relationships/notesMaster" Target="/ppt/notesMasters/notesMaster1.xml" Id="R9d3cd93f4b2d4a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9f8c9cebc44ef7" /><Relationship Type="http://schemas.openxmlformats.org/officeDocument/2006/relationships/notesMaster" Target="/ppt/notesMasters/notesMaster1.xml" Id="Rf9dafead7e8c49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86a26d1f9f441d" /><Relationship Type="http://schemas.openxmlformats.org/officeDocument/2006/relationships/notesMaster" Target="/ppt/notesMasters/notesMaster1.xml" Id="Rbf4bd014f27b49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0e44fa4c9d4f87" /><Relationship Type="http://schemas.openxmlformats.org/officeDocument/2006/relationships/notesMaster" Target="/ppt/notesMasters/notesMaster1.xml" Id="R4236a52254624b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a9213b8bcd4fa6" /><Relationship Type="http://schemas.openxmlformats.org/officeDocument/2006/relationships/notesMaster" Target="/ppt/notesMasters/notesMaster1.xml" Id="Rab85f309e084491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71d60df9354173" /><Relationship Type="http://schemas.openxmlformats.org/officeDocument/2006/relationships/notesMaster" Target="/ppt/notesMasters/notesMaster1.xml" Id="R20b272d4edb145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a14b1bd0b94447" /><Relationship Type="http://schemas.openxmlformats.org/officeDocument/2006/relationships/notesMaster" Target="/ppt/notesMasters/notesMaster1.xml" Id="R21435a88fa9849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8693be43b694558" /><Relationship Type="http://schemas.openxmlformats.org/officeDocument/2006/relationships/notesMaster" Target="/ppt/notesMasters/notesMaster1.xml" Id="R584517853ce54e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27e4235ca54958" /><Relationship Type="http://schemas.openxmlformats.org/officeDocument/2006/relationships/notesMaster" Target="/ppt/notesMasters/notesMaster1.xml" Id="R8d3fe84754b54f0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44104fddc0496e" /><Relationship Type="http://schemas.openxmlformats.org/officeDocument/2006/relationships/notesMaster" Target="/ppt/notesMasters/notesMaster1.xml" Id="Rdc11565224dd42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9c2ce7ffbbe4fc8" /><Relationship Type="http://schemas.openxmlformats.org/officeDocument/2006/relationships/notesMaster" Target="/ppt/notesMasters/notesMaster1.xml" Id="Ra38e2e267c3e44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f774934288c4edd" /><Relationship Type="http://schemas.openxmlformats.org/officeDocument/2006/relationships/notesMaster" Target="/ppt/notesMasters/notesMaster1.xml" Id="R5c60bcbbc23546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c074bad4de4447" /><Relationship Type="http://schemas.openxmlformats.org/officeDocument/2006/relationships/notesMaster" Target="/ppt/notesMasters/notesMaster1.xml" Id="Rbc124d1c22e4413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cea9a58b9a44482" /><Relationship Type="http://schemas.openxmlformats.org/officeDocument/2006/relationships/notesMaster" Target="/ppt/notesMasters/notesMaster1.xml" Id="Ra2d335c9d15642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15c802cb972451b" /><Relationship Type="http://schemas.openxmlformats.org/officeDocument/2006/relationships/notesMaster" Target="/ppt/notesMasters/notesMaster1.xml" Id="R56bce94cc9c044c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4793e94db064736" /><Relationship Type="http://schemas.openxmlformats.org/officeDocument/2006/relationships/notesMaster" Target="/ppt/notesMasters/notesMaster1.xml" Id="Rac7fe88174cb4ce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ebb5721836649b8" /><Relationship Type="http://schemas.openxmlformats.org/officeDocument/2006/relationships/notesMaster" Target="/ppt/notesMasters/notesMaster1.xml" Id="Rf88cf3a15650409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7616d20afd94e87" /><Relationship Type="http://schemas.openxmlformats.org/officeDocument/2006/relationships/notesMaster" Target="/ppt/notesMasters/notesMaster1.xml" Id="R384f74ef08bb4ad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d811e50dcd841d9" /><Relationship Type="http://schemas.openxmlformats.org/officeDocument/2006/relationships/notesMaster" Target="/ppt/notesMasters/notesMaster1.xml" Id="R9258896dc0e1445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295bc8703364cff" /><Relationship Type="http://schemas.openxmlformats.org/officeDocument/2006/relationships/notesMaster" Target="/ppt/notesMasters/notesMaster1.xml" Id="R6a37a969ac40413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eca8ffdbe534b6a" /><Relationship Type="http://schemas.openxmlformats.org/officeDocument/2006/relationships/notesMaster" Target="/ppt/notesMasters/notesMaster1.xml" Id="R00bad7251f9848e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4adab4556fe4084" /><Relationship Type="http://schemas.openxmlformats.org/officeDocument/2006/relationships/notesMaster" Target="/ppt/notesMasters/notesMaster1.xml" Id="R02b7e62e8f834e4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8e8a102482249e8" /><Relationship Type="http://schemas.openxmlformats.org/officeDocument/2006/relationships/notesMaster" Target="/ppt/notesMasters/notesMaster1.xml" Id="R89cc2f1a7c424aa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7c4b5174be54607" /><Relationship Type="http://schemas.openxmlformats.org/officeDocument/2006/relationships/notesMaster" Target="/ppt/notesMasters/notesMaster1.xml" Id="Rc713ff62319845d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3f2b9e034864334" /><Relationship Type="http://schemas.openxmlformats.org/officeDocument/2006/relationships/notesMaster" Target="/ppt/notesMasters/notesMaster1.xml" Id="Ra768618c950a46f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d672bdee3f74b67" /><Relationship Type="http://schemas.openxmlformats.org/officeDocument/2006/relationships/notesMaster" Target="/ppt/notesMasters/notesMaster1.xml" Id="R4d73e8c6c74240f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5cbf5031f0d4521" /><Relationship Type="http://schemas.openxmlformats.org/officeDocument/2006/relationships/notesMaster" Target="/ppt/notesMasters/notesMaster1.xml" Id="Ra1ebed910f374e1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ceb0db0cffd4b7e" /><Relationship Type="http://schemas.openxmlformats.org/officeDocument/2006/relationships/notesMaster" Target="/ppt/notesMasters/notesMaster1.xml" Id="R49391c154732413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9945c61afb95434b" /><Relationship Type="http://schemas.openxmlformats.org/officeDocument/2006/relationships/notesMaster" Target="/ppt/notesMasters/notesMaster1.xml" Id="Rf35932e47742422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43fdfe27f0649dc" /><Relationship Type="http://schemas.openxmlformats.org/officeDocument/2006/relationships/notesMaster" Target="/ppt/notesMasters/notesMaster1.xml" Id="Rb3b773ee88b049e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1697f13d2bc4489" /><Relationship Type="http://schemas.openxmlformats.org/officeDocument/2006/relationships/notesMaster" Target="/ppt/notesMasters/notesMaster1.xml" Id="R4bc5257dc1854eb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cfef7b73a9b4efe" /><Relationship Type="http://schemas.openxmlformats.org/officeDocument/2006/relationships/notesMaster" Target="/ppt/notesMasters/notesMaster1.xml" Id="Rb72c0e95856346a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793183d5a32a4e3a" /><Relationship Type="http://schemas.openxmlformats.org/officeDocument/2006/relationships/notesMaster" Target="/ppt/notesMasters/notesMaster1.xml" Id="R552444bfd4e04f0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b8227bac60d54be7" /><Relationship Type="http://schemas.openxmlformats.org/officeDocument/2006/relationships/notesMaster" Target="/ppt/notesMasters/notesMaster1.xml" Id="Rcec90e07e7454e7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633f8c8e34c467f" /><Relationship Type="http://schemas.openxmlformats.org/officeDocument/2006/relationships/notesMaster" Target="/ppt/notesMasters/notesMaster1.xml" Id="R8a44130f9b3a490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a0b91cfcd124f38" /><Relationship Type="http://schemas.openxmlformats.org/officeDocument/2006/relationships/notesMaster" Target="/ppt/notesMasters/notesMaster1.xml" Id="Ra29af9d2fdf5482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4412b9445834e51" /><Relationship Type="http://schemas.openxmlformats.org/officeDocument/2006/relationships/notesMaster" Target="/ppt/notesMasters/notesMaster1.xml" Id="R292e361a83814b9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345d079ad26420c" /><Relationship Type="http://schemas.openxmlformats.org/officeDocument/2006/relationships/notesMaster" Target="/ppt/notesMasters/notesMaster1.xml" Id="Re1e6f8111c914dd6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4921bea8dad4fda" /><Relationship Type="http://schemas.openxmlformats.org/officeDocument/2006/relationships/notesMaster" Target="/ppt/notesMasters/notesMaster1.xml" Id="Ra46b83deca6a455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fbe15e313f14afa" /><Relationship Type="http://schemas.openxmlformats.org/officeDocument/2006/relationships/notesMaster" Target="/ppt/notesMasters/notesMaster1.xml" Id="R49ba8f0680a7406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294f49ba67b4c26" /><Relationship Type="http://schemas.openxmlformats.org/officeDocument/2006/relationships/notesMaster" Target="/ppt/notesMasters/notesMaster1.xml" Id="Rebf705b347b1474d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fbfcc81e04e46b8" /><Relationship Type="http://schemas.openxmlformats.org/officeDocument/2006/relationships/notesMaster" Target="/ppt/notesMasters/notesMaster1.xml" Id="Raf83c51cd5f44bd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c22a4fbfb214de2" /><Relationship Type="http://schemas.openxmlformats.org/officeDocument/2006/relationships/notesMaster" Target="/ppt/notesMasters/notesMaster1.xml" Id="Re85b2745bfb043cf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23606c104e44fd6" /><Relationship Type="http://schemas.openxmlformats.org/officeDocument/2006/relationships/notesMaster" Target="/ppt/notesMasters/notesMaster1.xml" Id="R3e9f1ed5c1f641c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6b3ff99f70a484a" /><Relationship Type="http://schemas.openxmlformats.org/officeDocument/2006/relationships/notesMaster" Target="/ppt/notesMasters/notesMaster1.xml" Id="Rb17737ddd3b844c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303f20c564e54552" /><Relationship Type="http://schemas.openxmlformats.org/officeDocument/2006/relationships/notesMaster" Target="/ppt/notesMasters/notesMaster1.xml" Id="Ref2ffe641ca14ca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bdb9f49cfb44374" /><Relationship Type="http://schemas.openxmlformats.org/officeDocument/2006/relationships/notesMaster" Target="/ppt/notesMasters/notesMaster1.xml" Id="Rc0fc9480a4774531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38cb8374b9644118" /><Relationship Type="http://schemas.openxmlformats.org/officeDocument/2006/relationships/notesMaster" Target="/ppt/notesMasters/notesMaster1.xml" Id="R5930b611b14e444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b4f5bd4c6a7d4b80" /><Relationship Type="http://schemas.openxmlformats.org/officeDocument/2006/relationships/notesMaster" Target="/ppt/notesMasters/notesMaster1.xml" Id="R148827a460e74f3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995d47021a354e54" /><Relationship Type="http://schemas.openxmlformats.org/officeDocument/2006/relationships/notesMaster" Target="/ppt/notesMasters/notesMaster1.xml" Id="R4d4795698e724a82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c56e785675284e7e" /><Relationship Type="http://schemas.openxmlformats.org/officeDocument/2006/relationships/notesMaster" Target="/ppt/notesMasters/notesMaster1.xml" Id="R95114ed51c29431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f436a1e99b2468e" /><Relationship Type="http://schemas.openxmlformats.org/officeDocument/2006/relationships/notesMaster" Target="/ppt/notesMasters/notesMaster1.xml" Id="Ra174b7097075421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fc28eb655ced4527" /><Relationship Type="http://schemas.openxmlformats.org/officeDocument/2006/relationships/notesMaster" Target="/ppt/notesMasters/notesMaster1.xml" Id="R2f497b86aeb84fa4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0f9830f787446fc" /><Relationship Type="http://schemas.openxmlformats.org/officeDocument/2006/relationships/notesMaster" Target="/ppt/notesMasters/notesMaster1.xml" Id="Rfec48038c33244c7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2ceadff1fc224cd4" /><Relationship Type="http://schemas.openxmlformats.org/officeDocument/2006/relationships/notesMaster" Target="/ppt/notesMasters/notesMaster1.xml" Id="R12f376e321a54f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[20] NVIDIA, “Rotate,” NPP Image Geometry Transforms, CUDA 13.0.3 archive documentation, accessed Oct. 8, 2026.</a:t>
            </a:r>
          </a:p>
          <a:p xmlns:a="http://schemas.openxmlformats.org/drawingml/2006/main">
            <a:r>
              <a:t>https://docs.nvidia.com/cuda/archive/13.0.3/npp/image_geometry_transforms.html#rotate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Monash University, FIT3143 Topic 9B: Mutual exclusion and resource allocation, course slides, 2024, pp. 4–16, 24–32.</a:t>
            </a:r>
          </a:p>
          <a:p xmlns:a="http://schemas.openxmlformats.org/drawingml/2006/main">
            <a:r>
              <a:t>../context/FIT3143-Topic-9B-2024.pdf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[1] Monash University, FIT3143 Topic 8: Vector processing, GPUs and NPUs, course slides, 2024, pp. 18–23, 32–35, 41–46.</a:t>
            </a:r>
          </a:p>
          <a:p xmlns:a="http://schemas.openxmlformats.org/drawingml/2006/main">
            <a:r>
              <a:t>../context/FIT3143-Topic-8-2024.pdf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[4] NVIDIA, “Programming model,” CUDA Programming Guide, online documentation, accessed Oct. 8, 2026.</a:t>
            </a:r>
          </a:p>
          <a:p xmlns:a="http://schemas.openxmlformats.org/drawingml/2006/main">
            <a:r>
              <a:t>https://docs.nvidia.com/cuda/cuda-programming-guide/01-introduction/programming-model.html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Monash University, FIT3143 Topic 9B: Mutual exclusion and resource allocation, course slides, 2024, pp. 4–16, 24–32.</a:t>
            </a:r>
          </a:p>
          <a:p xmlns:a="http://schemas.openxmlformats.org/drawingml/2006/main">
            <a:r>
              <a:t>../context/FIT3143-Topic-9B-2024.pdf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d45f70fa04a4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74ece03584b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c1522ae2d8407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d46d0a893949d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64e3a612e7401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2f970165c347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FD1332-7CB4-401C-813B-666453DDE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49D6050-1186-4739-9251-69D2417457D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0BA8618-0991-48E0-B910-537EEEEA51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B05289-7BA6-479F-B69A-AA7667A7FA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29BF4D8-3DA2-4F0E-B909-C7E7D9B5F71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FE3E9D-F787-4C68-9976-EC596137B3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AB396C-BA9F-438B-A3CA-21D17DF0D1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E5BE791-8C36-407F-A286-F5F83682C4A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11AE3E-50B9-4FB9-84DF-F6951B064E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54EEFE-3BA0-4637-8D4E-98188340DA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c445c7c9f34375" /><Relationship Type="http://schemas.openxmlformats.org/officeDocument/2006/relationships/slideLayout" Target="/ppt/slideLayouts/slideLayout1.xml" Id="R9ec82cd3ab284f04" /><Relationship Type="http://schemas.openxmlformats.org/officeDocument/2006/relationships/slideLayout" Target="/ppt/slideLayouts/slideLayout2.xml" Id="R6bc8a81cb8434920" /><Relationship Type="http://schemas.openxmlformats.org/officeDocument/2006/relationships/slideLayout" Target="/ppt/slideLayouts/slideLayout3.xml" Id="R0eb1e8c595bc46fa" /><Relationship Type="http://schemas.openxmlformats.org/officeDocument/2006/relationships/slideLayout" Target="/ppt/slideLayouts/slideLayout4.xml" Id="Red8390bf18b54e23" /><Relationship Type="http://schemas.openxmlformats.org/officeDocument/2006/relationships/slideLayout" Target="/ppt/slideLayouts/slideLayout5.xml" Id="R0d1a56f9db224fc0" /><Relationship Type="http://schemas.openxmlformats.org/officeDocument/2006/relationships/slideLayout" Target="/ppt/slideLayouts/slideLayout6.xml" Id="Rb4ecb04b2d8645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c82cd3ab284f04"/>
    <p:sldLayoutId xmlns:r="http://schemas.openxmlformats.org/officeDocument/2006/relationships" id="2147483650" r:id="R6bc8a81cb8434920"/>
    <p:sldLayoutId xmlns:r="http://schemas.openxmlformats.org/officeDocument/2006/relationships" id="2147483651" r:id="R0eb1e8c595bc46fa"/>
    <p:sldLayoutId xmlns:r="http://schemas.openxmlformats.org/officeDocument/2006/relationships" id="2147483652" r:id="Red8390bf18b54e23"/>
    <p:sldLayoutId xmlns:r="http://schemas.openxmlformats.org/officeDocument/2006/relationships" id="2147483653" r:id="R0d1a56f9db224fc0"/>
    <p:sldLayoutId xmlns:r="http://schemas.openxmlformats.org/officeDocument/2006/relationships" id="2147483654" r:id="Rb4ecb04b2d8645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adcdd325f44d2f" /><Relationship Type="http://schemas.openxmlformats.org/officeDocument/2006/relationships/notesSlide" Target="/ppt/notesSlides/notesSlide1.xml" Id="Re59ba0275df64b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be8a80df8d4533" /><Relationship Type="http://schemas.openxmlformats.org/officeDocument/2006/relationships/notesSlide" Target="/ppt/notesSlides/notesSlide2.xml" Id="Red339e276ef944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d5df2d64f047cb" /><Relationship Type="http://schemas.openxmlformats.org/officeDocument/2006/relationships/notesSlide" Target="/ppt/notesSlides/notesSlide3.xml" Id="R7b3f099337af49c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2b1e1d03454ffb" /><Relationship Type="http://schemas.openxmlformats.org/officeDocument/2006/relationships/notesSlide" Target="/ppt/notesSlides/notesSlide4.xml" Id="Rbcbeaba18de54c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a190c7604d41f1" /><Relationship Type="http://schemas.openxmlformats.org/officeDocument/2006/relationships/notesSlide" Target="/ppt/notesSlides/notesSlide5.xml" Id="R21e57abac3f044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c5c52dc87c4ca3" /><Relationship Type="http://schemas.openxmlformats.org/officeDocument/2006/relationships/notesSlide" Target="/ppt/notesSlides/notesSlide6.xml" Id="R1dc61e25f0484a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f948478e174042" /><Relationship Type="http://schemas.openxmlformats.org/officeDocument/2006/relationships/notesSlide" Target="/ppt/notesSlides/notesSlide7.xml" Id="R8671537b33d546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701a9d3b43496a" /><Relationship Type="http://schemas.openxmlformats.org/officeDocument/2006/relationships/notesSlide" Target="/ppt/notesSlides/notesSlide8.xml" Id="Rf71992c38ca041b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03e8af9c164add" /><Relationship Type="http://schemas.openxmlformats.org/officeDocument/2006/relationships/chart" Target="/ppt/slides/charts/chart1.xml" Id="R70523ba12cb24ce6" /><Relationship Type="http://schemas.openxmlformats.org/officeDocument/2006/relationships/chart" Target="/ppt/slides/charts/chart2.xml" Id="Rc37e857a532e4e6f" /><Relationship Type="http://schemas.openxmlformats.org/officeDocument/2006/relationships/notesSlide" Target="/ppt/notesSlides/notesSlide9.xml" Id="Rd5e784341b1146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54b973a5694a53" /><Relationship Type="http://schemas.openxmlformats.org/officeDocument/2006/relationships/notesSlide" Target="/ppt/notesSlides/notesSlide10.xml" Id="R14d0a98f912a48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66e583db344bed" /><Relationship Type="http://schemas.openxmlformats.org/officeDocument/2006/relationships/notesSlide" Target="/ppt/notesSlides/notesSlide11.xml" Id="R80f156629f8d45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fd492027f64fb5" /><Relationship Type="http://schemas.openxmlformats.org/officeDocument/2006/relationships/notesSlide" Target="/ppt/notesSlides/notesSlide12.xml" Id="R3c9691edcbb54f4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8543adabe74f5b" /><Relationship Type="http://schemas.openxmlformats.org/officeDocument/2006/relationships/notesSlide" Target="/ppt/notesSlides/notesSlide13.xml" Id="Reb48f0e6bb1e46e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45721db0014c0d" /><Relationship Type="http://schemas.openxmlformats.org/officeDocument/2006/relationships/notesSlide" Target="/ppt/notesSlides/notesSlide14.xml" Id="R453f8891e6264a1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4e95ba145f4e4c" /><Relationship Type="http://schemas.openxmlformats.org/officeDocument/2006/relationships/notesSlide" Target="/ppt/notesSlides/notesSlide15.xml" Id="R2768dbc0347f4fc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a741a1e5d64024" /><Relationship Type="http://schemas.openxmlformats.org/officeDocument/2006/relationships/notesSlide" Target="/ppt/notesSlides/notesSlide16.xml" Id="R382bb0422205432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4ab076b8e446b0" /><Relationship Type="http://schemas.openxmlformats.org/officeDocument/2006/relationships/notesSlide" Target="/ppt/notesSlides/notesSlide17.xml" Id="R22d51aea1f8345d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55ea7ed8c7465b" /><Relationship Type="http://schemas.openxmlformats.org/officeDocument/2006/relationships/notesSlide" Target="/ppt/notesSlides/notesSlide18.xml" Id="R6a983e8542c0428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20611370084cea" /><Relationship Type="http://schemas.openxmlformats.org/officeDocument/2006/relationships/notesSlide" Target="/ppt/notesSlides/notesSlide19.xml" Id="R840ec6389c65492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927beebba74909" /><Relationship Type="http://schemas.openxmlformats.org/officeDocument/2006/relationships/notesSlide" Target="/ppt/notesSlides/notesSlide20.xml" Id="R5b3badc5c47b45d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8302a0fb054588" /><Relationship Type="http://schemas.openxmlformats.org/officeDocument/2006/relationships/notesSlide" Target="/ppt/notesSlides/notesSlide21.xml" Id="Rdbbc782624224a2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3eb5930664484a" /><Relationship Type="http://schemas.openxmlformats.org/officeDocument/2006/relationships/notesSlide" Target="/ppt/notesSlides/notesSlide22.xml" Id="R41af8ee453c14dd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4c32b3e3ff4f97" /><Relationship Type="http://schemas.openxmlformats.org/officeDocument/2006/relationships/notesSlide" Target="/ppt/notesSlides/notesSlide23.xml" Id="R814d05fcb9e8487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1588c5357f48fc" /><Relationship Type="http://schemas.openxmlformats.org/officeDocument/2006/relationships/notesSlide" Target="/ppt/notesSlides/notesSlide24.xml" Id="R42e220b46e754d1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080ccf05f44721" /><Relationship Type="http://schemas.openxmlformats.org/officeDocument/2006/relationships/notesSlide" Target="/ppt/notesSlides/notesSlide25.xml" Id="R7f31eee8b2174f1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7380ceeead441e" /><Relationship Type="http://schemas.openxmlformats.org/officeDocument/2006/relationships/notesSlide" Target="/ppt/notesSlides/notesSlide26.xml" Id="Rd6a7714f8c6742f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c84548e34d4667" /><Relationship Type="http://schemas.openxmlformats.org/officeDocument/2006/relationships/notesSlide" Target="/ppt/notesSlides/notesSlide27.xml" Id="R8242a29adafa4b2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0e06c32fb5497a" /><Relationship Type="http://schemas.openxmlformats.org/officeDocument/2006/relationships/notesSlide" Target="/ppt/notesSlides/notesSlide28.xml" Id="R7da4e41a4b81489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aaf238a7d84487" /><Relationship Type="http://schemas.openxmlformats.org/officeDocument/2006/relationships/notesSlide" Target="/ppt/notesSlides/notesSlide29.xml" Id="R5c1cfe673be0496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339715012646e3" /><Relationship Type="http://schemas.openxmlformats.org/officeDocument/2006/relationships/notesSlide" Target="/ppt/notesSlides/notesSlide30.xml" Id="R6a0d8390258c48d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d5c9360d58414b" /><Relationship Type="http://schemas.openxmlformats.org/officeDocument/2006/relationships/notesSlide" Target="/ppt/notesSlides/notesSlide31.xml" Id="R3d0c4d4c21d643e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a36917441c49b6" /><Relationship Type="http://schemas.openxmlformats.org/officeDocument/2006/relationships/notesSlide" Target="/ppt/notesSlides/notesSlide32.xml" Id="R3424dc000b3b408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dfaa57161f4231" /><Relationship Type="http://schemas.openxmlformats.org/officeDocument/2006/relationships/notesSlide" Target="/ppt/notesSlides/notesSlide33.xml" Id="R6a883e82d766459b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4e4d9356c04732" /><Relationship Type="http://schemas.openxmlformats.org/officeDocument/2006/relationships/notesSlide" Target="/ppt/notesSlides/notesSlide34.xml" Id="R46dfd6fb55c4436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e888f7d3634ef6" /><Relationship Type="http://schemas.openxmlformats.org/officeDocument/2006/relationships/hyperlink" Target="https://docs.nvidia.com/cuda/cuda-programming-guide/01-introduction/programming-model.html" TargetMode="External" Id="R35f979988ffb4e17" /><Relationship Type="http://schemas.openxmlformats.org/officeDocument/2006/relationships/notesSlide" Target="/ppt/notesSlides/notesSlide35.xml" Id="Ra235d25baf5a47d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932882b5bb4b96" /><Relationship Type="http://schemas.openxmlformats.org/officeDocument/2006/relationships/hyperlink" Target="https://docs.nvidia.com/cuda/cuda-c-best-practices-guide/index.html" TargetMode="External" Id="R4463172f65fb4781" /><Relationship Type="http://schemas.openxmlformats.org/officeDocument/2006/relationships/hyperlink" Target="https://docs.nvidia.com/gpudirect-storage/overview-guide/index.html" TargetMode="External" Id="R1ae3998ab2864b35" /><Relationship Type="http://schemas.openxmlformats.org/officeDocument/2006/relationships/hyperlink" Target="https://docs.nvidia.com/gpudirect-storage/design-guide/index.html" TargetMode="External" Id="R5c6d6c7978c94a5b" /><Relationship Type="http://schemas.openxmlformats.org/officeDocument/2006/relationships/hyperlink" Target="https://docs.nvidia.com/megatron-core/developer-guide/latest/user-guide/parallelism-guide.html" TargetMode="External" Id="R8ac148a52e504a31" /><Relationship Type="http://schemas.openxmlformats.org/officeDocument/2006/relationships/notesSlide" Target="/ppt/notesSlides/notesSlide36.xml" Id="Re72403372e0d42e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2d091e4bb74ed1" /><Relationship Type="http://schemas.openxmlformats.org/officeDocument/2006/relationships/hyperlink" Target="https://www.iea.org/reports/key-questions-on-energy-and-ai/executive-summary" TargetMode="External" Id="Rd6957f9fa29c4629" /><Relationship Type="http://schemas.openxmlformats.org/officeDocument/2006/relationships/hyperlink" Target="https://www.nsf.gov/cise/updates/nairr-2-years-advancing-american-artificial-intelligence" TargetMode="External" Id="R6e531cfef8664893" /><Relationship Type="http://schemas.openxmlformats.org/officeDocument/2006/relationships/hyperlink" Target="https://aclanthology.org/P19-1355/" TargetMode="External" Id="Rf6dcb948bd2a4b53" /><Relationship Type="http://schemas.openxmlformats.org/officeDocument/2006/relationships/hyperlink" Target="https://arxiv.org/abs/2304.03271v5" TargetMode="External" Id="R5e1ace112a5a4474" /><Relationship Type="http://schemas.openxmlformats.org/officeDocument/2006/relationships/notesSlide" Target="/ppt/notesSlides/notesSlide37.xml" Id="R823191b5cc2c407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c671ca68d54173" /><Relationship Type="http://schemas.openxmlformats.org/officeDocument/2006/relationships/hyperlink" Target="https://arxiv.org/abs/1907.10597" TargetMode="External" Id="R436630f506144c02" /><Relationship Type="http://schemas.openxmlformats.org/officeDocument/2006/relationships/hyperlink" Target="https://arxiv.org/abs/1906.08935v2" TargetMode="External" Id="R9ece86e0a7c446fc" /><Relationship Type="http://schemas.openxmlformats.org/officeDocument/2006/relationships/hyperlink" Target="https://aclanthology.org/2024.cl-3.8/" TargetMode="External" Id="R859cebede39943ea" /><Relationship Type="http://schemas.openxmlformats.org/officeDocument/2006/relationships/hyperlink" Target="https://arxiv.org/abs/2010.15581v1" TargetMode="External" Id="R57d7d755eaed423d" /><Relationship Type="http://schemas.openxmlformats.org/officeDocument/2006/relationships/notesSlide" Target="/ppt/notesSlides/notesSlide38.xml" Id="Rd6eb033f466c4d0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076a0be7304b0d" /><Relationship Type="http://schemas.openxmlformats.org/officeDocument/2006/relationships/hyperlink" Target="https://arxiv.org/abs/2106.11750v1" TargetMode="External" Id="Rd36b5cc84e6f4bfd" /><Relationship Type="http://schemas.openxmlformats.org/officeDocument/2006/relationships/hyperlink" Target="https://www.oecd.org/en/topics/ai-principles.html" TargetMode="External" Id="R9f14b714186a4bb0" /><Relationship Type="http://schemas.openxmlformats.org/officeDocument/2006/relationships/hyperlink" Target="https://airc.nist.gov/airmf-resources/playbook/" TargetMode="External" Id="R6df93280368b4048" /><Relationship Type="http://schemas.openxmlformats.org/officeDocument/2006/relationships/hyperlink" Target="https://docs.nvidia.com/cuda/archive/13.0.3/npp/image_geometry_transforms.html#rotate" TargetMode="External" Id="R4ec63d68a9eb4868" /><Relationship Type="http://schemas.openxmlformats.org/officeDocument/2006/relationships/notesSlide" Target="/ppt/notesSlides/notesSlide39.xml" Id="Ra853d1e39b8d427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666e9a42b94445" /><Relationship Type="http://schemas.openxmlformats.org/officeDocument/2006/relationships/notesSlide" Target="/ppt/notesSlides/notesSlide40.xml" Id="R58b3acea6b9749f7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59fad99fff484e" /><Relationship Type="http://schemas.openxmlformats.org/officeDocument/2006/relationships/notesSlide" Target="/ppt/notesSlides/notesSlide41.xml" Id="R4299780a0f78469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18a3fe422e46bd" /><Relationship Type="http://schemas.openxmlformats.org/officeDocument/2006/relationships/notesSlide" Target="/ppt/notesSlides/notesSlide42.xml" Id="R9a2823e6a04a412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3543af80c14596" /><Relationship Type="http://schemas.openxmlformats.org/officeDocument/2006/relationships/notesSlide" Target="/ppt/notesSlides/notesSlide43.xml" Id="Rb9a8f106c1d0463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c56910aa84b79" /><Relationship Type="http://schemas.openxmlformats.org/officeDocument/2006/relationships/notesSlide" Target="/ppt/notesSlides/notesSlide44.xml" Id="Rbca770cfd2e848c9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a904bb3b904d00" /><Relationship Type="http://schemas.openxmlformats.org/officeDocument/2006/relationships/notesSlide" Target="/ppt/notesSlides/notesSlide45.xml" Id="R0a9103e727d247a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f3cf28a7b449e2" /><Relationship Type="http://schemas.openxmlformats.org/officeDocument/2006/relationships/notesSlide" Target="/ppt/notesSlides/notesSlide46.xml" Id="R3df1b3bcf98a48c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1a61c590234d3e" /><Relationship Type="http://schemas.openxmlformats.org/officeDocument/2006/relationships/notesSlide" Target="/ppt/notesSlides/notesSlide47.xml" Id="R39c26f71fc48455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1c918a4888438b" /><Relationship Type="http://schemas.openxmlformats.org/officeDocument/2006/relationships/notesSlide" Target="/ppt/notesSlides/notesSlide48.xml" Id="Rfbef0d47bf9d4145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9073d42d10427f" /><Relationship Type="http://schemas.openxmlformats.org/officeDocument/2006/relationships/notesSlide" Target="/ppt/notesSlides/notesSlide49.xml" Id="Rc19493ae719842b0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ff9713a6b1a4093" /><Relationship Type="http://schemas.openxmlformats.org/officeDocument/2006/relationships/notesSlide" Target="/ppt/notesSlides/notesSlide50.xml" Id="R706508913ed64eb2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05678ed93a4475" /><Relationship Type="http://schemas.openxmlformats.org/officeDocument/2006/relationships/notesSlide" Target="/ppt/notesSlides/notesSlide51.xml" Id="Rf13b14ccd8d04b7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d2276876564973" /><Relationship Type="http://schemas.openxmlformats.org/officeDocument/2006/relationships/notesSlide" Target="/ppt/notesSlides/notesSlide52.xml" Id="R6418ba4a4adc439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18a760671340e2" /><Relationship Type="http://schemas.openxmlformats.org/officeDocument/2006/relationships/notesSlide" Target="/ppt/notesSlides/notesSlide53.xml" Id="R6c546d5067c44756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ae9d5ef3454a81" /><Relationship Type="http://schemas.openxmlformats.org/officeDocument/2006/relationships/notesSlide" Target="/ppt/notesSlides/notesSlide54.xml" Id="R7ab5fd153cd84f16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b674b4f74e4ae4" /><Relationship Type="http://schemas.openxmlformats.org/officeDocument/2006/relationships/notesSlide" Target="/ppt/notesSlides/notesSlide55.xml" Id="Redeead855d84459e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b217e13ae444c3" /><Relationship Type="http://schemas.openxmlformats.org/officeDocument/2006/relationships/notesSlide" Target="/ppt/notesSlides/notesSlide56.xml" Id="R5b58d2008b0b4f60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0cabbe1d484bfa" /><Relationship Type="http://schemas.openxmlformats.org/officeDocument/2006/relationships/notesSlide" Target="/ppt/notesSlides/notesSlide57.xml" Id="R87905901795c49e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Electricity (TWh)</c:v>
          </c:tx>
          <c:spPr>
            <a:solidFill xmlns:a="http://schemas.openxmlformats.org/drawingml/2006/main">
              <a:srgbClr val="007B83"/>
            </a:solidFill>
          </c:spPr>
          <c:cat>
            <c:strRef>
              <c:f>'Chart Data'!$A$2:$A$3</c:f>
              <c:strCache>
                <c:ptCount val="2"/>
                <c:pt idx="0">
                  <c:v>2025 estimate</c:v>
                </c:pt>
                <c:pt idx="1">
                  <c:v>2030 projection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growth</c:v>
          </c:tx>
          <c:spPr>
            <a:solidFill xmlns:a="http://schemas.openxmlformats.org/drawingml/2006/main">
              <a:srgbClr val="B55E24"/>
            </a:solidFill>
          </c:spPr>
          <c:cat>
            <c:strRef>
              <c:f>'Chart Data'!$A$2:$A$3</c:f>
              <c:strCache>
                <c:ptCount val="2"/>
                <c:pt idx="0">
                  <c:v>All data centres</c:v>
                </c:pt>
                <c:pt idx="1">
                  <c:v>AI-focused subset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0.17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T3143 • Applied 2 • Tasks 1 and 2">
            <a:extLst xmlns:a="http://schemas.openxmlformats.org/drawingml/2006/main">
              <a:ext uri="{FF2B5EF4-FFF2-40B4-BE49-F238E27FC236}">
                <a16:creationId xmlns:a16="http://schemas.microsoft.com/office/drawing/2014/main" id="{675EEC4F-874F-444C-8628-8221C990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7D5"/>
                </a:solidFill>
                <a:latin typeface="Arial"/>
                <a:ea typeface="Arial"/>
                <a:cs typeface="Arial"/>
              </a:rPr>
              <a:t>FIT3143 • Applied 2 • Tasks 1 and 2</a:t>
            </a:r>
          </a:p>
        </p:txBody>
      </p:sp>
      <p:sp>
        <p:nvSpPr>
          <p:cNvPr id="2" name="GPU image rotation&#10;and responsible HPC for AI">
            <a:extLst xmlns:a="http://schemas.openxmlformats.org/drawingml/2006/main">
              <a:ext uri="{FF2B5EF4-FFF2-40B4-BE49-F238E27FC236}">
                <a16:creationId xmlns:a16="http://schemas.microsoft.com/office/drawing/2014/main" id="{FE80D16A-9C6E-41E8-B7F5-0EC8F78F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GPU image rotation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responsible HPC for AI</a:t>
            </a:r>
          </a:p>
        </p:txBody>
      </p:sp>
      <p:sp>
        <p:nvSpPr>
          <p:cNvPr id="3" name="CUDA design and performance • Evidence, trade-offs and ">
            <a:extLst xmlns:a="http://schemas.openxmlformats.org/drawingml/2006/main">
              <a:ext uri="{FF2B5EF4-FFF2-40B4-BE49-F238E27FC236}">
                <a16:creationId xmlns:a16="http://schemas.microsoft.com/office/drawing/2014/main" id="{5D20CF22-4AAA-4342-86D3-32AF12AC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CE4"/>
                </a:solidFill>
                <a:latin typeface="Arial"/>
                <a:ea typeface="Arial"/>
                <a:cs typeface="Arial"/>
              </a:rPr>
              <a:t>CUDA design and performance • Evidence, trade-offs and accountable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7A767-D39C-45A9-B843-BC36EDCD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7082"/>
            </a:solidFill>
            <a:prstDash val="solid"/>
          </a:ln>
        </p:spPr>
      </p:sp>
      <p:sp>
        <p:nvSpPr>
          <p:cNvPr id="5" name="Savin Vindiv De Alwis  ·  35221631">
            <a:extLst xmlns:a="http://schemas.openxmlformats.org/drawingml/2006/main">
              <a:ext uri="{FF2B5EF4-FFF2-40B4-BE49-F238E27FC236}">
                <a16:creationId xmlns:a16="http://schemas.microsoft.com/office/drawing/2014/main" id="{F5927EE6-EA2C-4E3B-9B42-AEE946600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· 35221631</a:t>
            </a:r>
          </a:p>
        </p:txBody>
      </p:sp>
      <p:sp>
        <p:nvSpPr>
          <p:cNvPr id="6" name="sdea0018@student.monash.edu">
            <a:extLst xmlns:a="http://schemas.openxmlformats.org/drawingml/2006/main">
              <a:ext uri="{FF2B5EF4-FFF2-40B4-BE49-F238E27FC236}">
                <a16:creationId xmlns:a16="http://schemas.microsoft.com/office/drawing/2014/main" id="{4EA3C984-F821-4A17-9A8C-5C6E2BDF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sdea0018@student.monash.edu</a:t>
            </a:r>
          </a:p>
        </p:txBody>
      </p:sp>
      <p:sp>
        <p:nvSpPr>
          <p:cNvPr id="7" name="Shamle Thilaksiri  ·  35512075">
            <a:extLst xmlns:a="http://schemas.openxmlformats.org/drawingml/2006/main">
              <a:ext uri="{FF2B5EF4-FFF2-40B4-BE49-F238E27FC236}">
                <a16:creationId xmlns:a16="http://schemas.microsoft.com/office/drawing/2014/main" id="{23731DB1-FA7F-40AE-BAA1-327D352E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Shamle Thilaksiri · 35512075</a:t>
            </a:r>
          </a:p>
        </p:txBody>
      </p:sp>
      <p:sp>
        <p:nvSpPr>
          <p:cNvPr id="8" name="wthi0003@student.monash.edu">
            <a:extLst xmlns:a="http://schemas.openxmlformats.org/drawingml/2006/main">
              <a:ext uri="{FF2B5EF4-FFF2-40B4-BE49-F238E27FC236}">
                <a16:creationId xmlns:a16="http://schemas.microsoft.com/office/drawing/2014/main" id="{A79E622F-EA57-476B-8F7E-5916C546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wthi0003@student.monash.edu</a:t>
            </a:r>
          </a:p>
        </p:txBody>
      </p:sp>
      <p:sp>
        <p:nvSpPr>
          <p:cNvPr id="9" name="8 October 2026  •  Detailed evidence, references and AI">
            <a:extLst xmlns:a="http://schemas.openxmlformats.org/drawingml/2006/main">
              <a:ext uri="{FF2B5EF4-FFF2-40B4-BE49-F238E27FC236}">
                <a16:creationId xmlns:a16="http://schemas.microsoft.com/office/drawing/2014/main" id="{819F944A-7479-4E9A-9698-3C00C7C0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858500" cy="21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8 October 2026 • Detailed evidence, references and AI records follow in the appendix</a:t>
            </a:r>
          </a:p>
        </p:txBody>
      </p:sp>
    </p:spTree>
    <p:extLst>
      <p:ext uri="{BB962C8B-B14F-4D97-AF65-F5344CB8AC3E}">
        <p14:creationId xmlns:p14="http://schemas.microsoft.com/office/powerpoint/2010/main" val="9154515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1348E-2D46-4CEF-A300-1C4CDC378E49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583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D4CE2B-037A-4844-A6B1-ED9DC77053C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342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14060-C940-425C-B0E4-00F39774B2C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101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1E8B8E-2F9F-43A5-ABC9-711816A07DA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86000" y="2962275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5" name="Task 1(a)">
            <a:extLst xmlns:a="http://schemas.openxmlformats.org/drawingml/2006/main">
              <a:ext uri="{FF2B5EF4-FFF2-40B4-BE49-F238E27FC236}">
                <a16:creationId xmlns:a16="http://schemas.microsoft.com/office/drawing/2014/main" id="{E31A524F-5B38-4432-8C9F-CD91B4FF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1(a)</a:t>
            </a:r>
          </a:p>
        </p:txBody>
      </p:sp>
      <p:sp>
        <p:nvSpPr>
          <p:cNvPr id="2" name="Host–GPU image data flow">
            <a:extLst xmlns:a="http://schemas.openxmlformats.org/drawingml/2006/main">
              <a:ext uri="{FF2B5EF4-FFF2-40B4-BE49-F238E27FC236}">
                <a16:creationId xmlns:a16="http://schemas.microsoft.com/office/drawing/2014/main" id="{D95DCAAA-268D-4F55-BC62-1060D27D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Host–GPU image data flow</a:t>
            </a:r>
          </a:p>
        </p:txBody>
      </p:sp>
      <p:sp>
        <p:nvSpPr>
          <p:cNvPr id="3" name="CPU: load/decode, allocate, launch, save">
            <a:extLst xmlns:a="http://schemas.openxmlformats.org/drawingml/2006/main">
              <a:ext uri="{FF2B5EF4-FFF2-40B4-BE49-F238E27FC236}">
                <a16:creationId xmlns:a16="http://schemas.microsoft.com/office/drawing/2014/main" id="{512DD0CB-F8E1-489D-B4EA-AB1D0B24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23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CPU: load/decode, allocate, launch, save</a:t>
            </a:r>
          </a:p>
        </p:txBody>
      </p:sp>
      <p:sp>
        <p:nvSpPr>
          <p:cNvPr id="4" name="GPU: read input, rotate, write output">
            <a:extLst xmlns:a="http://schemas.openxmlformats.org/drawingml/2006/main">
              <a:ext uri="{FF2B5EF4-FFF2-40B4-BE49-F238E27FC236}">
                <a16:creationId xmlns:a16="http://schemas.microsoft.com/office/drawing/2014/main" id="{9A4D7C3D-3786-4FBA-9C63-4A99974D6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24000"/>
            <a:ext cx="5257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GPU: read input, rotate, write output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D086B-16B1-403A-9F56-B734CFB5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encoded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BADC4-7C39-4C93-B031-EC3D8DC7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DDR example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pixels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C84D6-1F36-4473-BD74-0A5214DC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 buffer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77EE7-20F2-4434-9DE9-94C873F8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GDDR / HBM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buffer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A3BC3-0080-4429-A39E-FACD2451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86000"/>
            <a:ext cx="1676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RAM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pixels</a:t>
            </a:r>
          </a:p>
        </p:txBody>
      </p:sp>
      <p:sp>
        <p:nvSpPr>
          <p:cNvPr id="14" name="CPU&#10;decode">
            <a:extLst xmlns:a="http://schemas.openxmlformats.org/drawingml/2006/main">
              <a:ext uri="{FF2B5EF4-FFF2-40B4-BE49-F238E27FC236}">
                <a16:creationId xmlns:a16="http://schemas.microsoft.com/office/drawing/2014/main" id="{CA959052-65BC-4C6E-B69E-AD51CC8A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CPU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decode</a:t>
            </a:r>
          </a:p>
        </p:txBody>
      </p:sp>
      <p:sp>
        <p:nvSpPr>
          <p:cNvPr id="15" name="H2D&#10;PCIe">
            <a:extLst xmlns:a="http://schemas.openxmlformats.org/drawingml/2006/main">
              <a:ext uri="{FF2B5EF4-FFF2-40B4-BE49-F238E27FC236}">
                <a16:creationId xmlns:a16="http://schemas.microsoft.com/office/drawing/2014/main" id="{F1C60472-C735-4208-BE5B-D236367A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H2D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6" name="CUDA&#10;kernel">
            <a:extLst xmlns:a="http://schemas.openxmlformats.org/drawingml/2006/main">
              <a:ext uri="{FF2B5EF4-FFF2-40B4-BE49-F238E27FC236}">
                <a16:creationId xmlns:a16="http://schemas.microsoft.com/office/drawing/2014/main" id="{74EBBA1C-4152-4574-B958-FD3E6D1F7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CUDA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7" name="D2H&#10;PCIe">
            <a:extLst xmlns:a="http://schemas.openxmlformats.org/drawingml/2006/main">
              <a:ext uri="{FF2B5EF4-FFF2-40B4-BE49-F238E27FC236}">
                <a16:creationId xmlns:a16="http://schemas.microsoft.com/office/drawing/2014/main" id="{9BC9556C-B42E-4DDF-A8B9-F73E9385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828800"/>
            <a:ext cx="990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D2H</a:t>
            </a:r>
          </a:p>
          <a:p xmlns:a="http://schemas.openxmlformats.org/drawingml/2006/main">
            <a:pPr algn="ctr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PCIe</a:t>
            </a:r>
          </a:p>
        </p:txBody>
      </p:sp>
      <p:sp>
        <p:nvSpPr>
          <p:cNvPr id="18" name="H2D: host → device. D2H: device → host. Separate buffer">
            <a:extLst xmlns:a="http://schemas.openxmlformats.org/drawingml/2006/main">
              <a:ext uri="{FF2B5EF4-FFF2-40B4-BE49-F238E27FC236}">
                <a16:creationId xmlns:a16="http://schemas.microsoft.com/office/drawing/2014/main" id="{4A099F79-DBA8-4925-923D-97CA5170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H2D: host → device. D2H: device → host. Separate buffers; DMA (direct memory access) engines transfer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over PCIe.</a:t>
            </a:r>
          </a:p>
        </p:txBody>
      </p:sp>
      <p:sp>
        <p:nvSpPr>
          <p:cNvPr id="19" name="GPU memory bandwidth differs from PCIe bandwidth. Pinne">
            <a:extLst xmlns:a="http://schemas.openxmlformats.org/drawingml/2006/main">
              <a:ext uri="{FF2B5EF4-FFF2-40B4-BE49-F238E27FC236}">
                <a16:creationId xmlns:a16="http://schemas.microsoft.com/office/drawing/2014/main" id="{1AE4A5CA-121A-45E7-A2F8-AFA62C87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222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 bandwidth differs from PCIe bandwidth. Pinned RAM supports DMA; pageable RAM may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stage. Complete output before saving or reuse.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FD794D-8483-449D-919F-6936F468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21" name="The CPU orchestrates I/O and launches; the GPU rotates ">
            <a:extLst xmlns:a="http://schemas.openxmlformats.org/drawingml/2006/main">
              <a:ext uri="{FF2B5EF4-FFF2-40B4-BE49-F238E27FC236}">
                <a16:creationId xmlns:a16="http://schemas.microsoft.com/office/drawing/2014/main" id="{5EA4608D-1F0E-4B87-B705-CA24AE83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CPU orchestrates I/O and launches; the GPU rotates decoded pixels.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18FC75-47D0-493D-B281-03A0D1BF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3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03C99684-C143-452B-B2BB-0C1E851F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24" name="2 / 57">
            <a:extLst xmlns:a="http://schemas.openxmlformats.org/drawingml/2006/main">
              <a:ext uri="{FF2B5EF4-FFF2-40B4-BE49-F238E27FC236}">
                <a16:creationId xmlns:a16="http://schemas.microsoft.com/office/drawing/2014/main" id="{1452D9C9-1C99-4105-AF18-5A7404D7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 / 57</a:t>
            </a:r>
          </a:p>
        </p:txBody>
      </p:sp>
    </p:spTree>
    <p:extLst>
      <p:ext uri="{BB962C8B-B14F-4D97-AF65-F5344CB8AC3E}">
        <p14:creationId xmlns:p14="http://schemas.microsoft.com/office/powerpoint/2010/main" val="19461143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4584C1-454B-40FA-8AA4-80B7FBA5E88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25063" y="2762250"/>
            <a:ext cx="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8" name="Task 1(b)">
            <a:extLst xmlns:a="http://schemas.openxmlformats.org/drawingml/2006/main">
              <a:ext uri="{FF2B5EF4-FFF2-40B4-BE49-F238E27FC236}">
                <a16:creationId xmlns:a16="http://schemas.microsoft.com/office/drawing/2014/main" id="{A9C3E5E9-F603-4B3B-A51F-08A2475C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Rotation as independent output work">
            <a:extLst xmlns:a="http://schemas.openxmlformats.org/drawingml/2006/main">
              <a:ext uri="{FF2B5EF4-FFF2-40B4-BE49-F238E27FC236}">
                <a16:creationId xmlns:a16="http://schemas.microsoft.com/office/drawing/2014/main" id="{6CD0D2C4-4041-4206-A59B-FB9B1558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 independent output work</a:t>
            </a:r>
          </a:p>
        </p:txBody>
      </p:sp>
      <p:sp>
        <p:nvSpPr>
          <p:cNvPr id="3" name="Inverse mapping in y-down image coordinates">
            <a:extLst xmlns:a="http://schemas.openxmlformats.org/drawingml/2006/main">
              <a:ext uri="{FF2B5EF4-FFF2-40B4-BE49-F238E27FC236}">
                <a16:creationId xmlns:a16="http://schemas.microsoft.com/office/drawing/2014/main" id="{9DC3A4B6-93A9-4DE1-93A9-57ECE83E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65722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Inverse mapping in y-down image coordinates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5155CF-A719-4240-B2BD-C227B400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680085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sx = c*(x-cx) - s*(y-cy) + cx;&#10;sy = s*(x-cx) + c*(y-cy)">
            <a:extLst xmlns:a="http://schemas.openxmlformats.org/drawingml/2006/main">
              <a:ext uri="{FF2B5EF4-FFF2-40B4-BE49-F238E27FC236}">
                <a16:creationId xmlns:a16="http://schemas.microsoft.com/office/drawing/2014/main" id="{071731E1-9776-4A44-A34D-17DA963A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6572250" cy="1146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sx = c*(x-cx) - s*(y-cy) + cx;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sy = s*(x-cx) + c*(y-cy) + cy;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ix = floor(sx + 0.5);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iy = floor(sy + 0.5);</a:t>
            </a:r>
          </a:p>
        </p:txBody>
      </p:sp>
      <p:sp>
        <p:nvSpPr>
          <p:cNvPr id="6" name="c = cos θ; s = sin θ; center = ((W−1)/2, (H−1)/2)">
            <a:extLst xmlns:a="http://schemas.openxmlformats.org/drawingml/2006/main">
              <a:ext uri="{FF2B5EF4-FFF2-40B4-BE49-F238E27FC236}">
                <a16:creationId xmlns:a16="http://schemas.microsoft.com/office/drawing/2014/main" id="{EEEADB92-A593-450D-B119-80B7B175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69913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cos θ; s = sin θ; center = ((W−1)/2, (H−1)/2)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17B28-EBA1-4F10-95E7-B0D34687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76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pixel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(x,y)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1B831D-738B-4F62-855F-29F73EED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00425"/>
            <a:ext cx="233362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 input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(ix,iy)</a:t>
            </a:r>
          </a:p>
        </p:txBody>
      </p:sp>
      <p:sp>
        <p:nvSpPr>
          <p:cNvPr id="10" name="lookup">
            <a:extLst xmlns:a="http://schemas.openxmlformats.org/drawingml/2006/main">
              <a:ext uri="{FF2B5EF4-FFF2-40B4-BE49-F238E27FC236}">
                <a16:creationId xmlns:a16="http://schemas.microsoft.com/office/drawing/2014/main" id="{C2394510-047E-4BDF-A09D-D2401C01B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24175"/>
            <a:ext cx="1066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lookup</a:t>
            </a:r>
          </a:p>
        </p:txBody>
      </p:sp>
      <p:sp>
        <p:nvSpPr>
          <p:cNvPr id="11" name="Positive θ rotates visually counterclockwise. Use a fix">
            <a:extLst xmlns:a="http://schemas.openxmlformats.org/drawingml/2006/main">
              <a:ext uri="{FF2B5EF4-FFF2-40B4-BE49-F238E27FC236}">
                <a16:creationId xmlns:a16="http://schemas.microsoft.com/office/drawing/2014/main" id="{CC3DA92E-6B8E-44B2-87C2-668722DD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7152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Positive θ rotates visually counterclockwise. Use a fixed canvas; rounded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source indices outside the image produce black.</a:t>
            </a:r>
          </a:p>
        </p:txBody>
      </p:sp>
      <p:sp>
        <p:nvSpPr>
          <p:cNvPr id="12" name="Brightness touches the same pixel in/out; rotation gath">
            <a:extLst xmlns:a="http://schemas.openxmlformats.org/drawingml/2006/main">
              <a:ext uri="{FF2B5EF4-FFF2-40B4-BE49-F238E27FC236}">
                <a16:creationId xmlns:a16="http://schemas.microsoft.com/office/drawing/2014/main" id="{554CF50A-155F-4AA7-9EED-62A3978F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8428"/>
            <a:ext cx="771525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Brightness touches the same pixel in/out; rotation gathers a different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source. Nearest-neighbour sampling is simple but can alias.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BC1BAB-1274-46A0-93CD-817ED0EA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4" name="One thread owns one output pixel: gather a source value">
            <a:extLst xmlns:a="http://schemas.openxmlformats.org/drawingml/2006/main">
              <a:ext uri="{FF2B5EF4-FFF2-40B4-BE49-F238E27FC236}">
                <a16:creationId xmlns:a16="http://schemas.microsoft.com/office/drawing/2014/main" id="{D71678ED-FCCF-46F0-BC41-FEAE3322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One thread owns one output pixel: gather a source value, then write once.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0F6E9-4D5D-4DE3-9162-10388B15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6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1C952E69-3B89-4BAA-A041-7EA73504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7" name="3 / 57">
            <a:extLst xmlns:a="http://schemas.openxmlformats.org/drawingml/2006/main">
              <a:ext uri="{FF2B5EF4-FFF2-40B4-BE49-F238E27FC236}">
                <a16:creationId xmlns:a16="http://schemas.microsoft.com/office/drawing/2014/main" id="{CBED0F8F-0F15-4334-9ECB-E178B383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 / 57</a:t>
            </a:r>
          </a:p>
        </p:txBody>
      </p:sp>
    </p:spTree>
    <p:extLst>
      <p:ext uri="{BB962C8B-B14F-4D97-AF65-F5344CB8AC3E}">
        <p14:creationId xmlns:p14="http://schemas.microsoft.com/office/powerpoint/2010/main" val="12077849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ask 1(b)">
            <a:extLst xmlns:a="http://schemas.openxmlformats.org/drawingml/2006/main">
              <a:ext uri="{FF2B5EF4-FFF2-40B4-BE49-F238E27FC236}">
                <a16:creationId xmlns:a16="http://schemas.microsoft.com/office/drawing/2014/main" id="{603742F6-FCE4-4A19-99C4-F1C85074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launch and execution hierarchy">
            <a:extLst xmlns:a="http://schemas.openxmlformats.org/drawingml/2006/main">
              <a:ext uri="{FF2B5EF4-FFF2-40B4-BE49-F238E27FC236}">
                <a16:creationId xmlns:a16="http://schemas.microsoft.com/office/drawing/2014/main" id="{AAAC2D50-7419-48F8-822F-83A4C82E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launch and execution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80B4AF-8CCE-4C05-8D38-169CE052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9436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16);&#10;dim3 grid(64,64);&#10;rotate_rgb&lt;&lt;&lt;grid,">
            <a:extLst xmlns:a="http://schemas.openxmlformats.org/drawingml/2006/main">
              <a:ext uri="{FF2B5EF4-FFF2-40B4-BE49-F238E27FC236}">
                <a16:creationId xmlns:a16="http://schemas.microsoft.com/office/drawing/2014/main" id="{E319A899-88C3-424F-9D19-F23C18BC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5715000" cy="1101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block(16,16);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grid(64,64);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rotate_rgb&lt;&lt;&lt;grid,block&gt;&gt;&gt;(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d_in,d_out,1024,1024,c,s);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EFF958-46DC-4B10-8C4F-2354F17C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5943600" cy="9486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6" name="x = blockIdx.x*blockDim.x + threadIdx.x;&#10;y = blockIdx.y">
            <a:extLst xmlns:a="http://schemas.openxmlformats.org/drawingml/2006/main">
              <a:ext uri="{FF2B5EF4-FFF2-40B4-BE49-F238E27FC236}">
                <a16:creationId xmlns:a16="http://schemas.microsoft.com/office/drawing/2014/main" id="{1E0A73C7-07F0-480A-BE72-7E06562B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5715000" cy="815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x = blockIdx.x*blockDim.x + threadIdx.x;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y = blockIdx.y*blockDim.y + threadIdx.y;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if (x &gt;= W || y &gt;= H) return;</a:t>
            </a:r>
          </a:p>
        </p:txBody>
      </p:sp>
      <p:sp>
        <p:nvSpPr>
          <p:cNvPr id="7" name="1024 × 1024 output">
            <a:extLst xmlns:a="http://schemas.openxmlformats.org/drawingml/2006/main">
              <a:ext uri="{FF2B5EF4-FFF2-40B4-BE49-F238E27FC236}">
                <a16:creationId xmlns:a16="http://schemas.microsoft.com/office/drawing/2014/main" id="{710D972E-9454-4115-80D3-B5595FE9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43434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1024 × 1024 output</a:t>
            </a:r>
          </a:p>
        </p:txBody>
      </p:sp>
      <p:sp>
        <p:nvSpPr>
          <p:cNvPr id="8" name="64 × 64 = 4,096 blocks">
            <a:extLst xmlns:a="http://schemas.openxmlformats.org/drawingml/2006/main">
              <a:ext uri="{FF2B5EF4-FFF2-40B4-BE49-F238E27FC236}">
                <a16:creationId xmlns:a16="http://schemas.microsoft.com/office/drawing/2014/main" id="{8AF54969-1125-490C-B559-51D17CEF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8597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64 × 64 = 4,096 blocks</a:t>
            </a:r>
          </a:p>
        </p:txBody>
      </p:sp>
      <p:sp>
        <p:nvSpPr>
          <p:cNvPr id="9" name="16 × 16 = 256 threads/block">
            <a:extLst xmlns:a="http://schemas.openxmlformats.org/drawingml/2006/main">
              <a:ext uri="{FF2B5EF4-FFF2-40B4-BE49-F238E27FC236}">
                <a16:creationId xmlns:a16="http://schemas.microsoft.com/office/drawing/2014/main" id="{72563121-90B6-4DD6-B6A0-C241EDC7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16 × 16 = 256 threads/block</a:t>
            </a:r>
          </a:p>
        </p:txBody>
      </p:sp>
      <p:sp>
        <p:nvSpPr>
          <p:cNvPr id="10" name="1,048,576 logical threads">
            <a:extLst xmlns:a="http://schemas.openxmlformats.org/drawingml/2006/main">
              <a:ext uri="{FF2B5EF4-FFF2-40B4-BE49-F238E27FC236}">
                <a16:creationId xmlns:a16="http://schemas.microsoft.com/office/drawing/2014/main" id="{55F2A55F-0E42-406D-B653-63819D25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57525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1,048,576 logical threads</a:t>
            </a:r>
          </a:p>
        </p:txBody>
      </p:sp>
      <p:sp>
        <p:nvSpPr>
          <p:cNvPr id="11" name="32 threads/warp → 8 warps/block">
            <a:extLst xmlns:a="http://schemas.openxmlformats.org/drawingml/2006/main">
              <a:ext uri="{FF2B5EF4-FFF2-40B4-BE49-F238E27FC236}">
                <a16:creationId xmlns:a16="http://schemas.microsoft.com/office/drawing/2014/main" id="{1E528329-C9F5-4634-A443-F81E8C54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4343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32 threads/warp → 8 warps/block</a:t>
            </a:r>
          </a:p>
        </p:txBody>
      </p:sp>
      <p:sp>
        <p:nvSpPr>
          <p:cNvPr id="12" name="One highlighted warp within a 16-wide block">
            <a:extLst xmlns:a="http://schemas.openxmlformats.org/drawingml/2006/main">
              <a:ext uri="{FF2B5EF4-FFF2-40B4-BE49-F238E27FC236}">
                <a16:creationId xmlns:a16="http://schemas.microsoft.com/office/drawing/2014/main" id="{E36E8424-815B-4A8E-952B-3B4848ECD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29075"/>
            <a:ext cx="43434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One highlighted warp within a 16-wide block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E3553-6B76-4833-B76F-667BA0E3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EFADF-0B57-4336-B19B-D65F8F9A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F4F0BA-DBED-4B9E-A4F7-CF5FA8882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8F1D3-28E8-46B3-9DA7-FFACE7BC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60585-FBBD-4AFE-B014-487C81F2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23B97-EC76-4076-B7FE-72E522D7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89F88A-6BBC-46C4-81EC-7E2B3F95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2C9B63-AECC-4D74-BE11-5C49CCEB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E8182-5F26-4D91-B9B1-AB17D29A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3E1125-EAEE-45D7-8A24-DEA9E7AF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01A7A6-88AC-4F8A-A2F0-9E80AA82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AD9D6E-DEAC-4687-87DC-6EF5B727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37F10A-2C8B-47F3-A070-441DBA97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CD2034-21D2-4B86-B5C3-45B852BF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2972FA-DDFD-4096-BD76-8524C4F6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D9B91C-90FC-445B-871A-EAD79E0F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41007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1C0FC0-5AC4-4A21-BC5C-8BC2BD969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19C22BD-2345-4949-895D-158F8A56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17B1AB-4A5A-48C8-ADAC-03DF0E2A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5B6167-62BF-46F4-9AB8-7B7868A7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1BB1A9-2A42-486E-963F-A9FE9229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6C63EE-8C61-4D8B-B611-03094883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0E3A4D-30EB-4C8A-961E-36C4B471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05B59F-8CE9-4371-AE91-68CC11CB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8D1CB2-AD76-4456-A35E-DF704F48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ADC4519-2A45-4BC9-81A3-6A7B4C87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B13729-9B32-4E3C-A2B8-F1DD4B72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838F45-4CCD-4727-996E-5F4B93FEF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090D375-92C7-4FF3-8D9F-F68C12FF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F6D707A-0A26-4BE9-A04C-01411D03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FD6281-5819-4E05-8E4F-5077A581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2322A4-E836-4F9F-BCE3-30BC17F1E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6482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</p:sp>
      <p:sp>
        <p:nvSpPr>
          <p:cNvPr id="45" name="Non-multiple dimensions: ceil-divide the grid and keep ">
            <a:extLst xmlns:a="http://schemas.openxmlformats.org/drawingml/2006/main">
              <a:ext uri="{FF2B5EF4-FFF2-40B4-BE49-F238E27FC236}">
                <a16:creationId xmlns:a16="http://schemas.microsoft.com/office/drawing/2014/main" id="{06739BE5-38A8-4AA1-BA6D-365C5D71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72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Non-multiple dimensions: ceil-divide the grid and keep the bounds guard.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12E654-FE9C-44C5-BF9B-5BBE65BD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47" name="A grid specifies logical work; finite SMs schedule its ">
            <a:extLst xmlns:a="http://schemas.openxmlformats.org/drawingml/2006/main">
              <a:ext uri="{FF2B5EF4-FFF2-40B4-BE49-F238E27FC236}">
                <a16:creationId xmlns:a16="http://schemas.microsoft.com/office/drawing/2014/main" id="{368C0E62-237F-47D7-8351-5030EF01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grid specifies logical work; finite SMs schedule its blocks and warps.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13347B-5048-43BD-BB2E-C2279801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49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93165D42-E04F-479C-B299-AEA73B4D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50" name="4 / 57">
            <a:extLst xmlns:a="http://schemas.openxmlformats.org/drawingml/2006/main">
              <a:ext uri="{FF2B5EF4-FFF2-40B4-BE49-F238E27FC236}">
                <a16:creationId xmlns:a16="http://schemas.microsoft.com/office/drawing/2014/main" id="{5B635BE9-C44C-4686-B9E9-44446FFB3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 / 57</a:t>
            </a:r>
          </a:p>
        </p:txBody>
      </p:sp>
    </p:spTree>
    <p:extLst>
      <p:ext uri="{BB962C8B-B14F-4D97-AF65-F5344CB8AC3E}">
        <p14:creationId xmlns:p14="http://schemas.microsoft.com/office/powerpoint/2010/main" val="12158228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AA0C4B-4F24-45F1-83E1-AF01C7624C24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9644063" y="2305050"/>
            <a:ext cx="4763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1(b)">
            <a:extLst xmlns:a="http://schemas.openxmlformats.org/drawingml/2006/main">
              <a:ext uri="{FF2B5EF4-FFF2-40B4-BE49-F238E27FC236}">
                <a16:creationId xmlns:a16="http://schemas.microsoft.com/office/drawing/2014/main" id="{32FB9C81-26CF-45F3-8ED6-36FCB361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CUDA features that affect throughput">
            <a:extLst xmlns:a="http://schemas.openxmlformats.org/drawingml/2006/main">
              <a:ext uri="{FF2B5EF4-FFF2-40B4-BE49-F238E27FC236}">
                <a16:creationId xmlns:a16="http://schemas.microsoft.com/office/drawing/2014/main" id="{264211BD-12B5-4AAB-9063-46953650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features that affect throughput</a:t>
            </a:r>
          </a:p>
        </p:txBody>
      </p:sp>
      <p:sp>
        <p:nvSpPr>
          <p:cNvPr id="3" name="Example: independent brightness channels">
            <a:extLst xmlns:a="http://schemas.openxmlformats.org/drawingml/2006/main">
              <a:ext uri="{FF2B5EF4-FFF2-40B4-BE49-F238E27FC236}">
                <a16:creationId xmlns:a16="http://schemas.microsoft.com/office/drawing/2014/main" id="{C2030C48-941C-45CE-9B73-58BFB0D2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238875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Example: independent brightness channels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20A6B-1804-4CCE-AB71-23E97B58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64198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5" name="size_t p = 3*(size_t(y)*W + x);&#10;for (int ch=0; ch&lt;3; ++">
            <a:extLst xmlns:a="http://schemas.openxmlformats.org/drawingml/2006/main">
              <a:ext uri="{FF2B5EF4-FFF2-40B4-BE49-F238E27FC236}">
                <a16:creationId xmlns:a16="http://schemas.microsoft.com/office/drawing/2014/main" id="{362750CC-8529-4E81-BE64-A192C55E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6191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size_t p = 3*(size_t(y)*W + x);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for (int ch=0; ch&lt;3; ++ch) {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int v = int(in[p+ch]) + delta;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out[p+ch] = v&lt;0 ? 0 : (v&gt;255 ? 255 : v);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Excerpt after coordinate/bounds checks; valid contiguou">
            <a:extLst xmlns:a="http://schemas.openxmlformats.org/drawingml/2006/main">
              <a:ext uri="{FF2B5EF4-FFF2-40B4-BE49-F238E27FC236}">
                <a16:creationId xmlns:a16="http://schemas.microsoft.com/office/drawing/2014/main" id="{C712ED17-4858-4F4B-B943-D72A502D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63246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Excerpt after coordinate/bounds checks; valid contiguous RGB buffers.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FA9E4-356B-45F5-94FE-FB58FF95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38300"/>
            <a:ext cx="2914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Pending blocks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BDBD1-D5FD-4978-BA09-D70A93C8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00375"/>
            <a:ext cx="3667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Streaming multiprocessor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→ execution units</a:t>
            </a:r>
          </a:p>
        </p:txBody>
      </p:sp>
      <p:sp>
        <p:nvSpPr>
          <p:cNvPr id="10" name="SIMT = single instruction, multiple threads. A warp iss">
            <a:extLst xmlns:a="http://schemas.openxmlformats.org/drawingml/2006/main">
              <a:ext uri="{FF2B5EF4-FFF2-40B4-BE49-F238E27FC236}">
                <a16:creationId xmlns:a16="http://schemas.microsoft.com/office/drawing/2014/main" id="{48DB8148-D41D-4698-B72D-7A7F07220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95775"/>
            <a:ext cx="386715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SIMT = single instruction, multiple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threads. A warp issues common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instructions; divergent paths can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efficiency.</a:t>
            </a:r>
          </a:p>
        </p:txBody>
      </p:sp>
      <p:sp>
        <p:nvSpPr>
          <p:cNvPr id="11" name="Resident warps hide latency; registers limit residency.">
            <a:extLst xmlns:a="http://schemas.openxmlformats.org/drawingml/2006/main">
              <a:ext uri="{FF2B5EF4-FFF2-40B4-BE49-F238E27FC236}">
                <a16:creationId xmlns:a16="http://schemas.microsoft.com/office/drawing/2014/main" id="{33D5ED1A-62F8-4E08-B52C-F30C79FC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6515100" cy="8884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warps hide latency; registers limit residency.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Coalescing groups nearby accesses into fewer transactions;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can disrupt read locality.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7A8742-0297-4BC3-B67C-B6A0F16B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Concurrency helps only when memory access and resource ">
            <a:extLst xmlns:a="http://schemas.openxmlformats.org/drawingml/2006/main">
              <a:ext uri="{FF2B5EF4-FFF2-40B4-BE49-F238E27FC236}">
                <a16:creationId xmlns:a16="http://schemas.microsoft.com/office/drawing/2014/main" id="{DFDE74EF-E6E2-4C10-91C2-5D3087DEA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Concurrency helps only when memory access and resource use support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AEEAF2-E971-45EE-9B44-89B871CE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58A503BF-6C72-4510-8B52-3CAC6989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16" name="5 / 57">
            <a:extLst xmlns:a="http://schemas.openxmlformats.org/drawingml/2006/main">
              <a:ext uri="{FF2B5EF4-FFF2-40B4-BE49-F238E27FC236}">
                <a16:creationId xmlns:a16="http://schemas.microsoft.com/office/drawing/2014/main" id="{3F67589B-723A-48CB-AA94-F36C0663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 / 57</a:t>
            </a:r>
          </a:p>
        </p:txBody>
      </p:sp>
    </p:spTree>
    <p:extLst>
      <p:ext uri="{BB962C8B-B14F-4D97-AF65-F5344CB8AC3E}">
        <p14:creationId xmlns:p14="http://schemas.microsoft.com/office/powerpoint/2010/main" val="8905980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ask 1(b)">
            <a:extLst xmlns:a="http://schemas.openxmlformats.org/drawingml/2006/main">
              <a:ext uri="{FF2B5EF4-FFF2-40B4-BE49-F238E27FC236}">
                <a16:creationId xmlns:a16="http://schemas.microsoft.com/office/drawing/2014/main" id="{18E24360-7F0C-484E-8B48-3FAE9C2D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1(b)</a:t>
            </a:r>
          </a:p>
        </p:txBody>
      </p:sp>
      <p:sp>
        <p:nvSpPr>
          <p:cNvPr id="2" name="Expected speedup and its limits">
            <a:extLst xmlns:a="http://schemas.openxmlformats.org/drawingml/2006/main">
              <a:ext uri="{FF2B5EF4-FFF2-40B4-BE49-F238E27FC236}">
                <a16:creationId xmlns:a16="http://schemas.microsoft.com/office/drawing/2014/main" id="{37457A2D-CAB4-45C4-996B-E6FA0872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Expected speedup and its limits</a:t>
            </a:r>
          </a:p>
        </p:txBody>
      </p:sp>
      <p:sp>
        <p:nvSpPr>
          <p:cNvPr id="3" name="Baseline: single CPU thread, same rotation and sampling">
            <a:extLst xmlns:a="http://schemas.openxmlformats.org/drawingml/2006/main">
              <a:ext uri="{FF2B5EF4-FFF2-40B4-BE49-F238E27FC236}">
                <a16:creationId xmlns:a16="http://schemas.microsoft.com/office/drawing/2014/main" id="{AEB904E5-33E7-4D67-B144-341FD26D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Baseline: single CPU thread, same rotation and sampling</a:t>
            </a:r>
          </a:p>
        </p:txBody>
      </p:sp>
      <p:sp>
        <p:nvSpPr>
          <p:cNvPr id="4" name="Also compare a multithreaded CPU; identical output and ">
            <a:extLst xmlns:a="http://schemas.openxmlformats.org/drawingml/2006/main">
              <a:ext uri="{FF2B5EF4-FFF2-40B4-BE49-F238E27FC236}">
                <a16:creationId xmlns:a16="http://schemas.microsoft.com/office/drawing/2014/main" id="{12CC440A-D26F-42CE-89E9-1E138DBA9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Also compare a multithreaded CPU; identical output and timing boundaries.</a:t>
            </a:r>
          </a:p>
        </p:txBody>
      </p:sp>
      <p:sp>
        <p:nvSpPr>
          <p:cNvPr id="5" name="Speedup = TCPU / TGPU,total">
            <a:extLst xmlns:a="http://schemas.openxmlformats.org/drawingml/2006/main">
              <a:ext uri="{FF2B5EF4-FFF2-40B4-BE49-F238E27FC236}">
                <a16:creationId xmlns:a16="http://schemas.microsoft.com/office/drawing/2014/main" id="{DCA213A1-AD19-4654-ACE5-612427ED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4396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= TCPU / TGPU,total</a:t>
            </a:r>
          </a:p>
        </p:txBody>
      </p:sp>
      <p:sp>
        <p:nvSpPr>
          <p:cNvPr id="6" name="TGPU,total = allocation/setup + H2D + kernel + D2H">
            <a:extLst xmlns:a="http://schemas.openxmlformats.org/drawingml/2006/main">
              <a:ext uri="{FF2B5EF4-FFF2-40B4-BE49-F238E27FC236}">
                <a16:creationId xmlns:a16="http://schemas.microsoft.com/office/drawing/2014/main" id="{C79120F4-1A6E-470B-8B1B-CE944FE1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TGPU,total = allocation/setup + H2D + kernel + D2H</a:t>
            </a:r>
          </a:p>
        </p:txBody>
      </p:sp>
      <p:sp>
        <p:nvSpPr>
          <p:cNvPr id="7" name="Many GPU execution units and high device bandwidth favo">
            <a:extLst xmlns:a="http://schemas.openxmlformats.org/drawingml/2006/main">
              <a:ext uri="{FF2B5EF4-FFF2-40B4-BE49-F238E27FC236}">
                <a16:creationId xmlns:a16="http://schemas.microsoft.com/office/drawing/2014/main" id="{F4B17DF1-85C7-4A57-8B9A-C860BD352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521970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Many GPU execution units and high device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bandwidth favor parallel throughput. Large or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resident images amortize setup; gathered reads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limit bandwidth.</a:t>
            </a:r>
          </a:p>
        </p:txBody>
      </p:sp>
      <p:sp>
        <p:nvSpPr>
          <p:cNvPr id="8" name="Week 7: S = 1 / (s + (1−s)/a). s is the unchanged seria">
            <a:extLst xmlns:a="http://schemas.openxmlformats.org/drawingml/2006/main">
              <a:ext uri="{FF2B5EF4-FFF2-40B4-BE49-F238E27FC236}">
                <a16:creationId xmlns:a16="http://schemas.microsoft.com/office/drawing/2014/main" id="{1B2A72E8-FCB7-4CE4-AF5C-D8E38C47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714750"/>
            <a:ext cx="5162550" cy="11719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Week 7: S = 1 / (s + (1−s)/a). s is the unchanged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share; a accelerates the remainder. s = 0.20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gives a 5× ideal ceiling before added transfers.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Theoretical, not measured.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A4D66-5E89-48F3-8D5E-1843D207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0" name="Expect gains for large or resident workloads; measure t">
            <a:extLst xmlns:a="http://schemas.openxmlformats.org/drawingml/2006/main">
              <a:ext uri="{FF2B5EF4-FFF2-40B4-BE49-F238E27FC236}">
                <a16:creationId xmlns:a16="http://schemas.microsoft.com/office/drawing/2014/main" id="{4C4F322C-D7DE-4E4D-B224-D0AFE7FA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Expect gains for large or resident workloads; measure the whole pipeline.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C58EA-A140-4ECF-AB5E-DCE81FA8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82D8DD95-39FC-4B1D-B585-6DCBDB2A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</a:t>
            </a:r>
          </a:p>
        </p:txBody>
      </p:sp>
      <p:sp>
        <p:nvSpPr>
          <p:cNvPr id="13" name="6 / 57">
            <a:extLst xmlns:a="http://schemas.openxmlformats.org/drawingml/2006/main">
              <a:ext uri="{FF2B5EF4-FFF2-40B4-BE49-F238E27FC236}">
                <a16:creationId xmlns:a16="http://schemas.microsoft.com/office/drawing/2014/main" id="{8677BBA9-7B97-4979-8CEB-A856CE9C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6 / 57</a:t>
            </a:r>
          </a:p>
        </p:txBody>
      </p:sp>
    </p:spTree>
    <p:extLst>
      <p:ext uri="{BB962C8B-B14F-4D97-AF65-F5344CB8AC3E}">
        <p14:creationId xmlns:p14="http://schemas.microsoft.com/office/powerpoint/2010/main" val="524380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DF61A-0D48-4DB4-A3A7-7C7616AC9146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086100" y="4095750"/>
            <a:ext cx="6191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200DE-A71D-4339-BBCF-29100438DE9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372350" y="2343150"/>
            <a:ext cx="1905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40E9CE-146A-4B5C-8A23-AB6223539B7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657475" y="234315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3" name="Task 1(c)">
            <a:extLst xmlns:a="http://schemas.openxmlformats.org/drawingml/2006/main">
              <a:ext uri="{FF2B5EF4-FFF2-40B4-BE49-F238E27FC236}">
                <a16:creationId xmlns:a16="http://schemas.microsoft.com/office/drawing/2014/main" id="{086FEF5D-C782-425C-B53C-EC263362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1(c)</a:t>
            </a:r>
          </a:p>
        </p:txBody>
      </p:sp>
      <p:sp>
        <p:nvSpPr>
          <p:cNvPr id="2" name="GPUDirect Storage and rotation">
            <a:extLst xmlns:a="http://schemas.openxmlformats.org/drawingml/2006/main">
              <a:ext uri="{FF2B5EF4-FFF2-40B4-BE49-F238E27FC236}">
                <a16:creationId xmlns:a16="http://schemas.microsoft.com/office/drawing/2014/main" id="{C78AFC96-388D-4B30-9D17-EDF05415C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GPUDirect Storage and rotation</a:t>
            </a:r>
          </a:p>
        </p:txBody>
      </p:sp>
      <p:sp>
        <p:nvSpPr>
          <p:cNvPr id="3" name="Conventional storage path">
            <a:extLst xmlns:a="http://schemas.openxmlformats.org/drawingml/2006/main">
              <a:ext uri="{FF2B5EF4-FFF2-40B4-BE49-F238E27FC236}">
                <a16:creationId xmlns:a16="http://schemas.microsoft.com/office/drawing/2014/main" id="{A55F091A-E6BA-45E1-9089-0230DA9A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storage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D9B88-3910-49F0-8EFC-EAD38AA4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20478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57C8E4-868B-4CEF-81DD-061F736F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71675"/>
            <a:ext cx="295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RAM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1EB1E-111A-4666-A3B5-01D0281D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71675"/>
            <a:ext cx="23050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9" name="storage read">
            <a:extLst xmlns:a="http://schemas.openxmlformats.org/drawingml/2006/main">
              <a:ext uri="{FF2B5EF4-FFF2-40B4-BE49-F238E27FC236}">
                <a16:creationId xmlns:a16="http://schemas.microsoft.com/office/drawing/2014/main" id="{F1E5E702-C580-4973-8ADA-18C6A793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57400"/>
            <a:ext cx="15240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 read</a:t>
            </a:r>
          </a:p>
        </p:txBody>
      </p:sp>
      <p:sp>
        <p:nvSpPr>
          <p:cNvPr id="10" name="H2D / PCIe">
            <a:extLst xmlns:a="http://schemas.openxmlformats.org/drawingml/2006/main">
              <a:ext uri="{FF2B5EF4-FFF2-40B4-BE49-F238E27FC236}">
                <a16:creationId xmlns:a16="http://schemas.microsoft.com/office/drawing/2014/main" id="{91DED637-2576-412F-8491-4C6F43BC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57400"/>
            <a:ext cx="1628775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H2D / PCIe</a:t>
            </a:r>
          </a:p>
        </p:txBody>
      </p:sp>
      <p:sp>
        <p:nvSpPr>
          <p:cNvPr id="11" name="GDS direct path (supported configuration)">
            <a:extLst xmlns:a="http://schemas.openxmlformats.org/drawingml/2006/main">
              <a:ext uri="{FF2B5EF4-FFF2-40B4-BE49-F238E27FC236}">
                <a16:creationId xmlns:a16="http://schemas.microsoft.com/office/drawing/2014/main" id="{AB4B867D-9CA2-4C60-BC74-C57DC198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76200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GDS direct path (supported configuration)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2DB51-D16B-42C6-9E5F-EC84FF19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Storage-side DMA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NVMe / NIC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3CF2F-6E73-4295-977E-A393479C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38550"/>
            <a:ext cx="2305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memory</a:t>
            </a:r>
          </a:p>
        </p:txBody>
      </p:sp>
      <p:sp>
        <p:nvSpPr>
          <p:cNvPr id="15" name="PCIe data path bypasses host staging">
            <a:extLst xmlns:a="http://schemas.openxmlformats.org/drawingml/2006/main">
              <a:ext uri="{FF2B5EF4-FFF2-40B4-BE49-F238E27FC236}">
                <a16:creationId xmlns:a16="http://schemas.microsoft.com/office/drawing/2014/main" id="{22DC588A-8EC6-4188-9085-07F95E6A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724275"/>
            <a:ext cx="497205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data path bypasses host staging</a:t>
            </a:r>
          </a:p>
        </p:txBody>
      </p:sp>
      <p:sp>
        <p:nvSpPr>
          <p:cNvPr id="16" name="CPU issues cuFile I/O; compatibility fallback may stage">
            <a:extLst xmlns:a="http://schemas.openxmlformats.org/drawingml/2006/main">
              <a:ext uri="{FF2B5EF4-FFF2-40B4-BE49-F238E27FC236}">
                <a16:creationId xmlns:a16="http://schemas.microsoft.com/office/drawing/2014/main" id="{0925ABD7-4286-475E-ACBE-55490A1D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issues cuFile I/O; compatibility fallback may stage through RAM.</a:t>
            </a:r>
          </a:p>
        </p:txBody>
      </p:sp>
      <p:sp>
        <p:nvSpPr>
          <p:cNvPr id="17" name="CPU-decoded / already-in-RAM image: little benefit. Lar">
            <a:extLst xmlns:a="http://schemas.openxmlformats.org/drawingml/2006/main">
              <a:ext uri="{FF2B5EF4-FFF2-40B4-BE49-F238E27FC236}">
                <a16:creationId xmlns:a16="http://schemas.microsoft.com/office/drawing/2014/main" id="{728AC066-D948-4790-BED0-08CEE8B5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972800" cy="5814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CPU-decoded / already-in-RAM image: little benefit. Large storage-bound batches with GPU-ready data: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possible benefit, verify direct path and total time.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D6BB0-4729-452C-8FEC-308C140B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9" name="GDS can reduce storage staging; it does not accelerate ">
            <a:extLst xmlns:a="http://schemas.openxmlformats.org/drawingml/2006/main">
              <a:ext uri="{FF2B5EF4-FFF2-40B4-BE49-F238E27FC236}">
                <a16:creationId xmlns:a16="http://schemas.microsoft.com/office/drawing/2014/main" id="{61884A03-DFBD-4207-964F-2915393B0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can reduce storage staging; it does not accelerate rotation arithmetic.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7AF9E4-4540-4018-9C43-6A8B85CA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1" name="Sources: [6] NVIDIA GDS overview; [7] NVIDIA GDS design">
            <a:extLst xmlns:a="http://schemas.openxmlformats.org/drawingml/2006/main">
              <a:ext uri="{FF2B5EF4-FFF2-40B4-BE49-F238E27FC236}">
                <a16:creationId xmlns:a16="http://schemas.microsoft.com/office/drawing/2014/main" id="{82385490-157D-4E36-8764-15955B72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NVIDIA GDS overview; [7] NVIDIA GDS design</a:t>
            </a:r>
          </a:p>
        </p:txBody>
      </p:sp>
      <p:sp>
        <p:nvSpPr>
          <p:cNvPr id="22" name="7 / 57">
            <a:extLst xmlns:a="http://schemas.openxmlformats.org/drawingml/2006/main">
              <a:ext uri="{FF2B5EF4-FFF2-40B4-BE49-F238E27FC236}">
                <a16:creationId xmlns:a16="http://schemas.microsoft.com/office/drawing/2014/main" id="{DA95C92E-2D41-4A39-95A1-9B8A0988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7 / 57</a:t>
            </a:r>
          </a:p>
        </p:txBody>
      </p:sp>
    </p:spTree>
    <p:extLst>
      <p:ext uri="{BB962C8B-B14F-4D97-AF65-F5344CB8AC3E}">
        <p14:creationId xmlns:p14="http://schemas.microsoft.com/office/powerpoint/2010/main" val="19392692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ask 2 • HPC and AI">
            <a:extLst xmlns:a="http://schemas.openxmlformats.org/drawingml/2006/main">
              <a:ext uri="{FF2B5EF4-FFF2-40B4-BE49-F238E27FC236}">
                <a16:creationId xmlns:a16="http://schemas.microsoft.com/office/drawing/2014/main" id="{21A76736-4E54-44EF-B339-83ED136D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 • HPC and AI</a:t>
            </a:r>
          </a:p>
        </p:txBody>
      </p:sp>
      <p:sp>
        <p:nvSpPr>
          <p:cNvPr id="2" name="Parallel training across a compute cluster">
            <a:extLst xmlns:a="http://schemas.openxmlformats.org/drawingml/2006/main">
              <a:ext uri="{FF2B5EF4-FFF2-40B4-BE49-F238E27FC236}">
                <a16:creationId xmlns:a16="http://schemas.microsoft.com/office/drawing/2014/main" id="{137606F4-CB3E-45DE-B560-134A5147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 training across a compute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57434-7B9C-4811-85AE-271FB4E8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0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AF04C-2D29-44AE-8F0D-1B68AF86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1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5C28A8-2D38-4225-916F-F79C8E9F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2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2FE8A-C09B-4B74-A20E-5D55EC60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Gradient all-reduce: average + share → consistent update on every GPU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6FB66-E373-4E54-9925-7B4B6736BC40}"/>
              </a:ext>
            </a:extLst>
          </p:cNvPr>
          <p:cNvCxnSpPr/>
          <p:nvPr/>
        </p:nvCxnSpPr>
        <p:spPr>
          <a:xfrm xmlns:a="http://schemas.openxmlformats.org/drawingml/2006/main">
            <a:off x="2095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73A371-B0AE-4AEC-AA20-511E317EEF27}"/>
              </a:ext>
            </a:extLst>
          </p:cNvPr>
          <p:cNvCxnSpPr/>
          <p:nvPr/>
        </p:nvCxnSpPr>
        <p:spPr>
          <a:xfrm xmlns:a="http://schemas.openxmlformats.org/drawingml/2006/main">
            <a:off x="60960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93DF62-B853-4A48-95AB-3A7FC91F2625}"/>
              </a:ext>
            </a:extLst>
          </p:cNvPr>
          <p:cNvCxnSpPr/>
          <p:nvPr/>
        </p:nvCxnSpPr>
        <p:spPr>
          <a:xfrm xmlns:a="http://schemas.openxmlformats.org/drawingml/2006/main">
            <a:off x="10096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sp>
        <p:nvSpPr>
          <p:cNvPr id="10" name="Interconnect:&#10;latency and bandwidth">
            <a:extLst xmlns:a="http://schemas.openxmlformats.org/drawingml/2006/main">
              <a:ext uri="{FF2B5EF4-FFF2-40B4-BE49-F238E27FC236}">
                <a16:creationId xmlns:a16="http://schemas.microsoft.com/office/drawing/2014/main" id="{B6B5BD52-6ACA-4AA0-8152-A7525F9F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384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Interconnect: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latency and bandwidth</a:t>
            </a:r>
          </a:p>
        </p:txBody>
      </p:sp>
      <p:sp>
        <p:nvSpPr>
          <p:cNvPr id="11" name="Gradient synchronization&#10;before each update">
            <a:extLst xmlns:a="http://schemas.openxmlformats.org/drawingml/2006/main">
              <a:ext uri="{FF2B5EF4-FFF2-40B4-BE49-F238E27FC236}">
                <a16:creationId xmlns:a16="http://schemas.microsoft.com/office/drawing/2014/main" id="{42075411-A077-4EC9-877E-9E81C3ED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Gradient synchronization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before each update</a:t>
            </a:r>
          </a:p>
        </p:txBody>
      </p:sp>
      <p:sp>
        <p:nvSpPr>
          <p:cNvPr id="12" name="HPC combines processors, memory, networks and storage. ">
            <a:extLst xmlns:a="http://schemas.openxmlformats.org/drawingml/2006/main">
              <a:ext uri="{FF2B5EF4-FFF2-40B4-BE49-F238E27FC236}">
                <a16:creationId xmlns:a16="http://schemas.microsoft.com/office/drawing/2014/main" id="{16DE40F3-A9E9-417B-A03E-BE685E86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197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HPC combines processors, memory, networks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storage. Tensor/pipeline parallelism can also split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model.</a:t>
            </a:r>
          </a:p>
        </p:txBody>
      </p:sp>
      <p:sp>
        <p:nvSpPr>
          <p:cNvPr id="13" name="More GPUs enable larger work; communication, serial wor">
            <a:extLst xmlns:a="http://schemas.openxmlformats.org/drawingml/2006/main">
              <a:ext uri="{FF2B5EF4-FFF2-40B4-BE49-F238E27FC236}">
                <a16:creationId xmlns:a16="http://schemas.microsoft.com/office/drawing/2014/main" id="{2AD3B6B2-3864-4C3A-8578-C5A851D3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GPUs enable larger work; communication,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work and imbalance limit speedup. Evaluate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useful output against resource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5F5D4-CC9F-4406-989F-02EFFCD7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Scaling adds capacity and communication: ethical costs ">
            <a:extLst xmlns:a="http://schemas.openxmlformats.org/drawingml/2006/main">
              <a:ext uri="{FF2B5EF4-FFF2-40B4-BE49-F238E27FC236}">
                <a16:creationId xmlns:a16="http://schemas.microsoft.com/office/drawing/2014/main" id="{270D3FEE-59D9-40FD-9140-064BBCFF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adds capacity and communication: ethical costs depend on useful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281909-64E9-4818-983A-456ACC93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47C5A625-AE0F-4156-8DAB-8BD1D716C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18" name="8 / 57">
            <a:extLst xmlns:a="http://schemas.openxmlformats.org/drawingml/2006/main">
              <a:ext uri="{FF2B5EF4-FFF2-40B4-BE49-F238E27FC236}">
                <a16:creationId xmlns:a16="http://schemas.microsoft.com/office/drawing/2014/main" id="{CA3BFE63-0F03-479C-BEDD-8862D207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8 / 57</a:t>
            </a:r>
          </a:p>
        </p:txBody>
      </p:sp>
    </p:spTree>
    <p:extLst>
      <p:ext uri="{BB962C8B-B14F-4D97-AF65-F5344CB8AC3E}">
        <p14:creationId xmlns:p14="http://schemas.microsoft.com/office/powerpoint/2010/main" val="16428372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a)">
            <a:extLst xmlns:a="http://schemas.openxmlformats.org/drawingml/2006/main">
              <a:ext uri="{FF2B5EF4-FFF2-40B4-BE49-F238E27FC236}">
                <a16:creationId xmlns:a16="http://schemas.microsoft.com/office/drawing/2014/main" id="{D9392CC2-FE38-4A7B-AF42-E60CBD55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</a:t>
            </a:r>
          </a:p>
        </p:txBody>
      </p:sp>
      <p:sp>
        <p:nvSpPr>
          <p:cNvPr id="2" name="Electricity demand and environmental costs">
            <a:extLst xmlns:a="http://schemas.openxmlformats.org/drawingml/2006/main">
              <a:ext uri="{FF2B5EF4-FFF2-40B4-BE49-F238E27FC236}">
                <a16:creationId xmlns:a16="http://schemas.microsoft.com/office/drawing/2014/main" id="{309D0AD9-26F1-488D-8B4D-410E0E4E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demand and environmental costs</a:t>
            </a:r>
          </a:p>
        </p:txBody>
      </p:sp>
      <p:sp>
        <p:nvSpPr>
          <p:cNvPr id="3" name="Global data-centre electricity (TWh/year)">
            <a:extLst xmlns:a="http://schemas.openxmlformats.org/drawingml/2006/main">
              <a:ext uri="{FF2B5EF4-FFF2-40B4-BE49-F238E27FC236}">
                <a16:creationId xmlns:a16="http://schemas.microsoft.com/office/drawing/2014/main" id="{5BF8C9DB-97DB-4F32-A4EE-2CBC3F5F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data-centre electricity (TWh/year)</a:t>
            </a:r>
          </a:p>
        </p:txBody>
      </p:sp>
      <p:sp>
        <p:nvSpPr>
          <p:cNvPr id="4" name="Electricity growth during 2025">
            <a:extLst xmlns:a="http://schemas.openxmlformats.org/drawingml/2006/main">
              <a:ext uri="{FF2B5EF4-FFF2-40B4-BE49-F238E27FC236}">
                <a16:creationId xmlns:a16="http://schemas.microsoft.com/office/drawing/2014/main" id="{68C97DC9-5E66-4072-8F93-F6968887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growth during 2025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603F9B3-D703-48C6-88E0-333BEEA60450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523ba12cb24ce6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7072AAA-8C7A-443A-A7E7-4493C8254101}"/>
              </a:ext>
            </a:extLst>
          </p:cNvPr>
          <p:cNvGraphicFramePr/>
          <p:nvPr/>
        </p:nvGraphicFramePr>
        <p:xfrm>
          <a:off xmlns:a="http://schemas.openxmlformats.org/drawingml/2006/main" x="6324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37e857a532e4e6f"/>
          </a:graphicData>
        </a:graphic>
      </p:graphicFrame>
      <p:sp>
        <p:nvSpPr>
          <p:cNvPr id="7" name="IEA 2026: ≈96% increase to 2030. These cover the whole ">
            <a:extLst xmlns:a="http://schemas.openxmlformats.org/drawingml/2006/main">
              <a:ext uri="{FF2B5EF4-FFF2-40B4-BE49-F238E27FC236}">
                <a16:creationId xmlns:a16="http://schemas.microsoft.com/office/drawing/2014/main" id="{EC084663-2A9B-4C61-B25C-124CF4EE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2026: ≈96% increase to 2030. These cover the whole sector, not AI training alone; growth categories overlap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cannot be added.</a:t>
            </a:r>
          </a:p>
        </p:txBody>
      </p:sp>
      <p:sp>
        <p:nvSpPr>
          <p:cNvPr id="8" name="Research comparison: Green AI [13] emphasizes efficienc">
            <a:extLst xmlns:a="http://schemas.openxmlformats.org/drawingml/2006/main">
              <a:ext uri="{FF2B5EF4-FFF2-40B4-BE49-F238E27FC236}">
                <a16:creationId xmlns:a16="http://schemas.microsoft.com/office/drawing/2014/main" id="{C94F0362-6A2C-4F00-95BD-8977D58A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comparison: Green AI [13] emphasizes efficiency; water research [12] adds site/time constraints. Track energy,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 and local cooling impacts.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3AC1C7-A74A-40CA-BDCC-8F0BCE3D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E31AB0C1-4647-4F73-833C-A5E45088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[12] Li et al. 2025 revision: water impacts; [13] Schwartz et al. 2019: efficiency reporting</a:t>
            </a:r>
          </a:p>
        </p:txBody>
      </p:sp>
      <p:sp>
        <p:nvSpPr>
          <p:cNvPr id="11" name="9 / 57">
            <a:extLst xmlns:a="http://schemas.openxmlformats.org/drawingml/2006/main">
              <a:ext uri="{FF2B5EF4-FFF2-40B4-BE49-F238E27FC236}">
                <a16:creationId xmlns:a16="http://schemas.microsoft.com/office/drawing/2014/main" id="{FCECB255-62AC-4EFD-A902-59D5528C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 / 57</a:t>
            </a:r>
          </a:p>
        </p:txBody>
      </p:sp>
    </p:spTree>
    <p:extLst>
      <p:ext uri="{BB962C8B-B14F-4D97-AF65-F5344CB8AC3E}">
        <p14:creationId xmlns:p14="http://schemas.microsoft.com/office/powerpoint/2010/main" val="17399920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E4B8F-41F9-4F1A-9FB0-0AA34287751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FD24E-AD21-4CC8-8738-5C2EA55788D5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1945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9" name="Task 2(b)">
            <a:extLst xmlns:a="http://schemas.openxmlformats.org/drawingml/2006/main">
              <a:ext uri="{FF2B5EF4-FFF2-40B4-BE49-F238E27FC236}">
                <a16:creationId xmlns:a16="http://schemas.microsoft.com/office/drawing/2014/main" id="{0364F044-1316-4BDA-9EDE-16F45139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</a:t>
            </a:r>
          </a:p>
        </p:txBody>
      </p:sp>
      <p:sp>
        <p:nvSpPr>
          <p:cNvPr id="2" name="Privacy, security and model fairness">
            <a:extLst xmlns:a="http://schemas.openxmlformats.org/drawingml/2006/main">
              <a:ext uri="{FF2B5EF4-FFF2-40B4-BE49-F238E27FC236}">
                <a16:creationId xmlns:a16="http://schemas.microsoft.com/office/drawing/2014/main" id="{97C761A0-18FC-45DB-BE60-481A63C4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Privacy, security and model fairness</a:t>
            </a:r>
          </a:p>
        </p:txBody>
      </p:sp>
      <p:sp>
        <p:nvSpPr>
          <p:cNvPr id="3" name="Security: protect distributed intermediates">
            <a:extLst xmlns:a="http://schemas.openxmlformats.org/drawingml/2006/main">
              <a:ext uri="{FF2B5EF4-FFF2-40B4-BE49-F238E27FC236}">
                <a16:creationId xmlns:a16="http://schemas.microsoft.com/office/drawing/2014/main" id="{5B43F679-D14C-4AE7-B048-F8C0B9B70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Security: protect distributed intermediates</a:t>
            </a:r>
          </a:p>
        </p:txBody>
      </p:sp>
      <p:sp>
        <p:nvSpPr>
          <p:cNvPr id="4" name="Fairness: evaluate affected groups">
            <a:extLst xmlns:a="http://schemas.openxmlformats.org/drawingml/2006/main">
              <a:ext uri="{FF2B5EF4-FFF2-40B4-BE49-F238E27FC236}">
                <a16:creationId xmlns:a16="http://schemas.microsoft.com/office/drawing/2014/main" id="{23D41D3C-D36F-42F1-BD81-977B243A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Fairness: evaluate affected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F2F1E-C35C-40A7-8106-23AB3A8C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Workers exchange gradients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save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B1AAE-66C9-4873-8E31-ED1A3014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Least privilege, isolation,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protected transport/storage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810B58-B262-42F6-9974-EC9EDCAE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coverage and model outputs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differ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EF1860-09EA-4267-AE25-8253A289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Disaggregated, harm-specific tests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mitigation and reevaluation</a:t>
            </a:r>
          </a:p>
        </p:txBody>
      </p:sp>
      <p:sp>
        <p:nvSpPr>
          <p:cNvPr id="11" name="Zhu et al. [14]: exposed gradients can reconstruct inpu">
            <a:extLst xmlns:a="http://schemas.openxmlformats.org/drawingml/2006/main">
              <a:ext uri="{FF2B5EF4-FFF2-40B4-BE49-F238E27FC236}">
                <a16:creationId xmlns:a16="http://schemas.microsoft.com/office/drawing/2014/main" id="{16521499-FDA9-4C60-80B8-CA99D79A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19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Zhu et al. [14]: exposed gradients can reconstruct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inputs in studied settings. Not every production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collective leaks.</a:t>
            </a:r>
          </a:p>
        </p:txBody>
      </p:sp>
      <p:sp>
        <p:nvSpPr>
          <p:cNvPr id="12" name="Gallegos et al. [15]: metrics, datasets and mitigations">
            <a:extLst xmlns:a="http://schemas.openxmlformats.org/drawingml/2006/main">
              <a:ext uri="{FF2B5EF4-FFF2-40B4-BE49-F238E27FC236}">
                <a16:creationId xmlns:a16="http://schemas.microsoft.com/office/drawing/2014/main" id="{84143956-4426-495F-95EE-EEBFFCFE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2578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[15]: metrics, datasets and mitigations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differ. Apply these to cluster-trained models; scale alone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does not guarantee fairness.</a:t>
            </a:r>
          </a:p>
        </p:txBody>
      </p:sp>
      <p:sp>
        <p:nvSpPr>
          <p:cNvPr id="13" name="Provenance/permissions, replica access and dual-use rev">
            <a:extLst xmlns:a="http://schemas.openxmlformats.org/drawingml/2006/main">
              <a:ext uri="{FF2B5EF4-FFF2-40B4-BE49-F238E27FC236}">
                <a16:creationId xmlns:a16="http://schemas.microsoft.com/office/drawing/2014/main" id="{D95B7913-7DD5-442D-BEAB-580D3C38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Provenance/permissions, replica access and dual-use review need owners. Encryption alone cannot establish fair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5EF81-4226-4BAD-885A-57A2EF2D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Protect distributed data and evaluate harms; more compu">
            <a:extLst xmlns:a="http://schemas.openxmlformats.org/drawingml/2006/main">
              <a:ext uri="{FF2B5EF4-FFF2-40B4-BE49-F238E27FC236}">
                <a16:creationId xmlns:a16="http://schemas.microsoft.com/office/drawing/2014/main" id="{E50AFB46-1730-470C-AA04-23F77BD2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 distributed data and evaluate harms; more compute is not a fairness guarantee.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AFE45-C115-4D63-8D1A-6FD6FE74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14] Zhu et al. 2019: exposed gradients; [15] ">
            <a:extLst xmlns:a="http://schemas.openxmlformats.org/drawingml/2006/main">
              <a:ext uri="{FF2B5EF4-FFF2-40B4-BE49-F238E27FC236}">
                <a16:creationId xmlns:a16="http://schemas.microsoft.com/office/drawing/2014/main" id="{5CD0A7F3-50BA-4A73-8CDF-AD54BB2B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[15] Gallegos et al. 2024: fairness evaluation; [18] OECD: rights, fairness and accountability; [19] NIST: Govern, Map, Measure,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10 / 57">
            <a:extLst xmlns:a="http://schemas.openxmlformats.org/drawingml/2006/main">
              <a:ext uri="{FF2B5EF4-FFF2-40B4-BE49-F238E27FC236}">
                <a16:creationId xmlns:a16="http://schemas.microsoft.com/office/drawing/2014/main" id="{5B9E299F-EBD2-41FF-AC11-9D99036F5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 / 57</a:t>
            </a:r>
          </a:p>
        </p:txBody>
      </p:sp>
    </p:spTree>
    <p:extLst>
      <p:ext uri="{BB962C8B-B14F-4D97-AF65-F5344CB8AC3E}">
        <p14:creationId xmlns:p14="http://schemas.microsoft.com/office/powerpoint/2010/main" val="10263097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c)">
            <a:extLst xmlns:a="http://schemas.openxmlformats.org/drawingml/2006/main">
              <a:ext uri="{FF2B5EF4-FFF2-40B4-BE49-F238E27FC236}">
                <a16:creationId xmlns:a16="http://schemas.microsoft.com/office/drawing/2014/main" id="{8711A99F-C3C6-4095-BB85-7C9B14AE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</a:t>
            </a:r>
          </a:p>
        </p:txBody>
      </p:sp>
      <p:sp>
        <p:nvSpPr>
          <p:cNvPr id="2" name="Unequal access to HPC resources">
            <a:extLst xmlns:a="http://schemas.openxmlformats.org/drawingml/2006/main">
              <a:ext uri="{FF2B5EF4-FFF2-40B4-BE49-F238E27FC236}">
                <a16:creationId xmlns:a16="http://schemas.microsoft.com/office/drawing/2014/main" id="{4426D51B-E40E-441D-AFED-2B06FCD13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access to HPC resources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AE782F-2ACB-462E-AAE8-2288DABE1CAD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4095750"/>
                <a:gridCol w="4019550"/>
              </a:tblGrid>
              <a:tr h="5334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Ahmed &amp; Wahed [16]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Historical research participation and compute concentration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Current worldwide access or a universal causal effect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Strubell et al.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Selected NLP workload costs and financial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The cost of every current AI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urrent response: NAIRR supported &gt;600 teams and &gt;6,000">
            <a:extLst xmlns:a="http://schemas.openxmlformats.org/drawingml/2006/main">
              <a:ext uri="{FF2B5EF4-FFF2-40B4-BE49-F238E27FC236}">
                <a16:creationId xmlns:a16="http://schemas.microsoft.com/office/drawing/2014/main" id="{A0AD62F2-2F00-496D-908F-0B8028AA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Current response: NAIRR supported &gt;600 teams and &gt;6,000 students</a:t>
            </a:r>
          </a:p>
        </p:txBody>
      </p:sp>
      <p:sp>
        <p:nvSpPr>
          <p:cNvPr id="5" name="NSF, March 2026; US programme since 2024. Reach does no">
            <a:extLst xmlns:a="http://schemas.openxmlformats.org/drawingml/2006/main">
              <a:ext uri="{FF2B5EF4-FFF2-40B4-BE49-F238E27FC236}">
                <a16:creationId xmlns:a16="http://schemas.microsoft.com/office/drawing/2014/main" id="{8C019799-0BD1-4B54-84AF-71710554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NSF, March 2026; US programme since 2024. Reach does not prove global equality.</a:t>
            </a:r>
          </a:p>
        </p:txBody>
      </p:sp>
      <p:sp>
        <p:nvSpPr>
          <p:cNvPr id="6" name="Proposal: transparent GPU-hour allocation, smaller-inst">
            <a:extLst xmlns:a="http://schemas.openxmlformats.org/drawingml/2006/main">
              <a:ext uri="{FF2B5EF4-FFF2-40B4-BE49-F238E27FC236}">
                <a16:creationId xmlns:a16="http://schemas.microsoft.com/office/drawing/2014/main" id="{DAA2C98E-E81E-4F5C-AEFE-01C42F50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Proposal: transparent GPU-hour allocation, smaller-institution support and appeals. Trade-off: reserved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can reduce immediate utilization or delay urgent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6C1F86-F2F3-40EE-A908-EA4A3FF37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8" name="Shared capacity helps; allocation, expertise and reprod">
            <a:extLst xmlns:a="http://schemas.openxmlformats.org/drawingml/2006/main">
              <a:ext uri="{FF2B5EF4-FFF2-40B4-BE49-F238E27FC236}">
                <a16:creationId xmlns:a16="http://schemas.microsoft.com/office/drawing/2014/main" id="{7F2894DE-0DFA-4FB9-B8DA-23DEF1AF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Shared capacity helps; allocation, expertise and reproducibility still need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4EC6B-90A3-4ED0-9F7A-4647205C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6AEF8504-7E48-4427-9AE9-B19CBCB7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</a:t>
            </a:r>
          </a:p>
        </p:txBody>
      </p:sp>
      <p:sp>
        <p:nvSpPr>
          <p:cNvPr id="11" name="11 / 57">
            <a:extLst xmlns:a="http://schemas.openxmlformats.org/drawingml/2006/main">
              <a:ext uri="{FF2B5EF4-FFF2-40B4-BE49-F238E27FC236}">
                <a16:creationId xmlns:a16="http://schemas.microsoft.com/office/drawing/2014/main" id="{5114D01C-2836-4A1C-9579-3C6FF8EE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11 / 57</a:t>
            </a:r>
          </a:p>
        </p:txBody>
      </p:sp>
    </p:spTree>
    <p:extLst>
      <p:ext uri="{BB962C8B-B14F-4D97-AF65-F5344CB8AC3E}">
        <p14:creationId xmlns:p14="http://schemas.microsoft.com/office/powerpoint/2010/main" val="10751657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5D329-3FAD-435F-AD8F-6B5AC8E8E72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A0313-7F23-4DBD-940E-58B8A3AF0B2A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2(d)">
            <a:extLst xmlns:a="http://schemas.openxmlformats.org/drawingml/2006/main">
              <a:ext uri="{FF2B5EF4-FFF2-40B4-BE49-F238E27FC236}">
                <a16:creationId xmlns:a16="http://schemas.microsoft.com/office/drawing/2014/main" id="{87498557-7EC3-4B96-8587-645BE9FE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</a:t>
            </a:r>
          </a:p>
        </p:txBody>
      </p:sp>
      <p:sp>
        <p:nvSpPr>
          <p:cNvPr id="2" name="An accountable HPC approval process">
            <a:extLst xmlns:a="http://schemas.openxmlformats.org/drawingml/2006/main">
              <a:ext uri="{FF2B5EF4-FFF2-40B4-BE49-F238E27FC236}">
                <a16:creationId xmlns:a16="http://schemas.microsoft.com/office/drawing/2014/main" id="{069A8A46-DA84-4959-881B-A5B76156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An accountable HPC approval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8FE47A-6025-4A62-949E-AF235A77D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Define outcome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D1B135-0F7A-489E-93E2-15F12BD2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 quality,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and harms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CC273-E732-4AAB-8FD8-25C4A90C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/ defer /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scale / redesign</a:t>
            </a:r>
          </a:p>
        </p:txBody>
      </p:sp>
      <p:sp>
        <p:nvSpPr>
          <p:cNvPr id="8" name="Green AI: efficiency evidence [13]  •  Carbon-aware sch">
            <a:extLst xmlns:a="http://schemas.openxmlformats.org/drawingml/2006/main">
              <a:ext uri="{FF2B5EF4-FFF2-40B4-BE49-F238E27FC236}">
                <a16:creationId xmlns:a16="http://schemas.microsoft.com/office/drawing/2014/main" id="{A9CEE217-6C1C-4A36-AC5A-B7631B10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Green AI: efficiency evidence [13] • Carbon-aware scheduling: flexible work [17]</a:t>
            </a:r>
          </a:p>
        </p:txBody>
      </p:sp>
      <p:sp>
        <p:nvSpPr>
          <p:cNvPr id="9" name="OECD: values and rights [18]  •  NIST: Govern, Map, Mea">
            <a:extLst xmlns:a="http://schemas.openxmlformats.org/drawingml/2006/main">
              <a:ext uri="{FF2B5EF4-FFF2-40B4-BE49-F238E27FC236}">
                <a16:creationId xmlns:a16="http://schemas.microsoft.com/office/drawing/2014/main" id="{6251735F-1CAF-4C7A-B590-11B8C07C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OECD: values and rights [18] • NIST: Govern, Map, Measure, Manage [19]</a:t>
            </a:r>
          </a:p>
        </p:txBody>
      </p:sp>
      <p:sp>
        <p:nvSpPr>
          <p:cNvPr id="10" name="Use an energy budget, security/group evaluation and tra">
            <a:extLst xmlns:a="http://schemas.openxmlformats.org/drawingml/2006/main">
              <a:ext uri="{FF2B5EF4-FFF2-40B4-BE49-F238E27FC236}">
                <a16:creationId xmlns:a16="http://schemas.microsoft.com/office/drawing/2014/main" id="{3D2E772E-38E9-4069-AB01-00AC319D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an energy budget, security/group evaluation and transparent access rules. Record owner, rationale,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exceptions and outcomes.</a:t>
            </a:r>
          </a:p>
        </p:txBody>
      </p:sp>
      <p:sp>
        <p:nvSpPr>
          <p:cNvPr id="11" name="Measurement informs action: shift flexible jobs to clea">
            <a:extLst xmlns:a="http://schemas.openxmlformats.org/drawingml/2006/main">
              <a:ext uri="{FF2B5EF4-FFF2-40B4-BE49-F238E27FC236}">
                <a16:creationId xmlns:a16="http://schemas.microsoft.com/office/drawing/2014/main" id="{F2D29233-A05B-4643-A5CF-E1F88573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507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Measurement informs action: shift flexible jobs to cleaner periods within deadlines/capacity. Forecast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uncertainty, water stress and urgent access can change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24355A-35D2-4548-922B-BE3BD8A9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Approve useful work with explicit budgets, safeguards a">
            <a:extLst xmlns:a="http://schemas.openxmlformats.org/drawingml/2006/main">
              <a:ext uri="{FF2B5EF4-FFF2-40B4-BE49-F238E27FC236}">
                <a16:creationId xmlns:a16="http://schemas.microsoft.com/office/drawing/2014/main" id="{D7A6C3C4-E339-447C-B40D-738C4DF1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useful work with explicit budgets, safeguards and an accountable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A5CF2-18C1-4093-8DF7-C550699C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E90C9565-06DF-4085-828D-E73EC1B94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16" name="12 / 57">
            <a:extLst xmlns:a="http://schemas.openxmlformats.org/drawingml/2006/main">
              <a:ext uri="{FF2B5EF4-FFF2-40B4-BE49-F238E27FC236}">
                <a16:creationId xmlns:a16="http://schemas.microsoft.com/office/drawing/2014/main" id="{A284645C-A888-44A3-848F-14094596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 / 57</a:t>
            </a:r>
          </a:p>
        </p:txBody>
      </p:sp>
    </p:spTree>
    <p:extLst>
      <p:ext uri="{BB962C8B-B14F-4D97-AF65-F5344CB8AC3E}">
        <p14:creationId xmlns:p14="http://schemas.microsoft.com/office/powerpoint/2010/main" val="18137659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Reading guide">
            <a:extLst xmlns:a="http://schemas.openxmlformats.org/drawingml/2006/main">
              <a:ext uri="{FF2B5EF4-FFF2-40B4-BE49-F238E27FC236}">
                <a16:creationId xmlns:a16="http://schemas.microsoft.com/office/drawing/2014/main" id="{4BC5C28B-7E77-4F92-94A9-F65A6327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Reading guide</a:t>
            </a:r>
          </a:p>
        </p:txBody>
      </p:sp>
      <p:sp>
        <p:nvSpPr>
          <p:cNvPr id="2" name="Supporting detail and limitations">
            <a:extLst xmlns:a="http://schemas.openxmlformats.org/drawingml/2006/main">
              <a:ext uri="{FF2B5EF4-FFF2-40B4-BE49-F238E27FC236}">
                <a16:creationId xmlns:a16="http://schemas.microsoft.com/office/drawing/2014/main" id="{E8EC7433-03D5-47E3-BB5D-C4E9DA19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Supporting detail and limitations</a:t>
            </a:r>
          </a:p>
        </p:txBody>
      </p:sp>
      <p:sp>
        <p:nvSpPr>
          <p:cNvPr id="3" name="Task 1: design evidence">
            <a:extLst xmlns:a="http://schemas.openxmlformats.org/drawingml/2006/main">
              <a:ext uri="{FF2B5EF4-FFF2-40B4-BE49-F238E27FC236}">
                <a16:creationId xmlns:a16="http://schemas.microsoft.com/office/drawing/2014/main" id="{6908725A-7494-4CB5-A1D5-E7A7A262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1: design evidence</a:t>
            </a:r>
          </a:p>
        </p:txBody>
      </p:sp>
      <p:sp>
        <p:nvSpPr>
          <p:cNvPr id="4" name="Rotation assumptions, a worked example and full CUDA te">
            <a:extLst xmlns:a="http://schemas.openxmlformats.org/drawingml/2006/main">
              <a:ext uri="{FF2B5EF4-FFF2-40B4-BE49-F238E27FC236}">
                <a16:creationId xmlns:a16="http://schemas.microsoft.com/office/drawing/2014/main" id="{F0123ED0-44D9-4BE9-BB49-A2472630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assumptions, a worked example and full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excerpts are included on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following slides.</a:t>
            </a:r>
          </a:p>
        </p:txBody>
      </p:sp>
      <p:sp>
        <p:nvSpPr>
          <p:cNvPr id="5" name="Performance explanations use a stated CPU baseline and ">
            <a:extLst xmlns:a="http://schemas.openxmlformats.org/drawingml/2006/main">
              <a:ext uri="{FF2B5EF4-FFF2-40B4-BE49-F238E27FC236}">
                <a16:creationId xmlns:a16="http://schemas.microsoft.com/office/drawing/2014/main" id="{C022DDCF-D4EA-4D2E-B8B6-EC6AFEEA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explanations use a stated CPU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baseline and theoretical bounds. No measured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or compiled CUDA result is claimed.</a:t>
            </a:r>
          </a:p>
        </p:txBody>
      </p:sp>
      <p:sp>
        <p:nvSpPr>
          <p:cNvPr id="6" name="GDS is evaluated for the actual CPU-decoded pipeline an">
            <a:extLst xmlns:a="http://schemas.openxmlformats.org/drawingml/2006/main">
              <a:ext uri="{FF2B5EF4-FFF2-40B4-BE49-F238E27FC236}">
                <a16:creationId xmlns:a16="http://schemas.microsoft.com/office/drawing/2014/main" id="{C0C6E353-4573-4482-93DD-65E08DA0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is evaluated for the actual CPU-decoded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pipeline and a conditional storage-bound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alternative.</a:t>
            </a:r>
          </a:p>
        </p:txBody>
      </p:sp>
      <p:sp>
        <p:nvSpPr>
          <p:cNvPr id="7" name="Task 2: research and decisions">
            <a:extLst xmlns:a="http://schemas.openxmlformats.org/drawingml/2006/main">
              <a:ext uri="{FF2B5EF4-FFF2-40B4-BE49-F238E27FC236}">
                <a16:creationId xmlns:a16="http://schemas.microsoft.com/office/drawing/2014/main" id="{285C1B63-948C-454A-BC6E-D7AE9C7A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2: research and decisions</a:t>
            </a:r>
          </a:p>
        </p:txBody>
      </p:sp>
      <p:sp>
        <p:nvSpPr>
          <p:cNvPr id="8" name="Each required topic has evidence, a comparison, propose">
            <a:extLst xmlns:a="http://schemas.openxmlformats.org/drawingml/2006/main">
              <a:ext uri="{FF2B5EF4-FFF2-40B4-BE49-F238E27FC236}">
                <a16:creationId xmlns:a16="http://schemas.microsoft.com/office/drawing/2014/main" id="{A9E04052-E00D-40FF-9C12-DD709765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 required topic has evidence, a comparison,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measures and limitations. A cluster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scenario is illustrative, not an observed experiment.</a:t>
            </a:r>
          </a:p>
        </p:txBody>
      </p:sp>
      <p:sp>
        <p:nvSpPr>
          <p:cNvPr id="9" name="Sector electricity data do not establish a particular t">
            <a:extLst xmlns:a="http://schemas.openxmlformats.org/drawingml/2006/main">
              <a:ext uri="{FF2B5EF4-FFF2-40B4-BE49-F238E27FC236}">
                <a16:creationId xmlns:a16="http://schemas.microsoft.com/office/drawing/2014/main" id="{003BD74C-539A-4414-903F-54C89538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Sector electricity data do not establish a particular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 job’s footprint. Historical research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distinguished from current programme reach.</a:t>
            </a:r>
          </a:p>
        </p:txBody>
      </p:sp>
      <p:sp>
        <p:nvSpPr>
          <p:cNvPr id="10" name="References and AI disclosure/prompt records are part of">
            <a:extLst xmlns:a="http://schemas.openxmlformats.org/drawingml/2006/main">
              <a:ext uri="{FF2B5EF4-FFF2-40B4-BE49-F238E27FC236}">
                <a16:creationId xmlns:a16="http://schemas.microsoft.com/office/drawing/2014/main" id="{C9A8F4E0-861B-422D-977A-E6C70E99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 and AI disclosure/prompt records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of this presentation. There is no separate report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dependency.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AC4C0-853A-4BEE-9986-10A8FB5C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F4A2E-115D-41B1-9C1C-4B2B1A1C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9E605D30-FF78-417E-BDD6-90DA9B51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13 / 57">
            <a:extLst xmlns:a="http://schemas.openxmlformats.org/drawingml/2006/main">
              <a:ext uri="{FF2B5EF4-FFF2-40B4-BE49-F238E27FC236}">
                <a16:creationId xmlns:a16="http://schemas.microsoft.com/office/drawing/2014/main" id="{37E01DB1-7250-4584-9FCC-C6E76B38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13 / 57</a:t>
            </a:r>
          </a:p>
        </p:txBody>
      </p:sp>
    </p:spTree>
    <p:extLst>
      <p:ext uri="{BB962C8B-B14F-4D97-AF65-F5344CB8AC3E}">
        <p14:creationId xmlns:p14="http://schemas.microsoft.com/office/powerpoint/2010/main" val="8829862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">
            <a:extLst xmlns:a="http://schemas.openxmlformats.org/drawingml/2006/main">
              <a:ext uri="{FF2B5EF4-FFF2-40B4-BE49-F238E27FC236}">
                <a16:creationId xmlns:a16="http://schemas.microsoft.com/office/drawing/2014/main" id="{2D637704-7E04-4546-BA21-09D00F4D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</a:t>
            </a:r>
          </a:p>
        </p:txBody>
      </p:sp>
      <p:sp>
        <p:nvSpPr>
          <p:cNvPr id="2" name="Rotation coordinates and sampling">
            <a:extLst xmlns:a="http://schemas.openxmlformats.org/drawingml/2006/main">
              <a:ext uri="{FF2B5EF4-FFF2-40B4-BE49-F238E27FC236}">
                <a16:creationId xmlns:a16="http://schemas.microsoft.com/office/drawing/2014/main" id="{50403C40-4B76-4F1E-970F-CD8ABB10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coordinates and sampling</a:t>
            </a:r>
          </a:p>
        </p:txBody>
      </p:sp>
      <p:sp>
        <p:nvSpPr>
          <p:cNvPr id="3" name="Coordinate convention">
            <a:extLst xmlns:a="http://schemas.openxmlformats.org/drawingml/2006/main">
              <a:ext uri="{FF2B5EF4-FFF2-40B4-BE49-F238E27FC236}">
                <a16:creationId xmlns:a16="http://schemas.microsoft.com/office/drawing/2014/main" id="{6C4E95A9-B347-4D51-BB7B-79576836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Coordinate convention</a:t>
            </a:r>
          </a:p>
        </p:txBody>
      </p:sp>
      <p:sp>
        <p:nvSpPr>
          <p:cNvPr id="4" name="Input/output: contiguous 8-bit RGB; positive width W an">
            <a:extLst xmlns:a="http://schemas.openxmlformats.org/drawingml/2006/main">
              <a:ext uri="{FF2B5EF4-FFF2-40B4-BE49-F238E27FC236}">
                <a16:creationId xmlns:a16="http://schemas.microsoft.com/office/drawing/2014/main" id="{37E1411D-FD6E-480F-8FE1-F085297A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Input/output: contiguous 8-bit RGB; positive width 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height H; x points right and y points down. Input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output buffers are distinct.</a:t>
            </a:r>
          </a:p>
        </p:txBody>
      </p:sp>
      <p:sp>
        <p:nvSpPr>
          <p:cNvPr id="5" name="Rotate around cx = (W − 1)/2 and cy = (H − 1)/2. Positi">
            <a:extLst xmlns:a="http://schemas.openxmlformats.org/drawingml/2006/main">
              <a:ext uri="{FF2B5EF4-FFF2-40B4-BE49-F238E27FC236}">
                <a16:creationId xmlns:a16="http://schemas.microsoft.com/office/drawing/2014/main" id="{316E2929-FF44-4B0C-BCED-A5EEC15F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Rotate around cx = (W − 1)/2 and cy = (H − 1)/2.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Positive θ is visually counterclockwise; the host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supplies c = cos θ and s = sin θ in radians.</a:t>
            </a:r>
          </a:p>
        </p:txBody>
      </p:sp>
      <p:sp>
        <p:nvSpPr>
          <p:cNvPr id="6" name="Forward image-coordinate rotation uses [c s; −s c]. Inv">
            <a:extLst xmlns:a="http://schemas.openxmlformats.org/drawingml/2006/main">
              <a:ext uri="{FF2B5EF4-FFF2-40B4-BE49-F238E27FC236}">
                <a16:creationId xmlns:a16="http://schemas.microsoft.com/office/drawing/2014/main" id="{4D5DC7FC-143D-4673-88D4-185B7B0B3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image-coordinate rotation uses [c s; −s c].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Inverting it gives source offsets [c −s; s c] ×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offsets, then restores the center.</a:t>
            </a:r>
          </a:p>
        </p:txBody>
      </p:sp>
      <p:sp>
        <p:nvSpPr>
          <p:cNvPr id="7" name="Deliberate design choices">
            <a:extLst xmlns:a="http://schemas.openxmlformats.org/drawingml/2006/main">
              <a:ext uri="{FF2B5EF4-FFF2-40B4-BE49-F238E27FC236}">
                <a16:creationId xmlns:a16="http://schemas.microsoft.com/office/drawing/2014/main" id="{81A3F63B-FCB9-46BE-86DE-FC063121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Deliberate design choices</a:t>
            </a:r>
          </a:p>
        </p:txBody>
      </p:sp>
      <p:sp>
        <p:nvSpPr>
          <p:cNvPr id="8" name="Nearest-neighbour indices: ix = floor(sx + 0.5), iy = f">
            <a:extLst xmlns:a="http://schemas.openxmlformats.org/drawingml/2006/main">
              <a:ext uri="{FF2B5EF4-FFF2-40B4-BE49-F238E27FC236}">
                <a16:creationId xmlns:a16="http://schemas.microsoft.com/office/drawing/2014/main" id="{D318B6B2-63F6-4D58-ADA1-C98BA6CA6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indices: ix = floor(sx + 0.5), iy =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floor(sy + 0.5). Copy three channels if the rounded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indices are in bounds; otherwise write black.</a:t>
            </a:r>
          </a:p>
        </p:txBody>
      </p:sp>
      <p:sp>
        <p:nvSpPr>
          <p:cNvPr id="9" name="The fixed W × H canvas can crop rotated corners. Neares">
            <a:extLst xmlns:a="http://schemas.openxmlformats.org/drawingml/2006/main">
              <a:ext uri="{FF2B5EF4-FFF2-40B4-BE49-F238E27FC236}">
                <a16:creationId xmlns:a16="http://schemas.microsoft.com/office/drawing/2014/main" id="{44FF9BC1-8AFB-411F-9B78-8E21517D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fixed W × H canvas can crop rotated corners.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sampling can alias; bilinear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interpolation improves smoothness but adds 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reads/arithmetic.</a:t>
            </a:r>
          </a:p>
        </p:txBody>
      </p:sp>
      <p:sp>
        <p:nvSpPr>
          <p:cNvPr id="10" name="Forward scatter can leave holes or competing writes aft">
            <a:extLst xmlns:a="http://schemas.openxmlformats.org/drawingml/2006/main">
              <a:ext uri="{FF2B5EF4-FFF2-40B4-BE49-F238E27FC236}">
                <a16:creationId xmlns:a16="http://schemas.microsoft.com/office/drawing/2014/main" id="{504B1257-36BB-4F69-A986-C0489E19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Forward scatter can leave holes or competing writes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after rounding. Inverse gathering assigns every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exactly one writer. NPP offers library rotation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 explicit interpolation/ROI choices.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9E98D5-68B4-490F-A7B0-80CF7C65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D00F1B-837B-4C45-A55A-1CC26808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] Topic 8: GPU architecture and CUDA; [20] N">
            <a:extLst xmlns:a="http://schemas.openxmlformats.org/drawingml/2006/main">
              <a:ext uri="{FF2B5EF4-FFF2-40B4-BE49-F238E27FC236}">
                <a16:creationId xmlns:a16="http://schemas.microsoft.com/office/drawing/2014/main" id="{4D3EBC57-9DA1-463C-AC8B-E7B40FD2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[20] NVIDIA NPP: library alternative</a:t>
            </a:r>
          </a:p>
        </p:txBody>
      </p:sp>
      <p:sp>
        <p:nvSpPr>
          <p:cNvPr id="14" name="14 / 57">
            <a:extLst xmlns:a="http://schemas.openxmlformats.org/drawingml/2006/main">
              <a:ext uri="{FF2B5EF4-FFF2-40B4-BE49-F238E27FC236}">
                <a16:creationId xmlns:a16="http://schemas.microsoft.com/office/drawing/2014/main" id="{A217E994-6B88-4266-B96D-9D0D9418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14 / 57</a:t>
            </a:r>
          </a:p>
        </p:txBody>
      </p:sp>
    </p:spTree>
    <p:extLst>
      <p:ext uri="{BB962C8B-B14F-4D97-AF65-F5344CB8AC3E}">
        <p14:creationId xmlns:p14="http://schemas.microsoft.com/office/powerpoint/2010/main" val="7389995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Appendix A2">
            <a:extLst xmlns:a="http://schemas.openxmlformats.org/drawingml/2006/main">
              <a:ext uri="{FF2B5EF4-FFF2-40B4-BE49-F238E27FC236}">
                <a16:creationId xmlns:a16="http://schemas.microsoft.com/office/drawing/2014/main" id="{09FDCBA1-02F2-46B0-AE4F-8F3D9A4F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A2</a:t>
            </a:r>
          </a:p>
        </p:txBody>
      </p:sp>
      <p:sp>
        <p:nvSpPr>
          <p:cNvPr id="2" name="A 90-degree rotation example">
            <a:extLst xmlns:a="http://schemas.openxmlformats.org/drawingml/2006/main">
              <a:ext uri="{FF2B5EF4-FFF2-40B4-BE49-F238E27FC236}">
                <a16:creationId xmlns:a16="http://schemas.microsoft.com/office/drawing/2014/main" id="{E4A6676A-C29A-46E8-9165-00D72DED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90-degree rotation example</a:t>
            </a:r>
          </a:p>
        </p:txBody>
      </p:sp>
      <p:sp>
        <p:nvSpPr>
          <p:cNvPr id="3" name="Input">
            <a:extLst xmlns:a="http://schemas.openxmlformats.org/drawingml/2006/main">
              <a:ext uri="{FF2B5EF4-FFF2-40B4-BE49-F238E27FC236}">
                <a16:creationId xmlns:a16="http://schemas.microsoft.com/office/drawing/2014/main" id="{F610308F-160A-49B6-A1E2-5C7FB91E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92963-E34F-4F69-9DEF-E19C76207F16}"/>
              </a:ext>
            </a:extLst>
          </p:cNvPr>
          <p:cNvGraphicFramePr/>
          <p:nvPr/>
        </p:nvGraphicFramePr>
        <p:xfrm>
          <a:off xmlns:a="http://schemas.openxmlformats.org/drawingml/2006/main" x="60960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Output: 90° counterclockwise">
            <a:extLst xmlns:a="http://schemas.openxmlformats.org/drawingml/2006/main">
              <a:ext uri="{FF2B5EF4-FFF2-40B4-BE49-F238E27FC236}">
                <a16:creationId xmlns:a16="http://schemas.microsoft.com/office/drawing/2014/main" id="{69E27464-876C-42F4-8733-6F3DCF5F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514475"/>
            <a:ext cx="40386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Output: 90° counterclockwise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E9609-8633-4B36-A5EA-7311D69A36C1}"/>
              </a:ext>
            </a:extLst>
          </p:cNvPr>
          <p:cNvGraphicFramePr/>
          <p:nvPr/>
        </p:nvGraphicFramePr>
        <p:xfrm>
          <a:off xmlns:a="http://schemas.openxmlformats.org/drawingml/2006/main" x="7562850" y="2019300"/>
          <a:ext xmlns:a="http://schemas.openxmlformats.org/drawingml/2006/main" cx="40195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03910"/>
                <a:gridCol w="803910"/>
                <a:gridCol w="803910"/>
                <a:gridCol w="803910"/>
                <a:gridCol w="803910"/>
              </a:tblGrid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C2E7E5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76200" tIns="76200" rIns="76200" bIns="76200"/>
                    <a:lstStyle/>
                    <a:p>
                      <a:pPr algn="ctr"/>
                      <a:r>
                        <a:rPr sz="2025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θ = 90°&#10;c = 0, s = 1&#10;center = (2,2)">
            <a:extLst xmlns:a="http://schemas.openxmlformats.org/drawingml/2006/main">
              <a:ext uri="{FF2B5EF4-FFF2-40B4-BE49-F238E27FC236}">
                <a16:creationId xmlns:a16="http://schemas.microsoft.com/office/drawing/2014/main" id="{B9EDD6BD-CE6C-45F4-A726-0E766C53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86000"/>
            <a:ext cx="2057400" cy="9593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θ = 90°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 = 0, s = 1</a:t>
            </a:r>
          </a:p>
          <a:p xmlns:a="http://schemas.openxmlformats.org/drawingml/2006/main">
            <a:pPr algn="ctr">
              <a:defRPr sz="19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center = (2,2)</a:t>
            </a:r>
          </a:p>
        </p:txBody>
      </p:sp>
      <p:sp>
        <p:nvSpPr>
          <p:cNvPr id="8" name="Output (0,1) → source (3,0) → value 3">
            <a:extLst xmlns:a="http://schemas.openxmlformats.org/drawingml/2006/main">
              <a:ext uri="{FF2B5EF4-FFF2-40B4-BE49-F238E27FC236}">
                <a16:creationId xmlns:a16="http://schemas.microsoft.com/office/drawing/2014/main" id="{1E737891-35C7-4FAD-B038-EF27B5A2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Output (0,1) → source (3,0) → value 3</a:t>
            </a:r>
          </a:p>
        </p:txBody>
      </p:sp>
      <p:sp>
        <p:nvSpPr>
          <p:cNvPr id="9" name="The matrix values are illustrative pixel identifiers, n">
            <a:extLst xmlns:a="http://schemas.openxmlformats.org/drawingml/2006/main">
              <a:ext uri="{FF2B5EF4-FFF2-40B4-BE49-F238E27FC236}">
                <a16:creationId xmlns:a16="http://schemas.microsoft.com/office/drawing/2014/main" id="{C241E545-37BB-4865-88A3-4976FD8A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6262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 matrix values are illustrative pixel identifiers, not channel intensities.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5B70CC-37E9-4E01-AF02-429AAF4C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1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DC56641-A8C5-4B94-AEB1-25A7A442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2" name="15 / 57">
            <a:extLst xmlns:a="http://schemas.openxmlformats.org/drawingml/2006/main">
              <a:ext uri="{FF2B5EF4-FFF2-40B4-BE49-F238E27FC236}">
                <a16:creationId xmlns:a16="http://schemas.microsoft.com/office/drawing/2014/main" id="{91629E34-31D4-48FB-9D16-011E06C7B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15 / 57</a:t>
            </a:r>
          </a:p>
        </p:txBody>
      </p:sp>
    </p:spTree>
    <p:extLst>
      <p:ext uri="{BB962C8B-B14F-4D97-AF65-F5344CB8AC3E}">
        <p14:creationId xmlns:p14="http://schemas.microsoft.com/office/powerpoint/2010/main" val="183234762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3">
            <a:extLst xmlns:a="http://schemas.openxmlformats.org/drawingml/2006/main">
              <a:ext uri="{FF2B5EF4-FFF2-40B4-BE49-F238E27FC236}">
                <a16:creationId xmlns:a16="http://schemas.microsoft.com/office/drawing/2014/main" id="{307714EF-948B-468B-B361-799757102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A3</a:t>
            </a:r>
          </a:p>
        </p:txBody>
      </p:sp>
      <p:sp>
        <p:nvSpPr>
          <p:cNvPr id="2" name="Crafted CUDA example: RGB brightness">
            <a:extLst xmlns:a="http://schemas.openxmlformats.org/drawingml/2006/main">
              <a:ext uri="{FF2B5EF4-FFF2-40B4-BE49-F238E27FC236}">
                <a16:creationId xmlns:a16="http://schemas.microsoft.com/office/drawing/2014/main" id="{D62F8AE0-2FE8-47E7-9E5D-567D8C08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RGB brightness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4FDE4C-D61E-4009-907D-3241DD71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brightness_rgb(const unsigned char* inp">
            <a:extLst xmlns:a="http://schemas.openxmlformats.org/drawingml/2006/main">
              <a:ext uri="{FF2B5EF4-FFF2-40B4-BE49-F238E27FC236}">
                <a16:creationId xmlns:a16="http://schemas.microsoft.com/office/drawing/2014/main" id="{6174ECA0-4459-42BC-8FC4-ED64AA1F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brightness_rgb(const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int brightness)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offset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(size_t(y) * size_t(width) + size_t(x))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int value = int(input[offset + channel]) + brightness;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output[offset + channel]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value &lt; 0 ? 0 : (value &gt; 255 ? 255 : value);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Same operation on independent pixels: a data-parallel k">
            <a:extLst xmlns:a="http://schemas.openxmlformats.org/drawingml/2006/main">
              <a:ext uri="{FF2B5EF4-FFF2-40B4-BE49-F238E27FC236}">
                <a16:creationId xmlns:a16="http://schemas.microsoft.com/office/drawing/2014/main" id="{7A644A55-8836-498D-9770-4DC6FBFF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operation 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independent pixels: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data-parallel kernel.</a:t>
            </a:r>
          </a:p>
        </p:txBody>
      </p:sp>
      <p:sp>
        <p:nvSpPr>
          <p:cNvPr id="6" name="Assume brightness in [−255,255]. Integer addition avoid">
            <a:extLst xmlns:a="http://schemas.openxmlformats.org/drawingml/2006/main">
              <a:ext uri="{FF2B5EF4-FFF2-40B4-BE49-F238E27FC236}">
                <a16:creationId xmlns:a16="http://schemas.microsoft.com/office/drawing/2014/main" id="{355F1703-FFE8-42E2-85DB-307F68AAA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Assume brightness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[−255,255]. Integer addition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avoids uint8 wrap; clamp each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 to [0,255].</a:t>
            </a:r>
          </a:p>
        </p:txBody>
      </p:sp>
      <p:sp>
        <p:nvSpPr>
          <p:cNvPr id="7" name="Adjacent threads touch adjacent pixel locations, provid">
            <a:extLst xmlns:a="http://schemas.openxmlformats.org/drawingml/2006/main">
              <a:ext uri="{FF2B5EF4-FFF2-40B4-BE49-F238E27FC236}">
                <a16:creationId xmlns:a16="http://schemas.microsoft.com/office/drawing/2014/main" id="{CE197848-B5A2-451B-8D82-9CDF1589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572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threads touch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adjacent pixel locations,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providing useful locality.</a:t>
            </a:r>
          </a:p>
        </p:txBody>
      </p:sp>
      <p:sp>
        <p:nvSpPr>
          <p:cNvPr id="8" name="Illustrative CUDA C++; uncompiled and unbenchmarked.">
            <a:extLst xmlns:a="http://schemas.openxmlformats.org/drawingml/2006/main">
              <a:ext uri="{FF2B5EF4-FFF2-40B4-BE49-F238E27FC236}">
                <a16:creationId xmlns:a16="http://schemas.microsoft.com/office/drawing/2014/main" id="{571E0D16-99A3-4288-A1AC-C45D9593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6537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CUDA C++;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uncompiled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unbenchmarked.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D8237-DC48-48EE-9E57-FE1A21F5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E6F21880-6785-4926-A191-AAC134AC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1" name="16 / 57">
            <a:extLst xmlns:a="http://schemas.openxmlformats.org/drawingml/2006/main">
              <a:ext uri="{FF2B5EF4-FFF2-40B4-BE49-F238E27FC236}">
                <a16:creationId xmlns:a16="http://schemas.microsoft.com/office/drawing/2014/main" id="{B554317E-76C2-40B3-A6F8-DFB6D292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16 / 57</a:t>
            </a:r>
          </a:p>
        </p:txBody>
      </p:sp>
    </p:spTree>
    <p:extLst>
      <p:ext uri="{BB962C8B-B14F-4D97-AF65-F5344CB8AC3E}">
        <p14:creationId xmlns:p14="http://schemas.microsoft.com/office/powerpoint/2010/main" val="108265798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4">
            <a:extLst xmlns:a="http://schemas.openxmlformats.org/drawingml/2006/main">
              <a:ext uri="{FF2B5EF4-FFF2-40B4-BE49-F238E27FC236}">
                <a16:creationId xmlns:a16="http://schemas.microsoft.com/office/drawing/2014/main" id="{D80F6597-2915-4A86-A716-0184C1D1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A4</a:t>
            </a:r>
          </a:p>
        </p:txBody>
      </p:sp>
      <p:sp>
        <p:nvSpPr>
          <p:cNvPr id="2" name="Crafted CUDA example: inverse mapping">
            <a:extLst xmlns:a="http://schemas.openxmlformats.org/drawingml/2006/main">
              <a:ext uri="{FF2B5EF4-FFF2-40B4-BE49-F238E27FC236}">
                <a16:creationId xmlns:a16="http://schemas.microsoft.com/office/drawing/2014/main" id="{221789EE-53CC-451B-89BC-DF774B710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inverse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B6798-CEDE-45DA-ACB0-C1097DD0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137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__global__ void rotate_rgb(const unsigned char* input,&#10;">
            <a:extLst xmlns:a="http://schemas.openxmlformats.org/drawingml/2006/main">
              <a:ext uri="{FF2B5EF4-FFF2-40B4-BE49-F238E27FC236}">
                <a16:creationId xmlns:a16="http://schemas.microsoft.com/office/drawing/2014/main" id="{6F4DAE55-7FC6-4983-B2DB-CD8AE795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00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__global__ void rotate_rgb(const unsigned char* 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unsigned char* 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width,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c,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float s)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x = blockIdx.x * blockDim.x + threadIdx.x;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y = blockIdx.y * blockDim.y + threadIdx.y;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(x &gt;= width || y &gt;=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return;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cx = (width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cy = (height - 1) * 0.5f;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sx = c * (x - cx) - s * (y - cy) + cx;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float sy = s * (x - cx) + c * (y - cy) + cy;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ix = int(floorf(sx + 0.5f));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int iy = int(floorf(sy + 0.5f));</a:t>
            </a:r>
          </a:p>
        </p:txBody>
      </p:sp>
      <p:sp>
        <p:nvSpPr>
          <p:cNvPr id="5" name="Global coordinates come from block/thread indices.">
            <a:extLst xmlns:a="http://schemas.openxmlformats.org/drawingml/2006/main">
              <a:ext uri="{FF2B5EF4-FFF2-40B4-BE49-F238E27FC236}">
                <a16:creationId xmlns:a16="http://schemas.microsoft.com/office/drawing/2014/main" id="{09C4647C-0EBB-489E-B15D-C9B0326D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coordinates come from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block/thread indices.</a:t>
            </a:r>
          </a:p>
        </p:txBody>
      </p:sp>
      <p:sp>
        <p:nvSpPr>
          <p:cNvPr id="6" name="The guard handles partial edge blocks before any memory">
            <a:extLst xmlns:a="http://schemas.openxmlformats.org/drawingml/2006/main">
              <a:ext uri="{FF2B5EF4-FFF2-40B4-BE49-F238E27FC236}">
                <a16:creationId xmlns:a16="http://schemas.microsoft.com/office/drawing/2014/main" id="{A3213DE7-0FBF-4061-98A3-7C2BDA48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guard handles partial edge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blocks before any memory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access.</a:t>
            </a:r>
          </a:p>
        </p:txBody>
      </p:sp>
      <p:sp>
        <p:nvSpPr>
          <p:cNvPr id="7" name="The host computes sine/cosine once per angle.">
            <a:extLst xmlns:a="http://schemas.openxmlformats.org/drawingml/2006/main">
              <a:ext uri="{FF2B5EF4-FFF2-40B4-BE49-F238E27FC236}">
                <a16:creationId xmlns:a16="http://schemas.microsoft.com/office/drawing/2014/main" id="{6BEC8B22-8C53-4A4D-8306-FDF33EA0C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host computes sine/cosine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per angle.</a:t>
            </a:r>
          </a:p>
        </p:txBody>
      </p:sp>
      <p:sp>
        <p:nvSpPr>
          <p:cNvPr id="8" name="Nearest-neighbour mapping uses the documented y-down co">
            <a:extLst xmlns:a="http://schemas.openxmlformats.org/drawingml/2006/main">
              <a:ext uri="{FF2B5EF4-FFF2-40B4-BE49-F238E27FC236}">
                <a16:creationId xmlns:a16="http://schemas.microsoft.com/office/drawing/2014/main" id="{0C5C2FCD-5393-4C26-89FD-7627AA532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8584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Nearest-neighbour mapping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uses the documented y-down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7F1C73-D6E9-4E98-A3D2-1637F0E48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012B5383-2EBD-449B-9293-6C7573E6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</a:t>
            </a:r>
          </a:p>
        </p:txBody>
      </p:sp>
      <p:sp>
        <p:nvSpPr>
          <p:cNvPr id="11" name="17 / 57">
            <a:extLst xmlns:a="http://schemas.openxmlformats.org/drawingml/2006/main">
              <a:ext uri="{FF2B5EF4-FFF2-40B4-BE49-F238E27FC236}">
                <a16:creationId xmlns:a16="http://schemas.microsoft.com/office/drawing/2014/main" id="{A65DA662-B4DD-49E6-AE1E-7098DC95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17 / 57</a:t>
            </a:r>
          </a:p>
        </p:txBody>
      </p:sp>
    </p:spTree>
    <p:extLst>
      <p:ext uri="{BB962C8B-B14F-4D97-AF65-F5344CB8AC3E}">
        <p14:creationId xmlns:p14="http://schemas.microsoft.com/office/powerpoint/2010/main" val="9539435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5">
            <a:extLst xmlns:a="http://schemas.openxmlformats.org/drawingml/2006/main">
              <a:ext uri="{FF2B5EF4-FFF2-40B4-BE49-F238E27FC236}">
                <a16:creationId xmlns:a16="http://schemas.microsoft.com/office/drawing/2014/main" id="{48103938-52E7-4850-A296-8DC81EAA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A5</a:t>
            </a:r>
          </a:p>
        </p:txBody>
      </p:sp>
      <p:sp>
        <p:nvSpPr>
          <p:cNvPr id="2" name="Crafted CUDA example: safe output writes">
            <a:extLst xmlns:a="http://schemas.openxmlformats.org/drawingml/2006/main">
              <a:ext uri="{FF2B5EF4-FFF2-40B4-BE49-F238E27FC236}">
                <a16:creationId xmlns:a16="http://schemas.microsoft.com/office/drawing/2014/main" id="{3E32FC0C-8AE4-4EB7-B2DC-425E40E2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Crafted CUDA example: safe output writes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CEA61-6DE6-404C-90C9-BD2496FC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    const size_t destination =&#10;        (size_t(y) * siz">
            <a:extLst xmlns:a="http://schemas.openxmlformats.org/drawingml/2006/main">
              <a:ext uri="{FF2B5EF4-FFF2-40B4-BE49-F238E27FC236}">
                <a16:creationId xmlns:a16="http://schemas.microsoft.com/office/drawing/2014/main" id="{A6507E81-0482-41C6-8DBB-2656DD4D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335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size_t destination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(size_t(y) * size_t(width) + size_t(x)) * 3;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(ix &gt;= 0 &amp;&amp; ix &lt; width &amp;&amp; iy &gt;= 0 &amp;&amp; iy &lt; height)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const size_t source =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(size_t(iy) * size_t(width) + size_t(ix)) * 3;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input[source + channel];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 else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for (int channel = 0; channel &lt; 3; ++channel)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output[destination + channel] = 0;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RGB address = 3 × (row × width + column).">
            <a:extLst xmlns:a="http://schemas.openxmlformats.org/drawingml/2006/main">
              <a:ext uri="{FF2B5EF4-FFF2-40B4-BE49-F238E27FC236}">
                <a16:creationId xmlns:a16="http://schemas.microsoft.com/office/drawing/2014/main" id="{FF2BEAFF-4019-47DD-8316-567F4419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RGB address = 3 × (row ×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width + column).</a:t>
            </a:r>
          </a:p>
        </p:txBody>
      </p:sp>
      <p:sp>
        <p:nvSpPr>
          <p:cNvPr id="6" name="Every valid output gets three channels, including black">
            <a:extLst xmlns:a="http://schemas.openxmlformats.org/drawingml/2006/main">
              <a:ext uri="{FF2B5EF4-FFF2-40B4-BE49-F238E27FC236}">
                <a16:creationId xmlns:a16="http://schemas.microsoft.com/office/drawing/2014/main" id="{0A738D9D-3556-4415-81D0-8D129D87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9434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Every valid output gets three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channels, including black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borders.</a:t>
            </a:r>
          </a:p>
        </p:txBody>
      </p:sp>
      <p:sp>
        <p:nvSpPr>
          <p:cNvPr id="7" name="No atomics, mutex or block barrier is needed: writers h">
            <a:extLst xmlns:a="http://schemas.openxmlformats.org/drawingml/2006/main">
              <a:ext uri="{FF2B5EF4-FFF2-40B4-BE49-F238E27FC236}">
                <a16:creationId xmlns:a16="http://schemas.microsoft.com/office/drawing/2014/main" id="{342625B6-9897-47EF-B823-964E6733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3756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atomics, mutex or block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barrier is needed: writers have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disjoint destinations.</a:t>
            </a:r>
          </a:p>
        </p:txBody>
      </p:sp>
      <p:sp>
        <p:nvSpPr>
          <p:cNvPr id="8" name="Total work Θ(W × H); input/output storage Θ(W × H) each">
            <a:extLst xmlns:a="http://schemas.openxmlformats.org/drawingml/2006/main">
              <a:ext uri="{FF2B5EF4-FFF2-40B4-BE49-F238E27FC236}">
                <a16:creationId xmlns:a16="http://schemas.microsoft.com/office/drawing/2014/main" id="{5D88CA8F-F2C1-453A-A185-91DFE70A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4568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work Θ(W × H);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input/output storage Θ(W × H)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76765-5FF1-43C9-93FF-B2E2CF7A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36EA81BA-66ED-4498-B77D-BB705400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[22] Topic 9B: mutual exclusion and allocation</a:t>
            </a:r>
          </a:p>
        </p:txBody>
      </p:sp>
      <p:sp>
        <p:nvSpPr>
          <p:cNvPr id="11" name="18 / 57">
            <a:extLst xmlns:a="http://schemas.openxmlformats.org/drawingml/2006/main">
              <a:ext uri="{FF2B5EF4-FFF2-40B4-BE49-F238E27FC236}">
                <a16:creationId xmlns:a16="http://schemas.microsoft.com/office/drawing/2014/main" id="{4B268DA6-6D9F-4FB3-9593-254EA018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18 / 57</a:t>
            </a:r>
          </a:p>
        </p:txBody>
      </p:sp>
    </p:spTree>
    <p:extLst>
      <p:ext uri="{BB962C8B-B14F-4D97-AF65-F5344CB8AC3E}">
        <p14:creationId xmlns:p14="http://schemas.microsoft.com/office/powerpoint/2010/main" val="14286920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6">
            <a:extLst xmlns:a="http://schemas.openxmlformats.org/drawingml/2006/main">
              <a:ext uri="{FF2B5EF4-FFF2-40B4-BE49-F238E27FC236}">
                <a16:creationId xmlns:a16="http://schemas.microsoft.com/office/drawing/2014/main" id="{6410A9CB-EF73-4D18-BC5B-32B9BE859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A6</a:t>
            </a:r>
          </a:p>
        </p:txBody>
      </p:sp>
      <p:sp>
        <p:nvSpPr>
          <p:cNvPr id="2" name="Host orchestration and completion">
            <a:extLst xmlns:a="http://schemas.openxmlformats.org/drawingml/2006/main">
              <a:ext uri="{FF2B5EF4-FFF2-40B4-BE49-F238E27FC236}">
                <a16:creationId xmlns:a16="http://schemas.microsoft.com/office/drawing/2014/main" id="{6D014901-A275-421F-AA42-0F267A45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orchestration and completion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724D5-5CC9-4EE3-B99F-92ACBBD6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64198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dim3 block(16, 16);&#10;dim3 grid(1u + (unsigned(W)-1u)/blo">
            <a:extLst xmlns:a="http://schemas.openxmlformats.org/drawingml/2006/main">
              <a:ext uri="{FF2B5EF4-FFF2-40B4-BE49-F238E27FC236}">
                <a16:creationId xmlns:a16="http://schemas.microsoft.com/office/drawing/2014/main" id="{28996B6F-5D67-4962-B035-B15F0085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61912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block(16, 16);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dim3 grid(1u + (unsigned(W)-1u)/block.x,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1u + (unsigned(H)-1u)/block.y);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cudaMemcpy(d_in, h_in,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cudaMemcpyHostToDevice);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rotate_rgb&lt;&lt;&lt;grid, block&gt;&gt;&gt;(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d_in, d_out, W, H,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cudaMemcpy(h_out, d_out,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cudaMemcpyDeviceToHost);</a:t>
            </a:r>
          </a:p>
        </p:txBody>
      </p:sp>
      <p:sp>
        <p:nvSpPr>
          <p:cNvPr id="5" name="Illustrative excerpt, not a complete program: W/H &gt; 0; ">
            <a:extLst xmlns:a="http://schemas.openxmlformats.org/drawingml/2006/main">
              <a:ext uri="{FF2B5EF4-FFF2-40B4-BE49-F238E27FC236}">
                <a16:creationId xmlns:a16="http://schemas.microsoft.com/office/drawing/2014/main" id="{077745EF-8B7A-4709-B682-EA107319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6191250" cy="7821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Illustrative excerpt, not a complete program: W/H &gt; 0; bytes = 3 × W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× H checked in size_t; valid separate buffers; grid/device limits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validated.</a:t>
            </a:r>
          </a:p>
        </p:txBody>
      </p:sp>
      <p:sp>
        <p:nvSpPr>
          <p:cNvPr id="6" name="CPU loads/decodes, allocates host/device buffers, check">
            <a:extLst xmlns:a="http://schemas.openxmlformats.org/drawingml/2006/main">
              <a:ext uri="{FF2B5EF4-FFF2-40B4-BE49-F238E27FC236}">
                <a16:creationId xmlns:a16="http://schemas.microsoft.com/office/drawing/2014/main" id="{0D5B2014-6BC0-43AD-A81D-2CC07A6C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581150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loads/decodes, allocates host/device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buffers, checks every API/launch/completion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result, saves output and frees resources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safely.</a:t>
            </a:r>
          </a:p>
        </p:txBody>
      </p:sp>
      <p:sp>
        <p:nvSpPr>
          <p:cNvPr id="7" name="For this ordered synchronous-copy example, D2H supplies">
            <a:extLst xmlns:a="http://schemas.openxmlformats.org/drawingml/2006/main">
              <a:ext uri="{FF2B5EF4-FFF2-40B4-BE49-F238E27FC236}">
                <a16:creationId xmlns:a16="http://schemas.microsoft.com/office/drawing/2014/main" id="{4670153D-C0B4-4AD0-B9D0-16D12A96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30068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this ordered synchronous-copy example,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 supplies completed host data. A launch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asynchronous; launch-error checks alone do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establish successful completion.</a:t>
            </a:r>
          </a:p>
        </p:txBody>
      </p:sp>
      <p:sp>
        <p:nvSpPr>
          <p:cNvPr id="8" name="Pinned host storage is page-locked and supports efficie">
            <a:extLst xmlns:a="http://schemas.openxmlformats.org/drawingml/2006/main">
              <a:ext uri="{FF2B5EF4-FFF2-40B4-BE49-F238E27FC236}">
                <a16:creationId xmlns:a16="http://schemas.microsoft.com/office/drawing/2014/main" id="{3632F232-02EA-46C2-BAD3-9A25683F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78986"/>
            <a:ext cx="4362450" cy="10774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storage is page-locked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supports efficient DMA. Pageable memory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need runtime staging. Avoid excessive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E5FD46-161B-42E7-934D-60B454D6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] Topic 8: GPU architecture and CUDA; [3] To">
            <a:extLst xmlns:a="http://schemas.openxmlformats.org/drawingml/2006/main">
              <a:ext uri="{FF2B5EF4-FFF2-40B4-BE49-F238E27FC236}">
                <a16:creationId xmlns:a16="http://schemas.microsoft.com/office/drawing/2014/main" id="{2650F147-0394-488E-B7CA-90B70BD4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[3] Topic 9A: synchronization; [4] NVIDIA CUDA programming model; [5] NVIDIA CUDA Best Practices</a:t>
            </a:r>
          </a:p>
        </p:txBody>
      </p:sp>
      <p:sp>
        <p:nvSpPr>
          <p:cNvPr id="11" name="19 / 57">
            <a:extLst xmlns:a="http://schemas.openxmlformats.org/drawingml/2006/main">
              <a:ext uri="{FF2B5EF4-FFF2-40B4-BE49-F238E27FC236}">
                <a16:creationId xmlns:a16="http://schemas.microsoft.com/office/drawing/2014/main" id="{9A88777A-C64A-4CA0-BB73-C0CA11AB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19 / 57</a:t>
            </a:r>
          </a:p>
        </p:txBody>
      </p:sp>
    </p:spTree>
    <p:extLst>
      <p:ext uri="{BB962C8B-B14F-4D97-AF65-F5344CB8AC3E}">
        <p14:creationId xmlns:p14="http://schemas.microsoft.com/office/powerpoint/2010/main" val="48087216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A7">
            <a:extLst xmlns:a="http://schemas.openxmlformats.org/drawingml/2006/main">
              <a:ext uri="{FF2B5EF4-FFF2-40B4-BE49-F238E27FC236}">
                <a16:creationId xmlns:a16="http://schemas.microsoft.com/office/drawing/2014/main" id="{79FEB27D-1B50-471E-B6D7-480FE696D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A7</a:t>
            </a:r>
          </a:p>
        </p:txBody>
      </p:sp>
      <p:sp>
        <p:nvSpPr>
          <p:cNvPr id="2" name="Launch shape and memory access">
            <a:extLst xmlns:a="http://schemas.openxmlformats.org/drawingml/2006/main">
              <a:ext uri="{FF2B5EF4-FFF2-40B4-BE49-F238E27FC236}">
                <a16:creationId xmlns:a16="http://schemas.microsoft.com/office/drawing/2014/main" id="{631C37D4-98A8-4377-BFF7-1041A36D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Launch shape and memory access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BFC6F-931C-486A-89CC-A3F9D1817AD6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Choice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Mechanism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Performance implication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16 × 16 block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two 16-wide rows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Reasonable 2D starting point; row edges/alignment matter.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32 × 8 block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256 threads; each warp spans one 32-wide row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May improve row-oriented access; no universal winner.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Output gathering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Adjacent x threads write adjacent RGB pixels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 write locality; per-channel byte operations still require efficient transactions.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Rotated input reads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Angle changes the source addresses visited by a warp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Irregular gathers can reduce effective read bandwidth/cache reuse.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residency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Registers, shared memory and block/thread limits constrain active warps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Helps hide latency; maximum occupancy is not automatically fastest.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ompute grid for each block shape. Profile actual tra">
            <a:extLst xmlns:a="http://schemas.openxmlformats.org/drawingml/2006/main">
              <a:ext uri="{FF2B5EF4-FFF2-40B4-BE49-F238E27FC236}">
                <a16:creationId xmlns:a16="http://schemas.microsoft.com/office/drawing/2014/main" id="{8BC16D7F-B564-4973-BF55-1329DBCB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Recompute grid for each block shape. Profile actual transactions, latency and registers before selecting a shape.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0928C-8E27-48C3-B310-359F273E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] Topic 8: GPU architecture and CUDA; [4] NV">
            <a:extLst xmlns:a="http://schemas.openxmlformats.org/drawingml/2006/main">
              <a:ext uri="{FF2B5EF4-FFF2-40B4-BE49-F238E27FC236}">
                <a16:creationId xmlns:a16="http://schemas.microsoft.com/office/drawing/2014/main" id="{523D7EEF-A160-460A-A018-A92B9550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[1] Topic 8: GPU architecture and CUDA; [4] NVIDIA CUDA programming model; [5] NVIDIA CUDA Best Practices</a:t>
            </a:r>
          </a:p>
        </p:txBody>
      </p:sp>
      <p:sp>
        <p:nvSpPr>
          <p:cNvPr id="7" name="20 / 57">
            <a:extLst xmlns:a="http://schemas.openxmlformats.org/drawingml/2006/main">
              <a:ext uri="{FF2B5EF4-FFF2-40B4-BE49-F238E27FC236}">
                <a16:creationId xmlns:a16="http://schemas.microsoft.com/office/drawing/2014/main" id="{51428044-338E-4E55-BB79-3D5996BCB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20 / 57</a:t>
            </a:r>
          </a:p>
        </p:txBody>
      </p:sp>
    </p:spTree>
    <p:extLst>
      <p:ext uri="{BB962C8B-B14F-4D97-AF65-F5344CB8AC3E}">
        <p14:creationId xmlns:p14="http://schemas.microsoft.com/office/powerpoint/2010/main" val="4364578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A8">
            <a:extLst xmlns:a="http://schemas.openxmlformats.org/drawingml/2006/main">
              <a:ext uri="{FF2B5EF4-FFF2-40B4-BE49-F238E27FC236}">
                <a16:creationId xmlns:a16="http://schemas.microsoft.com/office/drawing/2014/main" id="{F4392D8B-8510-4B08-98FD-376AF1B1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A8</a:t>
            </a:r>
          </a:p>
        </p:txBody>
      </p:sp>
      <p:sp>
        <p:nvSpPr>
          <p:cNvPr id="2" name="Asynchronous work within one stream">
            <a:extLst xmlns:a="http://schemas.openxmlformats.org/drawingml/2006/main">
              <a:ext uri="{FF2B5EF4-FFF2-40B4-BE49-F238E27FC236}">
                <a16:creationId xmlns:a16="http://schemas.microsoft.com/office/drawing/2014/main" id="{75296DDA-DC8F-47A6-AA23-5C3821AA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Asynchronous work within one stream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E55459-2D53-4962-8365-F5E5F056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7705725" cy="43548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5"/>
          </a:solidFill>
          <a:ln xmlns:a="http://schemas.openxmlformats.org/drawingml/2006/main" w="14288">
            <a:noFill/>
            <a:prstDash val="solid"/>
          </a:ln>
        </p:spPr>
      </p:sp>
      <p:sp>
        <p:nvSpPr>
          <p:cNvPr id="4" name="cudaError_t enqueue_rotation(const unsigned char* h_inp">
            <a:extLst xmlns:a="http://schemas.openxmlformats.org/drawingml/2006/main">
              <a:ext uri="{FF2B5EF4-FFF2-40B4-BE49-F238E27FC236}">
                <a16:creationId xmlns:a16="http://schemas.microsoft.com/office/drawing/2014/main" id="{F39B967C-AF12-4358-9CCC-24DCDDC8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7477125" cy="422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cudaError_t enqueue_rotation(const unsigned char* h_input,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h_output,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d_input,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unsigned char*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size_t bytes, int width, int height,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float c, float 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cudaStream_t stream) {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block(32, 8);  // 256 threads.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const dim3 grid = rotation_grid(width, height, block);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cudaError_t status = cudaMemcpyAsync(d_input, h_input,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cudaMemcpyHostToDevice,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rotate_rgb&lt;&lt;&lt;grid, block, 0, stream&gt;&gt;&gt;(d_input, d_output,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              width, height, c, s);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status = cudaGetLastError();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if (status != cudaSuccess) return status;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return cudaMemcpyAsync(h_output, d_output, bytes,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                           cudaMemcpyDeviceToHost, stream);</a:t>
            </a:r>
          </a:p>
          <a:p xmlns:a="http://schemas.openxmlformats.org/drawingml/2006/main">
            <a:pPr algn="l">
              <a:defRPr sz="1425" b="0">
                <a:solidFill>
                  <a:srgbClr val="142D45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42D45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5" name="Full enqueue function; rotation_grid uses the ceil-divi">
            <a:extLst xmlns:a="http://schemas.openxmlformats.org/drawingml/2006/main">
              <a:ext uri="{FF2B5EF4-FFF2-40B4-BE49-F238E27FC236}">
                <a16:creationId xmlns:a16="http://schemas.microsoft.com/office/drawing/2014/main" id="{6E29E795-E2BA-456B-AFC4-7080D99E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81150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Full enqueue function;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rotation_grid uses the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ceil-division shown in A6.</a:t>
            </a:r>
          </a:p>
        </p:txBody>
      </p:sp>
      <p:sp>
        <p:nvSpPr>
          <p:cNvPr id="6" name="Pinned host buffers and checked sizes are preconditions">
            <a:extLst xmlns:a="http://schemas.openxmlformats.org/drawingml/2006/main">
              <a:ext uri="{FF2B5EF4-FFF2-40B4-BE49-F238E27FC236}">
                <a16:creationId xmlns:a16="http://schemas.microsoft.com/office/drawing/2014/main" id="{BD5247E8-C6FB-4B66-85AF-FCFB6102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89276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Pinned host buffers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checked sizes are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preconditions.</a:t>
            </a:r>
          </a:p>
        </p:txBody>
      </p:sp>
      <p:sp>
        <p:nvSpPr>
          <p:cNvPr id="7" name="Success means submitted work; wait before reading, reus">
            <a:extLst xmlns:a="http://schemas.openxmlformats.org/drawingml/2006/main">
              <a:ext uri="{FF2B5EF4-FFF2-40B4-BE49-F238E27FC236}">
                <a16:creationId xmlns:a16="http://schemas.microsoft.com/office/drawing/2014/main" id="{D756A627-9EC2-4D89-A57E-B3A04785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97402"/>
            <a:ext cx="2933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Success means submitted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work; wait before reading,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reusing or freeing buffers.</a:t>
            </a:r>
          </a:p>
        </p:txBody>
      </p:sp>
      <p:sp>
        <p:nvSpPr>
          <p:cNvPr id="8" name="On error, previously enqueued work may still be pending">
            <a:extLst xmlns:a="http://schemas.openxmlformats.org/drawingml/2006/main">
              <a:ext uri="{FF2B5EF4-FFF2-40B4-BE49-F238E27FC236}">
                <a16:creationId xmlns:a16="http://schemas.microsoft.com/office/drawing/2014/main" id="{F0E629BA-ECD7-4AE4-9B91-140FA20C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05528"/>
            <a:ext cx="293370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 error, previously enqueued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 may still be pending.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C82023-DEB7-48C2-8F10-EE5F6117B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3] Topic 9A: synchronization; [5] NVIDIA CUDA">
            <a:extLst xmlns:a="http://schemas.openxmlformats.org/drawingml/2006/main">
              <a:ext uri="{FF2B5EF4-FFF2-40B4-BE49-F238E27FC236}">
                <a16:creationId xmlns:a16="http://schemas.microsoft.com/office/drawing/2014/main" id="{846F5128-8EED-44C9-990F-3366D56A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Topic 9A: synchronization; [5] NVIDIA CUDA Best Practices</a:t>
            </a:r>
          </a:p>
        </p:txBody>
      </p:sp>
      <p:sp>
        <p:nvSpPr>
          <p:cNvPr id="11" name="21 / 57">
            <a:extLst xmlns:a="http://schemas.openxmlformats.org/drawingml/2006/main">
              <a:ext uri="{FF2B5EF4-FFF2-40B4-BE49-F238E27FC236}">
                <a16:creationId xmlns:a16="http://schemas.microsoft.com/office/drawing/2014/main" id="{C082CCB8-F3AA-4919-9BDD-88BE39A02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 / 57</a:t>
            </a:r>
          </a:p>
        </p:txBody>
      </p:sp>
    </p:spTree>
    <p:extLst>
      <p:ext uri="{BB962C8B-B14F-4D97-AF65-F5344CB8AC3E}">
        <p14:creationId xmlns:p14="http://schemas.microsoft.com/office/powerpoint/2010/main" val="17021864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B1B7BC-14D0-41C6-A084-E1AB11DB5F39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8505825" y="37909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935CD7-D5BE-4F09-A73D-BB2A50994EAF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353175" y="3790950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92816-4D9D-4083-B161-62DAA72115A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981825" y="23907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9970FC-FF84-4EC4-9016-36F35488872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829175" y="2390775"/>
            <a:ext cx="4667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23" name="Appendix A9">
            <a:extLst xmlns:a="http://schemas.openxmlformats.org/drawingml/2006/main">
              <a:ext uri="{FF2B5EF4-FFF2-40B4-BE49-F238E27FC236}">
                <a16:creationId xmlns:a16="http://schemas.microsoft.com/office/drawing/2014/main" id="{A6983755-3A39-4E56-A998-2D0FE937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A9</a:t>
            </a:r>
          </a:p>
        </p:txBody>
      </p:sp>
      <p:sp>
        <p:nvSpPr>
          <p:cNvPr id="2" name="Batch overlap and GPU residency">
            <a:extLst xmlns:a="http://schemas.openxmlformats.org/drawingml/2006/main">
              <a:ext uri="{FF2B5EF4-FFF2-40B4-BE49-F238E27FC236}">
                <a16:creationId xmlns:a16="http://schemas.microsoft.com/office/drawing/2014/main" id="{5E3F5494-5E84-4D9D-BEEF-565A71EB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Batch overlap and GPU residency</a:t>
            </a:r>
          </a:p>
        </p:txBody>
      </p:sp>
      <p:sp>
        <p:nvSpPr>
          <p:cNvPr id="3" name="Same stream: H2D → kernel → D2H, in order">
            <a:extLst xmlns:a="http://schemas.openxmlformats.org/drawingml/2006/main">
              <a:ext uri="{FF2B5EF4-FFF2-40B4-BE49-F238E27FC236}">
                <a16:creationId xmlns:a16="http://schemas.microsoft.com/office/drawing/2014/main" id="{AD14D3CD-4908-4B03-9C5F-8111B413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Same stream: H2D → kernel → D2H, in order</a:t>
            </a:r>
          </a:p>
        </p:txBody>
      </p:sp>
      <p:sp>
        <p:nvSpPr>
          <p:cNvPr id="4" name="Stream A / image A">
            <a:extLst xmlns:a="http://schemas.openxmlformats.org/drawingml/2006/main">
              <a:ext uri="{FF2B5EF4-FFF2-40B4-BE49-F238E27FC236}">
                <a16:creationId xmlns:a16="http://schemas.microsoft.com/office/drawing/2014/main" id="{919424A8-A42E-4057-8064-AC6AA406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21907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 A / image 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19BB1-5960-42BD-9856-6E504038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46E7E-09C8-44FD-8C9E-65F276C4C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E90551-C4BD-4BD4-B2A5-E31C1B69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19300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10" name="Stream B / image B">
            <a:extLst xmlns:a="http://schemas.openxmlformats.org/drawingml/2006/main">
              <a:ext uri="{FF2B5EF4-FFF2-40B4-BE49-F238E27FC236}">
                <a16:creationId xmlns:a16="http://schemas.microsoft.com/office/drawing/2014/main" id="{0A9268B3-348A-4007-9B3B-89BFB76F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19075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Stream B / image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25DC0-D115-49D3-B698-8978AAFE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H2D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41AD00-9A25-4588-82B3-3729E2F0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Kernel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374F35-FA74-4EDA-ABFB-50301E4F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19475"/>
            <a:ext cx="16859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D2H</a:t>
            </a:r>
          </a:p>
        </p:txBody>
      </p:sp>
      <p:sp>
        <p:nvSpPr>
          <p:cNvPr id="16" name="Schematic overlap opportunity; not measured durations o">
            <a:extLst xmlns:a="http://schemas.openxmlformats.org/drawingml/2006/main">
              <a:ext uri="{FF2B5EF4-FFF2-40B4-BE49-F238E27FC236}">
                <a16:creationId xmlns:a16="http://schemas.microsoft.com/office/drawing/2014/main" id="{1A148820-654D-4541-BA7E-D525D625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Schematic overlap opportunity; not measured durations or guaranteed simultaneous execution.</a:t>
            </a:r>
          </a:p>
        </p:txBody>
      </p:sp>
      <p:sp>
        <p:nvSpPr>
          <p:cNvPr id="17" name="Independent streams + separate pinned/device buffers + ">
            <a:extLst xmlns:a="http://schemas.openxmlformats.org/drawingml/2006/main">
              <a:ext uri="{FF2B5EF4-FFF2-40B4-BE49-F238E27FC236}">
                <a16:creationId xmlns:a16="http://schemas.microsoft.com/office/drawing/2014/main" id="{24B88ACA-BD3E-4EF9-8900-0EBF503E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Independent streams + separate pinned/device buffers + supporting copy/compute resources. Synchronize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reuse. Extra buffers consume memory; device residency avoids unnecessary round trips.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9434EA-CBA0-47F1-9438-459E19C3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9" name="Overlap changes the critical path, not the amount of ro">
            <a:extLst xmlns:a="http://schemas.openxmlformats.org/drawingml/2006/main">
              <a:ext uri="{FF2B5EF4-FFF2-40B4-BE49-F238E27FC236}">
                <a16:creationId xmlns:a16="http://schemas.microsoft.com/office/drawing/2014/main" id="{A71DC695-8767-4717-A004-9811CC24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 changes the critical path, not the amount of rotation work.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EB2EA3-E6DF-405D-AAE0-4EDF8866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21" name="Sources: [3] Topic 9A: synchronization; [5] NVIDIA CUDA">
            <a:extLst xmlns:a="http://schemas.openxmlformats.org/drawingml/2006/main">
              <a:ext uri="{FF2B5EF4-FFF2-40B4-BE49-F238E27FC236}">
                <a16:creationId xmlns:a16="http://schemas.microsoft.com/office/drawing/2014/main" id="{3BB5DA3B-DE79-4D29-9A20-F93FF247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[3] Topic 9A: synchronization; [5] NVIDIA CUDA Best Practices</a:t>
            </a:r>
          </a:p>
        </p:txBody>
      </p:sp>
      <p:sp>
        <p:nvSpPr>
          <p:cNvPr id="22" name="22 / 57">
            <a:extLst xmlns:a="http://schemas.openxmlformats.org/drawingml/2006/main">
              <a:ext uri="{FF2B5EF4-FFF2-40B4-BE49-F238E27FC236}">
                <a16:creationId xmlns:a16="http://schemas.microsoft.com/office/drawing/2014/main" id="{8C7A7324-E227-4783-AB79-0E5C43F9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22 / 57</a:t>
            </a:r>
          </a:p>
        </p:txBody>
      </p:sp>
    </p:spTree>
    <p:extLst>
      <p:ext uri="{BB962C8B-B14F-4D97-AF65-F5344CB8AC3E}">
        <p14:creationId xmlns:p14="http://schemas.microsoft.com/office/powerpoint/2010/main" val="26956924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0">
            <a:extLst xmlns:a="http://schemas.openxmlformats.org/drawingml/2006/main">
              <a:ext uri="{FF2B5EF4-FFF2-40B4-BE49-F238E27FC236}">
                <a16:creationId xmlns:a16="http://schemas.microsoft.com/office/drawing/2014/main" id="{98E3AD15-0195-4599-B00E-3DAD4468F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A10</a:t>
            </a:r>
          </a:p>
        </p:txBody>
      </p:sp>
      <p:sp>
        <p:nvSpPr>
          <p:cNvPr id="2" name="Fair speedup comparison and profiling">
            <a:extLst xmlns:a="http://schemas.openxmlformats.org/drawingml/2006/main">
              <a:ext uri="{FF2B5EF4-FFF2-40B4-BE49-F238E27FC236}">
                <a16:creationId xmlns:a16="http://schemas.microsoft.com/office/drawing/2014/main" id="{6BD050BD-B5B1-4799-9900-86B265DD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 speedup comparison and profiling</a:t>
            </a:r>
          </a:p>
        </p:txBody>
      </p:sp>
      <p:sp>
        <p:nvSpPr>
          <p:cNvPr id="3" name="Comparable baselines">
            <a:extLst xmlns:a="http://schemas.openxmlformats.org/drawingml/2006/main">
              <a:ext uri="{FF2B5EF4-FFF2-40B4-BE49-F238E27FC236}">
                <a16:creationId xmlns:a16="http://schemas.microsoft.com/office/drawing/2014/main" id="{8E0F6E96-7637-43FA-9F63-644B2188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Comparable baselines</a:t>
            </a:r>
          </a:p>
        </p:txBody>
      </p:sp>
      <p:sp>
        <p:nvSpPr>
          <p:cNvPr id="4" name="Primary baseline: one CPU thread performs the same RGB ">
            <a:extLst xmlns:a="http://schemas.openxmlformats.org/drawingml/2006/main">
              <a:ext uri="{FF2B5EF4-FFF2-40B4-BE49-F238E27FC236}">
                <a16:creationId xmlns:a16="http://schemas.microsoft.com/office/drawing/2014/main" id="{7AFA40A7-A387-44D1-9A0F-19545432B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Primary baseline: one CPU thread performs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RGB inverse mapping, nearest-neighbour rule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fixed canvas. Also compare a multithreaded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for a stronger practical baseline.</a:t>
            </a:r>
          </a:p>
        </p:txBody>
      </p:sp>
      <p:sp>
        <p:nvSpPr>
          <p:cNvPr id="5" name="Use identical inputs/angles and verify identical or jus">
            <a:extLst xmlns:a="http://schemas.openxmlformats.org/drawingml/2006/main">
              <a:ext uri="{FF2B5EF4-FFF2-40B4-BE49-F238E27FC236}">
                <a16:creationId xmlns:a16="http://schemas.microsoft.com/office/drawing/2014/main" id="{69182BB3-454E-40C4-9FA8-5ED21364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identical inputs/angles and verify identical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justified numerically equivalent outputs. Include file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decoding/I/O in both paths or exclude it from both.</a:t>
            </a:r>
          </a:p>
        </p:txBody>
      </p:sp>
      <p:sp>
        <p:nvSpPr>
          <p:cNvPr id="6" name="For the stated decoded-buffer comparison, include GPU a">
            <a:extLst xmlns:a="http://schemas.openxmlformats.org/drawingml/2006/main">
              <a:ext uri="{FF2B5EF4-FFF2-40B4-BE49-F238E27FC236}">
                <a16:creationId xmlns:a16="http://schemas.microsoft.com/office/drawing/2014/main" id="{230F7D41-79EE-4BE4-9C0B-3A6CD98F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the stated decoded-buffer comparison, include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allocation, H2D, launch, completed kernel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D2H; CPU timing covers the corresponding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 and rotation.</a:t>
            </a:r>
          </a:p>
        </p:txBody>
      </p:sp>
      <p:sp>
        <p:nvSpPr>
          <p:cNvPr id="7" name="Measure the bottleneck">
            <a:extLst xmlns:a="http://schemas.openxmlformats.org/drawingml/2006/main">
              <a:ext uri="{FF2B5EF4-FFF2-40B4-BE49-F238E27FC236}">
                <a16:creationId xmlns:a16="http://schemas.microsoft.com/office/drawing/2014/main" id="{6E6ACA9B-2A60-4844-B155-CBE927EA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Measure the bottleneck</a:t>
            </a:r>
          </a:p>
        </p:txBody>
      </p:sp>
      <p:sp>
        <p:nvSpPr>
          <p:cNvPr id="8" name="Report cold-start and warmed repeated runs separately. ">
            <a:extLst xmlns:a="http://schemas.openxmlformats.org/drawingml/2006/main">
              <a:ext uri="{FF2B5EF4-FFF2-40B4-BE49-F238E27FC236}">
                <a16:creationId xmlns:a16="http://schemas.microsoft.com/office/drawing/2014/main" id="{E1FBF645-CB03-4ED9-9F9A-2A72AF2E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cold-start and warmed repeated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separately. Use CUDA events for kernel elapsed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time after completion and a host timer through final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completion for total latency.</a:t>
            </a:r>
          </a:p>
        </p:txBody>
      </p:sp>
      <p:sp>
        <p:nvSpPr>
          <p:cNvPr id="9" name="Vary image size, angle, block shape and batch size; rec">
            <a:extLst xmlns:a="http://schemas.openxmlformats.org/drawingml/2006/main">
              <a:ext uri="{FF2B5EF4-FFF2-40B4-BE49-F238E27FC236}">
                <a16:creationId xmlns:a16="http://schemas.microsoft.com/office/drawing/2014/main" id="{CFA72ADA-9EAF-444E-B8E7-119D58FB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Vary image size, angle, block shape and batch size;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 hardware, transfer mode, register use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effective memory/link bandwidth.</a:t>
            </a:r>
          </a:p>
        </p:txBody>
      </p:sp>
      <p:sp>
        <p:nvSpPr>
          <p:cNvPr id="10" name="The sequential sum does not apply unchanged to overlapp">
            <a:extLst xmlns:a="http://schemas.openxmlformats.org/drawingml/2006/main">
              <a:ext uri="{FF2B5EF4-FFF2-40B4-BE49-F238E27FC236}">
                <a16:creationId xmlns:a16="http://schemas.microsoft.com/office/drawing/2014/main" id="{DEB6AF5E-62E3-44DD-8F93-CD6ED5FE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sequential sum does not apply unchanged to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overlapping streams: measure the completed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critical path. Lower kernel time alone cannot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establish end-to-end speedup.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24920-15EF-4997-94D0-0715B399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C303FA-41A4-4777-9781-C15496D0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F4A77016-F997-4A27-831A-B8E0296F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</a:t>
            </a:r>
          </a:p>
        </p:txBody>
      </p:sp>
      <p:sp>
        <p:nvSpPr>
          <p:cNvPr id="14" name="23 / 57">
            <a:extLst xmlns:a="http://schemas.openxmlformats.org/drawingml/2006/main">
              <a:ext uri="{FF2B5EF4-FFF2-40B4-BE49-F238E27FC236}">
                <a16:creationId xmlns:a16="http://schemas.microsoft.com/office/drawing/2014/main" id="{BA3F199F-8B20-40DF-A54D-4D94FA67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23 / 57</a:t>
            </a:r>
          </a:p>
        </p:txBody>
      </p:sp>
    </p:spTree>
    <p:extLst>
      <p:ext uri="{BB962C8B-B14F-4D97-AF65-F5344CB8AC3E}">
        <p14:creationId xmlns:p14="http://schemas.microsoft.com/office/powerpoint/2010/main" val="169192221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A11">
            <a:extLst xmlns:a="http://schemas.openxmlformats.org/drawingml/2006/main">
              <a:ext uri="{FF2B5EF4-FFF2-40B4-BE49-F238E27FC236}">
                <a16:creationId xmlns:a16="http://schemas.microsoft.com/office/drawing/2014/main" id="{F50D32E6-A872-4EC6-ADC1-3BC67E79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A11</a:t>
            </a:r>
          </a:p>
        </p:txBody>
      </p:sp>
      <p:sp>
        <p:nvSpPr>
          <p:cNvPr id="2" name="GDS decision for the proposed pipeline">
            <a:extLst xmlns:a="http://schemas.openxmlformats.org/drawingml/2006/main">
              <a:ext uri="{FF2B5EF4-FFF2-40B4-BE49-F238E27FC236}">
                <a16:creationId xmlns:a16="http://schemas.microsoft.com/office/drawing/2014/main" id="{728528ED-260C-487C-9784-A05FAF17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decision for the proposed pipeline</a:t>
            </a:r>
          </a:p>
        </p:txBody>
      </p:sp>
      <p:sp>
        <p:nvSpPr>
          <p:cNvPr id="3" name="Conventional decoded-image path">
            <a:extLst xmlns:a="http://schemas.openxmlformats.org/drawingml/2006/main">
              <a:ext uri="{FF2B5EF4-FFF2-40B4-BE49-F238E27FC236}">
                <a16:creationId xmlns:a16="http://schemas.microsoft.com/office/drawing/2014/main" id="{483EFBAB-C8CA-4C2A-8E50-55EB6201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Conventional decoded-image path</a:t>
            </a:r>
          </a:p>
        </p:txBody>
      </p:sp>
      <p:sp>
        <p:nvSpPr>
          <p:cNvPr id="4" name="CPU decoding requires host-visible compressed bytes and">
            <a:extLst xmlns:a="http://schemas.openxmlformats.org/drawingml/2006/main">
              <a:ext uri="{FF2B5EF4-FFF2-40B4-BE49-F238E27FC236}">
                <a16:creationId xmlns:a16="http://schemas.microsoft.com/office/drawing/2014/main" id="{912BEBC6-9819-4CE7-A827-1F969AB2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CPU decoding requires host-visible compressed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bytes and produces pixels in RAM. Those pixels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copied to the GPU; the rotation kernel then runs.</a:t>
            </a:r>
          </a:p>
        </p:txBody>
      </p:sp>
      <p:sp>
        <p:nvSpPr>
          <p:cNvPr id="5" name="A single small image already in RAM gains little from b">
            <a:extLst xmlns:a="http://schemas.openxmlformats.org/drawingml/2006/main">
              <a:ext uri="{FF2B5EF4-FFF2-40B4-BE49-F238E27FC236}">
                <a16:creationId xmlns:a16="http://schemas.microsoft.com/office/drawing/2014/main" id="{DE34DF62-E7A6-4FDE-BF26-F41353CB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single small image already in RAM gains little from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bypassing a storage step that is no longer on its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path.</a:t>
            </a:r>
          </a:p>
        </p:txBody>
      </p:sp>
      <p:sp>
        <p:nvSpPr>
          <p:cNvPr id="6" name="GDS does not decode an image, bypass an application’s C">
            <a:extLst xmlns:a="http://schemas.openxmlformats.org/drawingml/2006/main">
              <a:ext uri="{FF2B5EF4-FFF2-40B4-BE49-F238E27FC236}">
                <a16:creationId xmlns:a16="http://schemas.microsoft.com/office/drawing/2014/main" id="{BAE1DF04-84A1-453D-AD53-B01B1A1D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does not decode an image, bypass an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application’s CPU transformation, or make GPU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memory access itself faster.</a:t>
            </a:r>
          </a:p>
        </p:txBody>
      </p:sp>
      <p:sp>
        <p:nvSpPr>
          <p:cNvPr id="7" name="Conditional batch alternative">
            <a:extLst xmlns:a="http://schemas.openxmlformats.org/drawingml/2006/main">
              <a:ext uri="{FF2B5EF4-FFF2-40B4-BE49-F238E27FC236}">
                <a16:creationId xmlns:a16="http://schemas.microsoft.com/office/drawing/2014/main" id="{4D4BECF9-61AB-41DB-857B-A936C0F4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Conditional batch alternative</a:t>
            </a:r>
          </a:p>
        </p:txBody>
      </p:sp>
      <p:sp>
        <p:nvSpPr>
          <p:cNvPr id="8" name="Large storage-bound batches of GPU-ready pixels, or a c">
            <a:extLst xmlns:a="http://schemas.openxmlformats.org/drawingml/2006/main">
              <a:ext uri="{FF2B5EF4-FFF2-40B4-BE49-F238E27FC236}">
                <a16:creationId xmlns:a16="http://schemas.microsoft.com/office/drawing/2014/main" id="{09359CC3-D726-4AB5-9280-D37B3E1A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Large storage-bound batches of GPU-ready pixels,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or a compatible GPU decoding pipeline, may avoid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host staging via cuFile and storage-side DMA.</a:t>
            </a:r>
          </a:p>
        </p:txBody>
      </p:sp>
      <p:sp>
        <p:nvSpPr>
          <p:cNvPr id="9" name="Verify the GPU, storage/filesystem, software and PCIe t">
            <a:extLst xmlns:a="http://schemas.openxmlformats.org/drawingml/2006/main">
              <a:ext uri="{FF2B5EF4-FFF2-40B4-BE49-F238E27FC236}">
                <a16:creationId xmlns:a16="http://schemas.microsoft.com/office/drawing/2014/main" id="{D58101EA-909D-4E82-9BEE-47DF6F98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Verify the GPU, storage/filesystem, software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PCIe topology support the direct path. Compatibility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fallback uses host staging and is not evidence of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direct DMA.</a:t>
            </a:r>
          </a:p>
        </p:txBody>
      </p:sp>
      <p:sp>
        <p:nvSpPr>
          <p:cNvPr id="10" name="Adopt only if completed batch time/CPU overhead improve">
            <a:extLst xmlns:a="http://schemas.openxmlformats.org/drawingml/2006/main">
              <a:ext uri="{FF2B5EF4-FFF2-40B4-BE49-F238E27FC236}">
                <a16:creationId xmlns:a16="http://schemas.microsoft.com/office/drawing/2014/main" id="{9FD901B4-E79D-4565-84D9-6DA935E8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Adopt only if completed batch time/CPU overhead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improve on the real workload; include extra buffers,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decoding and storage bandwidth. Otherwise retain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conventional copies.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6E698C-8CB0-4DDB-82F9-85B57EEA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2B2B13-88C6-490E-91D4-6AF5A386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6] NVIDIA GDS overview; [7] NVIDIA GDS design">
            <a:extLst xmlns:a="http://schemas.openxmlformats.org/drawingml/2006/main">
              <a:ext uri="{FF2B5EF4-FFF2-40B4-BE49-F238E27FC236}">
                <a16:creationId xmlns:a16="http://schemas.microsoft.com/office/drawing/2014/main" id="{5823ABDB-2A1B-4697-9782-0399D864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[6] NVIDIA GDS overview; [7] NVIDIA GDS design</a:t>
            </a:r>
          </a:p>
        </p:txBody>
      </p:sp>
      <p:sp>
        <p:nvSpPr>
          <p:cNvPr id="14" name="24 / 57">
            <a:extLst xmlns:a="http://schemas.openxmlformats.org/drawingml/2006/main">
              <a:ext uri="{FF2B5EF4-FFF2-40B4-BE49-F238E27FC236}">
                <a16:creationId xmlns:a16="http://schemas.microsoft.com/office/drawing/2014/main" id="{2814D990-3DF0-49FF-AE95-D2F08564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24 / 57</a:t>
            </a:r>
          </a:p>
        </p:txBody>
      </p:sp>
    </p:spTree>
    <p:extLst>
      <p:ext uri="{BB962C8B-B14F-4D97-AF65-F5344CB8AC3E}">
        <p14:creationId xmlns:p14="http://schemas.microsoft.com/office/powerpoint/2010/main" val="587018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1">
            <a:extLst xmlns:a="http://schemas.openxmlformats.org/drawingml/2006/main">
              <a:ext uri="{FF2B5EF4-FFF2-40B4-BE49-F238E27FC236}">
                <a16:creationId xmlns:a16="http://schemas.microsoft.com/office/drawing/2014/main" id="{035191C3-DC86-44A2-91D5-67CC78A3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B1</a:t>
            </a:r>
          </a:p>
        </p:txBody>
      </p:sp>
      <p:sp>
        <p:nvSpPr>
          <p:cNvPr id="2" name="Parallelism, dependencies and scaling limits">
            <a:extLst xmlns:a="http://schemas.openxmlformats.org/drawingml/2006/main">
              <a:ext uri="{FF2B5EF4-FFF2-40B4-BE49-F238E27FC236}">
                <a16:creationId xmlns:a16="http://schemas.microsoft.com/office/drawing/2014/main" id="{5AE96D7D-840B-49B8-ABD8-874EF1CA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Parallelism, dependencies and scaling limits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C9C319-FB8E-40DB-B542-7B7F1F43A859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 and communication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limitation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Replicate model; partition batches; reduce/average gradients before a consistent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Collective latency/bandwidth and stragglers.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Tensor parallel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Partition computations within a layer; exchange partial results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Frequent inter-device communication.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Pipeline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layers to stages; pass activations/gradients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Stage imbalance and pipeline bubbles.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Fixed workload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More GPUs reduce only the parallelizable portion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Serial work and communication bound speedup.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Larger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Scale capacity/model/data with added resources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different claim from halving a fixed job’s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-reduce is a collective result-sharing concept, not ">
            <a:extLst xmlns:a="http://schemas.openxmlformats.org/drawingml/2006/main">
              <a:ext uri="{FF2B5EF4-FFF2-40B4-BE49-F238E27FC236}">
                <a16:creationId xmlns:a16="http://schemas.microsoft.com/office/drawing/2014/main" id="{D45443F2-00FA-45E1-BB59-C87D1478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All-reduce is a collective result-sharing concept, not a claim that every AI framework uses the exact classroom MPI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909B46-EB83-43FD-8A5D-3FFED8765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2CFB8190-3820-4974-BB2F-02FE8B90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7" name="25 / 57">
            <a:extLst xmlns:a="http://schemas.openxmlformats.org/drawingml/2006/main">
              <a:ext uri="{FF2B5EF4-FFF2-40B4-BE49-F238E27FC236}">
                <a16:creationId xmlns:a16="http://schemas.microsoft.com/office/drawing/2014/main" id="{37A05C87-ECB9-468B-B16A-DD654AA6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25 / 57</a:t>
            </a:r>
          </a:p>
        </p:txBody>
      </p:sp>
    </p:spTree>
    <p:extLst>
      <p:ext uri="{BB962C8B-B14F-4D97-AF65-F5344CB8AC3E}">
        <p14:creationId xmlns:p14="http://schemas.microsoft.com/office/powerpoint/2010/main" val="20997755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ppendix B2 • Illustrative calculation">
            <a:extLst xmlns:a="http://schemas.openxmlformats.org/drawingml/2006/main">
              <a:ext uri="{FF2B5EF4-FFF2-40B4-BE49-F238E27FC236}">
                <a16:creationId xmlns:a16="http://schemas.microsoft.com/office/drawing/2014/main" id="{DA8DD74B-48A5-4F30-AFC8-053BFD60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B2 • Illustrative calculation</a:t>
            </a:r>
          </a:p>
        </p:txBody>
      </p:sp>
      <p:sp>
        <p:nvSpPr>
          <p:cNvPr id="2" name="A faster job can consume more energy">
            <a:extLst xmlns:a="http://schemas.openxmlformats.org/drawingml/2006/main">
              <a:ext uri="{FF2B5EF4-FFF2-40B4-BE49-F238E27FC236}">
                <a16:creationId xmlns:a16="http://schemas.microsoft.com/office/drawing/2014/main" id="{A8182007-EE04-420F-8A67-BC517853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faster job can consume more energy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0D5F4-006F-4D63-9C21-D457017B2DB9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configuration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runtime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Whole-job energy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Lower parallel scale; 1 kW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2.0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 × 2.0 = 2.0 kWh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parallel scale; 2 kW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1.2 hours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 × 1.2 = 2.4 kWh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Illustrative constant power assumptions, not measuremen">
            <a:extLst xmlns:a="http://schemas.openxmlformats.org/drawingml/2006/main">
              <a:ext uri="{FF2B5EF4-FFF2-40B4-BE49-F238E27FC236}">
                <a16:creationId xmlns:a16="http://schemas.microsoft.com/office/drawing/2014/main" id="{AE439319-20D8-4279-8B7A-4BF752A7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Illustrative constant power assumptions, not measurements. Same useful output is assumed; faster completion uses 20% more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energy here.</a:t>
            </a:r>
          </a:p>
        </p:txBody>
      </p:sp>
      <p:sp>
        <p:nvSpPr>
          <p:cNvPr id="5" name="E = ∫ P(t) dt     •     Carbon ≈ Σ Einterval × carbon i">
            <a:extLst xmlns:a="http://schemas.openxmlformats.org/drawingml/2006/main">
              <a:ext uri="{FF2B5EF4-FFF2-40B4-BE49-F238E27FC236}">
                <a16:creationId xmlns:a16="http://schemas.microsoft.com/office/drawing/2014/main" id="{0415D5DE-AF20-4705-BD90-8F9FD3AB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 = ∫ P(t) dt • Carbon ≈ Σ Einterval × carbon intensity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A7E82-3C4D-4842-8495-001AF2066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7" name="Sources: [2] Topic 7A: dependencies and Amdahl; [11] St">
            <a:extLst xmlns:a="http://schemas.openxmlformats.org/drawingml/2006/main">
              <a:ext uri="{FF2B5EF4-FFF2-40B4-BE49-F238E27FC236}">
                <a16:creationId xmlns:a16="http://schemas.microsoft.com/office/drawing/2014/main" id="{927C9AF8-2A7F-4C43-AA64-12E163C7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[11] Strubell et al. 2019: cost and equity; [13] Schwartz et al. 2019: efficiency reporting</a:t>
            </a:r>
          </a:p>
        </p:txBody>
      </p:sp>
      <p:sp>
        <p:nvSpPr>
          <p:cNvPr id="8" name="26 / 57">
            <a:extLst xmlns:a="http://schemas.openxmlformats.org/drawingml/2006/main">
              <a:ext uri="{FF2B5EF4-FFF2-40B4-BE49-F238E27FC236}">
                <a16:creationId xmlns:a16="http://schemas.microsoft.com/office/drawing/2014/main" id="{79DF60C0-6530-4A3B-86F5-5D1F90D3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26 / 57</a:t>
            </a:r>
          </a:p>
        </p:txBody>
      </p:sp>
    </p:spTree>
    <p:extLst>
      <p:ext uri="{BB962C8B-B14F-4D97-AF65-F5344CB8AC3E}">
        <p14:creationId xmlns:p14="http://schemas.microsoft.com/office/powerpoint/2010/main" val="120846043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3">
            <a:extLst xmlns:a="http://schemas.openxmlformats.org/drawingml/2006/main">
              <a:ext uri="{FF2B5EF4-FFF2-40B4-BE49-F238E27FC236}">
                <a16:creationId xmlns:a16="http://schemas.microsoft.com/office/drawing/2014/main" id="{CFEA97B0-3722-4EDB-9DB8-E0DC8D4E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B3</a:t>
            </a:r>
          </a:p>
        </p:txBody>
      </p:sp>
      <p:sp>
        <p:nvSpPr>
          <p:cNvPr id="2" name="Environmental accounting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D357E4F6-ADB9-4412-8BA1-258F825C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Environmental accounting and evidence limits</a:t>
            </a:r>
          </a:p>
        </p:txBody>
      </p:sp>
      <p:sp>
        <p:nvSpPr>
          <p:cNvPr id="3" name="Define what is counted">
            <a:extLst xmlns:a="http://schemas.openxmlformats.org/drawingml/2006/main">
              <a:ext uri="{FF2B5EF4-FFF2-40B4-BE49-F238E27FC236}">
                <a16:creationId xmlns:a16="http://schemas.microsoft.com/office/drawing/2014/main" id="{4757D1D9-E2C6-4645-80B3-39650B7D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Define what is counted</a:t>
            </a:r>
          </a:p>
        </p:txBody>
      </p:sp>
      <p:sp>
        <p:nvSpPr>
          <p:cNvPr id="4" name="Energy (kWh) integrates power (kW) over hours. Operatio">
            <a:extLst xmlns:a="http://schemas.openxmlformats.org/drawingml/2006/main">
              <a:ext uri="{FF2B5EF4-FFF2-40B4-BE49-F238E27FC236}">
                <a16:creationId xmlns:a16="http://schemas.microsoft.com/office/drawing/2014/main" id="{35C30D71-D380-45C8-AF00-45A29CE9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(kWh) integrates power (kW) over hours.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Operational emissions ≈ Σ energy in each interval ×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that interval’s carbon intensity (kg CO₂e/kWh).</a:t>
            </a:r>
          </a:p>
        </p:txBody>
      </p:sp>
      <p:sp>
        <p:nvSpPr>
          <p:cNvPr id="5" name="Report accelerators, host CPUs, storage/networking and ">
            <a:extLst xmlns:a="http://schemas.openxmlformats.org/drawingml/2006/main">
              <a:ext uri="{FF2B5EF4-FFF2-40B4-BE49-F238E27FC236}">
                <a16:creationId xmlns:a16="http://schemas.microsoft.com/office/drawing/2014/main" id="{2D145AB3-995E-451E-94AC-A66B877EA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accelerators, host CPUs, storage/networking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allocated cooling overhead; include failed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repeated tuning when evaluating a project.</a:t>
            </a:r>
          </a:p>
        </p:txBody>
      </p:sp>
      <p:sp>
        <p:nvSpPr>
          <p:cNvPr id="6" name="Hardware manufacture and disposal are embodied impacts ">
            <a:extLst xmlns:a="http://schemas.openxmlformats.org/drawingml/2006/main">
              <a:ext uri="{FF2B5EF4-FFF2-40B4-BE49-F238E27FC236}">
                <a16:creationId xmlns:a16="http://schemas.microsoft.com/office/drawing/2014/main" id="{BD6B6BA4-2DF0-49E1-B670-E79FC584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Hardware manufacture and disposal are embodied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impacts beyond operational electricity.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withdrawal and water consumption are different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measures.</a:t>
            </a:r>
          </a:p>
        </p:txBody>
      </p:sp>
      <p:sp>
        <p:nvSpPr>
          <p:cNvPr id="7" name="Compare the evidence">
            <a:extLst xmlns:a="http://schemas.openxmlformats.org/drawingml/2006/main">
              <a:ext uri="{FF2B5EF4-FFF2-40B4-BE49-F238E27FC236}">
                <a16:creationId xmlns:a16="http://schemas.microsoft.com/office/drawing/2014/main" id="{D135E1FD-D38E-4F72-ADBF-21983A4C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Compare the evidence</a:t>
            </a:r>
          </a:p>
        </p:txBody>
      </p:sp>
      <p:sp>
        <p:nvSpPr>
          <p:cNvPr id="8" name="Strubell et al. quantify costs for selected historical ">
            <a:extLst xmlns:a="http://schemas.openxmlformats.org/drawingml/2006/main">
              <a:ext uri="{FF2B5EF4-FFF2-40B4-BE49-F238E27FC236}">
                <a16:creationId xmlns:a16="http://schemas.microsoft.com/office/drawing/2014/main" id="{BCE7BA16-346E-4100-ABE0-808F8E05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Strubell et al. quantify costs for selected historical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NLP training/development workloads; those values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not universal 2026 model footprints.</a:t>
            </a:r>
          </a:p>
        </p:txBody>
      </p:sp>
      <p:sp>
        <p:nvSpPr>
          <p:cNvPr id="9" name="Green AI motivates reporting efficiency alongside accur">
            <a:extLst xmlns:a="http://schemas.openxmlformats.org/drawingml/2006/main">
              <a:ext uri="{FF2B5EF4-FFF2-40B4-BE49-F238E27FC236}">
                <a16:creationId xmlns:a16="http://schemas.microsoft.com/office/drawing/2014/main" id="{76FE38E6-ECF1-4A56-898D-A16B4BF9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Green AI motivates reporting efficiency alongside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accuracy; Li et al. show why water varies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place/time. Carbon alone misses local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pressures.</a:t>
            </a:r>
          </a:p>
        </p:txBody>
      </p:sp>
      <p:sp>
        <p:nvSpPr>
          <p:cNvPr id="10" name="IEA sector totals provide context, not causal attributi">
            <a:extLst xmlns:a="http://schemas.openxmlformats.org/drawingml/2006/main">
              <a:ext uri="{FF2B5EF4-FFF2-40B4-BE49-F238E27FC236}">
                <a16:creationId xmlns:a16="http://schemas.microsoft.com/office/drawing/2014/main" id="{9A353A69-2271-42FD-88C6-532D77E3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sector totals provide context, not causal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attribution to one model. Forecasts depend 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 and infrastructure assumptions; local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grid/cooling effects differ by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20CC75-87BB-42BE-B3DC-66533781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433AC-DBA5-47C9-9177-D692D16C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8894E81C-3247-4CBC-B211-EF66776F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[11] Strubell et al. 2019: cost and equity; [12] Li et al. 2025 revision: water impacts;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4" name="27 / 57">
            <a:extLst xmlns:a="http://schemas.openxmlformats.org/drawingml/2006/main">
              <a:ext uri="{FF2B5EF4-FFF2-40B4-BE49-F238E27FC236}">
                <a16:creationId xmlns:a16="http://schemas.microsoft.com/office/drawing/2014/main" id="{97F30ED9-9333-4562-A78D-3431A2C6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27 / 57</a:t>
            </a:r>
          </a:p>
        </p:txBody>
      </p:sp>
    </p:spTree>
    <p:extLst>
      <p:ext uri="{BB962C8B-B14F-4D97-AF65-F5344CB8AC3E}">
        <p14:creationId xmlns:p14="http://schemas.microsoft.com/office/powerpoint/2010/main" val="10545958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4 • Proposed cluster policy">
            <a:extLst xmlns:a="http://schemas.openxmlformats.org/drawingml/2006/main">
              <a:ext uri="{FF2B5EF4-FFF2-40B4-BE49-F238E27FC236}">
                <a16:creationId xmlns:a16="http://schemas.microsoft.com/office/drawing/2014/main" id="{C2F82DFC-2352-4BF3-A1F8-2D008395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B4 • Proposed cluster policy</a:t>
            </a:r>
          </a:p>
        </p:txBody>
      </p:sp>
      <p:sp>
        <p:nvSpPr>
          <p:cNvPr id="2" name="Governance controls and remaining risks">
            <a:extLst xmlns:a="http://schemas.openxmlformats.org/drawingml/2006/main">
              <a:ext uri="{FF2B5EF4-FFF2-40B4-BE49-F238E27FC236}">
                <a16:creationId xmlns:a16="http://schemas.microsoft.com/office/drawing/2014/main" id="{4AABB77A-7394-47C5-90E7-05D9B793B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Governance controls and remaining risks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C8225-D626-43D6-8920-659014CB61FC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stakeholder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control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Residual limitation / owner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Dataset misuse / data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Provenance, permission checks, retention limits and access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licence alone may not justify every use; data steward reviews purpose.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Gradient/checkpoint exposure / participants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tenant isolation, protected transport and secure checkpoint storage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 endpoints can still see sensitive values; security owner models insider risk.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Unsafe dual use / affected public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Authorized-use review, restricted access where justified and review of deployment risks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Controls cannot prevent every misuse; accountable owner weighs benefits/restrictions.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Distributed replicas / operators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copies, deletion obligations and incident response across workers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Replication increases the number of assets to protect; operator audits recovery.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These are proposed mitigations informed by research/fra">
            <a:extLst xmlns:a="http://schemas.openxmlformats.org/drawingml/2006/main">
              <a:ext uri="{FF2B5EF4-FFF2-40B4-BE49-F238E27FC236}">
                <a16:creationId xmlns:a16="http://schemas.microsoft.com/office/drawing/2014/main" id="{86530EEB-3FED-4578-9A84-A0D995570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These are proposed mitigations informed by research/frameworks, not a proof of privacy or a compliance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D0A4D-5B5E-41C7-A5BC-2C20A547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4] Zhu et al. 2019: exposed gradients; [18] ">
            <a:extLst xmlns:a="http://schemas.openxmlformats.org/drawingml/2006/main">
              <a:ext uri="{FF2B5EF4-FFF2-40B4-BE49-F238E27FC236}">
                <a16:creationId xmlns:a16="http://schemas.microsoft.com/office/drawing/2014/main" id="{255C9052-B6A7-454D-90ED-3C7FC35A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[18] OECD: rights, fairness and accountability; [19] NIST: Govern, Map, Measure, Manage</a:t>
            </a:r>
          </a:p>
        </p:txBody>
      </p:sp>
      <p:sp>
        <p:nvSpPr>
          <p:cNvPr id="7" name="28 / 57">
            <a:extLst xmlns:a="http://schemas.openxmlformats.org/drawingml/2006/main">
              <a:ext uri="{FF2B5EF4-FFF2-40B4-BE49-F238E27FC236}">
                <a16:creationId xmlns:a16="http://schemas.microsoft.com/office/drawing/2014/main" id="{94E4B9C8-EA23-4EAD-8069-1BADC9FD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28 / 57</a:t>
            </a:r>
          </a:p>
        </p:txBody>
      </p:sp>
    </p:spTree>
    <p:extLst>
      <p:ext uri="{BB962C8B-B14F-4D97-AF65-F5344CB8AC3E}">
        <p14:creationId xmlns:p14="http://schemas.microsoft.com/office/powerpoint/2010/main" val="145167134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5 • Proposed example">
            <a:extLst xmlns:a="http://schemas.openxmlformats.org/drawingml/2006/main">
              <a:ext uri="{FF2B5EF4-FFF2-40B4-BE49-F238E27FC236}">
                <a16:creationId xmlns:a16="http://schemas.microsoft.com/office/drawing/2014/main" id="{B0F2D116-CFEB-4DAD-8E94-03E0D072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B5 • Proposed example</a:t>
            </a:r>
          </a:p>
        </p:txBody>
      </p:sp>
      <p:sp>
        <p:nvSpPr>
          <p:cNvPr id="2" name="Fairness evaluation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48D79A48-11E7-4925-A18F-3A0E417F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Fairness evaluation with large-scale compute</a:t>
            </a:r>
          </a:p>
        </p:txBody>
      </p:sp>
      <p:sp>
        <p:nvSpPr>
          <p:cNvPr id="3" name="Compute connection">
            <a:extLst xmlns:a="http://schemas.openxmlformats.org/drawingml/2006/main">
              <a:ext uri="{FF2B5EF4-FFF2-40B4-BE49-F238E27FC236}">
                <a16:creationId xmlns:a16="http://schemas.microsoft.com/office/drawing/2014/main" id="{2A016889-2F57-4C4B-9D45-95AD2379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Compute connection</a:t>
            </a:r>
          </a:p>
        </p:txBody>
      </p:sp>
      <p:sp>
        <p:nvSpPr>
          <p:cNvPr id="4" name="An illustrative multilingual LLM service may have unequ">
            <a:extLst xmlns:a="http://schemas.openxmlformats.org/drawingml/2006/main">
              <a:ext uri="{FF2B5EF4-FFF2-40B4-BE49-F238E27FC236}">
                <a16:creationId xmlns:a16="http://schemas.microsoft.com/office/drawing/2014/main" id="{AE0BFBD9-6EC4-4F64-833F-AA24B53B4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 illustrative multilingual LLM service may have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performance or stereotyped outputs across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language groups. Identify the actual harm before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choosing a metric.</a:t>
            </a:r>
          </a:p>
        </p:txBody>
      </p:sp>
      <p:sp>
        <p:nvSpPr>
          <p:cNvPr id="5" name="A cluster enables larger datasets and repeated training">
            <a:extLst xmlns:a="http://schemas.openxmlformats.org/drawingml/2006/main">
              <a:ext uri="{FF2B5EF4-FFF2-40B4-BE49-F238E27FC236}">
                <a16:creationId xmlns:a16="http://schemas.microsoft.com/office/drawing/2014/main" id="{AE405492-5B10-42F5-801D-6EF7DA23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cluster enables larger datasets and repeated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training, but neither data volume nor GPU count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guarantees representative data or equitable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outcomes.</a:t>
            </a:r>
          </a:p>
        </p:txBody>
      </p:sp>
      <p:sp>
        <p:nvSpPr>
          <p:cNvPr id="6" name="Reserve evaluation compute for affected groups; documen">
            <a:extLst xmlns:a="http://schemas.openxmlformats.org/drawingml/2006/main">
              <a:ext uri="{FF2B5EF4-FFF2-40B4-BE49-F238E27FC236}">
                <a16:creationId xmlns:a16="http://schemas.microsoft.com/office/drawing/2014/main" id="{6F4C85F5-E4B7-453C-B03E-4E626140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Reserve evaluation compute for affected groups;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document dataset coverage and compare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 error or harmful-output rates using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task-appropriate test.</a:t>
            </a:r>
          </a:p>
        </p:txBody>
      </p:sp>
      <p:sp>
        <p:nvSpPr>
          <p:cNvPr id="7" name="Evidence and decision">
            <a:extLst xmlns:a="http://schemas.openxmlformats.org/drawingml/2006/main">
              <a:ext uri="{FF2B5EF4-FFF2-40B4-BE49-F238E27FC236}">
                <a16:creationId xmlns:a16="http://schemas.microsoft.com/office/drawing/2014/main" id="{1739C464-16B0-4AEF-A4FB-C4BEAA14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Evidence and decision</a:t>
            </a:r>
          </a:p>
        </p:txBody>
      </p:sp>
      <p:sp>
        <p:nvSpPr>
          <p:cNvPr id="8" name="Gallegos et al. separate metrics, evaluation datasets a">
            <a:extLst xmlns:a="http://schemas.openxmlformats.org/drawingml/2006/main">
              <a:ext uri="{FF2B5EF4-FFF2-40B4-BE49-F238E27FC236}">
                <a16:creationId xmlns:a16="http://schemas.microsoft.com/office/drawing/2014/main" id="{F6F1DDDA-9D05-4C2E-B873-27FB277A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separate metrics, evaluation datasets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mitigation stages. A single aggregate accuracy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score can hide a relevant subgroup harm.</a:t>
            </a:r>
          </a:p>
        </p:txBody>
      </p:sp>
      <p:sp>
        <p:nvSpPr>
          <p:cNvPr id="9" name="Specify justified acceptance criteria before training; ">
            <a:extLst xmlns:a="http://schemas.openxmlformats.org/drawingml/2006/main">
              <a:ext uri="{FF2B5EF4-FFF2-40B4-BE49-F238E27FC236}">
                <a16:creationId xmlns:a16="http://schemas.microsoft.com/office/drawing/2014/main" id="{4D1A7628-4EB1-4C19-96C1-61CEA495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Specify justified acceptance criteria before training;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uncertainty and small-group sample limits.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Mitigate, reevaluate, and document unresolved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harms.</a:t>
            </a:r>
          </a:p>
        </p:txBody>
      </p:sp>
      <p:sp>
        <p:nvSpPr>
          <p:cNvPr id="10" name="Security and fairness have different objectives: encryp">
            <a:extLst xmlns:a="http://schemas.openxmlformats.org/drawingml/2006/main">
              <a:ext uri="{FF2B5EF4-FFF2-40B4-BE49-F238E27FC236}">
                <a16:creationId xmlns:a16="http://schemas.microsoft.com/office/drawing/2014/main" id="{306588FC-F622-48A3-A55D-9B6C257B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 and fairness have different objectives: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encrypted gradients do not establish fair outputs.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source supports model-bias analysis, not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claim that HPC itself causes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6C9A86-D956-438E-B828-62122161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14C86A-3DC2-4466-8B46-BF599CD1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5] Gallegos et al. 2024: fairness evaluation">
            <a:extLst xmlns:a="http://schemas.openxmlformats.org/drawingml/2006/main">
              <a:ext uri="{FF2B5EF4-FFF2-40B4-BE49-F238E27FC236}">
                <a16:creationId xmlns:a16="http://schemas.microsoft.com/office/drawing/2014/main" id="{442E3A3C-4E48-42EB-89F6-28C966CA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[15] Gallegos et al. 2024: fairness evaluation; [18] OECD: rights, fairness and accountability; [19] NIST: Govern, Map, Measure, Manage</a:t>
            </a:r>
          </a:p>
        </p:txBody>
      </p:sp>
      <p:sp>
        <p:nvSpPr>
          <p:cNvPr id="14" name="29 / 57">
            <a:extLst xmlns:a="http://schemas.openxmlformats.org/drawingml/2006/main">
              <a:ext uri="{FF2B5EF4-FFF2-40B4-BE49-F238E27FC236}">
                <a16:creationId xmlns:a16="http://schemas.microsoft.com/office/drawing/2014/main" id="{6749BEB3-3B9B-44AF-BC37-50F29283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29 / 57</a:t>
            </a:r>
          </a:p>
        </p:txBody>
      </p:sp>
    </p:spTree>
    <p:extLst>
      <p:ext uri="{BB962C8B-B14F-4D97-AF65-F5344CB8AC3E}">
        <p14:creationId xmlns:p14="http://schemas.microsoft.com/office/powerpoint/2010/main" val="118421201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6">
            <a:extLst xmlns:a="http://schemas.openxmlformats.org/drawingml/2006/main">
              <a:ext uri="{FF2B5EF4-FFF2-40B4-BE49-F238E27FC236}">
                <a16:creationId xmlns:a16="http://schemas.microsoft.com/office/drawing/2014/main" id="{BBE60A42-C521-418F-8910-70582B75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B6</a:t>
            </a:r>
          </a:p>
        </p:txBody>
      </p:sp>
      <p:sp>
        <p:nvSpPr>
          <p:cNvPr id="2" name="Access research and allocation choices">
            <a:extLst xmlns:a="http://schemas.openxmlformats.org/drawingml/2006/main">
              <a:ext uri="{FF2B5EF4-FFF2-40B4-BE49-F238E27FC236}">
                <a16:creationId xmlns:a16="http://schemas.microsoft.com/office/drawing/2014/main" id="{A0A7EE9B-B2F4-4A2D-8786-FFB8108C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research and allocation choices</a:t>
            </a:r>
          </a:p>
        </p:txBody>
      </p:sp>
      <p:sp>
        <p:nvSpPr>
          <p:cNvPr id="3" name="Research comparison">
            <a:extLst xmlns:a="http://schemas.openxmlformats.org/drawingml/2006/main">
              <a:ext uri="{FF2B5EF4-FFF2-40B4-BE49-F238E27FC236}">
                <a16:creationId xmlns:a16="http://schemas.microsoft.com/office/drawing/2014/main" id="{1FC293E0-FD9F-45F3-8E50-5419227D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Research comparison</a:t>
            </a:r>
          </a:p>
        </p:txBody>
      </p:sp>
      <p:sp>
        <p:nvSpPr>
          <p:cNvPr id="4" name="Ahmed and Wahed study historical conference participati">
            <a:extLst xmlns:a="http://schemas.openxmlformats.org/drawingml/2006/main">
              <a:ext uri="{FF2B5EF4-FFF2-40B4-BE49-F238E27FC236}">
                <a16:creationId xmlns:a16="http://schemas.microsoft.com/office/drawing/2014/main" id="{2D15F0D6-F833-4D2E-9E47-6D93174A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Ahmed and Wahed study historical conference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participation and a compute divide. Strubell et al.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financial/resource barriers in selected NLP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workloads.</a:t>
            </a:r>
          </a:p>
        </p:txBody>
      </p:sp>
      <p:sp>
        <p:nvSpPr>
          <p:cNvPr id="5" name="The first concerns institutional participation; the sec">
            <a:extLst xmlns:a="http://schemas.openxmlformats.org/drawingml/2006/main">
              <a:ext uri="{FF2B5EF4-FFF2-40B4-BE49-F238E27FC236}">
                <a16:creationId xmlns:a16="http://schemas.microsoft.com/office/drawing/2014/main" id="{8F837014-E799-4E7C-8E8E-BFEA7D93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first concerns institutional participation;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second concerns workload cost. Together they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motivate access support, but neither is a current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worldwide access census.</a:t>
            </a:r>
          </a:p>
        </p:txBody>
      </p:sp>
      <p:sp>
        <p:nvSpPr>
          <p:cNvPr id="6" name="NSF’s March 2026 participation figures describe a US sh">
            <a:extLst xmlns:a="http://schemas.openxmlformats.org/drawingml/2006/main">
              <a:ext uri="{FF2B5EF4-FFF2-40B4-BE49-F238E27FC236}">
                <a16:creationId xmlns:a16="http://schemas.microsoft.com/office/drawing/2014/main" id="{C1E0840A-E1B1-4940-BFAC-CCDEDF29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NSF’s March 2026 participation figures describe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 shared-resource response. Programme reach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proof of equal allocation, global access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eliminated inequality.</a:t>
            </a:r>
          </a:p>
        </p:txBody>
      </p:sp>
      <p:sp>
        <p:nvSpPr>
          <p:cNvPr id="7" name="Proposed shared-cluster policy">
            <a:extLst xmlns:a="http://schemas.openxmlformats.org/drawingml/2006/main">
              <a:ext uri="{FF2B5EF4-FFF2-40B4-BE49-F238E27FC236}">
                <a16:creationId xmlns:a16="http://schemas.microsoft.com/office/drawing/2014/main" id="{D374D376-1EB3-472B-99F9-4F81B9E9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Proposed shared-cluster policy</a:t>
            </a:r>
          </a:p>
        </p:txBody>
      </p:sp>
      <p:sp>
        <p:nvSpPr>
          <p:cNvPr id="8" name="Publish eligibility, GPU-hour limits and allocation cri">
            <a:extLst xmlns:a="http://schemas.openxmlformats.org/drawingml/2006/main">
              <a:ext uri="{FF2B5EF4-FFF2-40B4-BE49-F238E27FC236}">
                <a16:creationId xmlns:a16="http://schemas.microsoft.com/office/drawing/2014/main" id="{84DCB34C-8BB3-42E1-B88F-CD31BC61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Publish eligibility, GPU-hour limits and allocation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criteria; reserve some capacity for teaching, smaller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institutions and independent replication.</a:t>
            </a:r>
          </a:p>
        </p:txBody>
      </p:sp>
      <p:sp>
        <p:nvSpPr>
          <p:cNvPr id="9" name="Provide application support and training; allow appeals">
            <a:extLst xmlns:a="http://schemas.openxmlformats.org/drawingml/2006/main">
              <a:ext uri="{FF2B5EF4-FFF2-40B4-BE49-F238E27FC236}">
                <a16:creationId xmlns:a16="http://schemas.microsoft.com/office/drawing/2014/main" id="{D22DAB42-0540-4777-8364-ECA453B5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Provide application support and training; allow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appeals. Track applicant-to-award outcomes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waiting times across institution groups with privacy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10" name="Trade-offs: reservations may reduce immediate utilizati">
            <a:extLst xmlns:a="http://schemas.openxmlformats.org/drawingml/2006/main">
              <a:ext uri="{FF2B5EF4-FFF2-40B4-BE49-F238E27FC236}">
                <a16:creationId xmlns:a16="http://schemas.microsoft.com/office/drawing/2014/main" id="{5D3C1115-6479-4C07-9F47-18F88A84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39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Trade-offs: reservations may reduce immediate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utilization; queueing can delay urgent work;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unrestricted access can conflict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security/budgets. Prevent repeated deferral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 starvation.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04772-703A-4FAE-B8B4-2BD5505B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E7A2E2-855B-4129-80D6-58438B26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51F50513-177D-4A01-A061-B254B933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divide; [22] Topic 9B: mutual exclusion and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allocation</a:t>
            </a:r>
          </a:p>
        </p:txBody>
      </p:sp>
      <p:sp>
        <p:nvSpPr>
          <p:cNvPr id="14" name="30 / 57">
            <a:extLst xmlns:a="http://schemas.openxmlformats.org/drawingml/2006/main">
              <a:ext uri="{FF2B5EF4-FFF2-40B4-BE49-F238E27FC236}">
                <a16:creationId xmlns:a16="http://schemas.microsoft.com/office/drawing/2014/main" id="{B746F44F-A031-4843-B1F3-BF96220E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30 / 57</a:t>
            </a:r>
          </a:p>
        </p:txBody>
      </p:sp>
    </p:spTree>
    <p:extLst>
      <p:ext uri="{BB962C8B-B14F-4D97-AF65-F5344CB8AC3E}">
        <p14:creationId xmlns:p14="http://schemas.microsoft.com/office/powerpoint/2010/main" val="17985771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7 • Proposed application">
            <a:extLst xmlns:a="http://schemas.openxmlformats.org/drawingml/2006/main">
              <a:ext uri="{FF2B5EF4-FFF2-40B4-BE49-F238E27FC236}">
                <a16:creationId xmlns:a16="http://schemas.microsoft.com/office/drawing/2014/main" id="{8BB31BE2-5461-4379-8F3C-CCFFFADB2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B7 • Proposed application</a:t>
            </a:r>
          </a:p>
        </p:txBody>
      </p:sp>
      <p:sp>
        <p:nvSpPr>
          <p:cNvPr id="2" name="Framework roles and accountable decisions">
            <a:extLst xmlns:a="http://schemas.openxmlformats.org/drawingml/2006/main">
              <a:ext uri="{FF2B5EF4-FFF2-40B4-BE49-F238E27FC236}">
                <a16:creationId xmlns:a16="http://schemas.microsoft.com/office/drawing/2014/main" id="{9FE88192-E612-4676-82B0-5ACD8926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Framework roles and accountable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78410-04DA-4823-AA12-0F839A94B045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 / 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responsible role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Govern / OECD values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ownership, data rules, access policy and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 accepts obligations and review process.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Map /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Define use, stakeholders, misuse risks, deadline and alternatives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Data/risk stewards establish the application-specific scope.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 / Green AI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energy per useful outcome, model quality, group harms and scaling efficiency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Operator/evaluator provides evidence and uncertainty.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Manage / scheduling research +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Approve, defer, reduce scale or redesign; enforce safeguards and review outcomes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Owner authorizes exceptions or rejects unresolved risks.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Our proposal combines measurement, scheduling and risk ">
            <a:extLst xmlns:a="http://schemas.openxmlformats.org/drawingml/2006/main">
              <a:ext uri="{FF2B5EF4-FFF2-40B4-BE49-F238E27FC236}">
                <a16:creationId xmlns:a16="http://schemas.microsoft.com/office/drawing/2014/main" id="{86CBEDD4-D6F0-412F-907B-C2F855EA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Our proposal combines measurement, scheduling and risk management. NIST Govern spans the other functions; risk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management is iterative, not a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6343B-C308-4E69-BB55-E9433E18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F68D9763-92D1-423E-864D-21ADD7F7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7" name="31 / 57">
            <a:extLst xmlns:a="http://schemas.openxmlformats.org/drawingml/2006/main">
              <a:ext uri="{FF2B5EF4-FFF2-40B4-BE49-F238E27FC236}">
                <a16:creationId xmlns:a16="http://schemas.microsoft.com/office/drawing/2014/main" id="{6157DF48-ACCB-4704-8D50-C557DDA82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31 / 57</a:t>
            </a:r>
          </a:p>
        </p:txBody>
      </p:sp>
    </p:spTree>
    <p:extLst>
      <p:ext uri="{BB962C8B-B14F-4D97-AF65-F5344CB8AC3E}">
        <p14:creationId xmlns:p14="http://schemas.microsoft.com/office/powerpoint/2010/main" val="633906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0F4B38-B9E1-4424-BCBB-86060EEA1C23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48550" y="2314575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633BBA-7B64-4FF7-AC05-929532BB743B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3145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6" name="Appendix B8 • Illustrative policy">
            <a:extLst xmlns:a="http://schemas.openxmlformats.org/drawingml/2006/main">
              <a:ext uri="{FF2B5EF4-FFF2-40B4-BE49-F238E27FC236}">
                <a16:creationId xmlns:a16="http://schemas.microsoft.com/office/drawing/2014/main" id="{4AF0CF31-358E-4EDB-8B9A-3B8A1D1E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B8 • Illustrative policy</a:t>
            </a:r>
          </a:p>
        </p:txBody>
      </p:sp>
      <p:sp>
        <p:nvSpPr>
          <p:cNvPr id="2" name="Carbon-aware scheduling under constraints">
            <a:extLst xmlns:a="http://schemas.openxmlformats.org/drawingml/2006/main">
              <a:ext uri="{FF2B5EF4-FFF2-40B4-BE49-F238E27FC236}">
                <a16:creationId xmlns:a16="http://schemas.microsoft.com/office/drawing/2014/main" id="{20EE5CBD-205D-4667-8DD9-16E6D873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Carbon-aware scheduling under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C461B-137D-43D2-980B-D57BCB49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01369F-B310-4D71-8804-F72FE1E4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Lower-carbon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forecast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228297-F455-4BCE-BEC4-C4411210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86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before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8" name="Research [17] demonstrates shifting temporally flexible">
            <a:extLst xmlns:a="http://schemas.openxmlformats.org/drawingml/2006/main">
              <a:ext uri="{FF2B5EF4-FFF2-40B4-BE49-F238E27FC236}">
                <a16:creationId xmlns:a16="http://schemas.microsoft.com/office/drawing/2014/main" id="{4403832B-B2D9-457F-A816-6F5FF8C6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[17] demonstrates shifting temporally flexible workloads using forecasts while preserving daily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capacity. It does not show every urgent GPU job can wait.</a:t>
            </a:r>
          </a:p>
        </p:txBody>
      </p:sp>
      <p:sp>
        <p:nvSpPr>
          <p:cNvPr id="9" name="Proposed rule: defer only if deadline, energy budget, w">
            <a:extLst xmlns:a="http://schemas.openxmlformats.org/drawingml/2006/main">
              <a:ext uri="{FF2B5EF4-FFF2-40B4-BE49-F238E27FC236}">
                <a16:creationId xmlns:a16="http://schemas.microsoft.com/office/drawing/2014/main" id="{B0C9D306-43BE-4C7C-A8D6-678B4758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rule: defer only if deadline, energy budget, water/site limits and equitable waiting-time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commitments remain satisfied; record exceptions.</a:t>
            </a:r>
          </a:p>
        </p:txBody>
      </p:sp>
      <p:sp>
        <p:nvSpPr>
          <p:cNvPr id="10" name="No feasible window: reduce scale, redesign or approve a">
            <a:extLst xmlns:a="http://schemas.openxmlformats.org/drawingml/2006/main">
              <a:ext uri="{FF2B5EF4-FFF2-40B4-BE49-F238E27FC236}">
                <a16:creationId xmlns:a16="http://schemas.microsoft.com/office/drawing/2014/main" id="{C63085F4-072B-4E53-A5A9-7C915BCA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feasible window: reduce scale, redesign or approve a justified urgent exception. Prevent indefinite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deferral. Data residency and transfer costs constrain moving work between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542D4F-B450-46D6-A972-857171CF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2" name="Flexible jobs may move; urgent jobs, water constraints ">
            <a:extLst xmlns:a="http://schemas.openxmlformats.org/drawingml/2006/main">
              <a:ext uri="{FF2B5EF4-FFF2-40B4-BE49-F238E27FC236}">
                <a16:creationId xmlns:a16="http://schemas.microsoft.com/office/drawing/2014/main" id="{4DAD3CF1-294A-40CB-96F2-83D20925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jobs may move; urgent jobs, water constraints and access commitments can override deferral.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DD7D2-2F2D-48FE-B9DD-4B7289ED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Sources: [12] Li et al. 2025 revision: water impacts; [">
            <a:extLst xmlns:a="http://schemas.openxmlformats.org/drawingml/2006/main">
              <a:ext uri="{FF2B5EF4-FFF2-40B4-BE49-F238E27FC236}">
                <a16:creationId xmlns:a16="http://schemas.microsoft.com/office/drawing/2014/main" id="{5BBC3BC8-00B5-4FBD-B4B9-250D4A14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[12] Li et al. 2025 revision: water impacts; [17] Radovanovic et al. 2021: flexible scheduling; [19] NIST: Govern, Map, Measure, Manage</a:t>
            </a:r>
          </a:p>
        </p:txBody>
      </p:sp>
      <p:sp>
        <p:nvSpPr>
          <p:cNvPr id="15" name="32 / 57">
            <a:extLst xmlns:a="http://schemas.openxmlformats.org/drawingml/2006/main">
              <a:ext uri="{FF2B5EF4-FFF2-40B4-BE49-F238E27FC236}">
                <a16:creationId xmlns:a16="http://schemas.microsoft.com/office/drawing/2014/main" id="{38FFAA65-CE1F-407F-86E8-25C7228F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32 / 57</a:t>
            </a:r>
          </a:p>
        </p:txBody>
      </p:sp>
    </p:spTree>
    <p:extLst>
      <p:ext uri="{BB962C8B-B14F-4D97-AF65-F5344CB8AC3E}">
        <p14:creationId xmlns:p14="http://schemas.microsoft.com/office/powerpoint/2010/main" val="147260665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9">
            <a:extLst xmlns:a="http://schemas.openxmlformats.org/drawingml/2006/main">
              <a:ext uri="{FF2B5EF4-FFF2-40B4-BE49-F238E27FC236}">
                <a16:creationId xmlns:a16="http://schemas.microsoft.com/office/drawing/2014/main" id="{97936CF6-C3A6-46EC-861F-A71EC511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B9</a:t>
            </a:r>
          </a:p>
        </p:txBody>
      </p:sp>
      <p:sp>
        <p:nvSpPr>
          <p:cNvPr id="2" name="Research comparisons across all four topics">
            <a:extLst xmlns:a="http://schemas.openxmlformats.org/drawingml/2006/main">
              <a:ext uri="{FF2B5EF4-FFF2-40B4-BE49-F238E27FC236}">
                <a16:creationId xmlns:a16="http://schemas.microsoft.com/office/drawing/2014/main" id="{0EED5B11-0916-4E14-AF2F-0083069E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comparisons across all four topics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812D2-5731-4A93-A4FE-EE1ECC6033F3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 / limit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(a) 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Cost/efficiency research [11,13] versus water-footprint research [12]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Useful-output efficiency and local resource pressure need different measures.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(b) Governance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 reconstruction [14] versus fairness evaluation survey [15]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exposure and unequal outcomes are distinct failure mechanisms.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(c)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Institutional participation [16] versus workload cost/equity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Concentration and financial barriers reinforce a concern; scopes differ.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(d) Frameworks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Efficiency-reporting argument [13] versus operational scheduling [17]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Measurement motivates action; scheduling depends on flexibility and forecasts.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Current institutional evidence [9,10] and governance fr">
            <a:extLst xmlns:a="http://schemas.openxmlformats.org/drawingml/2006/main">
              <a:ext uri="{FF2B5EF4-FFF2-40B4-BE49-F238E27FC236}">
                <a16:creationId xmlns:a16="http://schemas.microsoft.com/office/drawing/2014/main" id="{9C7B5F24-FA58-44FD-B74C-F3AF29BD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Current institutional evidence [9,10] and governance frameworks [18,19] complement the research; they do not replace its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methodological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73D67-2259-43CF-8E73-287E74AC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1] Strubell et al. 2019: cost and equity; [1">
            <a:extLst xmlns:a="http://schemas.openxmlformats.org/drawingml/2006/main">
              <a:ext uri="{FF2B5EF4-FFF2-40B4-BE49-F238E27FC236}">
                <a16:creationId xmlns:a16="http://schemas.microsoft.com/office/drawing/2014/main" id="{B9933CB3-914F-44E0-BB8A-A43EC115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Strubell et al. 2019: cost and equity; [12] Li et al. 2025 revision: water impacts; [13] Schwartz et al. 2019: efficiency reporting; [14] Zhu et al. 2019: exposed gradients;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[15] Gallegos et al. 2024: fairness evaluation; [16] Ahmed and Wahed 2020: compute divide; [17] Radovanovic et al. 2021: flexible scheduling</a:t>
            </a:r>
          </a:p>
        </p:txBody>
      </p:sp>
      <p:sp>
        <p:nvSpPr>
          <p:cNvPr id="7" name="33 / 57">
            <a:extLst xmlns:a="http://schemas.openxmlformats.org/drawingml/2006/main">
              <a:ext uri="{FF2B5EF4-FFF2-40B4-BE49-F238E27FC236}">
                <a16:creationId xmlns:a16="http://schemas.microsoft.com/office/drawing/2014/main" id="{E5B44A6C-F5EA-4CFD-BB84-73390D86F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33 / 57</a:t>
            </a:r>
          </a:p>
        </p:txBody>
      </p:sp>
    </p:spTree>
    <p:extLst>
      <p:ext uri="{BB962C8B-B14F-4D97-AF65-F5344CB8AC3E}">
        <p14:creationId xmlns:p14="http://schemas.microsoft.com/office/powerpoint/2010/main" val="90659347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Synthesis">
            <a:extLst xmlns:a="http://schemas.openxmlformats.org/drawingml/2006/main">
              <a:ext uri="{FF2B5EF4-FFF2-40B4-BE49-F238E27FC236}">
                <a16:creationId xmlns:a16="http://schemas.microsoft.com/office/drawing/2014/main" id="{F38C3977-C54A-41B9-A499-5EE0C72F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Synthesis</a:t>
            </a:r>
          </a:p>
        </p:txBody>
      </p:sp>
      <p:sp>
        <p:nvSpPr>
          <p:cNvPr id="2" name="Conclusions and next measurements">
            <a:extLst xmlns:a="http://schemas.openxmlformats.org/drawingml/2006/main">
              <a:ext uri="{FF2B5EF4-FFF2-40B4-BE49-F238E27FC236}">
                <a16:creationId xmlns:a16="http://schemas.microsoft.com/office/drawing/2014/main" id="{17CDFFBA-7E97-47F9-AEAD-AB935C38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Conclusions and next measurements</a:t>
            </a:r>
          </a:p>
        </p:txBody>
      </p:sp>
      <p:sp>
        <p:nvSpPr>
          <p:cNvPr id="3" name="GPU rotation">
            <a:extLst xmlns:a="http://schemas.openxmlformats.org/drawingml/2006/main">
              <a:ext uri="{FF2B5EF4-FFF2-40B4-BE49-F238E27FC236}">
                <a16:creationId xmlns:a16="http://schemas.microsoft.com/office/drawing/2014/main" id="{5FAA699E-F465-4826-8773-CB2F41FC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GPU rotation</a:t>
            </a:r>
          </a:p>
        </p:txBody>
      </p:sp>
      <p:sp>
        <p:nvSpPr>
          <p:cNvPr id="4" name="Inverse gathering exposes independent pixel work. SM sc">
            <a:extLst xmlns:a="http://schemas.openxmlformats.org/drawingml/2006/main">
              <a:ext uri="{FF2B5EF4-FFF2-40B4-BE49-F238E27FC236}">
                <a16:creationId xmlns:a16="http://schemas.microsoft.com/office/drawing/2014/main" id="{F6B2D107-1F0A-42B1-B9CB-3FA92A66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gathering exposes independent pixel work.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SM scheduling, memory locality and transfer costs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determine achieved performance.</a:t>
            </a:r>
          </a:p>
        </p:txBody>
      </p:sp>
      <p:sp>
        <p:nvSpPr>
          <p:cNvPr id="5" name="Choose a CPU baseline and compare completed equivalent ">
            <a:extLst xmlns:a="http://schemas.openxmlformats.org/drawingml/2006/main">
              <a:ext uri="{FF2B5EF4-FFF2-40B4-BE49-F238E27FC236}">
                <a16:creationId xmlns:a16="http://schemas.microsoft.com/office/drawing/2014/main" id="{53FCA2B4-41C6-419F-940B-3216FB68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Choose a CPU baseline and compare completed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equivalent pipelines. GDS is conditional on storage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bottlenecks, a compatible data path and verified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support.</a:t>
            </a:r>
          </a:p>
        </p:txBody>
      </p:sp>
      <p:sp>
        <p:nvSpPr>
          <p:cNvPr id="6" name="Next: compile the teaching examples, check output again">
            <a:extLst xmlns:a="http://schemas.openxmlformats.org/drawingml/2006/main">
              <a:ext uri="{FF2B5EF4-FFF2-40B4-BE49-F238E27FC236}">
                <a16:creationId xmlns:a16="http://schemas.microsoft.com/office/drawing/2014/main" id="{51C68ABB-B0BF-4AF3-92DC-88B5982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compile the teaching examples, check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against a CPU reference and profile representative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sizes/angles/batches. No result is assumed.</a:t>
            </a:r>
          </a:p>
        </p:txBody>
      </p:sp>
      <p:sp>
        <p:nvSpPr>
          <p:cNvPr id="7" name="Responsible scaling">
            <a:extLst xmlns:a="http://schemas.openxmlformats.org/drawingml/2006/main">
              <a:ext uri="{FF2B5EF4-FFF2-40B4-BE49-F238E27FC236}">
                <a16:creationId xmlns:a16="http://schemas.microsoft.com/office/drawing/2014/main" id="{8B5134D1-ADF9-48C6-83F5-02F41C56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Responsible scaling</a:t>
            </a:r>
          </a:p>
        </p:txBody>
      </p:sp>
      <p:sp>
        <p:nvSpPr>
          <p:cNvPr id="8" name="More compute can enable valuable research while concent">
            <a:extLst xmlns:a="http://schemas.openxmlformats.org/drawingml/2006/main">
              <a:ext uri="{FF2B5EF4-FFF2-40B4-BE49-F238E27FC236}">
                <a16:creationId xmlns:a16="http://schemas.microsoft.com/office/drawing/2014/main" id="{C25E2D72-BE3F-4854-9CF9-441D09FB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compute can enable valuable research while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concentrating access and increasing resource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demand. Approve scale for useful outcomes,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9" name="Combine job-level energy/resource evidence, separate se">
            <a:extLst xmlns:a="http://schemas.openxmlformats.org/drawingml/2006/main">
              <a:ext uri="{FF2B5EF4-FFF2-40B4-BE49-F238E27FC236}">
                <a16:creationId xmlns:a16="http://schemas.microsoft.com/office/drawing/2014/main" id="{32B6582F-6675-4455-99C7-60D08FEE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Combine job-level energy/resource evidence,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security/fairness evaluation, transparent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allocations and deadline-aware scheduling.</a:t>
            </a:r>
          </a:p>
        </p:txBody>
      </p:sp>
      <p:sp>
        <p:nvSpPr>
          <p:cNvPr id="10" name="Next: measure a real cluster job’s energy, quality, sca">
            <a:extLst xmlns:a="http://schemas.openxmlformats.org/drawingml/2006/main">
              <a:ext uri="{FF2B5EF4-FFF2-40B4-BE49-F238E27FC236}">
                <a16:creationId xmlns:a16="http://schemas.microsoft.com/office/drawing/2014/main" id="{BB0E3A9C-4DA4-4127-ABDB-08D44D26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measure a real cluster job’s energy, quality,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efficiency and allocation outcomes; revise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policy when evidence or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76F29-01E5-4F4B-9334-D93CD2E6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0B182-6383-4870-9ACE-B636C6F2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A103C715-D330-4FB5-87E9-D0E6696EB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Practices; [6] NVIDIA GDS overview; [7] NVIDIA GDS design;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reporting; [17] Radovanovic et al. 2021: flexible scheduling; [19] NIST: Govern, Map, Measure, Manage</a:t>
            </a:r>
          </a:p>
        </p:txBody>
      </p:sp>
      <p:sp>
        <p:nvSpPr>
          <p:cNvPr id="14" name="34 / 57">
            <a:extLst xmlns:a="http://schemas.openxmlformats.org/drawingml/2006/main">
              <a:ext uri="{FF2B5EF4-FFF2-40B4-BE49-F238E27FC236}">
                <a16:creationId xmlns:a16="http://schemas.microsoft.com/office/drawing/2014/main" id="{F3DD7751-64A2-4D82-8429-F7F6A6A48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34 / 57</a:t>
            </a:r>
          </a:p>
        </p:txBody>
      </p:sp>
    </p:spTree>
    <p:extLst>
      <p:ext uri="{BB962C8B-B14F-4D97-AF65-F5344CB8AC3E}">
        <p14:creationId xmlns:p14="http://schemas.microsoft.com/office/powerpoint/2010/main" val="76787368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1/6">
            <a:extLst xmlns:a="http://schemas.openxmlformats.org/drawingml/2006/main">
              <a:ext uri="{FF2B5EF4-FFF2-40B4-BE49-F238E27FC236}">
                <a16:creationId xmlns:a16="http://schemas.microsoft.com/office/drawing/2014/main" id="{61E4C564-17DC-4619-82AA-3742C9C22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1/6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91A49053-7650-422E-8273-28C4D419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] Monash University, FIT3143 Topic 8: Vector processi">
            <a:extLst xmlns:a="http://schemas.openxmlformats.org/drawingml/2006/main">
              <a:ext uri="{FF2B5EF4-FFF2-40B4-BE49-F238E27FC236}">
                <a16:creationId xmlns:a16="http://schemas.microsoft.com/office/drawing/2014/main" id="{07A22A27-5F05-4A81-8426-B67CEEBB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[1] Monash University, FIT3143 Topic 8: Vector processing, GPUs and NPUs, course slides, 2024, pp. 18–23, 32–35,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41–46.</a:t>
            </a:r>
          </a:p>
        </p:txBody>
      </p:sp>
      <p:sp>
        <p:nvSpPr>
          <p:cNvPr id="4" name="../context/FIT3143-Topic-8-2024.pdf">
            <a:extLst xmlns:a="http://schemas.openxmlformats.org/drawingml/2006/main">
              <a:ext uri="{FF2B5EF4-FFF2-40B4-BE49-F238E27FC236}">
                <a16:creationId xmlns:a16="http://schemas.microsoft.com/office/drawing/2014/main" id="{9F42D31F-DF6F-4A1F-87BA-9F3D96F9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../context/FIT3143-Topic-8-2024.pdf</a:t>
            </a:r>
          </a:p>
        </p:txBody>
      </p:sp>
      <p:sp>
        <p:nvSpPr>
          <p:cNvPr id="5" name="[2] Monash University, FIT3143 Topic 7A: Parallel perfo">
            <a:extLst xmlns:a="http://schemas.openxmlformats.org/drawingml/2006/main">
              <a:ext uri="{FF2B5EF4-FFF2-40B4-BE49-F238E27FC236}">
                <a16:creationId xmlns:a16="http://schemas.microsoft.com/office/drawing/2014/main" id="{DDAB5BAD-5E82-4F11-BC64-F708093A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[2] Monash University, FIT3143 Topic 7A: Parallel performance and Amdahl reasoning, course slides, 2024, pp. 6–15,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18–27.</a:t>
            </a:r>
          </a:p>
        </p:txBody>
      </p:sp>
      <p:sp>
        <p:nvSpPr>
          <p:cNvPr id="6" name="../context/FIT3143-Topic-7A-2024.pdf">
            <a:extLst xmlns:a="http://schemas.openxmlformats.org/drawingml/2006/main">
              <a:ext uri="{FF2B5EF4-FFF2-40B4-BE49-F238E27FC236}">
                <a16:creationId xmlns:a16="http://schemas.microsoft.com/office/drawing/2014/main" id="{44A90F46-77C8-45B0-B95C-8B42C5A7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../context/FIT3143-Topic-7A-2024.pdf</a:t>
            </a:r>
          </a:p>
        </p:txBody>
      </p:sp>
      <p:sp>
        <p:nvSpPr>
          <p:cNvPr id="7" name="[3] Monash University, FIT3143 Topic 9A: Synchronizatio">
            <a:extLst xmlns:a="http://schemas.openxmlformats.org/drawingml/2006/main">
              <a:ext uri="{FF2B5EF4-FFF2-40B4-BE49-F238E27FC236}">
                <a16:creationId xmlns:a16="http://schemas.microsoft.com/office/drawing/2014/main" id="{CE021A42-53FD-4A4A-B8F1-0883AE6F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[3] Monash University, FIT3143 Topic 9A: Synchronization and dependencies, course slides, 2024, pp. 2–7.</a:t>
            </a:r>
          </a:p>
        </p:txBody>
      </p:sp>
      <p:sp>
        <p:nvSpPr>
          <p:cNvPr id="8" name="../context/FIT3143-Topic-9A-2024.pdf">
            <a:extLst xmlns:a="http://schemas.openxmlformats.org/drawingml/2006/main">
              <a:ext uri="{FF2B5EF4-FFF2-40B4-BE49-F238E27FC236}">
                <a16:creationId xmlns:a16="http://schemas.microsoft.com/office/drawing/2014/main" id="{41614E48-BBCA-45B9-8888-7C32016B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../context/FIT3143-Topic-9A-2024.pdf</a:t>
            </a:r>
          </a:p>
        </p:txBody>
      </p:sp>
      <p:sp>
        <p:nvSpPr>
          <p:cNvPr id="9" name="[4] NVIDIA, “Programming model,” CUDA Programming Guide">
            <a:extLst xmlns:a="http://schemas.openxmlformats.org/drawingml/2006/main">
              <a:ext uri="{FF2B5EF4-FFF2-40B4-BE49-F238E27FC236}">
                <a16:creationId xmlns:a16="http://schemas.microsoft.com/office/drawing/2014/main" id="{818C8403-3227-4582-8FBE-FC5C51E5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[4] NVIDIA, “Programming model,” CUDA Programming Guide, online documentation, accessed Oct. 8, 2026.</a:t>
            </a:r>
          </a:p>
        </p:txBody>
      </p:sp>
      <p:sp>
        <p:nvSpPr>
          <p:cNvPr id="10" name="https://docs.nvidia.com/cuda/cuda-programming-guide/01-">
            <a:extLst xmlns:a="http://schemas.openxmlformats.org/drawingml/2006/main">
              <a:ext uri="{FF2B5EF4-FFF2-40B4-BE49-F238E27FC236}">
                <a16:creationId xmlns:a16="http://schemas.microsoft.com/office/drawing/2014/main" id="{BCB25186-004E-46EF-82DA-5C7956A7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35f979988ffb4e17"/>
              </a:rPr>
              <a:t>https://docs.nvidia.com/cuda/cuda-programming-guide/01-introduction/programming-model.html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EB97D-7268-4A84-9D19-59823E72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DD40A0B-91BA-4244-AECD-97165CBA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5 / 57">
            <a:extLst xmlns:a="http://schemas.openxmlformats.org/drawingml/2006/main">
              <a:ext uri="{FF2B5EF4-FFF2-40B4-BE49-F238E27FC236}">
                <a16:creationId xmlns:a16="http://schemas.microsoft.com/office/drawing/2014/main" id="{24F7C967-754F-47BD-9582-54CA122A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35 / 57</a:t>
            </a:r>
          </a:p>
        </p:txBody>
      </p:sp>
    </p:spTree>
    <p:extLst>
      <p:ext uri="{BB962C8B-B14F-4D97-AF65-F5344CB8AC3E}">
        <p14:creationId xmlns:p14="http://schemas.microsoft.com/office/powerpoint/2010/main" val="76662538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2/6">
            <a:extLst xmlns:a="http://schemas.openxmlformats.org/drawingml/2006/main">
              <a:ext uri="{FF2B5EF4-FFF2-40B4-BE49-F238E27FC236}">
                <a16:creationId xmlns:a16="http://schemas.microsoft.com/office/drawing/2014/main" id="{8DCFAF91-1FED-4930-9CCC-F961F83B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2/6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C30DC84E-524C-4FD6-9E63-A9579D27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5] NVIDIA, CUDA C++ Best Practices Guide, online docum">
            <a:extLst xmlns:a="http://schemas.openxmlformats.org/drawingml/2006/main">
              <a:ext uri="{FF2B5EF4-FFF2-40B4-BE49-F238E27FC236}">
                <a16:creationId xmlns:a16="http://schemas.microsoft.com/office/drawing/2014/main" id="{A98DE38B-583D-4B2C-8EC6-0FBE9135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[5] NVIDIA, CUDA C++ Best Practices Guide, online documentation, accessed Oct. 8, 2026.</a:t>
            </a:r>
          </a:p>
        </p:txBody>
      </p:sp>
      <p:sp>
        <p:nvSpPr>
          <p:cNvPr id="4" name="https://docs.nvidia.com/cuda/cuda-c-best-practices-guid">
            <a:extLst xmlns:a="http://schemas.openxmlformats.org/drawingml/2006/main">
              <a:ext uri="{FF2B5EF4-FFF2-40B4-BE49-F238E27FC236}">
                <a16:creationId xmlns:a16="http://schemas.microsoft.com/office/drawing/2014/main" id="{42F937AC-4F46-49D6-BFA5-81F805E4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4463172f65fb4781"/>
              </a:rPr>
              <a:t>https://docs.nvidia.com/cuda/cuda-c-best-practices-guide/index.html</a:t>
            </a:r>
          </a:p>
        </p:txBody>
      </p:sp>
      <p:sp>
        <p:nvSpPr>
          <p:cNvPr id="5" name="[6] NVIDIA, GPUDirect Storage Overview Guide, online do">
            <a:extLst xmlns:a="http://schemas.openxmlformats.org/drawingml/2006/main">
              <a:ext uri="{FF2B5EF4-FFF2-40B4-BE49-F238E27FC236}">
                <a16:creationId xmlns:a16="http://schemas.microsoft.com/office/drawing/2014/main" id="{FFA1D790-D522-40D0-8BCC-81AB51CB0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[6] NVIDIA, GPUDirect Storage Overview Guide, online documentation, accessed Oct. 8, 2026.</a:t>
            </a:r>
          </a:p>
        </p:txBody>
      </p:sp>
      <p:sp>
        <p:nvSpPr>
          <p:cNvPr id="6" name="https://docs.nvidia.com/gpudirect-storage/overview-guid">
            <a:extLst xmlns:a="http://schemas.openxmlformats.org/drawingml/2006/main">
              <a:ext uri="{FF2B5EF4-FFF2-40B4-BE49-F238E27FC236}">
                <a16:creationId xmlns:a16="http://schemas.microsoft.com/office/drawing/2014/main" id="{EA0ADD65-0F90-47EC-9ADB-5F8CE924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ae3998ab2864b35"/>
              </a:rPr>
              <a:t>https://docs.nvidia.com/gpudirect-storage/overview-guide/index.html</a:t>
            </a:r>
          </a:p>
        </p:txBody>
      </p:sp>
      <p:sp>
        <p:nvSpPr>
          <p:cNvPr id="7" name="[7] NVIDIA, GPUDirect Storage Design Guide, online docu">
            <a:extLst xmlns:a="http://schemas.openxmlformats.org/drawingml/2006/main">
              <a:ext uri="{FF2B5EF4-FFF2-40B4-BE49-F238E27FC236}">
                <a16:creationId xmlns:a16="http://schemas.microsoft.com/office/drawing/2014/main" id="{D030C7BA-E230-4C8C-A571-3672A034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[7] NVIDIA, GPUDirect Storage Design Guide, online documentation, accessed Oct. 8, 2026.</a:t>
            </a:r>
          </a:p>
        </p:txBody>
      </p:sp>
      <p:sp>
        <p:nvSpPr>
          <p:cNvPr id="8" name="https://docs.nvidia.com/gpudirect-storage/design-guide/">
            <a:extLst xmlns:a="http://schemas.openxmlformats.org/drawingml/2006/main">
              <a:ext uri="{FF2B5EF4-FFF2-40B4-BE49-F238E27FC236}">
                <a16:creationId xmlns:a16="http://schemas.microsoft.com/office/drawing/2014/main" id="{BE802A16-6DFC-4FD0-B396-7BF4C315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c6d6c7978c94a5b"/>
              </a:rPr>
              <a:t>https://docs.nvidia.com/gpudirect-storage/design-guide/index.html</a:t>
            </a:r>
          </a:p>
        </p:txBody>
      </p:sp>
      <p:sp>
        <p:nvSpPr>
          <p:cNvPr id="9" name="[8] NVIDIA, “Parallelism strategies guide,” Megatron Co">
            <a:extLst xmlns:a="http://schemas.openxmlformats.org/drawingml/2006/main">
              <a:ext uri="{FF2B5EF4-FFF2-40B4-BE49-F238E27FC236}">
                <a16:creationId xmlns:a16="http://schemas.microsoft.com/office/drawing/2014/main" id="{D8EF655A-A415-474C-A5DB-9FC9CBC9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[8] NVIDIA, “Parallelism strategies guide,” Megatron Core, online documentation, accessed Oct. 8, 2026.</a:t>
            </a:r>
          </a:p>
        </p:txBody>
      </p:sp>
      <p:sp>
        <p:nvSpPr>
          <p:cNvPr id="10" name="https://docs.nvidia.com/megatron-core/developer-guide/l">
            <a:extLst xmlns:a="http://schemas.openxmlformats.org/drawingml/2006/main">
              <a:ext uri="{FF2B5EF4-FFF2-40B4-BE49-F238E27FC236}">
                <a16:creationId xmlns:a16="http://schemas.microsoft.com/office/drawing/2014/main" id="{9099A1A8-56D9-4E40-8F40-DF207333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ac148a52e504a31"/>
              </a:rPr>
              <a:t>https://docs.nvidia.com/megatron-core/developer-guide/latest/user-guide/parallelism-guide.html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113EF9-61B9-44E0-9127-6D97865A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778F625B-9D69-4815-B625-786FF9DC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6 / 57">
            <a:extLst xmlns:a="http://schemas.openxmlformats.org/drawingml/2006/main">
              <a:ext uri="{FF2B5EF4-FFF2-40B4-BE49-F238E27FC236}">
                <a16:creationId xmlns:a16="http://schemas.microsoft.com/office/drawing/2014/main" id="{A39DA521-4D1A-43B4-BAC2-A40A9F1D2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36 / 57</a:t>
            </a:r>
          </a:p>
        </p:txBody>
      </p:sp>
    </p:spTree>
    <p:extLst>
      <p:ext uri="{BB962C8B-B14F-4D97-AF65-F5344CB8AC3E}">
        <p14:creationId xmlns:p14="http://schemas.microsoft.com/office/powerpoint/2010/main" val="130896476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3/6">
            <a:extLst xmlns:a="http://schemas.openxmlformats.org/drawingml/2006/main">
              <a:ext uri="{FF2B5EF4-FFF2-40B4-BE49-F238E27FC236}">
                <a16:creationId xmlns:a16="http://schemas.microsoft.com/office/drawing/2014/main" id="{A71ACBA2-CFC3-4F56-A2FB-4EB28054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3/6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B085E3F8-5BAC-47CA-9D6C-4C1F2C9C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9] International Energy Agency, Key Questions on Energ">
            <a:extLst xmlns:a="http://schemas.openxmlformats.org/drawingml/2006/main">
              <a:ext uri="{FF2B5EF4-FFF2-40B4-BE49-F238E27FC236}">
                <a16:creationId xmlns:a16="http://schemas.microsoft.com/office/drawing/2014/main" id="{87920830-654C-4B96-BA2A-4944EF3F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[9] International Energy Agency, Key Questions on Energy and AI, executive summary, Apr. 16, 2026, CC BY 4.0, accessed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Oct. 8, 2026.</a:t>
            </a:r>
          </a:p>
        </p:txBody>
      </p:sp>
      <p:sp>
        <p:nvSpPr>
          <p:cNvPr id="4" name="https://www.iea.org/reports/key-questions-on-energy-and">
            <a:extLst xmlns:a="http://schemas.openxmlformats.org/drawingml/2006/main">
              <a:ext uri="{FF2B5EF4-FFF2-40B4-BE49-F238E27FC236}">
                <a16:creationId xmlns:a16="http://schemas.microsoft.com/office/drawing/2014/main" id="{A0F82D1D-4E3A-421D-9CCA-DB177D70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d6957f9fa29c4629"/>
              </a:rPr>
              <a:t>https://www.iea.org/reports/key-questions-on-energy-and-ai/executive-summary</a:t>
            </a:r>
          </a:p>
        </p:txBody>
      </p:sp>
      <p:sp>
        <p:nvSpPr>
          <p:cNvPr id="5" name="[10] U.S. National Science Foundation, “NAIRR at 2 year">
            <a:extLst xmlns:a="http://schemas.openxmlformats.org/drawingml/2006/main">
              <a:ext uri="{FF2B5EF4-FFF2-40B4-BE49-F238E27FC236}">
                <a16:creationId xmlns:a16="http://schemas.microsoft.com/office/drawing/2014/main" id="{A5BD7CB0-C3D3-41E5-B221-D416F914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[10] U.S. National Science Foundation, “NAIRR at 2 years: Advancing American artificial intelligence innovation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leadership,” Mar. 19, 2026, accessed Oct. 8, 2026.</a:t>
            </a:r>
          </a:p>
        </p:txBody>
      </p:sp>
      <p:sp>
        <p:nvSpPr>
          <p:cNvPr id="6" name="https://www.nsf.gov/cise/updates/nairr-2-years-advancin">
            <a:extLst xmlns:a="http://schemas.openxmlformats.org/drawingml/2006/main">
              <a:ext uri="{FF2B5EF4-FFF2-40B4-BE49-F238E27FC236}">
                <a16:creationId xmlns:a16="http://schemas.microsoft.com/office/drawing/2014/main" id="{D334F7BC-26A3-4400-ADBC-01AA0929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e531cfef8664893"/>
              </a:rPr>
              <a:t>https://www.nsf.gov/cise/updates/nairr-2-years-advancing-american-artificial-intelligence</a:t>
            </a:r>
          </a:p>
        </p:txBody>
      </p:sp>
      <p:sp>
        <p:nvSpPr>
          <p:cNvPr id="7" name="[11] E. Strubell, A. Ganesh, and A. McCallum, “Energy a">
            <a:extLst xmlns:a="http://schemas.openxmlformats.org/drawingml/2006/main">
              <a:ext uri="{FF2B5EF4-FFF2-40B4-BE49-F238E27FC236}">
                <a16:creationId xmlns:a16="http://schemas.microsoft.com/office/drawing/2014/main" id="{8A4BBAFA-1401-4482-9811-9CAB2E53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[11] E. Strubell, A. Ganesh, and A. McCallum, “Energy and policy considerations for deep learning in NLP,” in Proc. ACL,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2019, pp. 3645–3650, doi: 10.18653/v1/P19-1355.</a:t>
            </a:r>
          </a:p>
        </p:txBody>
      </p:sp>
      <p:sp>
        <p:nvSpPr>
          <p:cNvPr id="8" name="https://aclanthology.org/P19-1355/">
            <a:extLst xmlns:a="http://schemas.openxmlformats.org/drawingml/2006/main">
              <a:ext uri="{FF2B5EF4-FFF2-40B4-BE49-F238E27FC236}">
                <a16:creationId xmlns:a16="http://schemas.microsoft.com/office/drawing/2014/main" id="{0DA3BA74-6431-4506-85F2-2E75E6D4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128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f6dcb948bd2a4b53"/>
              </a:rPr>
              <a:t>https://aclanthology.org/P19-1355/</a:t>
            </a:r>
          </a:p>
        </p:txBody>
      </p:sp>
      <p:sp>
        <p:nvSpPr>
          <p:cNvPr id="9" name="[12] P. Li, J. Yang, M. A. Islam, and S. Ren, “Making A">
            <a:extLst xmlns:a="http://schemas.openxmlformats.org/drawingml/2006/main">
              <a:ext uri="{FF2B5EF4-FFF2-40B4-BE49-F238E27FC236}">
                <a16:creationId xmlns:a16="http://schemas.microsoft.com/office/drawing/2014/main" id="{9CCAC855-2824-44BD-BE3B-C889F7D2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0248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[12] P. Li, J. Yang, M. A. Islam, and S. Ren, “Making AI less ‘thirsty’: Uncovering and addressing the secret water footprint of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models,” arXiv:2304.03271v5, Mar. 26, 2025; first submitted 2023.</a:t>
            </a:r>
          </a:p>
        </p:txBody>
      </p:sp>
      <p:sp>
        <p:nvSpPr>
          <p:cNvPr id="10" name="https://arxiv.org/abs/2304.03271v5">
            <a:extLst xmlns:a="http://schemas.openxmlformats.org/drawingml/2006/main">
              <a:ext uri="{FF2B5EF4-FFF2-40B4-BE49-F238E27FC236}">
                <a16:creationId xmlns:a16="http://schemas.microsoft.com/office/drawing/2014/main" id="{3B82F10E-889F-4626-A75D-62CB0DA2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7474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e1ace112a5a4474"/>
              </a:rPr>
              <a:t>https://arxiv.org/abs/2304.03271v5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2A6FBA-E299-4559-80A0-5C0DD339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1EC3CA8-128B-43AF-947F-04A61387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7 / 57">
            <a:extLst xmlns:a="http://schemas.openxmlformats.org/drawingml/2006/main">
              <a:ext uri="{FF2B5EF4-FFF2-40B4-BE49-F238E27FC236}">
                <a16:creationId xmlns:a16="http://schemas.microsoft.com/office/drawing/2014/main" id="{34B558C1-C434-4E3F-BE27-6949B031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37 / 57</a:t>
            </a:r>
          </a:p>
        </p:txBody>
      </p:sp>
    </p:spTree>
    <p:extLst>
      <p:ext uri="{BB962C8B-B14F-4D97-AF65-F5344CB8AC3E}">
        <p14:creationId xmlns:p14="http://schemas.microsoft.com/office/powerpoint/2010/main" val="207872567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4/6">
            <a:extLst xmlns:a="http://schemas.openxmlformats.org/drawingml/2006/main">
              <a:ext uri="{FF2B5EF4-FFF2-40B4-BE49-F238E27FC236}">
                <a16:creationId xmlns:a16="http://schemas.microsoft.com/office/drawing/2014/main" id="{295030BF-7999-4E8F-BFC8-27A9C298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4/6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F6978BB4-2A7C-4757-B998-1C0B3616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3] R. Schwartz, J. Dodge, N. A. Smith, and O. Etzioni">
            <a:extLst xmlns:a="http://schemas.openxmlformats.org/drawingml/2006/main">
              <a:ext uri="{FF2B5EF4-FFF2-40B4-BE49-F238E27FC236}">
                <a16:creationId xmlns:a16="http://schemas.microsoft.com/office/drawing/2014/main" id="{7C4E6810-4C44-4FA8-B02C-085717BB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[13] R. Schwartz, J. Dodge, N. A. Smith, and O. Etzioni, “Green AI,” arXiv:1907.10597, 2019.</a:t>
            </a:r>
          </a:p>
        </p:txBody>
      </p:sp>
      <p:sp>
        <p:nvSpPr>
          <p:cNvPr id="4" name="https://arxiv.org/abs/1907.10597">
            <a:extLst xmlns:a="http://schemas.openxmlformats.org/drawingml/2006/main">
              <a:ext uri="{FF2B5EF4-FFF2-40B4-BE49-F238E27FC236}">
                <a16:creationId xmlns:a16="http://schemas.microsoft.com/office/drawing/2014/main" id="{ADB29BD7-EC9A-4257-95A9-23A056D6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436630f506144c02"/>
              </a:rPr>
              <a:t>https://arxiv.org/abs/1907.10597</a:t>
            </a:r>
          </a:p>
        </p:txBody>
      </p:sp>
      <p:sp>
        <p:nvSpPr>
          <p:cNvPr id="5" name="[14] L. Zhu, Z. Liu, and S. Han, “Deep leakage from gra">
            <a:extLst xmlns:a="http://schemas.openxmlformats.org/drawingml/2006/main">
              <a:ext uri="{FF2B5EF4-FFF2-40B4-BE49-F238E27FC236}">
                <a16:creationId xmlns:a16="http://schemas.microsoft.com/office/drawing/2014/main" id="{8FCFC2B6-DACA-494C-91DA-0AB498460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[14] L. Zhu, Z. Liu, and S. Han, “Deep leakage from gradients,” arXiv:1906.08935v2, 2019.</a:t>
            </a:r>
          </a:p>
        </p:txBody>
      </p:sp>
      <p:sp>
        <p:nvSpPr>
          <p:cNvPr id="6" name="https://arxiv.org/abs/1906.08935v2">
            <a:extLst xmlns:a="http://schemas.openxmlformats.org/drawingml/2006/main">
              <a:ext uri="{FF2B5EF4-FFF2-40B4-BE49-F238E27FC236}">
                <a16:creationId xmlns:a16="http://schemas.microsoft.com/office/drawing/2014/main" id="{7974E62F-2EE7-45FE-8D11-ADA27A36B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9ece86e0a7c446fc"/>
              </a:rPr>
              <a:t>https://arxiv.org/abs/1906.08935v2</a:t>
            </a:r>
          </a:p>
        </p:txBody>
      </p:sp>
      <p:sp>
        <p:nvSpPr>
          <p:cNvPr id="7" name="[15] I. O. Gallegos et al., “Bias and fairness in large">
            <a:extLst xmlns:a="http://schemas.openxmlformats.org/drawingml/2006/main">
              <a:ext uri="{FF2B5EF4-FFF2-40B4-BE49-F238E27FC236}">
                <a16:creationId xmlns:a16="http://schemas.microsoft.com/office/drawing/2014/main" id="{7186F241-B873-46C6-848F-1B11EF11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[15] I. O. Gallegos et al., “Bias and fairness in large language models: A survey,” Computational Linguistics, vol. 50, no. 3,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pp. 1097–1179, 2024, doi: 10.1162/coli_a_00524.</a:t>
            </a:r>
          </a:p>
        </p:txBody>
      </p:sp>
      <p:sp>
        <p:nvSpPr>
          <p:cNvPr id="8" name="https://aclanthology.org/2024.cl-3.8/">
            <a:extLst xmlns:a="http://schemas.openxmlformats.org/drawingml/2006/main">
              <a:ext uri="{FF2B5EF4-FFF2-40B4-BE49-F238E27FC236}">
                <a16:creationId xmlns:a16="http://schemas.microsoft.com/office/drawing/2014/main" id="{4D3B05E4-BB6C-4BC2-B820-8BF38DB4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859cebede39943ea"/>
              </a:rPr>
              <a:t>https://aclanthology.org/2024.cl-3.8/</a:t>
            </a:r>
          </a:p>
        </p:txBody>
      </p:sp>
      <p:sp>
        <p:nvSpPr>
          <p:cNvPr id="9" name="[16] N. Ahmed and M. Wahed, “The de-democratization of ">
            <a:extLst xmlns:a="http://schemas.openxmlformats.org/drawingml/2006/main">
              <a:ext uri="{FF2B5EF4-FFF2-40B4-BE49-F238E27FC236}">
                <a16:creationId xmlns:a16="http://schemas.microsoft.com/office/drawing/2014/main" id="{B2E01122-48A2-4C26-8EC4-7267D4A8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[16] N. Ahmed and M. Wahed, “The de-democratization of AI: Deep learning and the compute divide in artificial intelligence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research,” arXiv:2010.15581v1, 2020.</a:t>
            </a:r>
          </a:p>
        </p:txBody>
      </p:sp>
      <p:sp>
        <p:nvSpPr>
          <p:cNvPr id="10" name="https://arxiv.org/abs/2010.15581v1">
            <a:extLst xmlns:a="http://schemas.openxmlformats.org/drawingml/2006/main">
              <a:ext uri="{FF2B5EF4-FFF2-40B4-BE49-F238E27FC236}">
                <a16:creationId xmlns:a16="http://schemas.microsoft.com/office/drawing/2014/main" id="{385BF50F-579E-4E8A-A985-AF2176343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7d7d755eaed423d"/>
              </a:rPr>
              <a:t>https://arxiv.org/abs/2010.15581v1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00371-77B4-4851-B8BF-991BF669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57C3028-0FB8-45D0-BEFD-6BB72F9C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8 / 57">
            <a:extLst xmlns:a="http://schemas.openxmlformats.org/drawingml/2006/main">
              <a:ext uri="{FF2B5EF4-FFF2-40B4-BE49-F238E27FC236}">
                <a16:creationId xmlns:a16="http://schemas.microsoft.com/office/drawing/2014/main" id="{AED1D6A3-7FF2-48B4-B823-39AEFD93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38 / 57</a:t>
            </a:r>
          </a:p>
        </p:txBody>
      </p:sp>
    </p:spTree>
    <p:extLst>
      <p:ext uri="{BB962C8B-B14F-4D97-AF65-F5344CB8AC3E}">
        <p14:creationId xmlns:p14="http://schemas.microsoft.com/office/powerpoint/2010/main" val="92462387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5/6">
            <a:extLst xmlns:a="http://schemas.openxmlformats.org/drawingml/2006/main">
              <a:ext uri="{FF2B5EF4-FFF2-40B4-BE49-F238E27FC236}">
                <a16:creationId xmlns:a16="http://schemas.microsoft.com/office/drawing/2014/main" id="{1D6F14A4-25FE-435F-AB82-F8E291593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5/6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06802141-BCE8-4C4C-9A82-9726D4E6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7] A. Radovanovic et al., “Carbon-aware computing for">
            <a:extLst xmlns:a="http://schemas.openxmlformats.org/drawingml/2006/main">
              <a:ext uri="{FF2B5EF4-FFF2-40B4-BE49-F238E27FC236}">
                <a16:creationId xmlns:a16="http://schemas.microsoft.com/office/drawing/2014/main" id="{D0C55951-F349-4391-A1B9-152C5FF7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[17] A. Radovanovic et al., “Carbon-aware computing for datacenters,” arXiv:2106.11750v1, 2021.</a:t>
            </a:r>
          </a:p>
        </p:txBody>
      </p:sp>
      <p:sp>
        <p:nvSpPr>
          <p:cNvPr id="4" name="https://arxiv.org/abs/2106.11750v1">
            <a:extLst xmlns:a="http://schemas.openxmlformats.org/drawingml/2006/main">
              <a:ext uri="{FF2B5EF4-FFF2-40B4-BE49-F238E27FC236}">
                <a16:creationId xmlns:a16="http://schemas.microsoft.com/office/drawing/2014/main" id="{FDE7346C-C15D-475E-9E9D-3EAC8FDD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d36b5cc84e6f4bfd"/>
              </a:rPr>
              <a:t>https://arxiv.org/abs/2106.11750v1</a:t>
            </a:r>
          </a:p>
        </p:txBody>
      </p:sp>
      <p:sp>
        <p:nvSpPr>
          <p:cNvPr id="5" name="[18] OECD, “OECD AI Principles,” adopted 2019, updated ">
            <a:extLst xmlns:a="http://schemas.openxmlformats.org/drawingml/2006/main">
              <a:ext uri="{FF2B5EF4-FFF2-40B4-BE49-F238E27FC236}">
                <a16:creationId xmlns:a16="http://schemas.microsoft.com/office/drawing/2014/main" id="{69236332-7993-42FC-87D0-B7AEE826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[18] OECD, “OECD AI Principles,” adopted 2019, updated 2024, accessed Oct. 8, 2026.</a:t>
            </a:r>
          </a:p>
        </p:txBody>
      </p:sp>
      <p:sp>
        <p:nvSpPr>
          <p:cNvPr id="6" name="https://www.oecd.org/en/topics/ai-principles.html">
            <a:extLst xmlns:a="http://schemas.openxmlformats.org/drawingml/2006/main">
              <a:ext uri="{FF2B5EF4-FFF2-40B4-BE49-F238E27FC236}">
                <a16:creationId xmlns:a16="http://schemas.microsoft.com/office/drawing/2014/main" id="{67D7DCBE-FF44-4698-B1D7-FCB9F9B9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9f14b714186a4bb0"/>
              </a:rPr>
              <a:t>https://www.oecd.org/en/topics/ai-principles.html</a:t>
            </a:r>
          </a:p>
        </p:txBody>
      </p:sp>
      <p:sp>
        <p:nvSpPr>
          <p:cNvPr id="7" name="[19] NIST, AI Risk Management Framework 1.0 Playbook, f">
            <a:extLst xmlns:a="http://schemas.openxmlformats.org/drawingml/2006/main">
              <a:ext uri="{FF2B5EF4-FFF2-40B4-BE49-F238E27FC236}">
                <a16:creationId xmlns:a16="http://schemas.microsoft.com/office/drawing/2014/main" id="{15FF40EF-E586-455B-93A6-5BDEA57A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[19] NIST, AI Risk Management Framework 1.0 Playbook, framework 2023, current online resource, accessed Oct. 8, 2026.</a:t>
            </a:r>
          </a:p>
        </p:txBody>
      </p:sp>
      <p:sp>
        <p:nvSpPr>
          <p:cNvPr id="8" name="https://airc.nist.gov/airmf-resources/playbook/">
            <a:extLst xmlns:a="http://schemas.openxmlformats.org/drawingml/2006/main">
              <a:ext uri="{FF2B5EF4-FFF2-40B4-BE49-F238E27FC236}">
                <a16:creationId xmlns:a16="http://schemas.microsoft.com/office/drawing/2014/main" id="{7D8C53C1-6A2B-427B-8E6C-BD7E1894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6df93280368b4048"/>
              </a:rPr>
              <a:t>https://airc.nist.gov/airmf-resources/playbook/</a:t>
            </a:r>
          </a:p>
        </p:txBody>
      </p:sp>
      <p:sp>
        <p:nvSpPr>
          <p:cNvPr id="9" name="[20] NVIDIA, “Rotate,” NPP Image Geometry Transforms, C">
            <a:extLst xmlns:a="http://schemas.openxmlformats.org/drawingml/2006/main">
              <a:ext uri="{FF2B5EF4-FFF2-40B4-BE49-F238E27FC236}">
                <a16:creationId xmlns:a16="http://schemas.microsoft.com/office/drawing/2014/main" id="{657B3FA8-2F35-409B-8667-107B6703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8387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[20] NVIDIA, “Rotate,” NPP Image Geometry Transforms, CUDA 13.0.3 archive documentation, accessed Oct. 8, 2026.</a:t>
            </a:r>
          </a:p>
        </p:txBody>
      </p:sp>
      <p:sp>
        <p:nvSpPr>
          <p:cNvPr id="10" name="https://docs.nvidia.com/cuda/archive/13.0.3/npp/image_g">
            <a:extLst xmlns:a="http://schemas.openxmlformats.org/drawingml/2006/main">
              <a:ext uri="{FF2B5EF4-FFF2-40B4-BE49-F238E27FC236}">
                <a16:creationId xmlns:a16="http://schemas.microsoft.com/office/drawing/2014/main" id="{D073E546-8C99-4D20-9FD0-B9F7075E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2618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4ec63d68a9eb4868"/>
              </a:rPr>
              <a:t>https://docs.nvidia.com/cuda/archive/13.0.3/npp/image_geometry_transforms.html#rotate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CDBF3-3EA5-4E41-B3EC-162BAC626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51B8AC81-3EDA-4237-87E5-ED77FB56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39 / 57">
            <a:extLst xmlns:a="http://schemas.openxmlformats.org/drawingml/2006/main">
              <a:ext uri="{FF2B5EF4-FFF2-40B4-BE49-F238E27FC236}">
                <a16:creationId xmlns:a16="http://schemas.microsoft.com/office/drawing/2014/main" id="{C1F78B6E-8B01-47F5-9828-8B6858A7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39 / 57</a:t>
            </a:r>
          </a:p>
        </p:txBody>
      </p:sp>
    </p:spTree>
    <p:extLst>
      <p:ext uri="{BB962C8B-B14F-4D97-AF65-F5344CB8AC3E}">
        <p14:creationId xmlns:p14="http://schemas.microsoft.com/office/powerpoint/2010/main" val="106510563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ppendix • References 6/6">
            <a:extLst xmlns:a="http://schemas.openxmlformats.org/drawingml/2006/main">
              <a:ext uri="{FF2B5EF4-FFF2-40B4-BE49-F238E27FC236}">
                <a16:creationId xmlns:a16="http://schemas.microsoft.com/office/drawing/2014/main" id="{3E2F3360-0E5C-46FC-9CCA-8958D2A4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6/6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B1F839D8-BF99-4209-A527-74641B29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21] Monash University, FIT3143 Week 5 combined course ">
            <a:extLst xmlns:a="http://schemas.openxmlformats.org/drawingml/2006/main">
              <a:ext uri="{FF2B5EF4-FFF2-40B4-BE49-F238E27FC236}">
                <a16:creationId xmlns:a16="http://schemas.microsoft.com/office/drawing/2014/main" id="{ED724C26-A295-48E0-BA92-48318C81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[21] Monash University, FIT3143 Week 5 combined course material, MPI collectives, pp. 148–155.</a:t>
            </a:r>
          </a:p>
        </p:txBody>
      </p:sp>
      <p:sp>
        <p:nvSpPr>
          <p:cNvPr id="4" name="../context/FIT3143_Week_5_Combined.pdf">
            <a:extLst xmlns:a="http://schemas.openxmlformats.org/drawingml/2006/main">
              <a:ext uri="{FF2B5EF4-FFF2-40B4-BE49-F238E27FC236}">
                <a16:creationId xmlns:a16="http://schemas.microsoft.com/office/drawing/2014/main" id="{1A855A6F-837C-463B-9AFC-F6B562FA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../context/FIT3143_Week_5_Combined.pdf</a:t>
            </a:r>
          </a:p>
        </p:txBody>
      </p:sp>
      <p:sp>
        <p:nvSpPr>
          <p:cNvPr id="5" name="[22] Monash University, FIT3143 Topic 9B: Mutual exclus">
            <a:extLst xmlns:a="http://schemas.openxmlformats.org/drawingml/2006/main">
              <a:ext uri="{FF2B5EF4-FFF2-40B4-BE49-F238E27FC236}">
                <a16:creationId xmlns:a16="http://schemas.microsoft.com/office/drawing/2014/main" id="{69351DE3-7CCC-46E2-9E73-7FD5259F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[22] Monash University, FIT3143 Topic 9B: Mutual exclusion and resource allocation, course slides, 2024, pp. 4–16, 24–32.</a:t>
            </a:r>
          </a:p>
        </p:txBody>
      </p:sp>
      <p:sp>
        <p:nvSpPr>
          <p:cNvPr id="6" name="../context/FIT3143-Topic-9B-2024.pdf">
            <a:extLst xmlns:a="http://schemas.openxmlformats.org/drawingml/2006/main">
              <a:ext uri="{FF2B5EF4-FFF2-40B4-BE49-F238E27FC236}">
                <a16:creationId xmlns:a16="http://schemas.microsoft.com/office/drawing/2014/main" id="{4AE2BFBB-1E50-44AE-B023-26FBA203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../context/FIT3143-Topic-9B-2024.pdf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68E4C-1C22-476F-B3CD-0C6F7FA9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8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5793989-29B1-4553-9A7B-206B0198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9" name="40 / 57">
            <a:extLst xmlns:a="http://schemas.openxmlformats.org/drawingml/2006/main">
              <a:ext uri="{FF2B5EF4-FFF2-40B4-BE49-F238E27FC236}">
                <a16:creationId xmlns:a16="http://schemas.microsoft.com/office/drawing/2014/main" id="{5ACCBD4F-4300-4DCA-9FD2-CD355B807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40 / 57</a:t>
            </a:r>
          </a:p>
        </p:txBody>
      </p:sp>
    </p:spTree>
    <p:extLst>
      <p:ext uri="{BB962C8B-B14F-4D97-AF65-F5344CB8AC3E}">
        <p14:creationId xmlns:p14="http://schemas.microsoft.com/office/powerpoint/2010/main" val="91455372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AI declaration">
            <a:extLst xmlns:a="http://schemas.openxmlformats.org/drawingml/2006/main">
              <a:ext uri="{FF2B5EF4-FFF2-40B4-BE49-F238E27FC236}">
                <a16:creationId xmlns:a16="http://schemas.microsoft.com/office/drawing/2014/main" id="{9E0E8259-E0E1-405E-8EDE-D59F8861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AI declaration</a:t>
            </a:r>
          </a:p>
        </p:txBody>
      </p:sp>
      <p:sp>
        <p:nvSpPr>
          <p:cNvPr id="2" name="AI assistance and prompt-record provenance">
            <a:extLst xmlns:a="http://schemas.openxmlformats.org/drawingml/2006/main">
              <a:ext uri="{FF2B5EF4-FFF2-40B4-BE49-F238E27FC236}">
                <a16:creationId xmlns:a16="http://schemas.microsoft.com/office/drawing/2014/main" id="{331F59C6-51FE-4CAD-904A-4D77C6CC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AI assistance and prompt-record provenance</a:t>
            </a:r>
          </a:p>
        </p:txBody>
      </p:sp>
      <p:sp>
        <p:nvSpPr>
          <p:cNvPr id="3" name="Tools and assistance">
            <a:extLst xmlns:a="http://schemas.openxmlformats.org/drawingml/2006/main">
              <a:ext uri="{FF2B5EF4-FFF2-40B4-BE49-F238E27FC236}">
                <a16:creationId xmlns:a16="http://schemas.microsoft.com/office/drawing/2014/main" id="{78DE0883-E43F-4E89-95C5-BABEC8C0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Tools and assistance</a:t>
            </a:r>
          </a:p>
        </p:txBody>
      </p:sp>
      <p:sp>
        <p:nvSpPr>
          <p:cNvPr id="4" name="OpenAI Codex was used on 6 and 8 October 2026 for resea">
            <a:extLst xmlns:a="http://schemas.openxmlformats.org/drawingml/2006/main">
              <a:ext uri="{FF2B5EF4-FFF2-40B4-BE49-F238E27FC236}">
                <a16:creationId xmlns:a16="http://schemas.microsoft.com/office/drawing/2014/main" id="{4768FC76-31CE-4850-9322-1BBD89053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OpenAI Codex was used on 6 and 8 October 2026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research/source checks, drafting and revision,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examples, editable slide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diagrams/charts and presentation assembly.</a:t>
            </a:r>
          </a:p>
        </p:txBody>
      </p:sp>
      <p:sp>
        <p:nvSpPr>
          <p:cNvPr id="5" name="AI supported preparation. Students must understand and ">
            <a:extLst xmlns:a="http://schemas.openxmlformats.org/drawingml/2006/main">
              <a:ext uri="{FF2B5EF4-FFF2-40B4-BE49-F238E27FC236}">
                <a16:creationId xmlns:a16="http://schemas.microsoft.com/office/drawing/2014/main" id="{3150659A-85E0-4C7C-A19E-16D79086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supported preparation. Students must understand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validate submitted work; no AI use is permitted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during presentation/interview.</a:t>
            </a:r>
          </a:p>
        </p:txBody>
      </p:sp>
      <p:sp>
        <p:nvSpPr>
          <p:cNvPr id="6" name="Charts are cited sector evidence. Worked examples and p">
            <a:extLst xmlns:a="http://schemas.openxmlformats.org/drawingml/2006/main">
              <a:ext uri="{FF2B5EF4-FFF2-40B4-BE49-F238E27FC236}">
                <a16:creationId xmlns:a16="http://schemas.microsoft.com/office/drawing/2014/main" id="{B1FF722F-E864-4CF9-9AB7-09C7FFC1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Charts are cited sector evidence. Worked examples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policy scenarios are labeled illustrative; CUDA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was not measured.</a:t>
            </a:r>
          </a:p>
        </p:txBody>
      </p:sp>
      <p:sp>
        <p:nvSpPr>
          <p:cNvPr id="7" name="Record included in this deck">
            <a:extLst xmlns:a="http://schemas.openxmlformats.org/drawingml/2006/main">
              <a:ext uri="{FF2B5EF4-FFF2-40B4-BE49-F238E27FC236}">
                <a16:creationId xmlns:a16="http://schemas.microsoft.com/office/drawing/2014/main" id="{53619029-2CF0-437C-BF06-5A61FF8B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Record included in this deck</a:t>
            </a:r>
          </a:p>
        </p:txBody>
      </p:sp>
      <p:sp>
        <p:nvSpPr>
          <p:cNvPr id="8" name="Earlier preparation prompts are reproduced from the sav">
            <a:extLst xmlns:a="http://schemas.openxmlformats.org/drawingml/2006/main">
              <a:ext uri="{FF2B5EF4-FFF2-40B4-BE49-F238E27FC236}">
                <a16:creationId xmlns:a16="http://schemas.microsoft.com/office/drawing/2014/main" id="{EEE0BF90-D3C5-4281-9A2C-10925F38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preparation prompts are reproduced from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saved Task 1 and Task 2 records with original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spelling. The continuation records the available 8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October requests and supplied details.</a:t>
            </a:r>
          </a:p>
        </p:txBody>
      </p:sp>
      <p:sp>
        <p:nvSpPr>
          <p:cNvPr id="9" name="A recorded review goal is labeled as such, separate fro">
            <a:extLst xmlns:a="http://schemas.openxmlformats.org/drawingml/2006/main">
              <a:ext uri="{FF2B5EF4-FFF2-40B4-BE49-F238E27FC236}">
                <a16:creationId xmlns:a16="http://schemas.microsoft.com/office/drawing/2014/main" id="{BFB22FCF-C880-4472-8943-F41E1F19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recorded review goal is labeled as such, separate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from direct user prompts. Environment/system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 and assistant/tool output are 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presented as student prompts.</a:t>
            </a:r>
          </a:p>
        </p:txBody>
      </p:sp>
      <p:sp>
        <p:nvSpPr>
          <p:cNvPr id="10" name="The accompanying PDF contains this same presentation, i">
            <a:extLst xmlns:a="http://schemas.openxmlformats.org/drawingml/2006/main">
              <a:ext uri="{FF2B5EF4-FFF2-40B4-BE49-F238E27FC236}">
                <a16:creationId xmlns:a16="http://schemas.microsoft.com/office/drawing/2014/main" id="{9D667624-658F-4F2D-9C1C-4A43E7D72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accompanying PDF contains this same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presentation, including these records. Any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subsequent AI preparation must be appended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submission.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A7A686-DEED-4128-8F52-5F7B23E9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60FB27-2A1A-4413-A688-E25009FD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0EA6E937-6D7C-4161-AB73-97D23820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41 / 57">
            <a:extLst xmlns:a="http://schemas.openxmlformats.org/drawingml/2006/main">
              <a:ext uri="{FF2B5EF4-FFF2-40B4-BE49-F238E27FC236}">
                <a16:creationId xmlns:a16="http://schemas.microsoft.com/office/drawing/2014/main" id="{04DFFA66-9B84-417A-8844-B53B4667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41 / 57</a:t>
            </a:r>
          </a:p>
        </p:txBody>
      </p:sp>
    </p:spTree>
    <p:extLst>
      <p:ext uri="{BB962C8B-B14F-4D97-AF65-F5344CB8AC3E}">
        <p14:creationId xmlns:p14="http://schemas.microsoft.com/office/powerpoint/2010/main" val="17267431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1">
            <a:extLst xmlns:a="http://schemas.openxmlformats.org/drawingml/2006/main">
              <a:ext uri="{FF2B5EF4-FFF2-40B4-BE49-F238E27FC236}">
                <a16:creationId xmlns:a16="http://schemas.microsoft.com/office/drawing/2014/main" id="{83D9913D-E7A2-46A0-99D5-11B8558A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1</a:t>
            </a:r>
          </a:p>
        </p:txBody>
      </p:sp>
      <p:sp>
        <p:nvSpPr>
          <p:cNvPr id="2" name="Earlier task1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91CAEF74-F960-4EDA-BF11-470CF877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1</a:t>
            </a:r>
          </a:p>
        </p:txBody>
      </p:sp>
      <p:sp>
        <p:nvSpPr>
          <p:cNvPr id="3" name="# AGENTS.md instructions&#10;&#10;&lt;INSTRUCTIONS&gt;&#10;&quot;You are an ex">
            <a:extLst xmlns:a="http://schemas.openxmlformats.org/drawingml/2006/main">
              <a:ext uri="{FF2B5EF4-FFF2-40B4-BE49-F238E27FC236}">
                <a16:creationId xmlns:a16="http://schemas.microsoft.com/office/drawing/2014/main" id="{DF4EA7D0-5894-4DED-A828-E8692603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"You are an expert computer science professor and senior software engineer acting as a student mentor.Core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Guidelines:Pedagogy First: When I ask for code, don't just provide the solution. Explain the logic, data structures,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algorithmic complexity (Big O) involved.Focus on Fundamentals: Prioritize standard libraries and fundamental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concepts taught in CS curriculum (e.g., Data Structures &amp; Algorithms, Operating Systems).Academic Integrity &amp; Best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Practices: Write clean, modular, and well-commented code that adheres to industry standards (e.g., PEP8 for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Python).Edge Case Analysis: Always prompt me to think about edge cases (null inputs, empty sets, large inputs)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providing the final code.Debugging Approach: When I present code with a bug, help me trace the logic rather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than immediately providing the fix. Ask probing questions to guide me to the answer."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EAF3C-8B75-42F6-8CD0-285ECC31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7B3850F6-40D4-4A4F-A5DD-8278371A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2 / 57">
            <a:extLst xmlns:a="http://schemas.openxmlformats.org/drawingml/2006/main">
              <a:ext uri="{FF2B5EF4-FFF2-40B4-BE49-F238E27FC236}">
                <a16:creationId xmlns:a16="http://schemas.microsoft.com/office/drawing/2014/main" id="{0F5BB5F9-F6ED-46B2-A212-E484C9B8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42 / 57</a:t>
            </a:r>
          </a:p>
        </p:txBody>
      </p:sp>
    </p:spTree>
    <p:extLst>
      <p:ext uri="{BB962C8B-B14F-4D97-AF65-F5344CB8AC3E}">
        <p14:creationId xmlns:p14="http://schemas.microsoft.com/office/powerpoint/2010/main" val="34392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2">
            <a:extLst xmlns:a="http://schemas.openxmlformats.org/drawingml/2006/main">
              <a:ext uri="{FF2B5EF4-FFF2-40B4-BE49-F238E27FC236}">
                <a16:creationId xmlns:a16="http://schemas.microsoft.com/office/drawing/2014/main" id="{308C4050-ACB1-42E2-95F5-1037ECFC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2</a:t>
            </a:r>
          </a:p>
        </p:txBody>
      </p:sp>
      <p:sp>
        <p:nvSpPr>
          <p:cNvPr id="2" name="Earlier task1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F23F24D7-C80E-459D-A846-5FE6BB88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2</a:t>
            </a:r>
          </a:p>
        </p:txBody>
      </p:sp>
      <p:sp>
        <p:nvSpPr>
          <p:cNvPr id="3" name="in folder &quot;Applied 2&quot; you will have the content I want ">
            <a:extLst xmlns:a="http://schemas.openxmlformats.org/drawingml/2006/main">
              <a:ext uri="{FF2B5EF4-FFF2-40B4-BE49-F238E27FC236}">
                <a16:creationId xmlns:a16="http://schemas.microsoft.com/office/drawing/2014/main" id="{2CB3D18D-C08F-4ACA-BD9F-F4EE069A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folder "Applied 2" you will have the content I want you to work on, explain me what i need to do for task 1(since task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 is done by someboday else), create evrrythign later on if your creating in this folder, you can access all the content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this folder and help me do this applied correctly, fo rthe moment only tell me what I need to do for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D1794-5AA9-43C8-8DF6-25FB6946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76B8F68C-4218-4854-90A8-24EA5D89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3 / 57">
            <a:extLst xmlns:a="http://schemas.openxmlformats.org/drawingml/2006/main">
              <a:ext uri="{FF2B5EF4-FFF2-40B4-BE49-F238E27FC236}">
                <a16:creationId xmlns:a16="http://schemas.microsoft.com/office/drawing/2014/main" id="{2ED35AAA-9C7C-4988-BA10-3D028907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43 / 57</a:t>
            </a:r>
          </a:p>
        </p:txBody>
      </p:sp>
    </p:spTree>
    <p:extLst>
      <p:ext uri="{BB962C8B-B14F-4D97-AF65-F5344CB8AC3E}">
        <p14:creationId xmlns:p14="http://schemas.microsoft.com/office/powerpoint/2010/main" val="196507954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1/3)">
            <a:extLst xmlns:a="http://schemas.openxmlformats.org/drawingml/2006/main">
              <a:ext uri="{FF2B5EF4-FFF2-40B4-BE49-F238E27FC236}">
                <a16:creationId xmlns:a16="http://schemas.microsoft.com/office/drawing/2014/main" id="{C42C1F10-EC87-4108-A47A-8D7A99AB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(1/3)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415591E3-20C3-46B7-9243-66B66B46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here is some more context as well which you can add on ">
            <a:extLst xmlns:a="http://schemas.openxmlformats.org/drawingml/2006/main">
              <a:ext uri="{FF2B5EF4-FFF2-40B4-BE49-F238E27FC236}">
                <a16:creationId xmlns:a16="http://schemas.microsoft.com/office/drawing/2014/main" id="{0EDA4BC9-534B-43FB-B315-835EB8D3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here is some more context as well which you can add on - Parallel Computer Applied 10 - Based on image rotations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Include diagrams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task 1 - (4min)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focus on the Part D of the workshop from collab - 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D: Reflection Questions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Answer the following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is the role of the host and device in CUDA?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are threads organised into blocks and grids?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is brightness adjustment considered a data-parallel problem?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does GPU acceleration generally improve as image size increases?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overhead is introduced by CPU-GPU memory transfers?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04778-7C9B-4580-BE18-E32F74C8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5EC980C-651E-4AAA-953D-76553E86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4 / 57">
            <a:extLst xmlns:a="http://schemas.openxmlformats.org/drawingml/2006/main">
              <a:ext uri="{FF2B5EF4-FFF2-40B4-BE49-F238E27FC236}">
                <a16:creationId xmlns:a16="http://schemas.microsoft.com/office/drawing/2014/main" id="{31905696-B8C7-4BCC-BFFF-7FCB072C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44 / 57</a:t>
            </a:r>
          </a:p>
        </p:txBody>
      </p:sp>
    </p:spTree>
    <p:extLst>
      <p:ext uri="{BB962C8B-B14F-4D97-AF65-F5344CB8AC3E}">
        <p14:creationId xmlns:p14="http://schemas.microsoft.com/office/powerpoint/2010/main" val="90395046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2/3)">
            <a:extLst xmlns:a="http://schemas.openxmlformats.org/drawingml/2006/main">
              <a:ext uri="{FF2B5EF4-FFF2-40B4-BE49-F238E27FC236}">
                <a16:creationId xmlns:a16="http://schemas.microsoft.com/office/drawing/2014/main" id="{113E701D-4398-41B7-97F9-3AF5F6D2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(2/3)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47350140-F9BF-450D-A3EF-E711DD9E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How many threads are launched when using:&#10;&#10;      Image">
            <a:extLst xmlns:a="http://schemas.openxmlformats.org/drawingml/2006/main">
              <a:ext uri="{FF2B5EF4-FFF2-40B4-BE49-F238E27FC236}">
                <a16:creationId xmlns:a16="http://schemas.microsoft.com/office/drawing/2014/main" id="{04E2F196-32CB-4908-83BF-4E3BADA3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many threads are launched when using: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= 1024 x 1024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 Size = 16 x 16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If the GPU contained thousands of CUDA cores, how can they process millions of image pixels?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 2 - (3min)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how HPC is related to parallel computing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HPC relates to scaling and AI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to include statistics adn charts(make sure to get proper citation) and make sure you are able to properly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this and the trend.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make sure to cover a few points not all (out of a,b,c,d), but not all have to be in detail (since some of them overlap)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atleast 1 point is explained in detail.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BF4EF-6138-4700-918E-F4F1BFAF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CD0A787-FDDE-4CF6-A41F-5ADC0D29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5 / 57">
            <a:extLst xmlns:a="http://schemas.openxmlformats.org/drawingml/2006/main">
              <a:ext uri="{FF2B5EF4-FFF2-40B4-BE49-F238E27FC236}">
                <a16:creationId xmlns:a16="http://schemas.microsoft.com/office/drawing/2014/main" id="{4C0CC1C1-157A-4AC3-BEB4-C06F93AF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45 / 57</a:t>
            </a:r>
          </a:p>
        </p:txBody>
      </p:sp>
    </p:spTree>
    <p:extLst>
      <p:ext uri="{BB962C8B-B14F-4D97-AF65-F5344CB8AC3E}">
        <p14:creationId xmlns:p14="http://schemas.microsoft.com/office/powerpoint/2010/main" val="16215541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3/3)">
            <a:extLst xmlns:a="http://schemas.openxmlformats.org/drawingml/2006/main">
              <a:ext uri="{FF2B5EF4-FFF2-40B4-BE49-F238E27FC236}">
                <a16:creationId xmlns:a16="http://schemas.microsoft.com/office/drawing/2014/main" id="{F11D54F0-02EF-4F71-9214-F77296FF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(3/3)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CBC5D689-10E1-4AEA-A78B-B279F4A7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Ex: &#10;&#10;total time to present 7 mins&#10;&#10;&#10;can task 1 be don">
            <a:extLst xmlns:a="http://schemas.openxmlformats.org/drawingml/2006/main">
              <a:ext uri="{FF2B5EF4-FFF2-40B4-BE49-F238E27FC236}">
                <a16:creationId xmlns:a16="http://schemas.microsoft.com/office/drawing/2014/main" id="{A799A589-0BC7-4F2D-B214-BFC3CE59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Ex: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time to present 7 mins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 task 1 be done by you or does it reqrueis desgnig somethign ? if you can do it go ahead and do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BCA2F5-776F-4BB0-AFE7-825B169B4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6773D8D-DDBB-4311-B746-89B19A25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6 / 57">
            <a:extLst xmlns:a="http://schemas.openxmlformats.org/drawingml/2006/main">
              <a:ext uri="{FF2B5EF4-FFF2-40B4-BE49-F238E27FC236}">
                <a16:creationId xmlns:a16="http://schemas.microsoft.com/office/drawing/2014/main" id="{07A77779-D831-4D34-ACD5-1142908F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46 / 57</a:t>
            </a:r>
          </a:p>
        </p:txBody>
      </p:sp>
    </p:spTree>
    <p:extLst>
      <p:ext uri="{BB962C8B-B14F-4D97-AF65-F5344CB8AC3E}">
        <p14:creationId xmlns:p14="http://schemas.microsoft.com/office/powerpoint/2010/main" val="189034350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4">
            <a:extLst xmlns:a="http://schemas.openxmlformats.org/drawingml/2006/main">
              <a:ext uri="{FF2B5EF4-FFF2-40B4-BE49-F238E27FC236}">
                <a16:creationId xmlns:a16="http://schemas.microsoft.com/office/drawing/2014/main" id="{E4F4C3F0-BA88-4CDB-90EB-F7A702689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4</a:t>
            </a:r>
          </a:p>
        </p:txBody>
      </p:sp>
      <p:sp>
        <p:nvSpPr>
          <p:cNvPr id="2" name="Earlier task2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73CE1650-9E67-4E51-8C09-CF51EC2F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1</a:t>
            </a:r>
          </a:p>
        </p:txBody>
      </p:sp>
      <p:sp>
        <p:nvSpPr>
          <p:cNvPr id="3" name="Are you able to push the changes to this git page and c">
            <a:extLst xmlns:a="http://schemas.openxmlformats.org/drawingml/2006/main">
              <a:ext uri="{FF2B5EF4-FFF2-40B4-BE49-F238E27FC236}">
                <a16:creationId xmlns:a16="http://schemas.microsoft.com/office/drawing/2014/main" id="{71854EEA-0F74-4B35-AE34-1FFF8C85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you able to push the changes to this git page and create a new folder named applied2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https://github.com/Shamle-T/FIT3143-Parallel-Computing dont include any refernces of codex in the naming when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your creating a new folder. Let me know whether this is possible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42F26-E1BD-461F-A856-C8266D03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C4EB57A-B9E2-468A-8057-A1EBB76D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7 / 57">
            <a:extLst xmlns:a="http://schemas.openxmlformats.org/drawingml/2006/main">
              <a:ext uri="{FF2B5EF4-FFF2-40B4-BE49-F238E27FC236}">
                <a16:creationId xmlns:a16="http://schemas.microsoft.com/office/drawing/2014/main" id="{6B012E0E-2144-4D9F-9763-9A334C7E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47 / 57</a:t>
            </a:r>
          </a:p>
        </p:txBody>
      </p:sp>
    </p:spTree>
    <p:extLst>
      <p:ext uri="{BB962C8B-B14F-4D97-AF65-F5344CB8AC3E}">
        <p14:creationId xmlns:p14="http://schemas.microsoft.com/office/powerpoint/2010/main" val="208988594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5">
            <a:extLst xmlns:a="http://schemas.openxmlformats.org/drawingml/2006/main">
              <a:ext uri="{FF2B5EF4-FFF2-40B4-BE49-F238E27FC236}">
                <a16:creationId xmlns:a16="http://schemas.microsoft.com/office/drawing/2014/main" id="{257448B3-6CFC-4DBB-B925-5C8D9013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5</a:t>
            </a:r>
          </a:p>
        </p:txBody>
      </p:sp>
      <p:sp>
        <p:nvSpPr>
          <p:cNvPr id="2" name="Earlier task2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0714B07F-F510-48D3-89EB-499A64D5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2</a:t>
            </a:r>
          </a:p>
        </p:txBody>
      </p:sp>
      <p:sp>
        <p:nvSpPr>
          <p:cNvPr id="3" name="using a detailed comit message push the current changes">
            <a:extLst xmlns:a="http://schemas.openxmlformats.org/drawingml/2006/main">
              <a:ext uri="{FF2B5EF4-FFF2-40B4-BE49-F238E27FC236}">
                <a16:creationId xmlns:a16="http://schemas.microsoft.com/office/drawing/2014/main" id="{8DCE54B4-96D8-4E9D-A9A4-2354089D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using a detailed comit message push the current changes to git and also do we need to do any code for task 1?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pushed do task 2 as well, and push the task 2 to git are required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62885-11C1-4A29-8A63-4114347F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59CE9EB1-BFA1-4FC8-B845-F798A7AE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8 / 57">
            <a:extLst xmlns:a="http://schemas.openxmlformats.org/drawingml/2006/main">
              <a:ext uri="{FF2B5EF4-FFF2-40B4-BE49-F238E27FC236}">
                <a16:creationId xmlns:a16="http://schemas.microsoft.com/office/drawing/2014/main" id="{DC82C464-6066-4E2A-B7F8-D7888A70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48 / 57</a:t>
            </a:r>
          </a:p>
        </p:txBody>
      </p:sp>
    </p:spTree>
    <p:extLst>
      <p:ext uri="{BB962C8B-B14F-4D97-AF65-F5344CB8AC3E}">
        <p14:creationId xmlns:p14="http://schemas.microsoft.com/office/powerpoint/2010/main" val="87027879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6">
            <a:extLst xmlns:a="http://schemas.openxmlformats.org/drawingml/2006/main">
              <a:ext uri="{FF2B5EF4-FFF2-40B4-BE49-F238E27FC236}">
                <a16:creationId xmlns:a16="http://schemas.microsoft.com/office/drawing/2014/main" id="{51A5954A-1F5D-4DA2-A813-DE8BBC3C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6</a:t>
            </a:r>
          </a:p>
        </p:txBody>
      </p:sp>
      <p:sp>
        <p:nvSpPr>
          <p:cNvPr id="2" name="Earlier task2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F69CC8BA-0C4A-4DA5-8257-00ED77E2C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3</a:t>
            </a:r>
          </a:p>
        </p:txBody>
      </p:sp>
      <p:sp>
        <p:nvSpPr>
          <p:cNvPr id="3" name="1)once you have compelted task 2, make sure you have ai">
            <a:extLst xmlns:a="http://schemas.openxmlformats.org/drawingml/2006/main">
              <a:ext uri="{FF2B5EF4-FFF2-40B4-BE49-F238E27FC236}">
                <a16:creationId xmlns:a16="http://schemas.microsoft.com/office/drawing/2014/main" id="{E25457ED-21F3-430E-B88A-FA694577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1)once you have compelted task 2, make sure you have aimed for HD in rubric yeah? for both task 1 and task 2 - if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update both tasks to cover HD level in the rubric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2) create a 6 minute script for both me (task1) and (task2) for my firend , make sure it doesnt sound overly robotic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since we will have to speak this 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335A1-BE1B-428C-8D3D-288108E6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E50384B1-6F02-44C4-8C3B-83F77E71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49 / 57">
            <a:extLst xmlns:a="http://schemas.openxmlformats.org/drawingml/2006/main">
              <a:ext uri="{FF2B5EF4-FFF2-40B4-BE49-F238E27FC236}">
                <a16:creationId xmlns:a16="http://schemas.microsoft.com/office/drawing/2014/main" id="{79D3DBB4-D320-4BE7-A575-E6F5FADCB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49 / 57</a:t>
            </a:r>
          </a:p>
        </p:txBody>
      </p:sp>
    </p:spTree>
    <p:extLst>
      <p:ext uri="{BB962C8B-B14F-4D97-AF65-F5344CB8AC3E}">
        <p14:creationId xmlns:p14="http://schemas.microsoft.com/office/powerpoint/2010/main" val="162251913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7">
            <a:extLst xmlns:a="http://schemas.openxmlformats.org/drawingml/2006/main">
              <a:ext uri="{FF2B5EF4-FFF2-40B4-BE49-F238E27FC236}">
                <a16:creationId xmlns:a16="http://schemas.microsoft.com/office/drawing/2014/main" id="{D026FDC0-6F54-4C1D-A4E0-A594A371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7</a:t>
            </a:r>
          </a:p>
        </p:txBody>
      </p:sp>
      <p:sp>
        <p:nvSpPr>
          <p:cNvPr id="2" name="Earlier task2 preparation, record 4">
            <a:extLst xmlns:a="http://schemas.openxmlformats.org/drawingml/2006/main">
              <a:ext uri="{FF2B5EF4-FFF2-40B4-BE49-F238E27FC236}">
                <a16:creationId xmlns:a16="http://schemas.microsoft.com/office/drawing/2014/main" id="{194EF333-7D83-4337-AD54-56697DE1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4</a:t>
            </a:r>
          </a:p>
        </p:txBody>
      </p:sp>
      <p:sp>
        <p:nvSpPr>
          <p:cNvPr id="3" name="Six minutes total: 3 minutes each">
            <a:extLst xmlns:a="http://schemas.openxmlformats.org/drawingml/2006/main">
              <a:ext uri="{FF2B5EF4-FFF2-40B4-BE49-F238E27FC236}">
                <a16:creationId xmlns:a16="http://schemas.microsoft.com/office/drawing/2014/main" id="{960137E5-180B-4C77-AF62-93D220EF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Six minutes total: 3 minutes 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4A087-7E83-430C-B8D1-579C0B2E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131F200A-D8F7-43A4-9133-860BB260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0 / 57">
            <a:extLst xmlns:a="http://schemas.openxmlformats.org/drawingml/2006/main">
              <a:ext uri="{FF2B5EF4-FFF2-40B4-BE49-F238E27FC236}">
                <a16:creationId xmlns:a16="http://schemas.microsoft.com/office/drawing/2014/main" id="{2DAFF4F2-A135-4176-99E6-5634903B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50 / 57</a:t>
            </a:r>
          </a:p>
        </p:txBody>
      </p:sp>
    </p:spTree>
    <p:extLst>
      <p:ext uri="{BB962C8B-B14F-4D97-AF65-F5344CB8AC3E}">
        <p14:creationId xmlns:p14="http://schemas.microsoft.com/office/powerpoint/2010/main" val="154241204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8">
            <a:extLst xmlns:a="http://schemas.openxmlformats.org/drawingml/2006/main">
              <a:ext uri="{FF2B5EF4-FFF2-40B4-BE49-F238E27FC236}">
                <a16:creationId xmlns:a16="http://schemas.microsoft.com/office/drawing/2014/main" id="{003A1CCB-52DA-4026-98D2-6AB48CF2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8</a:t>
            </a:r>
          </a:p>
        </p:txBody>
      </p:sp>
      <p:sp>
        <p:nvSpPr>
          <p:cNvPr id="2" name="Repository synchronization">
            <a:extLst xmlns:a="http://schemas.openxmlformats.org/drawingml/2006/main">
              <a:ext uri="{FF2B5EF4-FFF2-40B4-BE49-F238E27FC236}">
                <a16:creationId xmlns:a16="http://schemas.microsoft.com/office/drawing/2014/main" id="{E9DBBA36-F447-4708-A6BB-C61D1256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Repository synchronization</a:t>
            </a:r>
          </a:p>
        </p:txBody>
      </p:sp>
      <p:sp>
        <p:nvSpPr>
          <p:cNvPr id="3" name="pull the latest from the remote repo, push any local ch">
            <a:extLst xmlns:a="http://schemas.openxmlformats.org/drawingml/2006/main">
              <a:ext uri="{FF2B5EF4-FFF2-40B4-BE49-F238E27FC236}">
                <a16:creationId xmlns:a16="http://schemas.microsoft.com/office/drawing/2014/main" id="{648DF959-D7C1-4BD6-A347-76535511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pull the latest from the remote repo, push any local changes and merge, local changes arent important. main goal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 get the latest version of the "applied2" dir from the remote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472F98-DA29-466F-A869-970E1BA0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A50FA93-76AC-4307-8BD6-855EDAA27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1 / 57">
            <a:extLst xmlns:a="http://schemas.openxmlformats.org/drawingml/2006/main">
              <a:ext uri="{FF2B5EF4-FFF2-40B4-BE49-F238E27FC236}">
                <a16:creationId xmlns:a16="http://schemas.microsoft.com/office/drawing/2014/main" id="{DC911877-655E-4751-A2ED-0FE14FC5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51 / 57</a:t>
            </a:r>
          </a:p>
        </p:txBody>
      </p:sp>
    </p:spTree>
    <p:extLst>
      <p:ext uri="{BB962C8B-B14F-4D97-AF65-F5344CB8AC3E}">
        <p14:creationId xmlns:p14="http://schemas.microsoft.com/office/powerpoint/2010/main" val="180962345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9">
            <a:extLst xmlns:a="http://schemas.openxmlformats.org/drawingml/2006/main">
              <a:ext uri="{FF2B5EF4-FFF2-40B4-BE49-F238E27FC236}">
                <a16:creationId xmlns:a16="http://schemas.microsoft.com/office/drawing/2014/main" id="{2C5F65C4-C6A9-4202-BFA8-CBACA0A7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9</a:t>
            </a:r>
          </a:p>
        </p:txBody>
      </p:sp>
      <p:sp>
        <p:nvSpPr>
          <p:cNvPr id="2" name="Review request">
            <a:extLst xmlns:a="http://schemas.openxmlformats.org/drawingml/2006/main">
              <a:ext uri="{FF2B5EF4-FFF2-40B4-BE49-F238E27FC236}">
                <a16:creationId xmlns:a16="http://schemas.microsoft.com/office/drawing/2014/main" id="{E3E667EC-3AF0-40C2-8E0A-4837ACF3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request</a:t>
            </a:r>
          </a:p>
        </p:txBody>
      </p:sp>
      <p:sp>
        <p:nvSpPr>
          <p:cNvPr id="3" name="- review the content in the root level context folder (">
            <a:extLst xmlns:a="http://schemas.openxmlformats.org/drawingml/2006/main">
              <a:ext uri="{FF2B5EF4-FFF2-40B4-BE49-F238E27FC236}">
                <a16:creationId xmlns:a16="http://schemas.microsoft.com/office/drawing/2014/main" id="{0BD5B45D-937D-4E1E-9DAC-C3F59343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content in the root level context folder (with an emphasis on week's 7-9).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solutions to task 1 and task 2 in [applied2](applied2/) based on the specification [Applied #2 -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Assessment Specification.pdf](&lt;\&lt;applied2/assessment/Applied #2 - Assessment Specification.pdf\&gt;&gt;) . Identify any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key HD blockers in the solutions based on the rubric attached.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The solutions dont need to only use the theory in the context folder but where possible, they should.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657A7-1C87-435D-892E-04659D7F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43ADB6C-25D2-4265-BBC9-E1246413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2 / 57">
            <a:extLst xmlns:a="http://schemas.openxmlformats.org/drawingml/2006/main">
              <a:ext uri="{FF2B5EF4-FFF2-40B4-BE49-F238E27FC236}">
                <a16:creationId xmlns:a16="http://schemas.microsoft.com/office/drawing/2014/main" id="{237E5DD2-F751-4B4A-9292-C544110C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52 / 57</a:t>
            </a:r>
          </a:p>
        </p:txBody>
      </p:sp>
    </p:spTree>
    <p:extLst>
      <p:ext uri="{BB962C8B-B14F-4D97-AF65-F5344CB8AC3E}">
        <p14:creationId xmlns:p14="http://schemas.microsoft.com/office/powerpoint/2010/main" val="20474379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0">
            <a:extLst xmlns:a="http://schemas.openxmlformats.org/drawingml/2006/main">
              <a:ext uri="{FF2B5EF4-FFF2-40B4-BE49-F238E27FC236}">
                <a16:creationId xmlns:a16="http://schemas.microsoft.com/office/drawing/2014/main" id="{FF458A55-BFF8-47D6-AE90-380F7675F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10</a:t>
            </a:r>
          </a:p>
        </p:txBody>
      </p:sp>
      <p:sp>
        <p:nvSpPr>
          <p:cNvPr id="2" name="Current preparation instructions">
            <a:extLst xmlns:a="http://schemas.openxmlformats.org/drawingml/2006/main">
              <a:ext uri="{FF2B5EF4-FFF2-40B4-BE49-F238E27FC236}">
                <a16:creationId xmlns:a16="http://schemas.microsoft.com/office/drawing/2014/main" id="{1DB457A0-6407-4153-914B-2BAFBABB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Current preparation instructions</a:t>
            </a:r>
          </a:p>
        </p:txBody>
      </p:sp>
      <p:sp>
        <p:nvSpPr>
          <p:cNvPr id="3" name="# AGENTS.md instructions&#10;&#10;&lt;INSTRUCTIONS&gt;&#10;- Answer immed">
            <a:extLst xmlns:a="http://schemas.openxmlformats.org/drawingml/2006/main">
              <a:ext uri="{FF2B5EF4-FFF2-40B4-BE49-F238E27FC236}">
                <a16:creationId xmlns:a16="http://schemas.microsoft.com/office/drawing/2014/main" id="{1F90C08E-894A-4AF5-9AE9-7B56C127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Answer immediately without intro pleasantries, prompt repetitions, or polite filler.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Be concise. Avoid conversational fluff, over-explanation, and unsolicited summaries.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Rely strictly on verified facts. Never invent URLs, names, statistics, or quotes.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If an answer cannot be verified with absolute certainty, state "I do not know" instead of guessing.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For complex logic, perform brief step-by-step reasoning before delivering the final answer.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5A0B9-4856-4263-9D1B-64E00278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C80ED8C-3485-4EF3-9650-6F4DACF16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3 / 57">
            <a:extLst xmlns:a="http://schemas.openxmlformats.org/drawingml/2006/main">
              <a:ext uri="{FF2B5EF4-FFF2-40B4-BE49-F238E27FC236}">
                <a16:creationId xmlns:a16="http://schemas.microsoft.com/office/drawing/2014/main" id="{B6E3AB1F-F9D5-4028-80EE-DFD84528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53 / 57</a:t>
            </a:r>
          </a:p>
        </p:txBody>
      </p:sp>
    </p:spTree>
    <p:extLst>
      <p:ext uri="{BB962C8B-B14F-4D97-AF65-F5344CB8AC3E}">
        <p14:creationId xmlns:p14="http://schemas.microsoft.com/office/powerpoint/2010/main" val="85315524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Recorded goal 11">
            <a:extLst xmlns:a="http://schemas.openxmlformats.org/drawingml/2006/main">
              <a:ext uri="{FF2B5EF4-FFF2-40B4-BE49-F238E27FC236}">
                <a16:creationId xmlns:a16="http://schemas.microsoft.com/office/drawing/2014/main" id="{6B2978EC-AF26-4971-936F-948784AE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Recorded goal 11</a:t>
            </a:r>
          </a:p>
        </p:txBody>
      </p:sp>
      <p:sp>
        <p:nvSpPr>
          <p:cNvPr id="2" name="Recorded review goal">
            <a:extLst xmlns:a="http://schemas.openxmlformats.org/drawingml/2006/main">
              <a:ext uri="{FF2B5EF4-FFF2-40B4-BE49-F238E27FC236}">
                <a16:creationId xmlns:a16="http://schemas.microsoft.com/office/drawing/2014/main" id="{B865E864-F3D4-4210-ACFC-8F9AD0F4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Recorded review goal</a:t>
            </a:r>
          </a:p>
        </p:txBody>
      </p:sp>
      <p:sp>
        <p:nvSpPr>
          <p:cNvPr id="3" name="Review the solutions to task 1 and task 2 in [applied2]">
            <a:extLst xmlns:a="http://schemas.openxmlformats.org/drawingml/2006/main">
              <a:ext uri="{FF2B5EF4-FFF2-40B4-BE49-F238E27FC236}">
                <a16:creationId xmlns:a16="http://schemas.microsoft.com/office/drawing/2014/main" id="{991D5319-7B47-4189-8DEE-4D8A9AD8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the solutions to task 1 and task 2 in [applied2](applied2/) based on the specification [Applied #2 - Assessment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Specification.pdf](&lt;applied2/assessment/Applied #2 - Assessment Specification.pdf&gt;) . Identify any key HD blockers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the solutions based on the rubric attached. Dont stop until you are certain you have identified every HD blocker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created an action plan which you can later execute to update the solutions to fix all problems.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F2ABD-2281-400A-8F2F-DCEB282D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44B7F4A5-8AB3-4BF6-8F56-1F379B33D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4 / 57">
            <a:extLst xmlns:a="http://schemas.openxmlformats.org/drawingml/2006/main">
              <a:ext uri="{FF2B5EF4-FFF2-40B4-BE49-F238E27FC236}">
                <a16:creationId xmlns:a16="http://schemas.microsoft.com/office/drawing/2014/main" id="{2224E8D7-0DFC-4592-9C0C-73D6381E1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54 / 57</a:t>
            </a:r>
          </a:p>
        </p:txBody>
      </p:sp>
    </p:spTree>
    <p:extLst>
      <p:ext uri="{BB962C8B-B14F-4D97-AF65-F5344CB8AC3E}">
        <p14:creationId xmlns:p14="http://schemas.microsoft.com/office/powerpoint/2010/main" val="785509920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2">
            <a:extLst xmlns:a="http://schemas.openxmlformats.org/drawingml/2006/main">
              <a:ext uri="{FF2B5EF4-FFF2-40B4-BE49-F238E27FC236}">
                <a16:creationId xmlns:a16="http://schemas.microsoft.com/office/drawing/2014/main" id="{85FD1560-C7F5-4DA6-A61E-75588365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12</a:t>
            </a:r>
          </a:p>
        </p:txBody>
      </p:sp>
      <p:sp>
        <p:nvSpPr>
          <p:cNvPr id="2" name="Revision and presentation request">
            <a:extLst xmlns:a="http://schemas.openxmlformats.org/drawingml/2006/main">
              <a:ext uri="{FF2B5EF4-FFF2-40B4-BE49-F238E27FC236}">
                <a16:creationId xmlns:a16="http://schemas.microsoft.com/office/drawing/2014/main" id="{0FFCCE68-BC45-44BE-AFC0-17E762E5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Revision and presentation request</a:t>
            </a:r>
          </a:p>
        </p:txBody>
      </p:sp>
      <p:sp>
        <p:nvSpPr>
          <p:cNvPr id="3" name="Now, fix all the identified problems and HD blockers. D">
            <a:extLst xmlns:a="http://schemas.openxmlformats.org/drawingml/2006/main">
              <a:ext uri="{FF2B5EF4-FFF2-40B4-BE49-F238E27FC236}">
                <a16:creationId xmlns:a16="http://schemas.microsoft.com/office/drawing/2014/main" id="{58216951-644D-40F4-ABCA-7C4E1E2D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Now, fix all the identified problems and HD blockers. Don't stop until you're confident that task 1 and task 2 have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high probability of achieving an HD as per the applied-to rubric. Also refer to teaching_team_guidance.md, which is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applied2 directory. Also ignore the Q&amp;A and "Presentation Quality" in the rubric as these will be done by me. You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need to create the presentation but dont worry about presenting it. Once you are confident with the task 1 and 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solutions create a presentation as per task 3 (again dont worry about task 3 part c). Ensure the presentation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professionally formatted and contains all key details as I will not be submitting any other report, all info must be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 in the presentation.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2B7D0-A3D1-4C06-A733-9618440F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DF29BC0-1CA8-4AAF-B853-C79C840C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5 / 57">
            <a:extLst xmlns:a="http://schemas.openxmlformats.org/drawingml/2006/main">
              <a:ext uri="{FF2B5EF4-FFF2-40B4-BE49-F238E27FC236}">
                <a16:creationId xmlns:a16="http://schemas.microsoft.com/office/drawing/2014/main" id="{5F174E70-0D8F-4F9F-88E9-1B58A010B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55 / 57</a:t>
            </a:r>
          </a:p>
        </p:txBody>
      </p:sp>
    </p:spTree>
    <p:extLst>
      <p:ext uri="{BB962C8B-B14F-4D97-AF65-F5344CB8AC3E}">
        <p14:creationId xmlns:p14="http://schemas.microsoft.com/office/powerpoint/2010/main" val="82075093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3">
            <a:extLst xmlns:a="http://schemas.openxmlformats.org/drawingml/2006/main">
              <a:ext uri="{FF2B5EF4-FFF2-40B4-BE49-F238E27FC236}">
                <a16:creationId xmlns:a16="http://schemas.microsoft.com/office/drawing/2014/main" id="{12EC5609-3156-4293-8543-39A11722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13</a:t>
            </a:r>
          </a:p>
        </p:txBody>
      </p:sp>
      <p:sp>
        <p:nvSpPr>
          <p:cNvPr id="2" name="Identification details supplied">
            <a:extLst xmlns:a="http://schemas.openxmlformats.org/drawingml/2006/main">
              <a:ext uri="{FF2B5EF4-FFF2-40B4-BE49-F238E27FC236}">
                <a16:creationId xmlns:a16="http://schemas.microsoft.com/office/drawing/2014/main" id="{91B48689-5CA9-4A4A-B151-ECE6FA09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Identification details supplied</a:t>
            </a:r>
          </a:p>
        </p:txBody>
      </p:sp>
      <p:sp>
        <p:nvSpPr>
          <p:cNvPr id="3" name="Savin Vindiv De Alwis (35221631) - sdea0018@student.mon">
            <a:extLst xmlns:a="http://schemas.openxmlformats.org/drawingml/2006/main">
              <a:ext uri="{FF2B5EF4-FFF2-40B4-BE49-F238E27FC236}">
                <a16:creationId xmlns:a16="http://schemas.microsoft.com/office/drawing/2014/main" id="{D5473999-7EBA-4B2C-A984-DF0E3D41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Savin Vindiv De Alwis (35221631) - sdea0018@student.monash.edu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Shamle Thilaksiri (35512075) - wthi0003@student.monash.edu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228C5-A75E-4470-9B6E-3135186B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1AD9AF32-1DA4-48AA-AAF4-1E73D7E1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6 / 57">
            <a:extLst xmlns:a="http://schemas.openxmlformats.org/drawingml/2006/main">
              <a:ext uri="{FF2B5EF4-FFF2-40B4-BE49-F238E27FC236}">
                <a16:creationId xmlns:a16="http://schemas.microsoft.com/office/drawing/2014/main" id="{E71A9CE8-0DCF-494C-849B-35DCA188D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56 / 57</a:t>
            </a:r>
          </a:p>
        </p:txBody>
      </p:sp>
    </p:spTree>
    <p:extLst>
      <p:ext uri="{BB962C8B-B14F-4D97-AF65-F5344CB8AC3E}">
        <p14:creationId xmlns:p14="http://schemas.microsoft.com/office/powerpoint/2010/main" val="83744239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4">
            <a:extLst xmlns:a="http://schemas.openxmlformats.org/drawingml/2006/main">
              <a:ext uri="{FF2B5EF4-FFF2-40B4-BE49-F238E27FC236}">
                <a16:creationId xmlns:a16="http://schemas.microsoft.com/office/drawing/2014/main" id="{73BE739E-EB70-4FB5-8E7C-EE39E472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14</a:t>
            </a:r>
          </a:p>
        </p:txBody>
      </p:sp>
      <p:sp>
        <p:nvSpPr>
          <p:cNvPr id="2" name="Continuation request">
            <a:extLst xmlns:a="http://schemas.openxmlformats.org/drawingml/2006/main">
              <a:ext uri="{FF2B5EF4-FFF2-40B4-BE49-F238E27FC236}">
                <a16:creationId xmlns:a16="http://schemas.microsoft.com/office/drawing/2014/main" id="{0AB0C9DF-20B9-4E4B-BA5B-527661DA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Continuation request</a:t>
            </a:r>
          </a:p>
        </p:txBody>
      </p:sp>
      <p:sp>
        <p:nvSpPr>
          <p:cNvPr id="3" name="continue where you left off">
            <a:extLst xmlns:a="http://schemas.openxmlformats.org/drawingml/2006/main">
              <a:ext uri="{FF2B5EF4-FFF2-40B4-BE49-F238E27FC236}">
                <a16:creationId xmlns:a16="http://schemas.microsoft.com/office/drawing/2014/main" id="{64971FEF-2A81-4F6A-9E2B-45410001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continue where you left 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1EC73-A858-4776-A4CE-EBAC48D8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20CCAB4B-7E3E-4AAF-8946-3672E288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57 / 57">
            <a:extLst xmlns:a="http://schemas.openxmlformats.org/drawingml/2006/main">
              <a:ext uri="{FF2B5EF4-FFF2-40B4-BE49-F238E27FC236}">
                <a16:creationId xmlns:a16="http://schemas.microsoft.com/office/drawing/2014/main" id="{65165669-2030-4947-888C-C614CF10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57 / 57</a:t>
            </a:r>
          </a:p>
        </p:txBody>
      </p:sp>
    </p:spTree>
    <p:extLst>
      <p:ext uri="{BB962C8B-B14F-4D97-AF65-F5344CB8AC3E}">
        <p14:creationId xmlns:p14="http://schemas.microsoft.com/office/powerpoint/2010/main" val="14864465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2026-10-08T11:31:06.0370000Z</dcterms:created>
  <dcterms:modified xsi:type="dcterms:W3CDTF">2026-10-08T11:31:06.0370000Z</dcterms:modified>
</coreProperties>
</file>