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4ebc8b691c4644" /><Relationship Type="http://schemas.openxmlformats.org/officeDocument/2006/relationships/extended-properties" Target="/docProps/app.xml" Id="R693feb49ae904624" /><Relationship Type="http://schemas.openxmlformats.org/officeDocument/2006/relationships/officeDocument" Target="/ppt/presentation.xml" Id="R64c98a9477d84a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68382f3d354319"/>
  </p:sldMasterIdLst>
  <p:notesMasterIdLst>
    <p:notesMasterId xmlns:r="http://schemas.openxmlformats.org/officeDocument/2006/relationships" r:id="R39a988ae45344dc6"/>
  </p:notesMasterIdLst>
  <p:sldIdLst>
    <p:sldId xmlns:r="http://schemas.openxmlformats.org/officeDocument/2006/relationships" id="256" r:id="R4c5d8617a67c40ca"/>
    <p:sldId xmlns:r="http://schemas.openxmlformats.org/officeDocument/2006/relationships" id="257" r:id="R4d3a9af55c4b4a1f"/>
    <p:sldId xmlns:r="http://schemas.openxmlformats.org/officeDocument/2006/relationships" id="258" r:id="R5a21dfe8bd304042"/>
    <p:sldId xmlns:r="http://schemas.openxmlformats.org/officeDocument/2006/relationships" id="259" r:id="Rb1bbbe2037fb43cd"/>
    <p:sldId xmlns:r="http://schemas.openxmlformats.org/officeDocument/2006/relationships" id="260" r:id="Ra5a4ee245c664910"/>
    <p:sldId xmlns:r="http://schemas.openxmlformats.org/officeDocument/2006/relationships" id="261" r:id="R0d4607fb58af4664"/>
    <p:sldId xmlns:r="http://schemas.openxmlformats.org/officeDocument/2006/relationships" id="262" r:id="Racde66715af94e25"/>
    <p:sldId xmlns:r="http://schemas.openxmlformats.org/officeDocument/2006/relationships" id="263" r:id="R696af79a336b44d9"/>
    <p:sldId xmlns:r="http://schemas.openxmlformats.org/officeDocument/2006/relationships" id="264" r:id="R651225910b6843a2"/>
    <p:sldId xmlns:r="http://schemas.openxmlformats.org/officeDocument/2006/relationships" id="265" r:id="Rbb4a8b87a2da4be6"/>
    <p:sldId xmlns:r="http://schemas.openxmlformats.org/officeDocument/2006/relationships" id="266" r:id="R35f862c299a1424a"/>
    <p:sldId xmlns:r="http://schemas.openxmlformats.org/officeDocument/2006/relationships" id="267" r:id="R1aa2bfb6093241fc"/>
    <p:sldId xmlns:r="http://schemas.openxmlformats.org/officeDocument/2006/relationships" id="268" r:id="R3b36b588f5fd4b6e"/>
    <p:sldId xmlns:r="http://schemas.openxmlformats.org/officeDocument/2006/relationships" id="269" r:id="R92cee70464764b99"/>
    <p:sldId xmlns:r="http://schemas.openxmlformats.org/officeDocument/2006/relationships" id="270" r:id="Re77fb9aa796b494a"/>
    <p:sldId xmlns:r="http://schemas.openxmlformats.org/officeDocument/2006/relationships" id="271" r:id="R7612bc7d01e44f00"/>
    <p:sldId xmlns:r="http://schemas.openxmlformats.org/officeDocument/2006/relationships" id="272" r:id="R15a2bcb47e984369"/>
    <p:sldId xmlns:r="http://schemas.openxmlformats.org/officeDocument/2006/relationships" id="273" r:id="Rbcf0a49410f24fc1"/>
    <p:sldId xmlns:r="http://schemas.openxmlformats.org/officeDocument/2006/relationships" id="274" r:id="Re26e53514fa74d1f"/>
    <p:sldId xmlns:r="http://schemas.openxmlformats.org/officeDocument/2006/relationships" id="275" r:id="Rd74399d8a6914a9e"/>
    <p:sldId xmlns:r="http://schemas.openxmlformats.org/officeDocument/2006/relationships" id="276" r:id="Ra616bc3c43824a34"/>
    <p:sldId xmlns:r="http://schemas.openxmlformats.org/officeDocument/2006/relationships" id="277" r:id="Rb79db50a8ad64cac"/>
    <p:sldId xmlns:r="http://schemas.openxmlformats.org/officeDocument/2006/relationships" id="278" r:id="Rd509b90af22b4b5b"/>
    <p:sldId xmlns:r="http://schemas.openxmlformats.org/officeDocument/2006/relationships" id="279" r:id="R1970ae9b59cc4365"/>
    <p:sldId xmlns:r="http://schemas.openxmlformats.org/officeDocument/2006/relationships" id="280" r:id="R504db2b4bd8342d0"/>
    <p:sldId xmlns:r="http://schemas.openxmlformats.org/officeDocument/2006/relationships" id="281" r:id="R1866210f82d14fce"/>
    <p:sldId xmlns:r="http://schemas.openxmlformats.org/officeDocument/2006/relationships" id="282" r:id="Rd25d4b8544094151"/>
    <p:sldId xmlns:r="http://schemas.openxmlformats.org/officeDocument/2006/relationships" id="283" r:id="R87db8ebf15ff4328"/>
    <p:sldId xmlns:r="http://schemas.openxmlformats.org/officeDocument/2006/relationships" id="284" r:id="Rcfd7e460376b43c7"/>
    <p:sldId xmlns:r="http://schemas.openxmlformats.org/officeDocument/2006/relationships" id="285" r:id="Rc7bb614d0e46464c"/>
    <p:sldId xmlns:r="http://schemas.openxmlformats.org/officeDocument/2006/relationships" id="286" r:id="R8e4baf92de584adc"/>
    <p:sldId xmlns:r="http://schemas.openxmlformats.org/officeDocument/2006/relationships" id="287" r:id="R5f9fd48abb6145d3"/>
    <p:sldId xmlns:r="http://schemas.openxmlformats.org/officeDocument/2006/relationships" id="288" r:id="R630c294e6e34476e"/>
    <p:sldId xmlns:r="http://schemas.openxmlformats.org/officeDocument/2006/relationships" id="289" r:id="Rdf40e1a7e0154ce3"/>
    <p:sldId xmlns:r="http://schemas.openxmlformats.org/officeDocument/2006/relationships" id="290" r:id="R262c6f5705ee4f08"/>
    <p:sldId xmlns:r="http://schemas.openxmlformats.org/officeDocument/2006/relationships" id="291" r:id="R90b2f2e38f174a62"/>
    <p:sldId xmlns:r="http://schemas.openxmlformats.org/officeDocument/2006/relationships" id="292" r:id="Rfc5b5c250dd14f96"/>
    <p:sldId xmlns:r="http://schemas.openxmlformats.org/officeDocument/2006/relationships" id="293" r:id="Rc3aac0672af64a79"/>
    <p:sldId xmlns:r="http://schemas.openxmlformats.org/officeDocument/2006/relationships" id="294" r:id="R686cc830601b4d54"/>
    <p:sldId xmlns:r="http://schemas.openxmlformats.org/officeDocument/2006/relationships" id="295" r:id="Ra7a3758347cb4cc9"/>
    <p:sldId xmlns:r="http://schemas.openxmlformats.org/officeDocument/2006/relationships" id="296" r:id="R4f202fa334f2428a"/>
    <p:sldId xmlns:r="http://schemas.openxmlformats.org/officeDocument/2006/relationships" id="297" r:id="Rd7f5fc4405aa42cb"/>
    <p:sldId xmlns:r="http://schemas.openxmlformats.org/officeDocument/2006/relationships" id="298" r:id="Re48742101e4f4b59"/>
    <p:sldId xmlns:r="http://schemas.openxmlformats.org/officeDocument/2006/relationships" id="299" r:id="R62dde5f0da6c4be4"/>
    <p:sldId xmlns:r="http://schemas.openxmlformats.org/officeDocument/2006/relationships" id="300" r:id="R1a56b8e1ee174dc3"/>
    <p:sldId xmlns:r="http://schemas.openxmlformats.org/officeDocument/2006/relationships" id="301" r:id="R1ab73832191b462b"/>
    <p:sldId xmlns:r="http://schemas.openxmlformats.org/officeDocument/2006/relationships" id="302" r:id="Rd22b4e4043d844e6"/>
    <p:sldId xmlns:r="http://schemas.openxmlformats.org/officeDocument/2006/relationships" id="303" r:id="Rb654b21c1d1d4615"/>
    <p:sldId xmlns:r="http://schemas.openxmlformats.org/officeDocument/2006/relationships" id="304" r:id="R102d7f4d18a748c0"/>
    <p:sldId xmlns:r="http://schemas.openxmlformats.org/officeDocument/2006/relationships" id="305" r:id="R4a2f29e0fec24219"/>
    <p:sldId xmlns:r="http://schemas.openxmlformats.org/officeDocument/2006/relationships" id="306" r:id="Rf09c73b4889e4b37"/>
    <p:sldId xmlns:r="http://schemas.openxmlformats.org/officeDocument/2006/relationships" id="307" r:id="R0f49c69b0a904581"/>
    <p:sldId xmlns:r="http://schemas.openxmlformats.org/officeDocument/2006/relationships" id="308" r:id="R5e17c223fde64649"/>
    <p:sldId xmlns:r="http://schemas.openxmlformats.org/officeDocument/2006/relationships" id="309" r:id="R34e3438c84204a24"/>
    <p:sldId xmlns:r="http://schemas.openxmlformats.org/officeDocument/2006/relationships" id="310" r:id="Rbe304a4ee86045d1"/>
    <p:sldId xmlns:r="http://schemas.openxmlformats.org/officeDocument/2006/relationships" id="311" r:id="R014adae03f3c48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6fb17506e141e7" /><Relationship Type="http://schemas.openxmlformats.org/officeDocument/2006/relationships/slideMaster" Target="/ppt/slideMasters/slideMaster1.xml" Id="R5968382f3d354319" /><Relationship Type="http://schemas.openxmlformats.org/officeDocument/2006/relationships/notesMaster" Target="/ppt/notesMasters/notesMaster1.xml" Id="R39a988ae45344dc6" /><Relationship Type="http://schemas.openxmlformats.org/officeDocument/2006/relationships/presProps" Target="/ppt/presProps.xml" Id="R53b9973e84a34434" /><Relationship Type="http://schemas.openxmlformats.org/officeDocument/2006/relationships/tableStyles" Target="/ppt/tableStyles.xml" Id="R48ce2b8e428e46a8" /><Relationship Type="http://schemas.openxmlformats.org/officeDocument/2006/relationships/slide" Target="/ppt/slides/slide1.xml" Id="R4c5d8617a67c40ca" /><Relationship Type="http://schemas.openxmlformats.org/officeDocument/2006/relationships/slide" Target="/ppt/slides/slide2.xml" Id="R4d3a9af55c4b4a1f" /><Relationship Type="http://schemas.openxmlformats.org/officeDocument/2006/relationships/slide" Target="/ppt/slides/slide3.xml" Id="R5a21dfe8bd304042" /><Relationship Type="http://schemas.openxmlformats.org/officeDocument/2006/relationships/slide" Target="/ppt/slides/slide4.xml" Id="Rb1bbbe2037fb43cd" /><Relationship Type="http://schemas.openxmlformats.org/officeDocument/2006/relationships/slide" Target="/ppt/slides/slide5.xml" Id="Ra5a4ee245c664910" /><Relationship Type="http://schemas.openxmlformats.org/officeDocument/2006/relationships/slide" Target="/ppt/slides/slide6.xml" Id="R0d4607fb58af4664" /><Relationship Type="http://schemas.openxmlformats.org/officeDocument/2006/relationships/slide" Target="/ppt/slides/slide7.xml" Id="Racde66715af94e25" /><Relationship Type="http://schemas.openxmlformats.org/officeDocument/2006/relationships/slide" Target="/ppt/slides/slide8.xml" Id="R696af79a336b44d9" /><Relationship Type="http://schemas.openxmlformats.org/officeDocument/2006/relationships/slide" Target="/ppt/slides/slide9.xml" Id="R651225910b6843a2" /><Relationship Type="http://schemas.openxmlformats.org/officeDocument/2006/relationships/slide" Target="/ppt/slides/slide10.xml" Id="Rbb4a8b87a2da4be6" /><Relationship Type="http://schemas.openxmlformats.org/officeDocument/2006/relationships/slide" Target="/ppt/slides/slide11.xml" Id="R35f862c299a1424a" /><Relationship Type="http://schemas.openxmlformats.org/officeDocument/2006/relationships/slide" Target="/ppt/slides/slide12.xml" Id="R1aa2bfb6093241fc" /><Relationship Type="http://schemas.openxmlformats.org/officeDocument/2006/relationships/slide" Target="/ppt/slides/slide13.xml" Id="R3b36b588f5fd4b6e" /><Relationship Type="http://schemas.openxmlformats.org/officeDocument/2006/relationships/slide" Target="/ppt/slides/slide14.xml" Id="R92cee70464764b99" /><Relationship Type="http://schemas.openxmlformats.org/officeDocument/2006/relationships/slide" Target="/ppt/slides/slide15.xml" Id="Re77fb9aa796b494a" /><Relationship Type="http://schemas.openxmlformats.org/officeDocument/2006/relationships/slide" Target="/ppt/slides/slide16.xml" Id="R7612bc7d01e44f00" /><Relationship Type="http://schemas.openxmlformats.org/officeDocument/2006/relationships/slide" Target="/ppt/slides/slide17.xml" Id="R15a2bcb47e984369" /><Relationship Type="http://schemas.openxmlformats.org/officeDocument/2006/relationships/slide" Target="/ppt/slides/slide18.xml" Id="Rbcf0a49410f24fc1" /><Relationship Type="http://schemas.openxmlformats.org/officeDocument/2006/relationships/slide" Target="/ppt/slides/slide19.xml" Id="Re26e53514fa74d1f" /><Relationship Type="http://schemas.openxmlformats.org/officeDocument/2006/relationships/slide" Target="/ppt/slides/slide20.xml" Id="Rd74399d8a6914a9e" /><Relationship Type="http://schemas.openxmlformats.org/officeDocument/2006/relationships/slide" Target="/ppt/slides/slide21.xml" Id="Ra616bc3c43824a34" /><Relationship Type="http://schemas.openxmlformats.org/officeDocument/2006/relationships/slide" Target="/ppt/slides/slide22.xml" Id="Rb79db50a8ad64cac" /><Relationship Type="http://schemas.openxmlformats.org/officeDocument/2006/relationships/slide" Target="/ppt/slides/slide23.xml" Id="Rd509b90af22b4b5b" /><Relationship Type="http://schemas.openxmlformats.org/officeDocument/2006/relationships/slide" Target="/ppt/slides/slide24.xml" Id="R1970ae9b59cc4365" /><Relationship Type="http://schemas.openxmlformats.org/officeDocument/2006/relationships/slide" Target="/ppt/slides/slide25.xml" Id="R504db2b4bd8342d0" /><Relationship Type="http://schemas.openxmlformats.org/officeDocument/2006/relationships/slide" Target="/ppt/slides/slide26.xml" Id="R1866210f82d14fce" /><Relationship Type="http://schemas.openxmlformats.org/officeDocument/2006/relationships/slide" Target="/ppt/slides/slide27.xml" Id="Rd25d4b8544094151" /><Relationship Type="http://schemas.openxmlformats.org/officeDocument/2006/relationships/slide" Target="/ppt/slides/slide28.xml" Id="R87db8ebf15ff4328" /><Relationship Type="http://schemas.openxmlformats.org/officeDocument/2006/relationships/slide" Target="/ppt/slides/slide29.xml" Id="Rcfd7e460376b43c7" /><Relationship Type="http://schemas.openxmlformats.org/officeDocument/2006/relationships/slide" Target="/ppt/slides/slide30.xml" Id="Rc7bb614d0e46464c" /><Relationship Type="http://schemas.openxmlformats.org/officeDocument/2006/relationships/slide" Target="/ppt/slides/slide31.xml" Id="R8e4baf92de584adc" /><Relationship Type="http://schemas.openxmlformats.org/officeDocument/2006/relationships/slide" Target="/ppt/slides/slide32.xml" Id="R5f9fd48abb6145d3" /><Relationship Type="http://schemas.openxmlformats.org/officeDocument/2006/relationships/slide" Target="/ppt/slides/slide33.xml" Id="R630c294e6e34476e" /><Relationship Type="http://schemas.openxmlformats.org/officeDocument/2006/relationships/slide" Target="/ppt/slides/slide34.xml" Id="Rdf40e1a7e0154ce3" /><Relationship Type="http://schemas.openxmlformats.org/officeDocument/2006/relationships/slide" Target="/ppt/slides/slide35.xml" Id="R262c6f5705ee4f08" /><Relationship Type="http://schemas.openxmlformats.org/officeDocument/2006/relationships/slide" Target="/ppt/slides/slide36.xml" Id="R90b2f2e38f174a62" /><Relationship Type="http://schemas.openxmlformats.org/officeDocument/2006/relationships/slide" Target="/ppt/slides/slide37.xml" Id="Rfc5b5c250dd14f96" /><Relationship Type="http://schemas.openxmlformats.org/officeDocument/2006/relationships/slide" Target="/ppt/slides/slide38.xml" Id="Rc3aac0672af64a79" /><Relationship Type="http://schemas.openxmlformats.org/officeDocument/2006/relationships/slide" Target="/ppt/slides/slide39.xml" Id="R686cc830601b4d54" /><Relationship Type="http://schemas.openxmlformats.org/officeDocument/2006/relationships/slide" Target="/ppt/slides/slide40.xml" Id="Ra7a3758347cb4cc9" /><Relationship Type="http://schemas.openxmlformats.org/officeDocument/2006/relationships/slide" Target="/ppt/slides/slide41.xml" Id="R4f202fa334f2428a" /><Relationship Type="http://schemas.openxmlformats.org/officeDocument/2006/relationships/slide" Target="/ppt/slides/slide42.xml" Id="Rd7f5fc4405aa42cb" /><Relationship Type="http://schemas.openxmlformats.org/officeDocument/2006/relationships/slide" Target="/ppt/slides/slide43.xml" Id="Re48742101e4f4b59" /><Relationship Type="http://schemas.openxmlformats.org/officeDocument/2006/relationships/slide" Target="/ppt/slides/slide44.xml" Id="R62dde5f0da6c4be4" /><Relationship Type="http://schemas.openxmlformats.org/officeDocument/2006/relationships/slide" Target="/ppt/slides/slide45.xml" Id="R1a56b8e1ee174dc3" /><Relationship Type="http://schemas.openxmlformats.org/officeDocument/2006/relationships/slide" Target="/ppt/slides/slide46.xml" Id="R1ab73832191b462b" /><Relationship Type="http://schemas.openxmlformats.org/officeDocument/2006/relationships/slide" Target="/ppt/slides/slide47.xml" Id="Rd22b4e4043d844e6" /><Relationship Type="http://schemas.openxmlformats.org/officeDocument/2006/relationships/slide" Target="/ppt/slides/slide48.xml" Id="Rb654b21c1d1d4615" /><Relationship Type="http://schemas.openxmlformats.org/officeDocument/2006/relationships/slide" Target="/ppt/slides/slide49.xml" Id="R102d7f4d18a748c0" /><Relationship Type="http://schemas.openxmlformats.org/officeDocument/2006/relationships/slide" Target="/ppt/slides/slide50.xml" Id="R4a2f29e0fec24219" /><Relationship Type="http://schemas.openxmlformats.org/officeDocument/2006/relationships/slide" Target="/ppt/slides/slide51.xml" Id="Rf09c73b4889e4b37" /><Relationship Type="http://schemas.openxmlformats.org/officeDocument/2006/relationships/slide" Target="/ppt/slides/slide52.xml" Id="R0f49c69b0a904581" /><Relationship Type="http://schemas.openxmlformats.org/officeDocument/2006/relationships/slide" Target="/ppt/slides/slide53.xml" Id="R5e17c223fde64649" /><Relationship Type="http://schemas.openxmlformats.org/officeDocument/2006/relationships/slide" Target="/ppt/slides/slide54.xml" Id="R34e3438c84204a24" /><Relationship Type="http://schemas.openxmlformats.org/officeDocument/2006/relationships/slide" Target="/ppt/slides/slide55.xml" Id="Rbe304a4ee86045d1" /><Relationship Type="http://schemas.openxmlformats.org/officeDocument/2006/relationships/slide" Target="/ppt/slides/slide56.xml" Id="R014adae03f3c48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d51fb0094842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44b9e074fb4c73" /><Relationship Type="http://schemas.openxmlformats.org/officeDocument/2006/relationships/notesMaster" Target="/ppt/notesMasters/notesMaster1.xml" Id="R857cf43adf8b48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23d9aa66b440af" /><Relationship Type="http://schemas.openxmlformats.org/officeDocument/2006/relationships/notesMaster" Target="/ppt/notesMasters/notesMaster1.xml" Id="R050db046493249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5cd944eec24c5a" /><Relationship Type="http://schemas.openxmlformats.org/officeDocument/2006/relationships/notesMaster" Target="/ppt/notesMasters/notesMaster1.xml" Id="R7b9ace9606794f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68b32f911c498d" /><Relationship Type="http://schemas.openxmlformats.org/officeDocument/2006/relationships/notesMaster" Target="/ppt/notesMasters/notesMaster1.xml" Id="R6559af96df2648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12812a74734cd3" /><Relationship Type="http://schemas.openxmlformats.org/officeDocument/2006/relationships/notesMaster" Target="/ppt/notesMasters/notesMaster1.xml" Id="Re8c53174552549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ec910cc5eb45e9" /><Relationship Type="http://schemas.openxmlformats.org/officeDocument/2006/relationships/notesMaster" Target="/ppt/notesMasters/notesMaster1.xml" Id="R60aa52ce92554f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54f714eb914076" /><Relationship Type="http://schemas.openxmlformats.org/officeDocument/2006/relationships/notesMaster" Target="/ppt/notesMasters/notesMaster1.xml" Id="R92fc328c3fdd4f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13436354b042ce" /><Relationship Type="http://schemas.openxmlformats.org/officeDocument/2006/relationships/notesMaster" Target="/ppt/notesMasters/notesMaster1.xml" Id="R56c7f341f87e42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bbb763121248e8" /><Relationship Type="http://schemas.openxmlformats.org/officeDocument/2006/relationships/notesMaster" Target="/ppt/notesMasters/notesMaster1.xml" Id="R5b9e76ee13ec43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2e455075734b44" /><Relationship Type="http://schemas.openxmlformats.org/officeDocument/2006/relationships/notesMaster" Target="/ppt/notesMasters/notesMaster1.xml" Id="R680a94ceaf7549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fdfeb09d0d47b2" /><Relationship Type="http://schemas.openxmlformats.org/officeDocument/2006/relationships/notesMaster" Target="/ppt/notesMasters/notesMaster1.xml" Id="Rba8445312d7a40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40b95509d64033" /><Relationship Type="http://schemas.openxmlformats.org/officeDocument/2006/relationships/notesMaster" Target="/ppt/notesMasters/notesMaster1.xml" Id="R06be6475cad34a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fc0e4afe8649b8" /><Relationship Type="http://schemas.openxmlformats.org/officeDocument/2006/relationships/notesMaster" Target="/ppt/notesMasters/notesMaster1.xml" Id="R03df657446744d6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665a3dfb924354" /><Relationship Type="http://schemas.openxmlformats.org/officeDocument/2006/relationships/notesMaster" Target="/ppt/notesMasters/notesMaster1.xml" Id="R72ee4b0901f646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bb0be6948fb44bf" /><Relationship Type="http://schemas.openxmlformats.org/officeDocument/2006/relationships/notesMaster" Target="/ppt/notesMasters/notesMaster1.xml" Id="Rd6be128bd54740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c3df2a5e104360" /><Relationship Type="http://schemas.openxmlformats.org/officeDocument/2006/relationships/notesMaster" Target="/ppt/notesMasters/notesMaster1.xml" Id="Rc10db5049c60464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a11c492051f4082" /><Relationship Type="http://schemas.openxmlformats.org/officeDocument/2006/relationships/notesMaster" Target="/ppt/notesMasters/notesMaster1.xml" Id="Rb3f70eece1c4441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74173b0ca43457a" /><Relationship Type="http://schemas.openxmlformats.org/officeDocument/2006/relationships/notesMaster" Target="/ppt/notesMasters/notesMaster1.xml" Id="Rca42beb3634c4aa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5e1b6177bf8455d" /><Relationship Type="http://schemas.openxmlformats.org/officeDocument/2006/relationships/notesMaster" Target="/ppt/notesMasters/notesMaster1.xml" Id="R089ac9250566451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a7b6d2487314c48" /><Relationship Type="http://schemas.openxmlformats.org/officeDocument/2006/relationships/notesMaster" Target="/ppt/notesMasters/notesMaster1.xml" Id="R0be25bd73e304db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67cf411702f4509" /><Relationship Type="http://schemas.openxmlformats.org/officeDocument/2006/relationships/notesMaster" Target="/ppt/notesMasters/notesMaster1.xml" Id="Rdbff1607dbfb4e9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2ab932dc4f349b9" /><Relationship Type="http://schemas.openxmlformats.org/officeDocument/2006/relationships/notesMaster" Target="/ppt/notesMasters/notesMaster1.xml" Id="R257436bf8356404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625b631b1fe4317" /><Relationship Type="http://schemas.openxmlformats.org/officeDocument/2006/relationships/notesMaster" Target="/ppt/notesMasters/notesMaster1.xml" Id="R64ff141b368245f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7950ff052c445aa" /><Relationship Type="http://schemas.openxmlformats.org/officeDocument/2006/relationships/notesMaster" Target="/ppt/notesMasters/notesMaster1.xml" Id="R5b7ffd9f127743e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4b2f659d7614c33" /><Relationship Type="http://schemas.openxmlformats.org/officeDocument/2006/relationships/notesMaster" Target="/ppt/notesMasters/notesMaster1.xml" Id="R51470add04bd4cb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5206e58e46740f6" /><Relationship Type="http://schemas.openxmlformats.org/officeDocument/2006/relationships/notesMaster" Target="/ppt/notesMasters/notesMaster1.xml" Id="R93a4fd477dbb48d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ad490cd1b614973" /><Relationship Type="http://schemas.openxmlformats.org/officeDocument/2006/relationships/notesMaster" Target="/ppt/notesMasters/notesMaster1.xml" Id="Rc2b27eaa52ee4fa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7fce2e2426849b0" /><Relationship Type="http://schemas.openxmlformats.org/officeDocument/2006/relationships/notesMaster" Target="/ppt/notesMasters/notesMaster1.xml" Id="R6e523b1fa37543f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cd0b8614eac451f" /><Relationship Type="http://schemas.openxmlformats.org/officeDocument/2006/relationships/notesMaster" Target="/ppt/notesMasters/notesMaster1.xml" Id="R29ca737b924f49c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2a9fb6439b2417e" /><Relationship Type="http://schemas.openxmlformats.org/officeDocument/2006/relationships/notesMaster" Target="/ppt/notesMasters/notesMaster1.xml" Id="R2b4df892ee834a5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d3536e673be497e" /><Relationship Type="http://schemas.openxmlformats.org/officeDocument/2006/relationships/notesMaster" Target="/ppt/notesMasters/notesMaster1.xml" Id="Rb1082f55f162471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567a20d7fe6418c" /><Relationship Type="http://schemas.openxmlformats.org/officeDocument/2006/relationships/notesMaster" Target="/ppt/notesMasters/notesMaster1.xml" Id="Rc8eb6b27fd924b9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d48c10bec154251" /><Relationship Type="http://schemas.openxmlformats.org/officeDocument/2006/relationships/notesMaster" Target="/ppt/notesMasters/notesMaster1.xml" Id="R082ee2dfd059460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877967a0b244703" /><Relationship Type="http://schemas.openxmlformats.org/officeDocument/2006/relationships/notesMaster" Target="/ppt/notesMasters/notesMaster1.xml" Id="R68ef7fb1311e4a2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b9fe1f3c6e247e0" /><Relationship Type="http://schemas.openxmlformats.org/officeDocument/2006/relationships/notesMaster" Target="/ppt/notesMasters/notesMaster1.xml" Id="Rca8962be19374a4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460598e530e465e" /><Relationship Type="http://schemas.openxmlformats.org/officeDocument/2006/relationships/notesMaster" Target="/ppt/notesMasters/notesMaster1.xml" Id="Rd7aa77131687447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a1b2c683d9748f1" /><Relationship Type="http://schemas.openxmlformats.org/officeDocument/2006/relationships/notesMaster" Target="/ppt/notesMasters/notesMaster1.xml" Id="R90e4297ecc6947b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1073714ecae414f" /><Relationship Type="http://schemas.openxmlformats.org/officeDocument/2006/relationships/notesMaster" Target="/ppt/notesMasters/notesMaster1.xml" Id="R25f8260b3a1f457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9fdf8ae16c04a85" /><Relationship Type="http://schemas.openxmlformats.org/officeDocument/2006/relationships/notesMaster" Target="/ppt/notesMasters/notesMaster1.xml" Id="R5e094a9a5c01440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4fb44e321ec4765" /><Relationship Type="http://schemas.openxmlformats.org/officeDocument/2006/relationships/notesMaster" Target="/ppt/notesMasters/notesMaster1.xml" Id="Rfe72f48b80d9442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e86ac1aff374a9b" /><Relationship Type="http://schemas.openxmlformats.org/officeDocument/2006/relationships/notesMaster" Target="/ppt/notesMasters/notesMaster1.xml" Id="Rde54f86b802b4bc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a0618b37f2147be" /><Relationship Type="http://schemas.openxmlformats.org/officeDocument/2006/relationships/notesMaster" Target="/ppt/notesMasters/notesMaster1.xml" Id="Rc04076e1d3b7408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05e332cad4e4ed9" /><Relationship Type="http://schemas.openxmlformats.org/officeDocument/2006/relationships/notesMaster" Target="/ppt/notesMasters/notesMaster1.xml" Id="Re8d96e5b4e4a446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79f21156df241e3" /><Relationship Type="http://schemas.openxmlformats.org/officeDocument/2006/relationships/notesMaster" Target="/ppt/notesMasters/notesMaster1.xml" Id="R831984948816489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2b071ee5e9a467e" /><Relationship Type="http://schemas.openxmlformats.org/officeDocument/2006/relationships/notesMaster" Target="/ppt/notesMasters/notesMaster1.xml" Id="R70cae3a75a9647a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a630066ab2d48ae" /><Relationship Type="http://schemas.openxmlformats.org/officeDocument/2006/relationships/notesMaster" Target="/ppt/notesMasters/notesMaster1.xml" Id="Rf2e30f29be06482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ce614b90600428d" /><Relationship Type="http://schemas.openxmlformats.org/officeDocument/2006/relationships/notesMaster" Target="/ppt/notesMasters/notesMaster1.xml" Id="R6e5ad6beaa2e4d0e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58e4afb963942dd" /><Relationship Type="http://schemas.openxmlformats.org/officeDocument/2006/relationships/notesMaster" Target="/ppt/notesMasters/notesMaster1.xml" Id="R77ec2a37e6614c5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0ee1a4dee8d42b4" /><Relationship Type="http://schemas.openxmlformats.org/officeDocument/2006/relationships/notesMaster" Target="/ppt/notesMasters/notesMaster1.xml" Id="R3d9a2442150a44cc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101c55a08ca4952" /><Relationship Type="http://schemas.openxmlformats.org/officeDocument/2006/relationships/notesMaster" Target="/ppt/notesMasters/notesMaster1.xml" Id="R544e14ed3233452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add60d7a77a745f8" /><Relationship Type="http://schemas.openxmlformats.org/officeDocument/2006/relationships/notesMaster" Target="/ppt/notesMasters/notesMaster1.xml" Id="Rb30ed1283ec54512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934f72484b24fac" /><Relationship Type="http://schemas.openxmlformats.org/officeDocument/2006/relationships/notesMaster" Target="/ppt/notesMasters/notesMaster1.xml" Id="Ra81eb7ff0f3c4eca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e10b56d137a4e71" /><Relationship Type="http://schemas.openxmlformats.org/officeDocument/2006/relationships/notesMaster" Target="/ppt/notesMasters/notesMaster1.xml" Id="R7bcb3ea310e3481a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f70f19461d464671" /><Relationship Type="http://schemas.openxmlformats.org/officeDocument/2006/relationships/notesMaster" Target="/ppt/notesMasters/notesMaster1.xml" Id="R8a20e6739d4d40e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172ceaaea9e4368" /><Relationship Type="http://schemas.openxmlformats.org/officeDocument/2006/relationships/notesMaster" Target="/ppt/notesMasters/notesMaster1.xml" Id="R891aeebc22ed46bc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fd80bef4a07941e0" /><Relationship Type="http://schemas.openxmlformats.org/officeDocument/2006/relationships/notesMaster" Target="/ppt/notesMasters/notesMaster1.xml" Id="R4ad8228a1b9e45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[20] NVIDIA, “Rotate,” NPP Image Geometry Transforms, CUDA 13.0.3 archive documentation, accessed Oct. 8, 2026.</a:t>
            </a:r>
          </a:p>
          <a:p xmlns:a="http://schemas.openxmlformats.org/drawingml/2006/main">
            <a:r>
              <a:t>https://docs.nvidia.com/cuda/archive/13.0.3/npp/image_geometry_transforms.html#rotate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[22] Monash University, FIT3143 Topic 9B: Mutual exclusion and resource allocation, course slides, 2024, pp. 4–16, 24–32.</a:t>
            </a:r>
          </a:p>
          <a:p xmlns:a="http://schemas.openxmlformats.org/drawingml/2006/main">
            <a:r>
              <a:t>../context/FIT3143-Topic-9B-2024.pdf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[22] Monash University, FIT3143 Topic 9B: Mutual exclusion and resource allocation, course slides, 2024, pp. 4–16, 24–32.</a:t>
            </a:r>
          </a:p>
          <a:p xmlns:a="http://schemas.openxmlformats.org/drawingml/2006/main">
            <a:r>
              <a:t>../context/FIT3143-Topic-9B-2024.pdf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58a8dcffe24d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19fb0527e64ca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a5ca1f56064b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810373cb40458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892f218f849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a7e63921064e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DD4B9E-8E98-4708-A3F4-E8616B19B3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FD3D532-F01F-4F91-8144-A2C86E3CCC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1182C69-F6BA-4A8B-9CD3-97FA624203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A20E7D-CA67-422E-BDB8-043F0FD75A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ED7C99F-35A0-4C61-9BCD-553DA81F3B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8AD1F1-0FDB-4D23-8713-CB0BAC0776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E39905-9A79-48F1-B1A4-FC971CBBD7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705E357-647C-40C4-86DF-90CD0FEBE4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53EA21-2F2D-4E88-97C7-E27622E54F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C32D22-82F2-4B01-81E6-1EE3FB88A6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f3e3def2fa4807" /><Relationship Type="http://schemas.openxmlformats.org/officeDocument/2006/relationships/slideLayout" Target="/ppt/slideLayouts/slideLayout1.xml" Id="R593c679fec02466f" /><Relationship Type="http://schemas.openxmlformats.org/officeDocument/2006/relationships/slideLayout" Target="/ppt/slideLayouts/slideLayout2.xml" Id="R4820d2c1aaa54747" /><Relationship Type="http://schemas.openxmlformats.org/officeDocument/2006/relationships/slideLayout" Target="/ppt/slideLayouts/slideLayout3.xml" Id="Rdfb11e714c7c4cfb" /><Relationship Type="http://schemas.openxmlformats.org/officeDocument/2006/relationships/slideLayout" Target="/ppt/slideLayouts/slideLayout4.xml" Id="R761bde1260ad44b3" /><Relationship Type="http://schemas.openxmlformats.org/officeDocument/2006/relationships/slideLayout" Target="/ppt/slideLayouts/slideLayout5.xml" Id="Re10544caeb1a4a4e" /><Relationship Type="http://schemas.openxmlformats.org/officeDocument/2006/relationships/slideLayout" Target="/ppt/slideLayouts/slideLayout6.xml" Id="Rc55c23a6269e48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3c679fec02466f"/>
    <p:sldLayoutId xmlns:r="http://schemas.openxmlformats.org/officeDocument/2006/relationships" id="2147483650" r:id="R4820d2c1aaa54747"/>
    <p:sldLayoutId xmlns:r="http://schemas.openxmlformats.org/officeDocument/2006/relationships" id="2147483651" r:id="Rdfb11e714c7c4cfb"/>
    <p:sldLayoutId xmlns:r="http://schemas.openxmlformats.org/officeDocument/2006/relationships" id="2147483652" r:id="R761bde1260ad44b3"/>
    <p:sldLayoutId xmlns:r="http://schemas.openxmlformats.org/officeDocument/2006/relationships" id="2147483653" r:id="Re10544caeb1a4a4e"/>
    <p:sldLayoutId xmlns:r="http://schemas.openxmlformats.org/officeDocument/2006/relationships" id="2147483654" r:id="Rc55c23a6269e48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baec27b6254a8e" /><Relationship Type="http://schemas.openxmlformats.org/officeDocument/2006/relationships/notesSlide" Target="/ppt/notesSlides/notesSlide1.xml" Id="R967012afaeea47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502d28d38f48d4" /><Relationship Type="http://schemas.openxmlformats.org/officeDocument/2006/relationships/notesSlide" Target="/ppt/notesSlides/notesSlide2.xml" Id="Rad9672ba33c641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96c6f6d57b4836" /><Relationship Type="http://schemas.openxmlformats.org/officeDocument/2006/relationships/notesSlide" Target="/ppt/notesSlides/notesSlide3.xml" Id="R1181411cbe5b4a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891f9eb9b94c9a" /><Relationship Type="http://schemas.openxmlformats.org/officeDocument/2006/relationships/notesSlide" Target="/ppt/notesSlides/notesSlide4.xml" Id="Rdcc86d7d667949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ba463d18eb463b" /><Relationship Type="http://schemas.openxmlformats.org/officeDocument/2006/relationships/notesSlide" Target="/ppt/notesSlides/notesSlide5.xml" Id="R49a569e57a9d48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6e5b0309124a95" /><Relationship Type="http://schemas.openxmlformats.org/officeDocument/2006/relationships/notesSlide" Target="/ppt/notesSlides/notesSlide6.xml" Id="R8ba3a60f968046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f7196ab65f49c1" /><Relationship Type="http://schemas.openxmlformats.org/officeDocument/2006/relationships/notesSlide" Target="/ppt/notesSlides/notesSlide7.xml" Id="R9caa2032e7b443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b66cc75a2b4b8b" /><Relationship Type="http://schemas.openxmlformats.org/officeDocument/2006/relationships/notesSlide" Target="/ppt/notesSlides/notesSlide8.xml" Id="R36377599a70d49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1a0b91ec10415f" /><Relationship Type="http://schemas.openxmlformats.org/officeDocument/2006/relationships/chart" Target="/ppt/slides/charts/chart1.xml" Id="R3af4e4ab06534342" /><Relationship Type="http://schemas.openxmlformats.org/officeDocument/2006/relationships/chart" Target="/ppt/slides/charts/chart2.xml" Id="R147ebe31b06e4844" /><Relationship Type="http://schemas.openxmlformats.org/officeDocument/2006/relationships/notesSlide" Target="/ppt/notesSlides/notesSlide9.xml" Id="R8ea774ce0cab4f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bb75d6ca1347f5" /><Relationship Type="http://schemas.openxmlformats.org/officeDocument/2006/relationships/notesSlide" Target="/ppt/notesSlides/notesSlide10.xml" Id="Rb111ca1227fe40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f10564457d4111" /><Relationship Type="http://schemas.openxmlformats.org/officeDocument/2006/relationships/notesSlide" Target="/ppt/notesSlides/notesSlide11.xml" Id="Rf0f6b815654641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76420ef5de4aa5" /><Relationship Type="http://schemas.openxmlformats.org/officeDocument/2006/relationships/notesSlide" Target="/ppt/notesSlides/notesSlide12.xml" Id="Rf94f98795f0d41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aee7495dc647d0" /><Relationship Type="http://schemas.openxmlformats.org/officeDocument/2006/relationships/notesSlide" Target="/ppt/notesSlides/notesSlide13.xml" Id="Ree09b75e5b814c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9e570b377a4dc7" /><Relationship Type="http://schemas.openxmlformats.org/officeDocument/2006/relationships/notesSlide" Target="/ppt/notesSlides/notesSlide14.xml" Id="R60b98f0d37df45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85e85d36bc4914" /><Relationship Type="http://schemas.openxmlformats.org/officeDocument/2006/relationships/notesSlide" Target="/ppt/notesSlides/notesSlide15.xml" Id="R4135e927e54c48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32ea4ef5754bb4" /><Relationship Type="http://schemas.openxmlformats.org/officeDocument/2006/relationships/notesSlide" Target="/ppt/notesSlides/notesSlide16.xml" Id="R4737874ef5d44d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c8218c453e4402" /><Relationship Type="http://schemas.openxmlformats.org/officeDocument/2006/relationships/notesSlide" Target="/ppt/notesSlides/notesSlide17.xml" Id="Rba30b2ca3615437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f9ee50973448cf" /><Relationship Type="http://schemas.openxmlformats.org/officeDocument/2006/relationships/notesSlide" Target="/ppt/notesSlides/notesSlide18.xml" Id="Rb9977d0b7d9243e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9199f1cc3c4797" /><Relationship Type="http://schemas.openxmlformats.org/officeDocument/2006/relationships/notesSlide" Target="/ppt/notesSlides/notesSlide19.xml" Id="Rc4439135576f43d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7e4a806db94625" /><Relationship Type="http://schemas.openxmlformats.org/officeDocument/2006/relationships/notesSlide" Target="/ppt/notesSlides/notesSlide20.xml" Id="Rfef8c46cbc88494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c1202819e94cdb" /><Relationship Type="http://schemas.openxmlformats.org/officeDocument/2006/relationships/notesSlide" Target="/ppt/notesSlides/notesSlide21.xml" Id="R8dd37e22aecb42b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16ea00a89e404e" /><Relationship Type="http://schemas.openxmlformats.org/officeDocument/2006/relationships/notesSlide" Target="/ppt/notesSlides/notesSlide22.xml" Id="R1b4d071d85b841c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71c3e573574104" /><Relationship Type="http://schemas.openxmlformats.org/officeDocument/2006/relationships/notesSlide" Target="/ppt/notesSlides/notesSlide23.xml" Id="R1d1b197f0be2475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601dcbc0504ccf" /><Relationship Type="http://schemas.openxmlformats.org/officeDocument/2006/relationships/notesSlide" Target="/ppt/notesSlides/notesSlide24.xml" Id="Re4b483ba0307425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096f940ad24f77" /><Relationship Type="http://schemas.openxmlformats.org/officeDocument/2006/relationships/notesSlide" Target="/ppt/notesSlides/notesSlide25.xml" Id="Re4b72179b2f8484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98d2504642470d" /><Relationship Type="http://schemas.openxmlformats.org/officeDocument/2006/relationships/notesSlide" Target="/ppt/notesSlides/notesSlide26.xml" Id="Rc1fa71f3f4fd422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cdd54b792247c8" /><Relationship Type="http://schemas.openxmlformats.org/officeDocument/2006/relationships/notesSlide" Target="/ppt/notesSlides/notesSlide27.xml" Id="Rc0883f189294495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6b4155d53d4e3f" /><Relationship Type="http://schemas.openxmlformats.org/officeDocument/2006/relationships/notesSlide" Target="/ppt/notesSlides/notesSlide28.xml" Id="R3e663c1fa37d47f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c5df1ff36f4ada" /><Relationship Type="http://schemas.openxmlformats.org/officeDocument/2006/relationships/notesSlide" Target="/ppt/notesSlides/notesSlide29.xml" Id="Re740eb3cacbf4a6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0d69dafd394f9f" /><Relationship Type="http://schemas.openxmlformats.org/officeDocument/2006/relationships/notesSlide" Target="/ppt/notesSlides/notesSlide30.xml" Id="R9e33322cc0aa4ba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1e40365651480b" /><Relationship Type="http://schemas.openxmlformats.org/officeDocument/2006/relationships/notesSlide" Target="/ppt/notesSlides/notesSlide31.xml" Id="Rd51a42d4e6b948f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85276c71f24c80" /><Relationship Type="http://schemas.openxmlformats.org/officeDocument/2006/relationships/notesSlide" Target="/ppt/notesSlides/notesSlide32.xml" Id="Re8596bb3f36d4a0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419de183ba4b68" /><Relationship Type="http://schemas.openxmlformats.org/officeDocument/2006/relationships/notesSlide" Target="/ppt/notesSlides/notesSlide33.xml" Id="Rc77f62bac2d2492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de9e8bb5c046c4" /><Relationship Type="http://schemas.openxmlformats.org/officeDocument/2006/relationships/notesSlide" Target="/ppt/notesSlides/notesSlide34.xml" Id="R1741788f7c5a433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39641a9cca4b39" /><Relationship Type="http://schemas.openxmlformats.org/officeDocument/2006/relationships/hyperlink" Target="https://docs.nvidia.com/cuda/cuda-programming-guide/01-introduction/programming-model.html" TargetMode="External" Id="Rd19daf883f7440c8" /><Relationship Type="http://schemas.openxmlformats.org/officeDocument/2006/relationships/notesSlide" Target="/ppt/notesSlides/notesSlide35.xml" Id="R00f6000470c7484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46b1054d2e42b8" /><Relationship Type="http://schemas.openxmlformats.org/officeDocument/2006/relationships/hyperlink" Target="https://docs.nvidia.com/cuda/cuda-c-best-practices-guide/index.html" TargetMode="External" Id="R361218ea696e4b42" /><Relationship Type="http://schemas.openxmlformats.org/officeDocument/2006/relationships/hyperlink" Target="https://docs.nvidia.com/gpudirect-storage/overview-guide/index.html" TargetMode="External" Id="R6eab00cc9fbf4da1" /><Relationship Type="http://schemas.openxmlformats.org/officeDocument/2006/relationships/hyperlink" Target="https://docs.nvidia.com/gpudirect-storage/design-guide/index.html" TargetMode="External" Id="R7628f529dc40443e" /><Relationship Type="http://schemas.openxmlformats.org/officeDocument/2006/relationships/hyperlink" Target="https://docs.nvidia.com/megatron-core/developer-guide/latest/user-guide/parallelism-guide.html" TargetMode="External" Id="R655f4751b2564feb" /><Relationship Type="http://schemas.openxmlformats.org/officeDocument/2006/relationships/notesSlide" Target="/ppt/notesSlides/notesSlide36.xml" Id="R6ab088556aa9452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e574d5d80b4274" /><Relationship Type="http://schemas.openxmlformats.org/officeDocument/2006/relationships/hyperlink" Target="https://www.iea.org/reports/key-questions-on-energy-and-ai/executive-summary" TargetMode="External" Id="R8200c06c3fa9450f" /><Relationship Type="http://schemas.openxmlformats.org/officeDocument/2006/relationships/hyperlink" Target="https://www.nsf.gov/cise/updates/nairr-2-years-advancing-american-artificial-intelligence" TargetMode="External" Id="R4be3d4c5894e4e16" /><Relationship Type="http://schemas.openxmlformats.org/officeDocument/2006/relationships/hyperlink" Target="https://aclanthology.org/P19-1355/" TargetMode="External" Id="R391265b079564284" /><Relationship Type="http://schemas.openxmlformats.org/officeDocument/2006/relationships/hyperlink" Target="https://arxiv.org/abs/2304.03271v5" TargetMode="External" Id="R94ea5ae008fa4c46" /><Relationship Type="http://schemas.openxmlformats.org/officeDocument/2006/relationships/notesSlide" Target="/ppt/notesSlides/notesSlide37.xml" Id="R55d7a46ad6f742c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055930b8d4d71" /><Relationship Type="http://schemas.openxmlformats.org/officeDocument/2006/relationships/hyperlink" Target="https://arxiv.org/abs/1907.10597" TargetMode="External" Id="Rf1d3e97676884371" /><Relationship Type="http://schemas.openxmlformats.org/officeDocument/2006/relationships/hyperlink" Target="https://arxiv.org/abs/1906.08935v2" TargetMode="External" Id="Rf0652881e7f540e5" /><Relationship Type="http://schemas.openxmlformats.org/officeDocument/2006/relationships/hyperlink" Target="https://aclanthology.org/2024.cl-3.8/" TargetMode="External" Id="R2a6c94253ef14bda" /><Relationship Type="http://schemas.openxmlformats.org/officeDocument/2006/relationships/hyperlink" Target="https://arxiv.org/abs/2010.15581v1" TargetMode="External" Id="R4f0e599d52654112" /><Relationship Type="http://schemas.openxmlformats.org/officeDocument/2006/relationships/notesSlide" Target="/ppt/notesSlides/notesSlide38.xml" Id="R459f1241ca364b5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3028d1b0f241aa" /><Relationship Type="http://schemas.openxmlformats.org/officeDocument/2006/relationships/hyperlink" Target="https://arxiv.org/abs/2106.11750v1" TargetMode="External" Id="R626c9230713246f4" /><Relationship Type="http://schemas.openxmlformats.org/officeDocument/2006/relationships/hyperlink" Target="https://www.oecd.org/en/topics/ai-principles.html" TargetMode="External" Id="R0dd85027d11142a0" /><Relationship Type="http://schemas.openxmlformats.org/officeDocument/2006/relationships/hyperlink" Target="https://airc.nist.gov/airmf-resources/playbook/" TargetMode="External" Id="R0a0cc0937e83402b" /><Relationship Type="http://schemas.openxmlformats.org/officeDocument/2006/relationships/hyperlink" Target="https://docs.nvidia.com/cuda/archive/13.0.3/npp/image_geometry_transforms.html#rotate" TargetMode="External" Id="R81b6e138b1054fff" /><Relationship Type="http://schemas.openxmlformats.org/officeDocument/2006/relationships/notesSlide" Target="/ppt/notesSlides/notesSlide39.xml" Id="Ra488665d089e4be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28cb44feda4b90" /><Relationship Type="http://schemas.openxmlformats.org/officeDocument/2006/relationships/notesSlide" Target="/ppt/notesSlides/notesSlide40.xml" Id="R00e6563a3938487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94284c60fd49bd" /><Relationship Type="http://schemas.openxmlformats.org/officeDocument/2006/relationships/notesSlide" Target="/ppt/notesSlides/notesSlide41.xml" Id="R9e43e97d658d486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2bfa91453f46fa" /><Relationship Type="http://schemas.openxmlformats.org/officeDocument/2006/relationships/notesSlide" Target="/ppt/notesSlides/notesSlide42.xml" Id="Rcacbd6f555324b7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6eb756b4ea4e01" /><Relationship Type="http://schemas.openxmlformats.org/officeDocument/2006/relationships/notesSlide" Target="/ppt/notesSlides/notesSlide43.xml" Id="Raccb3c990664443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e9b2d37c204e9e" /><Relationship Type="http://schemas.openxmlformats.org/officeDocument/2006/relationships/notesSlide" Target="/ppt/notesSlides/notesSlide44.xml" Id="R8fd72ccc0acd408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51565858ad4be4" /><Relationship Type="http://schemas.openxmlformats.org/officeDocument/2006/relationships/notesSlide" Target="/ppt/notesSlides/notesSlide45.xml" Id="R15995551a02246e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285eef6e894ccc" /><Relationship Type="http://schemas.openxmlformats.org/officeDocument/2006/relationships/notesSlide" Target="/ppt/notesSlides/notesSlide46.xml" Id="R6b2d1e8857f3400c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9488d2ff2d4144" /><Relationship Type="http://schemas.openxmlformats.org/officeDocument/2006/relationships/notesSlide" Target="/ppt/notesSlides/notesSlide47.xml" Id="R744c11bf3cec422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b04d22b2c04166" /><Relationship Type="http://schemas.openxmlformats.org/officeDocument/2006/relationships/notesSlide" Target="/ppt/notesSlides/notesSlide48.xml" Id="Rec9ef9b571b64e7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52f14cc66f47e9" /><Relationship Type="http://schemas.openxmlformats.org/officeDocument/2006/relationships/notesSlide" Target="/ppt/notesSlides/notesSlide49.xml" Id="R7862956ff23b40b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25da1a349a41d2" /><Relationship Type="http://schemas.openxmlformats.org/officeDocument/2006/relationships/notesSlide" Target="/ppt/notesSlides/notesSlide50.xml" Id="R0cc67f7ff3cd4bd6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370dae07a1465f" /><Relationship Type="http://schemas.openxmlformats.org/officeDocument/2006/relationships/notesSlide" Target="/ppt/notesSlides/notesSlide51.xml" Id="R387bd77a0d9a471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5501008b384856" /><Relationship Type="http://schemas.openxmlformats.org/officeDocument/2006/relationships/notesSlide" Target="/ppt/notesSlides/notesSlide52.xml" Id="Rd533e985c3214562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efd188c8594c02" /><Relationship Type="http://schemas.openxmlformats.org/officeDocument/2006/relationships/notesSlide" Target="/ppt/notesSlides/notesSlide53.xml" Id="R975b951a618a411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ae71a5050642a4" /><Relationship Type="http://schemas.openxmlformats.org/officeDocument/2006/relationships/notesSlide" Target="/ppt/notesSlides/notesSlide54.xml" Id="Rad2ae6d6c3124b8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a7a1195655460d" /><Relationship Type="http://schemas.openxmlformats.org/officeDocument/2006/relationships/notesSlide" Target="/ppt/notesSlides/notesSlide55.xml" Id="R7807da4fad6045a1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e268e0f926425a" /><Relationship Type="http://schemas.openxmlformats.org/officeDocument/2006/relationships/notesSlide" Target="/ppt/notesSlides/notesSlide56.xml" Id="Rcb1656c5da8f48d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Electricity (TWh)</c:v>
          </c:tx>
          <c:spPr>
            <a:solidFill xmlns:a="http://schemas.openxmlformats.org/drawingml/2006/main">
              <a:srgbClr val="007B83"/>
            </a:solidFill>
          </c:spPr>
          <c:cat>
            <c:strRef>
              <c:f>'Chart Data'!$A$2:$A$3</c:f>
              <c:strCache>
                <c:ptCount val="2"/>
                <c:pt idx="0">
                  <c:v>2025 estimate</c:v>
                </c:pt>
                <c:pt idx="1">
                  <c:v>2030 projection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485</c:v>
                </c:pt>
                <c:pt idx="1">
                  <c:v>950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growth</c:v>
          </c:tx>
          <c:spPr>
            <a:solidFill xmlns:a="http://schemas.openxmlformats.org/drawingml/2006/main">
              <a:srgbClr val="B55E24"/>
            </a:solidFill>
          </c:spPr>
          <c:cat>
            <c:strRef>
              <c:f>'Chart Data'!$A$2:$A$3</c:f>
              <c:strCache>
                <c:ptCount val="2"/>
                <c:pt idx="0">
                  <c:v>All data centres</c:v>
                </c:pt>
                <c:pt idx="1">
                  <c:v>AI-focused subset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0.17</c:v>
                </c:pt>
                <c:pt idx="1">
                  <c:v>0.5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IT3143 • Applied 2 • Tasks 1 and 2">
            <a:extLst xmlns:a="http://schemas.openxmlformats.org/drawingml/2006/main">
              <a:ext uri="{FF2B5EF4-FFF2-40B4-BE49-F238E27FC236}">
                <a16:creationId xmlns:a16="http://schemas.microsoft.com/office/drawing/2014/main" id="{8426DECA-303D-4EEB-87FF-E7F49117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D7D5"/>
                </a:solidFill>
                <a:latin typeface="Arial"/>
                <a:ea typeface="Arial"/>
                <a:cs typeface="Arial"/>
              </a:rPr>
              <a:t>FIT3143 • Applied 2 • Tasks 1 and 2</a:t>
            </a:r>
          </a:p>
        </p:txBody>
      </p:sp>
      <p:sp>
        <p:nvSpPr>
          <p:cNvPr id="2" name="GPU image rotation&#10;and responsible HPC for AI">
            <a:extLst xmlns:a="http://schemas.openxmlformats.org/drawingml/2006/main">
              <a:ext uri="{FF2B5EF4-FFF2-40B4-BE49-F238E27FC236}">
                <a16:creationId xmlns:a16="http://schemas.microsoft.com/office/drawing/2014/main" id="{DFB33BF9-E1DC-49B2-96CB-8478606B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GPU image rotation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responsible HPC for AI</a:t>
            </a:r>
          </a:p>
        </p:txBody>
      </p:sp>
      <p:sp>
        <p:nvSpPr>
          <p:cNvPr id="3" name="CUDA design and performance • Evidence, trade-offs and ">
            <a:extLst xmlns:a="http://schemas.openxmlformats.org/drawingml/2006/main">
              <a:ext uri="{FF2B5EF4-FFF2-40B4-BE49-F238E27FC236}">
                <a16:creationId xmlns:a16="http://schemas.microsoft.com/office/drawing/2014/main" id="{D1C805DA-7545-4295-95A2-ECAFC241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CDCE4"/>
                </a:solidFill>
                <a:latin typeface="Arial"/>
                <a:ea typeface="Arial"/>
                <a:cs typeface="Arial"/>
              </a:rPr>
              <a:t>CUDA design and performance • Evidence, trade-offs and accountable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58F12-8272-42D4-93E1-F638515D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77082"/>
            </a:solidFill>
            <a:prstDash val="solid"/>
          </a:ln>
        </p:spPr>
      </p:sp>
      <p:sp>
        <p:nvSpPr>
          <p:cNvPr id="5" name="Savin Vindiv De Alwis  ·  35221631">
            <a:extLst xmlns:a="http://schemas.openxmlformats.org/drawingml/2006/main">
              <a:ext uri="{FF2B5EF4-FFF2-40B4-BE49-F238E27FC236}">
                <a16:creationId xmlns:a16="http://schemas.microsoft.com/office/drawing/2014/main" id="{7F7886C1-5DC6-4154-8679-F7924A6A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· 35221631</a:t>
            </a:r>
          </a:p>
        </p:txBody>
      </p:sp>
      <p:sp>
        <p:nvSpPr>
          <p:cNvPr id="6" name="sdea0018@student.monash.edu">
            <a:extLst xmlns:a="http://schemas.openxmlformats.org/drawingml/2006/main">
              <a:ext uri="{FF2B5EF4-FFF2-40B4-BE49-F238E27FC236}">
                <a16:creationId xmlns:a16="http://schemas.microsoft.com/office/drawing/2014/main" id="{DCD48CA2-6F2F-4BE8-A2AB-C4C82503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sdea0018@student.monash.edu</a:t>
            </a:r>
          </a:p>
        </p:txBody>
      </p:sp>
      <p:sp>
        <p:nvSpPr>
          <p:cNvPr id="7" name="Shamle Thilaksiri  ·  35512075">
            <a:extLst xmlns:a="http://schemas.openxmlformats.org/drawingml/2006/main">
              <a:ext uri="{FF2B5EF4-FFF2-40B4-BE49-F238E27FC236}">
                <a16:creationId xmlns:a16="http://schemas.microsoft.com/office/drawing/2014/main" id="{1DDC17B9-15A0-42AD-A668-88C3E910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Shamle Thilaksiri · 35512075</a:t>
            </a:r>
          </a:p>
        </p:txBody>
      </p:sp>
      <p:sp>
        <p:nvSpPr>
          <p:cNvPr id="8" name="wthi0003@student.monash.edu">
            <a:extLst xmlns:a="http://schemas.openxmlformats.org/drawingml/2006/main">
              <a:ext uri="{FF2B5EF4-FFF2-40B4-BE49-F238E27FC236}">
                <a16:creationId xmlns:a16="http://schemas.microsoft.com/office/drawing/2014/main" id="{BFD6C89B-E238-4C73-922A-77A2C485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wthi0003@student.monash.edu</a:t>
            </a:r>
          </a:p>
        </p:txBody>
      </p:sp>
      <p:sp>
        <p:nvSpPr>
          <p:cNvPr id="9" name="8 October 2026  •  Detailed evidence, references and AI">
            <a:extLst xmlns:a="http://schemas.openxmlformats.org/drawingml/2006/main">
              <a:ext uri="{FF2B5EF4-FFF2-40B4-BE49-F238E27FC236}">
                <a16:creationId xmlns:a16="http://schemas.microsoft.com/office/drawing/2014/main" id="{8F683AF5-BF75-4B32-A7E8-0CA9B34F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858500" cy="21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8 October 2026 • Detailed evidence, references and AI records follow in the appendix</a:t>
            </a:r>
          </a:p>
        </p:txBody>
      </p:sp>
    </p:spTree>
    <p:extLst>
      <p:ext uri="{BB962C8B-B14F-4D97-AF65-F5344CB8AC3E}">
        <p14:creationId xmlns:p14="http://schemas.microsoft.com/office/powerpoint/2010/main" val="13318430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E33E5-1103-466A-9B91-3A09406639E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583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1CDD4-4DA3-4988-8F7F-602CDF0F004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342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7BCBE-A2A0-4AA3-9245-1FAA6C65BBD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101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2324A-8ACF-49A4-BDD0-1069018BCFF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860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25" name="Task 1(a)">
            <a:extLst xmlns:a="http://schemas.openxmlformats.org/drawingml/2006/main">
              <a:ext uri="{FF2B5EF4-FFF2-40B4-BE49-F238E27FC236}">
                <a16:creationId xmlns:a16="http://schemas.microsoft.com/office/drawing/2014/main" id="{2DBBD6BF-337E-47B2-B94B-83184BC1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1(a)</a:t>
            </a:r>
          </a:p>
        </p:txBody>
      </p:sp>
      <p:sp>
        <p:nvSpPr>
          <p:cNvPr id="2" name="Host–GPU image data flow">
            <a:extLst xmlns:a="http://schemas.openxmlformats.org/drawingml/2006/main">
              <a:ext uri="{FF2B5EF4-FFF2-40B4-BE49-F238E27FC236}">
                <a16:creationId xmlns:a16="http://schemas.microsoft.com/office/drawing/2014/main" id="{214E4F61-668E-4EF6-93BB-C6E49120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Host–GPU image data flow</a:t>
            </a:r>
          </a:p>
        </p:txBody>
      </p:sp>
      <p:sp>
        <p:nvSpPr>
          <p:cNvPr id="3" name="CPU: load/decode, allocate, launch, save">
            <a:extLst xmlns:a="http://schemas.openxmlformats.org/drawingml/2006/main">
              <a:ext uri="{FF2B5EF4-FFF2-40B4-BE49-F238E27FC236}">
                <a16:creationId xmlns:a16="http://schemas.microsoft.com/office/drawing/2014/main" id="{70A5C0D8-D445-49CC-934F-6C84C6D5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CPU: load/decode, allocate, launch, save</a:t>
            </a:r>
          </a:p>
        </p:txBody>
      </p:sp>
      <p:sp>
        <p:nvSpPr>
          <p:cNvPr id="4" name="GPU: read input, rotate, write output">
            <a:extLst xmlns:a="http://schemas.openxmlformats.org/drawingml/2006/main">
              <a:ext uri="{FF2B5EF4-FFF2-40B4-BE49-F238E27FC236}">
                <a16:creationId xmlns:a16="http://schemas.microsoft.com/office/drawing/2014/main" id="{01F060A5-C0A7-4288-BDBC-240852CC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GPU: read input, rotate, write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B4DC1-C9F5-45C4-B652-DE82C2B4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encoded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36061-6950-4B34-8805-7965250C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RAM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DDR example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 pixels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E0FC6-943E-4AB2-BF0D-EAD11D54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GDDR / HBM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 buffer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011E0-FC1C-4A8F-A710-17B0704B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GDDR / HBM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71FD8-87B1-4CED-BAE0-B59DCDAF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RAM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pixels</a:t>
            </a:r>
          </a:p>
        </p:txBody>
      </p:sp>
      <p:sp>
        <p:nvSpPr>
          <p:cNvPr id="14" name="CPU&#10;decode">
            <a:extLst xmlns:a="http://schemas.openxmlformats.org/drawingml/2006/main">
              <a:ext uri="{FF2B5EF4-FFF2-40B4-BE49-F238E27FC236}">
                <a16:creationId xmlns:a16="http://schemas.microsoft.com/office/drawing/2014/main" id="{E0ECEEA9-06B9-4A5C-8046-5BF72133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28800"/>
            <a:ext cx="600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CPU</a:t>
            </a:r>
          </a:p>
          <a:p xmlns:a="http://schemas.openxmlformats.org/drawingml/2006/main">
            <a: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decode</a:t>
            </a:r>
          </a:p>
        </p:txBody>
      </p:sp>
      <p:sp>
        <p:nvSpPr>
          <p:cNvPr id="15" name="H2D&#10;PCIe">
            <a:extLst xmlns:a="http://schemas.openxmlformats.org/drawingml/2006/main">
              <a:ext uri="{FF2B5EF4-FFF2-40B4-BE49-F238E27FC236}">
                <a16:creationId xmlns:a16="http://schemas.microsoft.com/office/drawing/2014/main" id="{7BD4172C-EFD7-4244-AE3A-E44D0859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28800"/>
            <a:ext cx="600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H2D</a:t>
            </a:r>
          </a:p>
          <a:p xmlns:a="http://schemas.openxmlformats.org/drawingml/2006/main">
            <a: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PCIe</a:t>
            </a:r>
          </a:p>
        </p:txBody>
      </p:sp>
      <p:sp>
        <p:nvSpPr>
          <p:cNvPr id="16" name="CUDA&#10;kernel">
            <a:extLst xmlns:a="http://schemas.openxmlformats.org/drawingml/2006/main">
              <a:ext uri="{FF2B5EF4-FFF2-40B4-BE49-F238E27FC236}">
                <a16:creationId xmlns:a16="http://schemas.microsoft.com/office/drawing/2014/main" id="{5A460C01-9EE0-48F4-A24C-A3564EB0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28800"/>
            <a:ext cx="600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CUDA</a:t>
            </a:r>
          </a:p>
          <a:p xmlns:a="http://schemas.openxmlformats.org/drawingml/2006/main">
            <a: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7" name="D2H&#10;PCIe">
            <a:extLst xmlns:a="http://schemas.openxmlformats.org/drawingml/2006/main">
              <a:ext uri="{FF2B5EF4-FFF2-40B4-BE49-F238E27FC236}">
                <a16:creationId xmlns:a16="http://schemas.microsoft.com/office/drawing/2014/main" id="{81843F94-FC14-46BE-8742-E63EC9A1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28800"/>
            <a:ext cx="600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D2H</a:t>
            </a:r>
          </a:p>
          <a:p xmlns:a="http://schemas.openxmlformats.org/drawingml/2006/main">
            <a: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PCIe</a:t>
            </a:r>
          </a:p>
        </p:txBody>
      </p:sp>
      <p:sp>
        <p:nvSpPr>
          <p:cNvPr id="18" name="Separate host/device buffers; transfer engines perform ">
            <a:extLst xmlns:a="http://schemas.openxmlformats.org/drawingml/2006/main">
              <a:ext uri="{FF2B5EF4-FFF2-40B4-BE49-F238E27FC236}">
                <a16:creationId xmlns:a16="http://schemas.microsoft.com/office/drawing/2014/main" id="{5BBDBFBF-F606-46F7-AC42-EEDFD7EF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host/device buffers; transfer engines perform DMA. PCIe link bandwidth differs from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bandwidth inside GPU memory.</a:t>
            </a:r>
          </a:p>
        </p:txBody>
      </p:sp>
      <p:sp>
        <p:nvSpPr>
          <p:cNvPr id="19" name="Pinned RAM supports efficient transfers; pageable RAM m">
            <a:extLst xmlns:a="http://schemas.openxmlformats.org/drawingml/2006/main">
              <a:ext uri="{FF2B5EF4-FFF2-40B4-BE49-F238E27FC236}">
                <a16:creationId xmlns:a16="http://schemas.microsoft.com/office/drawing/2014/main" id="{97AB3850-0DFA-4852-BFC4-53348DC3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RAM supports efficient transfers; pageable RAM may need staging. Wait for completed output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host saving or buffer reuse.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A56838-B9C2-4579-AEF1-42654A5B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21" name="The CPU orchestrates I/O and launches; the GPU rotates ">
            <a:extLst xmlns:a="http://schemas.openxmlformats.org/drawingml/2006/main">
              <a:ext uri="{FF2B5EF4-FFF2-40B4-BE49-F238E27FC236}">
                <a16:creationId xmlns:a16="http://schemas.microsoft.com/office/drawing/2014/main" id="{EAF010C4-6D49-4472-8BAB-8BBE5196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CPU orchestrates I/O and launches; the GPU rotates decoded pixels.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DD9350-B1B5-4622-B1A8-734DE56A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3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DD6CD070-D9D5-4431-B888-D64A2EA1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[5] NVIDIA CUDA Best Practices</a:t>
            </a:r>
          </a:p>
        </p:txBody>
      </p:sp>
      <p:sp>
        <p:nvSpPr>
          <p:cNvPr id="24" name="2 / 56">
            <a:extLst xmlns:a="http://schemas.openxmlformats.org/drawingml/2006/main">
              <a:ext uri="{FF2B5EF4-FFF2-40B4-BE49-F238E27FC236}">
                <a16:creationId xmlns:a16="http://schemas.microsoft.com/office/drawing/2014/main" id="{7802FCB6-C0DF-421E-9242-6D66273F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 / 56</a:t>
            </a:r>
          </a:p>
        </p:txBody>
      </p:sp>
    </p:spTree>
    <p:extLst>
      <p:ext uri="{BB962C8B-B14F-4D97-AF65-F5344CB8AC3E}">
        <p14:creationId xmlns:p14="http://schemas.microsoft.com/office/powerpoint/2010/main" val="7366569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EDEBC-8D29-4983-827F-646D860E4491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25063" y="276225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18" name="Task 1(b)">
            <a:extLst xmlns:a="http://schemas.openxmlformats.org/drawingml/2006/main">
              <a:ext uri="{FF2B5EF4-FFF2-40B4-BE49-F238E27FC236}">
                <a16:creationId xmlns:a16="http://schemas.microsoft.com/office/drawing/2014/main" id="{31AA644D-D58C-47ED-858C-70893027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Rotation as independent output work">
            <a:extLst xmlns:a="http://schemas.openxmlformats.org/drawingml/2006/main">
              <a:ext uri="{FF2B5EF4-FFF2-40B4-BE49-F238E27FC236}">
                <a16:creationId xmlns:a16="http://schemas.microsoft.com/office/drawing/2014/main" id="{A4A3D1E7-2FF3-4F48-AF0C-62895BD3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 independent output work</a:t>
            </a:r>
          </a:p>
        </p:txBody>
      </p:sp>
      <p:sp>
        <p:nvSpPr>
          <p:cNvPr id="3" name="Inverse mapping in y-down image coordinates">
            <a:extLst xmlns:a="http://schemas.openxmlformats.org/drawingml/2006/main">
              <a:ext uri="{FF2B5EF4-FFF2-40B4-BE49-F238E27FC236}">
                <a16:creationId xmlns:a16="http://schemas.microsoft.com/office/drawing/2014/main" id="{F11305F3-534E-4A67-A5DA-1FCEEC44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65722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Inverse mapping in y-down image coordinates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63EB5-EF09-494C-98FE-7184DD65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680085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sx = c*(x-cx) - s*(y-cy) + cx;&#10;sy = s*(x-cx) + c*(y-cy)">
            <a:extLst xmlns:a="http://schemas.openxmlformats.org/drawingml/2006/main">
              <a:ext uri="{FF2B5EF4-FFF2-40B4-BE49-F238E27FC236}">
                <a16:creationId xmlns:a16="http://schemas.microsoft.com/office/drawing/2014/main" id="{89D7439F-53EA-41FD-80C6-D6BCD9E0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572250" cy="114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sx = c*(x-cx) - s*(y-cy) + cx;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sy = s*(x-cx) + c*(y-cy) + cy;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ix = floor(sx + 0.5);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iy = floor(sy + 0.5);</a:t>
            </a:r>
          </a:p>
        </p:txBody>
      </p:sp>
      <p:sp>
        <p:nvSpPr>
          <p:cNvPr id="6" name="c = cos θ; s = sin θ; center = ((W−1)/2, (H−1)/2)">
            <a:extLst xmlns:a="http://schemas.openxmlformats.org/drawingml/2006/main">
              <a:ext uri="{FF2B5EF4-FFF2-40B4-BE49-F238E27FC236}">
                <a16:creationId xmlns:a16="http://schemas.microsoft.com/office/drawing/2014/main" id="{2B0C8BF8-55A7-4E7B-B460-3AD1AE7B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69913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 = cos θ; s = sin θ; center = ((W−1)/2, (H−1)/2)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3F11E-08DE-4AF4-B65F-2C6602C6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76425"/>
            <a:ext cx="2333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pixel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(x,y)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4E6FF-12BB-405E-8E2C-52A3439D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00425"/>
            <a:ext cx="2333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 input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(ix,iy)</a:t>
            </a:r>
          </a:p>
        </p:txBody>
      </p:sp>
      <p:sp>
        <p:nvSpPr>
          <p:cNvPr id="10" name="gather">
            <a:extLst xmlns:a="http://schemas.openxmlformats.org/drawingml/2006/main">
              <a:ext uri="{FF2B5EF4-FFF2-40B4-BE49-F238E27FC236}">
                <a16:creationId xmlns:a16="http://schemas.microsoft.com/office/drawing/2014/main" id="{56AA0953-30A5-4814-BAD5-A298F84C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24175"/>
            <a:ext cx="161925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gather</a:t>
            </a:r>
          </a:p>
        </p:txBody>
      </p:sp>
      <p:sp>
        <p:nvSpPr>
          <p:cNvPr id="11" name="Positive θ rotates visually counterclockwise. Use a fix">
            <a:extLst xmlns:a="http://schemas.openxmlformats.org/drawingml/2006/main">
              <a:ext uri="{FF2B5EF4-FFF2-40B4-BE49-F238E27FC236}">
                <a16:creationId xmlns:a16="http://schemas.microsoft.com/office/drawing/2014/main" id="{95F078D7-97B0-4AF0-9D10-82FED048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7152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Positive θ rotates visually counterclockwise. Use a fixed canvas; rounded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source indices outside the image produce black.</a:t>
            </a:r>
          </a:p>
        </p:txBody>
      </p:sp>
      <p:sp>
        <p:nvSpPr>
          <p:cNvPr id="12" name="Brightness touches the same pixel in/out; rotation gath">
            <a:extLst xmlns:a="http://schemas.openxmlformats.org/drawingml/2006/main">
              <a:ext uri="{FF2B5EF4-FFF2-40B4-BE49-F238E27FC236}">
                <a16:creationId xmlns:a16="http://schemas.microsoft.com/office/drawing/2014/main" id="{29C048D7-B5D7-4417-ABFE-5C0D8BC6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8428"/>
            <a:ext cx="77152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Brightness touches the same pixel in/out; rotation gathers a different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source. Nearest-neighbour sampling is simple but can alias.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2F512-5901-4248-9EDD-396F5CF1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4" name="One thread owns one output pixel: gather a source value">
            <a:extLst xmlns:a="http://schemas.openxmlformats.org/drawingml/2006/main">
              <a:ext uri="{FF2B5EF4-FFF2-40B4-BE49-F238E27FC236}">
                <a16:creationId xmlns:a16="http://schemas.microsoft.com/office/drawing/2014/main" id="{8D39CEDD-9BB9-4D05-B761-072EB2D2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One thread owns one output pixel: gather a source value, then write once.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3FFF7-23F0-4209-B689-4C39D183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6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0B243863-F6B2-4D4C-9D22-FE7C90FC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17" name="3 / 56">
            <a:extLst xmlns:a="http://schemas.openxmlformats.org/drawingml/2006/main">
              <a:ext uri="{FF2B5EF4-FFF2-40B4-BE49-F238E27FC236}">
                <a16:creationId xmlns:a16="http://schemas.microsoft.com/office/drawing/2014/main" id="{F4A1F243-BBFC-48C4-AF8E-DE44147C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 / 56</a:t>
            </a:r>
          </a:p>
        </p:txBody>
      </p:sp>
    </p:spTree>
    <p:extLst>
      <p:ext uri="{BB962C8B-B14F-4D97-AF65-F5344CB8AC3E}">
        <p14:creationId xmlns:p14="http://schemas.microsoft.com/office/powerpoint/2010/main" val="599327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ask 1(b)">
            <a:extLst xmlns:a="http://schemas.openxmlformats.org/drawingml/2006/main">
              <a:ext uri="{FF2B5EF4-FFF2-40B4-BE49-F238E27FC236}">
                <a16:creationId xmlns:a16="http://schemas.microsoft.com/office/drawing/2014/main" id="{813F6189-FDE1-4A83-8A23-EB6265C4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CUDA launch and execution hierarchy">
            <a:extLst xmlns:a="http://schemas.openxmlformats.org/drawingml/2006/main">
              <a:ext uri="{FF2B5EF4-FFF2-40B4-BE49-F238E27FC236}">
                <a16:creationId xmlns:a16="http://schemas.microsoft.com/office/drawing/2014/main" id="{B7AC4DBB-9D29-4030-9493-6EB0DC27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launch and execution hierarchy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443D9-6890-45CE-B291-9FD6CFA7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9436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dim3 block(16,16);&#10;dim3 grid(64,64);&#10;rotate_rgb&lt;&lt;&lt;grid,">
            <a:extLst xmlns:a="http://schemas.openxmlformats.org/drawingml/2006/main">
              <a:ext uri="{FF2B5EF4-FFF2-40B4-BE49-F238E27FC236}">
                <a16:creationId xmlns:a16="http://schemas.microsoft.com/office/drawing/2014/main" id="{E3048B74-D608-4819-AC48-F50333BA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00" cy="1101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block(16,16);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grid(64,64);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rotate_rgb&lt;&lt;&lt;grid,block&gt;&gt;&gt;(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d_in,d_out,1024,1024,c,s);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BF325-750A-4453-AAE6-F1FCB02E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943600" cy="948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6" name="x = blockIdx.x*blockDim.x + threadIdx.x;&#10;y = blockIdx.y">
            <a:extLst xmlns:a="http://schemas.openxmlformats.org/drawingml/2006/main">
              <a:ext uri="{FF2B5EF4-FFF2-40B4-BE49-F238E27FC236}">
                <a16:creationId xmlns:a16="http://schemas.microsoft.com/office/drawing/2014/main" id="{78F7AE5F-D183-46F2-B107-B9073D5E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5715000" cy="815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x = blockIdx.x*blockDim.x + threadIdx.x;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y = blockIdx.y*blockDim.y + threadIdx.y;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if (x &gt;= W || y &gt;= H) return;</a:t>
            </a:r>
          </a:p>
        </p:txBody>
      </p:sp>
      <p:sp>
        <p:nvSpPr>
          <p:cNvPr id="7" name="1024 × 1024 output">
            <a:extLst xmlns:a="http://schemas.openxmlformats.org/drawingml/2006/main">
              <a:ext uri="{FF2B5EF4-FFF2-40B4-BE49-F238E27FC236}">
                <a16:creationId xmlns:a16="http://schemas.microsoft.com/office/drawing/2014/main" id="{5CC35FE1-4AF0-4FD0-B492-B528C1D7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62100"/>
            <a:ext cx="43434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1024 × 1024 output</a:t>
            </a:r>
          </a:p>
        </p:txBody>
      </p:sp>
      <p:sp>
        <p:nvSpPr>
          <p:cNvPr id="8" name="64 × 64 = 4,096 blocks">
            <a:extLst xmlns:a="http://schemas.openxmlformats.org/drawingml/2006/main">
              <a:ext uri="{FF2B5EF4-FFF2-40B4-BE49-F238E27FC236}">
                <a16:creationId xmlns:a16="http://schemas.microsoft.com/office/drawing/2014/main" id="{AA6C113C-1F14-4B0C-AE8D-A5324B5B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8597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64 × 64 = 4,096 blocks</a:t>
            </a:r>
          </a:p>
        </p:txBody>
      </p:sp>
      <p:sp>
        <p:nvSpPr>
          <p:cNvPr id="9" name="16 × 16 = 256 threads/block">
            <a:extLst xmlns:a="http://schemas.openxmlformats.org/drawingml/2006/main">
              <a:ext uri="{FF2B5EF4-FFF2-40B4-BE49-F238E27FC236}">
                <a16:creationId xmlns:a16="http://schemas.microsoft.com/office/drawing/2014/main" id="{76368070-48E6-4253-81BD-C7EB0778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16 × 16 = 256 threads/block</a:t>
            </a:r>
          </a:p>
        </p:txBody>
      </p:sp>
      <p:sp>
        <p:nvSpPr>
          <p:cNvPr id="10" name="1,048,576 logical threads">
            <a:extLst xmlns:a="http://schemas.openxmlformats.org/drawingml/2006/main">
              <a:ext uri="{FF2B5EF4-FFF2-40B4-BE49-F238E27FC236}">
                <a16:creationId xmlns:a16="http://schemas.microsoft.com/office/drawing/2014/main" id="{F968D99E-E90C-4193-BC6E-1D50E366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5752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1,048,576 logical threads</a:t>
            </a:r>
          </a:p>
        </p:txBody>
      </p:sp>
      <p:sp>
        <p:nvSpPr>
          <p:cNvPr id="11" name="32 threads/warp → 8 warps/block">
            <a:extLst xmlns:a="http://schemas.openxmlformats.org/drawingml/2006/main">
              <a:ext uri="{FF2B5EF4-FFF2-40B4-BE49-F238E27FC236}">
                <a16:creationId xmlns:a16="http://schemas.microsoft.com/office/drawing/2014/main" id="{AF5E2CED-C4E6-4E38-9204-BB714FB9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32 threads/warp → 8 warps/block</a:t>
            </a:r>
          </a:p>
        </p:txBody>
      </p:sp>
      <p:sp>
        <p:nvSpPr>
          <p:cNvPr id="12" name="One highlighted warp within a 16-wide block">
            <a:extLst xmlns:a="http://schemas.openxmlformats.org/drawingml/2006/main">
              <a:ext uri="{FF2B5EF4-FFF2-40B4-BE49-F238E27FC236}">
                <a16:creationId xmlns:a16="http://schemas.microsoft.com/office/drawing/2014/main" id="{A881CC5C-CB05-45FD-B93A-BC67A946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29075"/>
            <a:ext cx="4343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One highlighted warp within a 16-wide block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D32B1-82BA-42CE-8D2E-3D42DA3F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2B5FF-AD10-445B-A6E5-B2561722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508BB-6D99-4E14-B4FD-AF15367F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45F628-E50B-43D4-911E-98E1A658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513CA-865E-4A73-B0D8-14AA52BA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8C6DE4-F8ED-48EC-A900-395203A6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7127C1-B5F3-410F-8E94-6DAECAFF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F15F08-0008-46BC-80C5-F4BE98E9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2E9112-9AEE-4CC4-A941-899F4560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D807D9-45DC-4E39-BDC3-00A4FB65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46E446-1C54-4AD6-A34A-4AAE52E9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5B73C8-CBBA-4F39-A4EF-FC35D9FE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6BB14A-C458-452D-9F22-DCECB210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09E6FE-41D2-4664-9FE9-239213EE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EAD22D-BB50-4FEC-BD78-6409E4EA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ADB3EA-D318-45EC-8F5E-200D4470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944AF6-550E-4BD4-B550-C0607F03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2E6198-ADCD-45F4-8401-BE56E8D5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4C86B3-2D2E-4F42-ABB1-198B11CA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FBD2C3-BE06-47CC-A960-FAD0FD82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CA7AC4-6C2D-47D1-B409-30379F3E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AF546B-3438-4256-A394-9B72AEB6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A72221-5EC3-4362-A1B9-C6586233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541FB6-B69D-4BBA-ABD7-1941972E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6AC405-579E-4D92-A0B2-025A6674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980473-118D-4504-8608-51B973E3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5E399F-2597-4D1A-B1EA-9B96BEC3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1573E2-0044-4068-AA71-FE861986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B900A3-FA56-466F-A59D-F8B0C119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AD5FB4-D106-487C-827D-1EB135E2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C11071-3DA0-4700-97B4-B600BBBC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B8FEC3-4C3D-482B-B43C-5B5838D2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5" name="Non-multiple dimensions: ceil-divide the grid and keep ">
            <a:extLst xmlns:a="http://schemas.openxmlformats.org/drawingml/2006/main">
              <a:ext uri="{FF2B5EF4-FFF2-40B4-BE49-F238E27FC236}">
                <a16:creationId xmlns:a16="http://schemas.microsoft.com/office/drawing/2014/main" id="{818BC74A-8373-42B3-BB28-4721063E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Non-multiple dimensions: ceil-divide the grid and keep the bounds guard.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6F9D30-25AB-4314-81EB-761BCD9E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47" name="A grid specifies logical work; finite SMs schedule its ">
            <a:extLst xmlns:a="http://schemas.openxmlformats.org/drawingml/2006/main">
              <a:ext uri="{FF2B5EF4-FFF2-40B4-BE49-F238E27FC236}">
                <a16:creationId xmlns:a16="http://schemas.microsoft.com/office/drawing/2014/main" id="{2884154C-839C-4807-839E-87191E50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grid specifies logical work; finite SMs schedule its blocks and warps.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D646A1-DCDA-49F8-85A0-6787FA7E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49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BA9C34DE-0902-49A0-9BF7-B82181AD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50" name="4 / 56">
            <a:extLst xmlns:a="http://schemas.openxmlformats.org/drawingml/2006/main">
              <a:ext uri="{FF2B5EF4-FFF2-40B4-BE49-F238E27FC236}">
                <a16:creationId xmlns:a16="http://schemas.microsoft.com/office/drawing/2014/main" id="{160BDB0B-04C9-4D60-80F2-CC5924D3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 / 56</a:t>
            </a:r>
          </a:p>
        </p:txBody>
      </p:sp>
    </p:spTree>
    <p:extLst>
      <p:ext uri="{BB962C8B-B14F-4D97-AF65-F5344CB8AC3E}">
        <p14:creationId xmlns:p14="http://schemas.microsoft.com/office/powerpoint/2010/main" val="62864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72B18-EBAA-439B-9E49-006A7D195A24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9644063" y="2305050"/>
            <a:ext cx="4763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17" name="Task 1(b)">
            <a:extLst xmlns:a="http://schemas.openxmlformats.org/drawingml/2006/main">
              <a:ext uri="{FF2B5EF4-FFF2-40B4-BE49-F238E27FC236}">
                <a16:creationId xmlns:a16="http://schemas.microsoft.com/office/drawing/2014/main" id="{BEE668D0-E335-4B8C-A1AA-B47E6C2C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CUDA features that affect throughput">
            <a:extLst xmlns:a="http://schemas.openxmlformats.org/drawingml/2006/main">
              <a:ext uri="{FF2B5EF4-FFF2-40B4-BE49-F238E27FC236}">
                <a16:creationId xmlns:a16="http://schemas.microsoft.com/office/drawing/2014/main" id="{B2643156-5AFE-4DD2-B3B4-4329B192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features that affect throughput</a:t>
            </a:r>
          </a:p>
        </p:txBody>
      </p:sp>
      <p:sp>
        <p:nvSpPr>
          <p:cNvPr id="3" name="Example: independent brightness channels">
            <a:extLst xmlns:a="http://schemas.openxmlformats.org/drawingml/2006/main">
              <a:ext uri="{FF2B5EF4-FFF2-40B4-BE49-F238E27FC236}">
                <a16:creationId xmlns:a16="http://schemas.microsoft.com/office/drawing/2014/main" id="{FC99C5A0-BC10-4EDA-B0F9-0564174E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238875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Example: independent brightness channels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7FE49-58EE-4C29-8699-62BD8D3E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64198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int p = 3*(y*W + x);&#10;for (int ch=0; ch&lt;3; ++ch) {&#10;  int">
            <a:extLst xmlns:a="http://schemas.openxmlformats.org/drawingml/2006/main">
              <a:ext uri="{FF2B5EF4-FFF2-40B4-BE49-F238E27FC236}">
                <a16:creationId xmlns:a16="http://schemas.microsoft.com/office/drawing/2014/main" id="{B3CF9B3A-22C8-4F05-B664-2B91329C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619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int p = 3*(y*W + x);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for (int ch=0; ch&lt;3; ++ch) {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int v = int(in[p+ch]) + delta;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out[p+ch] = v&lt;0 ? 0 : (v&gt;255 ? 255 : v);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Excerpt after coordinate/bounds checks; wider offsets u">
            <a:extLst xmlns:a="http://schemas.openxmlformats.org/drawingml/2006/main">
              <a:ext uri="{FF2B5EF4-FFF2-40B4-BE49-F238E27FC236}">
                <a16:creationId xmlns:a16="http://schemas.microsoft.com/office/drawing/2014/main" id="{8983BBDC-CA05-4080-8962-4FE3C792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6324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Excerpt after coordinate/bounds checks; wider offsets used in full code.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18C14-0B1A-4437-A610-F697DE34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38300"/>
            <a:ext cx="2914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Pending blocks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9EB84-7E6F-4CDA-8F25-9C6E6DF8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0375"/>
            <a:ext cx="3667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Streaming multiprocessor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warps → execution units</a:t>
            </a:r>
          </a:p>
        </p:txBody>
      </p:sp>
      <p:sp>
        <p:nvSpPr>
          <p:cNvPr id="10" name="SIMT: a warp issues common instructions. Divergent path">
            <a:extLst xmlns:a="http://schemas.openxmlformats.org/drawingml/2006/main">
              <a:ext uri="{FF2B5EF4-FFF2-40B4-BE49-F238E27FC236}">
                <a16:creationId xmlns:a16="http://schemas.microsoft.com/office/drawing/2014/main" id="{412125C4-5596-4E6D-8452-B420408B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52925"/>
            <a:ext cx="3867150" cy="888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SIMT: a warp issues common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instructions. Divergent paths can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efficiency.</a:t>
            </a:r>
          </a:p>
        </p:txBody>
      </p:sp>
      <p:sp>
        <p:nvSpPr>
          <p:cNvPr id="11" name="Resident warps hide latency; registers limit residency.">
            <a:extLst xmlns:a="http://schemas.openxmlformats.org/drawingml/2006/main">
              <a:ext uri="{FF2B5EF4-FFF2-40B4-BE49-F238E27FC236}">
                <a16:creationId xmlns:a16="http://schemas.microsoft.com/office/drawing/2014/main" id="{E5475B8C-11E6-4379-9799-BD4A29B9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6515100" cy="888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warps hide latency; registers limit residency.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Coalescing groups nearby accesses into fewer transactions;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can disrupt read locality.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98FB1-F9E4-407C-B1F4-CC87424A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Concurrency helps only when memory access and resource ">
            <a:extLst xmlns:a="http://schemas.openxmlformats.org/drawingml/2006/main">
              <a:ext uri="{FF2B5EF4-FFF2-40B4-BE49-F238E27FC236}">
                <a16:creationId xmlns:a16="http://schemas.microsoft.com/office/drawing/2014/main" id="{0B2F665A-04F8-4541-A580-7605CE05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Concurrency helps only when memory access and resource use support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BD606-DDEB-49A4-8BE9-2DE7293E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3AE9926B-FDD5-4402-B3D5-6049CAC0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[5] NVIDIA CUDA Best Practices</a:t>
            </a:r>
          </a:p>
        </p:txBody>
      </p:sp>
      <p:sp>
        <p:nvSpPr>
          <p:cNvPr id="16" name="5 / 56">
            <a:extLst xmlns:a="http://schemas.openxmlformats.org/drawingml/2006/main">
              <a:ext uri="{FF2B5EF4-FFF2-40B4-BE49-F238E27FC236}">
                <a16:creationId xmlns:a16="http://schemas.microsoft.com/office/drawing/2014/main" id="{EC340926-F622-4939-A2CE-170BA7B6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 / 56</a:t>
            </a:r>
          </a:p>
        </p:txBody>
      </p:sp>
    </p:spTree>
    <p:extLst>
      <p:ext uri="{BB962C8B-B14F-4D97-AF65-F5344CB8AC3E}">
        <p14:creationId xmlns:p14="http://schemas.microsoft.com/office/powerpoint/2010/main" val="7680765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ask 1(b)">
            <a:extLst xmlns:a="http://schemas.openxmlformats.org/drawingml/2006/main">
              <a:ext uri="{FF2B5EF4-FFF2-40B4-BE49-F238E27FC236}">
                <a16:creationId xmlns:a16="http://schemas.microsoft.com/office/drawing/2014/main" id="{DF608EF3-E968-458E-8D17-6BAB8E0D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Expected speedup and its limits">
            <a:extLst xmlns:a="http://schemas.openxmlformats.org/drawingml/2006/main">
              <a:ext uri="{FF2B5EF4-FFF2-40B4-BE49-F238E27FC236}">
                <a16:creationId xmlns:a16="http://schemas.microsoft.com/office/drawing/2014/main" id="{BEFC2CF7-C192-442F-B545-D6CD0C6F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Expected speedup and its limits</a:t>
            </a:r>
          </a:p>
        </p:txBody>
      </p:sp>
      <p:sp>
        <p:nvSpPr>
          <p:cNvPr id="3" name="Baseline: single CPU thread, same rotation and sampling">
            <a:extLst xmlns:a="http://schemas.openxmlformats.org/drawingml/2006/main">
              <a:ext uri="{FF2B5EF4-FFF2-40B4-BE49-F238E27FC236}">
                <a16:creationId xmlns:a16="http://schemas.microsoft.com/office/drawing/2014/main" id="{218F16F7-4C5D-410A-BC74-6369CF4E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Baseline: single CPU thread, same rotation and sampling</a:t>
            </a:r>
          </a:p>
        </p:txBody>
      </p:sp>
      <p:sp>
        <p:nvSpPr>
          <p:cNvPr id="4" name="Also compare a multithreaded CPU; identical output and ">
            <a:extLst xmlns:a="http://schemas.openxmlformats.org/drawingml/2006/main">
              <a:ext uri="{FF2B5EF4-FFF2-40B4-BE49-F238E27FC236}">
                <a16:creationId xmlns:a16="http://schemas.microsoft.com/office/drawing/2014/main" id="{5C8AA766-9D6E-4DC6-BFD1-4521C80C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Also compare a multithreaded CPU; identical output and timing boundaries.</a:t>
            </a:r>
          </a:p>
        </p:txBody>
      </p:sp>
      <p:sp>
        <p:nvSpPr>
          <p:cNvPr id="5" name="Speedup = TCPU / TGPU,total">
            <a:extLst xmlns:a="http://schemas.openxmlformats.org/drawingml/2006/main">
              <a:ext uri="{FF2B5EF4-FFF2-40B4-BE49-F238E27FC236}">
                <a16:creationId xmlns:a16="http://schemas.microsoft.com/office/drawing/2014/main" id="{3539BC9C-A2CB-4E41-A2EA-EDAAF981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4396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= TCPU / TGPU,total</a:t>
            </a:r>
          </a:p>
        </p:txBody>
      </p:sp>
      <p:sp>
        <p:nvSpPr>
          <p:cNvPr id="6" name="TGPU,total = allocation/setup + H2D + kernel + D2H">
            <a:extLst xmlns:a="http://schemas.openxmlformats.org/drawingml/2006/main">
              <a:ext uri="{FF2B5EF4-FFF2-40B4-BE49-F238E27FC236}">
                <a16:creationId xmlns:a16="http://schemas.microsoft.com/office/drawing/2014/main" id="{B75F9B7C-F6D6-4A6E-959A-EF86CF31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TGPU,total = allocation/setup + H2D + kernel + D2H</a:t>
            </a:r>
          </a:p>
        </p:txBody>
      </p:sp>
      <p:sp>
        <p:nvSpPr>
          <p:cNvPr id="7" name="Many GPU execution units and high device bandwidth favo">
            <a:extLst xmlns:a="http://schemas.openxmlformats.org/drawingml/2006/main">
              <a:ext uri="{FF2B5EF4-FFF2-40B4-BE49-F238E27FC236}">
                <a16:creationId xmlns:a16="http://schemas.microsoft.com/office/drawing/2014/main" id="{0F93847A-304C-4FE6-BEEA-77A40917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21970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Many GPU execution units and high device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bandwidth favor parallel throughput. Large or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images amortize setup; gathered reads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limit bandwidth.</a:t>
            </a:r>
          </a:p>
        </p:txBody>
      </p:sp>
      <p:sp>
        <p:nvSpPr>
          <p:cNvPr id="8" name="Week 7: S = 1 / (s + (1−s)/a). s is the unchanged seria">
            <a:extLst xmlns:a="http://schemas.openxmlformats.org/drawingml/2006/main">
              <a:ext uri="{FF2B5EF4-FFF2-40B4-BE49-F238E27FC236}">
                <a16:creationId xmlns:a16="http://schemas.microsoft.com/office/drawing/2014/main" id="{2B652626-9561-4610-BF13-1649A417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516255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Week 7: S = 1 / (s + (1−s)/a). s is the unchanged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share; a accelerates the remainder. s = 0.20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gives a 5× ideal ceiling before added transfers.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Theoretical, not measured.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77C63-302E-40F9-9C76-894CB2EC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0" name="Expect gains for large or resident workloads; measure t">
            <a:extLst xmlns:a="http://schemas.openxmlformats.org/drawingml/2006/main">
              <a:ext uri="{FF2B5EF4-FFF2-40B4-BE49-F238E27FC236}">
                <a16:creationId xmlns:a16="http://schemas.microsoft.com/office/drawing/2014/main" id="{F840D4EF-1F58-4B5C-A7B5-CF53F98C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Expect gains for large or resident workloads; measure the whole pipeline.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909DA-8A8B-45E2-BB8F-C87596EA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A2905A66-904F-4FA5-BD43-80309F7F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</a:t>
            </a:r>
          </a:p>
        </p:txBody>
      </p:sp>
      <p:sp>
        <p:nvSpPr>
          <p:cNvPr id="13" name="6 / 56">
            <a:extLst xmlns:a="http://schemas.openxmlformats.org/drawingml/2006/main">
              <a:ext uri="{FF2B5EF4-FFF2-40B4-BE49-F238E27FC236}">
                <a16:creationId xmlns:a16="http://schemas.microsoft.com/office/drawing/2014/main" id="{24196F71-EE0D-4051-9639-98238C66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6 / 56</a:t>
            </a:r>
          </a:p>
        </p:txBody>
      </p:sp>
    </p:spTree>
    <p:extLst>
      <p:ext uri="{BB962C8B-B14F-4D97-AF65-F5344CB8AC3E}">
        <p14:creationId xmlns:p14="http://schemas.microsoft.com/office/powerpoint/2010/main" val="17033184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91BE0-6EAD-4539-9B5F-199EDF64B323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086100" y="4095750"/>
            <a:ext cx="6191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F805E-8C25-4EAA-9530-DA667552534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72350" y="23431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C3905-A1F8-4650-A36F-F128B904D7D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57475" y="234315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23" name="Task 1(c)">
            <a:extLst xmlns:a="http://schemas.openxmlformats.org/drawingml/2006/main">
              <a:ext uri="{FF2B5EF4-FFF2-40B4-BE49-F238E27FC236}">
                <a16:creationId xmlns:a16="http://schemas.microsoft.com/office/drawing/2014/main" id="{64F78B7D-9F91-4E67-B135-C2D7FDA9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1(c)</a:t>
            </a:r>
          </a:p>
        </p:txBody>
      </p:sp>
      <p:sp>
        <p:nvSpPr>
          <p:cNvPr id="2" name="GPUDirect Storage and rotation">
            <a:extLst xmlns:a="http://schemas.openxmlformats.org/drawingml/2006/main">
              <a:ext uri="{FF2B5EF4-FFF2-40B4-BE49-F238E27FC236}">
                <a16:creationId xmlns:a16="http://schemas.microsoft.com/office/drawing/2014/main" id="{ED8A019B-AFCA-4A74-A828-6CFDBE0A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GPUDirect Storage and rotation</a:t>
            </a:r>
          </a:p>
        </p:txBody>
      </p:sp>
      <p:sp>
        <p:nvSpPr>
          <p:cNvPr id="3" name="Conventional storage path">
            <a:extLst xmlns:a="http://schemas.openxmlformats.org/drawingml/2006/main">
              <a:ext uri="{FF2B5EF4-FFF2-40B4-BE49-F238E27FC236}">
                <a16:creationId xmlns:a16="http://schemas.microsoft.com/office/drawing/2014/main" id="{92ACF793-8E82-4749-AB95-18583675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Conventional storage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30464-155A-43F8-975B-CB532063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2047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99E44-6B27-4589-9673-30634C60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71675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staging 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17650-6D08-4E30-9943-0EE36B0B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71675"/>
            <a:ext cx="2305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9" name="storage read">
            <a:extLst xmlns:a="http://schemas.openxmlformats.org/drawingml/2006/main">
              <a:ext uri="{FF2B5EF4-FFF2-40B4-BE49-F238E27FC236}">
                <a16:creationId xmlns:a16="http://schemas.microsoft.com/office/drawing/2014/main" id="{D09CA3DD-244C-4018-86AD-47AFD7FB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15240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 read</a:t>
            </a:r>
          </a:p>
        </p:txBody>
      </p:sp>
      <p:sp>
        <p:nvSpPr>
          <p:cNvPr id="10" name="H2D / PCIe">
            <a:extLst xmlns:a="http://schemas.openxmlformats.org/drawingml/2006/main">
              <a:ext uri="{FF2B5EF4-FFF2-40B4-BE49-F238E27FC236}">
                <a16:creationId xmlns:a16="http://schemas.microsoft.com/office/drawing/2014/main" id="{DDDFB66B-627A-4ABF-8438-9E78DB89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71700"/>
            <a:ext cx="1628775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H2D / PCIe</a:t>
            </a:r>
          </a:p>
        </p:txBody>
      </p:sp>
      <p:sp>
        <p:nvSpPr>
          <p:cNvPr id="11" name="GDS direct path (supported configuration)">
            <a:extLst xmlns:a="http://schemas.openxmlformats.org/drawingml/2006/main">
              <a:ext uri="{FF2B5EF4-FFF2-40B4-BE49-F238E27FC236}">
                <a16:creationId xmlns:a16="http://schemas.microsoft.com/office/drawing/2014/main" id="{2B45F8D0-7B47-4E7F-A13F-CF0D7D9A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6200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GDS direct path (supported configuration)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D876A-504B-4446-89A5-013F9BF2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Storage-side DMA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NVMe / NIC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FAEF8-3646-4EEB-9EC2-B45C4379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38550"/>
            <a:ext cx="2305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15" name="PCIe data path bypasses host staging">
            <a:extLst xmlns:a="http://schemas.openxmlformats.org/drawingml/2006/main">
              <a:ext uri="{FF2B5EF4-FFF2-40B4-BE49-F238E27FC236}">
                <a16:creationId xmlns:a16="http://schemas.microsoft.com/office/drawing/2014/main" id="{53351981-39DE-43B5-978D-79BFDE2B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724275"/>
            <a:ext cx="49720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PCIe data path bypasses host staging</a:t>
            </a:r>
          </a:p>
        </p:txBody>
      </p:sp>
      <p:sp>
        <p:nvSpPr>
          <p:cNvPr id="16" name="CPU issues cuFile I/O; compatibility fallback may stage">
            <a:extLst xmlns:a="http://schemas.openxmlformats.org/drawingml/2006/main">
              <a:ext uri="{FF2B5EF4-FFF2-40B4-BE49-F238E27FC236}">
                <a16:creationId xmlns:a16="http://schemas.microsoft.com/office/drawing/2014/main" id="{68D3CDBA-6760-41D0-81E0-909C89A8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issues cuFile I/O; compatibility fallback may stage through RAM.</a:t>
            </a:r>
          </a:p>
        </p:txBody>
      </p:sp>
      <p:sp>
        <p:nvSpPr>
          <p:cNvPr id="17" name="CPU-decoded / already-in-RAM image: little benefit. Lar">
            <a:extLst xmlns:a="http://schemas.openxmlformats.org/drawingml/2006/main">
              <a:ext uri="{FF2B5EF4-FFF2-40B4-BE49-F238E27FC236}">
                <a16:creationId xmlns:a16="http://schemas.microsoft.com/office/drawing/2014/main" id="{0C9A6877-B259-423F-94BA-5DB754FD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9728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CPU-decoded / already-in-RAM image: little benefit. Large storage-bound batches with GPU-ready data: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possible benefit, verify direct path and total time.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F1564-3658-432F-9FA6-FEF201DB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9" name="GDS can reduce storage staging; it does not accelerate ">
            <a:extLst xmlns:a="http://schemas.openxmlformats.org/drawingml/2006/main">
              <a:ext uri="{FF2B5EF4-FFF2-40B4-BE49-F238E27FC236}">
                <a16:creationId xmlns:a16="http://schemas.microsoft.com/office/drawing/2014/main" id="{2198AC3F-9466-4BB2-95CB-08E5B680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can reduce storage staging; it does not accelerate rotation arithmetic.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29E189-B72D-4D72-9DD0-6B2F5F91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1" name="Sources: [6] NVIDIA GDS overview; [7] NVIDIA GDS design">
            <a:extLst xmlns:a="http://schemas.openxmlformats.org/drawingml/2006/main">
              <a:ext uri="{FF2B5EF4-FFF2-40B4-BE49-F238E27FC236}">
                <a16:creationId xmlns:a16="http://schemas.microsoft.com/office/drawing/2014/main" id="{FC69D901-039F-4104-9884-B6EC16F7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NVIDIA GDS overview; [7] NVIDIA GDS design</a:t>
            </a:r>
          </a:p>
        </p:txBody>
      </p:sp>
      <p:sp>
        <p:nvSpPr>
          <p:cNvPr id="22" name="7 / 56">
            <a:extLst xmlns:a="http://schemas.openxmlformats.org/drawingml/2006/main">
              <a:ext uri="{FF2B5EF4-FFF2-40B4-BE49-F238E27FC236}">
                <a16:creationId xmlns:a16="http://schemas.microsoft.com/office/drawing/2014/main" id="{920FC607-9F5B-4A9B-86F1-0476C6DB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7 / 56</a:t>
            </a:r>
          </a:p>
        </p:txBody>
      </p:sp>
    </p:spTree>
    <p:extLst>
      <p:ext uri="{BB962C8B-B14F-4D97-AF65-F5344CB8AC3E}">
        <p14:creationId xmlns:p14="http://schemas.microsoft.com/office/powerpoint/2010/main" val="1890929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025A0-DBC2-4E7F-9640-B07CEF95406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6096000" y="2857500"/>
            <a:ext cx="4000500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BA25C-D84A-424E-BFE6-5DC5F9E0534B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0960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340F5-D2F4-4203-B6CF-F20145095364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095500" y="2857500"/>
            <a:ext cx="4000500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18" name="Task 2 • HPC and AI">
            <a:extLst xmlns:a="http://schemas.openxmlformats.org/drawingml/2006/main">
              <a:ext uri="{FF2B5EF4-FFF2-40B4-BE49-F238E27FC236}">
                <a16:creationId xmlns:a16="http://schemas.microsoft.com/office/drawing/2014/main" id="{F45D6752-FFF2-4A7D-BD65-8EF1614A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 • HPC and AI</a:t>
            </a:r>
          </a:p>
        </p:txBody>
      </p:sp>
      <p:sp>
        <p:nvSpPr>
          <p:cNvPr id="2" name="Parallel training across a compute cluster">
            <a:extLst xmlns:a="http://schemas.openxmlformats.org/drawingml/2006/main">
              <a:ext uri="{FF2B5EF4-FFF2-40B4-BE49-F238E27FC236}">
                <a16:creationId xmlns:a16="http://schemas.microsoft.com/office/drawing/2014/main" id="{23F296F7-28FE-47BB-AB16-8E95BED0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 training across a compute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6FF78-8419-4734-BDB8-ACE05080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0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B3D9E-E12F-4331-BC58-433BCEC9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1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B4AC7-FF6C-46BF-BC67-C5AC2914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2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06E3F-595B-46EA-9698-9AB20CA8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Gradient all-reduce / averaging → consistent model update</a:t>
            </a:r>
          </a:p>
        </p:txBody>
      </p:sp>
      <p:sp>
        <p:nvSpPr>
          <p:cNvPr id="10" name="Interconnect: synchronization, latency and bandwidth co">
            <a:extLst xmlns:a="http://schemas.openxmlformats.org/drawingml/2006/main">
              <a:ext uri="{FF2B5EF4-FFF2-40B4-BE49-F238E27FC236}">
                <a16:creationId xmlns:a16="http://schemas.microsoft.com/office/drawing/2014/main" id="{29C9296A-1465-4656-9501-5A77A2D0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Interconnect: synchronization, latency and bandwidth costs</a:t>
            </a:r>
          </a:p>
        </p:txBody>
      </p:sp>
      <p:sp>
        <p:nvSpPr>
          <p:cNvPr id="11" name="HPC combines processors, memory, networks and storage. ">
            <a:extLst xmlns:a="http://schemas.openxmlformats.org/drawingml/2006/main">
              <a:ext uri="{FF2B5EF4-FFF2-40B4-BE49-F238E27FC236}">
                <a16:creationId xmlns:a16="http://schemas.microsoft.com/office/drawing/2014/main" id="{6FDD4504-2DB6-42AF-9AC4-235BAC1E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21970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HPC combines processors, memory, networks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storage. Tensor/pipeline parallelism can also split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model.</a:t>
            </a:r>
          </a:p>
        </p:txBody>
      </p:sp>
      <p:sp>
        <p:nvSpPr>
          <p:cNvPr id="12" name="More GPUs enable larger work; communication, serial wor">
            <a:extLst xmlns:a="http://schemas.openxmlformats.org/drawingml/2006/main">
              <a:ext uri="{FF2B5EF4-FFF2-40B4-BE49-F238E27FC236}">
                <a16:creationId xmlns:a16="http://schemas.microsoft.com/office/drawing/2014/main" id="{9EE9A8A0-AC04-40A0-AE6A-F6CBA54F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51625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GPUs enable larger work; communication,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work and imbalance limit speedup. Evaluate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useful output against resource cost.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783308-29AB-4B06-B0B9-8D932674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4" name="Scaling adds capacity and communication: ethical costs ">
            <a:extLst xmlns:a="http://schemas.openxmlformats.org/drawingml/2006/main">
              <a:ext uri="{FF2B5EF4-FFF2-40B4-BE49-F238E27FC236}">
                <a16:creationId xmlns:a16="http://schemas.microsoft.com/office/drawing/2014/main" id="{81104951-2C26-4C95-A377-A95DFB16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adds capacity and communication: ethical costs depend on useful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B5BA9-19E9-4B72-B7E4-6B85D48D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6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2D7EA95F-1D68-461A-A35B-97ECDFC6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17" name="8 / 56">
            <a:extLst xmlns:a="http://schemas.openxmlformats.org/drawingml/2006/main">
              <a:ext uri="{FF2B5EF4-FFF2-40B4-BE49-F238E27FC236}">
                <a16:creationId xmlns:a16="http://schemas.microsoft.com/office/drawing/2014/main" id="{EA83E9A0-BA4E-46A5-AB3F-5EA7FCF6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8 / 56</a:t>
            </a:r>
          </a:p>
        </p:txBody>
      </p:sp>
    </p:spTree>
    <p:extLst>
      <p:ext uri="{BB962C8B-B14F-4D97-AF65-F5344CB8AC3E}">
        <p14:creationId xmlns:p14="http://schemas.microsoft.com/office/powerpoint/2010/main" val="2005229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a)">
            <a:extLst xmlns:a="http://schemas.openxmlformats.org/drawingml/2006/main">
              <a:ext uri="{FF2B5EF4-FFF2-40B4-BE49-F238E27FC236}">
                <a16:creationId xmlns:a16="http://schemas.microsoft.com/office/drawing/2014/main" id="{26D86D74-C651-449C-813B-06166797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</a:t>
            </a:r>
          </a:p>
        </p:txBody>
      </p:sp>
      <p:sp>
        <p:nvSpPr>
          <p:cNvPr id="2" name="Electricity demand and environmental costs">
            <a:extLst xmlns:a="http://schemas.openxmlformats.org/drawingml/2006/main">
              <a:ext uri="{FF2B5EF4-FFF2-40B4-BE49-F238E27FC236}">
                <a16:creationId xmlns:a16="http://schemas.microsoft.com/office/drawing/2014/main" id="{86FF9B16-A3BC-4371-B335-57DDF2CD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demand and environmental costs</a:t>
            </a:r>
          </a:p>
        </p:txBody>
      </p:sp>
      <p:sp>
        <p:nvSpPr>
          <p:cNvPr id="3" name="Global data-centre electricity (TWh/year)">
            <a:extLst xmlns:a="http://schemas.openxmlformats.org/drawingml/2006/main">
              <a:ext uri="{FF2B5EF4-FFF2-40B4-BE49-F238E27FC236}">
                <a16:creationId xmlns:a16="http://schemas.microsoft.com/office/drawing/2014/main" id="{9892458F-AFF6-49E1-AC23-A48D32BB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data-centre electricity (TWh/year)</a:t>
            </a:r>
          </a:p>
        </p:txBody>
      </p:sp>
      <p:sp>
        <p:nvSpPr>
          <p:cNvPr id="4" name="Electricity growth during 2025">
            <a:extLst xmlns:a="http://schemas.openxmlformats.org/drawingml/2006/main">
              <a:ext uri="{FF2B5EF4-FFF2-40B4-BE49-F238E27FC236}">
                <a16:creationId xmlns:a16="http://schemas.microsoft.com/office/drawing/2014/main" id="{BEF1A609-56A3-4606-B60F-C58D31ED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growth during 2025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527D9A0-1961-45D4-BE9E-28A46316C271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f4e4ab06534342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9A42A44-F22A-433C-82A6-8DF7E201F65C}"/>
              </a:ext>
            </a:extLst>
          </p:cNvPr>
          <p:cNvGraphicFramePr/>
          <p:nvPr/>
        </p:nvGraphicFramePr>
        <p:xfrm>
          <a:off xmlns:a="http://schemas.openxmlformats.org/drawingml/2006/main" x="6324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7ebe31b06e4844"/>
          </a:graphicData>
        </a:graphic>
      </p:graphicFrame>
      <p:sp>
        <p:nvSpPr>
          <p:cNvPr id="7" name="IEA 2026: ≈96% increase to 2030. These cover the whole ">
            <a:extLst xmlns:a="http://schemas.openxmlformats.org/drawingml/2006/main">
              <a:ext uri="{FF2B5EF4-FFF2-40B4-BE49-F238E27FC236}">
                <a16:creationId xmlns:a16="http://schemas.microsoft.com/office/drawing/2014/main" id="{036D15E4-09F7-48D1-A22F-5CD6CDAA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2026: ≈96% increase to 2030. These cover the whole sector, not AI training alone; growth categories overlap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cannot be added.</a:t>
            </a:r>
          </a:p>
        </p:txBody>
      </p:sp>
      <p:sp>
        <p:nvSpPr>
          <p:cNvPr id="8" name="Research comparison: Green AI [13] emphasizes efficienc">
            <a:extLst xmlns:a="http://schemas.openxmlformats.org/drawingml/2006/main">
              <a:ext uri="{FF2B5EF4-FFF2-40B4-BE49-F238E27FC236}">
                <a16:creationId xmlns:a16="http://schemas.microsoft.com/office/drawing/2014/main" id="{AB628A71-8007-4D9B-B609-A11E1C91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comparison: Green AI [13] emphasizes efficiency; water research [12] adds site/time constraints. Track energy,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 and local cooling impacts.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0EB72-2C82-4EB4-A88E-6A5C5999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CA4E5A0E-FB3B-4B92-90BD-2B55414B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[12] Li et al. 2025 revision: water impacts; [13] Schwartz et al. 2019: efficiency reporting</a:t>
            </a:r>
          </a:p>
        </p:txBody>
      </p:sp>
      <p:sp>
        <p:nvSpPr>
          <p:cNvPr id="11" name="9 / 56">
            <a:extLst xmlns:a="http://schemas.openxmlformats.org/drawingml/2006/main">
              <a:ext uri="{FF2B5EF4-FFF2-40B4-BE49-F238E27FC236}">
                <a16:creationId xmlns:a16="http://schemas.microsoft.com/office/drawing/2014/main" id="{F168F5D2-9403-4EEC-BB5B-9BF2574F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9 / 56</a:t>
            </a:r>
          </a:p>
        </p:txBody>
      </p:sp>
    </p:spTree>
    <p:extLst>
      <p:ext uri="{BB962C8B-B14F-4D97-AF65-F5344CB8AC3E}">
        <p14:creationId xmlns:p14="http://schemas.microsoft.com/office/powerpoint/2010/main" val="10642796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7FF35-9E3C-4CFB-BBFE-C4CC02328C32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95350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B4E0D-78DD-46BC-8608-E3FA762608EE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1945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19" name="Task 2(b)">
            <a:extLst xmlns:a="http://schemas.openxmlformats.org/drawingml/2006/main">
              <a:ext uri="{FF2B5EF4-FFF2-40B4-BE49-F238E27FC236}">
                <a16:creationId xmlns:a16="http://schemas.microsoft.com/office/drawing/2014/main" id="{AA439F5D-6D03-4433-A700-1F58420B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</a:t>
            </a:r>
          </a:p>
        </p:txBody>
      </p:sp>
      <p:sp>
        <p:nvSpPr>
          <p:cNvPr id="2" name="Privacy, security and model fairness">
            <a:extLst xmlns:a="http://schemas.openxmlformats.org/drawingml/2006/main">
              <a:ext uri="{FF2B5EF4-FFF2-40B4-BE49-F238E27FC236}">
                <a16:creationId xmlns:a16="http://schemas.microsoft.com/office/drawing/2014/main" id="{39C70D46-A125-46C0-9ED1-FB4AA25D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Privacy, security and model fairness</a:t>
            </a:r>
          </a:p>
        </p:txBody>
      </p:sp>
      <p:sp>
        <p:nvSpPr>
          <p:cNvPr id="3" name="Security: protect distributed intermediates">
            <a:extLst xmlns:a="http://schemas.openxmlformats.org/drawingml/2006/main">
              <a:ext uri="{FF2B5EF4-FFF2-40B4-BE49-F238E27FC236}">
                <a16:creationId xmlns:a16="http://schemas.microsoft.com/office/drawing/2014/main" id="{7F1ADC91-D080-4747-A2BD-FDD3E462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3875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Security: protect distributed intermediates</a:t>
            </a:r>
          </a:p>
        </p:txBody>
      </p:sp>
      <p:sp>
        <p:nvSpPr>
          <p:cNvPr id="4" name="Fairness: evaluate affected groups">
            <a:extLst xmlns:a="http://schemas.openxmlformats.org/drawingml/2006/main">
              <a:ext uri="{FF2B5EF4-FFF2-40B4-BE49-F238E27FC236}">
                <a16:creationId xmlns:a16="http://schemas.microsoft.com/office/drawing/2014/main" id="{6744D841-304D-4718-95B7-0A4FDC59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257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Fairness: evaluate affected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1E920-F379-471B-B2B8-21FF29EA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Workers exchange gradients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save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0FB4D-7C8C-4903-A5B9-4FBD5BA0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Least privilege, isolation,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protected transport/storage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BA797-ABC9-41EF-B076-07FFA1F3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9775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coverage and model outputs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differ across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8F77C-777D-47C8-AD91-2D724E1D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Disaggregated, harm-specific tests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mitigation and reevaluation</a:t>
            </a:r>
          </a:p>
        </p:txBody>
      </p:sp>
      <p:sp>
        <p:nvSpPr>
          <p:cNvPr id="11" name="Zhu et al. [14]: exposed gradients can reconstruct inpu">
            <a:extLst xmlns:a="http://schemas.openxmlformats.org/drawingml/2006/main">
              <a:ext uri="{FF2B5EF4-FFF2-40B4-BE49-F238E27FC236}">
                <a16:creationId xmlns:a16="http://schemas.microsoft.com/office/drawing/2014/main" id="{BE3F7A10-4B56-48F5-835F-03AD7CEA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219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Zhu et al. [14]: exposed gradients can reconstruct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inputs in studied settings. Not every production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collective leaks.</a:t>
            </a:r>
          </a:p>
        </p:txBody>
      </p:sp>
      <p:sp>
        <p:nvSpPr>
          <p:cNvPr id="12" name="Gallegos et al. [15]: metrics, datasets and mitigations">
            <a:extLst xmlns:a="http://schemas.openxmlformats.org/drawingml/2006/main">
              <a:ext uri="{FF2B5EF4-FFF2-40B4-BE49-F238E27FC236}">
                <a16:creationId xmlns:a16="http://schemas.microsoft.com/office/drawing/2014/main" id="{4BFDAE72-46CC-4383-93BA-A30A7D50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62475"/>
            <a:ext cx="52578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[15]: metrics, datasets and mitigations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differ. HPC does not itself establish or cause model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bias.</a:t>
            </a:r>
          </a:p>
        </p:txBody>
      </p:sp>
      <p:sp>
        <p:nvSpPr>
          <p:cNvPr id="13" name="Provenance/permissions, replica access and dual-use rev">
            <a:extLst xmlns:a="http://schemas.openxmlformats.org/drawingml/2006/main">
              <a:ext uri="{FF2B5EF4-FFF2-40B4-BE49-F238E27FC236}">
                <a16:creationId xmlns:a16="http://schemas.microsoft.com/office/drawing/2014/main" id="{C6EDCD84-DFFD-420D-9E87-5233E280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Provenance/permissions, replica access and dual-use review need owners. Encryption alone cannot establish fair outputs.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BA2E9-6B10-4509-A06A-8223CDC4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Protect distributed data and evaluate harms; more compu">
            <a:extLst xmlns:a="http://schemas.openxmlformats.org/drawingml/2006/main">
              <a:ext uri="{FF2B5EF4-FFF2-40B4-BE49-F238E27FC236}">
                <a16:creationId xmlns:a16="http://schemas.microsoft.com/office/drawing/2014/main" id="{ACD4F707-2081-492F-A92E-49F3C5A1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 distributed data and evaluate harms; more compute is not a fairness guarantee.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0DBD7-35CE-4E6D-8D61-B7EB79FF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14] Zhu et al. 2019: exposed gradients; [15] ">
            <a:extLst xmlns:a="http://schemas.openxmlformats.org/drawingml/2006/main">
              <a:ext uri="{FF2B5EF4-FFF2-40B4-BE49-F238E27FC236}">
                <a16:creationId xmlns:a16="http://schemas.microsoft.com/office/drawing/2014/main" id="{6FEBEB63-DB11-4727-A158-1FC2D88E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[15] Gallegos et al. 2024: fairness evaluation; [18] OECD: rights, fairness and accountability; [19] NIST: Govern, Map, Measure,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18" name="10 / 56">
            <a:extLst xmlns:a="http://schemas.openxmlformats.org/drawingml/2006/main">
              <a:ext uri="{FF2B5EF4-FFF2-40B4-BE49-F238E27FC236}">
                <a16:creationId xmlns:a16="http://schemas.microsoft.com/office/drawing/2014/main" id="{1FB7F9E1-F89C-4D1F-A881-240FA724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10 / 56</a:t>
            </a:r>
          </a:p>
        </p:txBody>
      </p:sp>
    </p:spTree>
    <p:extLst>
      <p:ext uri="{BB962C8B-B14F-4D97-AF65-F5344CB8AC3E}">
        <p14:creationId xmlns:p14="http://schemas.microsoft.com/office/powerpoint/2010/main" val="11182440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c)">
            <a:extLst xmlns:a="http://schemas.openxmlformats.org/drawingml/2006/main">
              <a:ext uri="{FF2B5EF4-FFF2-40B4-BE49-F238E27FC236}">
                <a16:creationId xmlns:a16="http://schemas.microsoft.com/office/drawing/2014/main" id="{A3B5FA84-2DC1-4FFA-9932-1D4BBA7D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</a:t>
            </a:r>
          </a:p>
        </p:txBody>
      </p:sp>
      <p:sp>
        <p:nvSpPr>
          <p:cNvPr id="2" name="Unequal access to HPC resources">
            <a:extLst xmlns:a="http://schemas.openxmlformats.org/drawingml/2006/main">
              <a:ext uri="{FF2B5EF4-FFF2-40B4-BE49-F238E27FC236}">
                <a16:creationId xmlns:a16="http://schemas.microsoft.com/office/drawing/2014/main" id="{30FAC2CD-7153-4955-949C-5E80D517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access to HPC resources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6DF76-6217-499F-A339-79E0811C69D9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57500"/>
                <a:gridCol w="4095750"/>
                <a:gridCol w="4019550"/>
              </a:tblGrid>
              <a:tr h="5334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shows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cannot establish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Ahmed &amp; Wahed [16]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Historical research participation and compute concentration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Current worldwide access or a universal causal effect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Strubell et al.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Selected NLP workload costs and financial barriers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The cost of every current AI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urrent response: NAIRR supported &gt;600 teams and &gt;6,000">
            <a:extLst xmlns:a="http://schemas.openxmlformats.org/drawingml/2006/main">
              <a:ext uri="{FF2B5EF4-FFF2-40B4-BE49-F238E27FC236}">
                <a16:creationId xmlns:a16="http://schemas.microsoft.com/office/drawing/2014/main" id="{7D9821EE-1203-4D93-A54E-980F12EC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Current response: NAIRR supported &gt;600 teams and &gt;6,000 students</a:t>
            </a:r>
          </a:p>
        </p:txBody>
      </p:sp>
      <p:sp>
        <p:nvSpPr>
          <p:cNvPr id="5" name="NSF, March 2026; US programme since 2024. Reach does no">
            <a:extLst xmlns:a="http://schemas.openxmlformats.org/drawingml/2006/main">
              <a:ext uri="{FF2B5EF4-FFF2-40B4-BE49-F238E27FC236}">
                <a16:creationId xmlns:a16="http://schemas.microsoft.com/office/drawing/2014/main" id="{A5FF5AEA-1107-4025-A1A5-52A132B0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NSF, March 2026; US programme since 2024. Reach does not prove global equality.</a:t>
            </a:r>
          </a:p>
        </p:txBody>
      </p:sp>
      <p:sp>
        <p:nvSpPr>
          <p:cNvPr id="6" name="Proposal: transparent GPU-hour allocation, smaller-inst">
            <a:extLst xmlns:a="http://schemas.openxmlformats.org/drawingml/2006/main">
              <a:ext uri="{FF2B5EF4-FFF2-40B4-BE49-F238E27FC236}">
                <a16:creationId xmlns:a16="http://schemas.microsoft.com/office/drawing/2014/main" id="{068302E3-5D9D-4606-B485-BA7F6088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Proposal: transparent GPU-hour allocation, smaller-institution support and appeals. Trade-off: reserved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can reduce immediate utilization or delay urgent jobs.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3771A-5DDF-4F89-B512-0676A725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8" name="Shared capacity helps; allocation, expertise and reprod">
            <a:extLst xmlns:a="http://schemas.openxmlformats.org/drawingml/2006/main">
              <a:ext uri="{FF2B5EF4-FFF2-40B4-BE49-F238E27FC236}">
                <a16:creationId xmlns:a16="http://schemas.microsoft.com/office/drawing/2014/main" id="{D1F2F553-B3E5-40E9-88C1-E361AF34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Shared capacity helps; allocation, expertise and reproducibility still need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4E00D-8087-4855-9171-89F36F03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9D8CED44-7158-41B3-8681-795B4348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</a:t>
            </a:r>
          </a:p>
        </p:txBody>
      </p:sp>
      <p:sp>
        <p:nvSpPr>
          <p:cNvPr id="11" name="11 / 56">
            <a:extLst xmlns:a="http://schemas.openxmlformats.org/drawingml/2006/main">
              <a:ext uri="{FF2B5EF4-FFF2-40B4-BE49-F238E27FC236}">
                <a16:creationId xmlns:a16="http://schemas.microsoft.com/office/drawing/2014/main" id="{708F27C3-B439-402E-A568-35CB535D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11 / 56</a:t>
            </a:r>
          </a:p>
        </p:txBody>
      </p:sp>
    </p:spTree>
    <p:extLst>
      <p:ext uri="{BB962C8B-B14F-4D97-AF65-F5344CB8AC3E}">
        <p14:creationId xmlns:p14="http://schemas.microsoft.com/office/powerpoint/2010/main" val="15920307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8DE41-4654-4A30-8300-8D3BA5FA111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819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79568-D1C8-46BD-BD2A-4639BB9C3741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814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17" name="Task 2(d)">
            <a:extLst xmlns:a="http://schemas.openxmlformats.org/drawingml/2006/main">
              <a:ext uri="{FF2B5EF4-FFF2-40B4-BE49-F238E27FC236}">
                <a16:creationId xmlns:a16="http://schemas.microsoft.com/office/drawing/2014/main" id="{002D1842-B669-4C36-84B9-3A7891DF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</a:t>
            </a:r>
          </a:p>
        </p:txBody>
      </p:sp>
      <p:sp>
        <p:nvSpPr>
          <p:cNvPr id="2" name="An accountable HPC approval process">
            <a:extLst xmlns:a="http://schemas.openxmlformats.org/drawingml/2006/main">
              <a:ext uri="{FF2B5EF4-FFF2-40B4-BE49-F238E27FC236}">
                <a16:creationId xmlns:a16="http://schemas.microsoft.com/office/drawing/2014/main" id="{BEE5B66A-890B-45DF-BE1B-DF64AEFF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An accountable HPC approval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418F3-1140-4E20-861D-B985C740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Define outcome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accountable owner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EB2DD-90F2-40BE-97D4-56C7E5AE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 quality,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and harms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81A4D-2E34-4012-B684-D7E16306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/ defer /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scale / redesign</a:t>
            </a:r>
          </a:p>
        </p:txBody>
      </p:sp>
      <p:sp>
        <p:nvSpPr>
          <p:cNvPr id="8" name="Green AI: efficiency evidence [13]  •  Carbon-aware sch">
            <a:extLst xmlns:a="http://schemas.openxmlformats.org/drawingml/2006/main">
              <a:ext uri="{FF2B5EF4-FFF2-40B4-BE49-F238E27FC236}">
                <a16:creationId xmlns:a16="http://schemas.microsoft.com/office/drawing/2014/main" id="{1CBD9AC4-1FDF-4362-BB6B-9A3FD7C0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Green AI: efficiency evidence [13] • Carbon-aware scheduling: flexible work [17]</a:t>
            </a:r>
          </a:p>
        </p:txBody>
      </p:sp>
      <p:sp>
        <p:nvSpPr>
          <p:cNvPr id="9" name="OECD: values and rights [18]  •  NIST: Govern → Map → M">
            <a:extLst xmlns:a="http://schemas.openxmlformats.org/drawingml/2006/main">
              <a:ext uri="{FF2B5EF4-FFF2-40B4-BE49-F238E27FC236}">
                <a16:creationId xmlns:a16="http://schemas.microsoft.com/office/drawing/2014/main" id="{0BD8085D-8C69-45EF-BC8C-2A64EA2B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OECD: values and rights [18] • NIST: Govern → Map → Measure → Manage [19]</a:t>
            </a:r>
          </a:p>
        </p:txBody>
      </p:sp>
      <p:sp>
        <p:nvSpPr>
          <p:cNvPr id="10" name="Use an energy budget, security/group evaluation and tra">
            <a:extLst xmlns:a="http://schemas.openxmlformats.org/drawingml/2006/main">
              <a:ext uri="{FF2B5EF4-FFF2-40B4-BE49-F238E27FC236}">
                <a16:creationId xmlns:a16="http://schemas.microsoft.com/office/drawing/2014/main" id="{558BEEED-B06B-4C05-B775-E9576978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an energy budget, security/group evaluation and transparent access rules. Record owner, rationale,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exceptions and outcomes.</a:t>
            </a:r>
          </a:p>
        </p:txBody>
      </p:sp>
      <p:sp>
        <p:nvSpPr>
          <p:cNvPr id="11" name="Measurement informs action: shift flexible jobs to clea">
            <a:extLst xmlns:a="http://schemas.openxmlformats.org/drawingml/2006/main">
              <a:ext uri="{FF2B5EF4-FFF2-40B4-BE49-F238E27FC236}">
                <a16:creationId xmlns:a16="http://schemas.microsoft.com/office/drawing/2014/main" id="{12ED5FD7-5203-4C17-AF1B-74296E24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507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Measurement informs action: shift flexible jobs to cleaner periods within deadlines/capacity. Forecast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uncertainty, water stress and urgent access can change the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65F2B-7E27-4E9C-B73D-74673E33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Approve useful work with explicit budgets, safeguards a">
            <a:extLst xmlns:a="http://schemas.openxmlformats.org/drawingml/2006/main">
              <a:ext uri="{FF2B5EF4-FFF2-40B4-BE49-F238E27FC236}">
                <a16:creationId xmlns:a16="http://schemas.microsoft.com/office/drawing/2014/main" id="{84DBDA94-FAE0-44B8-A0EA-FC04BFB0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useful work with explicit budgets, safeguards and an accountable owner.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C5B73-3E67-43FC-9338-28C76DDD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58E15704-3785-4FC3-81E7-A984F761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16" name="12 / 56">
            <a:extLst xmlns:a="http://schemas.openxmlformats.org/drawingml/2006/main">
              <a:ext uri="{FF2B5EF4-FFF2-40B4-BE49-F238E27FC236}">
                <a16:creationId xmlns:a16="http://schemas.microsoft.com/office/drawing/2014/main" id="{F863CC1D-359D-4079-8DEA-3A72AFCB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12 / 56</a:t>
            </a:r>
          </a:p>
        </p:txBody>
      </p:sp>
    </p:spTree>
    <p:extLst>
      <p:ext uri="{BB962C8B-B14F-4D97-AF65-F5344CB8AC3E}">
        <p14:creationId xmlns:p14="http://schemas.microsoft.com/office/powerpoint/2010/main" val="7907541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Reading guide">
            <a:extLst xmlns:a="http://schemas.openxmlformats.org/drawingml/2006/main">
              <a:ext uri="{FF2B5EF4-FFF2-40B4-BE49-F238E27FC236}">
                <a16:creationId xmlns:a16="http://schemas.microsoft.com/office/drawing/2014/main" id="{0E6904FF-F64C-42C3-8166-DA0DAA23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Reading guide</a:t>
            </a:r>
          </a:p>
        </p:txBody>
      </p:sp>
      <p:sp>
        <p:nvSpPr>
          <p:cNvPr id="2" name="Supporting detail and limitations">
            <a:extLst xmlns:a="http://schemas.openxmlformats.org/drawingml/2006/main">
              <a:ext uri="{FF2B5EF4-FFF2-40B4-BE49-F238E27FC236}">
                <a16:creationId xmlns:a16="http://schemas.microsoft.com/office/drawing/2014/main" id="{55FD9F8E-8A93-46FA-9878-7C6A42BA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Supporting detail and limitations</a:t>
            </a:r>
          </a:p>
        </p:txBody>
      </p:sp>
      <p:sp>
        <p:nvSpPr>
          <p:cNvPr id="3" name="Task 1: design evidence">
            <a:extLst xmlns:a="http://schemas.openxmlformats.org/drawingml/2006/main">
              <a:ext uri="{FF2B5EF4-FFF2-40B4-BE49-F238E27FC236}">
                <a16:creationId xmlns:a16="http://schemas.microsoft.com/office/drawing/2014/main" id="{92A27962-086A-4F80-A622-DAB0744C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1: design evidence</a:t>
            </a:r>
          </a:p>
        </p:txBody>
      </p:sp>
      <p:sp>
        <p:nvSpPr>
          <p:cNvPr id="4" name="Rotation assumptions, a worked example and full CUDA te">
            <a:extLst xmlns:a="http://schemas.openxmlformats.org/drawingml/2006/main">
              <a:ext uri="{FF2B5EF4-FFF2-40B4-BE49-F238E27FC236}">
                <a16:creationId xmlns:a16="http://schemas.microsoft.com/office/drawing/2014/main" id="{FC4CD5DF-140F-47EA-B6A7-F350D215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assumptions, a worked example and full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excerpts are included on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following slides.</a:t>
            </a:r>
          </a:p>
        </p:txBody>
      </p:sp>
      <p:sp>
        <p:nvSpPr>
          <p:cNvPr id="5" name="Performance explanations use a stated CPU baseline and ">
            <a:extLst xmlns:a="http://schemas.openxmlformats.org/drawingml/2006/main">
              <a:ext uri="{FF2B5EF4-FFF2-40B4-BE49-F238E27FC236}">
                <a16:creationId xmlns:a16="http://schemas.microsoft.com/office/drawing/2014/main" id="{AE6F6F06-6ABE-4DDE-B951-6A44DA1F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explanations use a stated CPU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baseline and theoretical bounds. No measured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or compiled CUDA result is claimed.</a:t>
            </a:r>
          </a:p>
        </p:txBody>
      </p:sp>
      <p:sp>
        <p:nvSpPr>
          <p:cNvPr id="6" name="GDS is evaluated for the actual CPU-decoded pipeline an">
            <a:extLst xmlns:a="http://schemas.openxmlformats.org/drawingml/2006/main">
              <a:ext uri="{FF2B5EF4-FFF2-40B4-BE49-F238E27FC236}">
                <a16:creationId xmlns:a16="http://schemas.microsoft.com/office/drawing/2014/main" id="{B25EB633-C754-401A-815D-00346F41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is evaluated for the actual CPU-decoded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pipeline and a conditional storage-bound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alternative.</a:t>
            </a:r>
          </a:p>
        </p:txBody>
      </p:sp>
      <p:sp>
        <p:nvSpPr>
          <p:cNvPr id="7" name="Task 2: research and decisions">
            <a:extLst xmlns:a="http://schemas.openxmlformats.org/drawingml/2006/main">
              <a:ext uri="{FF2B5EF4-FFF2-40B4-BE49-F238E27FC236}">
                <a16:creationId xmlns:a16="http://schemas.microsoft.com/office/drawing/2014/main" id="{5FD5CAE9-6D2D-40E6-8153-0452DA01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2: research and decisions</a:t>
            </a:r>
          </a:p>
        </p:txBody>
      </p:sp>
      <p:sp>
        <p:nvSpPr>
          <p:cNvPr id="8" name="Each required topic has evidence, a comparison, propose">
            <a:extLst xmlns:a="http://schemas.openxmlformats.org/drawingml/2006/main">
              <a:ext uri="{FF2B5EF4-FFF2-40B4-BE49-F238E27FC236}">
                <a16:creationId xmlns:a16="http://schemas.microsoft.com/office/drawing/2014/main" id="{4539E119-8C61-4758-B7F5-43C5C76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 required topic has evidence, a comparison,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measures and limitations. A cluster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scenario is illustrative, not an observed experiment.</a:t>
            </a:r>
          </a:p>
        </p:txBody>
      </p:sp>
      <p:sp>
        <p:nvSpPr>
          <p:cNvPr id="9" name="Sector electricity data do not establish a particular t">
            <a:extLst xmlns:a="http://schemas.openxmlformats.org/drawingml/2006/main">
              <a:ext uri="{FF2B5EF4-FFF2-40B4-BE49-F238E27FC236}">
                <a16:creationId xmlns:a16="http://schemas.microsoft.com/office/drawing/2014/main" id="{15B74611-9074-4330-AEA9-BCDA4EAF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Sector electricity data do not establish a particular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 job’s footprint. Historical research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distinguished from current programme reach.</a:t>
            </a:r>
          </a:p>
        </p:txBody>
      </p:sp>
      <p:sp>
        <p:nvSpPr>
          <p:cNvPr id="10" name="References and AI disclosure/prompt records are part of">
            <a:extLst xmlns:a="http://schemas.openxmlformats.org/drawingml/2006/main">
              <a:ext uri="{FF2B5EF4-FFF2-40B4-BE49-F238E27FC236}">
                <a16:creationId xmlns:a16="http://schemas.microsoft.com/office/drawing/2014/main" id="{CC61023C-5164-425E-AEE1-DAA7F2F2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 and AI disclosure/prompt records 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 of this presentation. There is no separate report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dependency.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30A3A-5E16-40DE-BA79-064A3919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BDFBB-AB9C-4CFF-8E00-82764FFA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EFE22339-EDDB-46EC-9AE4-5D6E513C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13 / 56">
            <a:extLst xmlns:a="http://schemas.openxmlformats.org/drawingml/2006/main">
              <a:ext uri="{FF2B5EF4-FFF2-40B4-BE49-F238E27FC236}">
                <a16:creationId xmlns:a16="http://schemas.microsoft.com/office/drawing/2014/main" id="{141D764C-0E7B-42CC-A9E9-8ABB921F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13 / 56</a:t>
            </a:r>
          </a:p>
        </p:txBody>
      </p:sp>
    </p:spTree>
    <p:extLst>
      <p:ext uri="{BB962C8B-B14F-4D97-AF65-F5344CB8AC3E}">
        <p14:creationId xmlns:p14="http://schemas.microsoft.com/office/powerpoint/2010/main" val="21462497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">
            <a:extLst xmlns:a="http://schemas.openxmlformats.org/drawingml/2006/main">
              <a:ext uri="{FF2B5EF4-FFF2-40B4-BE49-F238E27FC236}">
                <a16:creationId xmlns:a16="http://schemas.microsoft.com/office/drawing/2014/main" id="{0CA91C2E-112D-40EF-B1D4-B647A399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</a:t>
            </a:r>
          </a:p>
        </p:txBody>
      </p:sp>
      <p:sp>
        <p:nvSpPr>
          <p:cNvPr id="2" name="Rotation coordinates and sampling">
            <a:extLst xmlns:a="http://schemas.openxmlformats.org/drawingml/2006/main">
              <a:ext uri="{FF2B5EF4-FFF2-40B4-BE49-F238E27FC236}">
                <a16:creationId xmlns:a16="http://schemas.microsoft.com/office/drawing/2014/main" id="{1AB2FDA6-E48F-4418-8478-5B0633E1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coordinates and sampling</a:t>
            </a:r>
          </a:p>
        </p:txBody>
      </p:sp>
      <p:sp>
        <p:nvSpPr>
          <p:cNvPr id="3" name="Coordinate convention">
            <a:extLst xmlns:a="http://schemas.openxmlformats.org/drawingml/2006/main">
              <a:ext uri="{FF2B5EF4-FFF2-40B4-BE49-F238E27FC236}">
                <a16:creationId xmlns:a16="http://schemas.microsoft.com/office/drawing/2014/main" id="{DB5AB617-74A8-4F4D-BF7B-B4E22722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Coordinate convention</a:t>
            </a:r>
          </a:p>
        </p:txBody>
      </p:sp>
      <p:sp>
        <p:nvSpPr>
          <p:cNvPr id="4" name="Input/output: contiguous 8-bit RGB; positive width W an">
            <a:extLst xmlns:a="http://schemas.openxmlformats.org/drawingml/2006/main">
              <a:ext uri="{FF2B5EF4-FFF2-40B4-BE49-F238E27FC236}">
                <a16:creationId xmlns:a16="http://schemas.microsoft.com/office/drawing/2014/main" id="{52221F13-8D33-4B25-8B18-25E38CCF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Input/output: contiguous 8-bit RGB; positive width 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height H; x points right and y points down. Input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output buffers are distinct.</a:t>
            </a:r>
          </a:p>
        </p:txBody>
      </p:sp>
      <p:sp>
        <p:nvSpPr>
          <p:cNvPr id="5" name="Rotate around cx = (W − 1)/2 and cy = (H − 1)/2. Positi">
            <a:extLst xmlns:a="http://schemas.openxmlformats.org/drawingml/2006/main">
              <a:ext uri="{FF2B5EF4-FFF2-40B4-BE49-F238E27FC236}">
                <a16:creationId xmlns:a16="http://schemas.microsoft.com/office/drawing/2014/main" id="{22B97C37-9B99-4E9A-A048-94E008A1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Rotate around cx = (W − 1)/2 and cy = (H − 1)/2.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Positive θ is visually counterclockwise; the host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supplies c = cos θ and s = sin θ in radians.</a:t>
            </a:r>
          </a:p>
        </p:txBody>
      </p:sp>
      <p:sp>
        <p:nvSpPr>
          <p:cNvPr id="6" name="Forward image-coordinate rotation uses [c s; −s c]. Inv">
            <a:extLst xmlns:a="http://schemas.openxmlformats.org/drawingml/2006/main">
              <a:ext uri="{FF2B5EF4-FFF2-40B4-BE49-F238E27FC236}">
                <a16:creationId xmlns:a16="http://schemas.microsoft.com/office/drawing/2014/main" id="{304B48B6-BDF6-419E-A85A-ACC03FCB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image-coordinate rotation uses [c s; −s c].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Inverting it gives source offsets [c −s; s c] ×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offsets, then restores the center.</a:t>
            </a:r>
          </a:p>
        </p:txBody>
      </p:sp>
      <p:sp>
        <p:nvSpPr>
          <p:cNvPr id="7" name="Deliberate design choices">
            <a:extLst xmlns:a="http://schemas.openxmlformats.org/drawingml/2006/main">
              <a:ext uri="{FF2B5EF4-FFF2-40B4-BE49-F238E27FC236}">
                <a16:creationId xmlns:a16="http://schemas.microsoft.com/office/drawing/2014/main" id="{6E26313B-481B-4D78-8D8E-6492942F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Deliberate design choices</a:t>
            </a:r>
          </a:p>
        </p:txBody>
      </p:sp>
      <p:sp>
        <p:nvSpPr>
          <p:cNvPr id="8" name="Nearest-neighbour indices: ix = floor(sx + 0.5), iy = f">
            <a:extLst xmlns:a="http://schemas.openxmlformats.org/drawingml/2006/main">
              <a:ext uri="{FF2B5EF4-FFF2-40B4-BE49-F238E27FC236}">
                <a16:creationId xmlns:a16="http://schemas.microsoft.com/office/drawing/2014/main" id="{87D30D54-96E2-4DC2-A8E9-7284B8E1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indices: ix = floor(sx + 0.5), iy =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floor(sy + 0.5). Copy three channels if the rounded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indices are in bounds; otherwise write black.</a:t>
            </a:r>
          </a:p>
        </p:txBody>
      </p:sp>
      <p:sp>
        <p:nvSpPr>
          <p:cNvPr id="9" name="The fixed W × H canvas can crop rotated corners. Neares">
            <a:extLst xmlns:a="http://schemas.openxmlformats.org/drawingml/2006/main">
              <a:ext uri="{FF2B5EF4-FFF2-40B4-BE49-F238E27FC236}">
                <a16:creationId xmlns:a16="http://schemas.microsoft.com/office/drawing/2014/main" id="{69A8D489-C478-475E-8F2B-A806D094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fixed W × H canvas can crop rotated corners.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sampling can alias; bilinear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interpolation improves smoothness but adds 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reads/arithmetic.</a:t>
            </a:r>
          </a:p>
        </p:txBody>
      </p:sp>
      <p:sp>
        <p:nvSpPr>
          <p:cNvPr id="10" name="Forward scatter can leave holes or competing writes aft">
            <a:extLst xmlns:a="http://schemas.openxmlformats.org/drawingml/2006/main">
              <a:ext uri="{FF2B5EF4-FFF2-40B4-BE49-F238E27FC236}">
                <a16:creationId xmlns:a16="http://schemas.microsoft.com/office/drawing/2014/main" id="{E0C5046B-06C6-427E-B2E5-E247EF55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scatter can leave holes or competing writes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after rounding. Inverse gathering assigns every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exactly one writer. NPP offers library rotation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 explicit interpolation/ROI choices.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86F53E-5ED5-4267-BC49-F69A3A40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19752-EC3C-45C0-86C6-060315CF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] Topic 8: GPU architecture and CUDA; [20] N">
            <a:extLst xmlns:a="http://schemas.openxmlformats.org/drawingml/2006/main">
              <a:ext uri="{FF2B5EF4-FFF2-40B4-BE49-F238E27FC236}">
                <a16:creationId xmlns:a16="http://schemas.microsoft.com/office/drawing/2014/main" id="{A1ED6995-27F4-446F-90C9-1D5451D8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[20] NVIDIA NPP: library alternative</a:t>
            </a:r>
          </a:p>
        </p:txBody>
      </p:sp>
      <p:sp>
        <p:nvSpPr>
          <p:cNvPr id="14" name="14 / 56">
            <a:extLst xmlns:a="http://schemas.openxmlformats.org/drawingml/2006/main">
              <a:ext uri="{FF2B5EF4-FFF2-40B4-BE49-F238E27FC236}">
                <a16:creationId xmlns:a16="http://schemas.microsoft.com/office/drawing/2014/main" id="{6335EF39-E91B-4BEC-9F96-F8B8A532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14 / 56</a:t>
            </a:r>
          </a:p>
        </p:txBody>
      </p:sp>
    </p:spTree>
    <p:extLst>
      <p:ext uri="{BB962C8B-B14F-4D97-AF65-F5344CB8AC3E}">
        <p14:creationId xmlns:p14="http://schemas.microsoft.com/office/powerpoint/2010/main" val="17032817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ppendix A2">
            <a:extLst xmlns:a="http://schemas.openxmlformats.org/drawingml/2006/main">
              <a:ext uri="{FF2B5EF4-FFF2-40B4-BE49-F238E27FC236}">
                <a16:creationId xmlns:a16="http://schemas.microsoft.com/office/drawing/2014/main" id="{0A92D39A-C723-49D5-9A04-B3B2667B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A2</a:t>
            </a:r>
          </a:p>
        </p:txBody>
      </p:sp>
      <p:sp>
        <p:nvSpPr>
          <p:cNvPr id="2" name="A checked 90-degree rotation example">
            <a:extLst xmlns:a="http://schemas.openxmlformats.org/drawingml/2006/main">
              <a:ext uri="{FF2B5EF4-FFF2-40B4-BE49-F238E27FC236}">
                <a16:creationId xmlns:a16="http://schemas.microsoft.com/office/drawing/2014/main" id="{8164D5E6-0933-4A28-BBAD-41209D01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checked 90-degree rotation example</a:t>
            </a:r>
          </a:p>
        </p:txBody>
      </p:sp>
      <p:sp>
        <p:nvSpPr>
          <p:cNvPr id="3" name="Input">
            <a:extLst xmlns:a="http://schemas.openxmlformats.org/drawingml/2006/main">
              <a:ext uri="{FF2B5EF4-FFF2-40B4-BE49-F238E27FC236}">
                <a16:creationId xmlns:a16="http://schemas.microsoft.com/office/drawing/2014/main" id="{18DA861E-8CFA-4627-98DC-D9B4FD0F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40386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8AA3A-4CD4-4639-BFD7-FEFAFC904EAD}"/>
              </a:ext>
            </a:extLst>
          </p:cNvPr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4019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3910"/>
                <a:gridCol w="803910"/>
                <a:gridCol w="803910"/>
                <a:gridCol w="803910"/>
                <a:gridCol w="803910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C2E7E5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utput: 90° counterclockwise">
            <a:extLst xmlns:a="http://schemas.openxmlformats.org/drawingml/2006/main">
              <a:ext uri="{FF2B5EF4-FFF2-40B4-BE49-F238E27FC236}">
                <a16:creationId xmlns:a16="http://schemas.microsoft.com/office/drawing/2014/main" id="{20FA1F1F-8B14-43FA-8A0A-D2701C94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514475"/>
            <a:ext cx="40386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Output: 90° counterclockwise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4C0E5-D213-41FA-BF7A-FAEC95602353}"/>
              </a:ext>
            </a:extLst>
          </p:cNvPr>
          <p:cNvGraphicFramePr/>
          <p:nvPr/>
        </p:nvGraphicFramePr>
        <p:xfrm>
          <a:off xmlns:a="http://schemas.openxmlformats.org/drawingml/2006/main" x="7562850" y="2019300"/>
          <a:ext xmlns:a="http://schemas.openxmlformats.org/drawingml/2006/main" cx="4019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3910"/>
                <a:gridCol w="803910"/>
                <a:gridCol w="803910"/>
                <a:gridCol w="803910"/>
                <a:gridCol w="803910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C2E7E5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θ = 90°&#10;c = 0, s = 1&#10;center = (2,2)">
            <a:extLst xmlns:a="http://schemas.openxmlformats.org/drawingml/2006/main">
              <a:ext uri="{FF2B5EF4-FFF2-40B4-BE49-F238E27FC236}">
                <a16:creationId xmlns:a16="http://schemas.microsoft.com/office/drawing/2014/main" id="{890A0D82-6327-48C9-8E6D-D2C9AA29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2057400" cy="959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θ = 90°</a:t>
            </a:r>
          </a:p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 = 0, s = 1</a:t>
            </a:r>
          </a:p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center = (2,2)</a:t>
            </a:r>
          </a:p>
        </p:txBody>
      </p:sp>
      <p:sp>
        <p:nvSpPr>
          <p:cNvPr id="8" name="Output (0,1) → source (3,0) → value 3">
            <a:extLst xmlns:a="http://schemas.openxmlformats.org/drawingml/2006/main">
              <a:ext uri="{FF2B5EF4-FFF2-40B4-BE49-F238E27FC236}">
                <a16:creationId xmlns:a16="http://schemas.microsoft.com/office/drawing/2014/main" id="{031BD27C-9D84-49B1-AE5D-05CDE43D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(0,1) → source (3,0) → value 3</a:t>
            </a:r>
          </a:p>
        </p:txBody>
      </p:sp>
      <p:sp>
        <p:nvSpPr>
          <p:cNvPr id="9" name="The matrix values are illustrative pixel identifiers, n">
            <a:extLst xmlns:a="http://schemas.openxmlformats.org/drawingml/2006/main">
              <a:ext uri="{FF2B5EF4-FFF2-40B4-BE49-F238E27FC236}">
                <a16:creationId xmlns:a16="http://schemas.microsoft.com/office/drawing/2014/main" id="{C02F9E7A-E956-4E2B-96BA-A828FCC0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 matrix values are illustrative pixel identifiers, not channel intensities.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76ED7-0275-4F10-9BD2-1F1DFCE4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1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E8A9DB57-FF2B-46E7-B996-4465A802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2" name="15 / 56">
            <a:extLst xmlns:a="http://schemas.openxmlformats.org/drawingml/2006/main">
              <a:ext uri="{FF2B5EF4-FFF2-40B4-BE49-F238E27FC236}">
                <a16:creationId xmlns:a16="http://schemas.microsoft.com/office/drawing/2014/main" id="{787E9069-E1B8-45DA-BBA6-F3462A9E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15 / 56</a:t>
            </a:r>
          </a:p>
        </p:txBody>
      </p:sp>
    </p:spTree>
    <p:extLst>
      <p:ext uri="{BB962C8B-B14F-4D97-AF65-F5344CB8AC3E}">
        <p14:creationId xmlns:p14="http://schemas.microsoft.com/office/powerpoint/2010/main" val="17622430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3">
            <a:extLst xmlns:a="http://schemas.openxmlformats.org/drawingml/2006/main">
              <a:ext uri="{FF2B5EF4-FFF2-40B4-BE49-F238E27FC236}">
                <a16:creationId xmlns:a16="http://schemas.microsoft.com/office/drawing/2014/main" id="{6962D2BB-9B55-4E1C-B2FF-586FB542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A3</a:t>
            </a:r>
          </a:p>
        </p:txBody>
      </p:sp>
      <p:sp>
        <p:nvSpPr>
          <p:cNvPr id="2" name="Crafted CUDA example: RGB brightness">
            <a:extLst xmlns:a="http://schemas.openxmlformats.org/drawingml/2006/main">
              <a:ext uri="{FF2B5EF4-FFF2-40B4-BE49-F238E27FC236}">
                <a16:creationId xmlns:a16="http://schemas.microsoft.com/office/drawing/2014/main" id="{90FEDD0F-F422-4F4B-8CA1-33F69DEF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RGB brightness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51EB7-F807-4B14-9A5D-885F12F1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39204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brightness_rgb(const unsigned char* inp">
            <a:extLst xmlns:a="http://schemas.openxmlformats.org/drawingml/2006/main">
              <a:ext uri="{FF2B5EF4-FFF2-40B4-BE49-F238E27FC236}">
                <a16:creationId xmlns:a16="http://schemas.microsoft.com/office/drawing/2014/main" id="{888A511C-219B-4E32-9D08-E8D7DA71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3787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brightness_rgb(const unsigned char* 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unsigned char* 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width,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brightness)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x = blockIdx.x * 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y = blockIdx.y * 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(x &gt;= width || y &gt;=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size_t offset = (size_t(y) * size_t(width) + size_t(x)) * 3;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const int value = int(input[offset + channel]) + brightness;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output[offset + channel]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value &lt; 0 ? 0 : (value &gt; 255 ? 255 : value);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Same operation on independent pixels: a data-parallel k">
            <a:extLst xmlns:a="http://schemas.openxmlformats.org/drawingml/2006/main">
              <a:ext uri="{FF2B5EF4-FFF2-40B4-BE49-F238E27FC236}">
                <a16:creationId xmlns:a16="http://schemas.microsoft.com/office/drawing/2014/main" id="{1DA8C0A7-4E6D-4335-902F-7F1E1A6C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operation 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independent pixels: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data-parallel kernel.</a:t>
            </a:r>
          </a:p>
        </p:txBody>
      </p:sp>
      <p:sp>
        <p:nvSpPr>
          <p:cNvPr id="6" name="Integer arithmetic avoids unsigned wrap; clamp each cha">
            <a:extLst xmlns:a="http://schemas.openxmlformats.org/drawingml/2006/main">
              <a:ext uri="{FF2B5EF4-FFF2-40B4-BE49-F238E27FC236}">
                <a16:creationId xmlns:a16="http://schemas.microsoft.com/office/drawing/2014/main" id="{F58BC6BF-2551-45E5-BAB0-511E807A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8927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Integer arithmetic avoids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unsigned wrap; clamp each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channel to [0,255].</a:t>
            </a:r>
          </a:p>
        </p:txBody>
      </p:sp>
      <p:sp>
        <p:nvSpPr>
          <p:cNvPr id="7" name="Adjacent threads touch adjacent pixel locations, provid">
            <a:extLst xmlns:a="http://schemas.openxmlformats.org/drawingml/2006/main">
              <a:ext uri="{FF2B5EF4-FFF2-40B4-BE49-F238E27FC236}">
                <a16:creationId xmlns:a16="http://schemas.microsoft.com/office/drawing/2014/main" id="{10CCBEC7-299E-497C-AC45-FBA778D6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97402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Adjacent threads touch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adjacent pixel locations,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providing useful locality.</a:t>
            </a:r>
          </a:p>
        </p:txBody>
      </p:sp>
      <p:sp>
        <p:nvSpPr>
          <p:cNvPr id="8" name="Illustrative CUDA C++; uncompiled and unbenchmarked.">
            <a:extLst xmlns:a="http://schemas.openxmlformats.org/drawingml/2006/main">
              <a:ext uri="{FF2B5EF4-FFF2-40B4-BE49-F238E27FC236}">
                <a16:creationId xmlns:a16="http://schemas.microsoft.com/office/drawing/2014/main" id="{4DE8E75D-C17C-4772-9311-9BEE7BF7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05528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Illustrative CUDA C++;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uncompiled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unbenchmarked.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98963-3860-4DF7-B016-49764AD9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74ABE7A8-4AB6-4221-A47B-12195207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11" name="16 / 56">
            <a:extLst xmlns:a="http://schemas.openxmlformats.org/drawingml/2006/main">
              <a:ext uri="{FF2B5EF4-FFF2-40B4-BE49-F238E27FC236}">
                <a16:creationId xmlns:a16="http://schemas.microsoft.com/office/drawing/2014/main" id="{8A03245E-6004-4E9B-BE5A-BBF39641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16 / 56</a:t>
            </a:r>
          </a:p>
        </p:txBody>
      </p:sp>
    </p:spTree>
    <p:extLst>
      <p:ext uri="{BB962C8B-B14F-4D97-AF65-F5344CB8AC3E}">
        <p14:creationId xmlns:p14="http://schemas.microsoft.com/office/powerpoint/2010/main" val="13182627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4">
            <a:extLst xmlns:a="http://schemas.openxmlformats.org/drawingml/2006/main">
              <a:ext uri="{FF2B5EF4-FFF2-40B4-BE49-F238E27FC236}">
                <a16:creationId xmlns:a16="http://schemas.microsoft.com/office/drawing/2014/main" id="{91BF4E05-2D66-4665-BFA1-4E6CCDAA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A4</a:t>
            </a:r>
          </a:p>
        </p:txBody>
      </p:sp>
      <p:sp>
        <p:nvSpPr>
          <p:cNvPr id="2" name="Crafted CUDA example: inverse mapping">
            <a:extLst xmlns:a="http://schemas.openxmlformats.org/drawingml/2006/main">
              <a:ext uri="{FF2B5EF4-FFF2-40B4-BE49-F238E27FC236}">
                <a16:creationId xmlns:a16="http://schemas.microsoft.com/office/drawing/2014/main" id="{097AC621-96D7-4DC7-AFA1-1D80134B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inverse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080D3-DE8D-48F7-B9BD-6C9C8F06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13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rotate_rgb(const unsigned char* input,&#10;">
            <a:extLst xmlns:a="http://schemas.openxmlformats.org/drawingml/2006/main">
              <a:ext uri="{FF2B5EF4-FFF2-40B4-BE49-F238E27FC236}">
                <a16:creationId xmlns:a16="http://schemas.microsoft.com/office/drawing/2014/main" id="{8CF25D7C-AAE0-475C-94F3-BEB31452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00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rotate_rgb(const unsigned char* 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unsigned char* 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int width,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float c,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float 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x = blockIdx.x * 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y = blockIdx.y * 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(x &gt;= width || y &gt;=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cx = (width - 1) * 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cy = (height - 1) * 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sx = c * (x - cx) - s * (y - cy) + cx;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sy = s * (x - cx) + c * (y - cy) + cy;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ix = int(floorf(sx + 0.5f));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iy = int(floorf(sy + 0.5f));</a:t>
            </a:r>
          </a:p>
        </p:txBody>
      </p:sp>
      <p:sp>
        <p:nvSpPr>
          <p:cNvPr id="5" name="Global coordinates come from block/thread indices.">
            <a:extLst xmlns:a="http://schemas.openxmlformats.org/drawingml/2006/main">
              <a:ext uri="{FF2B5EF4-FFF2-40B4-BE49-F238E27FC236}">
                <a16:creationId xmlns:a16="http://schemas.microsoft.com/office/drawing/2014/main" id="{068ED0FC-FAE2-474C-8079-C290FFFC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coordinates come from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block/thread indices.</a:t>
            </a:r>
          </a:p>
        </p:txBody>
      </p:sp>
      <p:sp>
        <p:nvSpPr>
          <p:cNvPr id="6" name="The guard handles partial edge blocks before any memory">
            <a:extLst xmlns:a="http://schemas.openxmlformats.org/drawingml/2006/main">
              <a:ext uri="{FF2B5EF4-FFF2-40B4-BE49-F238E27FC236}">
                <a16:creationId xmlns:a16="http://schemas.microsoft.com/office/drawing/2014/main" id="{28850A28-3DC4-4E63-AF32-ECC78340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943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guard handles partial edge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blocks before any memory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access.</a:t>
            </a:r>
          </a:p>
        </p:txBody>
      </p:sp>
      <p:sp>
        <p:nvSpPr>
          <p:cNvPr id="7" name="The host computes sine/cosine once per angle.">
            <a:extLst xmlns:a="http://schemas.openxmlformats.org/drawingml/2006/main">
              <a:ext uri="{FF2B5EF4-FFF2-40B4-BE49-F238E27FC236}">
                <a16:creationId xmlns:a16="http://schemas.microsoft.com/office/drawing/2014/main" id="{67E56F0D-F96C-4684-A070-121BFA8C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756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host computes sine/cosine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once per angle.</a:t>
            </a:r>
          </a:p>
        </p:txBody>
      </p:sp>
      <p:sp>
        <p:nvSpPr>
          <p:cNvPr id="8" name="Nearest-neighbour mapping uses the documented y-down co">
            <a:extLst xmlns:a="http://schemas.openxmlformats.org/drawingml/2006/main">
              <a:ext uri="{FF2B5EF4-FFF2-40B4-BE49-F238E27FC236}">
                <a16:creationId xmlns:a16="http://schemas.microsoft.com/office/drawing/2014/main" id="{9749908A-10B7-443A-B9E6-25AA3EB4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8584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mapping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uses the documented y-down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convention.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A215B-62E9-4623-8B7B-98F86A0F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969571B9-5404-461C-8725-2A7BD9B3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11" name="17 / 56">
            <a:extLst xmlns:a="http://schemas.openxmlformats.org/drawingml/2006/main">
              <a:ext uri="{FF2B5EF4-FFF2-40B4-BE49-F238E27FC236}">
                <a16:creationId xmlns:a16="http://schemas.microsoft.com/office/drawing/2014/main" id="{D01F88E5-1EEC-47D4-9A88-BF413ED5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17 / 56</a:t>
            </a:r>
          </a:p>
        </p:txBody>
      </p:sp>
    </p:spTree>
    <p:extLst>
      <p:ext uri="{BB962C8B-B14F-4D97-AF65-F5344CB8AC3E}">
        <p14:creationId xmlns:p14="http://schemas.microsoft.com/office/powerpoint/2010/main" val="8929701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5">
            <a:extLst xmlns:a="http://schemas.openxmlformats.org/drawingml/2006/main">
              <a:ext uri="{FF2B5EF4-FFF2-40B4-BE49-F238E27FC236}">
                <a16:creationId xmlns:a16="http://schemas.microsoft.com/office/drawing/2014/main" id="{B2983EEC-007E-4326-98FA-F47235E5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A5</a:t>
            </a:r>
          </a:p>
        </p:txBody>
      </p:sp>
      <p:sp>
        <p:nvSpPr>
          <p:cNvPr id="2" name="Crafted CUDA example: safe output writes">
            <a:extLst xmlns:a="http://schemas.openxmlformats.org/drawingml/2006/main">
              <a:ext uri="{FF2B5EF4-FFF2-40B4-BE49-F238E27FC236}">
                <a16:creationId xmlns:a16="http://schemas.microsoft.com/office/drawing/2014/main" id="{CF593E18-ED15-4B88-B640-955AB085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safe output writes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0672A-CFE7-4CEF-8F99-256611AD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3051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    const size_t destination = (size_t(y) * size_t(widt">
            <a:extLst xmlns:a="http://schemas.openxmlformats.org/drawingml/2006/main">
              <a:ext uri="{FF2B5EF4-FFF2-40B4-BE49-F238E27FC236}">
                <a16:creationId xmlns:a16="http://schemas.microsoft.com/office/drawing/2014/main" id="{7710D24A-B92E-495F-905C-74B39556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2918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size_t destination = (size_t(y) * size_t(width) + size_t(x)) * 3;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(ix &gt;= 0 &amp;&amp; ix &lt; width &amp;&amp; iy &gt;= 0 &amp;&amp; iy &lt;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const size_t source = (size_t(iy) * size_t(width) + size_t(ix)) * 3;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output[destination + channel] = input[source + channel];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 else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output[destination + channel] = 0;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RGB address = 3 × (row × width + column).">
            <a:extLst xmlns:a="http://schemas.openxmlformats.org/drawingml/2006/main">
              <a:ext uri="{FF2B5EF4-FFF2-40B4-BE49-F238E27FC236}">
                <a16:creationId xmlns:a16="http://schemas.microsoft.com/office/drawing/2014/main" id="{9CD30FE2-B943-423B-8382-6B4DCD95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RGB address = 3 × (row ×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width + column).</a:t>
            </a:r>
          </a:p>
        </p:txBody>
      </p:sp>
      <p:sp>
        <p:nvSpPr>
          <p:cNvPr id="6" name="Every valid output gets three channels, including black">
            <a:extLst xmlns:a="http://schemas.openxmlformats.org/drawingml/2006/main">
              <a:ext uri="{FF2B5EF4-FFF2-40B4-BE49-F238E27FC236}">
                <a16:creationId xmlns:a16="http://schemas.microsoft.com/office/drawing/2014/main" id="{8F4C0E34-5363-4CAC-B04D-43BE4F50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943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Every valid output gets three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channels, including black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borders.</a:t>
            </a:r>
          </a:p>
        </p:txBody>
      </p:sp>
      <p:sp>
        <p:nvSpPr>
          <p:cNvPr id="7" name="No atomics, mutex or block barrier is needed: writers h">
            <a:extLst xmlns:a="http://schemas.openxmlformats.org/drawingml/2006/main">
              <a:ext uri="{FF2B5EF4-FFF2-40B4-BE49-F238E27FC236}">
                <a16:creationId xmlns:a16="http://schemas.microsoft.com/office/drawing/2014/main" id="{74FE4FD1-9827-4137-A273-D7A0987B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756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atomics, mutex or block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barrier is needed: writers have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disjoint destinations.</a:t>
            </a:r>
          </a:p>
        </p:txBody>
      </p:sp>
      <p:sp>
        <p:nvSpPr>
          <p:cNvPr id="8" name="Total work Θ(W × H); input/output storage Θ(W × H) each">
            <a:extLst xmlns:a="http://schemas.openxmlformats.org/drawingml/2006/main">
              <a:ext uri="{FF2B5EF4-FFF2-40B4-BE49-F238E27FC236}">
                <a16:creationId xmlns:a16="http://schemas.microsoft.com/office/drawing/2014/main" id="{110ECF20-9777-4736-8884-B907FAA3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4568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Total work Θ(W × H);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input/output storage Θ(W × H)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FCAE1-C84F-43D0-B0AA-A2D937C6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1A512B2C-2EDD-46F3-B44E-B3A1E5C9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[22] Topic 9B: mutual exclusion and allocation</a:t>
            </a:r>
          </a:p>
        </p:txBody>
      </p:sp>
      <p:sp>
        <p:nvSpPr>
          <p:cNvPr id="11" name="18 / 56">
            <a:extLst xmlns:a="http://schemas.openxmlformats.org/drawingml/2006/main">
              <a:ext uri="{FF2B5EF4-FFF2-40B4-BE49-F238E27FC236}">
                <a16:creationId xmlns:a16="http://schemas.microsoft.com/office/drawing/2014/main" id="{8319801D-1999-487F-BE6A-C763D2F8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18 / 56</a:t>
            </a:r>
          </a:p>
        </p:txBody>
      </p:sp>
    </p:spTree>
    <p:extLst>
      <p:ext uri="{BB962C8B-B14F-4D97-AF65-F5344CB8AC3E}">
        <p14:creationId xmlns:p14="http://schemas.microsoft.com/office/powerpoint/2010/main" val="16910247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6">
            <a:extLst xmlns:a="http://schemas.openxmlformats.org/drawingml/2006/main">
              <a:ext uri="{FF2B5EF4-FFF2-40B4-BE49-F238E27FC236}">
                <a16:creationId xmlns:a16="http://schemas.microsoft.com/office/drawing/2014/main" id="{F27A6FB5-4947-4DF8-8604-436996B8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A6</a:t>
            </a:r>
          </a:p>
        </p:txBody>
      </p:sp>
      <p:sp>
        <p:nvSpPr>
          <p:cNvPr id="2" name="Host orchestration and completion">
            <a:extLst xmlns:a="http://schemas.openxmlformats.org/drawingml/2006/main">
              <a:ext uri="{FF2B5EF4-FFF2-40B4-BE49-F238E27FC236}">
                <a16:creationId xmlns:a16="http://schemas.microsoft.com/office/drawing/2014/main" id="{93101916-C7DC-4AD8-A190-3DCB2BCD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orchestration and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BCE76-032F-46B2-8602-1B24BC3D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dim3 block(16, 16);&#10;dim3 grid(1u + (unsigned(W)-1u)/blo">
            <a:extLst xmlns:a="http://schemas.openxmlformats.org/drawingml/2006/main">
              <a:ext uri="{FF2B5EF4-FFF2-40B4-BE49-F238E27FC236}">
                <a16:creationId xmlns:a16="http://schemas.microsoft.com/office/drawing/2014/main" id="{548C225A-242A-459A-A78F-29F83B8E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block(16, 16);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grid(1u + (unsigned(W)-1u)/block.x,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1u + (unsigned(H)-1u)/block.y);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cudaMemcpy(d_in, h_in,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cudaMemcpyHostToDevice);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 block&gt;&gt;&gt;(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d_in, d_out, W, H, c, s);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cudaGetLastError();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cudaMemcpy(h_out, d_out,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cudaMemcpyDeviceToHost);</a:t>
            </a:r>
          </a:p>
        </p:txBody>
      </p:sp>
      <p:sp>
        <p:nvSpPr>
          <p:cNvPr id="5" name="Illustrative excerpt, not a complete program: W/H &gt; 0; ">
            <a:extLst xmlns:a="http://schemas.openxmlformats.org/drawingml/2006/main">
              <a:ext uri="{FF2B5EF4-FFF2-40B4-BE49-F238E27FC236}">
                <a16:creationId xmlns:a16="http://schemas.microsoft.com/office/drawing/2014/main" id="{D21CB72C-9AE9-4AA4-88A9-0AA42A89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1337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Illustrative excerpt, not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complete program: W/H &gt; 0;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bytes = 3 × W × H checked in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size_t; valid separate buffers;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grid/device limits validated.</a:t>
            </a:r>
          </a:p>
        </p:txBody>
      </p:sp>
      <p:sp>
        <p:nvSpPr>
          <p:cNvPr id="6" name="CPU loads/decodes, allocates host/device buffers, check">
            <a:extLst xmlns:a="http://schemas.openxmlformats.org/drawingml/2006/main">
              <a:ext uri="{FF2B5EF4-FFF2-40B4-BE49-F238E27FC236}">
                <a16:creationId xmlns:a16="http://schemas.microsoft.com/office/drawing/2014/main" id="{3540276D-E8B3-41CB-93CB-790EA0A2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08960"/>
            <a:ext cx="2933700" cy="1337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loads/decodes, allocates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host/device buffers, checks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every API/launch/completion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result, saves output and frees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resources safely.</a:t>
            </a:r>
          </a:p>
        </p:txBody>
      </p:sp>
      <p:sp>
        <p:nvSpPr>
          <p:cNvPr id="7" name="For this ordered synchronous-copy example, D2H supplies">
            <a:extLst xmlns:a="http://schemas.openxmlformats.org/drawingml/2006/main">
              <a:ext uri="{FF2B5EF4-FFF2-40B4-BE49-F238E27FC236}">
                <a16:creationId xmlns:a16="http://schemas.microsoft.com/office/drawing/2014/main" id="{A3803227-410F-409D-B0E4-BFAC98AB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36770"/>
            <a:ext cx="2933700" cy="1856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this ordered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synchronous-copy example,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D2H supplies completed host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data. A launch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asynchronous; launch-error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checks alone do not establish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successful completion.</a:t>
            </a:r>
          </a:p>
        </p:txBody>
      </p:sp>
      <p:sp>
        <p:nvSpPr>
          <p:cNvPr id="8" name="Pinned host storage is page-locked and supports efficie">
            <a:extLst xmlns:a="http://schemas.openxmlformats.org/drawingml/2006/main">
              <a:ext uri="{FF2B5EF4-FFF2-40B4-BE49-F238E27FC236}">
                <a16:creationId xmlns:a16="http://schemas.microsoft.com/office/drawing/2014/main" id="{6290063E-6A8A-4C36-BE51-D5492780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684264"/>
            <a:ext cx="2933700" cy="1597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host storage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page-locked and supports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efficient DMA. Pageable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memory may need runtime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staging. Avoid excessive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D4F05-DE43-4624-9829-4A096649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3] To">
            <a:extLst xmlns:a="http://schemas.openxmlformats.org/drawingml/2006/main">
              <a:ext uri="{FF2B5EF4-FFF2-40B4-BE49-F238E27FC236}">
                <a16:creationId xmlns:a16="http://schemas.microsoft.com/office/drawing/2014/main" id="{DCDADCF6-7F7E-490A-84AC-D5D7F7C0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[3] Topic 9A: synchronization; [4] NVIDIA CUDA programming model; [5] NVIDIA CUDA Best Practices</a:t>
            </a:r>
          </a:p>
        </p:txBody>
      </p:sp>
      <p:sp>
        <p:nvSpPr>
          <p:cNvPr id="11" name="19 / 56">
            <a:extLst xmlns:a="http://schemas.openxmlformats.org/drawingml/2006/main">
              <a:ext uri="{FF2B5EF4-FFF2-40B4-BE49-F238E27FC236}">
                <a16:creationId xmlns:a16="http://schemas.microsoft.com/office/drawing/2014/main" id="{1BCAE6DE-0016-47C6-93A9-3E5FA576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19 / 56</a:t>
            </a:r>
          </a:p>
        </p:txBody>
      </p:sp>
    </p:spTree>
    <p:extLst>
      <p:ext uri="{BB962C8B-B14F-4D97-AF65-F5344CB8AC3E}">
        <p14:creationId xmlns:p14="http://schemas.microsoft.com/office/powerpoint/2010/main" val="19521329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A7">
            <a:extLst xmlns:a="http://schemas.openxmlformats.org/drawingml/2006/main">
              <a:ext uri="{FF2B5EF4-FFF2-40B4-BE49-F238E27FC236}">
                <a16:creationId xmlns:a16="http://schemas.microsoft.com/office/drawing/2014/main" id="{B3A65A84-32E4-4E0D-BE37-82873C0E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A7</a:t>
            </a:r>
          </a:p>
        </p:txBody>
      </p:sp>
      <p:sp>
        <p:nvSpPr>
          <p:cNvPr id="2" name="Launch shape and memory access">
            <a:extLst xmlns:a="http://schemas.openxmlformats.org/drawingml/2006/main">
              <a:ext uri="{FF2B5EF4-FFF2-40B4-BE49-F238E27FC236}">
                <a16:creationId xmlns:a16="http://schemas.microsoft.com/office/drawing/2014/main" id="{E6EB6ADD-E1EC-45E9-BDBA-30D34EA3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Launch shape and memory access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22E06-E8FE-414A-BBB3-2B4EA8A391DD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Choice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Mechanism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Performance implication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 × 16 block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256 threads; each warp spans two 16-wide rows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Reasonable 2D starting point; row edges/alignment matter.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32 × 8 block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256 threads; each warp spans one 32-wide row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May improve row-oriented access; no universal winner.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Output gathering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Adjacent x threads write adjacent RGB pixels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 write locality; per-channel byte operations still require efficient transactions.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Rotated input reads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Angle changes the source addresses visited by a warp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Irregular gathers can reduce effective read bandwidth/cache reuse.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residency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Registers, shared memory and block/thread limits constrain active warps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Helps hide latency; maximum occupancy is not automatically fastest.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ompute grid for each block shape. Profile actual tra">
            <a:extLst xmlns:a="http://schemas.openxmlformats.org/drawingml/2006/main">
              <a:ext uri="{FF2B5EF4-FFF2-40B4-BE49-F238E27FC236}">
                <a16:creationId xmlns:a16="http://schemas.microsoft.com/office/drawing/2014/main" id="{2D740E78-6D58-4D6D-A447-A10E8E49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Recompute grid for each block shape. Profile actual transactions, latency and registers before selecting a shape.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21D0B-F484-4584-B238-0C76EC8A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47FCF2E8-9FBE-42E3-BAFD-513DB6F8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[5] NVIDIA CUDA Best Practices</a:t>
            </a:r>
          </a:p>
        </p:txBody>
      </p:sp>
      <p:sp>
        <p:nvSpPr>
          <p:cNvPr id="7" name="20 / 56">
            <a:extLst xmlns:a="http://schemas.openxmlformats.org/drawingml/2006/main">
              <a:ext uri="{FF2B5EF4-FFF2-40B4-BE49-F238E27FC236}">
                <a16:creationId xmlns:a16="http://schemas.microsoft.com/office/drawing/2014/main" id="{DD0B6E5C-8698-4C07-A1C6-C77C9203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20 / 56</a:t>
            </a:r>
          </a:p>
        </p:txBody>
      </p:sp>
    </p:spTree>
    <p:extLst>
      <p:ext uri="{BB962C8B-B14F-4D97-AF65-F5344CB8AC3E}">
        <p14:creationId xmlns:p14="http://schemas.microsoft.com/office/powerpoint/2010/main" val="4963108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8">
            <a:extLst xmlns:a="http://schemas.openxmlformats.org/drawingml/2006/main">
              <a:ext uri="{FF2B5EF4-FFF2-40B4-BE49-F238E27FC236}">
                <a16:creationId xmlns:a16="http://schemas.microsoft.com/office/drawing/2014/main" id="{20DBE39E-6101-4A18-A9B8-769EA1AC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A8</a:t>
            </a:r>
          </a:p>
        </p:txBody>
      </p:sp>
      <p:sp>
        <p:nvSpPr>
          <p:cNvPr id="2" name="Asynchronous work within one stream">
            <a:extLst xmlns:a="http://schemas.openxmlformats.org/drawingml/2006/main">
              <a:ext uri="{FF2B5EF4-FFF2-40B4-BE49-F238E27FC236}">
                <a16:creationId xmlns:a16="http://schemas.microsoft.com/office/drawing/2014/main" id="{B3FFAE90-96B8-4BEC-BA79-499A7CD5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Asynchronous work within one 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F9634-70EA-4F74-BD0F-98467750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13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cudaError_t enqueue_rotation(const unsigned char* h_inp">
            <a:extLst xmlns:a="http://schemas.openxmlformats.org/drawingml/2006/main">
              <a:ext uri="{FF2B5EF4-FFF2-40B4-BE49-F238E27FC236}">
                <a16:creationId xmlns:a16="http://schemas.microsoft.com/office/drawing/2014/main" id="{F10FAF58-5EA5-4908-9D5E-FE329910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00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cudaError_t enqueue_rotation(const unsigned char* h_input,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h_output,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d_input,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d_output,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size_t bytes, int width,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float c, float s, cudaStream_t stream)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dim3 block(32, 8);  // Compare against dim3(16, 16) when profiling.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dim3 grid = rotation_grid(width, height, block);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cudaError_t status = cudaMemcpyAsync(d_input, h_input,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         cudaMemcpyHostToDevice, stream);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(status != cudaSuccess) return status;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rotate_rgb&lt;&lt;&lt;grid, block, 0, stream&gt;&gt;&gt;(d_input, d_output,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          width, height, c, s);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status = cudaGetLastError();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(status != cudaSuccess) return status;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return cudaMemcpyAsync(h_output, d_output,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cudaMemcpyDeviceToHost, stream);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Full enqueue function from the supplied performance exa">
            <a:extLst xmlns:a="http://schemas.openxmlformats.org/drawingml/2006/main">
              <a:ext uri="{FF2B5EF4-FFF2-40B4-BE49-F238E27FC236}">
                <a16:creationId xmlns:a16="http://schemas.microsoft.com/office/drawing/2014/main" id="{384B75C4-8877-4F52-AB86-8A907973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Full enqueue function from the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supplied performance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example.</a:t>
            </a:r>
          </a:p>
        </p:txBody>
      </p:sp>
      <p:sp>
        <p:nvSpPr>
          <p:cNvPr id="6" name="Pinned host buffers and checked sizes are preconditions">
            <a:extLst xmlns:a="http://schemas.openxmlformats.org/drawingml/2006/main">
              <a:ext uri="{FF2B5EF4-FFF2-40B4-BE49-F238E27FC236}">
                <a16:creationId xmlns:a16="http://schemas.microsoft.com/office/drawing/2014/main" id="{C7606616-554F-4577-B4D7-9EA1DC3C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8927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host buffers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checked sizes are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preconditions.</a:t>
            </a:r>
          </a:p>
        </p:txBody>
      </p:sp>
      <p:sp>
        <p:nvSpPr>
          <p:cNvPr id="7" name="Success means submitted work; wait before reading, reus">
            <a:extLst xmlns:a="http://schemas.openxmlformats.org/drawingml/2006/main">
              <a:ext uri="{FF2B5EF4-FFF2-40B4-BE49-F238E27FC236}">
                <a16:creationId xmlns:a16="http://schemas.microsoft.com/office/drawing/2014/main" id="{DBB350DD-7D43-4527-BC45-336A3DB4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97402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Success means submitted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work; wait before reading,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reusing or freeing buffers.</a:t>
            </a:r>
          </a:p>
        </p:txBody>
      </p:sp>
      <p:sp>
        <p:nvSpPr>
          <p:cNvPr id="8" name="On error, previously enqueued work may still be pending">
            <a:extLst xmlns:a="http://schemas.openxmlformats.org/drawingml/2006/main">
              <a:ext uri="{FF2B5EF4-FFF2-40B4-BE49-F238E27FC236}">
                <a16:creationId xmlns:a16="http://schemas.microsoft.com/office/drawing/2014/main" id="{D293241A-FEC0-40D5-90B0-B2A3DF3A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05528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 error, previously enqueued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 may still be pending.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3C7AE-6B70-4676-9974-E9409236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3] Topic 9A: synchronization; [5] NVIDIA CUDA">
            <a:extLst xmlns:a="http://schemas.openxmlformats.org/drawingml/2006/main">
              <a:ext uri="{FF2B5EF4-FFF2-40B4-BE49-F238E27FC236}">
                <a16:creationId xmlns:a16="http://schemas.microsoft.com/office/drawing/2014/main" id="{7771DB76-174D-4250-8C72-540F04B0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[3] Topic 9A: synchronization; [5] NVIDIA CUDA Best Practices</a:t>
            </a:r>
          </a:p>
        </p:txBody>
      </p:sp>
      <p:sp>
        <p:nvSpPr>
          <p:cNvPr id="11" name="21 / 56">
            <a:extLst xmlns:a="http://schemas.openxmlformats.org/drawingml/2006/main">
              <a:ext uri="{FF2B5EF4-FFF2-40B4-BE49-F238E27FC236}">
                <a16:creationId xmlns:a16="http://schemas.microsoft.com/office/drawing/2014/main" id="{DD25CCA2-AD7E-438F-A46D-0ADF82E8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21 / 56</a:t>
            </a:r>
          </a:p>
        </p:txBody>
      </p:sp>
    </p:spTree>
    <p:extLst>
      <p:ext uri="{BB962C8B-B14F-4D97-AF65-F5344CB8AC3E}">
        <p14:creationId xmlns:p14="http://schemas.microsoft.com/office/powerpoint/2010/main" val="89525880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D50BD6-8A87-4D1F-8897-804711812555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505825" y="37909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81C613-9D9D-4F4F-834C-39C86F17759D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353175" y="37909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5414E-48E3-4CAC-9C9A-E6A45084F86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981825" y="23907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04B46-6501-4D46-A53A-25E7FB8AEAD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29175" y="23907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23" name="Appendix A9">
            <a:extLst xmlns:a="http://schemas.openxmlformats.org/drawingml/2006/main">
              <a:ext uri="{FF2B5EF4-FFF2-40B4-BE49-F238E27FC236}">
                <a16:creationId xmlns:a16="http://schemas.microsoft.com/office/drawing/2014/main" id="{CA08103E-FD50-4B39-B3B3-8E163635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A9</a:t>
            </a:r>
          </a:p>
        </p:txBody>
      </p:sp>
      <p:sp>
        <p:nvSpPr>
          <p:cNvPr id="2" name="Batch overlap and GPU residency">
            <a:extLst xmlns:a="http://schemas.openxmlformats.org/drawingml/2006/main">
              <a:ext uri="{FF2B5EF4-FFF2-40B4-BE49-F238E27FC236}">
                <a16:creationId xmlns:a16="http://schemas.microsoft.com/office/drawing/2014/main" id="{BD1AF4F0-BFDA-473B-8675-8CD83D84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Batch overlap and GPU residency</a:t>
            </a:r>
          </a:p>
        </p:txBody>
      </p:sp>
      <p:sp>
        <p:nvSpPr>
          <p:cNvPr id="3" name="Same stream: H2D → kernel → D2H, in order">
            <a:extLst xmlns:a="http://schemas.openxmlformats.org/drawingml/2006/main">
              <a:ext uri="{FF2B5EF4-FFF2-40B4-BE49-F238E27FC236}">
                <a16:creationId xmlns:a16="http://schemas.microsoft.com/office/drawing/2014/main" id="{0D5687D2-A1CE-481C-8B8E-B6C93D3F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Same stream: H2D → kernel → D2H, in order</a:t>
            </a:r>
          </a:p>
        </p:txBody>
      </p:sp>
      <p:sp>
        <p:nvSpPr>
          <p:cNvPr id="4" name="Stream A / image A">
            <a:extLst xmlns:a="http://schemas.openxmlformats.org/drawingml/2006/main">
              <a:ext uri="{FF2B5EF4-FFF2-40B4-BE49-F238E27FC236}">
                <a16:creationId xmlns:a16="http://schemas.microsoft.com/office/drawing/2014/main" id="{1BBD5B4E-F281-4595-A073-BF2CE7EB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1907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 A / image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B5B69-13B1-4C79-A54C-0A41B02D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H2D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A087E-03A4-4BE4-8A16-79477589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2E3E5-B552-4C52-9DD8-530C8AF4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D2H</a:t>
            </a:r>
          </a:p>
        </p:txBody>
      </p:sp>
      <p:sp>
        <p:nvSpPr>
          <p:cNvPr id="10" name="Stream B / image B">
            <a:extLst xmlns:a="http://schemas.openxmlformats.org/drawingml/2006/main">
              <a:ext uri="{FF2B5EF4-FFF2-40B4-BE49-F238E27FC236}">
                <a16:creationId xmlns:a16="http://schemas.microsoft.com/office/drawing/2014/main" id="{9C90196F-D73E-487D-B2F5-715BD61D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1907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 B / image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34C8B-5A80-4EF0-9D64-07F0CE07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H2D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7A2A5-BF17-4FA2-A83D-B1DC6641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4E410-DF2F-4297-89D6-A60DDCCE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D2H</a:t>
            </a:r>
          </a:p>
        </p:txBody>
      </p:sp>
      <p:sp>
        <p:nvSpPr>
          <p:cNvPr id="16" name="Schematic overlap opportunity; not measured durations o">
            <a:extLst xmlns:a="http://schemas.openxmlformats.org/drawingml/2006/main">
              <a:ext uri="{FF2B5EF4-FFF2-40B4-BE49-F238E27FC236}">
                <a16:creationId xmlns:a16="http://schemas.microsoft.com/office/drawing/2014/main" id="{30C145E8-BEBA-4681-B21C-95A813DE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Schematic overlap opportunity; not measured durations or guaranteed simultaneous execution.</a:t>
            </a:r>
          </a:p>
        </p:txBody>
      </p:sp>
      <p:sp>
        <p:nvSpPr>
          <p:cNvPr id="17" name="Independent streams + separate pinned/device buffers + ">
            <a:extLst xmlns:a="http://schemas.openxmlformats.org/drawingml/2006/main">
              <a:ext uri="{FF2B5EF4-FFF2-40B4-BE49-F238E27FC236}">
                <a16:creationId xmlns:a16="http://schemas.microsoft.com/office/drawing/2014/main" id="{2F72CA3E-E960-4DF1-9866-58810854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Independent streams + separate pinned/device buffers + supporting copy/compute resources. Synchronize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reuse. Extra buffers consume memory; device residency avoids unnecessary round trips.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8AB2C3-6E69-4E84-8A73-D0C6EEAE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9" name="Overlap changes the critical path, not the amount of ro">
            <a:extLst xmlns:a="http://schemas.openxmlformats.org/drawingml/2006/main">
              <a:ext uri="{FF2B5EF4-FFF2-40B4-BE49-F238E27FC236}">
                <a16:creationId xmlns:a16="http://schemas.microsoft.com/office/drawing/2014/main" id="{59F2991F-5083-48E4-AD86-F2EFD62E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Overlap changes the critical path, not the amount of rotation work.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15F25A-F31A-48AE-A2AC-86CFE78E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1" name="Sources: [3] Topic 9A: synchronization; [5] NVIDIA CUDA">
            <a:extLst xmlns:a="http://schemas.openxmlformats.org/drawingml/2006/main">
              <a:ext uri="{FF2B5EF4-FFF2-40B4-BE49-F238E27FC236}">
                <a16:creationId xmlns:a16="http://schemas.microsoft.com/office/drawing/2014/main" id="{9E41DE39-F000-4987-9C59-637C0E26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[3] Topic 9A: synchronization; [5] NVIDIA CUDA Best Practices</a:t>
            </a:r>
          </a:p>
        </p:txBody>
      </p:sp>
      <p:sp>
        <p:nvSpPr>
          <p:cNvPr id="22" name="22 / 56">
            <a:extLst xmlns:a="http://schemas.openxmlformats.org/drawingml/2006/main">
              <a:ext uri="{FF2B5EF4-FFF2-40B4-BE49-F238E27FC236}">
                <a16:creationId xmlns:a16="http://schemas.microsoft.com/office/drawing/2014/main" id="{20D45B3B-6F7B-443A-99E8-57FB6FFE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22 / 56</a:t>
            </a:r>
          </a:p>
        </p:txBody>
      </p:sp>
    </p:spTree>
    <p:extLst>
      <p:ext uri="{BB962C8B-B14F-4D97-AF65-F5344CB8AC3E}">
        <p14:creationId xmlns:p14="http://schemas.microsoft.com/office/powerpoint/2010/main" val="16148461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0">
            <a:extLst xmlns:a="http://schemas.openxmlformats.org/drawingml/2006/main">
              <a:ext uri="{FF2B5EF4-FFF2-40B4-BE49-F238E27FC236}">
                <a16:creationId xmlns:a16="http://schemas.microsoft.com/office/drawing/2014/main" id="{E983107B-84C4-4C60-9777-633A8B77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A10</a:t>
            </a:r>
          </a:p>
        </p:txBody>
      </p:sp>
      <p:sp>
        <p:nvSpPr>
          <p:cNvPr id="2" name="Fair speedup comparison and profiling">
            <a:extLst xmlns:a="http://schemas.openxmlformats.org/drawingml/2006/main">
              <a:ext uri="{FF2B5EF4-FFF2-40B4-BE49-F238E27FC236}">
                <a16:creationId xmlns:a16="http://schemas.microsoft.com/office/drawing/2014/main" id="{7A213FD3-97D9-497E-B26E-0ED9F132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 speedup comparison and profiling</a:t>
            </a:r>
          </a:p>
        </p:txBody>
      </p:sp>
      <p:sp>
        <p:nvSpPr>
          <p:cNvPr id="3" name="Comparable baselines">
            <a:extLst xmlns:a="http://schemas.openxmlformats.org/drawingml/2006/main">
              <a:ext uri="{FF2B5EF4-FFF2-40B4-BE49-F238E27FC236}">
                <a16:creationId xmlns:a16="http://schemas.microsoft.com/office/drawing/2014/main" id="{FEB6D9C4-A0E4-4FCE-9D99-E8D571C5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Comparable baselines</a:t>
            </a:r>
          </a:p>
        </p:txBody>
      </p:sp>
      <p:sp>
        <p:nvSpPr>
          <p:cNvPr id="4" name="Primary baseline: one CPU thread performs the same RGB ">
            <a:extLst xmlns:a="http://schemas.openxmlformats.org/drawingml/2006/main">
              <a:ext uri="{FF2B5EF4-FFF2-40B4-BE49-F238E27FC236}">
                <a16:creationId xmlns:a16="http://schemas.microsoft.com/office/drawing/2014/main" id="{1DD7E75A-DF57-4EE3-A7A5-1FF2B5AB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Primary baseline: one CPU thread performs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RGB inverse mapping, nearest-neighbour rule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fixed canvas. Also compare a multithreaded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for a stronger practical baseline.</a:t>
            </a:r>
          </a:p>
        </p:txBody>
      </p:sp>
      <p:sp>
        <p:nvSpPr>
          <p:cNvPr id="5" name="Use identical inputs/angles and verify identical or jus">
            <a:extLst xmlns:a="http://schemas.openxmlformats.org/drawingml/2006/main">
              <a:ext uri="{FF2B5EF4-FFF2-40B4-BE49-F238E27FC236}">
                <a16:creationId xmlns:a16="http://schemas.microsoft.com/office/drawing/2014/main" id="{39414A66-9F30-4DAA-A737-606EAF42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identical inputs/angles and verify identical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justified numerically equivalent outputs. Include file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decoding/I/O in both paths or exclude it from both.</a:t>
            </a:r>
          </a:p>
        </p:txBody>
      </p:sp>
      <p:sp>
        <p:nvSpPr>
          <p:cNvPr id="6" name="For the stated decoded-buffer comparison, include GPU a">
            <a:extLst xmlns:a="http://schemas.openxmlformats.org/drawingml/2006/main">
              <a:ext uri="{FF2B5EF4-FFF2-40B4-BE49-F238E27FC236}">
                <a16:creationId xmlns:a16="http://schemas.microsoft.com/office/drawing/2014/main" id="{A51E40A5-530B-48C2-8F8D-F823E3CE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the stated decoded-buffer comparison, include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allocation, H2D, launch, completed kernel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D2H; CPU timing covers the corresponding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 and rotation.</a:t>
            </a:r>
          </a:p>
        </p:txBody>
      </p:sp>
      <p:sp>
        <p:nvSpPr>
          <p:cNvPr id="7" name="Measure the bottleneck">
            <a:extLst xmlns:a="http://schemas.openxmlformats.org/drawingml/2006/main">
              <a:ext uri="{FF2B5EF4-FFF2-40B4-BE49-F238E27FC236}">
                <a16:creationId xmlns:a16="http://schemas.microsoft.com/office/drawing/2014/main" id="{28727D2C-2D07-4D0F-AA67-23A282CF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Measure the bottleneck</a:t>
            </a:r>
          </a:p>
        </p:txBody>
      </p:sp>
      <p:sp>
        <p:nvSpPr>
          <p:cNvPr id="8" name="Report cold-start and warmed repeated runs separately. ">
            <a:extLst xmlns:a="http://schemas.openxmlformats.org/drawingml/2006/main">
              <a:ext uri="{FF2B5EF4-FFF2-40B4-BE49-F238E27FC236}">
                <a16:creationId xmlns:a16="http://schemas.microsoft.com/office/drawing/2014/main" id="{17782904-6A63-43A3-B3E2-25E988BE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cold-start and warmed repeated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separately. Use CUDA events for kernel elapsed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time after completion and a host timer through final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completion for total latency.</a:t>
            </a:r>
          </a:p>
        </p:txBody>
      </p:sp>
      <p:sp>
        <p:nvSpPr>
          <p:cNvPr id="9" name="Vary image size, angle, block shape and batch size; rec">
            <a:extLst xmlns:a="http://schemas.openxmlformats.org/drawingml/2006/main">
              <a:ext uri="{FF2B5EF4-FFF2-40B4-BE49-F238E27FC236}">
                <a16:creationId xmlns:a16="http://schemas.microsoft.com/office/drawing/2014/main" id="{604147CF-C548-4569-BA34-D0CD5508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Vary image size, angle, block shape and batch size;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record hardware, transfer mode, register use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effective memory/link bandwidth.</a:t>
            </a:r>
          </a:p>
        </p:txBody>
      </p:sp>
      <p:sp>
        <p:nvSpPr>
          <p:cNvPr id="10" name="The sequential sum does not apply unchanged to overlapp">
            <a:extLst xmlns:a="http://schemas.openxmlformats.org/drawingml/2006/main">
              <a:ext uri="{FF2B5EF4-FFF2-40B4-BE49-F238E27FC236}">
                <a16:creationId xmlns:a16="http://schemas.microsoft.com/office/drawing/2014/main" id="{43C0C5C8-7734-4A7B-A92E-B44C5396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sequential sum does not apply unchanged to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overlapping streams: measure the completed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critical path. Lower kernel time alone cannot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establish end-to-end speedup.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A981A-5EE9-46FB-919F-9D918B40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29310-4C07-43D3-A866-E5E07B43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C44C1C77-1272-4CB9-92E2-0665D3C8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</a:t>
            </a:r>
          </a:p>
        </p:txBody>
      </p:sp>
      <p:sp>
        <p:nvSpPr>
          <p:cNvPr id="14" name="23 / 56">
            <a:extLst xmlns:a="http://schemas.openxmlformats.org/drawingml/2006/main">
              <a:ext uri="{FF2B5EF4-FFF2-40B4-BE49-F238E27FC236}">
                <a16:creationId xmlns:a16="http://schemas.microsoft.com/office/drawing/2014/main" id="{C809B954-5DDA-4E24-901E-37081E55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23 / 56</a:t>
            </a:r>
          </a:p>
        </p:txBody>
      </p:sp>
    </p:spTree>
    <p:extLst>
      <p:ext uri="{BB962C8B-B14F-4D97-AF65-F5344CB8AC3E}">
        <p14:creationId xmlns:p14="http://schemas.microsoft.com/office/powerpoint/2010/main" val="81957711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1">
            <a:extLst xmlns:a="http://schemas.openxmlformats.org/drawingml/2006/main">
              <a:ext uri="{FF2B5EF4-FFF2-40B4-BE49-F238E27FC236}">
                <a16:creationId xmlns:a16="http://schemas.microsoft.com/office/drawing/2014/main" id="{4CDF21C3-9737-4CB3-947D-03554EAB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A11</a:t>
            </a:r>
          </a:p>
        </p:txBody>
      </p:sp>
      <p:sp>
        <p:nvSpPr>
          <p:cNvPr id="2" name="GDS decision for the proposed pipeline">
            <a:extLst xmlns:a="http://schemas.openxmlformats.org/drawingml/2006/main">
              <a:ext uri="{FF2B5EF4-FFF2-40B4-BE49-F238E27FC236}">
                <a16:creationId xmlns:a16="http://schemas.microsoft.com/office/drawing/2014/main" id="{70943DA4-2231-46AD-A46C-98383ADA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decision for the proposed pipeline</a:t>
            </a:r>
          </a:p>
        </p:txBody>
      </p:sp>
      <p:sp>
        <p:nvSpPr>
          <p:cNvPr id="3" name="Conventional decoded-image path">
            <a:extLst xmlns:a="http://schemas.openxmlformats.org/drawingml/2006/main">
              <a:ext uri="{FF2B5EF4-FFF2-40B4-BE49-F238E27FC236}">
                <a16:creationId xmlns:a16="http://schemas.microsoft.com/office/drawing/2014/main" id="{5FD8699A-CBDD-46F9-8373-BDB79DD3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Conventional decoded-image path</a:t>
            </a:r>
          </a:p>
        </p:txBody>
      </p:sp>
      <p:sp>
        <p:nvSpPr>
          <p:cNvPr id="4" name="CPU decoding requires host-visible compressed bytes and">
            <a:extLst xmlns:a="http://schemas.openxmlformats.org/drawingml/2006/main">
              <a:ext uri="{FF2B5EF4-FFF2-40B4-BE49-F238E27FC236}">
                <a16:creationId xmlns:a16="http://schemas.microsoft.com/office/drawing/2014/main" id="{E9C9AD96-ED4E-4BDD-85B9-36147CC6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decoding requires host-visible compressed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bytes and produces pixels in RAM. Those pixels 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copied to the GPU; the rotation kernel then runs.</a:t>
            </a:r>
          </a:p>
        </p:txBody>
      </p:sp>
      <p:sp>
        <p:nvSpPr>
          <p:cNvPr id="5" name="A single small image already in RAM gains little from b">
            <a:extLst xmlns:a="http://schemas.openxmlformats.org/drawingml/2006/main">
              <a:ext uri="{FF2B5EF4-FFF2-40B4-BE49-F238E27FC236}">
                <a16:creationId xmlns:a16="http://schemas.microsoft.com/office/drawing/2014/main" id="{E91C97F7-1F36-4E08-A7F5-1FD2B0CB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single small image already in RAM gains little from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bypassing a storage step that is no longer on its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path.</a:t>
            </a:r>
          </a:p>
        </p:txBody>
      </p:sp>
      <p:sp>
        <p:nvSpPr>
          <p:cNvPr id="6" name="GDS does not decode an image, bypass an application’s C">
            <a:extLst xmlns:a="http://schemas.openxmlformats.org/drawingml/2006/main">
              <a:ext uri="{FF2B5EF4-FFF2-40B4-BE49-F238E27FC236}">
                <a16:creationId xmlns:a16="http://schemas.microsoft.com/office/drawing/2014/main" id="{0871B393-E0CF-408C-A219-ED1B122C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does not decode an image, bypass an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application’s CPU transformation, or make GPU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memory access itself faster.</a:t>
            </a:r>
          </a:p>
        </p:txBody>
      </p:sp>
      <p:sp>
        <p:nvSpPr>
          <p:cNvPr id="7" name="Conditional batch alternative">
            <a:extLst xmlns:a="http://schemas.openxmlformats.org/drawingml/2006/main">
              <a:ext uri="{FF2B5EF4-FFF2-40B4-BE49-F238E27FC236}">
                <a16:creationId xmlns:a16="http://schemas.microsoft.com/office/drawing/2014/main" id="{CF253DA4-D42A-4AFD-821B-433B63E3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Conditional batch alternative</a:t>
            </a:r>
          </a:p>
        </p:txBody>
      </p:sp>
      <p:sp>
        <p:nvSpPr>
          <p:cNvPr id="8" name="Large storage-bound batches of GPU-ready pixels, or a c">
            <a:extLst xmlns:a="http://schemas.openxmlformats.org/drawingml/2006/main">
              <a:ext uri="{FF2B5EF4-FFF2-40B4-BE49-F238E27FC236}">
                <a16:creationId xmlns:a16="http://schemas.microsoft.com/office/drawing/2014/main" id="{06894DCC-7B98-48AB-AB62-6E471326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Large storage-bound batches of GPU-ready pixels,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or a compatible GPU decoding pipeline, may avoid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staging via cuFile and storage-side DMA.</a:t>
            </a:r>
          </a:p>
        </p:txBody>
      </p:sp>
      <p:sp>
        <p:nvSpPr>
          <p:cNvPr id="9" name="Verify the GPU, storage/filesystem, software and PCIe t">
            <a:extLst xmlns:a="http://schemas.openxmlformats.org/drawingml/2006/main">
              <a:ext uri="{FF2B5EF4-FFF2-40B4-BE49-F238E27FC236}">
                <a16:creationId xmlns:a16="http://schemas.microsoft.com/office/drawing/2014/main" id="{A6F94C3B-46E2-455E-B065-6CC36752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Verify the GPU, storage/filesystem, software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PCIe topology support the direct path. Compatibility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fallback uses host staging and is not evidence of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direct DMA.</a:t>
            </a:r>
          </a:p>
        </p:txBody>
      </p:sp>
      <p:sp>
        <p:nvSpPr>
          <p:cNvPr id="10" name="Adopt only if completed batch time/CPU overhead improve">
            <a:extLst xmlns:a="http://schemas.openxmlformats.org/drawingml/2006/main">
              <a:ext uri="{FF2B5EF4-FFF2-40B4-BE49-F238E27FC236}">
                <a16:creationId xmlns:a16="http://schemas.microsoft.com/office/drawing/2014/main" id="{8D811B9E-F1F7-445B-8C65-69AB9059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Adopt only if completed batch time/CPU overhead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improve on the real workload; include extra buffers,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decoding and storage bandwidth. Otherwise retain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conventional copies.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1F2DF-139E-4159-8A30-A8A471A4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E654E-491D-47A2-837D-57876920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6] NVIDIA GDS overview; [7] NVIDIA GDS design">
            <a:extLst xmlns:a="http://schemas.openxmlformats.org/drawingml/2006/main">
              <a:ext uri="{FF2B5EF4-FFF2-40B4-BE49-F238E27FC236}">
                <a16:creationId xmlns:a16="http://schemas.microsoft.com/office/drawing/2014/main" id="{28880A87-12C4-4747-B49C-2F89434F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NVIDIA GDS overview; [7] NVIDIA GDS design</a:t>
            </a:r>
          </a:p>
        </p:txBody>
      </p:sp>
      <p:sp>
        <p:nvSpPr>
          <p:cNvPr id="14" name="24 / 56">
            <a:extLst xmlns:a="http://schemas.openxmlformats.org/drawingml/2006/main">
              <a:ext uri="{FF2B5EF4-FFF2-40B4-BE49-F238E27FC236}">
                <a16:creationId xmlns:a16="http://schemas.microsoft.com/office/drawing/2014/main" id="{0ED74B2A-8592-4801-B3D2-7DD4214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24 / 56</a:t>
            </a:r>
          </a:p>
        </p:txBody>
      </p:sp>
    </p:spTree>
    <p:extLst>
      <p:ext uri="{BB962C8B-B14F-4D97-AF65-F5344CB8AC3E}">
        <p14:creationId xmlns:p14="http://schemas.microsoft.com/office/powerpoint/2010/main" val="51924206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1">
            <a:extLst xmlns:a="http://schemas.openxmlformats.org/drawingml/2006/main">
              <a:ext uri="{FF2B5EF4-FFF2-40B4-BE49-F238E27FC236}">
                <a16:creationId xmlns:a16="http://schemas.microsoft.com/office/drawing/2014/main" id="{329265F6-B148-43E9-BB3B-2BEED83E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B1</a:t>
            </a:r>
          </a:p>
        </p:txBody>
      </p:sp>
      <p:sp>
        <p:nvSpPr>
          <p:cNvPr id="2" name="Parallelism, dependencies and scaling limits">
            <a:extLst xmlns:a="http://schemas.openxmlformats.org/drawingml/2006/main">
              <a:ext uri="{FF2B5EF4-FFF2-40B4-BE49-F238E27FC236}">
                <a16:creationId xmlns:a16="http://schemas.microsoft.com/office/drawing/2014/main" id="{F1860AF7-5E17-400F-BF7A-8B793540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Parallelism, dependencies and scaling limits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E218C-2E00-4B11-8F55-157ADAA75D4A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 and communication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limitation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Replicate model; partition batches; reduce/average gradients before a consistent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Collective latency/bandwidth and stragglers.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Tensor parallel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Partition computations within a layer; exchange partial results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Frequent inter-device communication.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Pipeline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layers to stages; pass activations/gradients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Stage imbalance and pipeline bubbles.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Fixed workload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More GPUs reduce only the parallelizable portion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Serial work and communication bound speedup.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Larger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Scale capacity/model/data with added resources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different claim from halving a fixed job’s runtime.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ll-reduce is a collective result-sharing concept, not ">
            <a:extLst xmlns:a="http://schemas.openxmlformats.org/drawingml/2006/main">
              <a:ext uri="{FF2B5EF4-FFF2-40B4-BE49-F238E27FC236}">
                <a16:creationId xmlns:a16="http://schemas.microsoft.com/office/drawing/2014/main" id="{C24DC4FD-2E75-4B1B-977B-E73255DB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All-reduce is a collective result-sharing concept, not a claim that every AI framework uses the exact classroom MPI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635B0-4CCD-4B52-9029-FC26597C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B6BF5B24-B645-40BB-B3B6-79491B1F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7" name="25 / 56">
            <a:extLst xmlns:a="http://schemas.openxmlformats.org/drawingml/2006/main">
              <a:ext uri="{FF2B5EF4-FFF2-40B4-BE49-F238E27FC236}">
                <a16:creationId xmlns:a16="http://schemas.microsoft.com/office/drawing/2014/main" id="{F27BBC02-27E7-43B6-A332-74E0BFC5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25 / 56</a:t>
            </a:r>
          </a:p>
        </p:txBody>
      </p:sp>
    </p:spTree>
    <p:extLst>
      <p:ext uri="{BB962C8B-B14F-4D97-AF65-F5344CB8AC3E}">
        <p14:creationId xmlns:p14="http://schemas.microsoft.com/office/powerpoint/2010/main" val="88005560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ppendix B2 • Illustrative calculation">
            <a:extLst xmlns:a="http://schemas.openxmlformats.org/drawingml/2006/main">
              <a:ext uri="{FF2B5EF4-FFF2-40B4-BE49-F238E27FC236}">
                <a16:creationId xmlns:a16="http://schemas.microsoft.com/office/drawing/2014/main" id="{85A143A1-E632-4C4A-9E20-BECA7A67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B2 • Illustrative calculation</a:t>
            </a:r>
          </a:p>
        </p:txBody>
      </p:sp>
      <p:sp>
        <p:nvSpPr>
          <p:cNvPr id="2" name="A faster job can consume more energy">
            <a:extLst xmlns:a="http://schemas.openxmlformats.org/drawingml/2006/main">
              <a:ext uri="{FF2B5EF4-FFF2-40B4-BE49-F238E27FC236}">
                <a16:creationId xmlns:a16="http://schemas.microsoft.com/office/drawing/2014/main" id="{98BF9E83-2556-41EA-B31C-B8E49EC5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faster job can consume more energy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67E99-EEAA-40AB-927B-05B586FEEFB4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Assumed configuration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runtime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Whole-job energy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16668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Lower parallel scale; 1 kW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2.0 hours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 × 2.0 = 2.0 kWh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6668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parallel scale; 2 kW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1.2 hours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 × 1.2 = 2.4 kWh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Illustrative constant power assumptions, not measuremen">
            <a:extLst xmlns:a="http://schemas.openxmlformats.org/drawingml/2006/main">
              <a:ext uri="{FF2B5EF4-FFF2-40B4-BE49-F238E27FC236}">
                <a16:creationId xmlns:a16="http://schemas.microsoft.com/office/drawing/2014/main" id="{C1962EBC-310F-40B5-8D65-F0B8FB74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Illustrative constant power assumptions, not measurements. Same useful output is assumed; faster completion uses 20%</a:t>
            </a:r>
          </a:p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more energy here.</a:t>
            </a:r>
          </a:p>
        </p:txBody>
      </p:sp>
      <p:sp>
        <p:nvSpPr>
          <p:cNvPr id="5" name="E = ∫ P(t) dt     •     Carbon ≈ Σ Einterval × carbon i">
            <a:extLst xmlns:a="http://schemas.openxmlformats.org/drawingml/2006/main">
              <a:ext uri="{FF2B5EF4-FFF2-40B4-BE49-F238E27FC236}">
                <a16:creationId xmlns:a16="http://schemas.microsoft.com/office/drawing/2014/main" id="{20B9D5FE-3DE6-43CA-9EDD-2A62FABE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 = ∫ P(t) dt • Carbon ≈ Σ Einterval × carbon intensity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E1AF6-C057-4E61-9476-B2840CB6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7" name="Sources: [2] Topic 7A: dependencies and Amdahl; [11] St">
            <a:extLst xmlns:a="http://schemas.openxmlformats.org/drawingml/2006/main">
              <a:ext uri="{FF2B5EF4-FFF2-40B4-BE49-F238E27FC236}">
                <a16:creationId xmlns:a16="http://schemas.microsoft.com/office/drawing/2014/main" id="{DAB85053-8EEB-4A7D-9771-7FFA83C1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[11] Strubell et al. 2019: cost and equity; [13] Schwartz et al. 2019: efficiency reporting</a:t>
            </a:r>
          </a:p>
        </p:txBody>
      </p:sp>
      <p:sp>
        <p:nvSpPr>
          <p:cNvPr id="8" name="26 / 56">
            <a:extLst xmlns:a="http://schemas.openxmlformats.org/drawingml/2006/main">
              <a:ext uri="{FF2B5EF4-FFF2-40B4-BE49-F238E27FC236}">
                <a16:creationId xmlns:a16="http://schemas.microsoft.com/office/drawing/2014/main" id="{65B42E7F-5F4D-40FC-84FD-98FCEB96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26 / 56</a:t>
            </a:r>
          </a:p>
        </p:txBody>
      </p:sp>
    </p:spTree>
    <p:extLst>
      <p:ext uri="{BB962C8B-B14F-4D97-AF65-F5344CB8AC3E}">
        <p14:creationId xmlns:p14="http://schemas.microsoft.com/office/powerpoint/2010/main" val="66836457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3">
            <a:extLst xmlns:a="http://schemas.openxmlformats.org/drawingml/2006/main">
              <a:ext uri="{FF2B5EF4-FFF2-40B4-BE49-F238E27FC236}">
                <a16:creationId xmlns:a16="http://schemas.microsoft.com/office/drawing/2014/main" id="{F77BEBAC-E9EE-4591-B6E5-D03966B2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B3</a:t>
            </a:r>
          </a:p>
        </p:txBody>
      </p:sp>
      <p:sp>
        <p:nvSpPr>
          <p:cNvPr id="2" name="Environmental accounting and evidence limits">
            <a:extLst xmlns:a="http://schemas.openxmlformats.org/drawingml/2006/main">
              <a:ext uri="{FF2B5EF4-FFF2-40B4-BE49-F238E27FC236}">
                <a16:creationId xmlns:a16="http://schemas.microsoft.com/office/drawing/2014/main" id="{27FFAF47-837E-46F6-B943-404C2779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Environmental accounting and evidence limits</a:t>
            </a:r>
          </a:p>
        </p:txBody>
      </p:sp>
      <p:sp>
        <p:nvSpPr>
          <p:cNvPr id="3" name="Define what is counted">
            <a:extLst xmlns:a="http://schemas.openxmlformats.org/drawingml/2006/main">
              <a:ext uri="{FF2B5EF4-FFF2-40B4-BE49-F238E27FC236}">
                <a16:creationId xmlns:a16="http://schemas.microsoft.com/office/drawing/2014/main" id="{1753A40A-EA32-4D71-977D-3C018BB1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Define what is counted</a:t>
            </a:r>
          </a:p>
        </p:txBody>
      </p:sp>
      <p:sp>
        <p:nvSpPr>
          <p:cNvPr id="4" name="Energy (kWh) integrates power (kW) over hours. Operatio">
            <a:extLst xmlns:a="http://schemas.openxmlformats.org/drawingml/2006/main">
              <a:ext uri="{FF2B5EF4-FFF2-40B4-BE49-F238E27FC236}">
                <a16:creationId xmlns:a16="http://schemas.microsoft.com/office/drawing/2014/main" id="{2BB26DA7-D32C-406C-A8DD-3EC4DD9E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(kWh) integrates power (kW) over hours.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Operational emissions ≈ Σ energy in each interval ×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that interval’s carbon intensity (kg CO₂e/kWh).</a:t>
            </a:r>
          </a:p>
        </p:txBody>
      </p:sp>
      <p:sp>
        <p:nvSpPr>
          <p:cNvPr id="5" name="Report accelerators, host CPUs, storage/networking and ">
            <a:extLst xmlns:a="http://schemas.openxmlformats.org/drawingml/2006/main">
              <a:ext uri="{FF2B5EF4-FFF2-40B4-BE49-F238E27FC236}">
                <a16:creationId xmlns:a16="http://schemas.microsoft.com/office/drawing/2014/main" id="{033D708E-3D6A-4541-8546-82BFA1C2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accelerators, host CPUs, storage/networking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allocated cooling overhead; include failed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repeated tuning when evaluating a project.</a:t>
            </a:r>
          </a:p>
        </p:txBody>
      </p:sp>
      <p:sp>
        <p:nvSpPr>
          <p:cNvPr id="6" name="Hardware manufacture and disposal are embodied impacts ">
            <a:extLst xmlns:a="http://schemas.openxmlformats.org/drawingml/2006/main">
              <a:ext uri="{FF2B5EF4-FFF2-40B4-BE49-F238E27FC236}">
                <a16:creationId xmlns:a16="http://schemas.microsoft.com/office/drawing/2014/main" id="{5E7CB2CF-3C64-42DF-B769-1E4F4672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Hardware manufacture and disposal are embodied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impacts beyond operational electricity.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withdrawal and water consumption are different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measures.</a:t>
            </a:r>
          </a:p>
        </p:txBody>
      </p:sp>
      <p:sp>
        <p:nvSpPr>
          <p:cNvPr id="7" name="Compare the evidence">
            <a:extLst xmlns:a="http://schemas.openxmlformats.org/drawingml/2006/main">
              <a:ext uri="{FF2B5EF4-FFF2-40B4-BE49-F238E27FC236}">
                <a16:creationId xmlns:a16="http://schemas.microsoft.com/office/drawing/2014/main" id="{8DBF282E-8701-44DF-9AF1-60C7FB2B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Compare the evidence</a:t>
            </a:r>
          </a:p>
        </p:txBody>
      </p:sp>
      <p:sp>
        <p:nvSpPr>
          <p:cNvPr id="8" name="Strubell et al. quantify costs for selected historical ">
            <a:extLst xmlns:a="http://schemas.openxmlformats.org/drawingml/2006/main">
              <a:ext uri="{FF2B5EF4-FFF2-40B4-BE49-F238E27FC236}">
                <a16:creationId xmlns:a16="http://schemas.microsoft.com/office/drawing/2014/main" id="{57232821-2ACF-4D2E-981B-F17C2B36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Strubell et al. quantify costs for selected historical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NLP training/development workloads; those values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not universal 2026 model footprints.</a:t>
            </a:r>
          </a:p>
        </p:txBody>
      </p:sp>
      <p:sp>
        <p:nvSpPr>
          <p:cNvPr id="9" name="Green AI motivates reporting efficiency alongside accur">
            <a:extLst xmlns:a="http://schemas.openxmlformats.org/drawingml/2006/main">
              <a:ext uri="{FF2B5EF4-FFF2-40B4-BE49-F238E27FC236}">
                <a16:creationId xmlns:a16="http://schemas.microsoft.com/office/drawing/2014/main" id="{0E53F315-51D4-47AD-B15A-721923F1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Green AI motivates reporting efficiency alongside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accuracy; Li et al. show why water varies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place/time. Carbon alone misses local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pressures.</a:t>
            </a:r>
          </a:p>
        </p:txBody>
      </p:sp>
      <p:sp>
        <p:nvSpPr>
          <p:cNvPr id="10" name="IEA sector totals provide context, not causal attributi">
            <a:extLst xmlns:a="http://schemas.openxmlformats.org/drawingml/2006/main">
              <a:ext uri="{FF2B5EF4-FFF2-40B4-BE49-F238E27FC236}">
                <a16:creationId xmlns:a16="http://schemas.microsoft.com/office/drawing/2014/main" id="{6F7746DB-3E8F-4A64-A3F4-A2C06133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sector totals provide context, not causal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attribution to one model. Forecasts depend 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 and infrastructure assumptions; local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grid/cooling effects differ by 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8E6C5-D687-435A-9555-7127572D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86221-F238-406A-9DE1-4EC5A5CF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23A9593B-BF53-4126-A314-7CF10FF5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[11] Strubell et al. 2019: cost and equity; [12] Li et al. 2025 revision: water impacts;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14" name="27 / 56">
            <a:extLst xmlns:a="http://schemas.openxmlformats.org/drawingml/2006/main">
              <a:ext uri="{FF2B5EF4-FFF2-40B4-BE49-F238E27FC236}">
                <a16:creationId xmlns:a16="http://schemas.microsoft.com/office/drawing/2014/main" id="{4243E6EB-0215-4378-BF45-766C8B41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27 / 56</a:t>
            </a:r>
          </a:p>
        </p:txBody>
      </p:sp>
    </p:spTree>
    <p:extLst>
      <p:ext uri="{BB962C8B-B14F-4D97-AF65-F5344CB8AC3E}">
        <p14:creationId xmlns:p14="http://schemas.microsoft.com/office/powerpoint/2010/main" val="168346007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4 • Proposed cluster policy">
            <a:extLst xmlns:a="http://schemas.openxmlformats.org/drawingml/2006/main">
              <a:ext uri="{FF2B5EF4-FFF2-40B4-BE49-F238E27FC236}">
                <a16:creationId xmlns:a16="http://schemas.microsoft.com/office/drawing/2014/main" id="{54F76386-79D5-484F-8DB7-2ADEBCD1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B4 • Proposed cluster policy</a:t>
            </a:r>
          </a:p>
        </p:txBody>
      </p:sp>
      <p:sp>
        <p:nvSpPr>
          <p:cNvPr id="2" name="Governance controls and remaining risks">
            <a:extLst xmlns:a="http://schemas.openxmlformats.org/drawingml/2006/main">
              <a:ext uri="{FF2B5EF4-FFF2-40B4-BE49-F238E27FC236}">
                <a16:creationId xmlns:a16="http://schemas.microsoft.com/office/drawing/2014/main" id="{2316B1F4-C379-40CE-8EC0-CE5EC28D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Governance controls and remaining risks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26A9B-356D-4046-B127-7A5167344683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/ stakeholder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control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Residual limitation / owner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Dataset misuse / data subjects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Provenance, permission checks, retention limits and access logs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licence alone may not justify every use; data steward reviews purpose.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Gradient/checkpoint exposure / participants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Least privilege, tenant isolation, protected transport and secure checkpoint storage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 endpoints can still see sensitive values; security owner models insider risk.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Unsafe dual use / affected public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Authorized-use review, restricted access where justified and review of deployment risks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Controls cannot prevent every misuse; accountable owner weighs benefits/restrictions.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Distributed replicas / operators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copies, deletion obligations and incident response across workers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Replication increases the number of assets to protect; operator audits recovery.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These are proposed mitigations informed by research/fra">
            <a:extLst xmlns:a="http://schemas.openxmlformats.org/drawingml/2006/main">
              <a:ext uri="{FF2B5EF4-FFF2-40B4-BE49-F238E27FC236}">
                <a16:creationId xmlns:a16="http://schemas.microsoft.com/office/drawing/2014/main" id="{FB7D6BF2-56C0-45B2-8E73-A1266BE8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These are proposed mitigations informed by research/frameworks, not a proof of privacy or a compliance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EF534-8C8A-4F77-B7BB-56401293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4] Zhu et al. 2019: exposed gradients; [18] ">
            <a:extLst xmlns:a="http://schemas.openxmlformats.org/drawingml/2006/main">
              <a:ext uri="{FF2B5EF4-FFF2-40B4-BE49-F238E27FC236}">
                <a16:creationId xmlns:a16="http://schemas.microsoft.com/office/drawing/2014/main" id="{82452B1F-8F82-49E7-B86F-AB335339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[18] OECD: rights, fairness and accountability; [19] NIST: Govern, Map, Measure, Manage</a:t>
            </a:r>
          </a:p>
        </p:txBody>
      </p:sp>
      <p:sp>
        <p:nvSpPr>
          <p:cNvPr id="7" name="28 / 56">
            <a:extLst xmlns:a="http://schemas.openxmlformats.org/drawingml/2006/main">
              <a:ext uri="{FF2B5EF4-FFF2-40B4-BE49-F238E27FC236}">
                <a16:creationId xmlns:a16="http://schemas.microsoft.com/office/drawing/2014/main" id="{3C27B8B2-F26E-4638-9EAF-137EEE28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28 / 56</a:t>
            </a:r>
          </a:p>
        </p:txBody>
      </p:sp>
    </p:spTree>
    <p:extLst>
      <p:ext uri="{BB962C8B-B14F-4D97-AF65-F5344CB8AC3E}">
        <p14:creationId xmlns:p14="http://schemas.microsoft.com/office/powerpoint/2010/main" val="67083719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5 • Proposed example">
            <a:extLst xmlns:a="http://schemas.openxmlformats.org/drawingml/2006/main">
              <a:ext uri="{FF2B5EF4-FFF2-40B4-BE49-F238E27FC236}">
                <a16:creationId xmlns:a16="http://schemas.microsoft.com/office/drawing/2014/main" id="{870DD8EF-BFAF-487D-8759-006A330C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B5 • Proposed example</a:t>
            </a:r>
          </a:p>
        </p:txBody>
      </p:sp>
      <p:sp>
        <p:nvSpPr>
          <p:cNvPr id="2" name="Fairness evaluation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CE7243BA-E086-4EB4-871D-F899D9F3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Fairness evaluation with large-scale compute</a:t>
            </a:r>
          </a:p>
        </p:txBody>
      </p:sp>
      <p:sp>
        <p:nvSpPr>
          <p:cNvPr id="3" name="Compute connection">
            <a:extLst xmlns:a="http://schemas.openxmlformats.org/drawingml/2006/main">
              <a:ext uri="{FF2B5EF4-FFF2-40B4-BE49-F238E27FC236}">
                <a16:creationId xmlns:a16="http://schemas.microsoft.com/office/drawing/2014/main" id="{F752FFDC-522E-4DCF-A9AE-2ADB713A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Compute connection</a:t>
            </a:r>
          </a:p>
        </p:txBody>
      </p:sp>
      <p:sp>
        <p:nvSpPr>
          <p:cNvPr id="4" name="An illustrative multilingual AI service may have unequa">
            <a:extLst xmlns:a="http://schemas.openxmlformats.org/drawingml/2006/main">
              <a:ext uri="{FF2B5EF4-FFF2-40B4-BE49-F238E27FC236}">
                <a16:creationId xmlns:a16="http://schemas.microsoft.com/office/drawing/2014/main" id="{C5A85DC5-0EB2-4E48-A04C-ED1F1518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 illustrative multilingual AI service may have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performance or stereotyped outputs across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language groups. Identify the actual harm before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choosing a metric.</a:t>
            </a:r>
          </a:p>
        </p:txBody>
      </p:sp>
      <p:sp>
        <p:nvSpPr>
          <p:cNvPr id="5" name="A cluster enables larger datasets and repeated training">
            <a:extLst xmlns:a="http://schemas.openxmlformats.org/drawingml/2006/main">
              <a:ext uri="{FF2B5EF4-FFF2-40B4-BE49-F238E27FC236}">
                <a16:creationId xmlns:a16="http://schemas.microsoft.com/office/drawing/2014/main" id="{42D7DAB5-C2DF-4782-92CD-C234D147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cluster enables larger datasets and repeated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training, but neither data volume nor GPU count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guarantees representative data or equitable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outcomes.</a:t>
            </a:r>
          </a:p>
        </p:txBody>
      </p:sp>
      <p:sp>
        <p:nvSpPr>
          <p:cNvPr id="6" name="Reserve evaluation compute for affected groups; documen">
            <a:extLst xmlns:a="http://schemas.openxmlformats.org/drawingml/2006/main">
              <a:ext uri="{FF2B5EF4-FFF2-40B4-BE49-F238E27FC236}">
                <a16:creationId xmlns:a16="http://schemas.microsoft.com/office/drawing/2014/main" id="{C999EF1A-EAA3-458F-B22C-A37693E2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Reserve evaluation compute for affected groups;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document dataset coverage and compare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 error or harmful-output rates using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task-appropriate test.</a:t>
            </a:r>
          </a:p>
        </p:txBody>
      </p:sp>
      <p:sp>
        <p:nvSpPr>
          <p:cNvPr id="7" name="Evidence and decision">
            <a:extLst xmlns:a="http://schemas.openxmlformats.org/drawingml/2006/main">
              <a:ext uri="{FF2B5EF4-FFF2-40B4-BE49-F238E27FC236}">
                <a16:creationId xmlns:a16="http://schemas.microsoft.com/office/drawing/2014/main" id="{B12C2CE3-CB8F-4C3D-8563-E733F331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Evidence and decision</a:t>
            </a:r>
          </a:p>
        </p:txBody>
      </p:sp>
      <p:sp>
        <p:nvSpPr>
          <p:cNvPr id="8" name="Gallegos et al. separate metrics, evaluation datasets a">
            <a:extLst xmlns:a="http://schemas.openxmlformats.org/drawingml/2006/main">
              <a:ext uri="{FF2B5EF4-FFF2-40B4-BE49-F238E27FC236}">
                <a16:creationId xmlns:a16="http://schemas.microsoft.com/office/drawing/2014/main" id="{0D9DF9F0-069C-44EC-9606-57DE6466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separate metrics, evaluation datasets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mitigation stages. A single aggregate accuracy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score can hide a relevant subgroup harm.</a:t>
            </a:r>
          </a:p>
        </p:txBody>
      </p:sp>
      <p:sp>
        <p:nvSpPr>
          <p:cNvPr id="9" name="Specify justified acceptance criteria before training; ">
            <a:extLst xmlns:a="http://schemas.openxmlformats.org/drawingml/2006/main">
              <a:ext uri="{FF2B5EF4-FFF2-40B4-BE49-F238E27FC236}">
                <a16:creationId xmlns:a16="http://schemas.microsoft.com/office/drawing/2014/main" id="{80005B8A-4409-48FB-BE99-55670BE1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Specify justified acceptance criteria before training;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uncertainty and small-group sample limits.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Mitigate, reevaluate, and document unresolved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harms.</a:t>
            </a:r>
          </a:p>
        </p:txBody>
      </p:sp>
      <p:sp>
        <p:nvSpPr>
          <p:cNvPr id="10" name="Security and fairness have different objectives: encryp">
            <a:extLst xmlns:a="http://schemas.openxmlformats.org/drawingml/2006/main">
              <a:ext uri="{FF2B5EF4-FFF2-40B4-BE49-F238E27FC236}">
                <a16:creationId xmlns:a16="http://schemas.microsoft.com/office/drawing/2014/main" id="{F709C228-4B40-4B69-BFDA-85D1D394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 and fairness have different objectives: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encrypted gradients do not establish fair outputs.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source supports model-bias analysis, not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claim that HPC itself causes bias.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8A8AE-272F-4B3B-93F4-5084EA54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1CCC8-253B-4242-A293-6E4C3F2B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5] Gallegos et al. 2024: fairness evaluation">
            <a:extLst xmlns:a="http://schemas.openxmlformats.org/drawingml/2006/main">
              <a:ext uri="{FF2B5EF4-FFF2-40B4-BE49-F238E27FC236}">
                <a16:creationId xmlns:a16="http://schemas.microsoft.com/office/drawing/2014/main" id="{3619EBF8-E073-4F86-AB90-9E524CF6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[15] Gallegos et al. 2024: fairness evaluation; [18] OECD: rights, fairness and accountability; [19] NIST: Govern, Map, Measure, Manage</a:t>
            </a:r>
          </a:p>
        </p:txBody>
      </p:sp>
      <p:sp>
        <p:nvSpPr>
          <p:cNvPr id="14" name="29 / 56">
            <a:extLst xmlns:a="http://schemas.openxmlformats.org/drawingml/2006/main">
              <a:ext uri="{FF2B5EF4-FFF2-40B4-BE49-F238E27FC236}">
                <a16:creationId xmlns:a16="http://schemas.microsoft.com/office/drawing/2014/main" id="{17B0322A-90C5-4343-8744-61655CAF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29 / 56</a:t>
            </a:r>
          </a:p>
        </p:txBody>
      </p:sp>
    </p:spTree>
    <p:extLst>
      <p:ext uri="{BB962C8B-B14F-4D97-AF65-F5344CB8AC3E}">
        <p14:creationId xmlns:p14="http://schemas.microsoft.com/office/powerpoint/2010/main" val="96614219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6">
            <a:extLst xmlns:a="http://schemas.openxmlformats.org/drawingml/2006/main">
              <a:ext uri="{FF2B5EF4-FFF2-40B4-BE49-F238E27FC236}">
                <a16:creationId xmlns:a16="http://schemas.microsoft.com/office/drawing/2014/main" id="{81D15398-1473-497F-B364-AEDEABED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B6</a:t>
            </a:r>
          </a:p>
        </p:txBody>
      </p:sp>
      <p:sp>
        <p:nvSpPr>
          <p:cNvPr id="2" name="Access research and allocation choices">
            <a:extLst xmlns:a="http://schemas.openxmlformats.org/drawingml/2006/main">
              <a:ext uri="{FF2B5EF4-FFF2-40B4-BE49-F238E27FC236}">
                <a16:creationId xmlns:a16="http://schemas.microsoft.com/office/drawing/2014/main" id="{DC627BFF-49E5-46CE-AC44-13CB77B6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research and allocation choices</a:t>
            </a:r>
          </a:p>
        </p:txBody>
      </p:sp>
      <p:sp>
        <p:nvSpPr>
          <p:cNvPr id="3" name="Research comparison">
            <a:extLst xmlns:a="http://schemas.openxmlformats.org/drawingml/2006/main">
              <a:ext uri="{FF2B5EF4-FFF2-40B4-BE49-F238E27FC236}">
                <a16:creationId xmlns:a16="http://schemas.microsoft.com/office/drawing/2014/main" id="{2A395AB5-9BFD-41FA-A70A-554ADC4C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Research comparison</a:t>
            </a:r>
          </a:p>
        </p:txBody>
      </p:sp>
      <p:sp>
        <p:nvSpPr>
          <p:cNvPr id="4" name="Ahmed and Wahed study historical conference participati">
            <a:extLst xmlns:a="http://schemas.openxmlformats.org/drawingml/2006/main">
              <a:ext uri="{FF2B5EF4-FFF2-40B4-BE49-F238E27FC236}">
                <a16:creationId xmlns:a16="http://schemas.microsoft.com/office/drawing/2014/main" id="{7A55B67D-4EA5-4F54-8D35-134AB3B9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Ahmed and Wahed study historical conference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participation and a compute divide. Strubell et al.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financial/resource barriers in selected NLP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workloads.</a:t>
            </a:r>
          </a:p>
        </p:txBody>
      </p:sp>
      <p:sp>
        <p:nvSpPr>
          <p:cNvPr id="5" name="The first concerns institutional participation; the sec">
            <a:extLst xmlns:a="http://schemas.openxmlformats.org/drawingml/2006/main">
              <a:ext uri="{FF2B5EF4-FFF2-40B4-BE49-F238E27FC236}">
                <a16:creationId xmlns:a16="http://schemas.microsoft.com/office/drawing/2014/main" id="{E0F0A972-E07B-44E7-84F6-0D2121B1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first concerns institutional participation;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second concerns workload cost. Together they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motivate access support, but neither is a current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worldwide access census.</a:t>
            </a:r>
          </a:p>
        </p:txBody>
      </p:sp>
      <p:sp>
        <p:nvSpPr>
          <p:cNvPr id="6" name="NSF’s March 2026 participation figures describe a US sh">
            <a:extLst xmlns:a="http://schemas.openxmlformats.org/drawingml/2006/main">
              <a:ext uri="{FF2B5EF4-FFF2-40B4-BE49-F238E27FC236}">
                <a16:creationId xmlns:a16="http://schemas.microsoft.com/office/drawing/2014/main" id="{C7EA6EE5-4ED7-4370-82E1-A6CEB289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NSF’s March 2026 participation figures describe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 shared-resource response. Programme reach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proof of equal allocation, global access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eliminated inequality.</a:t>
            </a:r>
          </a:p>
        </p:txBody>
      </p:sp>
      <p:sp>
        <p:nvSpPr>
          <p:cNvPr id="7" name="Proposed shared-cluster policy">
            <a:extLst xmlns:a="http://schemas.openxmlformats.org/drawingml/2006/main">
              <a:ext uri="{FF2B5EF4-FFF2-40B4-BE49-F238E27FC236}">
                <a16:creationId xmlns:a16="http://schemas.microsoft.com/office/drawing/2014/main" id="{E6B81C8C-BF99-475D-A87D-3554B7DD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Proposed shared-cluster policy</a:t>
            </a:r>
          </a:p>
        </p:txBody>
      </p:sp>
      <p:sp>
        <p:nvSpPr>
          <p:cNvPr id="8" name="Publish eligibility, GPU-hour limits and allocation cri">
            <a:extLst xmlns:a="http://schemas.openxmlformats.org/drawingml/2006/main">
              <a:ext uri="{FF2B5EF4-FFF2-40B4-BE49-F238E27FC236}">
                <a16:creationId xmlns:a16="http://schemas.microsoft.com/office/drawing/2014/main" id="{AE81C0B4-8DBF-4FC3-994D-2DA3E228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Publish eligibility, GPU-hour limits and allocation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criteria; reserve some capacity for teaching, smaller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institutions and independent replication.</a:t>
            </a:r>
          </a:p>
        </p:txBody>
      </p:sp>
      <p:sp>
        <p:nvSpPr>
          <p:cNvPr id="9" name="Provide application support and training; allow appeals">
            <a:extLst xmlns:a="http://schemas.openxmlformats.org/drawingml/2006/main">
              <a:ext uri="{FF2B5EF4-FFF2-40B4-BE49-F238E27FC236}">
                <a16:creationId xmlns:a16="http://schemas.microsoft.com/office/drawing/2014/main" id="{96938EDE-3113-4625-8EE2-2E931416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Provide application support and training; allow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appeals. Track applicant-to-award outcomes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waiting times across institution groups with privacy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10" name="Trade-offs: reservations may reduce immediate utilizati">
            <a:extLst xmlns:a="http://schemas.openxmlformats.org/drawingml/2006/main">
              <a:ext uri="{FF2B5EF4-FFF2-40B4-BE49-F238E27FC236}">
                <a16:creationId xmlns:a16="http://schemas.microsoft.com/office/drawing/2014/main" id="{3B2C79DA-84B9-49EF-B875-207EC440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396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Trade-offs: reservations may reduce immediate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utilization; queueing can delay urgent work;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unrestricted access can conflict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security/budgets. Prevent repeated deferral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resource starvation.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BDD6D-D196-468F-8889-AAC22BBB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AB6FA-2CE1-4805-8309-B344C850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7A162688-E0F4-4C25-980D-F8E9A486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divide; [22] Topic 9B: mutual exclusion and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allocation</a:t>
            </a:r>
          </a:p>
        </p:txBody>
      </p:sp>
      <p:sp>
        <p:nvSpPr>
          <p:cNvPr id="14" name="30 / 56">
            <a:extLst xmlns:a="http://schemas.openxmlformats.org/drawingml/2006/main">
              <a:ext uri="{FF2B5EF4-FFF2-40B4-BE49-F238E27FC236}">
                <a16:creationId xmlns:a16="http://schemas.microsoft.com/office/drawing/2014/main" id="{2B0023FE-4223-457F-8A1A-79C3EA18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30 / 56</a:t>
            </a:r>
          </a:p>
        </p:txBody>
      </p:sp>
    </p:spTree>
    <p:extLst>
      <p:ext uri="{BB962C8B-B14F-4D97-AF65-F5344CB8AC3E}">
        <p14:creationId xmlns:p14="http://schemas.microsoft.com/office/powerpoint/2010/main" val="45435623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7 • Proposed application">
            <a:extLst xmlns:a="http://schemas.openxmlformats.org/drawingml/2006/main">
              <a:ext uri="{FF2B5EF4-FFF2-40B4-BE49-F238E27FC236}">
                <a16:creationId xmlns:a16="http://schemas.microsoft.com/office/drawing/2014/main" id="{08B90D5F-9425-45A2-9407-0B1CC958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B7 • Proposed application</a:t>
            </a:r>
          </a:p>
        </p:txBody>
      </p:sp>
      <p:sp>
        <p:nvSpPr>
          <p:cNvPr id="2" name="Framework roles and accountable decisions">
            <a:extLst xmlns:a="http://schemas.openxmlformats.org/drawingml/2006/main">
              <a:ext uri="{FF2B5EF4-FFF2-40B4-BE49-F238E27FC236}">
                <a16:creationId xmlns:a16="http://schemas.microsoft.com/office/drawing/2014/main" id="{A3C7BAFD-6D8F-458B-8FEB-DBA22250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Framework roles and accountable decisions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09D5D-7A94-4C6B-85C3-DA2F2B0F875B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Function / 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Concrete action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responsible role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Govern / OECD values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ownership, data rules, access policy and escalation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Accountable owner accepts obligations and review process.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Map /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Define use, stakeholders, misuse risks, deadline and alternatives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Data/risk stewards establish the application-specific scope.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 / Green AI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energy per useful outcome, model quality, group harms and scaling efficiency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Operator/evaluator provides evidence and uncertainty.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Manage / scheduling research +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Approve, defer, reduce scale or redesign; enforce safeguards and review outcomes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Owner authorizes exceptions or rejects unresolved risks.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Green AI motivates measurement; scheduling research sup">
            <a:extLst xmlns:a="http://schemas.openxmlformats.org/drawingml/2006/main">
              <a:ext uri="{FF2B5EF4-FFF2-40B4-BE49-F238E27FC236}">
                <a16:creationId xmlns:a16="http://schemas.microsoft.com/office/drawing/2014/main" id="{974438DC-673A-47F3-852C-BE62D5A6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Green AI motivates measurement; scheduling research supplies a mechanism; OECD/NIST guide values and risk</a:t>
            </a:r>
          </a:p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management. The combination is our proposal.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5E720-4799-4CDD-A0E7-ADFE3A31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C87FA96D-1268-4D93-B565-50A3D00A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7" name="31 / 56">
            <a:extLst xmlns:a="http://schemas.openxmlformats.org/drawingml/2006/main">
              <a:ext uri="{FF2B5EF4-FFF2-40B4-BE49-F238E27FC236}">
                <a16:creationId xmlns:a16="http://schemas.microsoft.com/office/drawing/2014/main" id="{2590EC1F-53CC-4784-9F74-9C9C8EDF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31 / 56</a:t>
            </a:r>
          </a:p>
        </p:txBody>
      </p:sp>
    </p:spTree>
    <p:extLst>
      <p:ext uri="{BB962C8B-B14F-4D97-AF65-F5344CB8AC3E}">
        <p14:creationId xmlns:p14="http://schemas.microsoft.com/office/powerpoint/2010/main" val="17843284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7C16D-CEB1-49FE-9918-D5FE827362F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48550" y="2314575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8844E-21DF-4421-82AD-1B773C4DA9D2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81350" y="23145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16" name="Appendix B8 • Illustrative policy">
            <a:extLst xmlns:a="http://schemas.openxmlformats.org/drawingml/2006/main">
              <a:ext uri="{FF2B5EF4-FFF2-40B4-BE49-F238E27FC236}">
                <a16:creationId xmlns:a16="http://schemas.microsoft.com/office/drawing/2014/main" id="{B0FEFB9D-006B-4503-9682-21262C89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B8 • Illustrative policy</a:t>
            </a:r>
          </a:p>
        </p:txBody>
      </p:sp>
      <p:sp>
        <p:nvSpPr>
          <p:cNvPr id="2" name="Carbon-aware scheduling under constraints">
            <a:extLst xmlns:a="http://schemas.openxmlformats.org/drawingml/2006/main">
              <a:ext uri="{FF2B5EF4-FFF2-40B4-BE49-F238E27FC236}">
                <a16:creationId xmlns:a16="http://schemas.microsoft.com/office/drawing/2014/main" id="{C261D7BC-7157-4B0B-B5EF-6164DCB0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Carbon-aware scheduling under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573F3-E879-4287-9C05-3F2740DE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06C11-EDBC-4876-8512-649651C3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2933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Lower-carbon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forecast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CC031-8BA4-444C-9C8D-07620363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86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Complete before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8" name="Research [17] demonstrates shifting temporally flexible">
            <a:extLst xmlns:a="http://schemas.openxmlformats.org/drawingml/2006/main">
              <a:ext uri="{FF2B5EF4-FFF2-40B4-BE49-F238E27FC236}">
                <a16:creationId xmlns:a16="http://schemas.microsoft.com/office/drawing/2014/main" id="{AD9144AA-1E71-400A-AD29-F22E9755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[17] demonstrates shifting temporally flexible workloads using forecasts while preserving daily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capacity. It does not show every urgent GPU job can wait.</a:t>
            </a:r>
          </a:p>
        </p:txBody>
      </p:sp>
      <p:sp>
        <p:nvSpPr>
          <p:cNvPr id="9" name="Proposed rule: defer only if deadline, energy budget, w">
            <a:extLst xmlns:a="http://schemas.openxmlformats.org/drawingml/2006/main">
              <a:ext uri="{FF2B5EF4-FFF2-40B4-BE49-F238E27FC236}">
                <a16:creationId xmlns:a16="http://schemas.microsoft.com/office/drawing/2014/main" id="{3FB9E05B-6C8A-42DD-9FB1-15672991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rule: defer only if deadline, energy budget, water/site limits and equitable waiting-time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commitments remain satisfied; record exceptions.</a:t>
            </a:r>
          </a:p>
        </p:txBody>
      </p:sp>
      <p:sp>
        <p:nvSpPr>
          <p:cNvPr id="10" name="No feasible window: reduce scale, redesign or approve a">
            <a:extLst xmlns:a="http://schemas.openxmlformats.org/drawingml/2006/main">
              <a:ext uri="{FF2B5EF4-FFF2-40B4-BE49-F238E27FC236}">
                <a16:creationId xmlns:a16="http://schemas.microsoft.com/office/drawing/2014/main" id="{D994877B-72BD-4269-B3A2-0A3C6F98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feasible window: reduce scale, redesign or approve a justified urgent exception. Prevent indefinite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deferral. Data residency and transfer costs constrain moving work between sites.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73EAB-604C-4C91-8773-C283FF44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2" name="Flexible jobs may move; urgent jobs, water constraints ">
            <a:extLst xmlns:a="http://schemas.openxmlformats.org/drawingml/2006/main">
              <a:ext uri="{FF2B5EF4-FFF2-40B4-BE49-F238E27FC236}">
                <a16:creationId xmlns:a16="http://schemas.microsoft.com/office/drawing/2014/main" id="{12FD27FF-14B6-4B43-879A-9D678188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jobs may move; urgent jobs, water constraints and access commitments can override deferral.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DFE15-D3C5-4A4E-9F04-0134F2EE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4" name="Sources: [12] Li et al. 2025 revision: water impacts; [">
            <a:extLst xmlns:a="http://schemas.openxmlformats.org/drawingml/2006/main">
              <a:ext uri="{FF2B5EF4-FFF2-40B4-BE49-F238E27FC236}">
                <a16:creationId xmlns:a16="http://schemas.microsoft.com/office/drawing/2014/main" id="{A70BB32C-64F8-4212-A62F-828A61EF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[12] Li et al. 2025 revision: water impacts; [17] Radovanovic et al. 2021: flexible scheduling; [19] NIST: Govern, Map, Measure, Manage</a:t>
            </a:r>
          </a:p>
        </p:txBody>
      </p:sp>
      <p:sp>
        <p:nvSpPr>
          <p:cNvPr id="15" name="32 / 56">
            <a:extLst xmlns:a="http://schemas.openxmlformats.org/drawingml/2006/main">
              <a:ext uri="{FF2B5EF4-FFF2-40B4-BE49-F238E27FC236}">
                <a16:creationId xmlns:a16="http://schemas.microsoft.com/office/drawing/2014/main" id="{4CCB065C-AD84-4208-B13A-A051A734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32 / 56</a:t>
            </a:r>
          </a:p>
        </p:txBody>
      </p:sp>
    </p:spTree>
    <p:extLst>
      <p:ext uri="{BB962C8B-B14F-4D97-AF65-F5344CB8AC3E}">
        <p14:creationId xmlns:p14="http://schemas.microsoft.com/office/powerpoint/2010/main" val="190067705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9">
            <a:extLst xmlns:a="http://schemas.openxmlformats.org/drawingml/2006/main">
              <a:ext uri="{FF2B5EF4-FFF2-40B4-BE49-F238E27FC236}">
                <a16:creationId xmlns:a16="http://schemas.microsoft.com/office/drawing/2014/main" id="{26E492DF-508A-4EE4-A686-0AF1F5A3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B9</a:t>
            </a:r>
          </a:p>
        </p:txBody>
      </p:sp>
      <p:sp>
        <p:nvSpPr>
          <p:cNvPr id="2" name="Research comparisons across all four topics">
            <a:extLst xmlns:a="http://schemas.openxmlformats.org/drawingml/2006/main">
              <a:ext uri="{FF2B5EF4-FFF2-40B4-BE49-F238E27FC236}">
                <a16:creationId xmlns:a16="http://schemas.microsoft.com/office/drawing/2014/main" id="{DB3EE592-7315-4A96-A47E-AFB0D0BB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comparisons across all four topics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224B9-68AE-4CA7-9C9C-C8EF4DFF2243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 / limit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(a) Environment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Cost/efficiency research [11,13] versus water-footprint research [12]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Useful-output efficiency and local resource pressure need different measures.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(b) Governance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 reconstruction [14] versus fairness evaluation survey [15]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exposure and unequal outcomes are distinct failure mechanisms.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(c)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Institutional participation [16] versus workload cost/equity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Concentration and financial barriers reinforce a concern; scopes differ.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(d) Frameworks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Efficiency-reporting argument [13] versus operational scheduling [17]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Measurement motivates action; scheduling depends on flexibility and forecasts.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Current institutional evidence [9,10] and governance fr">
            <a:extLst xmlns:a="http://schemas.openxmlformats.org/drawingml/2006/main">
              <a:ext uri="{FF2B5EF4-FFF2-40B4-BE49-F238E27FC236}">
                <a16:creationId xmlns:a16="http://schemas.microsoft.com/office/drawing/2014/main" id="{8EBA5FCF-5FCD-4E6D-9F15-149D2434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Current institutional evidence [9,10] and governance frameworks [18,19] complement the research; they do not replace its</a:t>
            </a:r>
          </a:p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methodological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78DB1-F9DD-4DEF-9A63-FD718BFC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1] Strubell et al. 2019: cost and equity; [1">
            <a:extLst xmlns:a="http://schemas.openxmlformats.org/drawingml/2006/main">
              <a:ext uri="{FF2B5EF4-FFF2-40B4-BE49-F238E27FC236}">
                <a16:creationId xmlns:a16="http://schemas.microsoft.com/office/drawing/2014/main" id="{4538123B-E241-4096-9DD0-201C972F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Strubell et al. 2019: cost and equity; [12] Li et al. 2025 revision: water impacts; [13] Schwartz et al. 2019: efficiency reporting; [14] Zhu et al. 2019: exposed gradients;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[15] Gallegos et al. 2024: fairness evaluation; [16] Ahmed and Wahed 2020: compute divide; [17] Radovanovic et al. 2021: flexible scheduling</a:t>
            </a:r>
          </a:p>
        </p:txBody>
      </p:sp>
      <p:sp>
        <p:nvSpPr>
          <p:cNvPr id="7" name="33 / 56">
            <a:extLst xmlns:a="http://schemas.openxmlformats.org/drawingml/2006/main">
              <a:ext uri="{FF2B5EF4-FFF2-40B4-BE49-F238E27FC236}">
                <a16:creationId xmlns:a16="http://schemas.microsoft.com/office/drawing/2014/main" id="{79D2B0D6-1AE4-480A-92CB-6AC4D670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33 / 56</a:t>
            </a:r>
          </a:p>
        </p:txBody>
      </p:sp>
    </p:spTree>
    <p:extLst>
      <p:ext uri="{BB962C8B-B14F-4D97-AF65-F5344CB8AC3E}">
        <p14:creationId xmlns:p14="http://schemas.microsoft.com/office/powerpoint/2010/main" val="152237497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Synthesis">
            <a:extLst xmlns:a="http://schemas.openxmlformats.org/drawingml/2006/main">
              <a:ext uri="{FF2B5EF4-FFF2-40B4-BE49-F238E27FC236}">
                <a16:creationId xmlns:a16="http://schemas.microsoft.com/office/drawing/2014/main" id="{2C6DA9EA-33C6-4A01-9062-907E7767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Synthesis</a:t>
            </a:r>
          </a:p>
        </p:txBody>
      </p:sp>
      <p:sp>
        <p:nvSpPr>
          <p:cNvPr id="2" name="Conclusions and next measurements">
            <a:extLst xmlns:a="http://schemas.openxmlformats.org/drawingml/2006/main">
              <a:ext uri="{FF2B5EF4-FFF2-40B4-BE49-F238E27FC236}">
                <a16:creationId xmlns:a16="http://schemas.microsoft.com/office/drawing/2014/main" id="{6A3CACFE-EBBD-436A-AEC1-44595DFD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Conclusions and next measurements</a:t>
            </a:r>
          </a:p>
        </p:txBody>
      </p:sp>
      <p:sp>
        <p:nvSpPr>
          <p:cNvPr id="3" name="GPU rotation">
            <a:extLst xmlns:a="http://schemas.openxmlformats.org/drawingml/2006/main">
              <a:ext uri="{FF2B5EF4-FFF2-40B4-BE49-F238E27FC236}">
                <a16:creationId xmlns:a16="http://schemas.microsoft.com/office/drawing/2014/main" id="{A33A1219-5831-4EA4-AFB6-A9A3948E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GPU rotation</a:t>
            </a:r>
          </a:p>
        </p:txBody>
      </p:sp>
      <p:sp>
        <p:nvSpPr>
          <p:cNvPr id="4" name="Inverse gathering exposes independent pixel work. SM sc">
            <a:extLst xmlns:a="http://schemas.openxmlformats.org/drawingml/2006/main">
              <a:ext uri="{FF2B5EF4-FFF2-40B4-BE49-F238E27FC236}">
                <a16:creationId xmlns:a16="http://schemas.microsoft.com/office/drawing/2014/main" id="{BD965A5A-F900-4908-BA6F-21E3D281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Inverse gathering exposes independent pixel work.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SM scheduling, memory locality and transfer costs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determine achieved performance.</a:t>
            </a:r>
          </a:p>
        </p:txBody>
      </p:sp>
      <p:sp>
        <p:nvSpPr>
          <p:cNvPr id="5" name="Choose a CPU baseline and compare completed equivalent ">
            <a:extLst xmlns:a="http://schemas.openxmlformats.org/drawingml/2006/main">
              <a:ext uri="{FF2B5EF4-FFF2-40B4-BE49-F238E27FC236}">
                <a16:creationId xmlns:a16="http://schemas.microsoft.com/office/drawing/2014/main" id="{DA83817A-B260-494E-B647-4B4B51EB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Choose a CPU baseline and compare completed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equivalent pipelines. GDS is conditional on storage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bottlenecks, a compatible data path and verified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support.</a:t>
            </a:r>
          </a:p>
        </p:txBody>
      </p:sp>
      <p:sp>
        <p:nvSpPr>
          <p:cNvPr id="6" name="Next: compile the teaching examples, check output again">
            <a:extLst xmlns:a="http://schemas.openxmlformats.org/drawingml/2006/main">
              <a:ext uri="{FF2B5EF4-FFF2-40B4-BE49-F238E27FC236}">
                <a16:creationId xmlns:a16="http://schemas.microsoft.com/office/drawing/2014/main" id="{C4A027F6-496C-4120-9798-B4DBA957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compile the teaching examples, check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against a CPU reference and profile representative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sizes/angles/batches. No result is assumed.</a:t>
            </a:r>
          </a:p>
        </p:txBody>
      </p:sp>
      <p:sp>
        <p:nvSpPr>
          <p:cNvPr id="7" name="Responsible scaling">
            <a:extLst xmlns:a="http://schemas.openxmlformats.org/drawingml/2006/main">
              <a:ext uri="{FF2B5EF4-FFF2-40B4-BE49-F238E27FC236}">
                <a16:creationId xmlns:a16="http://schemas.microsoft.com/office/drawing/2014/main" id="{5924ADED-9360-4D1D-A102-76ACB9FC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Responsible scaling</a:t>
            </a:r>
          </a:p>
        </p:txBody>
      </p:sp>
      <p:sp>
        <p:nvSpPr>
          <p:cNvPr id="8" name="More compute can enable valuable research while concent">
            <a:extLst xmlns:a="http://schemas.openxmlformats.org/drawingml/2006/main">
              <a:ext uri="{FF2B5EF4-FFF2-40B4-BE49-F238E27FC236}">
                <a16:creationId xmlns:a16="http://schemas.microsoft.com/office/drawing/2014/main" id="{A551FC27-ADB1-4DBB-B3E6-9ECAA158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compute can enable valuable research while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concentrating access and increasing resource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demand. Approve scale for useful outcomes,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9" name="Combine job-level energy/resource evidence, separate se">
            <a:extLst xmlns:a="http://schemas.openxmlformats.org/drawingml/2006/main">
              <a:ext uri="{FF2B5EF4-FFF2-40B4-BE49-F238E27FC236}">
                <a16:creationId xmlns:a16="http://schemas.microsoft.com/office/drawing/2014/main" id="{C6DF5821-1C68-44E0-8FE5-F071E842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Combine job-level energy/resource evidence,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security/fairness evaluation, transparent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allocations and deadline-aware scheduling.</a:t>
            </a:r>
          </a:p>
        </p:txBody>
      </p:sp>
      <p:sp>
        <p:nvSpPr>
          <p:cNvPr id="10" name="Next: measure a real cluster job’s energy, quality, sca">
            <a:extLst xmlns:a="http://schemas.openxmlformats.org/drawingml/2006/main">
              <a:ext uri="{FF2B5EF4-FFF2-40B4-BE49-F238E27FC236}">
                <a16:creationId xmlns:a16="http://schemas.microsoft.com/office/drawing/2014/main" id="{483A55D1-5D28-463F-9547-17C52FE7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measure a real cluster job’s energy, quality,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efficiency and allocation outcomes; revise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policy when evidence or conditions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CCB11-25D5-4F2C-9237-BAB9A240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CE73A-ECD0-4A39-AC78-B5054104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C5CF1CA1-4B34-462C-AC9B-DA533DB1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Practices; [6] NVIDIA GDS overview; [7] NVIDIA GDS design;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reporting; [17] Radovanovic et al. 2021: flexible scheduling; [19] NIST: Govern, Map, Measure, Manage</a:t>
            </a:r>
          </a:p>
        </p:txBody>
      </p:sp>
      <p:sp>
        <p:nvSpPr>
          <p:cNvPr id="14" name="34 / 56">
            <a:extLst xmlns:a="http://schemas.openxmlformats.org/drawingml/2006/main">
              <a:ext uri="{FF2B5EF4-FFF2-40B4-BE49-F238E27FC236}">
                <a16:creationId xmlns:a16="http://schemas.microsoft.com/office/drawing/2014/main" id="{D3F419D9-0050-41A0-93FF-5CE635EB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34 / 56</a:t>
            </a:r>
          </a:p>
        </p:txBody>
      </p:sp>
    </p:spTree>
    <p:extLst>
      <p:ext uri="{BB962C8B-B14F-4D97-AF65-F5344CB8AC3E}">
        <p14:creationId xmlns:p14="http://schemas.microsoft.com/office/powerpoint/2010/main" val="193215761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1/6">
            <a:extLst xmlns:a="http://schemas.openxmlformats.org/drawingml/2006/main">
              <a:ext uri="{FF2B5EF4-FFF2-40B4-BE49-F238E27FC236}">
                <a16:creationId xmlns:a16="http://schemas.microsoft.com/office/drawing/2014/main" id="{ABC3EBA2-61F8-49C5-B6BA-96DF78D5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1/6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681A8981-0968-47F2-8B08-5C17AE75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] Monash University, FIT3143 Topic 8: Vector processi">
            <a:extLst xmlns:a="http://schemas.openxmlformats.org/drawingml/2006/main">
              <a:ext uri="{FF2B5EF4-FFF2-40B4-BE49-F238E27FC236}">
                <a16:creationId xmlns:a16="http://schemas.microsoft.com/office/drawing/2014/main" id="{A3C9D1D4-C55D-4C20-9FE8-C4565B2D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[1] Monash University, FIT3143 Topic 8: Vector processing, GPUs and NPUs, course slides, 2024, pp. 18–23, 32–35,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41–46.</a:t>
            </a:r>
          </a:p>
        </p:txBody>
      </p:sp>
      <p:sp>
        <p:nvSpPr>
          <p:cNvPr id="4" name="../context/FIT3143-Topic-8-2024.pdf">
            <a:extLst xmlns:a="http://schemas.openxmlformats.org/drawingml/2006/main">
              <a:ext uri="{FF2B5EF4-FFF2-40B4-BE49-F238E27FC236}">
                <a16:creationId xmlns:a16="http://schemas.microsoft.com/office/drawing/2014/main" id="{E0F1F883-A270-4062-B53A-C2A77292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../context/FIT3143-Topic-8-2024.pdf</a:t>
            </a:r>
          </a:p>
        </p:txBody>
      </p:sp>
      <p:sp>
        <p:nvSpPr>
          <p:cNvPr id="5" name="[2] Monash University, FIT3143 Topic 7A: Parallel perfo">
            <a:extLst xmlns:a="http://schemas.openxmlformats.org/drawingml/2006/main">
              <a:ext uri="{FF2B5EF4-FFF2-40B4-BE49-F238E27FC236}">
                <a16:creationId xmlns:a16="http://schemas.microsoft.com/office/drawing/2014/main" id="{F63A39A6-D4AC-43D6-BE1D-35C284B3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[2] Monash University, FIT3143 Topic 7A: Parallel performance and Amdahl reasoning, course slides, 2024, pp. 6–15,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18–27.</a:t>
            </a:r>
          </a:p>
        </p:txBody>
      </p:sp>
      <p:sp>
        <p:nvSpPr>
          <p:cNvPr id="6" name="../context/FIT3143-Topic-7A-2024.pdf">
            <a:extLst xmlns:a="http://schemas.openxmlformats.org/drawingml/2006/main">
              <a:ext uri="{FF2B5EF4-FFF2-40B4-BE49-F238E27FC236}">
                <a16:creationId xmlns:a16="http://schemas.microsoft.com/office/drawing/2014/main" id="{C8E1F4FF-8130-4F6C-BAAB-0E1D392E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../context/FIT3143-Topic-7A-2024.pdf</a:t>
            </a:r>
          </a:p>
        </p:txBody>
      </p:sp>
      <p:sp>
        <p:nvSpPr>
          <p:cNvPr id="7" name="[3] Monash University, FIT3143 Topic 9A: Synchronizatio">
            <a:extLst xmlns:a="http://schemas.openxmlformats.org/drawingml/2006/main">
              <a:ext uri="{FF2B5EF4-FFF2-40B4-BE49-F238E27FC236}">
                <a16:creationId xmlns:a16="http://schemas.microsoft.com/office/drawing/2014/main" id="{2C69B211-65C5-4B64-9BC6-21641228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[3] Monash University, FIT3143 Topic 9A: Synchronization and dependencies, course slides, 2024, pp. 2–7.</a:t>
            </a:r>
          </a:p>
        </p:txBody>
      </p:sp>
      <p:sp>
        <p:nvSpPr>
          <p:cNvPr id="8" name="../context/FIT3143-Topic-9A-2024.pdf">
            <a:extLst xmlns:a="http://schemas.openxmlformats.org/drawingml/2006/main">
              <a:ext uri="{FF2B5EF4-FFF2-40B4-BE49-F238E27FC236}">
                <a16:creationId xmlns:a16="http://schemas.microsoft.com/office/drawing/2014/main" id="{DD4BA7A5-A3C9-4BA8-8FBF-A8F8E267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325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../context/FIT3143-Topic-9A-2024.pdf</a:t>
            </a:r>
          </a:p>
        </p:txBody>
      </p:sp>
      <p:sp>
        <p:nvSpPr>
          <p:cNvPr id="9" name="[4] NVIDIA, “Programming model,” CUDA Programming Guide">
            <a:extLst xmlns:a="http://schemas.openxmlformats.org/drawingml/2006/main">
              <a:ext uri="{FF2B5EF4-FFF2-40B4-BE49-F238E27FC236}">
                <a16:creationId xmlns:a16="http://schemas.microsoft.com/office/drawing/2014/main" id="{644F5051-CDB6-477F-9AEC-75279CE6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444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[4] NVIDIA, “Programming model,” CUDA Programming Guide, online documentation, accessed Oct. 8, 2026.</a:t>
            </a:r>
          </a:p>
        </p:txBody>
      </p:sp>
      <p:sp>
        <p:nvSpPr>
          <p:cNvPr id="10" name="https://docs.nvidia.com/cuda/cuda-programming-guide/01-">
            <a:extLst xmlns:a="http://schemas.openxmlformats.org/drawingml/2006/main">
              <a:ext uri="{FF2B5EF4-FFF2-40B4-BE49-F238E27FC236}">
                <a16:creationId xmlns:a16="http://schemas.microsoft.com/office/drawing/2014/main" id="{FD4CEB07-9EFA-477A-9249-A617999F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d19daf883f7440c8"/>
              </a:rPr>
              <a:t>https://docs.nvidia.com/cuda/cuda-programming-guide/01-introduction/programming-model.html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44A7A-E411-4AD8-8434-92847359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0CC096F6-97E2-4145-B3BB-2A236D82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5 / 56">
            <a:extLst xmlns:a="http://schemas.openxmlformats.org/drawingml/2006/main">
              <a:ext uri="{FF2B5EF4-FFF2-40B4-BE49-F238E27FC236}">
                <a16:creationId xmlns:a16="http://schemas.microsoft.com/office/drawing/2014/main" id="{CCC9E22A-1562-4AAB-B563-971BEBFE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35 / 56</a:t>
            </a:r>
          </a:p>
        </p:txBody>
      </p:sp>
    </p:spTree>
    <p:extLst>
      <p:ext uri="{BB962C8B-B14F-4D97-AF65-F5344CB8AC3E}">
        <p14:creationId xmlns:p14="http://schemas.microsoft.com/office/powerpoint/2010/main" val="173270108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2/6">
            <a:extLst xmlns:a="http://schemas.openxmlformats.org/drawingml/2006/main">
              <a:ext uri="{FF2B5EF4-FFF2-40B4-BE49-F238E27FC236}">
                <a16:creationId xmlns:a16="http://schemas.microsoft.com/office/drawing/2014/main" id="{85B2DE7E-FFE6-41C9-A93C-5FF591C8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2/6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50ECC266-5256-42EC-AFD3-CFF577D6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5] NVIDIA, CUDA C++ Best Practices Guide, online docum">
            <a:extLst xmlns:a="http://schemas.openxmlformats.org/drawingml/2006/main">
              <a:ext uri="{FF2B5EF4-FFF2-40B4-BE49-F238E27FC236}">
                <a16:creationId xmlns:a16="http://schemas.microsoft.com/office/drawing/2014/main" id="{AFA43AFB-C5D2-4F90-B498-7367172B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[5] NVIDIA, CUDA C++ Best Practices Guide, online documentation, accessed Oct. 8, 2026.</a:t>
            </a:r>
          </a:p>
        </p:txBody>
      </p:sp>
      <p:sp>
        <p:nvSpPr>
          <p:cNvPr id="4" name="https://docs.nvidia.com/cuda/cuda-c-best-practices-guid">
            <a:extLst xmlns:a="http://schemas.openxmlformats.org/drawingml/2006/main">
              <a:ext uri="{FF2B5EF4-FFF2-40B4-BE49-F238E27FC236}">
                <a16:creationId xmlns:a16="http://schemas.microsoft.com/office/drawing/2014/main" id="{8E168374-0A73-44C4-97CB-702B668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361218ea696e4b42"/>
              </a:rPr>
              <a:t>https://docs.nvidia.com/cuda/cuda-c-best-practices-guide/index.html</a:t>
            </a:r>
          </a:p>
        </p:txBody>
      </p:sp>
      <p:sp>
        <p:nvSpPr>
          <p:cNvPr id="5" name="[6] NVIDIA, GPUDirect Storage Overview Guide, online do">
            <a:extLst xmlns:a="http://schemas.openxmlformats.org/drawingml/2006/main">
              <a:ext uri="{FF2B5EF4-FFF2-40B4-BE49-F238E27FC236}">
                <a16:creationId xmlns:a16="http://schemas.microsoft.com/office/drawing/2014/main" id="{C5662F28-D3AD-4AF1-A48A-C3992818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[6] NVIDIA, GPUDirect Storage Overview Guide, online documentation, accessed Oct. 8, 2026.</a:t>
            </a:r>
          </a:p>
        </p:txBody>
      </p:sp>
      <p:sp>
        <p:nvSpPr>
          <p:cNvPr id="6" name="https://docs.nvidia.com/gpudirect-storage/overview-guid">
            <a:extLst xmlns:a="http://schemas.openxmlformats.org/drawingml/2006/main">
              <a:ext uri="{FF2B5EF4-FFF2-40B4-BE49-F238E27FC236}">
                <a16:creationId xmlns:a16="http://schemas.microsoft.com/office/drawing/2014/main" id="{9C3695BE-CC91-403C-B1E9-C66E53A1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eab00cc9fbf4da1"/>
              </a:rPr>
              <a:t>https://docs.nvidia.com/gpudirect-storage/overview-guide/index.html</a:t>
            </a:r>
          </a:p>
        </p:txBody>
      </p:sp>
      <p:sp>
        <p:nvSpPr>
          <p:cNvPr id="7" name="[7] NVIDIA, GPUDirect Storage Design Guide, online docu">
            <a:extLst xmlns:a="http://schemas.openxmlformats.org/drawingml/2006/main">
              <a:ext uri="{FF2B5EF4-FFF2-40B4-BE49-F238E27FC236}">
                <a16:creationId xmlns:a16="http://schemas.microsoft.com/office/drawing/2014/main" id="{D2F2729A-7B06-48B0-89A0-4042D8BC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[7] NVIDIA, GPUDirect Storage Design Guide, online documentation, accessed Oct. 8, 2026.</a:t>
            </a:r>
          </a:p>
        </p:txBody>
      </p:sp>
      <p:sp>
        <p:nvSpPr>
          <p:cNvPr id="8" name="https://docs.nvidia.com/gpudirect-storage/design-guide/">
            <a:extLst xmlns:a="http://schemas.openxmlformats.org/drawingml/2006/main">
              <a:ext uri="{FF2B5EF4-FFF2-40B4-BE49-F238E27FC236}">
                <a16:creationId xmlns:a16="http://schemas.microsoft.com/office/drawing/2014/main" id="{94E51195-C1B0-4D73-AB58-5A37A0D2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628f529dc40443e"/>
              </a:rPr>
              <a:t>https://docs.nvidia.com/gpudirect-storage/design-guide/index.html</a:t>
            </a:r>
          </a:p>
        </p:txBody>
      </p:sp>
      <p:sp>
        <p:nvSpPr>
          <p:cNvPr id="9" name="[8] NVIDIA, “Parallelism strategies guide,” Megatron Co">
            <a:extLst xmlns:a="http://schemas.openxmlformats.org/drawingml/2006/main">
              <a:ext uri="{FF2B5EF4-FFF2-40B4-BE49-F238E27FC236}">
                <a16:creationId xmlns:a16="http://schemas.microsoft.com/office/drawing/2014/main" id="{6E070F41-2462-4468-96AD-388EBE68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38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[8] NVIDIA, “Parallelism strategies guide,” Megatron Core, online documentation, accessed Oct. 8, 2026.</a:t>
            </a:r>
          </a:p>
        </p:txBody>
      </p:sp>
      <p:sp>
        <p:nvSpPr>
          <p:cNvPr id="10" name="https://docs.nvidia.com/megatron-core/developer-guide/l">
            <a:extLst xmlns:a="http://schemas.openxmlformats.org/drawingml/2006/main">
              <a:ext uri="{FF2B5EF4-FFF2-40B4-BE49-F238E27FC236}">
                <a16:creationId xmlns:a16="http://schemas.microsoft.com/office/drawing/2014/main" id="{16DFFE65-2E1A-4FD6-BE5F-4F35B176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2618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55f4751b2564feb"/>
              </a:rPr>
              <a:t>https://docs.nvidia.com/megatron-core/developer-guide/latest/user-guide/parallelism-guide.html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72036-E8EF-4F92-ABB0-99A7064B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F0311649-3343-442F-AD5A-92958BE7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6 / 56">
            <a:extLst xmlns:a="http://schemas.openxmlformats.org/drawingml/2006/main">
              <a:ext uri="{FF2B5EF4-FFF2-40B4-BE49-F238E27FC236}">
                <a16:creationId xmlns:a16="http://schemas.microsoft.com/office/drawing/2014/main" id="{20E3D74E-43C0-451B-8005-5CE1229A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36 / 56</a:t>
            </a:r>
          </a:p>
        </p:txBody>
      </p:sp>
    </p:spTree>
    <p:extLst>
      <p:ext uri="{BB962C8B-B14F-4D97-AF65-F5344CB8AC3E}">
        <p14:creationId xmlns:p14="http://schemas.microsoft.com/office/powerpoint/2010/main" val="185026661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3/6">
            <a:extLst xmlns:a="http://schemas.openxmlformats.org/drawingml/2006/main">
              <a:ext uri="{FF2B5EF4-FFF2-40B4-BE49-F238E27FC236}">
                <a16:creationId xmlns:a16="http://schemas.microsoft.com/office/drawing/2014/main" id="{07F5489C-FA8A-4046-88AF-C067FF56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3/6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19808A87-E8DF-44C4-8E12-CFD78FAF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9] International Energy Agency, Key Questions on Energ">
            <a:extLst xmlns:a="http://schemas.openxmlformats.org/drawingml/2006/main">
              <a:ext uri="{FF2B5EF4-FFF2-40B4-BE49-F238E27FC236}">
                <a16:creationId xmlns:a16="http://schemas.microsoft.com/office/drawing/2014/main" id="{E115502B-25E1-4DDB-B04F-F5C174CC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[9] International Energy Agency, Key Questions on Energy and AI, executive summary, Apr. 16, 2026, CC BY 4.0, accessed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Oct. 8, 2026.</a:t>
            </a:r>
          </a:p>
        </p:txBody>
      </p:sp>
      <p:sp>
        <p:nvSpPr>
          <p:cNvPr id="4" name="https://www.iea.org/reports/key-questions-on-energy-and">
            <a:extLst xmlns:a="http://schemas.openxmlformats.org/drawingml/2006/main">
              <a:ext uri="{FF2B5EF4-FFF2-40B4-BE49-F238E27FC236}">
                <a16:creationId xmlns:a16="http://schemas.microsoft.com/office/drawing/2014/main" id="{B5ADCDBB-D82B-4605-A3A7-901B0B9E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200c06c3fa9450f"/>
              </a:rPr>
              <a:t>https://www.iea.org/reports/key-questions-on-energy-and-ai/executive-summary</a:t>
            </a:r>
          </a:p>
        </p:txBody>
      </p:sp>
      <p:sp>
        <p:nvSpPr>
          <p:cNvPr id="5" name="[10] U.S. National Science Foundation, “NAIRR at 2 year">
            <a:extLst xmlns:a="http://schemas.openxmlformats.org/drawingml/2006/main">
              <a:ext uri="{FF2B5EF4-FFF2-40B4-BE49-F238E27FC236}">
                <a16:creationId xmlns:a16="http://schemas.microsoft.com/office/drawing/2014/main" id="{F0EE4436-1252-4609-A4A1-AD723821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[10] U.S. National Science Foundation, “NAIRR at 2 years: Advancing American artificial intelligence innovation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leadership,” Mar. 19, 2026, accessed Oct. 8, 2026.</a:t>
            </a:r>
          </a:p>
        </p:txBody>
      </p:sp>
      <p:sp>
        <p:nvSpPr>
          <p:cNvPr id="6" name="https://www.nsf.gov/cise/updates/nairr-2-years-advancin">
            <a:extLst xmlns:a="http://schemas.openxmlformats.org/drawingml/2006/main">
              <a:ext uri="{FF2B5EF4-FFF2-40B4-BE49-F238E27FC236}">
                <a16:creationId xmlns:a16="http://schemas.microsoft.com/office/drawing/2014/main" id="{5C9DA430-125A-4BF0-8670-03D228EC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4be3d4c5894e4e16"/>
              </a:rPr>
              <a:t>https://www.nsf.gov/cise/updates/nairr-2-years-advancing-american-artificial-intelligence</a:t>
            </a:r>
          </a:p>
        </p:txBody>
      </p:sp>
      <p:sp>
        <p:nvSpPr>
          <p:cNvPr id="7" name="[11] E. Strubell, A. Ganesh, and A. McCallum, “Energy a">
            <a:extLst xmlns:a="http://schemas.openxmlformats.org/drawingml/2006/main">
              <a:ext uri="{FF2B5EF4-FFF2-40B4-BE49-F238E27FC236}">
                <a16:creationId xmlns:a16="http://schemas.microsoft.com/office/drawing/2014/main" id="{8D9163E8-AAFB-44D6-A2AA-1897E6A7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[11] E. Strubell, A. Ganesh, and A. McCallum, “Energy and policy considerations for deep learning in NLP,” in Proc. ACL,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2019, pp. 3645–3650, doi: 10.18653/v1/P19-1355.</a:t>
            </a:r>
          </a:p>
        </p:txBody>
      </p:sp>
      <p:sp>
        <p:nvSpPr>
          <p:cNvPr id="8" name="https://aclanthology.org/P19-1355/">
            <a:extLst xmlns:a="http://schemas.openxmlformats.org/drawingml/2006/main">
              <a:ext uri="{FF2B5EF4-FFF2-40B4-BE49-F238E27FC236}">
                <a16:creationId xmlns:a16="http://schemas.microsoft.com/office/drawing/2014/main" id="{8BC2D8FB-FF58-4695-8BEB-9B8C55C0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128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391265b079564284"/>
              </a:rPr>
              <a:t>https://aclanthology.org/P19-1355/</a:t>
            </a:r>
          </a:p>
        </p:txBody>
      </p:sp>
      <p:sp>
        <p:nvSpPr>
          <p:cNvPr id="9" name="[12] P. Li, J. Yang, M. A. Islam, and S. Ren, “Making A">
            <a:extLst xmlns:a="http://schemas.openxmlformats.org/drawingml/2006/main">
              <a:ext uri="{FF2B5EF4-FFF2-40B4-BE49-F238E27FC236}">
                <a16:creationId xmlns:a16="http://schemas.microsoft.com/office/drawing/2014/main" id="{7B67668C-74F4-41F6-B982-61CC8B12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248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[12] P. Li, J. Yang, M. A. Islam, and S. Ren, “Making AI less ‘thirsty’: Uncovering and addressing the secret water footprint of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models,” arXiv:2304.03271v5, Mar. 26, 2025; first submitted 2023.</a:t>
            </a:r>
          </a:p>
        </p:txBody>
      </p:sp>
      <p:sp>
        <p:nvSpPr>
          <p:cNvPr id="10" name="https://arxiv.org/abs/2304.03271v5">
            <a:extLst xmlns:a="http://schemas.openxmlformats.org/drawingml/2006/main">
              <a:ext uri="{FF2B5EF4-FFF2-40B4-BE49-F238E27FC236}">
                <a16:creationId xmlns:a16="http://schemas.microsoft.com/office/drawing/2014/main" id="{D19CE479-FE64-4191-ADE4-838D0291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474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94ea5ae008fa4c46"/>
              </a:rPr>
              <a:t>https://arxiv.org/abs/2304.03271v5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BAA14-1EC0-4107-A838-CD3D5E83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F4E0CF2-7543-4F5C-B194-A3835029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7 / 56">
            <a:extLst xmlns:a="http://schemas.openxmlformats.org/drawingml/2006/main">
              <a:ext uri="{FF2B5EF4-FFF2-40B4-BE49-F238E27FC236}">
                <a16:creationId xmlns:a16="http://schemas.microsoft.com/office/drawing/2014/main" id="{2C22BC3A-1B4A-4153-A53A-41AC1E44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37 / 56</a:t>
            </a:r>
          </a:p>
        </p:txBody>
      </p:sp>
    </p:spTree>
    <p:extLst>
      <p:ext uri="{BB962C8B-B14F-4D97-AF65-F5344CB8AC3E}">
        <p14:creationId xmlns:p14="http://schemas.microsoft.com/office/powerpoint/2010/main" val="119136655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4/6">
            <a:extLst xmlns:a="http://schemas.openxmlformats.org/drawingml/2006/main">
              <a:ext uri="{FF2B5EF4-FFF2-40B4-BE49-F238E27FC236}">
                <a16:creationId xmlns:a16="http://schemas.microsoft.com/office/drawing/2014/main" id="{13076B54-4496-46EA-BB24-89DA67AA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4/6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979AD2AE-8E32-4953-89E6-A622E3E0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3] R. Schwartz, J. Dodge, N. A. Smith, and O. Etzioni">
            <a:extLst xmlns:a="http://schemas.openxmlformats.org/drawingml/2006/main">
              <a:ext uri="{FF2B5EF4-FFF2-40B4-BE49-F238E27FC236}">
                <a16:creationId xmlns:a16="http://schemas.microsoft.com/office/drawing/2014/main" id="{EAAF697C-389A-4111-BCE8-467BAB48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[13] R. Schwartz, J. Dodge, N. A. Smith, and O. Etzioni, “Green AI,” arXiv:1907.10597, 2019.</a:t>
            </a:r>
          </a:p>
        </p:txBody>
      </p:sp>
      <p:sp>
        <p:nvSpPr>
          <p:cNvPr id="4" name="https://arxiv.org/abs/1907.10597">
            <a:extLst xmlns:a="http://schemas.openxmlformats.org/drawingml/2006/main">
              <a:ext uri="{FF2B5EF4-FFF2-40B4-BE49-F238E27FC236}">
                <a16:creationId xmlns:a16="http://schemas.microsoft.com/office/drawing/2014/main" id="{F4E233A7-1286-4E9D-964E-EFEB82A6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f1d3e97676884371"/>
              </a:rPr>
              <a:t>https://arxiv.org/abs/1907.10597</a:t>
            </a:r>
          </a:p>
        </p:txBody>
      </p:sp>
      <p:sp>
        <p:nvSpPr>
          <p:cNvPr id="5" name="[14] L. Zhu, Z. Liu, and S. Han, “Deep leakage from gra">
            <a:extLst xmlns:a="http://schemas.openxmlformats.org/drawingml/2006/main">
              <a:ext uri="{FF2B5EF4-FFF2-40B4-BE49-F238E27FC236}">
                <a16:creationId xmlns:a16="http://schemas.microsoft.com/office/drawing/2014/main" id="{116552D4-0A9D-4E48-B448-2A44F70D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[14] L. Zhu, Z. Liu, and S. Han, “Deep leakage from gradients,” arXiv:1906.08935v2, 2019.</a:t>
            </a:r>
          </a:p>
        </p:txBody>
      </p:sp>
      <p:sp>
        <p:nvSpPr>
          <p:cNvPr id="6" name="https://arxiv.org/abs/1906.08935v2">
            <a:extLst xmlns:a="http://schemas.openxmlformats.org/drawingml/2006/main">
              <a:ext uri="{FF2B5EF4-FFF2-40B4-BE49-F238E27FC236}">
                <a16:creationId xmlns:a16="http://schemas.microsoft.com/office/drawing/2014/main" id="{0D97FA8A-FC3F-41F5-9B60-7DA44492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f0652881e7f540e5"/>
              </a:rPr>
              <a:t>https://arxiv.org/abs/1906.08935v2</a:t>
            </a:r>
          </a:p>
        </p:txBody>
      </p:sp>
      <p:sp>
        <p:nvSpPr>
          <p:cNvPr id="7" name="[15] I. O. Gallegos et al., “Bias and fairness in large">
            <a:extLst xmlns:a="http://schemas.openxmlformats.org/drawingml/2006/main">
              <a:ext uri="{FF2B5EF4-FFF2-40B4-BE49-F238E27FC236}">
                <a16:creationId xmlns:a16="http://schemas.microsoft.com/office/drawing/2014/main" id="{0FA9480A-BEBD-4FBC-84D2-A03B99DD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[15] I. O. Gallegos et al., “Bias and fairness in large language models: A survey,” Computational Linguistics, vol. 50, no. 3,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pp. 1097–1179, 2024, doi: 10.1162/coli_a_00524.</a:t>
            </a:r>
          </a:p>
        </p:txBody>
      </p:sp>
      <p:sp>
        <p:nvSpPr>
          <p:cNvPr id="8" name="https://aclanthology.org/2024.cl-3.8/">
            <a:extLst xmlns:a="http://schemas.openxmlformats.org/drawingml/2006/main">
              <a:ext uri="{FF2B5EF4-FFF2-40B4-BE49-F238E27FC236}">
                <a16:creationId xmlns:a16="http://schemas.microsoft.com/office/drawing/2014/main" id="{9B2F3FA7-4BF9-43F1-88D5-989158A1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2a6c94253ef14bda"/>
              </a:rPr>
              <a:t>https://aclanthology.org/2024.cl-3.8/</a:t>
            </a:r>
          </a:p>
        </p:txBody>
      </p:sp>
      <p:sp>
        <p:nvSpPr>
          <p:cNvPr id="9" name="[16] N. Ahmed and M. Wahed, “The de-democratization of ">
            <a:extLst xmlns:a="http://schemas.openxmlformats.org/drawingml/2006/main">
              <a:ext uri="{FF2B5EF4-FFF2-40B4-BE49-F238E27FC236}">
                <a16:creationId xmlns:a16="http://schemas.microsoft.com/office/drawing/2014/main" id="{999C3E48-7609-4A6A-9CCA-84403B30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[16] N. Ahmed and M. Wahed, “The de-democratization of AI: Deep learning and the compute divide in artificial intelligence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research,” arXiv:2010.15581v1, 2020.</a:t>
            </a:r>
          </a:p>
        </p:txBody>
      </p:sp>
      <p:sp>
        <p:nvSpPr>
          <p:cNvPr id="10" name="https://arxiv.org/abs/2010.15581v1">
            <a:extLst xmlns:a="http://schemas.openxmlformats.org/drawingml/2006/main">
              <a:ext uri="{FF2B5EF4-FFF2-40B4-BE49-F238E27FC236}">
                <a16:creationId xmlns:a16="http://schemas.microsoft.com/office/drawing/2014/main" id="{B95682C9-8CE5-475E-8054-45DC7FEC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4f0e599d52654112"/>
              </a:rPr>
              <a:t>https://arxiv.org/abs/2010.15581v1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645CC-AE53-47C8-85E2-E486CACE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303740BF-F267-4C25-A309-C6ED0571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8 / 56">
            <a:extLst xmlns:a="http://schemas.openxmlformats.org/drawingml/2006/main">
              <a:ext uri="{FF2B5EF4-FFF2-40B4-BE49-F238E27FC236}">
                <a16:creationId xmlns:a16="http://schemas.microsoft.com/office/drawing/2014/main" id="{A0F621FA-C5B1-4E6F-9FD1-12F99CAC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38 / 56</a:t>
            </a:r>
          </a:p>
        </p:txBody>
      </p:sp>
    </p:spTree>
    <p:extLst>
      <p:ext uri="{BB962C8B-B14F-4D97-AF65-F5344CB8AC3E}">
        <p14:creationId xmlns:p14="http://schemas.microsoft.com/office/powerpoint/2010/main" val="166390312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5/6">
            <a:extLst xmlns:a="http://schemas.openxmlformats.org/drawingml/2006/main">
              <a:ext uri="{FF2B5EF4-FFF2-40B4-BE49-F238E27FC236}">
                <a16:creationId xmlns:a16="http://schemas.microsoft.com/office/drawing/2014/main" id="{2CDBF624-DD49-47D6-AE54-754BBED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5/6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B1E515FB-7CF4-4404-86AA-3ECBD805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7] A. Radovanovic et al., “Carbon-aware computing for">
            <a:extLst xmlns:a="http://schemas.openxmlformats.org/drawingml/2006/main">
              <a:ext uri="{FF2B5EF4-FFF2-40B4-BE49-F238E27FC236}">
                <a16:creationId xmlns:a16="http://schemas.microsoft.com/office/drawing/2014/main" id="{41BA9992-2C01-4D29-A1F9-9D0B0C10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[17] A. Radovanovic et al., “Carbon-aware computing for datacenters,” arXiv:2106.11750v1, 2021.</a:t>
            </a:r>
          </a:p>
        </p:txBody>
      </p:sp>
      <p:sp>
        <p:nvSpPr>
          <p:cNvPr id="4" name="https://arxiv.org/abs/2106.11750v1">
            <a:extLst xmlns:a="http://schemas.openxmlformats.org/drawingml/2006/main">
              <a:ext uri="{FF2B5EF4-FFF2-40B4-BE49-F238E27FC236}">
                <a16:creationId xmlns:a16="http://schemas.microsoft.com/office/drawing/2014/main" id="{E02BA47C-26B9-48E4-80CD-50A42BA5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26c9230713246f4"/>
              </a:rPr>
              <a:t>https://arxiv.org/abs/2106.11750v1</a:t>
            </a:r>
          </a:p>
        </p:txBody>
      </p:sp>
      <p:sp>
        <p:nvSpPr>
          <p:cNvPr id="5" name="[18] OECD, “OECD AI Principles,” adopted 2019, updated ">
            <a:extLst xmlns:a="http://schemas.openxmlformats.org/drawingml/2006/main">
              <a:ext uri="{FF2B5EF4-FFF2-40B4-BE49-F238E27FC236}">
                <a16:creationId xmlns:a16="http://schemas.microsoft.com/office/drawing/2014/main" id="{7ADBE890-48B6-4573-BCAE-FF76CA21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[18] OECD, “OECD AI Principles,” adopted 2019, updated 2024, accessed Oct. 8, 2026.</a:t>
            </a:r>
          </a:p>
        </p:txBody>
      </p:sp>
      <p:sp>
        <p:nvSpPr>
          <p:cNvPr id="6" name="https://www.oecd.org/en/topics/ai-principles.html">
            <a:extLst xmlns:a="http://schemas.openxmlformats.org/drawingml/2006/main">
              <a:ext uri="{FF2B5EF4-FFF2-40B4-BE49-F238E27FC236}">
                <a16:creationId xmlns:a16="http://schemas.microsoft.com/office/drawing/2014/main" id="{5EF628DD-2A61-4B01-A3BB-BD611BAB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0dd85027d11142a0"/>
              </a:rPr>
              <a:t>https://www.oecd.org/en/topics/ai-principles.html</a:t>
            </a:r>
          </a:p>
        </p:txBody>
      </p:sp>
      <p:sp>
        <p:nvSpPr>
          <p:cNvPr id="7" name="[19] NIST, AI Risk Management Framework 1.0 Playbook, f">
            <a:extLst xmlns:a="http://schemas.openxmlformats.org/drawingml/2006/main">
              <a:ext uri="{FF2B5EF4-FFF2-40B4-BE49-F238E27FC236}">
                <a16:creationId xmlns:a16="http://schemas.microsoft.com/office/drawing/2014/main" id="{6DFF1FC9-6141-4F9B-A2DA-7D83F843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[19] NIST, AI Risk Management Framework 1.0 Playbook, framework 2023, current online resource, accessed Oct. 8, 2026.</a:t>
            </a:r>
          </a:p>
        </p:txBody>
      </p:sp>
      <p:sp>
        <p:nvSpPr>
          <p:cNvPr id="8" name="https://airc.nist.gov/airmf-resources/playbook/">
            <a:extLst xmlns:a="http://schemas.openxmlformats.org/drawingml/2006/main">
              <a:ext uri="{FF2B5EF4-FFF2-40B4-BE49-F238E27FC236}">
                <a16:creationId xmlns:a16="http://schemas.microsoft.com/office/drawing/2014/main" id="{E389245C-DC1A-420D-983F-74D054F9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0a0cc0937e83402b"/>
              </a:rPr>
              <a:t>https://airc.nist.gov/airmf-resources/playbook/</a:t>
            </a:r>
          </a:p>
        </p:txBody>
      </p:sp>
      <p:sp>
        <p:nvSpPr>
          <p:cNvPr id="9" name="[20] NVIDIA, “Rotate,” NPP Image Geometry Transforms, C">
            <a:extLst xmlns:a="http://schemas.openxmlformats.org/drawingml/2006/main">
              <a:ext uri="{FF2B5EF4-FFF2-40B4-BE49-F238E27FC236}">
                <a16:creationId xmlns:a16="http://schemas.microsoft.com/office/drawing/2014/main" id="{203B6FC6-8B66-4AA9-8670-396CAA98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38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[20] NVIDIA, “Rotate,” NPP Image Geometry Transforms, CUDA 13.0.3 archive documentation, accessed Oct. 8, 2026.</a:t>
            </a:r>
          </a:p>
        </p:txBody>
      </p:sp>
      <p:sp>
        <p:nvSpPr>
          <p:cNvPr id="10" name="https://docs.nvidia.com/cuda/archive/13.0.3/npp/image_g">
            <a:extLst xmlns:a="http://schemas.openxmlformats.org/drawingml/2006/main">
              <a:ext uri="{FF2B5EF4-FFF2-40B4-BE49-F238E27FC236}">
                <a16:creationId xmlns:a16="http://schemas.microsoft.com/office/drawing/2014/main" id="{1873A37A-7523-4E64-8A67-E2F216A7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2618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1b6e138b1054fff"/>
              </a:rPr>
              <a:t>https://docs.nvidia.com/cuda/archive/13.0.3/npp/image_geometry_transforms.html#rotate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1B00C-3C1F-44D4-99A3-E31FF078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EF123B17-D4E0-409F-BD4D-638B5A0A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9 / 56">
            <a:extLst xmlns:a="http://schemas.openxmlformats.org/drawingml/2006/main">
              <a:ext uri="{FF2B5EF4-FFF2-40B4-BE49-F238E27FC236}">
                <a16:creationId xmlns:a16="http://schemas.microsoft.com/office/drawing/2014/main" id="{AEB465C6-2606-43C2-A337-2E0D0047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39 / 56</a:t>
            </a:r>
          </a:p>
        </p:txBody>
      </p:sp>
    </p:spTree>
    <p:extLst>
      <p:ext uri="{BB962C8B-B14F-4D97-AF65-F5344CB8AC3E}">
        <p14:creationId xmlns:p14="http://schemas.microsoft.com/office/powerpoint/2010/main" val="30407153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ppendix • References 6/6">
            <a:extLst xmlns:a="http://schemas.openxmlformats.org/drawingml/2006/main">
              <a:ext uri="{FF2B5EF4-FFF2-40B4-BE49-F238E27FC236}">
                <a16:creationId xmlns:a16="http://schemas.microsoft.com/office/drawing/2014/main" id="{03C4D39E-2728-493F-9F6A-9F523F56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6/6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6EC061F0-40C4-4FC2-AAA0-0E6E95B9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21] Monash University, FIT3143 Week 5 combined course ">
            <a:extLst xmlns:a="http://schemas.openxmlformats.org/drawingml/2006/main">
              <a:ext uri="{FF2B5EF4-FFF2-40B4-BE49-F238E27FC236}">
                <a16:creationId xmlns:a16="http://schemas.microsoft.com/office/drawing/2014/main" id="{8E41621C-3DAA-4939-89D2-E2A7C410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[21] Monash University, FIT3143 Week 5 combined course material, MPI collectives, pp. 148–155.</a:t>
            </a:r>
          </a:p>
        </p:txBody>
      </p:sp>
      <p:sp>
        <p:nvSpPr>
          <p:cNvPr id="4" name="../context/FIT3143_Week_5_Combined.pdf">
            <a:extLst xmlns:a="http://schemas.openxmlformats.org/drawingml/2006/main">
              <a:ext uri="{FF2B5EF4-FFF2-40B4-BE49-F238E27FC236}">
                <a16:creationId xmlns:a16="http://schemas.microsoft.com/office/drawing/2014/main" id="{B7342AFF-BBF1-42F4-BEED-944BBBC0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../context/FIT3143_Week_5_Combined.pdf</a:t>
            </a:r>
          </a:p>
        </p:txBody>
      </p:sp>
      <p:sp>
        <p:nvSpPr>
          <p:cNvPr id="5" name="[22] Monash University, FIT3143 Topic 9B: Mutual exclus">
            <a:extLst xmlns:a="http://schemas.openxmlformats.org/drawingml/2006/main">
              <a:ext uri="{FF2B5EF4-FFF2-40B4-BE49-F238E27FC236}">
                <a16:creationId xmlns:a16="http://schemas.microsoft.com/office/drawing/2014/main" id="{5749F7E4-0BBE-4D53-9153-913411D4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[22] Monash University, FIT3143 Topic 9B: Mutual exclusion and resource allocation, course slides, 2024, pp. 4–16, 24–32.</a:t>
            </a:r>
          </a:p>
        </p:txBody>
      </p:sp>
      <p:sp>
        <p:nvSpPr>
          <p:cNvPr id="6" name="../context/FIT3143-Topic-9B-2024.pdf">
            <a:extLst xmlns:a="http://schemas.openxmlformats.org/drawingml/2006/main">
              <a:ext uri="{FF2B5EF4-FFF2-40B4-BE49-F238E27FC236}">
                <a16:creationId xmlns:a16="http://schemas.microsoft.com/office/drawing/2014/main" id="{C2AEE537-37E8-4648-ADF4-90D62BE6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../context/FIT3143-Topic-9B-2024.pdf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3B755-9468-498E-AEDD-B5DEDCD2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8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F41E433D-AFC4-42F2-BB91-28430589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9" name="40 / 56">
            <a:extLst xmlns:a="http://schemas.openxmlformats.org/drawingml/2006/main">
              <a:ext uri="{FF2B5EF4-FFF2-40B4-BE49-F238E27FC236}">
                <a16:creationId xmlns:a16="http://schemas.microsoft.com/office/drawing/2014/main" id="{8A07A307-E098-45F6-A6E8-398C46E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40 / 56</a:t>
            </a:r>
          </a:p>
        </p:txBody>
      </p:sp>
    </p:spTree>
    <p:extLst>
      <p:ext uri="{BB962C8B-B14F-4D97-AF65-F5344CB8AC3E}">
        <p14:creationId xmlns:p14="http://schemas.microsoft.com/office/powerpoint/2010/main" val="128187020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AI declaration">
            <a:extLst xmlns:a="http://schemas.openxmlformats.org/drawingml/2006/main">
              <a:ext uri="{FF2B5EF4-FFF2-40B4-BE49-F238E27FC236}">
                <a16:creationId xmlns:a16="http://schemas.microsoft.com/office/drawing/2014/main" id="{9B7E04C7-E6FF-40D9-BD41-35F55095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AI declaration</a:t>
            </a:r>
          </a:p>
        </p:txBody>
      </p:sp>
      <p:sp>
        <p:nvSpPr>
          <p:cNvPr id="2" name="AI assistance and prompt-record provenance">
            <a:extLst xmlns:a="http://schemas.openxmlformats.org/drawingml/2006/main">
              <a:ext uri="{FF2B5EF4-FFF2-40B4-BE49-F238E27FC236}">
                <a16:creationId xmlns:a16="http://schemas.microsoft.com/office/drawing/2014/main" id="{4AADB4D9-9D22-4721-B191-9EB11C81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AI assistance and prompt-record provenance</a:t>
            </a:r>
          </a:p>
        </p:txBody>
      </p:sp>
      <p:sp>
        <p:nvSpPr>
          <p:cNvPr id="3" name="Tools and assistance">
            <a:extLst xmlns:a="http://schemas.openxmlformats.org/drawingml/2006/main">
              <a:ext uri="{FF2B5EF4-FFF2-40B4-BE49-F238E27FC236}">
                <a16:creationId xmlns:a16="http://schemas.microsoft.com/office/drawing/2014/main" id="{EE398496-EE3C-4EF7-B858-0BB832A8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Tools and assistance</a:t>
            </a:r>
          </a:p>
        </p:txBody>
      </p:sp>
      <p:sp>
        <p:nvSpPr>
          <p:cNvPr id="4" name="OpenAI Codex was used on 6 and 8 October 2026 for resea">
            <a:extLst xmlns:a="http://schemas.openxmlformats.org/drawingml/2006/main">
              <a:ext uri="{FF2B5EF4-FFF2-40B4-BE49-F238E27FC236}">
                <a16:creationId xmlns:a16="http://schemas.microsoft.com/office/drawing/2014/main" id="{AED7CF10-78D5-4AB1-9D3B-0033CD28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OpenAI Codex was used on 6 and 8 October 2026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research/source checks, drafting and revision,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examples, editable slide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diagrams/charts and presentation assembly.</a:t>
            </a:r>
          </a:p>
        </p:txBody>
      </p:sp>
      <p:sp>
        <p:nvSpPr>
          <p:cNvPr id="5" name="AI supported preparation. Students must understand and ">
            <a:extLst xmlns:a="http://schemas.openxmlformats.org/drawingml/2006/main">
              <a:ext uri="{FF2B5EF4-FFF2-40B4-BE49-F238E27FC236}">
                <a16:creationId xmlns:a16="http://schemas.microsoft.com/office/drawing/2014/main" id="{EF726459-B550-46DD-9D6B-643BD669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supported preparation. Students must understand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validate submitted work; no AI use is permitted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during presentation/interview.</a:t>
            </a:r>
          </a:p>
        </p:txBody>
      </p:sp>
      <p:sp>
        <p:nvSpPr>
          <p:cNvPr id="6" name="Charts are cited sector evidence. Worked examples and p">
            <a:extLst xmlns:a="http://schemas.openxmlformats.org/drawingml/2006/main">
              <a:ext uri="{FF2B5EF4-FFF2-40B4-BE49-F238E27FC236}">
                <a16:creationId xmlns:a16="http://schemas.microsoft.com/office/drawing/2014/main" id="{87703196-1E3A-4B77-8F1C-C7F03933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Charts are cited sector evidence. Worked examples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policy scenarios are labeled illustrative; CUDA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was not measured.</a:t>
            </a:r>
          </a:p>
        </p:txBody>
      </p:sp>
      <p:sp>
        <p:nvSpPr>
          <p:cNvPr id="7" name="Record included in this deck">
            <a:extLst xmlns:a="http://schemas.openxmlformats.org/drawingml/2006/main">
              <a:ext uri="{FF2B5EF4-FFF2-40B4-BE49-F238E27FC236}">
                <a16:creationId xmlns:a16="http://schemas.microsoft.com/office/drawing/2014/main" id="{908C8B28-C0B3-4839-8F71-088E4231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Record included in this deck</a:t>
            </a:r>
          </a:p>
        </p:txBody>
      </p:sp>
      <p:sp>
        <p:nvSpPr>
          <p:cNvPr id="8" name="Earlier preparation prompts are reproduced from the sav">
            <a:extLst xmlns:a="http://schemas.openxmlformats.org/drawingml/2006/main">
              <a:ext uri="{FF2B5EF4-FFF2-40B4-BE49-F238E27FC236}">
                <a16:creationId xmlns:a16="http://schemas.microsoft.com/office/drawing/2014/main" id="{E891023E-4EE6-4A13-B7A2-1D6940FA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preparation prompts are reproduced from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saved Task 1 and Task 2 records with original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spelling. The continuation records the available 8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October requests and supplied details.</a:t>
            </a:r>
          </a:p>
        </p:txBody>
      </p:sp>
      <p:sp>
        <p:nvSpPr>
          <p:cNvPr id="9" name="A recorded review goal is labeled as such, separate fro">
            <a:extLst xmlns:a="http://schemas.openxmlformats.org/drawingml/2006/main">
              <a:ext uri="{FF2B5EF4-FFF2-40B4-BE49-F238E27FC236}">
                <a16:creationId xmlns:a16="http://schemas.microsoft.com/office/drawing/2014/main" id="{52B5B5EB-F2B1-4F2E-AB3C-D1D35C13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recorded review goal is labeled as such, separate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from direct user prompts. Environment/system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instructions and assistant/tool output are not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presented as student prompts.</a:t>
            </a:r>
          </a:p>
        </p:txBody>
      </p:sp>
      <p:sp>
        <p:nvSpPr>
          <p:cNvPr id="10" name="The accompanying PDF contains this same presentation, i">
            <a:extLst xmlns:a="http://schemas.openxmlformats.org/drawingml/2006/main">
              <a:ext uri="{FF2B5EF4-FFF2-40B4-BE49-F238E27FC236}">
                <a16:creationId xmlns:a16="http://schemas.microsoft.com/office/drawing/2014/main" id="{156FC6C7-14F1-482D-9FE8-88953ED4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accompanying PDF contains this same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presentation, including these records. Any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subsequent AI preparation must be appended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submission.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0D618-AFB1-456D-A67C-60A26C7B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130EA-3191-4623-A8F1-DA7D540E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8E6A6933-0303-46B7-A425-C1BF018C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41 / 56">
            <a:extLst xmlns:a="http://schemas.openxmlformats.org/drawingml/2006/main">
              <a:ext uri="{FF2B5EF4-FFF2-40B4-BE49-F238E27FC236}">
                <a16:creationId xmlns:a16="http://schemas.microsoft.com/office/drawing/2014/main" id="{41F10F16-C005-49CC-BDC3-62BAAE02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41 / 56</a:t>
            </a:r>
          </a:p>
        </p:txBody>
      </p:sp>
    </p:spTree>
    <p:extLst>
      <p:ext uri="{BB962C8B-B14F-4D97-AF65-F5344CB8AC3E}">
        <p14:creationId xmlns:p14="http://schemas.microsoft.com/office/powerpoint/2010/main" val="146191105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1">
            <a:extLst xmlns:a="http://schemas.openxmlformats.org/drawingml/2006/main">
              <a:ext uri="{FF2B5EF4-FFF2-40B4-BE49-F238E27FC236}">
                <a16:creationId xmlns:a16="http://schemas.microsoft.com/office/drawing/2014/main" id="{5366BA10-EC74-4B3F-8515-DBF3606A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1</a:t>
            </a:r>
          </a:p>
        </p:txBody>
      </p:sp>
      <p:sp>
        <p:nvSpPr>
          <p:cNvPr id="2" name="Earlier task1 preparation, record 1">
            <a:extLst xmlns:a="http://schemas.openxmlformats.org/drawingml/2006/main">
              <a:ext uri="{FF2B5EF4-FFF2-40B4-BE49-F238E27FC236}">
                <a16:creationId xmlns:a16="http://schemas.microsoft.com/office/drawing/2014/main" id="{189D307F-2325-42EC-9340-3E6A47DC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1</a:t>
            </a:r>
          </a:p>
        </p:txBody>
      </p:sp>
      <p:sp>
        <p:nvSpPr>
          <p:cNvPr id="3" name="# AGENTS.md instructions&#10;&#10;&lt;INSTRUCTIONS&gt;&#10;&quot;You are an ex">
            <a:extLst xmlns:a="http://schemas.openxmlformats.org/drawingml/2006/main">
              <a:ext uri="{FF2B5EF4-FFF2-40B4-BE49-F238E27FC236}">
                <a16:creationId xmlns:a16="http://schemas.microsoft.com/office/drawing/2014/main" id="{29B75F68-0087-4F8E-A7A1-73906DF8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# AGENTS.md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&lt;INSTRUCTIONS&gt;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"You are an expert computer science professor and senior software engineer acting as a student mentor.Core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Guidelines:Pedagogy First: When I ask for code, don't just provide the solution. Explain the logic, data structures,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algorithmic complexity (Big O) involved.Focus on Fundamentals: Prioritize standard libraries and fundamental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concepts taught in CS curriculum (e.g., Data Structures &amp; Algorithms, Operating Systems).Academic Integrity &amp; Best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Practices: Write clean, modular, and well-commented code that adheres to industry standards (e.g., PEP8 for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Python).Edge Case Analysis: Always prompt me to think about edge cases (null inputs, empty sets, large inputs)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providing the final code.Debugging Approach: When I present code with a bug, help me trace the logic rather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than immediately providing the fix. Ask probing questions to guide me to the answer."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&lt;/INSTRUCTIONS&gt;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21756-5BF7-4A6D-8EA4-90552B79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AC97CE31-A211-4D38-9F13-C0BC2175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2 / 56">
            <a:extLst xmlns:a="http://schemas.openxmlformats.org/drawingml/2006/main">
              <a:ext uri="{FF2B5EF4-FFF2-40B4-BE49-F238E27FC236}">
                <a16:creationId xmlns:a16="http://schemas.microsoft.com/office/drawing/2014/main" id="{591E0259-A69D-4B91-8BB4-D265C9BA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42 / 56</a:t>
            </a:r>
          </a:p>
        </p:txBody>
      </p:sp>
    </p:spTree>
    <p:extLst>
      <p:ext uri="{BB962C8B-B14F-4D97-AF65-F5344CB8AC3E}">
        <p14:creationId xmlns:p14="http://schemas.microsoft.com/office/powerpoint/2010/main" val="172480895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2">
            <a:extLst xmlns:a="http://schemas.openxmlformats.org/drawingml/2006/main">
              <a:ext uri="{FF2B5EF4-FFF2-40B4-BE49-F238E27FC236}">
                <a16:creationId xmlns:a16="http://schemas.microsoft.com/office/drawing/2014/main" id="{776CB2F1-FE20-4170-A387-988C3876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2</a:t>
            </a:r>
          </a:p>
        </p:txBody>
      </p:sp>
      <p:sp>
        <p:nvSpPr>
          <p:cNvPr id="2" name="Earlier task1 preparation, record 2">
            <a:extLst xmlns:a="http://schemas.openxmlformats.org/drawingml/2006/main">
              <a:ext uri="{FF2B5EF4-FFF2-40B4-BE49-F238E27FC236}">
                <a16:creationId xmlns:a16="http://schemas.microsoft.com/office/drawing/2014/main" id="{252789DD-5D03-4695-A576-3856EF5F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2</a:t>
            </a:r>
          </a:p>
        </p:txBody>
      </p:sp>
      <p:sp>
        <p:nvSpPr>
          <p:cNvPr id="3" name="in folder &quot;Applied 2&quot; you will have the content I want ">
            <a:extLst xmlns:a="http://schemas.openxmlformats.org/drawingml/2006/main">
              <a:ext uri="{FF2B5EF4-FFF2-40B4-BE49-F238E27FC236}">
                <a16:creationId xmlns:a16="http://schemas.microsoft.com/office/drawing/2014/main" id="{50894249-9C19-42E0-B8FE-6E4996B9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folder "Applied 2" you will have the content I want you to work on, explain me what i need to do for task 1(since task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 is done by someboday else), create evrrythign later on if your creating in this folder, you can access all the content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this folder and help me do this applied correctly, fo rthe moment only tell me what I need to do for 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B0E27-EEFA-419F-A8C9-25DE7AE6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04782EAB-BBB9-4191-9546-31A29DC2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3 / 56">
            <a:extLst xmlns:a="http://schemas.openxmlformats.org/drawingml/2006/main">
              <a:ext uri="{FF2B5EF4-FFF2-40B4-BE49-F238E27FC236}">
                <a16:creationId xmlns:a16="http://schemas.microsoft.com/office/drawing/2014/main" id="{A14B746F-B96C-4B65-BCAC-5DEDF251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43 / 56</a:t>
            </a:r>
          </a:p>
        </p:txBody>
      </p:sp>
    </p:spTree>
    <p:extLst>
      <p:ext uri="{BB962C8B-B14F-4D97-AF65-F5344CB8AC3E}">
        <p14:creationId xmlns:p14="http://schemas.microsoft.com/office/powerpoint/2010/main" val="29280083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1/3)">
            <a:extLst xmlns:a="http://schemas.openxmlformats.org/drawingml/2006/main">
              <a:ext uri="{FF2B5EF4-FFF2-40B4-BE49-F238E27FC236}">
                <a16:creationId xmlns:a16="http://schemas.microsoft.com/office/drawing/2014/main" id="{2D682326-F85E-4FB2-8C3A-770A5490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(1/3)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EE37E736-2874-42C2-AFE4-92F54CF4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here is some more context as well which you can add on ">
            <a:extLst xmlns:a="http://schemas.openxmlformats.org/drawingml/2006/main">
              <a:ext uri="{FF2B5EF4-FFF2-40B4-BE49-F238E27FC236}">
                <a16:creationId xmlns:a16="http://schemas.microsoft.com/office/drawing/2014/main" id="{7FA3CB90-D104-4495-9B6A-E3149BA9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here is some more context as well which you can add on - Parallel Computer Applied 10 - Based on image rotations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Include diagrams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task 1 - (4min)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focus on the Part D of the workshop from collab - 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 D: Reflection Questions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Answer the following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What is the role of the host and device in CUDA?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are threads organised into blocks and grids?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Why is brightness adjustment considered a data-parallel problem?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Why does GPU acceleration generally improve as image size increases?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What overhead is introduced by CPU-GPU memory transfers?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EF995-FF97-459E-9034-7F6D5751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3BF541A2-9105-488B-BF7E-3194A1AA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4 / 56">
            <a:extLst xmlns:a="http://schemas.openxmlformats.org/drawingml/2006/main">
              <a:ext uri="{FF2B5EF4-FFF2-40B4-BE49-F238E27FC236}">
                <a16:creationId xmlns:a16="http://schemas.microsoft.com/office/drawing/2014/main" id="{69E0A7E7-0B09-4303-879F-DFA65A37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44 / 56</a:t>
            </a:r>
          </a:p>
        </p:txBody>
      </p:sp>
    </p:spTree>
    <p:extLst>
      <p:ext uri="{BB962C8B-B14F-4D97-AF65-F5344CB8AC3E}">
        <p14:creationId xmlns:p14="http://schemas.microsoft.com/office/powerpoint/2010/main" val="194966119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2/3)">
            <a:extLst xmlns:a="http://schemas.openxmlformats.org/drawingml/2006/main">
              <a:ext uri="{FF2B5EF4-FFF2-40B4-BE49-F238E27FC236}">
                <a16:creationId xmlns:a16="http://schemas.microsoft.com/office/drawing/2014/main" id="{B94E1625-E1EF-4C50-8575-3CA2EE81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(2/3)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BD160DC4-665B-4F8A-A861-6D231A66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&#10;How many threads are launched when using:&#10;&#10;      Image">
            <a:extLst xmlns:a="http://schemas.openxmlformats.org/drawingml/2006/main">
              <a:ext uri="{FF2B5EF4-FFF2-40B4-BE49-F238E27FC236}">
                <a16:creationId xmlns:a16="http://schemas.microsoft.com/office/drawing/2014/main" id="{2BE899D2-4AE7-48BF-9B81-E6F44801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many threads are launched when using: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= 1024 x 1024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 Size = 16 x 16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If the GPU contained thousands of CUDA cores, how can they process millions of image pixels?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 2 - (3min)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explain how HPC is related to parallel computing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HPC relates to scaling and AI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make sure to include statistics adn charts(make sure to get proper citation) and make sure you are able to properly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explain this and the trend.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make sure to cover a few points not all (out of a,b,c,d), but not all have to be in detail (since some of them overlap) -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make sure atleast 1 point is explained in detail.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F9317-DFDF-4C87-B7FE-311D3E15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6886750-1749-4DEC-99DF-9F8E4BE7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5 / 56">
            <a:extLst xmlns:a="http://schemas.openxmlformats.org/drawingml/2006/main">
              <a:ext uri="{FF2B5EF4-FFF2-40B4-BE49-F238E27FC236}">
                <a16:creationId xmlns:a16="http://schemas.microsoft.com/office/drawing/2014/main" id="{CE1D4096-3061-4C2F-8A54-87C535C3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45 / 56</a:t>
            </a:r>
          </a:p>
        </p:txBody>
      </p:sp>
    </p:spTree>
    <p:extLst>
      <p:ext uri="{BB962C8B-B14F-4D97-AF65-F5344CB8AC3E}">
        <p14:creationId xmlns:p14="http://schemas.microsoft.com/office/powerpoint/2010/main" val="8571897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3/3)">
            <a:extLst xmlns:a="http://schemas.openxmlformats.org/drawingml/2006/main">
              <a:ext uri="{FF2B5EF4-FFF2-40B4-BE49-F238E27FC236}">
                <a16:creationId xmlns:a16="http://schemas.microsoft.com/office/drawing/2014/main" id="{76ED72A7-875C-4AEF-ACAD-A0D5DA10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(3/3)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AB30919C-DCD4-416E-8BE8-B6FED0D8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&#10;Ex: &#10;&#10;total time to present 7 mins&#10;&#10;&#10;can task 1 be don">
            <a:extLst xmlns:a="http://schemas.openxmlformats.org/drawingml/2006/main">
              <a:ext uri="{FF2B5EF4-FFF2-40B4-BE49-F238E27FC236}">
                <a16:creationId xmlns:a16="http://schemas.microsoft.com/office/drawing/2014/main" id="{85AA2932-C2DB-48EB-89DB-D5A17CCC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Ex: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total time to present 7 mins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 task 1 be done by you or does it reqrueis desgnig somethign ? if you can do it go ahead and do 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01676-BF04-417A-B4F1-4C7DEF7C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2F54A062-BFCD-48AD-AF93-FCDA1F11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6 / 56">
            <a:extLst xmlns:a="http://schemas.openxmlformats.org/drawingml/2006/main">
              <a:ext uri="{FF2B5EF4-FFF2-40B4-BE49-F238E27FC236}">
                <a16:creationId xmlns:a16="http://schemas.microsoft.com/office/drawing/2014/main" id="{3B1D7CDA-9FAD-4D1D-AB80-0548ECD4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46 / 56</a:t>
            </a:r>
          </a:p>
        </p:txBody>
      </p:sp>
    </p:spTree>
    <p:extLst>
      <p:ext uri="{BB962C8B-B14F-4D97-AF65-F5344CB8AC3E}">
        <p14:creationId xmlns:p14="http://schemas.microsoft.com/office/powerpoint/2010/main" val="101565173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4">
            <a:extLst xmlns:a="http://schemas.openxmlformats.org/drawingml/2006/main">
              <a:ext uri="{FF2B5EF4-FFF2-40B4-BE49-F238E27FC236}">
                <a16:creationId xmlns:a16="http://schemas.microsoft.com/office/drawing/2014/main" id="{78E3381F-481C-49AB-A144-0552E48E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4</a:t>
            </a:r>
          </a:p>
        </p:txBody>
      </p:sp>
      <p:sp>
        <p:nvSpPr>
          <p:cNvPr id="2" name="Earlier task2 preparation, record 1">
            <a:extLst xmlns:a="http://schemas.openxmlformats.org/drawingml/2006/main">
              <a:ext uri="{FF2B5EF4-FFF2-40B4-BE49-F238E27FC236}">
                <a16:creationId xmlns:a16="http://schemas.microsoft.com/office/drawing/2014/main" id="{9FD6A3AC-CB4C-44CA-9CA3-F21E9B45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1</a:t>
            </a:r>
          </a:p>
        </p:txBody>
      </p:sp>
      <p:sp>
        <p:nvSpPr>
          <p:cNvPr id="3" name="Are you able to push the changes to this git page and c">
            <a:extLst xmlns:a="http://schemas.openxmlformats.org/drawingml/2006/main">
              <a:ext uri="{FF2B5EF4-FFF2-40B4-BE49-F238E27FC236}">
                <a16:creationId xmlns:a16="http://schemas.microsoft.com/office/drawing/2014/main" id="{4F794D0C-23EA-4325-827C-A82581F8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you able to push the changes to this git page and create a new folder named applied2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https://github.com/Shamle-T/FIT3143-Parallel-Computing dont include any refernces of codex in the naming when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your creating a new folder. Let me know whether this is possible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8CCA0-40D3-4848-BE18-96A2BB95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1568D81-0414-4761-B061-16E1CDEE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7 / 56">
            <a:extLst xmlns:a="http://schemas.openxmlformats.org/drawingml/2006/main">
              <a:ext uri="{FF2B5EF4-FFF2-40B4-BE49-F238E27FC236}">
                <a16:creationId xmlns:a16="http://schemas.microsoft.com/office/drawing/2014/main" id="{9F44874D-E6F1-4A1E-8857-F59BEEB3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47 / 56</a:t>
            </a:r>
          </a:p>
        </p:txBody>
      </p:sp>
    </p:spTree>
    <p:extLst>
      <p:ext uri="{BB962C8B-B14F-4D97-AF65-F5344CB8AC3E}">
        <p14:creationId xmlns:p14="http://schemas.microsoft.com/office/powerpoint/2010/main" val="178587971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5">
            <a:extLst xmlns:a="http://schemas.openxmlformats.org/drawingml/2006/main">
              <a:ext uri="{FF2B5EF4-FFF2-40B4-BE49-F238E27FC236}">
                <a16:creationId xmlns:a16="http://schemas.microsoft.com/office/drawing/2014/main" id="{D422084C-25D1-4730-A6A3-11314067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5</a:t>
            </a:r>
          </a:p>
        </p:txBody>
      </p:sp>
      <p:sp>
        <p:nvSpPr>
          <p:cNvPr id="2" name="Earlier task2 preparation, record 2">
            <a:extLst xmlns:a="http://schemas.openxmlformats.org/drawingml/2006/main">
              <a:ext uri="{FF2B5EF4-FFF2-40B4-BE49-F238E27FC236}">
                <a16:creationId xmlns:a16="http://schemas.microsoft.com/office/drawing/2014/main" id="{D4093E36-C488-492A-A986-96F3DF77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2</a:t>
            </a:r>
          </a:p>
        </p:txBody>
      </p:sp>
      <p:sp>
        <p:nvSpPr>
          <p:cNvPr id="3" name="using a detailed comit message push the current changes">
            <a:extLst xmlns:a="http://schemas.openxmlformats.org/drawingml/2006/main">
              <a:ext uri="{FF2B5EF4-FFF2-40B4-BE49-F238E27FC236}">
                <a16:creationId xmlns:a16="http://schemas.microsoft.com/office/drawing/2014/main" id="{FE178602-1A17-452F-AE86-8D2A82DF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using a detailed comit message push the current changes to git and also do we need to do any code for task 1?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once pushed do task 2 as well, and push the task 2 to git are required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3FF89-91FE-4B34-BCB2-4B936CEB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4097DE5-14AF-4AC9-91FA-EA71BA64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8 / 56">
            <a:extLst xmlns:a="http://schemas.openxmlformats.org/drawingml/2006/main">
              <a:ext uri="{FF2B5EF4-FFF2-40B4-BE49-F238E27FC236}">
                <a16:creationId xmlns:a16="http://schemas.microsoft.com/office/drawing/2014/main" id="{B301A22C-931E-4EF6-A5FA-1BE84DDD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48 / 56</a:t>
            </a:r>
          </a:p>
        </p:txBody>
      </p:sp>
    </p:spTree>
    <p:extLst>
      <p:ext uri="{BB962C8B-B14F-4D97-AF65-F5344CB8AC3E}">
        <p14:creationId xmlns:p14="http://schemas.microsoft.com/office/powerpoint/2010/main" val="90450938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6">
            <a:extLst xmlns:a="http://schemas.openxmlformats.org/drawingml/2006/main">
              <a:ext uri="{FF2B5EF4-FFF2-40B4-BE49-F238E27FC236}">
                <a16:creationId xmlns:a16="http://schemas.microsoft.com/office/drawing/2014/main" id="{CCD2C466-74FA-4308-925D-C915B34B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6</a:t>
            </a:r>
          </a:p>
        </p:txBody>
      </p:sp>
      <p:sp>
        <p:nvSpPr>
          <p:cNvPr id="2" name="Earlier task2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B532DFD8-8F95-4F08-B6A4-CA889C36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3</a:t>
            </a:r>
          </a:p>
        </p:txBody>
      </p:sp>
      <p:sp>
        <p:nvSpPr>
          <p:cNvPr id="3" name="1)once you have compelted task 2, make sure you have ai">
            <a:extLst xmlns:a="http://schemas.openxmlformats.org/drawingml/2006/main">
              <a:ext uri="{FF2B5EF4-FFF2-40B4-BE49-F238E27FC236}">
                <a16:creationId xmlns:a16="http://schemas.microsoft.com/office/drawing/2014/main" id="{1F323D6A-FF1C-4FD5-9137-12C4528B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1)once you have compelted task 2, make sure you have aimed for HD in rubric yeah? for both task 1 and task 2 - if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update both tasks to cover HD level in the rubric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2) create a 6 minute script for both me (task1) and (task2) for my firend , make sure it doesnt sound overly robotic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since we will have to speak this 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182C9-B9E4-49D9-B2F2-328CFC93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CB7E72A-BEE0-4FDC-97A0-81810474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9 / 56">
            <a:extLst xmlns:a="http://schemas.openxmlformats.org/drawingml/2006/main">
              <a:ext uri="{FF2B5EF4-FFF2-40B4-BE49-F238E27FC236}">
                <a16:creationId xmlns:a16="http://schemas.microsoft.com/office/drawing/2014/main" id="{3ED17224-CA6F-450A-8F50-FC653CC1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49 / 56</a:t>
            </a:r>
          </a:p>
        </p:txBody>
      </p:sp>
    </p:spTree>
    <p:extLst>
      <p:ext uri="{BB962C8B-B14F-4D97-AF65-F5344CB8AC3E}">
        <p14:creationId xmlns:p14="http://schemas.microsoft.com/office/powerpoint/2010/main" val="25446339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7">
            <a:extLst xmlns:a="http://schemas.openxmlformats.org/drawingml/2006/main">
              <a:ext uri="{FF2B5EF4-FFF2-40B4-BE49-F238E27FC236}">
                <a16:creationId xmlns:a16="http://schemas.microsoft.com/office/drawing/2014/main" id="{0DE893D8-E655-4238-A936-A0D3FDEA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7</a:t>
            </a:r>
          </a:p>
        </p:txBody>
      </p:sp>
      <p:sp>
        <p:nvSpPr>
          <p:cNvPr id="2" name="Earlier task2 preparation, record 4">
            <a:extLst xmlns:a="http://schemas.openxmlformats.org/drawingml/2006/main">
              <a:ext uri="{FF2B5EF4-FFF2-40B4-BE49-F238E27FC236}">
                <a16:creationId xmlns:a16="http://schemas.microsoft.com/office/drawing/2014/main" id="{C5FC3A8E-844D-4ABB-A69D-938AE4E5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4</a:t>
            </a:r>
          </a:p>
        </p:txBody>
      </p:sp>
      <p:sp>
        <p:nvSpPr>
          <p:cNvPr id="3" name="Six minutes total: 3 minutes each">
            <a:extLst xmlns:a="http://schemas.openxmlformats.org/drawingml/2006/main">
              <a:ext uri="{FF2B5EF4-FFF2-40B4-BE49-F238E27FC236}">
                <a16:creationId xmlns:a16="http://schemas.microsoft.com/office/drawing/2014/main" id="{AE2F9E07-1A2C-4DF3-A35D-0C6E53F7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Six minutes total: 3 minutes 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F6B6A-4DF5-44BA-824F-6ACA5A2E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8E9E7BF3-587E-4A81-9E84-595EA10C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0 / 56">
            <a:extLst xmlns:a="http://schemas.openxmlformats.org/drawingml/2006/main">
              <a:ext uri="{FF2B5EF4-FFF2-40B4-BE49-F238E27FC236}">
                <a16:creationId xmlns:a16="http://schemas.microsoft.com/office/drawing/2014/main" id="{B7627B08-8FB0-4EDC-BBBC-8FA9023F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50 / 56</a:t>
            </a:r>
          </a:p>
        </p:txBody>
      </p:sp>
    </p:spTree>
    <p:extLst>
      <p:ext uri="{BB962C8B-B14F-4D97-AF65-F5344CB8AC3E}">
        <p14:creationId xmlns:p14="http://schemas.microsoft.com/office/powerpoint/2010/main" val="19027849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8">
            <a:extLst xmlns:a="http://schemas.openxmlformats.org/drawingml/2006/main">
              <a:ext uri="{FF2B5EF4-FFF2-40B4-BE49-F238E27FC236}">
                <a16:creationId xmlns:a16="http://schemas.microsoft.com/office/drawing/2014/main" id="{49FB7CC1-0693-4AD8-B8F5-7E51FA01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8</a:t>
            </a:r>
          </a:p>
        </p:txBody>
      </p:sp>
      <p:sp>
        <p:nvSpPr>
          <p:cNvPr id="2" name="Repository synchronization">
            <a:extLst xmlns:a="http://schemas.openxmlformats.org/drawingml/2006/main">
              <a:ext uri="{FF2B5EF4-FFF2-40B4-BE49-F238E27FC236}">
                <a16:creationId xmlns:a16="http://schemas.microsoft.com/office/drawing/2014/main" id="{E1759682-31BE-4FA8-95F4-1FC3E334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Repository synchronization</a:t>
            </a:r>
          </a:p>
        </p:txBody>
      </p:sp>
      <p:sp>
        <p:nvSpPr>
          <p:cNvPr id="3" name="pull the latest from the remote repo, push any local ch">
            <a:extLst xmlns:a="http://schemas.openxmlformats.org/drawingml/2006/main">
              <a:ext uri="{FF2B5EF4-FFF2-40B4-BE49-F238E27FC236}">
                <a16:creationId xmlns:a16="http://schemas.microsoft.com/office/drawing/2014/main" id="{AB4A4D26-7CB5-47D4-AF82-FACB35E8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pull the latest from the remote repo, push any local changes and merge, local changes arent important. main goal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 get the latest version of the "applied2" dir from the remote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9B2B1-0EE2-474D-B8DB-DAE00F8C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D64158F6-6698-4D6C-AA3A-1A679770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1 / 56">
            <a:extLst xmlns:a="http://schemas.openxmlformats.org/drawingml/2006/main">
              <a:ext uri="{FF2B5EF4-FFF2-40B4-BE49-F238E27FC236}">
                <a16:creationId xmlns:a16="http://schemas.microsoft.com/office/drawing/2014/main" id="{F06BA43B-7D4E-4CB7-B682-86E6D253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51 / 56</a:t>
            </a:r>
          </a:p>
        </p:txBody>
      </p:sp>
    </p:spTree>
    <p:extLst>
      <p:ext uri="{BB962C8B-B14F-4D97-AF65-F5344CB8AC3E}">
        <p14:creationId xmlns:p14="http://schemas.microsoft.com/office/powerpoint/2010/main" val="936948582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9">
            <a:extLst xmlns:a="http://schemas.openxmlformats.org/drawingml/2006/main">
              <a:ext uri="{FF2B5EF4-FFF2-40B4-BE49-F238E27FC236}">
                <a16:creationId xmlns:a16="http://schemas.microsoft.com/office/drawing/2014/main" id="{81955307-51BA-434D-9DC7-F181073A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9</a:t>
            </a:r>
          </a:p>
        </p:txBody>
      </p:sp>
      <p:sp>
        <p:nvSpPr>
          <p:cNvPr id="2" name="Review request">
            <a:extLst xmlns:a="http://schemas.openxmlformats.org/drawingml/2006/main">
              <a:ext uri="{FF2B5EF4-FFF2-40B4-BE49-F238E27FC236}">
                <a16:creationId xmlns:a16="http://schemas.microsoft.com/office/drawing/2014/main" id="{A0D7D0DD-9490-4FD6-BE7F-B2D9C6E8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Review request</a:t>
            </a:r>
          </a:p>
        </p:txBody>
      </p:sp>
      <p:sp>
        <p:nvSpPr>
          <p:cNvPr id="3" name="- review the content in the root level context folder (">
            <a:extLst xmlns:a="http://schemas.openxmlformats.org/drawingml/2006/main">
              <a:ext uri="{FF2B5EF4-FFF2-40B4-BE49-F238E27FC236}">
                <a16:creationId xmlns:a16="http://schemas.microsoft.com/office/drawing/2014/main" id="{F0658FFC-341A-4266-A420-1A69B311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review the content in the root level context folder (with an emphasis on week's 7-9).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Review the solutions to task 1 and task 2 in [applied2](applied2/) based on the specification [Applied #2 -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Assessment Specification.pdf](&lt;\&lt;applied2/assessment/Applied #2 - Assessment Specification.pdf\&gt;&gt;) . Identify any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key HD blockers in the solutions based on the rubric attached.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The solutions dont need to only use the theory in the context folder but where possible, they should.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8453D-C518-4736-A2F4-85720503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1EE38146-A940-4266-8A3B-ED167262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2 / 56">
            <a:extLst xmlns:a="http://schemas.openxmlformats.org/drawingml/2006/main">
              <a:ext uri="{FF2B5EF4-FFF2-40B4-BE49-F238E27FC236}">
                <a16:creationId xmlns:a16="http://schemas.microsoft.com/office/drawing/2014/main" id="{20CC2FEA-4830-4E64-ADB9-58EC0C88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52 / 56</a:t>
            </a:r>
          </a:p>
        </p:txBody>
      </p:sp>
    </p:spTree>
    <p:extLst>
      <p:ext uri="{BB962C8B-B14F-4D97-AF65-F5344CB8AC3E}">
        <p14:creationId xmlns:p14="http://schemas.microsoft.com/office/powerpoint/2010/main" val="481261632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0">
            <a:extLst xmlns:a="http://schemas.openxmlformats.org/drawingml/2006/main">
              <a:ext uri="{FF2B5EF4-FFF2-40B4-BE49-F238E27FC236}">
                <a16:creationId xmlns:a16="http://schemas.microsoft.com/office/drawing/2014/main" id="{2191E86A-1936-4C67-91BA-CB1E4CF6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10</a:t>
            </a:r>
          </a:p>
        </p:txBody>
      </p:sp>
      <p:sp>
        <p:nvSpPr>
          <p:cNvPr id="2" name="Current preparation instructions">
            <a:extLst xmlns:a="http://schemas.openxmlformats.org/drawingml/2006/main">
              <a:ext uri="{FF2B5EF4-FFF2-40B4-BE49-F238E27FC236}">
                <a16:creationId xmlns:a16="http://schemas.microsoft.com/office/drawing/2014/main" id="{5522301B-FB74-438E-9FE3-F272A404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Current preparation instructions</a:t>
            </a:r>
          </a:p>
        </p:txBody>
      </p:sp>
      <p:sp>
        <p:nvSpPr>
          <p:cNvPr id="3" name="# AGENTS.md instructions&#10;&#10;&lt;INSTRUCTIONS&gt;&#10;- Answer immed">
            <a:extLst xmlns:a="http://schemas.openxmlformats.org/drawingml/2006/main">
              <a:ext uri="{FF2B5EF4-FFF2-40B4-BE49-F238E27FC236}">
                <a16:creationId xmlns:a16="http://schemas.microsoft.com/office/drawing/2014/main" id="{BC48A1CE-D739-4767-8383-4ED58C9B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# AGENTS.md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&lt;INSTRUCTIONS&gt;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Answer immediately without intro pleasantries, prompt repetitions, or polite filler.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Be concise. Avoid conversational fluff, over-explanation, and unsolicited summaries.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Rely strictly on verified facts. Never invent URLs, names, statistics, or quotes.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If an answer cannot be verified with absolute certainty, state "I do not know" instead of guessing.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For complex logic, perform brief step-by-step reasoning before delivering the final answer.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&lt;/INSTRUCTIONS&gt;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713B6-BE0C-46A4-A911-9F8A15C1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D1D529A0-8EA5-4470-9F7D-FF099172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3 / 56">
            <a:extLst xmlns:a="http://schemas.openxmlformats.org/drawingml/2006/main">
              <a:ext uri="{FF2B5EF4-FFF2-40B4-BE49-F238E27FC236}">
                <a16:creationId xmlns:a16="http://schemas.microsoft.com/office/drawing/2014/main" id="{DBFCF581-49F6-4021-BF3A-7F6508B8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53 / 56</a:t>
            </a:r>
          </a:p>
        </p:txBody>
      </p:sp>
    </p:spTree>
    <p:extLst>
      <p:ext uri="{BB962C8B-B14F-4D97-AF65-F5344CB8AC3E}">
        <p14:creationId xmlns:p14="http://schemas.microsoft.com/office/powerpoint/2010/main" val="135822514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Recorded goal 11">
            <a:extLst xmlns:a="http://schemas.openxmlformats.org/drawingml/2006/main">
              <a:ext uri="{FF2B5EF4-FFF2-40B4-BE49-F238E27FC236}">
                <a16:creationId xmlns:a16="http://schemas.microsoft.com/office/drawing/2014/main" id="{4E6F315C-6D5A-4B88-B31C-571D3F4B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Recorded goal 11</a:t>
            </a:r>
          </a:p>
        </p:txBody>
      </p:sp>
      <p:sp>
        <p:nvSpPr>
          <p:cNvPr id="2" name="Recorded review goal">
            <a:extLst xmlns:a="http://schemas.openxmlformats.org/drawingml/2006/main">
              <a:ext uri="{FF2B5EF4-FFF2-40B4-BE49-F238E27FC236}">
                <a16:creationId xmlns:a16="http://schemas.microsoft.com/office/drawing/2014/main" id="{0F379ACF-F7A8-4CFC-8C7A-76C73B6A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Recorded review goal</a:t>
            </a:r>
          </a:p>
        </p:txBody>
      </p:sp>
      <p:sp>
        <p:nvSpPr>
          <p:cNvPr id="3" name="Review the solutions to task 1 and task 2 in [applied2]">
            <a:extLst xmlns:a="http://schemas.openxmlformats.org/drawingml/2006/main">
              <a:ext uri="{FF2B5EF4-FFF2-40B4-BE49-F238E27FC236}">
                <a16:creationId xmlns:a16="http://schemas.microsoft.com/office/drawing/2014/main" id="{89458420-FAF5-41C5-930B-2B998438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Review the solutions to task 1 and task 2 in [applied2](applied2/) based on the specification [Applied #2 - Assessment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Specification.pdf](&lt;applied2/assessment/Applied #2 - Assessment Specification.pdf&gt;) . Identify any key HD blockers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the solutions based on the rubric attached. Dont stop until you are certain you have identified every HD blocker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created an action plan which you can later execute to update the solutions to fix all problems.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27646-48F7-45E3-BD01-94AF6C00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A244861-ACD6-473E-BB30-BD163141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4 / 56">
            <a:extLst xmlns:a="http://schemas.openxmlformats.org/drawingml/2006/main">
              <a:ext uri="{FF2B5EF4-FFF2-40B4-BE49-F238E27FC236}">
                <a16:creationId xmlns:a16="http://schemas.microsoft.com/office/drawing/2014/main" id="{4AE105D8-1CA2-413B-8148-3220C82E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54 / 56</a:t>
            </a:r>
          </a:p>
        </p:txBody>
      </p:sp>
    </p:spTree>
    <p:extLst>
      <p:ext uri="{BB962C8B-B14F-4D97-AF65-F5344CB8AC3E}">
        <p14:creationId xmlns:p14="http://schemas.microsoft.com/office/powerpoint/2010/main" val="3831567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2">
            <a:extLst xmlns:a="http://schemas.openxmlformats.org/drawingml/2006/main">
              <a:ext uri="{FF2B5EF4-FFF2-40B4-BE49-F238E27FC236}">
                <a16:creationId xmlns:a16="http://schemas.microsoft.com/office/drawing/2014/main" id="{70F99C7C-F4D6-41F4-BE6E-58C0233B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12</a:t>
            </a:r>
          </a:p>
        </p:txBody>
      </p:sp>
      <p:sp>
        <p:nvSpPr>
          <p:cNvPr id="2" name="Revision and presentation request">
            <a:extLst xmlns:a="http://schemas.openxmlformats.org/drawingml/2006/main">
              <a:ext uri="{FF2B5EF4-FFF2-40B4-BE49-F238E27FC236}">
                <a16:creationId xmlns:a16="http://schemas.microsoft.com/office/drawing/2014/main" id="{B7C710B9-E9C2-43EE-B095-E84CE5EE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Revision and presentation request</a:t>
            </a:r>
          </a:p>
        </p:txBody>
      </p:sp>
      <p:sp>
        <p:nvSpPr>
          <p:cNvPr id="3" name="Now, fix all the identified problems and HD blockers. D">
            <a:extLst xmlns:a="http://schemas.openxmlformats.org/drawingml/2006/main">
              <a:ext uri="{FF2B5EF4-FFF2-40B4-BE49-F238E27FC236}">
                <a16:creationId xmlns:a16="http://schemas.microsoft.com/office/drawing/2014/main" id="{96CE7658-349F-46ED-BCB2-93132C4E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Now, fix all the identified problems and HD blockers. Don't stop until you're confident that task 1 and task 2 have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high probability of achieving an HD as per the applied-to rubric. Also refer to teaching_team_guidance.md, which is in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applied2 directory. Also ignore the Q&amp;A and "Presentation Quality" in the rubric as these will be done by me. You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need to create the presentation but dont worry about presenting it. Once you are confident with the task 1 and 2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solutions create a presentation as per task 3 (again dont worry about task 3 part c). Ensure the presentation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professionally formatted and contains all key details as I will not be submitting any other report, all info must be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 in the presentation.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279A4-4379-40A5-A746-0D1927AD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3410A6E-78FD-4D5F-AD7A-EEA5973C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5 / 56">
            <a:extLst xmlns:a="http://schemas.openxmlformats.org/drawingml/2006/main">
              <a:ext uri="{FF2B5EF4-FFF2-40B4-BE49-F238E27FC236}">
                <a16:creationId xmlns:a16="http://schemas.microsoft.com/office/drawing/2014/main" id="{34337437-0DF0-4130-911F-5219E90B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55 / 56</a:t>
            </a:r>
          </a:p>
        </p:txBody>
      </p:sp>
    </p:spTree>
    <p:extLst>
      <p:ext uri="{BB962C8B-B14F-4D97-AF65-F5344CB8AC3E}">
        <p14:creationId xmlns:p14="http://schemas.microsoft.com/office/powerpoint/2010/main" val="76797926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3">
            <a:extLst xmlns:a="http://schemas.openxmlformats.org/drawingml/2006/main">
              <a:ext uri="{FF2B5EF4-FFF2-40B4-BE49-F238E27FC236}">
                <a16:creationId xmlns:a16="http://schemas.microsoft.com/office/drawing/2014/main" id="{FEF97501-E693-4E6F-A267-6FC11D67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13</a:t>
            </a:r>
          </a:p>
        </p:txBody>
      </p:sp>
      <p:sp>
        <p:nvSpPr>
          <p:cNvPr id="2" name="Identification details supplied">
            <a:extLst xmlns:a="http://schemas.openxmlformats.org/drawingml/2006/main">
              <a:ext uri="{FF2B5EF4-FFF2-40B4-BE49-F238E27FC236}">
                <a16:creationId xmlns:a16="http://schemas.microsoft.com/office/drawing/2014/main" id="{1E9CC518-223E-430A-AD42-D14E9945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Identification details supplied</a:t>
            </a:r>
          </a:p>
        </p:txBody>
      </p:sp>
      <p:sp>
        <p:nvSpPr>
          <p:cNvPr id="3" name="Savin Vindiv De Alwis (35221631) - sdea0018@student.mon">
            <a:extLst xmlns:a="http://schemas.openxmlformats.org/drawingml/2006/main">
              <a:ext uri="{FF2B5EF4-FFF2-40B4-BE49-F238E27FC236}">
                <a16:creationId xmlns:a16="http://schemas.microsoft.com/office/drawing/2014/main" id="{6FBECC41-A73C-4F82-8070-CE7B95A7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Savin Vindiv De Alwis (35221631) - sdea0018@student.monash.edu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Shamle Thilaksiri (35512075) - wthi0003@student.monash.edu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A2A68-365E-40F1-BD0D-F38E0524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D48F7B90-D1C5-4965-BB22-668ACCC8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6 / 56">
            <a:extLst xmlns:a="http://schemas.openxmlformats.org/drawingml/2006/main">
              <a:ext uri="{FF2B5EF4-FFF2-40B4-BE49-F238E27FC236}">
                <a16:creationId xmlns:a16="http://schemas.microsoft.com/office/drawing/2014/main" id="{E41ED087-BAD6-4073-B0A6-D32C9E3A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56 / 56</a:t>
            </a:r>
          </a:p>
        </p:txBody>
      </p:sp>
    </p:spTree>
    <p:extLst>
      <p:ext uri="{BB962C8B-B14F-4D97-AF65-F5344CB8AC3E}">
        <p14:creationId xmlns:p14="http://schemas.microsoft.com/office/powerpoint/2010/main" val="577839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2026-10-08T10:56:38.8500000Z</dcterms:created>
  <dcterms:modified xsi:type="dcterms:W3CDTF">2026-10-08T10:56:38.8500000Z</dcterms:modified>
</coreProperties>
</file>