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343f71544440a5" /><Relationship Type="http://schemas.openxmlformats.org/officeDocument/2006/relationships/extended-properties" Target="/docProps/app.xml" Id="R771f1d79b609404a" /><Relationship Type="http://schemas.openxmlformats.org/officeDocument/2006/relationships/officeDocument" Target="/ppt/presentation.xml" Id="Rbaace9bc3fa044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195aef6f3c435e"/>
  </p:sldMasterIdLst>
  <p:notesMasterIdLst>
    <p:notesMasterId xmlns:r="http://schemas.openxmlformats.org/officeDocument/2006/relationships" r:id="R86cb30c350b34201"/>
  </p:notesMasterIdLst>
  <p:sldIdLst>
    <p:sldId xmlns:r="http://schemas.openxmlformats.org/officeDocument/2006/relationships" id="256" r:id="R0cd8328205e248f4"/>
    <p:sldId xmlns:r="http://schemas.openxmlformats.org/officeDocument/2006/relationships" id="257" r:id="R1bbbdf6f6f75443e"/>
    <p:sldId xmlns:r="http://schemas.openxmlformats.org/officeDocument/2006/relationships" id="258" r:id="R44c9777e334544fe"/>
    <p:sldId xmlns:r="http://schemas.openxmlformats.org/officeDocument/2006/relationships" id="259" r:id="Rd0724220bb954190"/>
    <p:sldId xmlns:r="http://schemas.openxmlformats.org/officeDocument/2006/relationships" id="260" r:id="Rcb9f1a96473a4490"/>
    <p:sldId xmlns:r="http://schemas.openxmlformats.org/officeDocument/2006/relationships" id="261" r:id="R9cd24962a7354a7a"/>
    <p:sldId xmlns:r="http://schemas.openxmlformats.org/officeDocument/2006/relationships" id="262" r:id="R7ef4951277224b97"/>
    <p:sldId xmlns:r="http://schemas.openxmlformats.org/officeDocument/2006/relationships" id="263" r:id="Re5e9073b96bc48c6"/>
    <p:sldId xmlns:r="http://schemas.openxmlformats.org/officeDocument/2006/relationships" id="264" r:id="R2e3edfbf690a408b"/>
    <p:sldId xmlns:r="http://schemas.openxmlformats.org/officeDocument/2006/relationships" id="265" r:id="Rbd52f38cd6d84eef"/>
    <p:sldId xmlns:r="http://schemas.openxmlformats.org/officeDocument/2006/relationships" id="266" r:id="R4e0ff346c60649fe"/>
    <p:sldId xmlns:r="http://schemas.openxmlformats.org/officeDocument/2006/relationships" id="267" r:id="Rfc2814a5276b4ee8"/>
    <p:sldId xmlns:r="http://schemas.openxmlformats.org/officeDocument/2006/relationships" id="268" r:id="R574e982cbc924f3c"/>
    <p:sldId xmlns:r="http://schemas.openxmlformats.org/officeDocument/2006/relationships" id="269" r:id="R109033f7b68a4bc8"/>
    <p:sldId xmlns:r="http://schemas.openxmlformats.org/officeDocument/2006/relationships" id="270" r:id="Re071593ee853415e"/>
    <p:sldId xmlns:r="http://schemas.openxmlformats.org/officeDocument/2006/relationships" id="271" r:id="R84fd7030bd314de7"/>
    <p:sldId xmlns:r="http://schemas.openxmlformats.org/officeDocument/2006/relationships" id="272" r:id="Rf65896d88ac14c7d"/>
    <p:sldId xmlns:r="http://schemas.openxmlformats.org/officeDocument/2006/relationships" id="273" r:id="R18e8c185641a427a"/>
    <p:sldId xmlns:r="http://schemas.openxmlformats.org/officeDocument/2006/relationships" id="274" r:id="R35d274feac1b4a1f"/>
    <p:sldId xmlns:r="http://schemas.openxmlformats.org/officeDocument/2006/relationships" id="275" r:id="R9453b0204a234a13"/>
    <p:sldId xmlns:r="http://schemas.openxmlformats.org/officeDocument/2006/relationships" id="276" r:id="R574f1b6f3b2f4b84"/>
    <p:sldId xmlns:r="http://schemas.openxmlformats.org/officeDocument/2006/relationships" id="277" r:id="Rf0732647b1c14670"/>
    <p:sldId xmlns:r="http://schemas.openxmlformats.org/officeDocument/2006/relationships" id="278" r:id="Rc72d6e17f92f4639"/>
    <p:sldId xmlns:r="http://schemas.openxmlformats.org/officeDocument/2006/relationships" id="279" r:id="R0cf007de31784efb"/>
    <p:sldId xmlns:r="http://schemas.openxmlformats.org/officeDocument/2006/relationships" id="280" r:id="Ra9e2a2799c274947"/>
    <p:sldId xmlns:r="http://schemas.openxmlformats.org/officeDocument/2006/relationships" id="281" r:id="Rbf2e7a17218049f4"/>
    <p:sldId xmlns:r="http://schemas.openxmlformats.org/officeDocument/2006/relationships" id="282" r:id="Rf21b079200b54a39"/>
    <p:sldId xmlns:r="http://schemas.openxmlformats.org/officeDocument/2006/relationships" id="283" r:id="R374b8516c2404efd"/>
    <p:sldId xmlns:r="http://schemas.openxmlformats.org/officeDocument/2006/relationships" id="284" r:id="Rb2e244c109b74266"/>
    <p:sldId xmlns:r="http://schemas.openxmlformats.org/officeDocument/2006/relationships" id="285" r:id="R45deff7113e54998"/>
    <p:sldId xmlns:r="http://schemas.openxmlformats.org/officeDocument/2006/relationships" id="286" r:id="R1e6b62fef0984741"/>
    <p:sldId xmlns:r="http://schemas.openxmlformats.org/officeDocument/2006/relationships" id="287" r:id="R903985b8fc724b09"/>
    <p:sldId xmlns:r="http://schemas.openxmlformats.org/officeDocument/2006/relationships" id="288" r:id="R34c1456ecb9e45a2"/>
    <p:sldId xmlns:r="http://schemas.openxmlformats.org/officeDocument/2006/relationships" id="289" r:id="R65a336ad5c754e3b"/>
    <p:sldId xmlns:r="http://schemas.openxmlformats.org/officeDocument/2006/relationships" id="290" r:id="R1d42ecfba65c45e7"/>
    <p:sldId xmlns:r="http://schemas.openxmlformats.org/officeDocument/2006/relationships" id="291" r:id="R5b4973921aed4477"/>
    <p:sldId xmlns:r="http://schemas.openxmlformats.org/officeDocument/2006/relationships" id="292" r:id="R5030fd26db7f47ab"/>
    <p:sldId xmlns:r="http://schemas.openxmlformats.org/officeDocument/2006/relationships" id="293" r:id="Radcc24deec0b4cd0"/>
    <p:sldId xmlns:r="http://schemas.openxmlformats.org/officeDocument/2006/relationships" id="294" r:id="R4b02e77651724910"/>
    <p:sldId xmlns:r="http://schemas.openxmlformats.org/officeDocument/2006/relationships" id="295" r:id="Rb4203dafc8ff4552"/>
    <p:sldId xmlns:r="http://schemas.openxmlformats.org/officeDocument/2006/relationships" id="296" r:id="Rf8b663595bc94bb8"/>
    <p:sldId xmlns:r="http://schemas.openxmlformats.org/officeDocument/2006/relationships" id="297" r:id="R8476fe48e3ae43cb"/>
    <p:sldId xmlns:r="http://schemas.openxmlformats.org/officeDocument/2006/relationships" id="298" r:id="R4edb7e38d1904aaa"/>
    <p:sldId xmlns:r="http://schemas.openxmlformats.org/officeDocument/2006/relationships" id="299" r:id="R554c1e5c7c6342b9"/>
    <p:sldId xmlns:r="http://schemas.openxmlformats.org/officeDocument/2006/relationships" id="300" r:id="R286cb01ef4254c37"/>
    <p:sldId xmlns:r="http://schemas.openxmlformats.org/officeDocument/2006/relationships" id="301" r:id="Re5f262e81c52473e"/>
    <p:sldId xmlns:r="http://schemas.openxmlformats.org/officeDocument/2006/relationships" id="302" r:id="R2865e1f19be54cd1"/>
    <p:sldId xmlns:r="http://schemas.openxmlformats.org/officeDocument/2006/relationships" id="303" r:id="Rb6fb8db1706a4350"/>
    <p:sldId xmlns:r="http://schemas.openxmlformats.org/officeDocument/2006/relationships" id="304" r:id="R5d2e940d1c454d85"/>
    <p:sldId xmlns:r="http://schemas.openxmlformats.org/officeDocument/2006/relationships" id="305" r:id="Rde999dc3197e4c1a"/>
    <p:sldId xmlns:r="http://schemas.openxmlformats.org/officeDocument/2006/relationships" id="306" r:id="R09f3e42c3a3149fa"/>
    <p:sldId xmlns:r="http://schemas.openxmlformats.org/officeDocument/2006/relationships" id="307" r:id="R26db191b263b4e39"/>
    <p:sldId xmlns:r="http://schemas.openxmlformats.org/officeDocument/2006/relationships" id="308" r:id="Rff1970a88d4e4242"/>
    <p:sldId xmlns:r="http://schemas.openxmlformats.org/officeDocument/2006/relationships" id="309" r:id="Rae79ade625a34c05"/>
    <p:sldId xmlns:r="http://schemas.openxmlformats.org/officeDocument/2006/relationships" id="310" r:id="R05a24910b2b34824"/>
    <p:sldId xmlns:r="http://schemas.openxmlformats.org/officeDocument/2006/relationships" id="311" r:id="Rcab53067a22041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68295c418349a0" /><Relationship Type="http://schemas.openxmlformats.org/officeDocument/2006/relationships/slideMaster" Target="/ppt/slideMasters/slideMaster1.xml" Id="R55195aef6f3c435e" /><Relationship Type="http://schemas.openxmlformats.org/officeDocument/2006/relationships/notesMaster" Target="/ppt/notesMasters/notesMaster1.xml" Id="R86cb30c350b34201" /><Relationship Type="http://schemas.openxmlformats.org/officeDocument/2006/relationships/presProps" Target="/ppt/presProps.xml" Id="R8418be48a41b46e9" /><Relationship Type="http://schemas.openxmlformats.org/officeDocument/2006/relationships/tableStyles" Target="/ppt/tableStyles.xml" Id="Reb609b86c11347b4" /><Relationship Type="http://schemas.openxmlformats.org/officeDocument/2006/relationships/slide" Target="/ppt/slides/slide1.xml" Id="R0cd8328205e248f4" /><Relationship Type="http://schemas.openxmlformats.org/officeDocument/2006/relationships/slide" Target="/ppt/slides/slide2.xml" Id="R1bbbdf6f6f75443e" /><Relationship Type="http://schemas.openxmlformats.org/officeDocument/2006/relationships/slide" Target="/ppt/slides/slide3.xml" Id="R44c9777e334544fe" /><Relationship Type="http://schemas.openxmlformats.org/officeDocument/2006/relationships/slide" Target="/ppt/slides/slide4.xml" Id="Rd0724220bb954190" /><Relationship Type="http://schemas.openxmlformats.org/officeDocument/2006/relationships/slide" Target="/ppt/slides/slide5.xml" Id="Rcb9f1a96473a4490" /><Relationship Type="http://schemas.openxmlformats.org/officeDocument/2006/relationships/slide" Target="/ppt/slides/slide6.xml" Id="R9cd24962a7354a7a" /><Relationship Type="http://schemas.openxmlformats.org/officeDocument/2006/relationships/slide" Target="/ppt/slides/slide7.xml" Id="R7ef4951277224b97" /><Relationship Type="http://schemas.openxmlformats.org/officeDocument/2006/relationships/slide" Target="/ppt/slides/slide8.xml" Id="Re5e9073b96bc48c6" /><Relationship Type="http://schemas.openxmlformats.org/officeDocument/2006/relationships/slide" Target="/ppt/slides/slide9.xml" Id="R2e3edfbf690a408b" /><Relationship Type="http://schemas.openxmlformats.org/officeDocument/2006/relationships/slide" Target="/ppt/slides/slide10.xml" Id="Rbd52f38cd6d84eef" /><Relationship Type="http://schemas.openxmlformats.org/officeDocument/2006/relationships/slide" Target="/ppt/slides/slide11.xml" Id="R4e0ff346c60649fe" /><Relationship Type="http://schemas.openxmlformats.org/officeDocument/2006/relationships/slide" Target="/ppt/slides/slide12.xml" Id="Rfc2814a5276b4ee8" /><Relationship Type="http://schemas.openxmlformats.org/officeDocument/2006/relationships/slide" Target="/ppt/slides/slide13.xml" Id="R574e982cbc924f3c" /><Relationship Type="http://schemas.openxmlformats.org/officeDocument/2006/relationships/slide" Target="/ppt/slides/slide14.xml" Id="R109033f7b68a4bc8" /><Relationship Type="http://schemas.openxmlformats.org/officeDocument/2006/relationships/slide" Target="/ppt/slides/slide15.xml" Id="Re071593ee853415e" /><Relationship Type="http://schemas.openxmlformats.org/officeDocument/2006/relationships/slide" Target="/ppt/slides/slide16.xml" Id="R84fd7030bd314de7" /><Relationship Type="http://schemas.openxmlformats.org/officeDocument/2006/relationships/slide" Target="/ppt/slides/slide17.xml" Id="Rf65896d88ac14c7d" /><Relationship Type="http://schemas.openxmlformats.org/officeDocument/2006/relationships/slide" Target="/ppt/slides/slide18.xml" Id="R18e8c185641a427a" /><Relationship Type="http://schemas.openxmlformats.org/officeDocument/2006/relationships/slide" Target="/ppt/slides/slide19.xml" Id="R35d274feac1b4a1f" /><Relationship Type="http://schemas.openxmlformats.org/officeDocument/2006/relationships/slide" Target="/ppt/slides/slide20.xml" Id="R9453b0204a234a13" /><Relationship Type="http://schemas.openxmlformats.org/officeDocument/2006/relationships/slide" Target="/ppt/slides/slide21.xml" Id="R574f1b6f3b2f4b84" /><Relationship Type="http://schemas.openxmlformats.org/officeDocument/2006/relationships/slide" Target="/ppt/slides/slide22.xml" Id="Rf0732647b1c14670" /><Relationship Type="http://schemas.openxmlformats.org/officeDocument/2006/relationships/slide" Target="/ppt/slides/slide23.xml" Id="Rc72d6e17f92f4639" /><Relationship Type="http://schemas.openxmlformats.org/officeDocument/2006/relationships/slide" Target="/ppt/slides/slide24.xml" Id="R0cf007de31784efb" /><Relationship Type="http://schemas.openxmlformats.org/officeDocument/2006/relationships/slide" Target="/ppt/slides/slide25.xml" Id="Ra9e2a2799c274947" /><Relationship Type="http://schemas.openxmlformats.org/officeDocument/2006/relationships/slide" Target="/ppt/slides/slide26.xml" Id="Rbf2e7a17218049f4" /><Relationship Type="http://schemas.openxmlformats.org/officeDocument/2006/relationships/slide" Target="/ppt/slides/slide27.xml" Id="Rf21b079200b54a39" /><Relationship Type="http://schemas.openxmlformats.org/officeDocument/2006/relationships/slide" Target="/ppt/slides/slide28.xml" Id="R374b8516c2404efd" /><Relationship Type="http://schemas.openxmlformats.org/officeDocument/2006/relationships/slide" Target="/ppt/slides/slide29.xml" Id="Rb2e244c109b74266" /><Relationship Type="http://schemas.openxmlformats.org/officeDocument/2006/relationships/slide" Target="/ppt/slides/slide30.xml" Id="R45deff7113e54998" /><Relationship Type="http://schemas.openxmlformats.org/officeDocument/2006/relationships/slide" Target="/ppt/slides/slide31.xml" Id="R1e6b62fef0984741" /><Relationship Type="http://schemas.openxmlformats.org/officeDocument/2006/relationships/slide" Target="/ppt/slides/slide32.xml" Id="R903985b8fc724b09" /><Relationship Type="http://schemas.openxmlformats.org/officeDocument/2006/relationships/slide" Target="/ppt/slides/slide33.xml" Id="R34c1456ecb9e45a2" /><Relationship Type="http://schemas.openxmlformats.org/officeDocument/2006/relationships/slide" Target="/ppt/slides/slide34.xml" Id="R65a336ad5c754e3b" /><Relationship Type="http://schemas.openxmlformats.org/officeDocument/2006/relationships/slide" Target="/ppt/slides/slide35.xml" Id="R1d42ecfba65c45e7" /><Relationship Type="http://schemas.openxmlformats.org/officeDocument/2006/relationships/slide" Target="/ppt/slides/slide36.xml" Id="R5b4973921aed4477" /><Relationship Type="http://schemas.openxmlformats.org/officeDocument/2006/relationships/slide" Target="/ppt/slides/slide37.xml" Id="R5030fd26db7f47ab" /><Relationship Type="http://schemas.openxmlformats.org/officeDocument/2006/relationships/slide" Target="/ppt/slides/slide38.xml" Id="Radcc24deec0b4cd0" /><Relationship Type="http://schemas.openxmlformats.org/officeDocument/2006/relationships/slide" Target="/ppt/slides/slide39.xml" Id="R4b02e77651724910" /><Relationship Type="http://schemas.openxmlformats.org/officeDocument/2006/relationships/slide" Target="/ppt/slides/slide40.xml" Id="Rb4203dafc8ff4552" /><Relationship Type="http://schemas.openxmlformats.org/officeDocument/2006/relationships/slide" Target="/ppt/slides/slide41.xml" Id="Rf8b663595bc94bb8" /><Relationship Type="http://schemas.openxmlformats.org/officeDocument/2006/relationships/slide" Target="/ppt/slides/slide42.xml" Id="R8476fe48e3ae43cb" /><Relationship Type="http://schemas.openxmlformats.org/officeDocument/2006/relationships/slide" Target="/ppt/slides/slide43.xml" Id="R4edb7e38d1904aaa" /><Relationship Type="http://schemas.openxmlformats.org/officeDocument/2006/relationships/slide" Target="/ppt/slides/slide44.xml" Id="R554c1e5c7c6342b9" /><Relationship Type="http://schemas.openxmlformats.org/officeDocument/2006/relationships/slide" Target="/ppt/slides/slide45.xml" Id="R286cb01ef4254c37" /><Relationship Type="http://schemas.openxmlformats.org/officeDocument/2006/relationships/slide" Target="/ppt/slides/slide46.xml" Id="Re5f262e81c52473e" /><Relationship Type="http://schemas.openxmlformats.org/officeDocument/2006/relationships/slide" Target="/ppt/slides/slide47.xml" Id="R2865e1f19be54cd1" /><Relationship Type="http://schemas.openxmlformats.org/officeDocument/2006/relationships/slide" Target="/ppt/slides/slide48.xml" Id="Rb6fb8db1706a4350" /><Relationship Type="http://schemas.openxmlformats.org/officeDocument/2006/relationships/slide" Target="/ppt/slides/slide49.xml" Id="R5d2e940d1c454d85" /><Relationship Type="http://schemas.openxmlformats.org/officeDocument/2006/relationships/slide" Target="/ppt/slides/slide50.xml" Id="Rde999dc3197e4c1a" /><Relationship Type="http://schemas.openxmlformats.org/officeDocument/2006/relationships/slide" Target="/ppt/slides/slide51.xml" Id="R09f3e42c3a3149fa" /><Relationship Type="http://schemas.openxmlformats.org/officeDocument/2006/relationships/slide" Target="/ppt/slides/slide52.xml" Id="R26db191b263b4e39" /><Relationship Type="http://schemas.openxmlformats.org/officeDocument/2006/relationships/slide" Target="/ppt/slides/slide53.xml" Id="Rff1970a88d4e4242" /><Relationship Type="http://schemas.openxmlformats.org/officeDocument/2006/relationships/slide" Target="/ppt/slides/slide54.xml" Id="Rae79ade625a34c05" /><Relationship Type="http://schemas.openxmlformats.org/officeDocument/2006/relationships/slide" Target="/ppt/slides/slide55.xml" Id="R05a24910b2b34824" /><Relationship Type="http://schemas.openxmlformats.org/officeDocument/2006/relationships/slide" Target="/ppt/slides/slide56.xml" Id="Rcab53067a22041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889a98c95a4c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7b69ef61f2459b" /><Relationship Type="http://schemas.openxmlformats.org/officeDocument/2006/relationships/notesMaster" Target="/ppt/notesMasters/notesMaster1.xml" Id="R36caae4b5c1645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2db960f4854225" /><Relationship Type="http://schemas.openxmlformats.org/officeDocument/2006/relationships/notesMaster" Target="/ppt/notesMasters/notesMaster1.xml" Id="R10af7aa7a97344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f6a3f23f69418c" /><Relationship Type="http://schemas.openxmlformats.org/officeDocument/2006/relationships/notesMaster" Target="/ppt/notesMasters/notesMaster1.xml" Id="Re5a0d4120b714d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09a48c24f7412c" /><Relationship Type="http://schemas.openxmlformats.org/officeDocument/2006/relationships/notesMaster" Target="/ppt/notesMasters/notesMaster1.xml" Id="Rb2e2fd3ea00047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8a6bb427cf40b8" /><Relationship Type="http://schemas.openxmlformats.org/officeDocument/2006/relationships/notesMaster" Target="/ppt/notesMasters/notesMaster1.xml" Id="R58d0591da7c64a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9642b5a45e41fe" /><Relationship Type="http://schemas.openxmlformats.org/officeDocument/2006/relationships/notesMaster" Target="/ppt/notesMasters/notesMaster1.xml" Id="Rf7907df01d314d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1f870bb37b41cd" /><Relationship Type="http://schemas.openxmlformats.org/officeDocument/2006/relationships/notesMaster" Target="/ppt/notesMasters/notesMaster1.xml" Id="R251187ad40284a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61cacfa5944a3a" /><Relationship Type="http://schemas.openxmlformats.org/officeDocument/2006/relationships/notesMaster" Target="/ppt/notesMasters/notesMaster1.xml" Id="Rabf49b24facf4e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3015855e8f4b20" /><Relationship Type="http://schemas.openxmlformats.org/officeDocument/2006/relationships/notesMaster" Target="/ppt/notesMasters/notesMaster1.xml" Id="Rc2f0f00bdb8a4a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b815dcd4ae4369" /><Relationship Type="http://schemas.openxmlformats.org/officeDocument/2006/relationships/notesMaster" Target="/ppt/notesMasters/notesMaster1.xml" Id="R3f06963cf62149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7f8a17306c4eac" /><Relationship Type="http://schemas.openxmlformats.org/officeDocument/2006/relationships/notesMaster" Target="/ppt/notesMasters/notesMaster1.xml" Id="R3005b08988ce47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2053870fd64e58" /><Relationship Type="http://schemas.openxmlformats.org/officeDocument/2006/relationships/notesMaster" Target="/ppt/notesMasters/notesMaster1.xml" Id="Rda3dc1d1a89041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57d691df13437b" /><Relationship Type="http://schemas.openxmlformats.org/officeDocument/2006/relationships/notesMaster" Target="/ppt/notesMasters/notesMaster1.xml" Id="Rc7d32f952abf4f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bc937cccde4810" /><Relationship Type="http://schemas.openxmlformats.org/officeDocument/2006/relationships/notesMaster" Target="/ppt/notesMasters/notesMaster1.xml" Id="Rcec62ef84a8948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89dbe38de74fb3" /><Relationship Type="http://schemas.openxmlformats.org/officeDocument/2006/relationships/notesMaster" Target="/ppt/notesMasters/notesMaster1.xml" Id="R02fb71a5b7734a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8ca6da65544b79" /><Relationship Type="http://schemas.openxmlformats.org/officeDocument/2006/relationships/notesMaster" Target="/ppt/notesMasters/notesMaster1.xml" Id="R038126ec6626401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311a54091d4a8a" /><Relationship Type="http://schemas.openxmlformats.org/officeDocument/2006/relationships/notesMaster" Target="/ppt/notesMasters/notesMaster1.xml" Id="R2b1de3261a8e40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6d54346e0546d1" /><Relationship Type="http://schemas.openxmlformats.org/officeDocument/2006/relationships/notesMaster" Target="/ppt/notesMasters/notesMaster1.xml" Id="R87a35aa2fa7440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e01ccc0f8549a4" /><Relationship Type="http://schemas.openxmlformats.org/officeDocument/2006/relationships/notesMaster" Target="/ppt/notesMasters/notesMaster1.xml" Id="Rd90309df91c14fb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36d7b5a9f84afe" /><Relationship Type="http://schemas.openxmlformats.org/officeDocument/2006/relationships/notesMaster" Target="/ppt/notesMasters/notesMaster1.xml" Id="Ra4685196e20947c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1d1674b43f49b0" /><Relationship Type="http://schemas.openxmlformats.org/officeDocument/2006/relationships/notesMaster" Target="/ppt/notesMasters/notesMaster1.xml" Id="R1089abf9b12347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b8413fc20e3458e" /><Relationship Type="http://schemas.openxmlformats.org/officeDocument/2006/relationships/notesMaster" Target="/ppt/notesMasters/notesMaster1.xml" Id="R17b38072ff0b491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e1d48cb27c94e7a" /><Relationship Type="http://schemas.openxmlformats.org/officeDocument/2006/relationships/notesMaster" Target="/ppt/notesMasters/notesMaster1.xml" Id="Rf6653842c9e24c4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7ea882d5aed4676" /><Relationship Type="http://schemas.openxmlformats.org/officeDocument/2006/relationships/notesMaster" Target="/ppt/notesMasters/notesMaster1.xml" Id="Rd10f5dd657384f1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97099a41b5d460c" /><Relationship Type="http://schemas.openxmlformats.org/officeDocument/2006/relationships/notesMaster" Target="/ppt/notesMasters/notesMaster1.xml" Id="R36af7722cfd448b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64f66d78dd54c57" /><Relationship Type="http://schemas.openxmlformats.org/officeDocument/2006/relationships/notesMaster" Target="/ppt/notesMasters/notesMaster1.xml" Id="R20491da9e1ae4eb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12a9cd7911644f9" /><Relationship Type="http://schemas.openxmlformats.org/officeDocument/2006/relationships/notesMaster" Target="/ppt/notesMasters/notesMaster1.xml" Id="R686854a381074b6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9c82261cb324f57" /><Relationship Type="http://schemas.openxmlformats.org/officeDocument/2006/relationships/notesMaster" Target="/ppt/notesMasters/notesMaster1.xml" Id="R1b39ab04309249a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e9c6b3585f64464" /><Relationship Type="http://schemas.openxmlformats.org/officeDocument/2006/relationships/notesMaster" Target="/ppt/notesMasters/notesMaster1.xml" Id="R4edae0eb7ff143f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ad7015e889f462e" /><Relationship Type="http://schemas.openxmlformats.org/officeDocument/2006/relationships/notesMaster" Target="/ppt/notesMasters/notesMaster1.xml" Id="Rddfc5e2b496c40d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dd33626de3c470a" /><Relationship Type="http://schemas.openxmlformats.org/officeDocument/2006/relationships/notesMaster" Target="/ppt/notesMasters/notesMaster1.xml" Id="R69e9c4b0edde484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6e5b98535be477b" /><Relationship Type="http://schemas.openxmlformats.org/officeDocument/2006/relationships/notesMaster" Target="/ppt/notesMasters/notesMaster1.xml" Id="R0c186ad29c864af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66eb771ca794e2a" /><Relationship Type="http://schemas.openxmlformats.org/officeDocument/2006/relationships/notesMaster" Target="/ppt/notesMasters/notesMaster1.xml" Id="Rd744988046d44b3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0b90a78723a4405" /><Relationship Type="http://schemas.openxmlformats.org/officeDocument/2006/relationships/notesMaster" Target="/ppt/notesMasters/notesMaster1.xml" Id="R11c49c972d2e43b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d0dd5a9b89f4aab" /><Relationship Type="http://schemas.openxmlformats.org/officeDocument/2006/relationships/notesMaster" Target="/ppt/notesMasters/notesMaster1.xml" Id="R81cbb46387b7450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87e6bc755d34100" /><Relationship Type="http://schemas.openxmlformats.org/officeDocument/2006/relationships/notesMaster" Target="/ppt/notesMasters/notesMaster1.xml" Id="R7f28b8c454de42e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44c015cfe4e4e2c" /><Relationship Type="http://schemas.openxmlformats.org/officeDocument/2006/relationships/notesMaster" Target="/ppt/notesMasters/notesMaster1.xml" Id="R539f0fef9a47489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053e915298241c2" /><Relationship Type="http://schemas.openxmlformats.org/officeDocument/2006/relationships/notesMaster" Target="/ppt/notesMasters/notesMaster1.xml" Id="R43b7944d493a444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a63550a2bc74585" /><Relationship Type="http://schemas.openxmlformats.org/officeDocument/2006/relationships/notesMaster" Target="/ppt/notesMasters/notesMaster1.xml" Id="R46f0ea46023f4ed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f2da292efbe4e4d" /><Relationship Type="http://schemas.openxmlformats.org/officeDocument/2006/relationships/notesMaster" Target="/ppt/notesMasters/notesMaster1.xml" Id="Rbda5a5c930aa443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4551f7fb7ec4286" /><Relationship Type="http://schemas.openxmlformats.org/officeDocument/2006/relationships/notesMaster" Target="/ppt/notesMasters/notesMaster1.xml" Id="Rf73eb7f3ceee43f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13fec7e5ed24945" /><Relationship Type="http://schemas.openxmlformats.org/officeDocument/2006/relationships/notesMaster" Target="/ppt/notesMasters/notesMaster1.xml" Id="R1b2f7463b639473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eac41110d924974" /><Relationship Type="http://schemas.openxmlformats.org/officeDocument/2006/relationships/notesMaster" Target="/ppt/notesMasters/notesMaster1.xml" Id="R71bea2843cda462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367cd8c681f4187" /><Relationship Type="http://schemas.openxmlformats.org/officeDocument/2006/relationships/notesMaster" Target="/ppt/notesMasters/notesMaster1.xml" Id="Ra06fe3fc2ac0408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7ac784bb9064269" /><Relationship Type="http://schemas.openxmlformats.org/officeDocument/2006/relationships/notesMaster" Target="/ppt/notesMasters/notesMaster1.xml" Id="R70ae5644e5384f7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96cf5364dec49a9" /><Relationship Type="http://schemas.openxmlformats.org/officeDocument/2006/relationships/notesMaster" Target="/ppt/notesMasters/notesMaster1.xml" Id="Rd52b2b5d6bd54b8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3ec38a44d3b4774" /><Relationship Type="http://schemas.openxmlformats.org/officeDocument/2006/relationships/notesMaster" Target="/ppt/notesMasters/notesMaster1.xml" Id="Rd1546df27e454c5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b5cc49622a0425c" /><Relationship Type="http://schemas.openxmlformats.org/officeDocument/2006/relationships/notesMaster" Target="/ppt/notesMasters/notesMaster1.xml" Id="Rde2758df8a93429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2348910adef4b2a" /><Relationship Type="http://schemas.openxmlformats.org/officeDocument/2006/relationships/notesMaster" Target="/ppt/notesMasters/notesMaster1.xml" Id="R24e9b440f261410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f588c96fe3c4ded" /><Relationship Type="http://schemas.openxmlformats.org/officeDocument/2006/relationships/notesMaster" Target="/ppt/notesMasters/notesMaster1.xml" Id="R0683f6968ba34fb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05880fe72dd4494" /><Relationship Type="http://schemas.openxmlformats.org/officeDocument/2006/relationships/notesMaster" Target="/ppt/notesMasters/notesMaster1.xml" Id="R77f96e902341463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e7645acb7af4c2b" /><Relationship Type="http://schemas.openxmlformats.org/officeDocument/2006/relationships/notesMaster" Target="/ppt/notesMasters/notesMaster1.xml" Id="Rb5c4567f6a6c4dd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93e9560d62d476d" /><Relationship Type="http://schemas.openxmlformats.org/officeDocument/2006/relationships/notesMaster" Target="/ppt/notesMasters/notesMaster1.xml" Id="Rd048674990f5441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af76a838f92448d" /><Relationship Type="http://schemas.openxmlformats.org/officeDocument/2006/relationships/notesMaster" Target="/ppt/notesMasters/notesMaster1.xml" Id="Rf3558ddafae34f7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bc2e11f021a4f38" /><Relationship Type="http://schemas.openxmlformats.org/officeDocument/2006/relationships/notesMaster" Target="/ppt/notesMasters/notesMaster1.xml" Id="Rc6c9b34faba94c4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b87c3fededa416f" /><Relationship Type="http://schemas.openxmlformats.org/officeDocument/2006/relationships/notesMaster" Target="/ppt/notesMasters/notesMaster1.xml" Id="R8751f82137d44b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[20] NVIDIA, “Rotate,” NPP Image Geometry Transforms, CUDA 13.0.3 archive documentation, accessed Oct. 8, 2026.</a:t>
            </a:r>
          </a:p>
          <a:p xmlns:a="http://schemas.openxmlformats.org/drawingml/2006/main">
            <a:r>
              <a:t>https://docs.nvidia.com/cuda/archive/13.0.3/npp/image_geometry_transforms.html#rotate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be896f2614f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5bc4173434a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1125d463e4c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8394eca91442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0112cb9c840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21df741354b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52246E-7660-4D26-B0D9-5F39EC2200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F561E5-344E-408D-B5C4-B4EF99AC5F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516F79-CFA2-4F7E-9832-B9E97B1F9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D85E16-1B2B-48CA-B779-92BEF3ADBB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F77E29-43B0-4EB2-8E2F-B7927EDB2E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02232E-9629-491E-A545-8DBB4F61A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12B3FE-A134-4D3B-A78D-D25DC67C89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E3B0C9-B7A4-43FF-9F45-8B731C23A7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49FD30-AFE7-4168-A42F-6B5A9C4B8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116AA1-B689-4882-8540-3D7C56CAD6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9aa523756c4050" /><Relationship Type="http://schemas.openxmlformats.org/officeDocument/2006/relationships/slideLayout" Target="/ppt/slideLayouts/slideLayout1.xml" Id="R56254772fb5741f1" /><Relationship Type="http://schemas.openxmlformats.org/officeDocument/2006/relationships/slideLayout" Target="/ppt/slideLayouts/slideLayout2.xml" Id="R740d717f7c804cdd" /><Relationship Type="http://schemas.openxmlformats.org/officeDocument/2006/relationships/slideLayout" Target="/ppt/slideLayouts/slideLayout3.xml" Id="R522c40613fc248ba" /><Relationship Type="http://schemas.openxmlformats.org/officeDocument/2006/relationships/slideLayout" Target="/ppt/slideLayouts/slideLayout4.xml" Id="Rc73043fa39dd40ba" /><Relationship Type="http://schemas.openxmlformats.org/officeDocument/2006/relationships/slideLayout" Target="/ppt/slideLayouts/slideLayout5.xml" Id="R194ac4aca71e4acb" /><Relationship Type="http://schemas.openxmlformats.org/officeDocument/2006/relationships/slideLayout" Target="/ppt/slideLayouts/slideLayout6.xml" Id="R0e3c89c405bc40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254772fb5741f1"/>
    <p:sldLayoutId xmlns:r="http://schemas.openxmlformats.org/officeDocument/2006/relationships" id="2147483650" r:id="R740d717f7c804cdd"/>
    <p:sldLayoutId xmlns:r="http://schemas.openxmlformats.org/officeDocument/2006/relationships" id="2147483651" r:id="R522c40613fc248ba"/>
    <p:sldLayoutId xmlns:r="http://schemas.openxmlformats.org/officeDocument/2006/relationships" id="2147483652" r:id="Rc73043fa39dd40ba"/>
    <p:sldLayoutId xmlns:r="http://schemas.openxmlformats.org/officeDocument/2006/relationships" id="2147483653" r:id="R194ac4aca71e4acb"/>
    <p:sldLayoutId xmlns:r="http://schemas.openxmlformats.org/officeDocument/2006/relationships" id="2147483654" r:id="R0e3c89c405bc40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b9866182f646fd" /><Relationship Type="http://schemas.openxmlformats.org/officeDocument/2006/relationships/notesSlide" Target="/ppt/notesSlides/notesSlide1.xml" Id="Re1f11120838f4e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935d3d22384236" /><Relationship Type="http://schemas.openxmlformats.org/officeDocument/2006/relationships/notesSlide" Target="/ppt/notesSlides/notesSlide2.xml" Id="Reec0d248a5fb4d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75d2b29a82480e" /><Relationship Type="http://schemas.openxmlformats.org/officeDocument/2006/relationships/notesSlide" Target="/ppt/notesSlides/notesSlide3.xml" Id="Rfef14aeea28f40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b6cf411a134b2a" /><Relationship Type="http://schemas.openxmlformats.org/officeDocument/2006/relationships/notesSlide" Target="/ppt/notesSlides/notesSlide4.xml" Id="Rfa2e1ca7148e42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00388f6ba147c6" /><Relationship Type="http://schemas.openxmlformats.org/officeDocument/2006/relationships/notesSlide" Target="/ppt/notesSlides/notesSlide5.xml" Id="R48155966ead947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8aa04f389a4100" /><Relationship Type="http://schemas.openxmlformats.org/officeDocument/2006/relationships/notesSlide" Target="/ppt/notesSlides/notesSlide6.xml" Id="R7ea6a614a4f64e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e234eae26f4c3c" /><Relationship Type="http://schemas.openxmlformats.org/officeDocument/2006/relationships/notesSlide" Target="/ppt/notesSlides/notesSlide7.xml" Id="R353e3ca6276344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9fb47f91fe4016" /><Relationship Type="http://schemas.openxmlformats.org/officeDocument/2006/relationships/notesSlide" Target="/ppt/notesSlides/notesSlide8.xml" Id="R8ec21915c8064f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fb5b86daa4425" /><Relationship Type="http://schemas.openxmlformats.org/officeDocument/2006/relationships/chart" Target="/ppt/slides/charts/chart1.xml" Id="R5addc1dae10d44a7" /><Relationship Type="http://schemas.openxmlformats.org/officeDocument/2006/relationships/chart" Target="/ppt/slides/charts/chart2.xml" Id="Rb2592112455046d4" /><Relationship Type="http://schemas.openxmlformats.org/officeDocument/2006/relationships/notesSlide" Target="/ppt/notesSlides/notesSlide9.xml" Id="R75087d62833b4e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e07b0e2664550" /><Relationship Type="http://schemas.openxmlformats.org/officeDocument/2006/relationships/notesSlide" Target="/ppt/notesSlides/notesSlide10.xml" Id="Rfdc04a5f945b41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aa7da5cf384725" /><Relationship Type="http://schemas.openxmlformats.org/officeDocument/2006/relationships/notesSlide" Target="/ppt/notesSlides/notesSlide11.xml" Id="Ra11494c0898149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cf8eed6ae4955" /><Relationship Type="http://schemas.openxmlformats.org/officeDocument/2006/relationships/notesSlide" Target="/ppt/notesSlides/notesSlide12.xml" Id="Rc6694fc7833b43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f5bdb3107486e" /><Relationship Type="http://schemas.openxmlformats.org/officeDocument/2006/relationships/notesSlide" Target="/ppt/notesSlides/notesSlide13.xml" Id="Rdbaa4b3a046d4a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521ffdb4494b6e" /><Relationship Type="http://schemas.openxmlformats.org/officeDocument/2006/relationships/notesSlide" Target="/ppt/notesSlides/notesSlide14.xml" Id="R05bc342d3c9047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e57ca305c0450a" /><Relationship Type="http://schemas.openxmlformats.org/officeDocument/2006/relationships/notesSlide" Target="/ppt/notesSlides/notesSlide15.xml" Id="Rdae926854b6f4d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ba46f0f8724771" /><Relationship Type="http://schemas.openxmlformats.org/officeDocument/2006/relationships/notesSlide" Target="/ppt/notesSlides/notesSlide16.xml" Id="R50d0b5336bbb46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e5849f0d164e56" /><Relationship Type="http://schemas.openxmlformats.org/officeDocument/2006/relationships/notesSlide" Target="/ppt/notesSlides/notesSlide17.xml" Id="Rc4a834d3df7347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24540fdbb4299" /><Relationship Type="http://schemas.openxmlformats.org/officeDocument/2006/relationships/notesSlide" Target="/ppt/notesSlides/notesSlide18.xml" Id="Rffa9212720c94d2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21c8507e748c0" /><Relationship Type="http://schemas.openxmlformats.org/officeDocument/2006/relationships/notesSlide" Target="/ppt/notesSlides/notesSlide19.xml" Id="R42855f7a30844c6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13fdbb39524cd5" /><Relationship Type="http://schemas.openxmlformats.org/officeDocument/2006/relationships/notesSlide" Target="/ppt/notesSlides/notesSlide20.xml" Id="R36858481f52f4f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f88032ffa4af2" /><Relationship Type="http://schemas.openxmlformats.org/officeDocument/2006/relationships/notesSlide" Target="/ppt/notesSlides/notesSlide21.xml" Id="R4fccc79bb4f14d9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517e157390498a" /><Relationship Type="http://schemas.openxmlformats.org/officeDocument/2006/relationships/notesSlide" Target="/ppt/notesSlides/notesSlide22.xml" Id="R5bf419b6133149e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4598ca6ca43ba" /><Relationship Type="http://schemas.openxmlformats.org/officeDocument/2006/relationships/notesSlide" Target="/ppt/notesSlides/notesSlide23.xml" Id="Rdeff0cf3c9e5486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4914825a974a1b" /><Relationship Type="http://schemas.openxmlformats.org/officeDocument/2006/relationships/notesSlide" Target="/ppt/notesSlides/notesSlide24.xml" Id="R7bdd357d411c46a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f193b30ee4a55" /><Relationship Type="http://schemas.openxmlformats.org/officeDocument/2006/relationships/notesSlide" Target="/ppt/notesSlides/notesSlide25.xml" Id="R5d36657e5cf74d2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f664d039cc42fe" /><Relationship Type="http://schemas.openxmlformats.org/officeDocument/2006/relationships/notesSlide" Target="/ppt/notesSlides/notesSlide26.xml" Id="R76329fcb43be462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49278fca74bb0" /><Relationship Type="http://schemas.openxmlformats.org/officeDocument/2006/relationships/notesSlide" Target="/ppt/notesSlides/notesSlide27.xml" Id="R2db902fa927c4de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1f28382c74e71" /><Relationship Type="http://schemas.openxmlformats.org/officeDocument/2006/relationships/notesSlide" Target="/ppt/notesSlides/notesSlide28.xml" Id="Ra71acc77fe7e495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03abcda5fa405f" /><Relationship Type="http://schemas.openxmlformats.org/officeDocument/2006/relationships/notesSlide" Target="/ppt/notesSlides/notesSlide29.xml" Id="Raed5ce9ecff34cf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7ed7cba794b4a" /><Relationship Type="http://schemas.openxmlformats.org/officeDocument/2006/relationships/notesSlide" Target="/ppt/notesSlides/notesSlide30.xml" Id="Rb96db52539f04bf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67ea360c0419f" /><Relationship Type="http://schemas.openxmlformats.org/officeDocument/2006/relationships/notesSlide" Target="/ppt/notesSlides/notesSlide31.xml" Id="Re6b66d4a4c3b45f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3bf0664bc14ccf" /><Relationship Type="http://schemas.openxmlformats.org/officeDocument/2006/relationships/notesSlide" Target="/ppt/notesSlides/notesSlide32.xml" Id="R0eba1ba3b07d455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22b752ff72440c" /><Relationship Type="http://schemas.openxmlformats.org/officeDocument/2006/relationships/notesSlide" Target="/ppt/notesSlides/notesSlide33.xml" Id="R7902ce1e62114f9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f239ee50724307" /><Relationship Type="http://schemas.openxmlformats.org/officeDocument/2006/relationships/notesSlide" Target="/ppt/notesSlides/notesSlide34.xml" Id="Rd52e86b32af9428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f09decd7d46e9" /><Relationship Type="http://schemas.openxmlformats.org/officeDocument/2006/relationships/hyperlink" Target="https://docs.nvidia.com/cuda/cuda-programming-guide/01-introduction/programming-model.html" TargetMode="External" Id="Raa68d44d4fad42fc" /><Relationship Type="http://schemas.openxmlformats.org/officeDocument/2006/relationships/notesSlide" Target="/ppt/notesSlides/notesSlide35.xml" Id="R61f7a7dd22fd4de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e938209fe84bc9" /><Relationship Type="http://schemas.openxmlformats.org/officeDocument/2006/relationships/hyperlink" Target="https://docs.nvidia.com/cuda/cuda-c-best-practices-guide/index.html" TargetMode="External" Id="Rc71a9c4f492f4b27" /><Relationship Type="http://schemas.openxmlformats.org/officeDocument/2006/relationships/hyperlink" Target="https://docs.nvidia.com/gpudirect-storage/overview-guide/index.html" TargetMode="External" Id="R961c42dfc1d644e4" /><Relationship Type="http://schemas.openxmlformats.org/officeDocument/2006/relationships/hyperlink" Target="https://docs.nvidia.com/gpudirect-storage/design-guide/index.html" TargetMode="External" Id="R8f629edea3d64e37" /><Relationship Type="http://schemas.openxmlformats.org/officeDocument/2006/relationships/hyperlink" Target="https://docs.nvidia.com/megatron-core/developer-guide/latest/user-guide/parallelism-guide.html" TargetMode="External" Id="Rc8dcfe4cdd44454a" /><Relationship Type="http://schemas.openxmlformats.org/officeDocument/2006/relationships/notesSlide" Target="/ppt/notesSlides/notesSlide36.xml" Id="Rce7fc0f4df4f486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e62e8e54c24dc4" /><Relationship Type="http://schemas.openxmlformats.org/officeDocument/2006/relationships/hyperlink" Target="https://www.iea.org/reports/key-questions-on-energy-and-ai/executive-summary" TargetMode="External" Id="R04313a2b72914ea3" /><Relationship Type="http://schemas.openxmlformats.org/officeDocument/2006/relationships/hyperlink" Target="https://www.nsf.gov/cise/updates/nairr-2-years-advancing-american-artificial-intelligence" TargetMode="External" Id="R852be39961f6499e" /><Relationship Type="http://schemas.openxmlformats.org/officeDocument/2006/relationships/hyperlink" Target="https://aclanthology.org/P19-1355/" TargetMode="External" Id="Rc1eeb72971d64f4f" /><Relationship Type="http://schemas.openxmlformats.org/officeDocument/2006/relationships/hyperlink" Target="https://arxiv.org/abs/2304.03271v5" TargetMode="External" Id="R6725b96928004de0" /><Relationship Type="http://schemas.openxmlformats.org/officeDocument/2006/relationships/notesSlide" Target="/ppt/notesSlides/notesSlide37.xml" Id="Re637f69de7e448c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a61025a57a44af" /><Relationship Type="http://schemas.openxmlformats.org/officeDocument/2006/relationships/hyperlink" Target="https://arxiv.org/abs/1907.10597" TargetMode="External" Id="Rb4aec2f74d2d471f" /><Relationship Type="http://schemas.openxmlformats.org/officeDocument/2006/relationships/hyperlink" Target="https://arxiv.org/abs/1906.08935v2" TargetMode="External" Id="Rbbd64f0ab77740d5" /><Relationship Type="http://schemas.openxmlformats.org/officeDocument/2006/relationships/hyperlink" Target="https://aclanthology.org/2024.cl-3.8/" TargetMode="External" Id="R146b2c77844d46c3" /><Relationship Type="http://schemas.openxmlformats.org/officeDocument/2006/relationships/hyperlink" Target="https://arxiv.org/abs/2010.15581v1" TargetMode="External" Id="R8c42d970f5f64e97" /><Relationship Type="http://schemas.openxmlformats.org/officeDocument/2006/relationships/notesSlide" Target="/ppt/notesSlides/notesSlide38.xml" Id="Rdde49e8daf944a2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357e6c5b904651" /><Relationship Type="http://schemas.openxmlformats.org/officeDocument/2006/relationships/hyperlink" Target="https://arxiv.org/abs/2106.11750v1" TargetMode="External" Id="R269e394fbed246b5" /><Relationship Type="http://schemas.openxmlformats.org/officeDocument/2006/relationships/hyperlink" Target="https://www.oecd.org/en/topics/ai-principles.html" TargetMode="External" Id="R7f2d1e63a7cc44e5" /><Relationship Type="http://schemas.openxmlformats.org/officeDocument/2006/relationships/hyperlink" Target="https://airc.nist.gov/airmf-resources/playbook/" TargetMode="External" Id="R91d5b71402c44ac3" /><Relationship Type="http://schemas.openxmlformats.org/officeDocument/2006/relationships/hyperlink" Target="https://docs.nvidia.com/cuda/archive/13.0.3/npp/image_geometry_transforms.html#rotate" TargetMode="External" Id="R1ac1a6afb9ca4692" /><Relationship Type="http://schemas.openxmlformats.org/officeDocument/2006/relationships/notesSlide" Target="/ppt/notesSlides/notesSlide39.xml" Id="R7ffcb5c848ec4f5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44a5c8c904142" /><Relationship Type="http://schemas.openxmlformats.org/officeDocument/2006/relationships/notesSlide" Target="/ppt/notesSlides/notesSlide40.xml" Id="R45a456b76ae0481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2cbb2335d43af" /><Relationship Type="http://schemas.openxmlformats.org/officeDocument/2006/relationships/notesSlide" Target="/ppt/notesSlides/notesSlide41.xml" Id="R18af057673de48a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9a68bec33f477c" /><Relationship Type="http://schemas.openxmlformats.org/officeDocument/2006/relationships/notesSlide" Target="/ppt/notesSlides/notesSlide42.xml" Id="Rcf905cea6a714e2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36874c75964da4" /><Relationship Type="http://schemas.openxmlformats.org/officeDocument/2006/relationships/notesSlide" Target="/ppt/notesSlides/notesSlide43.xml" Id="R8a7fd3f0746d4f8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229a188394696" /><Relationship Type="http://schemas.openxmlformats.org/officeDocument/2006/relationships/notesSlide" Target="/ppt/notesSlides/notesSlide44.xml" Id="R0f3cca02cf3d4d9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a20e399854506" /><Relationship Type="http://schemas.openxmlformats.org/officeDocument/2006/relationships/notesSlide" Target="/ppt/notesSlides/notesSlide45.xml" Id="R9f4ea318d1514a2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8494d38744272" /><Relationship Type="http://schemas.openxmlformats.org/officeDocument/2006/relationships/notesSlide" Target="/ppt/notesSlides/notesSlide46.xml" Id="R2c14d0974fa5485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662c7cc95747e8" /><Relationship Type="http://schemas.openxmlformats.org/officeDocument/2006/relationships/notesSlide" Target="/ppt/notesSlides/notesSlide47.xml" Id="R27b5361cbcae4d5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c42df8ff84630" /><Relationship Type="http://schemas.openxmlformats.org/officeDocument/2006/relationships/notesSlide" Target="/ppt/notesSlides/notesSlide48.xml" Id="R9ec2a500ef2a432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1728358bbf475a" /><Relationship Type="http://schemas.openxmlformats.org/officeDocument/2006/relationships/notesSlide" Target="/ppt/notesSlides/notesSlide49.xml" Id="Rc0d007240356449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50d5fbc6c44812" /><Relationship Type="http://schemas.openxmlformats.org/officeDocument/2006/relationships/notesSlide" Target="/ppt/notesSlides/notesSlide50.xml" Id="Rb930dc55914447bd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6f9ff3d50d4d16" /><Relationship Type="http://schemas.openxmlformats.org/officeDocument/2006/relationships/notesSlide" Target="/ppt/notesSlides/notesSlide51.xml" Id="R6f293844256748c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0b3bed9644b63" /><Relationship Type="http://schemas.openxmlformats.org/officeDocument/2006/relationships/notesSlide" Target="/ppt/notesSlides/notesSlide52.xml" Id="R00970dd120ec486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a9a72c88e44255" /><Relationship Type="http://schemas.openxmlformats.org/officeDocument/2006/relationships/notesSlide" Target="/ppt/notesSlides/notesSlide53.xml" Id="R8e0bc0e00700431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2a2f4a98b14233" /><Relationship Type="http://schemas.openxmlformats.org/officeDocument/2006/relationships/notesSlide" Target="/ppt/notesSlides/notesSlide54.xml" Id="Ra7be79f1aac34c4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b5d5e200b4c51" /><Relationship Type="http://schemas.openxmlformats.org/officeDocument/2006/relationships/notesSlide" Target="/ppt/notesSlides/notesSlide55.xml" Id="R9e379052c637446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b1b5d47c66445a" /><Relationship Type="http://schemas.openxmlformats.org/officeDocument/2006/relationships/notesSlide" Target="/ppt/notesSlides/notesSlide56.xml" Id="R362e5925077847b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s 1 and 2">
            <a:extLst xmlns:a="http://schemas.openxmlformats.org/drawingml/2006/main">
              <a:ext uri="{FF2B5EF4-FFF2-40B4-BE49-F238E27FC236}">
                <a16:creationId xmlns:a16="http://schemas.microsoft.com/office/drawing/2014/main" id="{B7C94497-5EFB-43EE-B3D8-C06DC7C3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Tasks 1 and 2</a:t>
            </a:r>
          </a:p>
        </p:txBody>
      </p:sp>
      <p:sp>
        <p:nvSpPr>
          <p:cNvPr id="2" name="GPU image rotation&#10;and 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56A8F8AB-E131-4298-B5F4-7D464BC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GPU image rotation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892CA9AF-DF71-4F16-A1D1-31FDEFAF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2DBC7-0FED-4C71-AC8F-B9AB2FFF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8678A049-FBBE-4614-93B3-5BF95809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F6F437E1-EDC7-4099-B466-995300D8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245B50BC-3E88-4809-9B7D-1EE9E880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CA8EE02B-309E-44D2-BC89-1100B653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993F2387-7921-48C8-AE00-4E3D5AAA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records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319669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36B7F-C87D-496D-A2FB-25023CDD4E4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583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AA091-10FA-4118-BAA7-FA0FBD9DEB2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342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25CAC-4988-40BA-BB60-30294264D3A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101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329CE-53CC-4BF5-B768-604428D6708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25" name="Task 1(a)">
            <a:extLst xmlns:a="http://schemas.openxmlformats.org/drawingml/2006/main">
              <a:ext uri="{FF2B5EF4-FFF2-40B4-BE49-F238E27FC236}">
                <a16:creationId xmlns:a16="http://schemas.microsoft.com/office/drawing/2014/main" id="{84DAD51A-1878-42EE-91C0-180FF385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1(a)</a:t>
            </a:r>
          </a:p>
        </p:txBody>
      </p:sp>
      <p:sp>
        <p:nvSpPr>
          <p:cNvPr id="2" name="Host–GPU image data flow">
            <a:extLst xmlns:a="http://schemas.openxmlformats.org/drawingml/2006/main">
              <a:ext uri="{FF2B5EF4-FFF2-40B4-BE49-F238E27FC236}">
                <a16:creationId xmlns:a16="http://schemas.microsoft.com/office/drawing/2014/main" id="{D83D1486-2181-4C8D-B2DB-D903556C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Host–GPU image data flow</a:t>
            </a:r>
          </a:p>
        </p:txBody>
      </p:sp>
      <p:sp>
        <p:nvSpPr>
          <p:cNvPr id="3" name="CPU: load/decode, allocate, launch, save">
            <a:extLst xmlns:a="http://schemas.openxmlformats.org/drawingml/2006/main">
              <a:ext uri="{FF2B5EF4-FFF2-40B4-BE49-F238E27FC236}">
                <a16:creationId xmlns:a16="http://schemas.microsoft.com/office/drawing/2014/main" id="{8666E0C9-8044-4F06-A066-8B6D5FB1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CPU: load/decode, allocate, launch, save</a:t>
            </a:r>
          </a:p>
        </p:txBody>
      </p:sp>
      <p:sp>
        <p:nvSpPr>
          <p:cNvPr id="4" name="GPU: read input, rotate, write output">
            <a:extLst xmlns:a="http://schemas.openxmlformats.org/drawingml/2006/main">
              <a:ext uri="{FF2B5EF4-FFF2-40B4-BE49-F238E27FC236}">
                <a16:creationId xmlns:a16="http://schemas.microsoft.com/office/drawing/2014/main" id="{26CEB85A-1708-4855-81B0-DE6D5CE4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GPU: read input, rotate, write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4E311-D077-4B48-8423-B19922C3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encoded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9A2A7-BC37-45D5-8D7D-7D4AD03C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DDR example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pixels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92DE1-4794-4EEE-91CB-F933F812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buffer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26EFC-E403-41DE-A4AE-9339B152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3D49E-CD33-423A-986F-0AE98819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pixels</a:t>
            </a:r>
          </a:p>
        </p:txBody>
      </p:sp>
      <p:sp>
        <p:nvSpPr>
          <p:cNvPr id="14" name="CPU&#10;decode">
            <a:extLst xmlns:a="http://schemas.openxmlformats.org/drawingml/2006/main">
              <a:ext uri="{FF2B5EF4-FFF2-40B4-BE49-F238E27FC236}">
                <a16:creationId xmlns:a16="http://schemas.microsoft.com/office/drawing/2014/main" id="{7C4CE043-F752-4018-B012-B7F3B56B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28800"/>
            <a:ext cx="600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CPU</a:t>
            </a:r>
          </a:p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5" name="H2D&#10;PCIe">
            <a:extLst xmlns:a="http://schemas.openxmlformats.org/drawingml/2006/main">
              <a:ext uri="{FF2B5EF4-FFF2-40B4-BE49-F238E27FC236}">
                <a16:creationId xmlns:a16="http://schemas.microsoft.com/office/drawing/2014/main" id="{09CBA07D-BE51-4EDB-A59E-B3062EDA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28800"/>
            <a:ext cx="600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H2D</a:t>
            </a:r>
          </a:p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6" name="CUDA&#10;kernel">
            <a:extLst xmlns:a="http://schemas.openxmlformats.org/drawingml/2006/main">
              <a:ext uri="{FF2B5EF4-FFF2-40B4-BE49-F238E27FC236}">
                <a16:creationId xmlns:a16="http://schemas.microsoft.com/office/drawing/2014/main" id="{EF4A3666-7DDE-43F6-909B-CACD1F52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28800"/>
            <a:ext cx="600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CUDA</a:t>
            </a:r>
          </a:p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D2H&#10;PCIe">
            <a:extLst xmlns:a="http://schemas.openxmlformats.org/drawingml/2006/main">
              <a:ext uri="{FF2B5EF4-FFF2-40B4-BE49-F238E27FC236}">
                <a16:creationId xmlns:a16="http://schemas.microsoft.com/office/drawing/2014/main" id="{0B9B2EF2-C4D6-4877-ACDD-6AF3BDDD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28800"/>
            <a:ext cx="600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D2H</a:t>
            </a:r>
          </a:p>
          <a:p xmlns:a="http://schemas.openxmlformats.org/drawingml/2006/main">
            <a:pPr algn="ctr">
              <a:defRPr sz="150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8" name="Separate host/device buffers; transfer engines perform ">
            <a:extLst xmlns:a="http://schemas.openxmlformats.org/drawingml/2006/main">
              <a:ext uri="{FF2B5EF4-FFF2-40B4-BE49-F238E27FC236}">
                <a16:creationId xmlns:a16="http://schemas.microsoft.com/office/drawing/2014/main" id="{49984A35-D9D3-4B7B-BE8D-6D917ED0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host/device buffers; transfer engines perform DMA. PCIe link bandwidth differs from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inside GPU memory.</a:t>
            </a:r>
          </a:p>
        </p:txBody>
      </p:sp>
      <p:sp>
        <p:nvSpPr>
          <p:cNvPr id="19" name="Pinned RAM supports efficient transfers; pageable RAM m">
            <a:extLst xmlns:a="http://schemas.openxmlformats.org/drawingml/2006/main">
              <a:ext uri="{FF2B5EF4-FFF2-40B4-BE49-F238E27FC236}">
                <a16:creationId xmlns:a16="http://schemas.microsoft.com/office/drawing/2014/main" id="{B270BC3B-2FF1-410C-BE92-B188DFB5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RAM supports efficient transfers; pageable RAM may need staging. Wait for completed output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host saving or buffer reuse.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B7CE7-93DC-4823-817D-9B0FD7BD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1" name="The CPU orchestrates I/O and launches; the GPU rotates ">
            <a:extLst xmlns:a="http://schemas.openxmlformats.org/drawingml/2006/main">
              <a:ext uri="{FF2B5EF4-FFF2-40B4-BE49-F238E27FC236}">
                <a16:creationId xmlns:a16="http://schemas.microsoft.com/office/drawing/2014/main" id="{08E23636-E1C0-4DC9-B8AB-1DF2ED0B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CPU orchestrates I/O and launches; the GPU rotates decoded pixels.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7C471-97BB-433B-9D4D-BEC913A2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3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23583597-7FE6-4A92-9DF1-85BD59EB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24" name="2 / 56">
            <a:extLst xmlns:a="http://schemas.openxmlformats.org/drawingml/2006/main">
              <a:ext uri="{FF2B5EF4-FFF2-40B4-BE49-F238E27FC236}">
                <a16:creationId xmlns:a16="http://schemas.microsoft.com/office/drawing/2014/main" id="{DC2A4417-A1C9-4C13-B972-4D47FD5F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56</a:t>
            </a:r>
          </a:p>
        </p:txBody>
      </p:sp>
    </p:spTree>
    <p:extLst>
      <p:ext uri="{BB962C8B-B14F-4D97-AF65-F5344CB8AC3E}">
        <p14:creationId xmlns:p14="http://schemas.microsoft.com/office/powerpoint/2010/main" val="1910848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444A6-7325-4549-A05B-F105C80C7F4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25063" y="27622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8" name="Task 1(b)">
            <a:extLst xmlns:a="http://schemas.openxmlformats.org/drawingml/2006/main">
              <a:ext uri="{FF2B5EF4-FFF2-40B4-BE49-F238E27FC236}">
                <a16:creationId xmlns:a16="http://schemas.microsoft.com/office/drawing/2014/main" id="{AE53F84A-B929-44D9-ABBD-86665A62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Rotation as independent output work">
            <a:extLst xmlns:a="http://schemas.openxmlformats.org/drawingml/2006/main">
              <a:ext uri="{FF2B5EF4-FFF2-40B4-BE49-F238E27FC236}">
                <a16:creationId xmlns:a16="http://schemas.microsoft.com/office/drawing/2014/main" id="{A4382BD1-9B7F-4653-8AB9-427830DF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 independent output work</a:t>
            </a:r>
          </a:p>
        </p:txBody>
      </p:sp>
      <p:sp>
        <p:nvSpPr>
          <p:cNvPr id="3" name="Inverse mapping in y-down image coordinates">
            <a:extLst xmlns:a="http://schemas.openxmlformats.org/drawingml/2006/main">
              <a:ext uri="{FF2B5EF4-FFF2-40B4-BE49-F238E27FC236}">
                <a16:creationId xmlns:a16="http://schemas.microsoft.com/office/drawing/2014/main" id="{8D9618BF-9CE8-4C87-A0DA-6538DF75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572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Inverse mapping in y-down image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25508-66EB-4F10-B43F-D6BD6046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80085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x = c*(x-cx) - s*(y-cy) + cx;&#10;sy = s*(x-cx) + c*(y-cy)">
            <a:extLst xmlns:a="http://schemas.openxmlformats.org/drawingml/2006/main">
              <a:ext uri="{FF2B5EF4-FFF2-40B4-BE49-F238E27FC236}">
                <a16:creationId xmlns:a16="http://schemas.microsoft.com/office/drawing/2014/main" id="{32034656-472E-42CF-A5D5-FBC80B66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572250" cy="11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sx = c*(x-cx) - s*(y-cy) + cx;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sy = s*(x-cx) + c*(y-cy) + cy;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ix = floor(sx + 0.5);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iy = floor(sy + 0.5);</a:t>
            </a:r>
          </a:p>
        </p:txBody>
      </p:sp>
      <p:sp>
        <p:nvSpPr>
          <p:cNvPr id="6" name="c = cos θ; s = sin θ; center = ((W−1)/2, (H−1)/2)">
            <a:extLst xmlns:a="http://schemas.openxmlformats.org/drawingml/2006/main">
              <a:ext uri="{FF2B5EF4-FFF2-40B4-BE49-F238E27FC236}">
                <a16:creationId xmlns:a16="http://schemas.microsoft.com/office/drawing/2014/main" id="{E6FD088D-9CE8-4DFA-8DD5-32FCDE16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9913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cos θ; s = sin θ; center = ((W−1)/2, (H−1)/2)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BFE5B-28F3-41F1-8B37-31A58CF4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76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(x,y)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27327-78F1-4102-8D6E-AFE31BC9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0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 input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(ix,iy)</a:t>
            </a:r>
          </a:p>
        </p:txBody>
      </p:sp>
      <p:sp>
        <p:nvSpPr>
          <p:cNvPr id="10" name="gather">
            <a:extLst xmlns:a="http://schemas.openxmlformats.org/drawingml/2006/main">
              <a:ext uri="{FF2B5EF4-FFF2-40B4-BE49-F238E27FC236}">
                <a16:creationId xmlns:a16="http://schemas.microsoft.com/office/drawing/2014/main" id="{91917FB5-D800-4740-B4A1-2E64F06D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24175"/>
            <a:ext cx="161925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gather</a:t>
            </a:r>
          </a:p>
        </p:txBody>
      </p:sp>
      <p:sp>
        <p:nvSpPr>
          <p:cNvPr id="11" name="Positive θ rotates visually counterclockwise. Use a fix">
            <a:extLst xmlns:a="http://schemas.openxmlformats.org/drawingml/2006/main">
              <a:ext uri="{FF2B5EF4-FFF2-40B4-BE49-F238E27FC236}">
                <a16:creationId xmlns:a16="http://schemas.microsoft.com/office/drawing/2014/main" id="{4193EF34-3800-4186-AE42-E812D94B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rotates visually counterclockwise. Use a fixed canvas; rounded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 indices outside the image produce black.</a:t>
            </a:r>
          </a:p>
        </p:txBody>
      </p:sp>
      <p:sp>
        <p:nvSpPr>
          <p:cNvPr id="12" name="Brightness touches the same pixel in/out; rotation gath">
            <a:extLst xmlns:a="http://schemas.openxmlformats.org/drawingml/2006/main">
              <a:ext uri="{FF2B5EF4-FFF2-40B4-BE49-F238E27FC236}">
                <a16:creationId xmlns:a16="http://schemas.microsoft.com/office/drawing/2014/main" id="{0A9BF37B-E139-4BA0-849E-4BE74D60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8428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Brightness touches the same pixel in/out; rotation gathers a different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source. Nearest-neighbour sampling is simple but can alias.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411AD-38D8-4F91-8F73-A8DC2AC9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One thread owns one output pixel: gather a source value">
            <a:extLst xmlns:a="http://schemas.openxmlformats.org/drawingml/2006/main">
              <a:ext uri="{FF2B5EF4-FFF2-40B4-BE49-F238E27FC236}">
                <a16:creationId xmlns:a16="http://schemas.microsoft.com/office/drawing/2014/main" id="{746E3172-36BB-4453-80AE-895B043C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 pixel: gather a source value, then write once.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356DD-AF71-4B2C-9D3F-DD494FA4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9EB19D2F-2244-4A14-9428-7DC4C2D8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7" name="3 / 56">
            <a:extLst xmlns:a="http://schemas.openxmlformats.org/drawingml/2006/main">
              <a:ext uri="{FF2B5EF4-FFF2-40B4-BE49-F238E27FC236}">
                <a16:creationId xmlns:a16="http://schemas.microsoft.com/office/drawing/2014/main" id="{E3224A19-8978-43CC-AB9A-70B6624A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56</a:t>
            </a:r>
          </a:p>
        </p:txBody>
      </p:sp>
    </p:spTree>
    <p:extLst>
      <p:ext uri="{BB962C8B-B14F-4D97-AF65-F5344CB8AC3E}">
        <p14:creationId xmlns:p14="http://schemas.microsoft.com/office/powerpoint/2010/main" val="717811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ask 1(b)">
            <a:extLst xmlns:a="http://schemas.openxmlformats.org/drawingml/2006/main">
              <a:ext uri="{FF2B5EF4-FFF2-40B4-BE49-F238E27FC236}">
                <a16:creationId xmlns:a16="http://schemas.microsoft.com/office/drawing/2014/main" id="{423EBAEA-0CC9-4969-A085-13B5D4D9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launch and execution hierarchy">
            <a:extLst xmlns:a="http://schemas.openxmlformats.org/drawingml/2006/main">
              <a:ext uri="{FF2B5EF4-FFF2-40B4-BE49-F238E27FC236}">
                <a16:creationId xmlns:a16="http://schemas.microsoft.com/office/drawing/2014/main" id="{5492EA0C-6050-4769-AFE1-4071AB2C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launch and execution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D4E72-1425-4095-81EE-F71FEAA9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9436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16);&#10;dim3 grid(64,64);&#10;rotate_rgb&lt;&lt;&lt;grid,">
            <a:extLst xmlns:a="http://schemas.openxmlformats.org/drawingml/2006/main">
              <a:ext uri="{FF2B5EF4-FFF2-40B4-BE49-F238E27FC236}">
                <a16:creationId xmlns:a16="http://schemas.microsoft.com/office/drawing/2014/main" id="{C199BB0C-41E2-4DBE-A185-DC3A4360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00" cy="1101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block(16,16);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grid(64,64);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rotate_rgb&lt;&lt;&lt;grid,block&gt;&gt;&gt;(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d_in,d_out,1024,1024,c,s);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6B99E-88CF-4F29-A7DF-FFAC0B7B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943600" cy="948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6" name="x = blockIdx.x*blockDim.x + threadIdx.x;&#10;y = blockIdx.y">
            <a:extLst xmlns:a="http://schemas.openxmlformats.org/drawingml/2006/main">
              <a:ext uri="{FF2B5EF4-FFF2-40B4-BE49-F238E27FC236}">
                <a16:creationId xmlns:a16="http://schemas.microsoft.com/office/drawing/2014/main" id="{6FB74E97-B543-4F06-B97B-960FE46A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57150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x = blockIdx.x*blockDim.x + threadIdx.x;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y = blockIdx.y*blockDim.y + threadIdx.y;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if (x &gt;= W || y &gt;= H) return;</a:t>
            </a:r>
          </a:p>
        </p:txBody>
      </p:sp>
      <p:sp>
        <p:nvSpPr>
          <p:cNvPr id="7" name="1024 × 1024 output">
            <a:extLst xmlns:a="http://schemas.openxmlformats.org/drawingml/2006/main">
              <a:ext uri="{FF2B5EF4-FFF2-40B4-BE49-F238E27FC236}">
                <a16:creationId xmlns:a16="http://schemas.microsoft.com/office/drawing/2014/main" id="{FCC4166A-A6AE-45E6-A614-4CA011D4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3434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1024 × 1024 output</a:t>
            </a:r>
          </a:p>
        </p:txBody>
      </p:sp>
      <p:sp>
        <p:nvSpPr>
          <p:cNvPr id="8" name="64 × 64 = 4,096 blocks">
            <a:extLst xmlns:a="http://schemas.openxmlformats.org/drawingml/2006/main">
              <a:ext uri="{FF2B5EF4-FFF2-40B4-BE49-F238E27FC236}">
                <a16:creationId xmlns:a16="http://schemas.microsoft.com/office/drawing/2014/main" id="{044BF75D-3649-47A8-BBEB-5845E3E9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64 × 64 = 4,096 blocks</a:t>
            </a:r>
          </a:p>
        </p:txBody>
      </p:sp>
      <p:sp>
        <p:nvSpPr>
          <p:cNvPr id="9" name="16 × 16 = 256 threads/block">
            <a:extLst xmlns:a="http://schemas.openxmlformats.org/drawingml/2006/main">
              <a:ext uri="{FF2B5EF4-FFF2-40B4-BE49-F238E27FC236}">
                <a16:creationId xmlns:a16="http://schemas.microsoft.com/office/drawing/2014/main" id="{1423F178-9CB4-4A17-9D02-36667CF6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16 × 16 = 256 threads/block</a:t>
            </a:r>
          </a:p>
        </p:txBody>
      </p:sp>
      <p:sp>
        <p:nvSpPr>
          <p:cNvPr id="10" name="1,048,576 logical threads">
            <a:extLst xmlns:a="http://schemas.openxmlformats.org/drawingml/2006/main">
              <a:ext uri="{FF2B5EF4-FFF2-40B4-BE49-F238E27FC236}">
                <a16:creationId xmlns:a16="http://schemas.microsoft.com/office/drawing/2014/main" id="{808B3773-0187-46F3-B43D-10CDE3D3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5752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1,048,576 logical threads</a:t>
            </a:r>
          </a:p>
        </p:txBody>
      </p:sp>
      <p:sp>
        <p:nvSpPr>
          <p:cNvPr id="11" name="32 threads/warp → 8 warps/block">
            <a:extLst xmlns:a="http://schemas.openxmlformats.org/drawingml/2006/main">
              <a:ext uri="{FF2B5EF4-FFF2-40B4-BE49-F238E27FC236}">
                <a16:creationId xmlns:a16="http://schemas.microsoft.com/office/drawing/2014/main" id="{5DED5A01-D1FC-464B-8A9F-116316FA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32 threads/warp → 8 warps/block</a:t>
            </a:r>
          </a:p>
        </p:txBody>
      </p:sp>
      <p:sp>
        <p:nvSpPr>
          <p:cNvPr id="12" name="One highlighted warp within a 16-wide block">
            <a:extLst xmlns:a="http://schemas.openxmlformats.org/drawingml/2006/main">
              <a:ext uri="{FF2B5EF4-FFF2-40B4-BE49-F238E27FC236}">
                <a16:creationId xmlns:a16="http://schemas.microsoft.com/office/drawing/2014/main" id="{80B1979B-2F30-4D7A-B115-1D0CFEB6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4343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One highlighted warp within a 16-wide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6C74F-8E9A-4108-9428-6C210380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6A103-AAB2-410A-9CFB-C15D0EA6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E0796-7463-4346-B88D-D358898C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4B8D3-5C50-4789-81FD-3F6B7495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FD24B-D90B-404F-ACC5-7C4E6607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44EE9-BBE1-4772-8C96-1EF9562B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4EE6EC-5667-4411-8DE4-FE77FEAA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3279C-7679-4EEA-937F-313907F4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D6DE1-308B-4E6C-A85C-7A09A229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29BF6-5701-4773-A0D8-501AC899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7D7BF-68A7-4884-90E8-BD577511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DCE4BD-77E5-4493-BCC1-FD120510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25D9D3-FB46-47AA-939E-DBA94EEE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8BC420-4558-4878-B3BE-A9EF0533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BC8ABE-B889-41D9-A760-8BFFB06C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77908-50C1-4D6B-A27E-FEA2E7DE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5E00CD-E012-4B0B-BB2C-F7111210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566774-CB71-42AD-B980-4BCFBCB9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F0A5E0-0C73-4219-ADB6-8D3E7D10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1A9A62-F956-4ACF-824B-8F7EC78A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1F2FD2-D99E-4BE3-B2EE-4452975E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8660D2-EDFB-4285-AFCE-7D6478E2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28F602-D40E-48F8-9F3D-CBD2D03E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6C9DC7-840C-4EF4-ACA4-67EB4AF3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3098E6-674C-40D7-B1EC-1364D26F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668937-7B69-45DD-B184-923766AE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93BEFF-0BC4-4A56-93C4-07193E6F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83F7F9-7130-42E9-9E57-A7A6DFD9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D81739-96B0-4473-A68E-CDC505DE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F72B21-BA94-4595-A958-26D5D184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457BA6-5EE8-4391-A8B7-41B4E173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5F953A-3E8B-46B2-86EE-A5174353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5" name="Non-multiple dimensions: ceil-divide the grid and keep ">
            <a:extLst xmlns:a="http://schemas.openxmlformats.org/drawingml/2006/main">
              <a:ext uri="{FF2B5EF4-FFF2-40B4-BE49-F238E27FC236}">
                <a16:creationId xmlns:a16="http://schemas.microsoft.com/office/drawing/2014/main" id="{9104B321-D149-4198-901B-06C2AEB7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Non-multiple dimensions: ceil-divide the grid and keep the bounds guard.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4087CF-AC2B-4644-9B5B-D69D97D8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47" name="A grid specifies logical work; finite SMs schedule its ">
            <a:extLst xmlns:a="http://schemas.openxmlformats.org/drawingml/2006/main">
              <a:ext uri="{FF2B5EF4-FFF2-40B4-BE49-F238E27FC236}">
                <a16:creationId xmlns:a16="http://schemas.microsoft.com/office/drawing/2014/main" id="{50B0AD9A-8BC9-4726-AD3B-E9D628A9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grid specifies logical work; finite SMs schedule its blocks and warps.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307DDA-C1A5-48DE-B955-F8BB45C9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49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5B9113BE-900A-4371-AF01-3B8D5318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50" name="4 / 56">
            <a:extLst xmlns:a="http://schemas.openxmlformats.org/drawingml/2006/main">
              <a:ext uri="{FF2B5EF4-FFF2-40B4-BE49-F238E27FC236}">
                <a16:creationId xmlns:a16="http://schemas.microsoft.com/office/drawing/2014/main" id="{4E76AB45-0E03-4A1B-944E-CE20B8D2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56</a:t>
            </a:r>
          </a:p>
        </p:txBody>
      </p:sp>
    </p:spTree>
    <p:extLst>
      <p:ext uri="{BB962C8B-B14F-4D97-AF65-F5344CB8AC3E}">
        <p14:creationId xmlns:p14="http://schemas.microsoft.com/office/powerpoint/2010/main" val="1670685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FC116-D2FA-4215-9857-367AA4F7EB5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644063" y="2305050"/>
            <a:ext cx="4763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7" name="Task 1(b)">
            <a:extLst xmlns:a="http://schemas.openxmlformats.org/drawingml/2006/main">
              <a:ext uri="{FF2B5EF4-FFF2-40B4-BE49-F238E27FC236}">
                <a16:creationId xmlns:a16="http://schemas.microsoft.com/office/drawing/2014/main" id="{7B6496C7-D202-40C6-B71F-A97E4548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features that affect throughput">
            <a:extLst xmlns:a="http://schemas.openxmlformats.org/drawingml/2006/main">
              <a:ext uri="{FF2B5EF4-FFF2-40B4-BE49-F238E27FC236}">
                <a16:creationId xmlns:a16="http://schemas.microsoft.com/office/drawing/2014/main" id="{54DE0879-CBC6-4590-8562-05593622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features that affect throughput</a:t>
            </a:r>
          </a:p>
        </p:txBody>
      </p:sp>
      <p:sp>
        <p:nvSpPr>
          <p:cNvPr id="3" name="Example: independent brightness channels">
            <a:extLst xmlns:a="http://schemas.openxmlformats.org/drawingml/2006/main">
              <a:ext uri="{FF2B5EF4-FFF2-40B4-BE49-F238E27FC236}">
                <a16:creationId xmlns:a16="http://schemas.microsoft.com/office/drawing/2014/main" id="{666F736A-86A8-4060-A662-EA105443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238875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Example: independent brightness 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4B4D2-51BE-4703-B90C-3CB3BF88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419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int p = 3*(y*W + x);&#10;for (int ch=0; ch&lt;3; ++ch) {&#10;  int">
            <a:extLst xmlns:a="http://schemas.openxmlformats.org/drawingml/2006/main">
              <a:ext uri="{FF2B5EF4-FFF2-40B4-BE49-F238E27FC236}">
                <a16:creationId xmlns:a16="http://schemas.microsoft.com/office/drawing/2014/main" id="{19DC8053-8C5A-4D78-A06D-68EB7B78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619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int p = 3*(y*W + x);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for (int ch=0; ch&lt;3; ++ch) {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v = int(in[p+ch]) + delta;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out[p+ch] = v&lt;0 ? 0 : (v&gt;255 ? 255 : v);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Excerpt after coordinate/bounds checks; wider offsets u">
            <a:extLst xmlns:a="http://schemas.openxmlformats.org/drawingml/2006/main">
              <a:ext uri="{FF2B5EF4-FFF2-40B4-BE49-F238E27FC236}">
                <a16:creationId xmlns:a16="http://schemas.microsoft.com/office/drawing/2014/main" id="{FB62B441-7C37-4D5A-8820-F5963D25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32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Excerpt after coordinate/bounds checks; wider offsets used in full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6D5DA-D055-4910-92B0-C0509BA5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Pending 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005CA-2342-41DB-94CD-AACD7783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667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Streaming multiprocessor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→ execution units</a:t>
            </a:r>
          </a:p>
        </p:txBody>
      </p:sp>
      <p:sp>
        <p:nvSpPr>
          <p:cNvPr id="10" name="SIMT: a warp issues common instructions. Divergent path">
            <a:extLst xmlns:a="http://schemas.openxmlformats.org/drawingml/2006/main">
              <a:ext uri="{FF2B5EF4-FFF2-40B4-BE49-F238E27FC236}">
                <a16:creationId xmlns:a16="http://schemas.microsoft.com/office/drawing/2014/main" id="{EC8D49D7-E246-4C2B-B066-8C5379DD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52925"/>
            <a:ext cx="386715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SIMT: a warp issues common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instructions. Divergent paths can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efficiency.</a:t>
            </a:r>
          </a:p>
        </p:txBody>
      </p:sp>
      <p:sp>
        <p:nvSpPr>
          <p:cNvPr id="11" name="Resident warps hide latency; registers limit residency.">
            <a:extLst xmlns:a="http://schemas.openxmlformats.org/drawingml/2006/main">
              <a:ext uri="{FF2B5EF4-FFF2-40B4-BE49-F238E27FC236}">
                <a16:creationId xmlns:a16="http://schemas.microsoft.com/office/drawing/2014/main" id="{976B39F0-E97A-427F-9657-39A30A17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51510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hide latency; registers limit residency.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Coalescing groups nearby accesses into fewer transactions;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can disrupt read locality.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9AA2E-9718-4811-8FCD-010E3FEF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Concurrency helps only when memory access and resource ">
            <a:extLst xmlns:a="http://schemas.openxmlformats.org/drawingml/2006/main">
              <a:ext uri="{FF2B5EF4-FFF2-40B4-BE49-F238E27FC236}">
                <a16:creationId xmlns:a16="http://schemas.microsoft.com/office/drawing/2014/main" id="{5E36BC73-11A1-470C-B1CD-869CA54B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Concurrency helps only when memory access and resource use support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7BCF4-0F7D-4C62-A87D-F27DA33A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8AB0B7DB-DFD5-4CC5-A80B-3E55B5A2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16" name="5 / 56">
            <a:extLst xmlns:a="http://schemas.openxmlformats.org/drawingml/2006/main">
              <a:ext uri="{FF2B5EF4-FFF2-40B4-BE49-F238E27FC236}">
                <a16:creationId xmlns:a16="http://schemas.microsoft.com/office/drawing/2014/main" id="{16420555-6C37-4424-9513-E28E0F84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56</a:t>
            </a:r>
          </a:p>
        </p:txBody>
      </p:sp>
    </p:spTree>
    <p:extLst>
      <p:ext uri="{BB962C8B-B14F-4D97-AF65-F5344CB8AC3E}">
        <p14:creationId xmlns:p14="http://schemas.microsoft.com/office/powerpoint/2010/main" val="17699351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ask 1(b)">
            <a:extLst xmlns:a="http://schemas.openxmlformats.org/drawingml/2006/main">
              <a:ext uri="{FF2B5EF4-FFF2-40B4-BE49-F238E27FC236}">
                <a16:creationId xmlns:a16="http://schemas.microsoft.com/office/drawing/2014/main" id="{2B4BCAD4-E335-499F-8B71-F5AC3A03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Expected speedup and its limits">
            <a:extLst xmlns:a="http://schemas.openxmlformats.org/drawingml/2006/main">
              <a:ext uri="{FF2B5EF4-FFF2-40B4-BE49-F238E27FC236}">
                <a16:creationId xmlns:a16="http://schemas.microsoft.com/office/drawing/2014/main" id="{0387A972-F4B5-48B3-AD57-9C2AEA88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Expected speedup and its limits</a:t>
            </a:r>
          </a:p>
        </p:txBody>
      </p:sp>
      <p:sp>
        <p:nvSpPr>
          <p:cNvPr id="3" name="Baseline: single CPU thread, same rotation and sampling">
            <a:extLst xmlns:a="http://schemas.openxmlformats.org/drawingml/2006/main">
              <a:ext uri="{FF2B5EF4-FFF2-40B4-BE49-F238E27FC236}">
                <a16:creationId xmlns:a16="http://schemas.microsoft.com/office/drawing/2014/main" id="{67B40B22-CB18-4AF7-B9F0-510DF8DB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Baseline: single CPU thread, same rotation and sampling</a:t>
            </a:r>
          </a:p>
        </p:txBody>
      </p:sp>
      <p:sp>
        <p:nvSpPr>
          <p:cNvPr id="4" name="Also compare a multithreaded CPU; identical output and ">
            <a:extLst xmlns:a="http://schemas.openxmlformats.org/drawingml/2006/main">
              <a:ext uri="{FF2B5EF4-FFF2-40B4-BE49-F238E27FC236}">
                <a16:creationId xmlns:a16="http://schemas.microsoft.com/office/drawing/2014/main" id="{8998CBFA-76BD-42C4-A407-B5679C9A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Also compare a multithreaded CPU; identical output and timing boundaries.</a:t>
            </a:r>
          </a:p>
        </p:txBody>
      </p:sp>
      <p:sp>
        <p:nvSpPr>
          <p:cNvPr id="5" name="Speedup = TCPU / TGPU,total">
            <a:extLst xmlns:a="http://schemas.openxmlformats.org/drawingml/2006/main">
              <a:ext uri="{FF2B5EF4-FFF2-40B4-BE49-F238E27FC236}">
                <a16:creationId xmlns:a16="http://schemas.microsoft.com/office/drawing/2014/main" id="{4FCE0730-8FFC-4AF7-B03D-FE2D3530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439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= TCPU / TGPU,total</a:t>
            </a:r>
          </a:p>
        </p:txBody>
      </p:sp>
      <p:sp>
        <p:nvSpPr>
          <p:cNvPr id="6" name="TGPU,total = allocation/setup + H2D + kernel + D2H">
            <a:extLst xmlns:a="http://schemas.openxmlformats.org/drawingml/2006/main">
              <a:ext uri="{FF2B5EF4-FFF2-40B4-BE49-F238E27FC236}">
                <a16:creationId xmlns:a16="http://schemas.microsoft.com/office/drawing/2014/main" id="{3D81C9EE-E3CD-43EC-9F66-35BE1CC1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TGPU,total = allocation/setup + H2D + kernel + D2H</a:t>
            </a:r>
          </a:p>
        </p:txBody>
      </p:sp>
      <p:sp>
        <p:nvSpPr>
          <p:cNvPr id="7" name="Many GPU execution units and high device bandwidth favo">
            <a:extLst xmlns:a="http://schemas.openxmlformats.org/drawingml/2006/main">
              <a:ext uri="{FF2B5EF4-FFF2-40B4-BE49-F238E27FC236}">
                <a16:creationId xmlns:a16="http://schemas.microsoft.com/office/drawing/2014/main" id="{3303D84A-F699-43B2-B980-04A12326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197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Many GPU execution units and high device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favor parallel throughput. Large or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images amortize setup; gathered reads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limit bandwidth.</a:t>
            </a:r>
          </a:p>
        </p:txBody>
      </p:sp>
      <p:sp>
        <p:nvSpPr>
          <p:cNvPr id="8" name="Week 7: S = 1 / (s + (1−s)/a). s is the unchanged seria">
            <a:extLst xmlns:a="http://schemas.openxmlformats.org/drawingml/2006/main">
              <a:ext uri="{FF2B5EF4-FFF2-40B4-BE49-F238E27FC236}">
                <a16:creationId xmlns:a16="http://schemas.microsoft.com/office/drawing/2014/main" id="{F61B92F6-7839-44A6-B601-6A0C4DC9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1625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Week 7: S = 1 / (s + (1−s)/a). s is the unchanged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share; a accelerates the remainder. s = 0.20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gives a 5× ideal ceiling before added transfers.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Theoretical, not measured.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8D28B-7697-4DE2-9CAD-76E1C933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0" name="Expect gains for large or resident workloads; measure t">
            <a:extLst xmlns:a="http://schemas.openxmlformats.org/drawingml/2006/main">
              <a:ext uri="{FF2B5EF4-FFF2-40B4-BE49-F238E27FC236}">
                <a16:creationId xmlns:a16="http://schemas.microsoft.com/office/drawing/2014/main" id="{56CB2DD3-E153-4929-98EB-759A7B79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 gains for large or resident workloads; measure the whole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30B18-B6D3-4522-97B4-22F22B0E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3FE3D4F1-5548-4A31-A922-2875B613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3" name="6 / 56">
            <a:extLst xmlns:a="http://schemas.openxmlformats.org/drawingml/2006/main">
              <a:ext uri="{FF2B5EF4-FFF2-40B4-BE49-F238E27FC236}">
                <a16:creationId xmlns:a16="http://schemas.microsoft.com/office/drawing/2014/main" id="{D5A38A5B-1B3D-4DFD-BD32-A124A5C6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56</a:t>
            </a:r>
          </a:p>
        </p:txBody>
      </p:sp>
    </p:spTree>
    <p:extLst>
      <p:ext uri="{BB962C8B-B14F-4D97-AF65-F5344CB8AC3E}">
        <p14:creationId xmlns:p14="http://schemas.microsoft.com/office/powerpoint/2010/main" val="8050622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53E0B-2A6A-4424-B74F-0E85BED065F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86100" y="4095750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14FAA-8C42-4F3E-B9F4-1D5333EF720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3431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E32A2-EA65-40D1-88DD-82C7A73FF8C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57475" y="23431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23" name="Task 1(c)">
            <a:extLst xmlns:a="http://schemas.openxmlformats.org/drawingml/2006/main">
              <a:ext uri="{FF2B5EF4-FFF2-40B4-BE49-F238E27FC236}">
                <a16:creationId xmlns:a16="http://schemas.microsoft.com/office/drawing/2014/main" id="{5BC8C886-8583-4D98-B5AE-1392B45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1(c)</a:t>
            </a:r>
          </a:p>
        </p:txBody>
      </p:sp>
      <p:sp>
        <p:nvSpPr>
          <p:cNvPr id="2" name="GPUDirect Storage and rotation">
            <a:extLst xmlns:a="http://schemas.openxmlformats.org/drawingml/2006/main">
              <a:ext uri="{FF2B5EF4-FFF2-40B4-BE49-F238E27FC236}">
                <a16:creationId xmlns:a16="http://schemas.microsoft.com/office/drawing/2014/main" id="{D4F5CD7F-FF58-4C9F-8826-E50569AB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GPUDirect Storage and rotation</a:t>
            </a:r>
          </a:p>
        </p:txBody>
      </p:sp>
      <p:sp>
        <p:nvSpPr>
          <p:cNvPr id="3" name="Conventional storage path">
            <a:extLst xmlns:a="http://schemas.openxmlformats.org/drawingml/2006/main">
              <a:ext uri="{FF2B5EF4-FFF2-40B4-BE49-F238E27FC236}">
                <a16:creationId xmlns:a16="http://schemas.microsoft.com/office/drawing/2014/main" id="{ECB1E1B9-E956-4758-A4E5-A751D2AE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storage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60930-0E4F-4864-A71A-22D5B9B0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047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87138-7AA5-4280-BAAC-D05467EA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588B2-F726-4A5C-9383-ED0D441B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71675"/>
            <a:ext cx="2305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9" name="storage read">
            <a:extLst xmlns:a="http://schemas.openxmlformats.org/drawingml/2006/main">
              <a:ext uri="{FF2B5EF4-FFF2-40B4-BE49-F238E27FC236}">
                <a16:creationId xmlns:a16="http://schemas.microsoft.com/office/drawing/2014/main" id="{6DE45BC9-9382-4AAF-B8D6-48A5D88C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5240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 read</a:t>
            </a:r>
          </a:p>
        </p:txBody>
      </p:sp>
      <p:sp>
        <p:nvSpPr>
          <p:cNvPr id="10" name="H2D / PCIe">
            <a:extLst xmlns:a="http://schemas.openxmlformats.org/drawingml/2006/main">
              <a:ext uri="{FF2B5EF4-FFF2-40B4-BE49-F238E27FC236}">
                <a16:creationId xmlns:a16="http://schemas.microsoft.com/office/drawing/2014/main" id="{B75A46E6-EB53-4E1A-9EBA-FD89EDBD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1628775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 / PCIe</a:t>
            </a:r>
          </a:p>
        </p:txBody>
      </p:sp>
      <p:sp>
        <p:nvSpPr>
          <p:cNvPr id="11" name="GDS direct path (supported configuration)">
            <a:extLst xmlns:a="http://schemas.openxmlformats.org/drawingml/2006/main">
              <a:ext uri="{FF2B5EF4-FFF2-40B4-BE49-F238E27FC236}">
                <a16:creationId xmlns:a16="http://schemas.microsoft.com/office/drawing/2014/main" id="{2C3786AD-65AF-4011-A2CC-2001C9D3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6200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GDS direct path (supported configuration)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35D65-29BE-46DC-8EFA-1F27E549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Storage-side DMA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NVMe / 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E699F-B5EA-4F56-BDF7-B5FED33D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2305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15" name="PCIe data path bypasses host staging">
            <a:extLst xmlns:a="http://schemas.openxmlformats.org/drawingml/2006/main">
              <a:ext uri="{FF2B5EF4-FFF2-40B4-BE49-F238E27FC236}">
                <a16:creationId xmlns:a16="http://schemas.microsoft.com/office/drawing/2014/main" id="{B5C38BCE-2714-4FFC-A575-862665D2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724275"/>
            <a:ext cx="49720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data path bypasses host staging</a:t>
            </a:r>
          </a:p>
        </p:txBody>
      </p:sp>
      <p:sp>
        <p:nvSpPr>
          <p:cNvPr id="16" name="CPU issues cuFile I/O; compatibility fallback may stage">
            <a:extLst xmlns:a="http://schemas.openxmlformats.org/drawingml/2006/main">
              <a:ext uri="{FF2B5EF4-FFF2-40B4-BE49-F238E27FC236}">
                <a16:creationId xmlns:a16="http://schemas.microsoft.com/office/drawing/2014/main" id="{E5E37A4A-E3A4-4CD1-B418-E681A3A6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issues cuFile I/O; compatibility fallback may stage through RAM.</a:t>
            </a:r>
          </a:p>
        </p:txBody>
      </p:sp>
      <p:sp>
        <p:nvSpPr>
          <p:cNvPr id="17" name="CPU-decoded / already-in-RAM image: little benefit. Lar">
            <a:extLst xmlns:a="http://schemas.openxmlformats.org/drawingml/2006/main">
              <a:ext uri="{FF2B5EF4-FFF2-40B4-BE49-F238E27FC236}">
                <a16:creationId xmlns:a16="http://schemas.microsoft.com/office/drawing/2014/main" id="{8C8AED99-694E-42A4-8897-DBE07E0B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CPU-decoded / already-in-RAM image: little benefit. Large storage-bound batches with GPU-ready data: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possible benefit, verify direct path and total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0734E-EBE6-4E9E-81AC-9E17B7E9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GDS can reduce storage staging; it does not accelerate ">
            <a:extLst xmlns:a="http://schemas.openxmlformats.org/drawingml/2006/main">
              <a:ext uri="{FF2B5EF4-FFF2-40B4-BE49-F238E27FC236}">
                <a16:creationId xmlns:a16="http://schemas.microsoft.com/office/drawing/2014/main" id="{2B0CA583-09DA-47F3-82B5-726A8D2E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can reduce storage staging; it does not accelerate rotation arithmetic.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47DED-0FFD-4DBF-97E5-AECC1CD1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6B62A073-0C7C-4EE2-B62E-195933AB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22" name="7 / 56">
            <a:extLst xmlns:a="http://schemas.openxmlformats.org/drawingml/2006/main">
              <a:ext uri="{FF2B5EF4-FFF2-40B4-BE49-F238E27FC236}">
                <a16:creationId xmlns:a16="http://schemas.microsoft.com/office/drawing/2014/main" id="{2C846FFC-4274-4FE8-BD59-1BE52E91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56</a:t>
            </a:r>
          </a:p>
        </p:txBody>
      </p:sp>
    </p:spTree>
    <p:extLst>
      <p:ext uri="{BB962C8B-B14F-4D97-AF65-F5344CB8AC3E}">
        <p14:creationId xmlns:p14="http://schemas.microsoft.com/office/powerpoint/2010/main" val="103728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5984A-2BBD-477D-A22C-1531042E132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6096000" y="2857500"/>
            <a:ext cx="400050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3D8C4-E72D-40A2-8DB8-8766A0DCB5A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EC1DD-E0CD-4A35-B58D-553CB7E3C150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095500" y="2857500"/>
            <a:ext cx="400050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8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9F402502-DEFF-4A2D-9185-9268A264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87EBBB99-C4C7-4C4B-852E-EA5398C0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3ED09-300C-46CD-8516-4E5260FD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9672F-334C-4919-BC06-6FE73F74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53F48-C506-46A9-B8AA-2E86157D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6D677-5D82-4C2B-93BE-3E95EE98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 / averaging → consistent model update</a:t>
            </a:r>
          </a:p>
        </p:txBody>
      </p:sp>
      <p:sp>
        <p:nvSpPr>
          <p:cNvPr id="10" name="Interconnect: synchronization, latency and bandwidth co">
            <a:extLst xmlns:a="http://schemas.openxmlformats.org/drawingml/2006/main">
              <a:ext uri="{FF2B5EF4-FFF2-40B4-BE49-F238E27FC236}">
                <a16:creationId xmlns:a16="http://schemas.microsoft.com/office/drawing/2014/main" id="{0ECEA74D-3463-406F-9ECB-B87A86D2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 synchronization, latency and bandwidth costs</a:t>
            </a:r>
          </a:p>
        </p:txBody>
      </p:sp>
      <p:sp>
        <p:nvSpPr>
          <p:cNvPr id="11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934BE30F-A523-47B0-B0B1-C884AA86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2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C5016D05-7442-49B3-BC8B-B378F37A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F955D-15C5-469A-AD89-BA3A98FE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7E5031BE-34A3-4C5B-BB75-EA7C0514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75B33-C0AC-4C26-918B-44172AB7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BAA37B91-64FF-48F4-86D5-E7E71AC7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17" name="8 / 56">
            <a:extLst xmlns:a="http://schemas.openxmlformats.org/drawingml/2006/main">
              <a:ext uri="{FF2B5EF4-FFF2-40B4-BE49-F238E27FC236}">
                <a16:creationId xmlns:a16="http://schemas.microsoft.com/office/drawing/2014/main" id="{3CFB1D2D-4CDE-4F58-9098-38C1E191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56</a:t>
            </a:r>
          </a:p>
        </p:txBody>
      </p:sp>
    </p:spTree>
    <p:extLst>
      <p:ext uri="{BB962C8B-B14F-4D97-AF65-F5344CB8AC3E}">
        <p14:creationId xmlns:p14="http://schemas.microsoft.com/office/powerpoint/2010/main" val="12801166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3CDDA5E9-1DDE-42EF-82EB-A7308534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4B985F63-CE57-4D1E-B21C-AF285B68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2A20C956-703C-4587-B7D5-F5E3E88F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816E5774-154C-4214-9229-E303B87D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BD94803-B9FB-4EF7-AFE6-3A10A31CE952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ddc1dae10d44a7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CBAD7BB-4C38-444D-9E6A-9F21BF22799C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592112455046d4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969D2DB6-3032-4B9A-965B-A74C0118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3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0EAD26F0-404F-4876-822E-CF6121D3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[13] emphasizes efficiency; water research [12]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35777-E3C1-4EC2-A843-3487A5EC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150FF946-A41D-4AB0-A103-152D8EC5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[12] Li et al. 2025 revision: water impacts; [13] Schwartz et al. 2019: efficiency reporting</a:t>
            </a:r>
          </a:p>
        </p:txBody>
      </p:sp>
      <p:sp>
        <p:nvSpPr>
          <p:cNvPr id="11" name="9 / 56">
            <a:extLst xmlns:a="http://schemas.openxmlformats.org/drawingml/2006/main">
              <a:ext uri="{FF2B5EF4-FFF2-40B4-BE49-F238E27FC236}">
                <a16:creationId xmlns:a16="http://schemas.microsoft.com/office/drawing/2014/main" id="{8E4EAE98-2302-4C0D-A175-DA9ACA2F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56</a:t>
            </a:r>
          </a:p>
        </p:txBody>
      </p:sp>
    </p:spTree>
    <p:extLst>
      <p:ext uri="{BB962C8B-B14F-4D97-AF65-F5344CB8AC3E}">
        <p14:creationId xmlns:p14="http://schemas.microsoft.com/office/powerpoint/2010/main" val="1139588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63152-6006-441E-9272-558434DC3B9F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88880-9D6E-4128-B3C9-AE448631A26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AF34E575-B00C-41C8-960F-F9578E69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797B5220-FAFD-4355-B0CB-D94E364E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72C24158-4E88-4A34-92AA-0E3B3B97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0491CF4F-F3A8-471F-B1B3-98D4E85D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C4CF8-46C8-47F0-97D5-CBAAFEFC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25C9B-D605-4A50-AC9E-8A359806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4F7DE-2DFF-43ED-9F8E-35EAF3E9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2BADA-AF26-4ECB-9E49-C3F997BD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4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22EB887E-C9CA-46D8-909A-1F815BBD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[14]: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5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8504AF95-D399-4FB5-B0F4-E74D2E33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62475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[15]: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HPC does not itself establish or cause model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bias.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A6349D75-CF08-4DC9-8B60-82645602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0B4B3-709F-4CBD-B67B-8BD1C042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421A633B-3649-41E5-A186-FEEFEA76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FF834-2C3E-4ACC-B0D0-1565BAD3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4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7FCEEBC6-BBA0-4B16-8334-17645570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[15] Gallegos et al. 2024: fairness evaluation; [18] OECD: rights, fairness and accountability; [19]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10 / 56">
            <a:extLst xmlns:a="http://schemas.openxmlformats.org/drawingml/2006/main">
              <a:ext uri="{FF2B5EF4-FFF2-40B4-BE49-F238E27FC236}">
                <a16:creationId xmlns:a16="http://schemas.microsoft.com/office/drawing/2014/main" id="{5C832C26-0969-422F-BD71-384F944A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56</a:t>
            </a:r>
          </a:p>
        </p:txBody>
      </p:sp>
    </p:spTree>
    <p:extLst>
      <p:ext uri="{BB962C8B-B14F-4D97-AF65-F5344CB8AC3E}">
        <p14:creationId xmlns:p14="http://schemas.microsoft.com/office/powerpoint/2010/main" val="8641031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B9EA1224-A660-42C3-851F-FB9E25EF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70E67E69-AB7F-41B8-B33B-C638C35E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52036-7FAF-4C33-B6A9-E195EECD4950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[16]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BD7AA942-6022-443C-8035-C55C1D81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BFBB3325-5F2A-4EE9-AEB3-10759B75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EC5BA39E-0A47-4058-812E-7A380FA5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AED90-3027-4FB4-AF2C-816ED51B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7EF50FFD-88EB-4662-B36C-D61C1497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BA618-E849-4BF9-922A-F4560310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D1D964C1-AAF8-42C8-908F-AA6306D0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</a:t>
            </a:r>
          </a:p>
        </p:txBody>
      </p:sp>
      <p:sp>
        <p:nvSpPr>
          <p:cNvPr id="11" name="11 / 56">
            <a:extLst xmlns:a="http://schemas.openxmlformats.org/drawingml/2006/main">
              <a:ext uri="{FF2B5EF4-FFF2-40B4-BE49-F238E27FC236}">
                <a16:creationId xmlns:a16="http://schemas.microsoft.com/office/drawing/2014/main" id="{B97F5BBF-257B-4404-964C-D6F1B3B1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56</a:t>
            </a:r>
          </a:p>
        </p:txBody>
      </p:sp>
    </p:spTree>
    <p:extLst>
      <p:ext uri="{BB962C8B-B14F-4D97-AF65-F5344CB8AC3E}">
        <p14:creationId xmlns:p14="http://schemas.microsoft.com/office/powerpoint/2010/main" val="10022231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084E9-C3E8-4013-B7A1-483D3E2F1C0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9366C-4413-4D67-887C-88700E96162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7EA0A550-BAB6-4E42-9F6A-015CAB89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E2F37659-0181-4267-8EBA-C1045ED3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B8488-9A41-4948-B0D2-D1EECA6E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E2CE9-A039-4F2E-87FC-3C7C0102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FEF26-FC0B-488E-B59A-DF59178F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3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BAAE7642-5754-4343-A48C-DDEED1F1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[13] • Carbon-aware scheduling: flexible work [17]</a:t>
            </a:r>
          </a:p>
        </p:txBody>
      </p:sp>
      <p:sp>
        <p:nvSpPr>
          <p:cNvPr id="9" name="OECD: values and rights [18]  •  NIST: Govern → Map → M">
            <a:extLst xmlns:a="http://schemas.openxmlformats.org/drawingml/2006/main">
              <a:ext uri="{FF2B5EF4-FFF2-40B4-BE49-F238E27FC236}">
                <a16:creationId xmlns:a16="http://schemas.microsoft.com/office/drawing/2014/main" id="{6B188798-362B-45E8-91DA-5D827313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[18] • NIST: Govern → Map → Measure → Manage [19]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7885E718-D14B-4DAF-A0AC-A335827C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06F55275-408D-4488-BECB-6CAE53E8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94BB9-10DB-4F52-9684-041E1543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D91F7286-494A-4C26-94AB-1EDC8F08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5B687-3911-4212-98EB-A3FAF126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FDC82CBC-0807-4CB5-B94A-6D805CD5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12 / 56">
            <a:extLst xmlns:a="http://schemas.openxmlformats.org/drawingml/2006/main">
              <a:ext uri="{FF2B5EF4-FFF2-40B4-BE49-F238E27FC236}">
                <a16:creationId xmlns:a16="http://schemas.microsoft.com/office/drawing/2014/main" id="{E4BBB0DA-0AC3-48AE-BD0F-50584780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56</a:t>
            </a:r>
          </a:p>
        </p:txBody>
      </p:sp>
    </p:spTree>
    <p:extLst>
      <p:ext uri="{BB962C8B-B14F-4D97-AF65-F5344CB8AC3E}">
        <p14:creationId xmlns:p14="http://schemas.microsoft.com/office/powerpoint/2010/main" val="18926550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10030FFD-2FE1-45BD-8D75-06731F92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10B0A919-9FB2-495F-8745-2A9608A8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CA2591E5-4524-442D-ADC2-69955C24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E0A37DDF-2FB6-45DC-8F0A-98C5738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08DA1A54-5024-4050-8772-5630E7B2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09EAF285-645E-4E21-9844-D4AB6914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3A9ABDD2-6DCD-4477-8244-E3447AF6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03F48B59-864E-4E0E-A2C9-8FF2B30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BD69068A-BCF6-485C-A2CF-2495293B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I disclosure/prompt records are part of">
            <a:extLst xmlns:a="http://schemas.openxmlformats.org/drawingml/2006/main">
              <a:ext uri="{FF2B5EF4-FFF2-40B4-BE49-F238E27FC236}">
                <a16:creationId xmlns:a16="http://schemas.microsoft.com/office/drawing/2014/main" id="{BE4586D8-2EF8-4AB3-87CF-5C82FA43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AI disclosure/prompt records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of 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C415A-CFF0-48C1-B3EB-9F2EADEC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FE8AF-28C8-40BD-81D9-29EECCB3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7085F5A-27F0-497E-A66B-B302289B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13 / 56">
            <a:extLst xmlns:a="http://schemas.openxmlformats.org/drawingml/2006/main">
              <a:ext uri="{FF2B5EF4-FFF2-40B4-BE49-F238E27FC236}">
                <a16:creationId xmlns:a16="http://schemas.microsoft.com/office/drawing/2014/main" id="{14AA70F5-A4BA-4DFE-95B6-3A18F1F2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56</a:t>
            </a:r>
          </a:p>
        </p:txBody>
      </p:sp>
    </p:spTree>
    <p:extLst>
      <p:ext uri="{BB962C8B-B14F-4D97-AF65-F5344CB8AC3E}">
        <p14:creationId xmlns:p14="http://schemas.microsoft.com/office/powerpoint/2010/main" val="13356531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">
            <a:extLst xmlns:a="http://schemas.openxmlformats.org/drawingml/2006/main">
              <a:ext uri="{FF2B5EF4-FFF2-40B4-BE49-F238E27FC236}">
                <a16:creationId xmlns:a16="http://schemas.microsoft.com/office/drawing/2014/main" id="{8701B74A-05A4-4917-B35B-7D5210FD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</a:t>
            </a:r>
          </a:p>
        </p:txBody>
      </p:sp>
      <p:sp>
        <p:nvSpPr>
          <p:cNvPr id="2" name="Rotation coordinates and sampling">
            <a:extLst xmlns:a="http://schemas.openxmlformats.org/drawingml/2006/main">
              <a:ext uri="{FF2B5EF4-FFF2-40B4-BE49-F238E27FC236}">
                <a16:creationId xmlns:a16="http://schemas.microsoft.com/office/drawing/2014/main" id="{E9595D18-A460-45AC-A892-4C4CDE04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coordinates and sampling</a:t>
            </a:r>
          </a:p>
        </p:txBody>
      </p:sp>
      <p:sp>
        <p:nvSpPr>
          <p:cNvPr id="3" name="Coordinate convention">
            <a:extLst xmlns:a="http://schemas.openxmlformats.org/drawingml/2006/main">
              <a:ext uri="{FF2B5EF4-FFF2-40B4-BE49-F238E27FC236}">
                <a16:creationId xmlns:a16="http://schemas.microsoft.com/office/drawing/2014/main" id="{9104652C-AB13-4109-BB8D-072D4264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Coordinate convention</a:t>
            </a:r>
          </a:p>
        </p:txBody>
      </p:sp>
      <p:sp>
        <p:nvSpPr>
          <p:cNvPr id="4" name="Input/output: contiguous 8-bit RGB; positive width W an">
            <a:extLst xmlns:a="http://schemas.openxmlformats.org/drawingml/2006/main">
              <a:ext uri="{FF2B5EF4-FFF2-40B4-BE49-F238E27FC236}">
                <a16:creationId xmlns:a16="http://schemas.microsoft.com/office/drawing/2014/main" id="{3A49D6B5-6F1C-464C-8660-018945E2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Input/output: contiguous 8-bit RGB; positive width 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height H; x points right and y points down. Input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output buffers are distinct.</a:t>
            </a:r>
          </a:p>
        </p:txBody>
      </p:sp>
      <p:sp>
        <p:nvSpPr>
          <p:cNvPr id="5" name="Rotate around cx = (W − 1)/2 and cy = (H − 1)/2. Positi">
            <a:extLst xmlns:a="http://schemas.openxmlformats.org/drawingml/2006/main">
              <a:ext uri="{FF2B5EF4-FFF2-40B4-BE49-F238E27FC236}">
                <a16:creationId xmlns:a16="http://schemas.microsoft.com/office/drawing/2014/main" id="{90D39E3A-7307-437E-A2B4-BE22C103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Rotate around cx = (W − 1)/2 and cy = (H − 1)/2.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is visually counterclockwise; the host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supplies c = cos θ and s = sin θ in radians.</a:t>
            </a:r>
          </a:p>
        </p:txBody>
      </p:sp>
      <p:sp>
        <p:nvSpPr>
          <p:cNvPr id="6" name="Forward image-coordinate rotation uses [c s; −s c]. Inv">
            <a:extLst xmlns:a="http://schemas.openxmlformats.org/drawingml/2006/main">
              <a:ext uri="{FF2B5EF4-FFF2-40B4-BE49-F238E27FC236}">
                <a16:creationId xmlns:a16="http://schemas.microsoft.com/office/drawing/2014/main" id="{69E4B6D0-D2C8-4C9E-A071-10AD6F77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image-coordinate rotation uses [c s; −s c].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Inverting it gives source offsets [c −s; s c] ×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offsets, then restores the center.</a:t>
            </a:r>
          </a:p>
        </p:txBody>
      </p:sp>
      <p:sp>
        <p:nvSpPr>
          <p:cNvPr id="7" name="Deliberate design choices">
            <a:extLst xmlns:a="http://schemas.openxmlformats.org/drawingml/2006/main">
              <a:ext uri="{FF2B5EF4-FFF2-40B4-BE49-F238E27FC236}">
                <a16:creationId xmlns:a16="http://schemas.microsoft.com/office/drawing/2014/main" id="{832F7ED0-8D51-4C5B-8F5A-6DEB1DE3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Deliberate design choices</a:t>
            </a:r>
          </a:p>
        </p:txBody>
      </p:sp>
      <p:sp>
        <p:nvSpPr>
          <p:cNvPr id="8" name="Nearest-neighbour indices: ix = floor(sx + 0.5), iy = f">
            <a:extLst xmlns:a="http://schemas.openxmlformats.org/drawingml/2006/main">
              <a:ext uri="{FF2B5EF4-FFF2-40B4-BE49-F238E27FC236}">
                <a16:creationId xmlns:a16="http://schemas.microsoft.com/office/drawing/2014/main" id="{2DAEF84D-CB4B-4AE0-8CC9-184F7244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indices: ix = floor(sx + 0.5), iy =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floor(sy + 0.5). Copy three channels if the rounded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indices are in bounds; otherwise write black.</a:t>
            </a:r>
          </a:p>
        </p:txBody>
      </p:sp>
      <p:sp>
        <p:nvSpPr>
          <p:cNvPr id="9" name="The fixed W × H canvas can crop rotated corners. Neares">
            <a:extLst xmlns:a="http://schemas.openxmlformats.org/drawingml/2006/main">
              <a:ext uri="{FF2B5EF4-FFF2-40B4-BE49-F238E27FC236}">
                <a16:creationId xmlns:a16="http://schemas.microsoft.com/office/drawing/2014/main" id="{6088F2AA-AF7E-4B67-AE40-1DC5C98D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fixed W × H canvas can crop rotated corners.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sampling can alias; bilinear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interpolation improves smoothness but adds 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reads/arithmetic.</a:t>
            </a:r>
          </a:p>
        </p:txBody>
      </p:sp>
      <p:sp>
        <p:nvSpPr>
          <p:cNvPr id="10" name="Forward scatter can leave holes or competing writes aft">
            <a:extLst xmlns:a="http://schemas.openxmlformats.org/drawingml/2006/main">
              <a:ext uri="{FF2B5EF4-FFF2-40B4-BE49-F238E27FC236}">
                <a16:creationId xmlns:a16="http://schemas.microsoft.com/office/drawing/2014/main" id="{97835DDF-FD75-4C1A-8876-19AADAFA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scatter can leave holes or competing writes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after rounding. Inverse gathering assigns every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exactly one writer. NPP offers library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 explicit interpolation/ROI choices.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6216C-E932-48D5-9522-FB6F67C6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5B1BC-B18B-4A0A-9958-1D0B73D7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] Topic 8: GPU architecture and CUDA; [20] N">
            <a:extLst xmlns:a="http://schemas.openxmlformats.org/drawingml/2006/main">
              <a:ext uri="{FF2B5EF4-FFF2-40B4-BE49-F238E27FC236}">
                <a16:creationId xmlns:a16="http://schemas.microsoft.com/office/drawing/2014/main" id="{8BDA1562-F7D4-4AF8-886E-B08B2DBD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[20] NVIDIA NPP: library alternative</a:t>
            </a:r>
          </a:p>
        </p:txBody>
      </p:sp>
      <p:sp>
        <p:nvSpPr>
          <p:cNvPr id="14" name="14 / 56">
            <a:extLst xmlns:a="http://schemas.openxmlformats.org/drawingml/2006/main">
              <a:ext uri="{FF2B5EF4-FFF2-40B4-BE49-F238E27FC236}">
                <a16:creationId xmlns:a16="http://schemas.microsoft.com/office/drawing/2014/main" id="{CF11E2AC-3B38-497A-AF7E-F949662B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56</a:t>
            </a:r>
          </a:p>
        </p:txBody>
      </p:sp>
    </p:spTree>
    <p:extLst>
      <p:ext uri="{BB962C8B-B14F-4D97-AF65-F5344CB8AC3E}">
        <p14:creationId xmlns:p14="http://schemas.microsoft.com/office/powerpoint/2010/main" val="12996745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A2">
            <a:extLst xmlns:a="http://schemas.openxmlformats.org/drawingml/2006/main">
              <a:ext uri="{FF2B5EF4-FFF2-40B4-BE49-F238E27FC236}">
                <a16:creationId xmlns:a16="http://schemas.microsoft.com/office/drawing/2014/main" id="{17C122CB-FB1A-429A-8D8F-B861DA18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A2</a:t>
            </a:r>
          </a:p>
        </p:txBody>
      </p:sp>
      <p:sp>
        <p:nvSpPr>
          <p:cNvPr id="2" name="A 90-degree rotation example">
            <a:extLst xmlns:a="http://schemas.openxmlformats.org/drawingml/2006/main">
              <a:ext uri="{FF2B5EF4-FFF2-40B4-BE49-F238E27FC236}">
                <a16:creationId xmlns:a16="http://schemas.microsoft.com/office/drawing/2014/main" id="{3E2DF45D-49AB-478B-8FB3-335FF56C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90-degree rotation example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BEF99126-8D21-448C-B571-2324789A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7098B-0A20-411B-8219-22D725B22FE1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utput: 90° counterclockwise">
            <a:extLst xmlns:a="http://schemas.openxmlformats.org/drawingml/2006/main">
              <a:ext uri="{FF2B5EF4-FFF2-40B4-BE49-F238E27FC236}">
                <a16:creationId xmlns:a16="http://schemas.microsoft.com/office/drawing/2014/main" id="{C46995EF-4A0B-4838-A2EB-9FD35231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Output: 90° counterclockwise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998BF-2E22-4D35-966B-D3ED151CED77}"/>
              </a:ext>
            </a:extLst>
          </p:cNvPr>
          <p:cNvGraphicFramePr/>
          <p:nvPr/>
        </p:nvGraphicFramePr>
        <p:xfrm>
          <a:off xmlns:a="http://schemas.openxmlformats.org/drawingml/2006/main" x="756285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θ = 90°&#10;c = 0, s = 1&#10;center = (2,2)">
            <a:extLst xmlns:a="http://schemas.openxmlformats.org/drawingml/2006/main">
              <a:ext uri="{FF2B5EF4-FFF2-40B4-BE49-F238E27FC236}">
                <a16:creationId xmlns:a16="http://schemas.microsoft.com/office/drawing/2014/main" id="{49D8F466-846B-4F9E-8447-DD116259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057400" cy="95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θ = 90°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0, s = 1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center = (2,2)</a:t>
            </a:r>
          </a:p>
        </p:txBody>
      </p:sp>
      <p:sp>
        <p:nvSpPr>
          <p:cNvPr id="8" name="Output (0,1) → source (3,0) → value 3">
            <a:extLst xmlns:a="http://schemas.openxmlformats.org/drawingml/2006/main">
              <a:ext uri="{FF2B5EF4-FFF2-40B4-BE49-F238E27FC236}">
                <a16:creationId xmlns:a16="http://schemas.microsoft.com/office/drawing/2014/main" id="{C141F8BB-08D4-4C9A-82A7-B62A4D6D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(0,1) → source (3,0) → value 3</a:t>
            </a:r>
          </a:p>
        </p:txBody>
      </p:sp>
      <p:sp>
        <p:nvSpPr>
          <p:cNvPr id="9" name="The matrix values are illustrative pixel identifiers, n">
            <a:extLst xmlns:a="http://schemas.openxmlformats.org/drawingml/2006/main">
              <a:ext uri="{FF2B5EF4-FFF2-40B4-BE49-F238E27FC236}">
                <a16:creationId xmlns:a16="http://schemas.microsoft.com/office/drawing/2014/main" id="{C91BA42E-BBAD-4047-9056-51F86369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 matrix values are illustrative pixel identifiers, not channel intensities.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78F0A-9641-418A-8B45-C7E02830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3EFC817-AAA5-4259-A123-C98397FC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15 / 56">
            <a:extLst xmlns:a="http://schemas.openxmlformats.org/drawingml/2006/main">
              <a:ext uri="{FF2B5EF4-FFF2-40B4-BE49-F238E27FC236}">
                <a16:creationId xmlns:a16="http://schemas.microsoft.com/office/drawing/2014/main" id="{E3334888-4813-469A-BD03-57A3A56F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56</a:t>
            </a:r>
          </a:p>
        </p:txBody>
      </p:sp>
    </p:spTree>
    <p:extLst>
      <p:ext uri="{BB962C8B-B14F-4D97-AF65-F5344CB8AC3E}">
        <p14:creationId xmlns:p14="http://schemas.microsoft.com/office/powerpoint/2010/main" val="535065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3">
            <a:extLst xmlns:a="http://schemas.openxmlformats.org/drawingml/2006/main">
              <a:ext uri="{FF2B5EF4-FFF2-40B4-BE49-F238E27FC236}">
                <a16:creationId xmlns:a16="http://schemas.microsoft.com/office/drawing/2014/main" id="{B76FB739-29EE-455F-8E7A-802CDE27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A3</a:t>
            </a:r>
          </a:p>
        </p:txBody>
      </p:sp>
      <p:sp>
        <p:nvSpPr>
          <p:cNvPr id="2" name="Crafted CUDA example: RGB brightness">
            <a:extLst xmlns:a="http://schemas.openxmlformats.org/drawingml/2006/main">
              <a:ext uri="{FF2B5EF4-FFF2-40B4-BE49-F238E27FC236}">
                <a16:creationId xmlns:a16="http://schemas.microsoft.com/office/drawing/2014/main" id="{FA7D0E35-37CA-4ABE-BFF8-0E8DC69B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RGB brightness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CFCD9-81F2-46C1-983A-B357E38D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9204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brightness_rgb(const unsigned char* inp">
            <a:extLst xmlns:a="http://schemas.openxmlformats.org/drawingml/2006/main">
              <a:ext uri="{FF2B5EF4-FFF2-40B4-BE49-F238E27FC236}">
                <a16:creationId xmlns:a16="http://schemas.microsoft.com/office/drawing/2014/main" id="{229B1EC4-44A9-4C1D-A6DD-D1FD8BC6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787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brightness_rgb(const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brightness)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offset = (size_t(y) * size_t(width) + size_t(x))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int value = int(input[offset + channel]) + brightness;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output[offset + channel]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value &lt; 0 ? 0 : (value &gt; 255 ? 255 : value);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Same operation on independent pixels: a data-parallel k">
            <a:extLst xmlns:a="http://schemas.openxmlformats.org/drawingml/2006/main">
              <a:ext uri="{FF2B5EF4-FFF2-40B4-BE49-F238E27FC236}">
                <a16:creationId xmlns:a16="http://schemas.microsoft.com/office/drawing/2014/main" id="{1D77A974-0ACE-4249-B0E3-206255A9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operation 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pixels: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data-parallel kernel.</a:t>
            </a:r>
          </a:p>
        </p:txBody>
      </p:sp>
      <p:sp>
        <p:nvSpPr>
          <p:cNvPr id="6" name="Integer arithmetic avoids unsigned wrap; clamp each cha">
            <a:extLst xmlns:a="http://schemas.openxmlformats.org/drawingml/2006/main">
              <a:ext uri="{FF2B5EF4-FFF2-40B4-BE49-F238E27FC236}">
                <a16:creationId xmlns:a16="http://schemas.microsoft.com/office/drawing/2014/main" id="{E79EC053-218D-4056-B3A8-9DFF3B44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Integer arithmetic avoids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unsigned wrap; clamp each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 to [0,255].</a:t>
            </a:r>
          </a:p>
        </p:txBody>
      </p:sp>
      <p:sp>
        <p:nvSpPr>
          <p:cNvPr id="7" name="Adjacent threads touch adjacent pixel locations, provid">
            <a:extLst xmlns:a="http://schemas.openxmlformats.org/drawingml/2006/main">
              <a:ext uri="{FF2B5EF4-FFF2-40B4-BE49-F238E27FC236}">
                <a16:creationId xmlns:a16="http://schemas.microsoft.com/office/drawing/2014/main" id="{1002D098-0AB2-4E3F-8747-F3FD4497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threads touch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pixel locations,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providing useful locality.</a:t>
            </a:r>
          </a:p>
        </p:txBody>
      </p:sp>
      <p:sp>
        <p:nvSpPr>
          <p:cNvPr id="8" name="Illustrative CUDA C++; uncompiled and unbenchmarked.">
            <a:extLst xmlns:a="http://schemas.openxmlformats.org/drawingml/2006/main">
              <a:ext uri="{FF2B5EF4-FFF2-40B4-BE49-F238E27FC236}">
                <a16:creationId xmlns:a16="http://schemas.microsoft.com/office/drawing/2014/main" id="{26746BB0-1139-4486-895D-5FA00666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CUDA C++;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uncompiled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E57F8-9B75-4A7D-8253-D770AD4B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DAFC373F-F147-4125-AD61-1DA09B8C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6 / 56">
            <a:extLst xmlns:a="http://schemas.openxmlformats.org/drawingml/2006/main">
              <a:ext uri="{FF2B5EF4-FFF2-40B4-BE49-F238E27FC236}">
                <a16:creationId xmlns:a16="http://schemas.microsoft.com/office/drawing/2014/main" id="{5270A31A-FB2B-4D3B-BA77-F27E27C3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56</a:t>
            </a:r>
          </a:p>
        </p:txBody>
      </p:sp>
    </p:spTree>
    <p:extLst>
      <p:ext uri="{BB962C8B-B14F-4D97-AF65-F5344CB8AC3E}">
        <p14:creationId xmlns:p14="http://schemas.microsoft.com/office/powerpoint/2010/main" val="1150747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4">
            <a:extLst xmlns:a="http://schemas.openxmlformats.org/drawingml/2006/main">
              <a:ext uri="{FF2B5EF4-FFF2-40B4-BE49-F238E27FC236}">
                <a16:creationId xmlns:a16="http://schemas.microsoft.com/office/drawing/2014/main" id="{B2A3CA9D-9B9F-4400-9AE6-582A2B7A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A4</a:t>
            </a:r>
          </a:p>
        </p:txBody>
      </p:sp>
      <p:sp>
        <p:nvSpPr>
          <p:cNvPr id="2" name="Crafted CUDA example: inverse mapping">
            <a:extLst xmlns:a="http://schemas.openxmlformats.org/drawingml/2006/main">
              <a:ext uri="{FF2B5EF4-FFF2-40B4-BE49-F238E27FC236}">
                <a16:creationId xmlns:a16="http://schemas.microsoft.com/office/drawing/2014/main" id="{2D5B243E-11DE-449D-B645-33A3142F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inverse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728AE-0507-41D8-A378-9CDC2839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put,&#10;">
            <a:extLst xmlns:a="http://schemas.openxmlformats.org/drawingml/2006/main">
              <a:ext uri="{FF2B5EF4-FFF2-40B4-BE49-F238E27FC236}">
                <a16:creationId xmlns:a16="http://schemas.microsoft.com/office/drawing/2014/main" id="{E8531FA3-BBB0-47E3-877B-9FDC0460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c,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cx = (width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cy = (height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sx = c * (x - cx) - s * (y - cy) + cx;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sy = s * (x - cx) + c * (y - cy) + cy;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ix = int(floorf(sx + 0.5f));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iy = int(floorf(sy + 0.5f));</a:t>
            </a:r>
          </a:p>
        </p:txBody>
      </p:sp>
      <p:sp>
        <p:nvSpPr>
          <p:cNvPr id="5" name="Global coordinates come from block/thread indices.">
            <a:extLst xmlns:a="http://schemas.openxmlformats.org/drawingml/2006/main">
              <a:ext uri="{FF2B5EF4-FFF2-40B4-BE49-F238E27FC236}">
                <a16:creationId xmlns:a16="http://schemas.microsoft.com/office/drawing/2014/main" id="{838044A7-4FCD-49BB-BEE0-1E12CE27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coordinates come from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block/thread indices.</a:t>
            </a:r>
          </a:p>
        </p:txBody>
      </p:sp>
      <p:sp>
        <p:nvSpPr>
          <p:cNvPr id="6" name="The guard handles partial edge blocks before any memory">
            <a:extLst xmlns:a="http://schemas.openxmlformats.org/drawingml/2006/main">
              <a:ext uri="{FF2B5EF4-FFF2-40B4-BE49-F238E27FC236}">
                <a16:creationId xmlns:a16="http://schemas.microsoft.com/office/drawing/2014/main" id="{85F09F62-CE1E-452E-A670-3B63B600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guard handles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 before any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access.</a:t>
            </a:r>
          </a:p>
        </p:txBody>
      </p:sp>
      <p:sp>
        <p:nvSpPr>
          <p:cNvPr id="7" name="The host computes sine/cosine once per angle.">
            <a:extLst xmlns:a="http://schemas.openxmlformats.org/drawingml/2006/main">
              <a:ext uri="{FF2B5EF4-FFF2-40B4-BE49-F238E27FC236}">
                <a16:creationId xmlns:a16="http://schemas.microsoft.com/office/drawing/2014/main" id="{FFD49A3A-AAAE-4791-801E-6E5A3C7C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host computes sine/cosine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per angle.</a:t>
            </a:r>
          </a:p>
        </p:txBody>
      </p:sp>
      <p:sp>
        <p:nvSpPr>
          <p:cNvPr id="8" name="Nearest-neighbour mapping uses the documented y-down co">
            <a:extLst xmlns:a="http://schemas.openxmlformats.org/drawingml/2006/main">
              <a:ext uri="{FF2B5EF4-FFF2-40B4-BE49-F238E27FC236}">
                <a16:creationId xmlns:a16="http://schemas.microsoft.com/office/drawing/2014/main" id="{E7E92F9B-36C7-4B9D-8981-B9C30B8A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858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mapping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uses the documented y-down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200D8-0FE1-4F9E-8F20-94AFA25C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332F317C-2119-4DF8-A8A1-B4CD9B7C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7 / 56">
            <a:extLst xmlns:a="http://schemas.openxmlformats.org/drawingml/2006/main">
              <a:ext uri="{FF2B5EF4-FFF2-40B4-BE49-F238E27FC236}">
                <a16:creationId xmlns:a16="http://schemas.microsoft.com/office/drawing/2014/main" id="{C7F49A41-1CC8-4373-B2D4-783CA440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56</a:t>
            </a:r>
          </a:p>
        </p:txBody>
      </p:sp>
    </p:spTree>
    <p:extLst>
      <p:ext uri="{BB962C8B-B14F-4D97-AF65-F5344CB8AC3E}">
        <p14:creationId xmlns:p14="http://schemas.microsoft.com/office/powerpoint/2010/main" val="17273832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5">
            <a:extLst xmlns:a="http://schemas.openxmlformats.org/drawingml/2006/main">
              <a:ext uri="{FF2B5EF4-FFF2-40B4-BE49-F238E27FC236}">
                <a16:creationId xmlns:a16="http://schemas.microsoft.com/office/drawing/2014/main" id="{96141375-88BA-4204-A454-CAA34702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A5</a:t>
            </a:r>
          </a:p>
        </p:txBody>
      </p:sp>
      <p:sp>
        <p:nvSpPr>
          <p:cNvPr id="2" name="Crafted CUDA example: safe output writes">
            <a:extLst xmlns:a="http://schemas.openxmlformats.org/drawingml/2006/main">
              <a:ext uri="{FF2B5EF4-FFF2-40B4-BE49-F238E27FC236}">
                <a16:creationId xmlns:a16="http://schemas.microsoft.com/office/drawing/2014/main" id="{902751F5-567D-48F7-97ED-B708DC27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safe output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54306-9075-4283-B086-14C36A8B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051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    const size_t destination = (size_t(y) * size_t(widt">
            <a:extLst xmlns:a="http://schemas.openxmlformats.org/drawingml/2006/main">
              <a:ext uri="{FF2B5EF4-FFF2-40B4-BE49-F238E27FC236}">
                <a16:creationId xmlns:a16="http://schemas.microsoft.com/office/drawing/2014/main" id="{24C6592B-B0E3-4E50-8B90-743F1765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2918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destination = (size_t(y) * size_t(width) + size_t(x)) *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(ix &gt;= 0 &amp;&amp; ix &lt; width &amp;&amp; iy &gt;= 0 &amp;&amp; iy &lt;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size_t source = (size_t(iy) * size_t(width) + size_t(ix))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input[source + channel];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GB address = 3 × (row × width + column).">
            <a:extLst xmlns:a="http://schemas.openxmlformats.org/drawingml/2006/main">
              <a:ext uri="{FF2B5EF4-FFF2-40B4-BE49-F238E27FC236}">
                <a16:creationId xmlns:a16="http://schemas.microsoft.com/office/drawing/2014/main" id="{64FCE3BF-416E-4ADC-B2F8-1EE42351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RGB address = 3 × (row ×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width + column).</a:t>
            </a:r>
          </a:p>
        </p:txBody>
      </p:sp>
      <p:sp>
        <p:nvSpPr>
          <p:cNvPr id="6" name="Every valid output gets three channels, including black">
            <a:extLst xmlns:a="http://schemas.openxmlformats.org/drawingml/2006/main">
              <a:ext uri="{FF2B5EF4-FFF2-40B4-BE49-F238E27FC236}">
                <a16:creationId xmlns:a16="http://schemas.microsoft.com/office/drawing/2014/main" id="{576D880F-8B69-448D-B722-0DAE15DE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valid output gets three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channels, including black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borders.</a:t>
            </a:r>
          </a:p>
        </p:txBody>
      </p:sp>
      <p:sp>
        <p:nvSpPr>
          <p:cNvPr id="7" name="No atomics, mutex or block barrier is needed: writers h">
            <a:extLst xmlns:a="http://schemas.openxmlformats.org/drawingml/2006/main">
              <a:ext uri="{FF2B5EF4-FFF2-40B4-BE49-F238E27FC236}">
                <a16:creationId xmlns:a16="http://schemas.microsoft.com/office/drawing/2014/main" id="{7154A490-1EB5-4A26-8398-78AAFB84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atomics, mutex or block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barrier is needed: writers have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destinations.</a:t>
            </a:r>
          </a:p>
        </p:txBody>
      </p:sp>
      <p:sp>
        <p:nvSpPr>
          <p:cNvPr id="8" name="Total work Θ(W × H); input/output storage Θ(W × H) each">
            <a:extLst xmlns:a="http://schemas.openxmlformats.org/drawingml/2006/main">
              <a:ext uri="{FF2B5EF4-FFF2-40B4-BE49-F238E27FC236}">
                <a16:creationId xmlns:a16="http://schemas.microsoft.com/office/drawing/2014/main" id="{0B3C1336-6144-4B08-A7FE-357F736A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568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work Θ(W × H);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 storage Θ(W × H)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B03BC-A751-4289-9136-4B79987D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571D74AD-07E4-49A4-8C35-9C158A4C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[22] Topic 9B: mutual exclusion and allocation</a:t>
            </a:r>
          </a:p>
        </p:txBody>
      </p:sp>
      <p:sp>
        <p:nvSpPr>
          <p:cNvPr id="11" name="18 / 56">
            <a:extLst xmlns:a="http://schemas.openxmlformats.org/drawingml/2006/main">
              <a:ext uri="{FF2B5EF4-FFF2-40B4-BE49-F238E27FC236}">
                <a16:creationId xmlns:a16="http://schemas.microsoft.com/office/drawing/2014/main" id="{7055D7C4-232C-4FCD-90B2-23C6940C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56</a:t>
            </a:r>
          </a:p>
        </p:txBody>
      </p:sp>
    </p:spTree>
    <p:extLst>
      <p:ext uri="{BB962C8B-B14F-4D97-AF65-F5344CB8AC3E}">
        <p14:creationId xmlns:p14="http://schemas.microsoft.com/office/powerpoint/2010/main" val="13222009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6">
            <a:extLst xmlns:a="http://schemas.openxmlformats.org/drawingml/2006/main">
              <a:ext uri="{FF2B5EF4-FFF2-40B4-BE49-F238E27FC236}">
                <a16:creationId xmlns:a16="http://schemas.microsoft.com/office/drawing/2014/main" id="{7CA81B1F-A032-42BA-98A0-29F97337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A6</a:t>
            </a:r>
          </a:p>
        </p:txBody>
      </p:sp>
      <p:sp>
        <p:nvSpPr>
          <p:cNvPr id="2" name="Host orchestration and completion">
            <a:extLst xmlns:a="http://schemas.openxmlformats.org/drawingml/2006/main">
              <a:ext uri="{FF2B5EF4-FFF2-40B4-BE49-F238E27FC236}">
                <a16:creationId xmlns:a16="http://schemas.microsoft.com/office/drawing/2014/main" id="{55A1A26D-5EC9-4E29-8078-D11EFFD7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orchestration and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51A59-83A6-4A90-89E9-70A821F7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 16);&#10;dim3 grid(1u + (unsigned(W)-1u)/blo">
            <a:extLst xmlns:a="http://schemas.openxmlformats.org/drawingml/2006/main">
              <a:ext uri="{FF2B5EF4-FFF2-40B4-BE49-F238E27FC236}">
                <a16:creationId xmlns:a16="http://schemas.microsoft.com/office/drawing/2014/main" id="{C004FFC8-0C4E-4051-82E2-1661E567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 16);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grid(1u + (unsigned(W)-1u)/block.x,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1u + (unsigned(H)-1u)/block.y);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cudaMemcpy(d_in, h_in,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cudaMemcpyHostToDevice);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block&gt;&gt;&gt;(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d_in, d_out, W, H,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cudaMemcpy(h_out, d_out,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cudaMemcpyDeviceToHost);</a:t>
            </a:r>
          </a:p>
        </p:txBody>
      </p:sp>
      <p:sp>
        <p:nvSpPr>
          <p:cNvPr id="5" name="Illustrative excerpt, not a complete program: W/H &gt; 0; ">
            <a:extLst xmlns:a="http://schemas.openxmlformats.org/drawingml/2006/main">
              <a:ext uri="{FF2B5EF4-FFF2-40B4-BE49-F238E27FC236}">
                <a16:creationId xmlns:a16="http://schemas.microsoft.com/office/drawing/2014/main" id="{544AB86D-9A2C-4405-BFAF-294642A6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1337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excerpt, not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program: W/H &gt; 0;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= 3 × W × H checked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size_t; valid separate buffers;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grid/device limits validated.</a:t>
            </a:r>
          </a:p>
        </p:txBody>
      </p:sp>
      <p:sp>
        <p:nvSpPr>
          <p:cNvPr id="6" name="CPU loads/decodes, allocates host/device buffers, check">
            <a:extLst xmlns:a="http://schemas.openxmlformats.org/drawingml/2006/main">
              <a:ext uri="{FF2B5EF4-FFF2-40B4-BE49-F238E27FC236}">
                <a16:creationId xmlns:a16="http://schemas.microsoft.com/office/drawing/2014/main" id="{CAA5BEF8-330F-40CC-B0F4-AEB08AD5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08960"/>
            <a:ext cx="2933700" cy="1337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loads/decodes, allocates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host/device buffers, checks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API/launch/completion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result, saves output and frees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resources safely.</a:t>
            </a:r>
          </a:p>
        </p:txBody>
      </p:sp>
      <p:sp>
        <p:nvSpPr>
          <p:cNvPr id="7" name="For this ordered synchronous-copy example, D2H supplies">
            <a:extLst xmlns:a="http://schemas.openxmlformats.org/drawingml/2006/main">
              <a:ext uri="{FF2B5EF4-FFF2-40B4-BE49-F238E27FC236}">
                <a16:creationId xmlns:a16="http://schemas.microsoft.com/office/drawing/2014/main" id="{3AF17DF6-AC0A-4690-8D30-63C47A0C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36770"/>
            <a:ext cx="2933700" cy="185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this ordered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synchronous-copy example,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 supplies completed host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data. A launch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asynchronous; launch-error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checks alone do not establish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successful completion.</a:t>
            </a:r>
          </a:p>
        </p:txBody>
      </p:sp>
      <p:sp>
        <p:nvSpPr>
          <p:cNvPr id="8" name="Pinned host storage is page-locked and supports efficie">
            <a:extLst xmlns:a="http://schemas.openxmlformats.org/drawingml/2006/main">
              <a:ext uri="{FF2B5EF4-FFF2-40B4-BE49-F238E27FC236}">
                <a16:creationId xmlns:a16="http://schemas.microsoft.com/office/drawing/2014/main" id="{8DEA4A82-67AB-4166-9624-6E95F71B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684264"/>
            <a:ext cx="2933700" cy="1597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storage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page-locked and supports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efficient DMA. Pageable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may need runtime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staging. Avoid excessive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D70ED-EDA4-4993-949A-2F83C224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3] To">
            <a:extLst xmlns:a="http://schemas.openxmlformats.org/drawingml/2006/main">
              <a:ext uri="{FF2B5EF4-FFF2-40B4-BE49-F238E27FC236}">
                <a16:creationId xmlns:a16="http://schemas.microsoft.com/office/drawing/2014/main" id="{CB87FF71-A44A-4A0A-97E1-1ACADB0B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[3] Topic 9A: synchronization; [4] NVIDIA CUDA programming model; [5] NVIDIA CUDA Best Practices</a:t>
            </a:r>
          </a:p>
        </p:txBody>
      </p:sp>
      <p:sp>
        <p:nvSpPr>
          <p:cNvPr id="11" name="19 / 56">
            <a:extLst xmlns:a="http://schemas.openxmlformats.org/drawingml/2006/main">
              <a:ext uri="{FF2B5EF4-FFF2-40B4-BE49-F238E27FC236}">
                <a16:creationId xmlns:a16="http://schemas.microsoft.com/office/drawing/2014/main" id="{FC55CE7D-1116-4037-95F1-0B34421C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56</a:t>
            </a:r>
          </a:p>
        </p:txBody>
      </p:sp>
    </p:spTree>
    <p:extLst>
      <p:ext uri="{BB962C8B-B14F-4D97-AF65-F5344CB8AC3E}">
        <p14:creationId xmlns:p14="http://schemas.microsoft.com/office/powerpoint/2010/main" val="1829996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A7">
            <a:extLst xmlns:a="http://schemas.openxmlformats.org/drawingml/2006/main">
              <a:ext uri="{FF2B5EF4-FFF2-40B4-BE49-F238E27FC236}">
                <a16:creationId xmlns:a16="http://schemas.microsoft.com/office/drawing/2014/main" id="{0CF37D12-8F77-409C-A893-730549AB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A7</a:t>
            </a:r>
          </a:p>
        </p:txBody>
      </p:sp>
      <p:sp>
        <p:nvSpPr>
          <p:cNvPr id="2" name="Launch shape and memory access">
            <a:extLst xmlns:a="http://schemas.openxmlformats.org/drawingml/2006/main">
              <a:ext uri="{FF2B5EF4-FFF2-40B4-BE49-F238E27FC236}">
                <a16:creationId xmlns:a16="http://schemas.microsoft.com/office/drawing/2014/main" id="{58865068-0D75-4DCC-86A0-10671AC6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shape and memory access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95C5D-284B-454F-9732-BDDE687F336B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Performance implication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 × 16 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two 16-wide 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Reasonable 2D starting point; row edges/alignment matter.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32 × 8 block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one 32-wide row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May improve row-oriented access; no universal winner.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Output gathering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Adjacent x threads write adjacent RGB pixels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 write locality; per-channel byte operations still require efficient transactions.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Rotated input reads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Angle changes the source addresses visited by a warp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Irregular gathers can reduce effective read bandwidth/cache reuse.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residency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Registers, shared memory and block/thread limits constrain active warps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Helps hide latency; maximum occupancy is not automatically fastest.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ompute grid for each block shape. Profile actual tra">
            <a:extLst xmlns:a="http://schemas.openxmlformats.org/drawingml/2006/main">
              <a:ext uri="{FF2B5EF4-FFF2-40B4-BE49-F238E27FC236}">
                <a16:creationId xmlns:a16="http://schemas.microsoft.com/office/drawing/2014/main" id="{F51D6C45-42A2-4B89-877D-ADD49AEA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Recompute grid for each block shape. Profile actual transactions, latency and registers before selecting a shape.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CCE80-8DA7-4675-A021-2561CC2C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F3654818-2B42-48B6-B970-669071C8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7" name="20 / 56">
            <a:extLst xmlns:a="http://schemas.openxmlformats.org/drawingml/2006/main">
              <a:ext uri="{FF2B5EF4-FFF2-40B4-BE49-F238E27FC236}">
                <a16:creationId xmlns:a16="http://schemas.microsoft.com/office/drawing/2014/main" id="{7648A7D9-583C-4CA2-8BA6-BA37C052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56</a:t>
            </a:r>
          </a:p>
        </p:txBody>
      </p:sp>
    </p:spTree>
    <p:extLst>
      <p:ext uri="{BB962C8B-B14F-4D97-AF65-F5344CB8AC3E}">
        <p14:creationId xmlns:p14="http://schemas.microsoft.com/office/powerpoint/2010/main" val="5874746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8">
            <a:extLst xmlns:a="http://schemas.openxmlformats.org/drawingml/2006/main">
              <a:ext uri="{FF2B5EF4-FFF2-40B4-BE49-F238E27FC236}">
                <a16:creationId xmlns:a16="http://schemas.microsoft.com/office/drawing/2014/main" id="{4E267722-516F-49A1-B6E6-DFD8732B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A8</a:t>
            </a:r>
          </a:p>
        </p:txBody>
      </p:sp>
      <p:sp>
        <p:nvSpPr>
          <p:cNvPr id="2" name="Asynchronous work within one stream">
            <a:extLst xmlns:a="http://schemas.openxmlformats.org/drawingml/2006/main">
              <a:ext uri="{FF2B5EF4-FFF2-40B4-BE49-F238E27FC236}">
                <a16:creationId xmlns:a16="http://schemas.microsoft.com/office/drawing/2014/main" id="{03D97E2D-2F9A-416D-A0DF-C4215764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 work within one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C0EA1-E81D-407C-B322-EF3556D5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cudaError_t enqueue_rotation(const unsigned char* h_inp">
            <a:extLst xmlns:a="http://schemas.openxmlformats.org/drawingml/2006/main">
              <a:ext uri="{FF2B5EF4-FFF2-40B4-BE49-F238E27FC236}">
                <a16:creationId xmlns:a16="http://schemas.microsoft.com/office/drawing/2014/main" id="{33B184C2-B5CA-44E3-92FB-2FAD2050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cudaError_t enqueue_rotation(const unsigned char* h_input,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h_output,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size_t bytes, int width,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float c, float s, cudaStream_t stream)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block(32, 8);  // Compare against dim3(16, 16) when profiling.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grid = rotation_grid(width, height, block);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cudaError_t status = cudaMemcpyAsync(d_input, h_input,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cudaMemcpyHostToDevice,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rotate_rgb&lt;&lt;&lt;grid, block, 0, stream&gt;&gt;&gt;(d_input,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 width, height,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status = 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return cudaMemcpyAsync(h_output, d_output,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cudaMemcpyDeviceToHost,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Full enqueue function from the supplied performance exa">
            <a:extLst xmlns:a="http://schemas.openxmlformats.org/drawingml/2006/main">
              <a:ext uri="{FF2B5EF4-FFF2-40B4-BE49-F238E27FC236}">
                <a16:creationId xmlns:a16="http://schemas.microsoft.com/office/drawing/2014/main" id="{C09E55D4-F9B0-4A6E-A0EE-530DC4DB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Full enqueue function from the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supplied performance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example.</a:t>
            </a:r>
          </a:p>
        </p:txBody>
      </p:sp>
      <p:sp>
        <p:nvSpPr>
          <p:cNvPr id="6" name="Pinned host buffers and checked sizes are preconditions">
            <a:extLst xmlns:a="http://schemas.openxmlformats.org/drawingml/2006/main">
              <a:ext uri="{FF2B5EF4-FFF2-40B4-BE49-F238E27FC236}">
                <a16:creationId xmlns:a16="http://schemas.microsoft.com/office/drawing/2014/main" id="{E3E84793-CAAA-4F48-BC71-DE044F6E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buffers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checked sizes are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preconditions.</a:t>
            </a:r>
          </a:p>
        </p:txBody>
      </p:sp>
      <p:sp>
        <p:nvSpPr>
          <p:cNvPr id="7" name="Success means submitted work; wait before reading, reus">
            <a:extLst xmlns:a="http://schemas.openxmlformats.org/drawingml/2006/main">
              <a:ext uri="{FF2B5EF4-FFF2-40B4-BE49-F238E27FC236}">
                <a16:creationId xmlns:a16="http://schemas.microsoft.com/office/drawing/2014/main" id="{6E0AA747-E65D-40BA-954D-B3D19DED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 means submitted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work; wait before reading,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reusing or freeing buffers.</a:t>
            </a:r>
          </a:p>
        </p:txBody>
      </p:sp>
      <p:sp>
        <p:nvSpPr>
          <p:cNvPr id="8" name="On error, previously enqueued work may still be pending">
            <a:extLst xmlns:a="http://schemas.openxmlformats.org/drawingml/2006/main">
              <a:ext uri="{FF2B5EF4-FFF2-40B4-BE49-F238E27FC236}">
                <a16:creationId xmlns:a16="http://schemas.microsoft.com/office/drawing/2014/main" id="{01E271BD-1B26-4310-8DCC-8DB8E798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 error, previously enqueued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 may still be pending.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681B9-D0F3-4497-A128-D22CE5F5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057D5A72-3A04-41C8-B2D8-3F1B5F4E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11" name="21 / 56">
            <a:extLst xmlns:a="http://schemas.openxmlformats.org/drawingml/2006/main">
              <a:ext uri="{FF2B5EF4-FFF2-40B4-BE49-F238E27FC236}">
                <a16:creationId xmlns:a16="http://schemas.microsoft.com/office/drawing/2014/main" id="{8EE696E3-A088-4A77-866C-C5CA191F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56</a:t>
            </a:r>
          </a:p>
        </p:txBody>
      </p:sp>
    </p:spTree>
    <p:extLst>
      <p:ext uri="{BB962C8B-B14F-4D97-AF65-F5344CB8AC3E}">
        <p14:creationId xmlns:p14="http://schemas.microsoft.com/office/powerpoint/2010/main" val="11882598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6A8D1-2F9D-4E3D-8CD1-DA04CC0BF63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0582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53EF4-7A74-4D8A-AC0C-DCEBD35B5DC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35317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84395-7E48-4B11-852F-2A44D0A6A11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8182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3A046-259A-44B9-A38E-8AFFCBCEA38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2917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23" name="Appendix A9">
            <a:extLst xmlns:a="http://schemas.openxmlformats.org/drawingml/2006/main">
              <a:ext uri="{FF2B5EF4-FFF2-40B4-BE49-F238E27FC236}">
                <a16:creationId xmlns:a16="http://schemas.microsoft.com/office/drawing/2014/main" id="{5F6DE655-A3E8-4FB3-A5EF-EACEB425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A9</a:t>
            </a:r>
          </a:p>
        </p:txBody>
      </p:sp>
      <p:sp>
        <p:nvSpPr>
          <p:cNvPr id="2" name="Batch overlap and GPU residency">
            <a:extLst xmlns:a="http://schemas.openxmlformats.org/drawingml/2006/main">
              <a:ext uri="{FF2B5EF4-FFF2-40B4-BE49-F238E27FC236}">
                <a16:creationId xmlns:a16="http://schemas.microsoft.com/office/drawing/2014/main" id="{D36BD759-1C0B-481D-AFE5-85CF810C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 overlap and GPU residency</a:t>
            </a:r>
          </a:p>
        </p:txBody>
      </p:sp>
      <p:sp>
        <p:nvSpPr>
          <p:cNvPr id="3" name="Same stream: H2D → kernel → D2H, in order">
            <a:extLst xmlns:a="http://schemas.openxmlformats.org/drawingml/2006/main">
              <a:ext uri="{FF2B5EF4-FFF2-40B4-BE49-F238E27FC236}">
                <a16:creationId xmlns:a16="http://schemas.microsoft.com/office/drawing/2014/main" id="{AF10B30A-4078-4A6E-86AA-3A9A38BD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Same stream: H2D → kernel → D2H, in order</a:t>
            </a:r>
          </a:p>
        </p:txBody>
      </p:sp>
      <p:sp>
        <p:nvSpPr>
          <p:cNvPr id="4" name="Stream A / image A">
            <a:extLst xmlns:a="http://schemas.openxmlformats.org/drawingml/2006/main">
              <a:ext uri="{FF2B5EF4-FFF2-40B4-BE49-F238E27FC236}">
                <a16:creationId xmlns:a16="http://schemas.microsoft.com/office/drawing/2014/main" id="{AD9F211F-3D5A-4BA5-87EF-602CF958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A / image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C8DA8-00DF-40D7-9C8F-AFE52740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9D45F-9D74-4DB2-9F78-D9A72411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D8EB6-5658-4234-9A25-867C8D0A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0" name="Stream B / image B">
            <a:extLst xmlns:a="http://schemas.openxmlformats.org/drawingml/2006/main">
              <a:ext uri="{FF2B5EF4-FFF2-40B4-BE49-F238E27FC236}">
                <a16:creationId xmlns:a16="http://schemas.microsoft.com/office/drawing/2014/main" id="{2F789E93-0005-4065-AC54-97A4A36E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B / image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A8D20-4D21-484E-8652-1CC5EBA5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B23CF-F41B-4CFE-A827-9C862D0D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4AC60-1840-4BCB-BB0E-A0B35F3C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6" name="Schematic overlap opportunity; not measured durations o">
            <a:extLst xmlns:a="http://schemas.openxmlformats.org/drawingml/2006/main">
              <a:ext uri="{FF2B5EF4-FFF2-40B4-BE49-F238E27FC236}">
                <a16:creationId xmlns:a16="http://schemas.microsoft.com/office/drawing/2014/main" id="{8F8DC77B-8F18-4446-BE0E-42932989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Schematic overlap opportunity; not measured durations or guaranteed simultaneous execution.</a:t>
            </a:r>
          </a:p>
        </p:txBody>
      </p:sp>
      <p:sp>
        <p:nvSpPr>
          <p:cNvPr id="17" name="Independent streams + separate pinned/device buffers + ">
            <a:extLst xmlns:a="http://schemas.openxmlformats.org/drawingml/2006/main">
              <a:ext uri="{FF2B5EF4-FFF2-40B4-BE49-F238E27FC236}">
                <a16:creationId xmlns:a16="http://schemas.microsoft.com/office/drawing/2014/main" id="{AFE5758E-C2D3-488F-9839-69C4AB32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streams + separate pinned/device buffers + supporting copy/compute resources. Synchronize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reuse. Extra buffers consume memory; device residency avoids unnecessary round trips.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B1A5E-471E-4D2F-8FFB-4A285AF5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Overlap changes the critical path, not the amount of ro">
            <a:extLst xmlns:a="http://schemas.openxmlformats.org/drawingml/2006/main">
              <a:ext uri="{FF2B5EF4-FFF2-40B4-BE49-F238E27FC236}">
                <a16:creationId xmlns:a16="http://schemas.microsoft.com/office/drawing/2014/main" id="{CDED87C8-FB73-4801-9B68-0B8EDDCE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 changes the critical path, not the amount of rotation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43732F-0374-4CCF-8CD8-4C79E7B9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44CB4E08-0C52-4E74-9B11-4E97F34A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22" name="22 / 56">
            <a:extLst xmlns:a="http://schemas.openxmlformats.org/drawingml/2006/main">
              <a:ext uri="{FF2B5EF4-FFF2-40B4-BE49-F238E27FC236}">
                <a16:creationId xmlns:a16="http://schemas.microsoft.com/office/drawing/2014/main" id="{83211C52-925B-457E-875A-6FC4AD99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56</a:t>
            </a:r>
          </a:p>
        </p:txBody>
      </p:sp>
    </p:spTree>
    <p:extLst>
      <p:ext uri="{BB962C8B-B14F-4D97-AF65-F5344CB8AC3E}">
        <p14:creationId xmlns:p14="http://schemas.microsoft.com/office/powerpoint/2010/main" val="4988671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0">
            <a:extLst xmlns:a="http://schemas.openxmlformats.org/drawingml/2006/main">
              <a:ext uri="{FF2B5EF4-FFF2-40B4-BE49-F238E27FC236}">
                <a16:creationId xmlns:a16="http://schemas.microsoft.com/office/drawing/2014/main" id="{B4F8C14D-E6FA-435A-8602-912F3120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A10</a:t>
            </a:r>
          </a:p>
        </p:txBody>
      </p:sp>
      <p:sp>
        <p:nvSpPr>
          <p:cNvPr id="2" name="Fair speedup comparison and profiling">
            <a:extLst xmlns:a="http://schemas.openxmlformats.org/drawingml/2006/main">
              <a:ext uri="{FF2B5EF4-FFF2-40B4-BE49-F238E27FC236}">
                <a16:creationId xmlns:a16="http://schemas.microsoft.com/office/drawing/2014/main" id="{FF6E4862-369D-41C2-9CAA-C5D99B9F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 speedup comparison and profiling</a:t>
            </a:r>
          </a:p>
        </p:txBody>
      </p:sp>
      <p:sp>
        <p:nvSpPr>
          <p:cNvPr id="3" name="Comparable baselines">
            <a:extLst xmlns:a="http://schemas.openxmlformats.org/drawingml/2006/main">
              <a:ext uri="{FF2B5EF4-FFF2-40B4-BE49-F238E27FC236}">
                <a16:creationId xmlns:a16="http://schemas.microsoft.com/office/drawing/2014/main" id="{E6F0126C-804F-4AF4-BD73-660D3504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Comparable baselines</a:t>
            </a:r>
          </a:p>
        </p:txBody>
      </p:sp>
      <p:sp>
        <p:nvSpPr>
          <p:cNvPr id="4" name="Primary baseline: one CPU thread performs the same RGB ">
            <a:extLst xmlns:a="http://schemas.openxmlformats.org/drawingml/2006/main">
              <a:ext uri="{FF2B5EF4-FFF2-40B4-BE49-F238E27FC236}">
                <a16:creationId xmlns:a16="http://schemas.microsoft.com/office/drawing/2014/main" id="{F51EF797-805C-4E17-BF59-9278E072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Primary baseline: one CPU thread performs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RGB inverse mapping, nearest-neighbour rule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fixed canvas. Also compare a multithreaded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for a stronger practical baseline.</a:t>
            </a:r>
          </a:p>
        </p:txBody>
      </p:sp>
      <p:sp>
        <p:nvSpPr>
          <p:cNvPr id="5" name="Use identical inputs/angles and verify identical or jus">
            <a:extLst xmlns:a="http://schemas.openxmlformats.org/drawingml/2006/main">
              <a:ext uri="{FF2B5EF4-FFF2-40B4-BE49-F238E27FC236}">
                <a16:creationId xmlns:a16="http://schemas.microsoft.com/office/drawing/2014/main" id="{C0116E54-F884-4436-8B05-5FE763CA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identical inputs/angles and verify identical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justified numerically equivalent outputs. Include file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decoding/I/O in both paths or exclude it from both.</a:t>
            </a:r>
          </a:p>
        </p:txBody>
      </p:sp>
      <p:sp>
        <p:nvSpPr>
          <p:cNvPr id="6" name="For the stated decoded-buffer comparison, include GPU a">
            <a:extLst xmlns:a="http://schemas.openxmlformats.org/drawingml/2006/main">
              <a:ext uri="{FF2B5EF4-FFF2-40B4-BE49-F238E27FC236}">
                <a16:creationId xmlns:a16="http://schemas.microsoft.com/office/drawing/2014/main" id="{87788BBA-5AFA-4485-9872-2A759BEF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the stated decoded-buffer comparison, include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allocation, H2D, launch, completed kernel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D2H; CPU timing covers the corresponding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 and rotation.</a:t>
            </a:r>
          </a:p>
        </p:txBody>
      </p:sp>
      <p:sp>
        <p:nvSpPr>
          <p:cNvPr id="7" name="Measure the bottleneck">
            <a:extLst xmlns:a="http://schemas.openxmlformats.org/drawingml/2006/main">
              <a:ext uri="{FF2B5EF4-FFF2-40B4-BE49-F238E27FC236}">
                <a16:creationId xmlns:a16="http://schemas.microsoft.com/office/drawing/2014/main" id="{63A70D95-F024-4B81-98AA-9DBB5047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Measure the bottleneck</a:t>
            </a:r>
          </a:p>
        </p:txBody>
      </p:sp>
      <p:sp>
        <p:nvSpPr>
          <p:cNvPr id="8" name="Report cold-start and warmed repeated runs separately. ">
            <a:extLst xmlns:a="http://schemas.openxmlformats.org/drawingml/2006/main">
              <a:ext uri="{FF2B5EF4-FFF2-40B4-BE49-F238E27FC236}">
                <a16:creationId xmlns:a16="http://schemas.microsoft.com/office/drawing/2014/main" id="{98958C76-5CDB-4758-B970-EB5C747B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cold-start and warmed repeated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separately. Use CUDA events for kernel elapsed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time after completion and a host timer through final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completion for total latency.</a:t>
            </a:r>
          </a:p>
        </p:txBody>
      </p:sp>
      <p:sp>
        <p:nvSpPr>
          <p:cNvPr id="9" name="Vary image size, angle, block shape and batch size; rec">
            <a:extLst xmlns:a="http://schemas.openxmlformats.org/drawingml/2006/main">
              <a:ext uri="{FF2B5EF4-FFF2-40B4-BE49-F238E27FC236}">
                <a16:creationId xmlns:a16="http://schemas.microsoft.com/office/drawing/2014/main" id="{0EB87B0A-CCD6-4F67-8AA8-37E0D616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Vary image size, angle, block shape and batch size;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 hardware, transfer mode, register use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effective memory/link bandwidth.</a:t>
            </a:r>
          </a:p>
        </p:txBody>
      </p:sp>
      <p:sp>
        <p:nvSpPr>
          <p:cNvPr id="10" name="The sequential sum does not apply unchanged to overlapp">
            <a:extLst xmlns:a="http://schemas.openxmlformats.org/drawingml/2006/main">
              <a:ext uri="{FF2B5EF4-FFF2-40B4-BE49-F238E27FC236}">
                <a16:creationId xmlns:a16="http://schemas.microsoft.com/office/drawing/2014/main" id="{6D3246C0-B4E3-4058-AC52-AD29A3CE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sequential sum does not apply unchanged to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overlapping streams: measure the completed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critical path. Lower kernel time alone cannot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establish end-to-end speedup.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03079-C63B-4F55-A535-C65ABF0A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CF823-2535-4A6A-AD7E-87D05313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C65D21F3-B317-446A-BC74-C2C910FA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4" name="23 / 56">
            <a:extLst xmlns:a="http://schemas.openxmlformats.org/drawingml/2006/main">
              <a:ext uri="{FF2B5EF4-FFF2-40B4-BE49-F238E27FC236}">
                <a16:creationId xmlns:a16="http://schemas.microsoft.com/office/drawing/2014/main" id="{8E1BFEC4-0E33-47B5-9137-DD88EA92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56</a:t>
            </a:r>
          </a:p>
        </p:txBody>
      </p:sp>
    </p:spTree>
    <p:extLst>
      <p:ext uri="{BB962C8B-B14F-4D97-AF65-F5344CB8AC3E}">
        <p14:creationId xmlns:p14="http://schemas.microsoft.com/office/powerpoint/2010/main" val="10475731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1">
            <a:extLst xmlns:a="http://schemas.openxmlformats.org/drawingml/2006/main">
              <a:ext uri="{FF2B5EF4-FFF2-40B4-BE49-F238E27FC236}">
                <a16:creationId xmlns:a16="http://schemas.microsoft.com/office/drawing/2014/main" id="{5ED1FCAA-A27A-4524-9968-96A51962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A11</a:t>
            </a:r>
          </a:p>
        </p:txBody>
      </p:sp>
      <p:sp>
        <p:nvSpPr>
          <p:cNvPr id="2" name="GDS decision for the proposed pipeline">
            <a:extLst xmlns:a="http://schemas.openxmlformats.org/drawingml/2006/main">
              <a:ext uri="{FF2B5EF4-FFF2-40B4-BE49-F238E27FC236}">
                <a16:creationId xmlns:a16="http://schemas.microsoft.com/office/drawing/2014/main" id="{834C9E60-47C1-4836-9411-B95AA530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decision for the proposed pipeline</a:t>
            </a:r>
          </a:p>
        </p:txBody>
      </p:sp>
      <p:sp>
        <p:nvSpPr>
          <p:cNvPr id="3" name="Conventional decoded-image path">
            <a:extLst xmlns:a="http://schemas.openxmlformats.org/drawingml/2006/main">
              <a:ext uri="{FF2B5EF4-FFF2-40B4-BE49-F238E27FC236}">
                <a16:creationId xmlns:a16="http://schemas.microsoft.com/office/drawing/2014/main" id="{BFFDC054-9060-4118-90BE-C7DE3995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decoded-image path</a:t>
            </a:r>
          </a:p>
        </p:txBody>
      </p:sp>
      <p:sp>
        <p:nvSpPr>
          <p:cNvPr id="4" name="CPU decoding requires host-visible compressed bytes and">
            <a:extLst xmlns:a="http://schemas.openxmlformats.org/drawingml/2006/main">
              <a:ext uri="{FF2B5EF4-FFF2-40B4-BE49-F238E27FC236}">
                <a16:creationId xmlns:a16="http://schemas.microsoft.com/office/drawing/2014/main" id="{2E7E5205-0A0A-4C40-9061-9864A5E4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decoding requires host-visible compressed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and produces pixels in RAM. Those pixels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copied to the GPU; the rotation kernel then runs.</a:t>
            </a:r>
          </a:p>
        </p:txBody>
      </p:sp>
      <p:sp>
        <p:nvSpPr>
          <p:cNvPr id="5" name="A single small image already in RAM gains little from b">
            <a:extLst xmlns:a="http://schemas.openxmlformats.org/drawingml/2006/main">
              <a:ext uri="{FF2B5EF4-FFF2-40B4-BE49-F238E27FC236}">
                <a16:creationId xmlns:a16="http://schemas.microsoft.com/office/drawing/2014/main" id="{70CA74CD-1A1B-4284-8F59-BAE4CD00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single small image already in RAM gains little from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bypassing a storage step that is no longer on its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path.</a:t>
            </a:r>
          </a:p>
        </p:txBody>
      </p:sp>
      <p:sp>
        <p:nvSpPr>
          <p:cNvPr id="6" name="GDS does not decode an image, bypass an application’s C">
            <a:extLst xmlns:a="http://schemas.openxmlformats.org/drawingml/2006/main">
              <a:ext uri="{FF2B5EF4-FFF2-40B4-BE49-F238E27FC236}">
                <a16:creationId xmlns:a16="http://schemas.microsoft.com/office/drawing/2014/main" id="{BF2AF1B2-B1BC-450B-91BF-5228A12F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does not decode an image, bypass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application’s CPU transformation, or make GPU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access itself faster.</a:t>
            </a:r>
          </a:p>
        </p:txBody>
      </p:sp>
      <p:sp>
        <p:nvSpPr>
          <p:cNvPr id="7" name="Conditional batch alternative">
            <a:extLst xmlns:a="http://schemas.openxmlformats.org/drawingml/2006/main">
              <a:ext uri="{FF2B5EF4-FFF2-40B4-BE49-F238E27FC236}">
                <a16:creationId xmlns:a16="http://schemas.microsoft.com/office/drawing/2014/main" id="{CC3456EC-90B9-43C0-A904-485139F5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Conditional batch alternative</a:t>
            </a:r>
          </a:p>
        </p:txBody>
      </p:sp>
      <p:sp>
        <p:nvSpPr>
          <p:cNvPr id="8" name="Large storage-bound batches of GPU-ready pixels, or a c">
            <a:extLst xmlns:a="http://schemas.openxmlformats.org/drawingml/2006/main">
              <a:ext uri="{FF2B5EF4-FFF2-40B4-BE49-F238E27FC236}">
                <a16:creationId xmlns:a16="http://schemas.microsoft.com/office/drawing/2014/main" id="{523D3EFD-10AC-41E9-BF17-53C1CB69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Large storage-bound batches of GPU-ready pixels,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 a compatible GPU decoding pipeline, may avoid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via cuFile and storage-side DMA.</a:t>
            </a:r>
          </a:p>
        </p:txBody>
      </p:sp>
      <p:sp>
        <p:nvSpPr>
          <p:cNvPr id="9" name="Verify the GPU, storage/filesystem, software and PCIe t">
            <a:extLst xmlns:a="http://schemas.openxmlformats.org/drawingml/2006/main">
              <a:ext uri="{FF2B5EF4-FFF2-40B4-BE49-F238E27FC236}">
                <a16:creationId xmlns:a16="http://schemas.microsoft.com/office/drawing/2014/main" id="{EE470078-F2F1-4CCE-BD18-D7457489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Verify the GPU, storage/filesystem, software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topology support the direct path. Compatibility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fallback uses host staging and is not evidence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direct DMA.</a:t>
            </a:r>
          </a:p>
        </p:txBody>
      </p:sp>
      <p:sp>
        <p:nvSpPr>
          <p:cNvPr id="10" name="Adopt only if completed batch time/CPU overhead improve">
            <a:extLst xmlns:a="http://schemas.openxmlformats.org/drawingml/2006/main">
              <a:ext uri="{FF2B5EF4-FFF2-40B4-BE49-F238E27FC236}">
                <a16:creationId xmlns:a16="http://schemas.microsoft.com/office/drawing/2014/main" id="{714B2262-A9EE-4DAE-8B0E-B0721AB2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Adopt only if completed batch time/CPU overhead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improve on the real workload; include extra buffers,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 and storage bandwidth. Otherwise retain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conventional copies.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F68A6-5EFB-4425-B573-A71E0654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55AB1-B7A1-467C-9B16-A18440F4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0BADE3DF-26CA-4D8D-8367-FC5DD9AA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14" name="24 / 56">
            <a:extLst xmlns:a="http://schemas.openxmlformats.org/drawingml/2006/main">
              <a:ext uri="{FF2B5EF4-FFF2-40B4-BE49-F238E27FC236}">
                <a16:creationId xmlns:a16="http://schemas.microsoft.com/office/drawing/2014/main" id="{7E3354FC-1CF4-4930-89C2-620FF670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56</a:t>
            </a:r>
          </a:p>
        </p:txBody>
      </p:sp>
    </p:spTree>
    <p:extLst>
      <p:ext uri="{BB962C8B-B14F-4D97-AF65-F5344CB8AC3E}">
        <p14:creationId xmlns:p14="http://schemas.microsoft.com/office/powerpoint/2010/main" val="61292161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F5244DED-8A5E-492A-8088-B2B19591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0645625C-72CF-4558-BB96-72538D62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ADDFD-1F6F-4C02-B47A-46A7712D415F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BA18F530-9FD4-4DEB-9A02-11FA9F38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945FE-30B3-4833-9001-DBE17D45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B7901B5C-F314-4633-8E1A-9AC609D4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7" name="25 / 56">
            <a:extLst xmlns:a="http://schemas.openxmlformats.org/drawingml/2006/main">
              <a:ext uri="{FF2B5EF4-FFF2-40B4-BE49-F238E27FC236}">
                <a16:creationId xmlns:a16="http://schemas.microsoft.com/office/drawing/2014/main" id="{96932FD3-CFF4-426F-88E5-C9F6EC3D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56</a:t>
            </a:r>
          </a:p>
        </p:txBody>
      </p:sp>
    </p:spTree>
    <p:extLst>
      <p:ext uri="{BB962C8B-B14F-4D97-AF65-F5344CB8AC3E}">
        <p14:creationId xmlns:p14="http://schemas.microsoft.com/office/powerpoint/2010/main" val="6786842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040A3637-1B3C-415F-A39C-05E61AAD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9C8589D8-C586-4D32-B7CF-A746928F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E31F3-D93E-4ECD-8A18-E6B25AB23425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666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666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BCDA359E-3405-413A-A24C-33126C70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more 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22AC0150-BAFE-47A9-A286-0F40AF5C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9EB13-D828-4157-94C9-ADCD8C81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2] Topic 7A: dependencies and Amdahl; [11] St">
            <a:extLst xmlns:a="http://schemas.openxmlformats.org/drawingml/2006/main">
              <a:ext uri="{FF2B5EF4-FFF2-40B4-BE49-F238E27FC236}">
                <a16:creationId xmlns:a16="http://schemas.microsoft.com/office/drawing/2014/main" id="{3BD58A4D-6DD5-407E-9EB6-BF396D5C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[11] Strubell et al. 2019: cost and equity; [13] Schwartz et al. 2019: efficiency reporting</a:t>
            </a:r>
          </a:p>
        </p:txBody>
      </p:sp>
      <p:sp>
        <p:nvSpPr>
          <p:cNvPr id="8" name="26 / 56">
            <a:extLst xmlns:a="http://schemas.openxmlformats.org/drawingml/2006/main">
              <a:ext uri="{FF2B5EF4-FFF2-40B4-BE49-F238E27FC236}">
                <a16:creationId xmlns:a16="http://schemas.microsoft.com/office/drawing/2014/main" id="{92CD9B06-8CC2-41A4-8D74-9B1FDA83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56</a:t>
            </a:r>
          </a:p>
        </p:txBody>
      </p:sp>
    </p:spTree>
    <p:extLst>
      <p:ext uri="{BB962C8B-B14F-4D97-AF65-F5344CB8AC3E}">
        <p14:creationId xmlns:p14="http://schemas.microsoft.com/office/powerpoint/2010/main" val="17675908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F336839E-A0B9-4B3B-A7A9-1F49C005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BB76A054-DDAE-4243-ABAE-5A0F0E7B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EA013C66-DF98-4C51-A07B-76EDD373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63C885BC-39D5-40E6-AA5C-91625823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97CD53E3-A102-4ED2-B6F3-47C4DB88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C8BE9DC8-D219-4FBC-8A11-43572880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52962A59-442F-4E1F-BAA8-46FB1D66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393B360E-701C-4E3F-BB1D-74247F6E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88E56613-9A41-4884-8F42-7B94F4CA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EE92EE42-6D1B-4302-BA4C-D4EFF3AF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451CE-DE25-4508-A693-61CB9E36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277D9-AF11-41D4-9FE4-CA6E98D1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AE838724-BE9B-4BF3-89D3-42B0390E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[11] Strubell et al. 2019: cost and equity; [12] Li et al. 2025 revision: water impacts;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27 / 56">
            <a:extLst xmlns:a="http://schemas.openxmlformats.org/drawingml/2006/main">
              <a:ext uri="{FF2B5EF4-FFF2-40B4-BE49-F238E27FC236}">
                <a16:creationId xmlns:a16="http://schemas.microsoft.com/office/drawing/2014/main" id="{FFFD58A2-1497-49F5-8D76-5C31C05A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56</a:t>
            </a:r>
          </a:p>
        </p:txBody>
      </p:sp>
    </p:spTree>
    <p:extLst>
      <p:ext uri="{BB962C8B-B14F-4D97-AF65-F5344CB8AC3E}">
        <p14:creationId xmlns:p14="http://schemas.microsoft.com/office/powerpoint/2010/main" val="16900583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889A3170-AC8C-4EDC-BB7B-46FEED93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12F8B1B7-7CB8-416E-9C03-B46A447F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D2A17-0D1E-49AD-8A1F-C9188C0D3038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4E8EF980-A95A-403B-A2C2-EA53480E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D11C6-1835-4ABF-8FA3-323D31F1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4] Zhu et al. 2019: exposed gradients; [18] ">
            <a:extLst xmlns:a="http://schemas.openxmlformats.org/drawingml/2006/main">
              <a:ext uri="{FF2B5EF4-FFF2-40B4-BE49-F238E27FC236}">
                <a16:creationId xmlns:a16="http://schemas.microsoft.com/office/drawing/2014/main" id="{6A76BC1F-4129-4732-9A87-89038920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[18] OECD: rights, fairness and accountability; [19] NIST: Govern, Map, Measure, Manage</a:t>
            </a:r>
          </a:p>
        </p:txBody>
      </p:sp>
      <p:sp>
        <p:nvSpPr>
          <p:cNvPr id="7" name="28 / 56">
            <a:extLst xmlns:a="http://schemas.openxmlformats.org/drawingml/2006/main">
              <a:ext uri="{FF2B5EF4-FFF2-40B4-BE49-F238E27FC236}">
                <a16:creationId xmlns:a16="http://schemas.microsoft.com/office/drawing/2014/main" id="{9FD76FF8-9C7E-4BEC-A41B-8523494A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56</a:t>
            </a:r>
          </a:p>
        </p:txBody>
      </p:sp>
    </p:spTree>
    <p:extLst>
      <p:ext uri="{BB962C8B-B14F-4D97-AF65-F5344CB8AC3E}">
        <p14:creationId xmlns:p14="http://schemas.microsoft.com/office/powerpoint/2010/main" val="15742749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AFDD1FDC-DAD5-4237-A94B-81F800B2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AB8FF4A8-5593-4285-BFCA-99E9396D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64D399BD-C1E0-404C-9ED2-65D24CF0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AI service may have unequa">
            <a:extLst xmlns:a="http://schemas.openxmlformats.org/drawingml/2006/main">
              <a:ext uri="{FF2B5EF4-FFF2-40B4-BE49-F238E27FC236}">
                <a16:creationId xmlns:a16="http://schemas.microsoft.com/office/drawing/2014/main" id="{094DB387-F65F-49E9-829F-CD6984FD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AI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74EF0FE5-7EF6-454B-9C89-86BF2DA6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98380A16-7E6E-4040-BE34-4A555668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D1AF7E2F-4D27-471B-997D-2DD2C685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1C93CE30-A9DE-4CDD-8948-D852967A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08FCE68E-EA3F-4AA4-9504-720ABD28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E3A743AE-C5E8-4C6E-AEAB-FFCBF363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AA260-8306-468A-89AD-8A3DF48C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BE17D-4C13-4A1A-A351-87302673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5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295A4344-C44C-4D4F-AA06-6C31E17A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[15] Gallegos et al. 2024: fairness evaluation; [18] OECD: rights, fairness and accountability; [19] NIST: Govern, Map, Measure, Manage</a:t>
            </a:r>
          </a:p>
        </p:txBody>
      </p:sp>
      <p:sp>
        <p:nvSpPr>
          <p:cNvPr id="14" name="29 / 56">
            <a:extLst xmlns:a="http://schemas.openxmlformats.org/drawingml/2006/main">
              <a:ext uri="{FF2B5EF4-FFF2-40B4-BE49-F238E27FC236}">
                <a16:creationId xmlns:a16="http://schemas.microsoft.com/office/drawing/2014/main" id="{18995BE7-FEFD-4873-AE52-D8A6AEC9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56</a:t>
            </a:r>
          </a:p>
        </p:txBody>
      </p:sp>
    </p:spTree>
    <p:extLst>
      <p:ext uri="{BB962C8B-B14F-4D97-AF65-F5344CB8AC3E}">
        <p14:creationId xmlns:p14="http://schemas.microsoft.com/office/powerpoint/2010/main" val="71366250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03EFF5E2-FD48-4A61-9453-BC10273C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C2C91F0C-2C7E-4C40-8521-21013CD2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18FBE9D6-9560-4802-AC4A-5ED02DE9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46C86F73-C864-4D8A-963C-1B942EE9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190A2889-3D16-49EE-83F1-AF282027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194A4E11-270C-4274-813F-D019683C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95EF6F32-3BBC-4971-8750-D8764ABA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C9656351-D062-4A23-A15A-EAF739A5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A78DC367-1E91-4418-81D6-A13EDA85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6A07189F-DEC0-4C11-A916-50A5CC69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E3710-0194-4C96-B4F4-D34132A3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22C93-80BD-4BEC-8758-0E177E58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B813AFED-F85D-4F13-9B27-0B6C09B3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divide; [22] Topic 9B: mutual exclusion and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4" name="30 / 56">
            <a:extLst xmlns:a="http://schemas.openxmlformats.org/drawingml/2006/main">
              <a:ext uri="{FF2B5EF4-FFF2-40B4-BE49-F238E27FC236}">
                <a16:creationId xmlns:a16="http://schemas.microsoft.com/office/drawing/2014/main" id="{DE9114C3-7F80-4034-A844-32D7F0C9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56</a:t>
            </a:r>
          </a:p>
        </p:txBody>
      </p:sp>
    </p:spTree>
    <p:extLst>
      <p:ext uri="{BB962C8B-B14F-4D97-AF65-F5344CB8AC3E}">
        <p14:creationId xmlns:p14="http://schemas.microsoft.com/office/powerpoint/2010/main" val="146485689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7D854921-7AB9-47A4-A553-D62AEC3F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D0BAC608-FE97-4B9B-ABC8-E92B2D27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BF28E-0793-41FF-9FED-589E152BA9D9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Green AI motivates measurement; scheduling research sup">
            <a:extLst xmlns:a="http://schemas.openxmlformats.org/drawingml/2006/main">
              <a:ext uri="{FF2B5EF4-FFF2-40B4-BE49-F238E27FC236}">
                <a16:creationId xmlns:a16="http://schemas.microsoft.com/office/drawing/2014/main" id="{584D1C5A-93DD-4CBF-AB79-349896B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Green AI motivates measurement; scheduling research supplies a mechanism; OECD/NIST guide values and risk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management. The combination is our proposal.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13026-60CB-420E-A55B-3789D312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92661ABB-8834-4FC4-9BE3-68B7F116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31 / 56">
            <a:extLst xmlns:a="http://schemas.openxmlformats.org/drawingml/2006/main">
              <a:ext uri="{FF2B5EF4-FFF2-40B4-BE49-F238E27FC236}">
                <a16:creationId xmlns:a16="http://schemas.microsoft.com/office/drawing/2014/main" id="{376CB8EC-61FA-4FE3-898A-577BB1B4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56</a:t>
            </a:r>
          </a:p>
        </p:txBody>
      </p:sp>
    </p:spTree>
    <p:extLst>
      <p:ext uri="{BB962C8B-B14F-4D97-AF65-F5344CB8AC3E}">
        <p14:creationId xmlns:p14="http://schemas.microsoft.com/office/powerpoint/2010/main" val="1213721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C9D39-5563-45CA-999B-87BC4463B0A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B1E04-FEF3-43F5-814D-AD5F697A165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head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BD940E44-33D8-4256-8279-1A2BD04F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F67325B3-BAA2-401E-B84D-D8C6192A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C6408-B52B-4EEB-BA6B-0FCF0B67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7F4AF-C009-47DE-970E-7F2F2546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BE95F-CD70-4721-95DB-9F25CCCE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7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AD003AC0-9067-4142-B60A-21AB0AD7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[17]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6E41752B-FB09-4841-B159-D2ACF780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4FEB923E-E884-4831-8B2A-F7793B1D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E36DD-78D9-481B-9CB6-6B5F42A7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73AD2560-113A-47D1-AD81-CEE16860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3B880-BF1E-4408-8A1D-130DB108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12] Li et al. 2025 revision: water impacts; [">
            <a:extLst xmlns:a="http://schemas.openxmlformats.org/drawingml/2006/main">
              <a:ext uri="{FF2B5EF4-FFF2-40B4-BE49-F238E27FC236}">
                <a16:creationId xmlns:a16="http://schemas.microsoft.com/office/drawing/2014/main" id="{6AF458B7-2980-470E-A6B8-40E94BC5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Li et al. 2025 revision: water impacts; [17] Radovanovic et al. 2021: flexible scheduling; [19] NIST: Govern, Map, Measure, Manage</a:t>
            </a:r>
          </a:p>
        </p:txBody>
      </p:sp>
      <p:sp>
        <p:nvSpPr>
          <p:cNvPr id="15" name="32 / 56">
            <a:extLst xmlns:a="http://schemas.openxmlformats.org/drawingml/2006/main">
              <a:ext uri="{FF2B5EF4-FFF2-40B4-BE49-F238E27FC236}">
                <a16:creationId xmlns:a16="http://schemas.microsoft.com/office/drawing/2014/main" id="{41DF28C3-4796-4CE0-9529-812C88FC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56</a:t>
            </a:r>
          </a:p>
        </p:txBody>
      </p:sp>
    </p:spTree>
    <p:extLst>
      <p:ext uri="{BB962C8B-B14F-4D97-AF65-F5344CB8AC3E}">
        <p14:creationId xmlns:p14="http://schemas.microsoft.com/office/powerpoint/2010/main" val="19766674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2802039D-15A3-472A-9DE3-6D07CC00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FD1C4144-6160-447F-9748-719AB36F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80AFF-FD3E-42FC-AA95-289CB00E7854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[11,13] versus water-footprint research [12]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[14] versus fairness evaluation survey [15]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[16] versus workload cost/equity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[13] versus operational scheduling [17]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9,10] and governance fr">
            <a:extLst xmlns:a="http://schemas.openxmlformats.org/drawingml/2006/main">
              <a:ext uri="{FF2B5EF4-FFF2-40B4-BE49-F238E27FC236}">
                <a16:creationId xmlns:a16="http://schemas.microsoft.com/office/drawing/2014/main" id="{8A7C8D6E-5E34-44DD-A0AC-010C32C8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[9,10] and governance frameworks [18,19] complement the research; they do not replace its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AF1EC-ABFE-469C-9B21-86D54F38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Strubell et al. 2019: cost and equity; [1">
            <a:extLst xmlns:a="http://schemas.openxmlformats.org/drawingml/2006/main">
              <a:ext uri="{FF2B5EF4-FFF2-40B4-BE49-F238E27FC236}">
                <a16:creationId xmlns:a16="http://schemas.microsoft.com/office/drawing/2014/main" id="{0D534459-30C2-4706-83A8-11ED0757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Strubell et al. 2019: cost and equity; [12] Li et al. 2025 revision: water impacts; [13] Schwartz et al. 2019: efficiency reporting; [14] Zhu et al. 2019: exposed gradients;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[15] Gallegos et al. 2024: fairness evaluation; [16] Ahmed and Wahed 2020: compute divide; [17] Radovanovic et al. 2021: flexible scheduling</a:t>
            </a:r>
          </a:p>
        </p:txBody>
      </p:sp>
      <p:sp>
        <p:nvSpPr>
          <p:cNvPr id="7" name="33 / 56">
            <a:extLst xmlns:a="http://schemas.openxmlformats.org/drawingml/2006/main">
              <a:ext uri="{FF2B5EF4-FFF2-40B4-BE49-F238E27FC236}">
                <a16:creationId xmlns:a16="http://schemas.microsoft.com/office/drawing/2014/main" id="{39F86640-8C00-42CA-9EA4-B34C26BA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56</a:t>
            </a:r>
          </a:p>
        </p:txBody>
      </p:sp>
    </p:spTree>
    <p:extLst>
      <p:ext uri="{BB962C8B-B14F-4D97-AF65-F5344CB8AC3E}">
        <p14:creationId xmlns:p14="http://schemas.microsoft.com/office/powerpoint/2010/main" val="198688152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05A1EA10-F260-4E94-B05B-58BEE9C8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A6E535FC-1316-40D8-9D06-D25D0B0F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6D4A3F7F-93F2-4363-B3D5-C0C906D3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24AFC45A-0757-4D83-8985-5B3958AF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D0F0DB69-C17C-4484-A9FE-7AA0A3F3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07B73FCF-CEE7-4C27-88EE-936053B3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CCE84778-F92C-48B1-A55C-965547E4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65D76C6C-22D3-4589-8204-A91BFEB4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BA2D1B5F-A999-44B8-AFF5-B7EC8AB9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DF57F04C-18AE-43C8-ADEA-49F4E366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4797A-8562-4370-BF8F-7E4DF2DB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CF670-3F75-485E-9882-C83FAF0D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3DA9D960-67FB-47D8-8198-514B0648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Practices; [6] NVIDIA GDS overview; [7] NVIDIA GDS design;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reporting; [17] Radovanovic et al. 2021: flexible scheduling; [19] NIST: Govern, Map, Measure, Manage</a:t>
            </a:r>
          </a:p>
        </p:txBody>
      </p:sp>
      <p:sp>
        <p:nvSpPr>
          <p:cNvPr id="14" name="34 / 56">
            <a:extLst xmlns:a="http://schemas.openxmlformats.org/drawingml/2006/main">
              <a:ext uri="{FF2B5EF4-FFF2-40B4-BE49-F238E27FC236}">
                <a16:creationId xmlns:a16="http://schemas.microsoft.com/office/drawing/2014/main" id="{627752B4-7902-4670-B6C6-5637478C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56</a:t>
            </a:r>
          </a:p>
        </p:txBody>
      </p:sp>
    </p:spTree>
    <p:extLst>
      <p:ext uri="{BB962C8B-B14F-4D97-AF65-F5344CB8AC3E}">
        <p14:creationId xmlns:p14="http://schemas.microsoft.com/office/powerpoint/2010/main" val="3108233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6">
            <a:extLst xmlns:a="http://schemas.openxmlformats.org/drawingml/2006/main">
              <a:ext uri="{FF2B5EF4-FFF2-40B4-BE49-F238E27FC236}">
                <a16:creationId xmlns:a16="http://schemas.microsoft.com/office/drawing/2014/main" id="{6A60EB17-6F9C-4C80-93CE-1F875E08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BCF2FAC6-1D7B-4B7D-8E18-04161A84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] Monash University, FIT3143 Topic 8: Vector processi">
            <a:extLst xmlns:a="http://schemas.openxmlformats.org/drawingml/2006/main">
              <a:ext uri="{FF2B5EF4-FFF2-40B4-BE49-F238E27FC236}">
                <a16:creationId xmlns:a16="http://schemas.microsoft.com/office/drawing/2014/main" id="{A1435B22-E8F6-40E6-B77D-A5ED90AD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[1] Monash University, FIT3143 Topic 8: Vector processing, GPUs and NPUs, course slides, 2024, pp. 18–23, 32–35,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41–46.</a:t>
            </a:r>
          </a:p>
        </p:txBody>
      </p:sp>
      <p:sp>
        <p:nvSpPr>
          <p:cNvPr id="4" name="../context/FIT3143-Topic-8-2024.pdf">
            <a:extLst xmlns:a="http://schemas.openxmlformats.org/drawingml/2006/main">
              <a:ext uri="{FF2B5EF4-FFF2-40B4-BE49-F238E27FC236}">
                <a16:creationId xmlns:a16="http://schemas.microsoft.com/office/drawing/2014/main" id="{019C120B-63B1-48C7-AAE8-91D1E33A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../context/FIT3143-Topic-8-2024.pdf</a:t>
            </a:r>
          </a:p>
        </p:txBody>
      </p:sp>
      <p:sp>
        <p:nvSpPr>
          <p:cNvPr id="5" name="[2] Monash University, FIT3143 Topic 7A: Parallel perfo">
            <a:extLst xmlns:a="http://schemas.openxmlformats.org/drawingml/2006/main">
              <a:ext uri="{FF2B5EF4-FFF2-40B4-BE49-F238E27FC236}">
                <a16:creationId xmlns:a16="http://schemas.microsoft.com/office/drawing/2014/main" id="{0023C764-4F32-422A-BB8E-BA449ECE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Monash University, FIT3143 Topic 7A: Parallel performance and Amdahl reasoning, course slides, 2024, pp. 6–15,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18–27.</a:t>
            </a:r>
          </a:p>
        </p:txBody>
      </p:sp>
      <p:sp>
        <p:nvSpPr>
          <p:cNvPr id="6" name="../context/FIT3143-Topic-7A-2024.pdf">
            <a:extLst xmlns:a="http://schemas.openxmlformats.org/drawingml/2006/main">
              <a:ext uri="{FF2B5EF4-FFF2-40B4-BE49-F238E27FC236}">
                <a16:creationId xmlns:a16="http://schemas.microsoft.com/office/drawing/2014/main" id="{EDCF45C4-ECDA-4403-A464-D4171A3F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../context/FIT3143-Topic-7A-2024.pdf</a:t>
            </a:r>
          </a:p>
        </p:txBody>
      </p:sp>
      <p:sp>
        <p:nvSpPr>
          <p:cNvPr id="7" name="[3] Monash University, FIT3143 Topic 9A: Synchronizatio">
            <a:extLst xmlns:a="http://schemas.openxmlformats.org/drawingml/2006/main">
              <a:ext uri="{FF2B5EF4-FFF2-40B4-BE49-F238E27FC236}">
                <a16:creationId xmlns:a16="http://schemas.microsoft.com/office/drawing/2014/main" id="{BD0EDBC0-949B-4B48-B1C3-07F8DE2C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Monash University, FIT3143 Topic 9A: Synchronization and dependencies, course slides, 2024, pp. 2–7.</a:t>
            </a:r>
          </a:p>
        </p:txBody>
      </p:sp>
      <p:sp>
        <p:nvSpPr>
          <p:cNvPr id="8" name="../context/FIT3143-Topic-9A-2024.pdf">
            <a:extLst xmlns:a="http://schemas.openxmlformats.org/drawingml/2006/main">
              <a:ext uri="{FF2B5EF4-FFF2-40B4-BE49-F238E27FC236}">
                <a16:creationId xmlns:a16="http://schemas.microsoft.com/office/drawing/2014/main" id="{04458187-B2A9-4EA1-B242-05EC73AF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../context/FIT3143-Topic-9A-2024.pdf</a:t>
            </a:r>
          </a:p>
        </p:txBody>
      </p:sp>
      <p:sp>
        <p:nvSpPr>
          <p:cNvPr id="9" name="[4] NVIDIA, “Programming model,” CUDA Programming Guide">
            <a:extLst xmlns:a="http://schemas.openxmlformats.org/drawingml/2006/main">
              <a:ext uri="{FF2B5EF4-FFF2-40B4-BE49-F238E27FC236}">
                <a16:creationId xmlns:a16="http://schemas.microsoft.com/office/drawing/2014/main" id="{A9BE20B8-68A9-4C63-BAE7-066E0055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“Programming model,” CUDA Programming Guide, online documentation, accessed Oct. 8, 2026.</a:t>
            </a:r>
          </a:p>
        </p:txBody>
      </p:sp>
      <p:sp>
        <p:nvSpPr>
          <p:cNvPr id="10" name="https://docs.nvidia.com/cuda/cuda-programming-guide/01-">
            <a:extLst xmlns:a="http://schemas.openxmlformats.org/drawingml/2006/main">
              <a:ext uri="{FF2B5EF4-FFF2-40B4-BE49-F238E27FC236}">
                <a16:creationId xmlns:a16="http://schemas.microsoft.com/office/drawing/2014/main" id="{F331B2F9-EE43-470D-AED6-7C44E61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a68d44d4fad42fc"/>
              </a:rPr>
              <a:t>https://docs.nvidia.com/cuda/cuda-programming-guide/01-introduction/programming-model.html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D4290-ED3E-45DB-AE19-CB627332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1C4850DD-E8E6-45A9-AC11-6F5420AD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5 / 56">
            <a:extLst xmlns:a="http://schemas.openxmlformats.org/drawingml/2006/main">
              <a:ext uri="{FF2B5EF4-FFF2-40B4-BE49-F238E27FC236}">
                <a16:creationId xmlns:a16="http://schemas.microsoft.com/office/drawing/2014/main" id="{62AF2DE9-6174-4326-92C6-C2CE7A9E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56</a:t>
            </a:r>
          </a:p>
        </p:txBody>
      </p:sp>
    </p:spTree>
    <p:extLst>
      <p:ext uri="{BB962C8B-B14F-4D97-AF65-F5344CB8AC3E}">
        <p14:creationId xmlns:p14="http://schemas.microsoft.com/office/powerpoint/2010/main" val="15010282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6">
            <a:extLst xmlns:a="http://schemas.openxmlformats.org/drawingml/2006/main">
              <a:ext uri="{FF2B5EF4-FFF2-40B4-BE49-F238E27FC236}">
                <a16:creationId xmlns:a16="http://schemas.microsoft.com/office/drawing/2014/main" id="{EC8906D9-98B8-4451-B549-850D7F69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60BB43BE-8609-404A-8EBE-D4A5BDDD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5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86AD14BF-B90A-4855-B93F-8DB7707D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CUDA C++ Best Practices Guide, online documentation, accessed Oct. 8, 2026.</a:t>
            </a:r>
          </a:p>
        </p:txBody>
      </p:sp>
      <p:sp>
        <p:nvSpPr>
          <p:cNvPr id="4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035774F1-9268-4732-9D58-C8D4FCE6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71a9c4f492f4b27"/>
              </a:rPr>
              <a:t>https://docs.nvidia.com/cuda/cuda-c-best-practices-guide/index.html</a:t>
            </a:r>
          </a:p>
        </p:txBody>
      </p:sp>
      <p:sp>
        <p:nvSpPr>
          <p:cNvPr id="5" name="[6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3A10711C-BA6E-41F5-BBC0-AEF4EABF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NVIDIA, GPUDirect Storage Overview Guide, online documentation, accessed Oct. 8, 2026.</a:t>
            </a:r>
          </a:p>
        </p:txBody>
      </p:sp>
      <p:sp>
        <p:nvSpPr>
          <p:cNvPr id="6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9D0645EC-D807-48B0-AAA6-2077CFB2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61c42dfc1d644e4"/>
              </a:rPr>
              <a:t>https://docs.nvidia.com/gpudirect-storage/overview-guide/index.html</a:t>
            </a:r>
          </a:p>
        </p:txBody>
      </p:sp>
      <p:sp>
        <p:nvSpPr>
          <p:cNvPr id="7" name="[7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118F06F8-807B-4AF3-9BB0-356BA10B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NVIDIA, GPUDirect Storage Design Guide, online documentation, accessed Oct. 8, 2026.</a:t>
            </a:r>
          </a:p>
        </p:txBody>
      </p:sp>
      <p:sp>
        <p:nvSpPr>
          <p:cNvPr id="8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B96758EA-39E0-4B66-BD4D-71BC6272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f629edea3d64e37"/>
              </a:rPr>
              <a:t>https://docs.nvidia.com/gpudirect-storage/design-guide/index.html</a:t>
            </a:r>
          </a:p>
        </p:txBody>
      </p:sp>
      <p:sp>
        <p:nvSpPr>
          <p:cNvPr id="9" name="[8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AE026E1E-45EC-4FC3-8936-64BE2311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NVIDIA, “Parallelism strategies guide,” Megatron Core, online documentation, accessed Oct. 8, 2026.</a:t>
            </a:r>
          </a:p>
        </p:txBody>
      </p:sp>
      <p:sp>
        <p:nvSpPr>
          <p:cNvPr id="10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41565426-8C90-42B9-8B64-CFA33071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8dcfe4cdd44454a"/>
              </a:rPr>
              <a:t>https://docs.nvidia.com/megatron-core/developer-guide/latest/user-guide/parallelism-guide.html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ECDC0-8D82-436D-86F9-8C414C26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B5C8DD6-6E11-4CB2-8D10-2FD96135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6 / 56">
            <a:extLst xmlns:a="http://schemas.openxmlformats.org/drawingml/2006/main">
              <a:ext uri="{FF2B5EF4-FFF2-40B4-BE49-F238E27FC236}">
                <a16:creationId xmlns:a16="http://schemas.microsoft.com/office/drawing/2014/main" id="{78317D59-FD35-4CBF-BCA6-ADE7412D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56</a:t>
            </a:r>
          </a:p>
        </p:txBody>
      </p:sp>
    </p:spTree>
    <p:extLst>
      <p:ext uri="{BB962C8B-B14F-4D97-AF65-F5344CB8AC3E}">
        <p14:creationId xmlns:p14="http://schemas.microsoft.com/office/powerpoint/2010/main" val="147519442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6">
            <a:extLst xmlns:a="http://schemas.openxmlformats.org/drawingml/2006/main">
              <a:ext uri="{FF2B5EF4-FFF2-40B4-BE49-F238E27FC236}">
                <a16:creationId xmlns:a16="http://schemas.microsoft.com/office/drawing/2014/main" id="{8056F877-A42F-4885-B16A-51C8192E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83E2692B-D08C-48D1-B97D-2C083DB3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9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87B9698F-D1DB-45ED-8B59-DCA88E86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4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75CEE3AC-790A-48F8-ACC2-D042BADA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4313a2b72914ea3"/>
              </a:rPr>
              <a:t>https://www.iea.org/reports/key-questions-on-energy-and-ai/executive-summary</a:t>
            </a:r>
          </a:p>
        </p:txBody>
      </p:sp>
      <p:sp>
        <p:nvSpPr>
          <p:cNvPr id="5" name="[10] U.S. National Science Foundation, “NAIRR at 2 year">
            <a:extLst xmlns:a="http://schemas.openxmlformats.org/drawingml/2006/main">
              <a:ext uri="{FF2B5EF4-FFF2-40B4-BE49-F238E27FC236}">
                <a16:creationId xmlns:a16="http://schemas.microsoft.com/office/drawing/2014/main" id="{E5B6D7C9-5372-4F3F-BFFC-BC0D6C19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6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971EF58D-EDBF-4F68-BED8-69BB030C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52be39961f6499e"/>
              </a:rPr>
              <a:t>https://www.nsf.gov/cise/updates/nairr-2-years-advancing-american-artificial-intelligence</a:t>
            </a:r>
          </a:p>
        </p:txBody>
      </p:sp>
      <p:sp>
        <p:nvSpPr>
          <p:cNvPr id="7" name="[11] E. Strubell, A. Ganesh, and A. McCallum, “Energy a">
            <a:extLst xmlns:a="http://schemas.openxmlformats.org/drawingml/2006/main">
              <a:ext uri="{FF2B5EF4-FFF2-40B4-BE49-F238E27FC236}">
                <a16:creationId xmlns:a16="http://schemas.microsoft.com/office/drawing/2014/main" id="{BF6B74DD-2D5E-47FA-8127-0E911190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8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8DD90769-0639-4218-9495-CCBC93C8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128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1eeb72971d64f4f"/>
              </a:rPr>
              <a:t>https://aclanthology.org/P19-1355/</a:t>
            </a:r>
          </a:p>
        </p:txBody>
      </p:sp>
      <p:sp>
        <p:nvSpPr>
          <p:cNvPr id="9" name="[12] P. Li, J. Yang, M. A. Islam, and S. Ren, “Making A">
            <a:extLst xmlns:a="http://schemas.openxmlformats.org/drawingml/2006/main">
              <a:ext uri="{FF2B5EF4-FFF2-40B4-BE49-F238E27FC236}">
                <a16:creationId xmlns:a16="http://schemas.microsoft.com/office/drawing/2014/main" id="{7681068E-F36E-42F2-9995-664249AB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10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41529A58-6623-47C7-A4DD-A9DF2CB8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474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725b96928004de0"/>
              </a:rPr>
              <a:t>https://arxiv.org/abs/2304.03271v5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BEF67-80F5-4501-A375-902BB0DF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77E58D2-6706-428E-9E1D-643B3A9C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7 / 56">
            <a:extLst xmlns:a="http://schemas.openxmlformats.org/drawingml/2006/main">
              <a:ext uri="{FF2B5EF4-FFF2-40B4-BE49-F238E27FC236}">
                <a16:creationId xmlns:a16="http://schemas.microsoft.com/office/drawing/2014/main" id="{BB1F6D18-1A76-491A-9A3C-D6FA2D1B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56</a:t>
            </a:r>
          </a:p>
        </p:txBody>
      </p:sp>
    </p:spTree>
    <p:extLst>
      <p:ext uri="{BB962C8B-B14F-4D97-AF65-F5344CB8AC3E}">
        <p14:creationId xmlns:p14="http://schemas.microsoft.com/office/powerpoint/2010/main" val="83188825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6">
            <a:extLst xmlns:a="http://schemas.openxmlformats.org/drawingml/2006/main">
              <a:ext uri="{FF2B5EF4-FFF2-40B4-BE49-F238E27FC236}">
                <a16:creationId xmlns:a16="http://schemas.microsoft.com/office/drawing/2014/main" id="{64B69949-27F4-4C11-8CDF-F4EAA16E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DA41E228-0110-414C-BB97-F86038E4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3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AE2CD681-2361-4714-8D5F-AE73C4F4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R. Schwartz, J. Dodge, N. A. Smith, and O. Etzioni, “Green AI,” arXiv:1907.10597, 2019.</a:t>
            </a:r>
          </a:p>
        </p:txBody>
      </p:sp>
      <p:sp>
        <p:nvSpPr>
          <p:cNvPr id="4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26AACEEB-84E7-42DE-8819-B57E707C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4aec2f74d2d471f"/>
              </a:rPr>
              <a:t>https://arxiv.org/abs/1907.10597</a:t>
            </a:r>
          </a:p>
        </p:txBody>
      </p:sp>
      <p:sp>
        <p:nvSpPr>
          <p:cNvPr id="5" name="[14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1E3B9EF7-0F48-4EC2-9F8F-CDA0FC4A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L. Zhu, Z. Liu, and S. Han, “Deep leakage from gradients,” arXiv:1906.08935v2, 2019.</a:t>
            </a:r>
          </a:p>
        </p:txBody>
      </p:sp>
      <p:sp>
        <p:nvSpPr>
          <p:cNvPr id="6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42476C52-2C40-4864-A2A5-F0F92BFB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bd64f0ab77740d5"/>
              </a:rPr>
              <a:t>https://arxiv.org/abs/1906.08935v2</a:t>
            </a:r>
          </a:p>
        </p:txBody>
      </p:sp>
      <p:sp>
        <p:nvSpPr>
          <p:cNvPr id="7" name="[15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AA2CB916-75F6-4293-955B-318E97E5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8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B9842A57-FED1-4CF0-9896-511DBF18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46b2c77844d46c3"/>
              </a:rPr>
              <a:t>https://aclanthology.org/2024.cl-3.8/</a:t>
            </a:r>
          </a:p>
        </p:txBody>
      </p:sp>
      <p:sp>
        <p:nvSpPr>
          <p:cNvPr id="9" name="[16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AE81984E-2152-4222-963C-7687A9EB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10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517D4F5D-BB2E-4116-982E-FA19AC3A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c42d970f5f64e97"/>
              </a:rPr>
              <a:t>https://arxiv.org/abs/2010.15581v1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0EBE2-1383-4464-B30E-612C8939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07D2FF1-DCD3-42B6-9383-A2063DB5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8 / 56">
            <a:extLst xmlns:a="http://schemas.openxmlformats.org/drawingml/2006/main">
              <a:ext uri="{FF2B5EF4-FFF2-40B4-BE49-F238E27FC236}">
                <a16:creationId xmlns:a16="http://schemas.microsoft.com/office/drawing/2014/main" id="{EA37017D-17A2-418B-BA62-9AE2845C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56</a:t>
            </a:r>
          </a:p>
        </p:txBody>
      </p:sp>
    </p:spTree>
    <p:extLst>
      <p:ext uri="{BB962C8B-B14F-4D97-AF65-F5344CB8AC3E}">
        <p14:creationId xmlns:p14="http://schemas.microsoft.com/office/powerpoint/2010/main" val="69627715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5/6">
            <a:extLst xmlns:a="http://schemas.openxmlformats.org/drawingml/2006/main">
              <a:ext uri="{FF2B5EF4-FFF2-40B4-BE49-F238E27FC236}">
                <a16:creationId xmlns:a16="http://schemas.microsoft.com/office/drawing/2014/main" id="{CA677F1D-FFED-4BDB-8C4A-7E852E93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CBAD08EC-23C6-441F-B91B-3A8FF9B5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7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42902730-31DA-472E-A827-BD26A790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A. Radovanovic et al., “Carbon-aware computing for datacenters,” arXiv:2106.11750v1, 2021.</a:t>
            </a:r>
          </a:p>
        </p:txBody>
      </p:sp>
      <p:sp>
        <p:nvSpPr>
          <p:cNvPr id="4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B58EF65E-099C-4082-933E-DD5189F7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69e394fbed246b5"/>
              </a:rPr>
              <a:t>https://arxiv.org/abs/2106.11750v1</a:t>
            </a:r>
          </a:p>
        </p:txBody>
      </p:sp>
      <p:sp>
        <p:nvSpPr>
          <p:cNvPr id="5" name="[18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B2420D59-F645-43A9-940B-7591C675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[18] OECD, “OECD AI Principles,” adopted 2019, updated 2024, accessed Oct. 8, 2026.</a:t>
            </a:r>
          </a:p>
        </p:txBody>
      </p:sp>
      <p:sp>
        <p:nvSpPr>
          <p:cNvPr id="6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61F00840-F93D-40E0-A70C-DE2BA224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f2d1e63a7cc44e5"/>
              </a:rPr>
              <a:t>https://www.oecd.org/en/topics/ai-principles.html</a:t>
            </a:r>
          </a:p>
        </p:txBody>
      </p:sp>
      <p:sp>
        <p:nvSpPr>
          <p:cNvPr id="7" name="[19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8190D1CA-CA5A-4DF8-9813-EC089854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[19] NIST, AI Risk Management Framework 1.0 Playbook, framework 2023, current online resource, accessed Oct. 8, 2026.</a:t>
            </a:r>
          </a:p>
        </p:txBody>
      </p:sp>
      <p:sp>
        <p:nvSpPr>
          <p:cNvPr id="8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63197BD6-8759-40FC-B545-11EAC98B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1d5b71402c44ac3"/>
              </a:rPr>
              <a:t>https://airc.nist.gov/airmf-resources/playbook/</a:t>
            </a:r>
          </a:p>
        </p:txBody>
      </p:sp>
      <p:sp>
        <p:nvSpPr>
          <p:cNvPr id="9" name="[20] NVIDIA, “Rotate,” NPP Image Geometry Transforms, C">
            <a:extLst xmlns:a="http://schemas.openxmlformats.org/drawingml/2006/main">
              <a:ext uri="{FF2B5EF4-FFF2-40B4-BE49-F238E27FC236}">
                <a16:creationId xmlns:a16="http://schemas.microsoft.com/office/drawing/2014/main" id="{FAE2F1D0-F77C-4B76-80E5-0FED8A80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[20] NVIDIA, “Rotate,” NPP Image Geometry Transforms, CUDA 13.0.3 archive documentation, accessed Oct. 8, 2026.</a:t>
            </a:r>
          </a:p>
        </p:txBody>
      </p:sp>
      <p:sp>
        <p:nvSpPr>
          <p:cNvPr id="10" name="https://docs.nvidia.com/cuda/archive/13.0.3/npp/image_g">
            <a:extLst xmlns:a="http://schemas.openxmlformats.org/drawingml/2006/main">
              <a:ext uri="{FF2B5EF4-FFF2-40B4-BE49-F238E27FC236}">
                <a16:creationId xmlns:a16="http://schemas.microsoft.com/office/drawing/2014/main" id="{6E86C543-0F2C-4ED0-B82B-0CC54DAC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ac1a6afb9ca4692"/>
              </a:rPr>
              <a:t>https://docs.nvidia.com/cuda/archive/13.0.3/npp/image_geometry_transforms.html#rotate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2E0C7-0D1C-44EE-A404-AE5F4E50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0AD4991-F32F-404F-AD7C-BF7E13CD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9 / 56">
            <a:extLst xmlns:a="http://schemas.openxmlformats.org/drawingml/2006/main">
              <a:ext uri="{FF2B5EF4-FFF2-40B4-BE49-F238E27FC236}">
                <a16:creationId xmlns:a16="http://schemas.microsoft.com/office/drawing/2014/main" id="{1CCD4427-65C0-430C-88F3-E2AAA68C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39 / 56</a:t>
            </a:r>
          </a:p>
        </p:txBody>
      </p:sp>
    </p:spTree>
    <p:extLst>
      <p:ext uri="{BB962C8B-B14F-4D97-AF65-F5344CB8AC3E}">
        <p14:creationId xmlns:p14="http://schemas.microsoft.com/office/powerpoint/2010/main" val="17574685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ppendix • References 6/6">
            <a:extLst xmlns:a="http://schemas.openxmlformats.org/drawingml/2006/main">
              <a:ext uri="{FF2B5EF4-FFF2-40B4-BE49-F238E27FC236}">
                <a16:creationId xmlns:a16="http://schemas.microsoft.com/office/drawing/2014/main" id="{C3BD6BFC-2CA2-4D19-942C-51FDF88D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6/6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104AA6D8-772C-45E9-930B-0DCCB6E7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1] Monash University, FIT3143 Week 5 combined course ">
            <a:extLst xmlns:a="http://schemas.openxmlformats.org/drawingml/2006/main">
              <a:ext uri="{FF2B5EF4-FFF2-40B4-BE49-F238E27FC236}">
                <a16:creationId xmlns:a16="http://schemas.microsoft.com/office/drawing/2014/main" id="{BEBAB1C0-8F22-4072-A0B3-F6740C1C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[21] Monash University, FIT3143 Week 5 combined course material, MPI collectives, pp. 148–155.</a:t>
            </a:r>
          </a:p>
        </p:txBody>
      </p:sp>
      <p:sp>
        <p:nvSpPr>
          <p:cNvPr id="4" name="../context/FIT3143_Week_5_Combined.pdf">
            <a:extLst xmlns:a="http://schemas.openxmlformats.org/drawingml/2006/main">
              <a:ext uri="{FF2B5EF4-FFF2-40B4-BE49-F238E27FC236}">
                <a16:creationId xmlns:a16="http://schemas.microsoft.com/office/drawing/2014/main" id="{BB34C689-A365-4DBD-8B4A-E7A1A2EA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../context/FIT3143_Week_5_Combined.pdf</a:t>
            </a:r>
          </a:p>
        </p:txBody>
      </p:sp>
      <p:sp>
        <p:nvSpPr>
          <p:cNvPr id="5" name="[22] Monash University, FIT3143 Topic 9B: Mutual exclus">
            <a:extLst xmlns:a="http://schemas.openxmlformats.org/drawingml/2006/main">
              <a:ext uri="{FF2B5EF4-FFF2-40B4-BE49-F238E27FC236}">
                <a16:creationId xmlns:a16="http://schemas.microsoft.com/office/drawing/2014/main" id="{5B9EE879-7C3F-48DB-A6D7-883A1EE7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[22] Monash University, FIT3143 Topic 9B: Mutual exclusion and resource allocation, course slides, 2024, pp. 4–16, 24–32.</a:t>
            </a:r>
          </a:p>
        </p:txBody>
      </p:sp>
      <p:sp>
        <p:nvSpPr>
          <p:cNvPr id="6" name="../context/FIT3143-Topic-9B-2024.pdf">
            <a:extLst xmlns:a="http://schemas.openxmlformats.org/drawingml/2006/main">
              <a:ext uri="{FF2B5EF4-FFF2-40B4-BE49-F238E27FC236}">
                <a16:creationId xmlns:a16="http://schemas.microsoft.com/office/drawing/2014/main" id="{3AFC4925-628B-42C1-ADC8-DE48E813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../context/FIT3143-Topic-9B-2024.pdf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9A9A7-145E-4933-B86D-7D9FBFDB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C151AE8-CA1B-4E71-B136-DEBC506D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9" name="40 / 56">
            <a:extLst xmlns:a="http://schemas.openxmlformats.org/drawingml/2006/main">
              <a:ext uri="{FF2B5EF4-FFF2-40B4-BE49-F238E27FC236}">
                <a16:creationId xmlns:a16="http://schemas.microsoft.com/office/drawing/2014/main" id="{4EC42749-D834-4313-8BD4-8D9A5BCA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40 / 56</a:t>
            </a:r>
          </a:p>
        </p:txBody>
      </p:sp>
    </p:spTree>
    <p:extLst>
      <p:ext uri="{BB962C8B-B14F-4D97-AF65-F5344CB8AC3E}">
        <p14:creationId xmlns:p14="http://schemas.microsoft.com/office/powerpoint/2010/main" val="130341193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AE7FE684-865E-48DE-AAF8-FB8A78D0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assistance and prompt-record provenance">
            <a:extLst xmlns:a="http://schemas.openxmlformats.org/drawingml/2006/main">
              <a:ext uri="{FF2B5EF4-FFF2-40B4-BE49-F238E27FC236}">
                <a16:creationId xmlns:a16="http://schemas.microsoft.com/office/drawing/2014/main" id="{9304CEC8-6DFA-43BA-B54F-EA11A583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assistance and prompt-record provenance</a:t>
            </a:r>
          </a:p>
        </p:txBody>
      </p:sp>
      <p:sp>
        <p:nvSpPr>
          <p:cNvPr id="3" name="Tools and assistance">
            <a:extLst xmlns:a="http://schemas.openxmlformats.org/drawingml/2006/main">
              <a:ext uri="{FF2B5EF4-FFF2-40B4-BE49-F238E27FC236}">
                <a16:creationId xmlns:a16="http://schemas.microsoft.com/office/drawing/2014/main" id="{C8F8224E-F6BE-4D6A-A598-341EAFE3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Tools and assistance</a:t>
            </a:r>
          </a:p>
        </p:txBody>
      </p:sp>
      <p:sp>
        <p:nvSpPr>
          <p:cNvPr id="4" name="OpenAI Codex was used on 6 and 8 October 2026 for resea">
            <a:extLst xmlns:a="http://schemas.openxmlformats.org/drawingml/2006/main">
              <a:ext uri="{FF2B5EF4-FFF2-40B4-BE49-F238E27FC236}">
                <a16:creationId xmlns:a16="http://schemas.microsoft.com/office/drawing/2014/main" id="{BC2EE6AA-3197-450D-8E68-8DA18D1A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Codex was used on 6 and 8 October 2026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research/source checks, drafting and revision,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examples, editable slide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diagrams/charts and presentation assembly.</a:t>
            </a:r>
          </a:p>
        </p:txBody>
      </p:sp>
      <p:sp>
        <p:nvSpPr>
          <p:cNvPr id="5" name="AI supported preparation. Students must understand and ">
            <a:extLst xmlns:a="http://schemas.openxmlformats.org/drawingml/2006/main">
              <a:ext uri="{FF2B5EF4-FFF2-40B4-BE49-F238E27FC236}">
                <a16:creationId xmlns:a16="http://schemas.microsoft.com/office/drawing/2014/main" id="{65644B24-A239-4501-A378-383E4CF9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supported preparation. Students must understand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validate submitted work; no AI use is permitted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during presentation/interview.</a:t>
            </a:r>
          </a:p>
        </p:txBody>
      </p:sp>
      <p:sp>
        <p:nvSpPr>
          <p:cNvPr id="6" name="Charts are cited sector evidence. Worked examples and p">
            <a:extLst xmlns:a="http://schemas.openxmlformats.org/drawingml/2006/main">
              <a:ext uri="{FF2B5EF4-FFF2-40B4-BE49-F238E27FC236}">
                <a16:creationId xmlns:a16="http://schemas.microsoft.com/office/drawing/2014/main" id="{56911841-7DDB-4C3A-81DD-F911583A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Charts are cited sector evidence. Worked examples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policy scenarios are labeled illustrative; CUDA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was not measured.</a:t>
            </a:r>
          </a:p>
        </p:txBody>
      </p:sp>
      <p:sp>
        <p:nvSpPr>
          <p:cNvPr id="7" name="Record included in this deck">
            <a:extLst xmlns:a="http://schemas.openxmlformats.org/drawingml/2006/main">
              <a:ext uri="{FF2B5EF4-FFF2-40B4-BE49-F238E27FC236}">
                <a16:creationId xmlns:a16="http://schemas.microsoft.com/office/drawing/2014/main" id="{85675C58-2600-4081-8A81-665061EA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Record included in this deck</a:t>
            </a:r>
          </a:p>
        </p:txBody>
      </p:sp>
      <p:sp>
        <p:nvSpPr>
          <p:cNvPr id="8" name="Earlier preparation prompts are reproduced from the sav">
            <a:extLst xmlns:a="http://schemas.openxmlformats.org/drawingml/2006/main">
              <a:ext uri="{FF2B5EF4-FFF2-40B4-BE49-F238E27FC236}">
                <a16:creationId xmlns:a16="http://schemas.microsoft.com/office/drawing/2014/main" id="{C15F5B5A-B904-4A76-978E-3DF260A5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preparation prompts are reproduced from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saved Task 1 and Task 2 records with original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spelling. The continuation records the available 8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October requests and supplied details.</a:t>
            </a:r>
          </a:p>
        </p:txBody>
      </p:sp>
      <p:sp>
        <p:nvSpPr>
          <p:cNvPr id="9" name="A recorded review goal is labeled as such, separate fro">
            <a:extLst xmlns:a="http://schemas.openxmlformats.org/drawingml/2006/main">
              <a:ext uri="{FF2B5EF4-FFF2-40B4-BE49-F238E27FC236}">
                <a16:creationId xmlns:a16="http://schemas.microsoft.com/office/drawing/2014/main" id="{809E699D-7EAE-46EC-B391-C57BC334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recorded review goal is labeled as such, separate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from direct user prompts. Environment/system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 and assistant/tool output are 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presented as student prompts.</a:t>
            </a:r>
          </a:p>
        </p:txBody>
      </p:sp>
      <p:sp>
        <p:nvSpPr>
          <p:cNvPr id="10" name="The accompanying PDF contains this same presentation, i">
            <a:extLst xmlns:a="http://schemas.openxmlformats.org/drawingml/2006/main">
              <a:ext uri="{FF2B5EF4-FFF2-40B4-BE49-F238E27FC236}">
                <a16:creationId xmlns:a16="http://schemas.microsoft.com/office/drawing/2014/main" id="{6552A06F-6C6D-4B63-A2ED-6C8A0271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accompanying PDF contains this same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presentation, including these records. Any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subsequent AI preparation must be appended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submission.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FE042-1DE0-4545-9F41-313E3013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D117A-BFA6-4587-9A04-CA1A2822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9BA479E-E832-4F4E-BD2F-C2CC7497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41 / 56">
            <a:extLst xmlns:a="http://schemas.openxmlformats.org/drawingml/2006/main">
              <a:ext uri="{FF2B5EF4-FFF2-40B4-BE49-F238E27FC236}">
                <a16:creationId xmlns:a16="http://schemas.microsoft.com/office/drawing/2014/main" id="{B39239AD-DA37-417E-9742-23E7E49B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41 / 56</a:t>
            </a:r>
          </a:p>
        </p:txBody>
      </p:sp>
    </p:spTree>
    <p:extLst>
      <p:ext uri="{BB962C8B-B14F-4D97-AF65-F5344CB8AC3E}">
        <p14:creationId xmlns:p14="http://schemas.microsoft.com/office/powerpoint/2010/main" val="147859206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1">
            <a:extLst xmlns:a="http://schemas.openxmlformats.org/drawingml/2006/main">
              <a:ext uri="{FF2B5EF4-FFF2-40B4-BE49-F238E27FC236}">
                <a16:creationId xmlns:a16="http://schemas.microsoft.com/office/drawing/2014/main" id="{F4F4BAE8-CC74-4FDF-999B-7DC0B91C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1</a:t>
            </a:r>
          </a:p>
        </p:txBody>
      </p:sp>
      <p:sp>
        <p:nvSpPr>
          <p:cNvPr id="2" name="Earlier task1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FD8C4FDE-FD8E-4972-B1A6-098E1F2B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1</a:t>
            </a:r>
          </a:p>
        </p:txBody>
      </p:sp>
      <p:sp>
        <p:nvSpPr>
          <p:cNvPr id="3" name="# AGENTS.md instructions&#10;&#10;&lt;INSTRUCTIONS&gt;&#10;&quot;You are an ex">
            <a:extLst xmlns:a="http://schemas.openxmlformats.org/drawingml/2006/main">
              <a:ext uri="{FF2B5EF4-FFF2-40B4-BE49-F238E27FC236}">
                <a16:creationId xmlns:a16="http://schemas.microsoft.com/office/drawing/2014/main" id="{6DC482B8-182B-4827-9D9B-6F462CF2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"You are an expert computer science professor and senior software engineer acting as a student mentor.Core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Guidelines:Pedagogy First: When I ask for code, don't just provide the solution. Explain the logic, data structures,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algorithmic complexity (Big O) involved.Focus on Fundamentals: Prioritize standard libraries and fundamental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concepts taught in CS curriculum (e.g., Data Structures &amp; Algorithms, Operating Systems).Academic Integrity &amp; Best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Practices: Write clean, modular, and well-commented code that adheres to industry standards (e.g., PEP8 for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Python).Edge Case Analysis: Always prompt me to think about edge cases (null inputs, empty sets, large inputs)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providing the final code.Debugging Approach: When I present code with a bug, help me trace the logic rather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than immediately providing the fix. Ask probing questions to guide me to the answer."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753BA-A066-48B9-BF4E-707310F5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D969603-F1A9-4243-AE28-0C4E6762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2 / 56">
            <a:extLst xmlns:a="http://schemas.openxmlformats.org/drawingml/2006/main">
              <a:ext uri="{FF2B5EF4-FFF2-40B4-BE49-F238E27FC236}">
                <a16:creationId xmlns:a16="http://schemas.microsoft.com/office/drawing/2014/main" id="{790F9F5A-9AD0-4EE7-8A25-0BA2EFE9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42 / 56</a:t>
            </a:r>
          </a:p>
        </p:txBody>
      </p:sp>
    </p:spTree>
    <p:extLst>
      <p:ext uri="{BB962C8B-B14F-4D97-AF65-F5344CB8AC3E}">
        <p14:creationId xmlns:p14="http://schemas.microsoft.com/office/powerpoint/2010/main" val="17074668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2">
            <a:extLst xmlns:a="http://schemas.openxmlformats.org/drawingml/2006/main">
              <a:ext uri="{FF2B5EF4-FFF2-40B4-BE49-F238E27FC236}">
                <a16:creationId xmlns:a16="http://schemas.microsoft.com/office/drawing/2014/main" id="{5774DC29-2B2D-4FC8-A76B-46E436AD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2</a:t>
            </a:r>
          </a:p>
        </p:txBody>
      </p:sp>
      <p:sp>
        <p:nvSpPr>
          <p:cNvPr id="2" name="Earlier task1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88593E4D-CCCC-43DD-94C0-6C247923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2</a:t>
            </a:r>
          </a:p>
        </p:txBody>
      </p:sp>
      <p:sp>
        <p:nvSpPr>
          <p:cNvPr id="3" name="in folder &quot;Applied 2&quot; you will have the content I want ">
            <a:extLst xmlns:a="http://schemas.openxmlformats.org/drawingml/2006/main">
              <a:ext uri="{FF2B5EF4-FFF2-40B4-BE49-F238E27FC236}">
                <a16:creationId xmlns:a16="http://schemas.microsoft.com/office/drawing/2014/main" id="{73610529-21A7-4315-86DB-8DE7AFE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folder "Applied 2" you will have the content I want you to work on, explain me what i need to do for task 1(since task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 is done by someboday else), create evrrythign later on if your creating in this folder, you can access all the content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this folder and help me do this applied correctly, fo rthe moment only tell me what I need to do for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336CE-8E6D-4B1F-9ACC-15AF678A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27C2AFE-ABC2-4A07-8F2E-16D9E184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3 / 56">
            <a:extLst xmlns:a="http://schemas.openxmlformats.org/drawingml/2006/main">
              <a:ext uri="{FF2B5EF4-FFF2-40B4-BE49-F238E27FC236}">
                <a16:creationId xmlns:a16="http://schemas.microsoft.com/office/drawing/2014/main" id="{5971179F-8F53-4EE1-B32E-923CED0C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43 / 56</a:t>
            </a:r>
          </a:p>
        </p:txBody>
      </p:sp>
    </p:spTree>
    <p:extLst>
      <p:ext uri="{BB962C8B-B14F-4D97-AF65-F5344CB8AC3E}">
        <p14:creationId xmlns:p14="http://schemas.microsoft.com/office/powerpoint/2010/main" val="191533983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1/3)">
            <a:extLst xmlns:a="http://schemas.openxmlformats.org/drawingml/2006/main">
              <a:ext uri="{FF2B5EF4-FFF2-40B4-BE49-F238E27FC236}">
                <a16:creationId xmlns:a16="http://schemas.microsoft.com/office/drawing/2014/main" id="{B4CE5A41-FB11-4BD6-8A03-CCD105F9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(1/3)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4D115D82-2154-45D3-99DB-05464963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here is some more context as well which you can add on ">
            <a:extLst xmlns:a="http://schemas.openxmlformats.org/drawingml/2006/main">
              <a:ext uri="{FF2B5EF4-FFF2-40B4-BE49-F238E27FC236}">
                <a16:creationId xmlns:a16="http://schemas.microsoft.com/office/drawing/2014/main" id="{F4CA45E2-3B86-48F7-945F-25F37FEB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here is some more context as well which you can add on - Parallel Computer Applied 10 - Based on image rotations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Include diagrams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task 1 - (4min)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focus on the Part D of the workshop from collab - 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D: Reflection Questions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Answer the following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is the role of the host and device in CUDA?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are threads organised into blocks and grids?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is brightness adjustment considered a data-parallel problem?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does GPU acceleration generally improve as image size increases?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overhead is introduced by CPU-GPU memory transfers?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89534-0D02-4FF2-8E43-F96A1B3E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85FF312-57C8-4D3B-9677-6F078830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4 / 56">
            <a:extLst xmlns:a="http://schemas.openxmlformats.org/drawingml/2006/main">
              <a:ext uri="{FF2B5EF4-FFF2-40B4-BE49-F238E27FC236}">
                <a16:creationId xmlns:a16="http://schemas.microsoft.com/office/drawing/2014/main" id="{5E4F22C7-6E1E-41F2-B3C1-67E6DBDF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44 / 56</a:t>
            </a:r>
          </a:p>
        </p:txBody>
      </p:sp>
    </p:spTree>
    <p:extLst>
      <p:ext uri="{BB962C8B-B14F-4D97-AF65-F5344CB8AC3E}">
        <p14:creationId xmlns:p14="http://schemas.microsoft.com/office/powerpoint/2010/main" val="28564705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2/3)">
            <a:extLst xmlns:a="http://schemas.openxmlformats.org/drawingml/2006/main">
              <a:ext uri="{FF2B5EF4-FFF2-40B4-BE49-F238E27FC236}">
                <a16:creationId xmlns:a16="http://schemas.microsoft.com/office/drawing/2014/main" id="{4BE62CCC-F39A-4F1B-B03A-38090B68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(2/3)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A065DDC5-B4D6-4F66-ACA4-AE45D19A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How many threads are launched when using:&#10;&#10;      Image">
            <a:extLst xmlns:a="http://schemas.openxmlformats.org/drawingml/2006/main">
              <a:ext uri="{FF2B5EF4-FFF2-40B4-BE49-F238E27FC236}">
                <a16:creationId xmlns:a16="http://schemas.microsoft.com/office/drawing/2014/main" id="{4931B372-26E1-48A8-8127-FEDE3A43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many threads are launched when using: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= 1024 x 1024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 Size = 16 x 16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If the GPU contained thousands of CUDA cores, how can they process millions of image pixels?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 2 - (3min)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how HPC is related to parallel computing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HPC relates to scaling and AI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to include statistics adn charts(make sure to get proper citation) and make sure you are able to properly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this and the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make sure to cover a few points not all (out of a,b,c,d), but not all have to be in detail (since some of them overlap)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atleast 1 point is explained in detail.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CD20E-632C-4724-BBE5-128CCC1F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23CCC56-F8A8-416D-8304-40C3A0AD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5 / 56">
            <a:extLst xmlns:a="http://schemas.openxmlformats.org/drawingml/2006/main">
              <a:ext uri="{FF2B5EF4-FFF2-40B4-BE49-F238E27FC236}">
                <a16:creationId xmlns:a16="http://schemas.microsoft.com/office/drawing/2014/main" id="{32A83B3B-7FD3-4BC6-8716-FAECEEC3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45 / 56</a:t>
            </a:r>
          </a:p>
        </p:txBody>
      </p:sp>
    </p:spTree>
    <p:extLst>
      <p:ext uri="{BB962C8B-B14F-4D97-AF65-F5344CB8AC3E}">
        <p14:creationId xmlns:p14="http://schemas.microsoft.com/office/powerpoint/2010/main" val="56277875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3/3)">
            <a:extLst xmlns:a="http://schemas.openxmlformats.org/drawingml/2006/main">
              <a:ext uri="{FF2B5EF4-FFF2-40B4-BE49-F238E27FC236}">
                <a16:creationId xmlns:a16="http://schemas.microsoft.com/office/drawing/2014/main" id="{7C81BDBC-3A40-42F7-9CFB-2B2D4E87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(3/3)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32714480-8B9F-4FE4-AFA9-E92C0331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Ex: &#10;&#10;total time to present 7 mins&#10;&#10;&#10;can task 1 be don">
            <a:extLst xmlns:a="http://schemas.openxmlformats.org/drawingml/2006/main">
              <a:ext uri="{FF2B5EF4-FFF2-40B4-BE49-F238E27FC236}">
                <a16:creationId xmlns:a16="http://schemas.microsoft.com/office/drawing/2014/main" id="{45323C3B-A11E-45FE-8C71-67DC8E8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time to present 7 mins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 task 1 be done by you or does it reqrueis desgnig somethign ? if you can do it go ahead and do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54952-B776-44D6-8388-BF05C3F5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F9858E2-A6BA-4935-8DF3-27BFB32E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6 / 56">
            <a:extLst xmlns:a="http://schemas.openxmlformats.org/drawingml/2006/main">
              <a:ext uri="{FF2B5EF4-FFF2-40B4-BE49-F238E27FC236}">
                <a16:creationId xmlns:a16="http://schemas.microsoft.com/office/drawing/2014/main" id="{0BFC383F-98B6-414E-9D4F-D6D2ADFB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46 / 56</a:t>
            </a:r>
          </a:p>
        </p:txBody>
      </p:sp>
    </p:spTree>
    <p:extLst>
      <p:ext uri="{BB962C8B-B14F-4D97-AF65-F5344CB8AC3E}">
        <p14:creationId xmlns:p14="http://schemas.microsoft.com/office/powerpoint/2010/main" val="88593869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4">
            <a:extLst xmlns:a="http://schemas.openxmlformats.org/drawingml/2006/main">
              <a:ext uri="{FF2B5EF4-FFF2-40B4-BE49-F238E27FC236}">
                <a16:creationId xmlns:a16="http://schemas.microsoft.com/office/drawing/2014/main" id="{EF3701A9-4678-40EA-B888-1700FBD4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4</a:t>
            </a:r>
          </a:p>
        </p:txBody>
      </p:sp>
      <p:sp>
        <p:nvSpPr>
          <p:cNvPr id="2" name="Earlier task2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8927F698-B9D5-4A69-88F0-433D73C2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1</a:t>
            </a:r>
          </a:p>
        </p:txBody>
      </p:sp>
      <p:sp>
        <p:nvSpPr>
          <p:cNvPr id="3" name="Are you able to push the changes to this git page and c">
            <a:extLst xmlns:a="http://schemas.openxmlformats.org/drawingml/2006/main">
              <a:ext uri="{FF2B5EF4-FFF2-40B4-BE49-F238E27FC236}">
                <a16:creationId xmlns:a16="http://schemas.microsoft.com/office/drawing/2014/main" id="{4EC916A1-0414-4E62-B713-44C577D3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you able to push the changes to this git page and create a new folder named applied2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https://github.com/Shamle-T/FIT3143-Parallel-Computing dont include any refernces of codex in the naming when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your creating a new folder. Let me know whether this is possible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734DB-DEBE-4A1C-8387-A71EF96C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D52541B-104E-466E-8179-B71B77CA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7 / 56">
            <a:extLst xmlns:a="http://schemas.openxmlformats.org/drawingml/2006/main">
              <a:ext uri="{FF2B5EF4-FFF2-40B4-BE49-F238E27FC236}">
                <a16:creationId xmlns:a16="http://schemas.microsoft.com/office/drawing/2014/main" id="{1E23C494-3953-4A7E-89A4-1AEC3ABC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47 / 56</a:t>
            </a:r>
          </a:p>
        </p:txBody>
      </p:sp>
    </p:spTree>
    <p:extLst>
      <p:ext uri="{BB962C8B-B14F-4D97-AF65-F5344CB8AC3E}">
        <p14:creationId xmlns:p14="http://schemas.microsoft.com/office/powerpoint/2010/main" val="56350064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5">
            <a:extLst xmlns:a="http://schemas.openxmlformats.org/drawingml/2006/main">
              <a:ext uri="{FF2B5EF4-FFF2-40B4-BE49-F238E27FC236}">
                <a16:creationId xmlns:a16="http://schemas.microsoft.com/office/drawing/2014/main" id="{7E20CB52-C823-4E9F-B263-E65969B3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5</a:t>
            </a:r>
          </a:p>
        </p:txBody>
      </p:sp>
      <p:sp>
        <p:nvSpPr>
          <p:cNvPr id="2" name="Earlier task2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10323D82-FE29-4516-B9D1-08D00C7E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2</a:t>
            </a:r>
          </a:p>
        </p:txBody>
      </p:sp>
      <p:sp>
        <p:nvSpPr>
          <p:cNvPr id="3" name="using a detailed comit message push the current changes">
            <a:extLst xmlns:a="http://schemas.openxmlformats.org/drawingml/2006/main">
              <a:ext uri="{FF2B5EF4-FFF2-40B4-BE49-F238E27FC236}">
                <a16:creationId xmlns:a16="http://schemas.microsoft.com/office/drawing/2014/main" id="{F98D25A3-668A-4441-B788-5A90C0AF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using a detailed comit message push the current changes to git and also do we need to do any code for task 1?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pushed do task 2 as well, and push the task 2 to git are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18829-300E-457B-A802-EFC8D4AC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75E7AAE-8798-491B-85D3-BF4B2F8C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8 / 56">
            <a:extLst xmlns:a="http://schemas.openxmlformats.org/drawingml/2006/main">
              <a:ext uri="{FF2B5EF4-FFF2-40B4-BE49-F238E27FC236}">
                <a16:creationId xmlns:a16="http://schemas.microsoft.com/office/drawing/2014/main" id="{14040CAE-737C-4BE5-8A90-BCB51E67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48 / 56</a:t>
            </a:r>
          </a:p>
        </p:txBody>
      </p:sp>
    </p:spTree>
    <p:extLst>
      <p:ext uri="{BB962C8B-B14F-4D97-AF65-F5344CB8AC3E}">
        <p14:creationId xmlns:p14="http://schemas.microsoft.com/office/powerpoint/2010/main" val="34851046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6">
            <a:extLst xmlns:a="http://schemas.openxmlformats.org/drawingml/2006/main">
              <a:ext uri="{FF2B5EF4-FFF2-40B4-BE49-F238E27FC236}">
                <a16:creationId xmlns:a16="http://schemas.microsoft.com/office/drawing/2014/main" id="{6BC3EFD1-9DD5-483D-B3DD-669D685C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6</a:t>
            </a:r>
          </a:p>
        </p:txBody>
      </p:sp>
      <p:sp>
        <p:nvSpPr>
          <p:cNvPr id="2" name="Earlier task2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9963CFCA-AECC-4F22-8C71-D0FEBEF9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3</a:t>
            </a:r>
          </a:p>
        </p:txBody>
      </p:sp>
      <p:sp>
        <p:nvSpPr>
          <p:cNvPr id="3" name="1)once you have compelted task 2, make sure you have ai">
            <a:extLst xmlns:a="http://schemas.openxmlformats.org/drawingml/2006/main">
              <a:ext uri="{FF2B5EF4-FFF2-40B4-BE49-F238E27FC236}">
                <a16:creationId xmlns:a16="http://schemas.microsoft.com/office/drawing/2014/main" id="{D5D315E1-8FED-4E87-B6DC-81001181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1)once you have compelted task 2, make sure you have aimed for HD in rubric yeah? for both task 1 and task 2 - if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update both tasks to cover HD level in the rubric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2) create a 6 minute script for both me (task1) and (task2) for my firend , make sure it doesnt sound overly robotic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since we will have to speak this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75249-DE22-485E-8614-7FF0CA10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FF972E3-35A4-4584-A7C9-9A1E2C84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9 / 56">
            <a:extLst xmlns:a="http://schemas.openxmlformats.org/drawingml/2006/main">
              <a:ext uri="{FF2B5EF4-FFF2-40B4-BE49-F238E27FC236}">
                <a16:creationId xmlns:a16="http://schemas.microsoft.com/office/drawing/2014/main" id="{C1A592ED-A513-4EA5-B005-C550BC99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49 / 56</a:t>
            </a:r>
          </a:p>
        </p:txBody>
      </p:sp>
    </p:spTree>
    <p:extLst>
      <p:ext uri="{BB962C8B-B14F-4D97-AF65-F5344CB8AC3E}">
        <p14:creationId xmlns:p14="http://schemas.microsoft.com/office/powerpoint/2010/main" val="128036580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7">
            <a:extLst xmlns:a="http://schemas.openxmlformats.org/drawingml/2006/main">
              <a:ext uri="{FF2B5EF4-FFF2-40B4-BE49-F238E27FC236}">
                <a16:creationId xmlns:a16="http://schemas.microsoft.com/office/drawing/2014/main" id="{4E9AB67C-8049-425A-B5FF-EE3C3F0C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7</a:t>
            </a:r>
          </a:p>
        </p:txBody>
      </p:sp>
      <p:sp>
        <p:nvSpPr>
          <p:cNvPr id="2" name="Earlier task2 preparation, record 4">
            <a:extLst xmlns:a="http://schemas.openxmlformats.org/drawingml/2006/main">
              <a:ext uri="{FF2B5EF4-FFF2-40B4-BE49-F238E27FC236}">
                <a16:creationId xmlns:a16="http://schemas.microsoft.com/office/drawing/2014/main" id="{76D46FD0-12DF-4793-965E-A4341DB8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4</a:t>
            </a:r>
          </a:p>
        </p:txBody>
      </p:sp>
      <p:sp>
        <p:nvSpPr>
          <p:cNvPr id="3" name="Six minutes total: 3 minutes each">
            <a:extLst xmlns:a="http://schemas.openxmlformats.org/drawingml/2006/main">
              <a:ext uri="{FF2B5EF4-FFF2-40B4-BE49-F238E27FC236}">
                <a16:creationId xmlns:a16="http://schemas.microsoft.com/office/drawing/2014/main" id="{08984529-A110-4740-AD70-750F6E3B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Six minutes total: 3 minutes 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9C742-F974-41D1-96FD-4B12D3B1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25549CE-60C5-437F-BA0F-EB576026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0 / 56">
            <a:extLst xmlns:a="http://schemas.openxmlformats.org/drawingml/2006/main">
              <a:ext uri="{FF2B5EF4-FFF2-40B4-BE49-F238E27FC236}">
                <a16:creationId xmlns:a16="http://schemas.microsoft.com/office/drawing/2014/main" id="{6DD35BB2-F3EE-46CF-B2E0-F03E79EF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50 / 56</a:t>
            </a:r>
          </a:p>
        </p:txBody>
      </p:sp>
    </p:spTree>
    <p:extLst>
      <p:ext uri="{BB962C8B-B14F-4D97-AF65-F5344CB8AC3E}">
        <p14:creationId xmlns:p14="http://schemas.microsoft.com/office/powerpoint/2010/main" val="76942129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8">
            <a:extLst xmlns:a="http://schemas.openxmlformats.org/drawingml/2006/main">
              <a:ext uri="{FF2B5EF4-FFF2-40B4-BE49-F238E27FC236}">
                <a16:creationId xmlns:a16="http://schemas.microsoft.com/office/drawing/2014/main" id="{C5096073-8E00-4107-BBCB-E2A9477E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8</a:t>
            </a:r>
          </a:p>
        </p:txBody>
      </p:sp>
      <p:sp>
        <p:nvSpPr>
          <p:cNvPr id="2" name="Repository synchronization">
            <a:extLst xmlns:a="http://schemas.openxmlformats.org/drawingml/2006/main">
              <a:ext uri="{FF2B5EF4-FFF2-40B4-BE49-F238E27FC236}">
                <a16:creationId xmlns:a16="http://schemas.microsoft.com/office/drawing/2014/main" id="{467D664B-1D25-418A-9197-1BCD7078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Repository synchronization</a:t>
            </a:r>
          </a:p>
        </p:txBody>
      </p:sp>
      <p:sp>
        <p:nvSpPr>
          <p:cNvPr id="3" name="pull the latest from the remote repo, push any local ch">
            <a:extLst xmlns:a="http://schemas.openxmlformats.org/drawingml/2006/main">
              <a:ext uri="{FF2B5EF4-FFF2-40B4-BE49-F238E27FC236}">
                <a16:creationId xmlns:a16="http://schemas.microsoft.com/office/drawing/2014/main" id="{DF4E418A-D42C-4F8F-868F-028052FE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pull the latest from the remote repo, push any local changes and merge, local changes arent important. main goal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 get the latest version of the "applied2" dir from the remote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49ED3-8B7F-4993-8126-9CE9D8B0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E382E96-AE9B-4F2E-8922-A9275DA0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1 / 56">
            <a:extLst xmlns:a="http://schemas.openxmlformats.org/drawingml/2006/main">
              <a:ext uri="{FF2B5EF4-FFF2-40B4-BE49-F238E27FC236}">
                <a16:creationId xmlns:a16="http://schemas.microsoft.com/office/drawing/2014/main" id="{41992877-2D96-41E4-8B8D-E87FB150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51 / 56</a:t>
            </a:r>
          </a:p>
        </p:txBody>
      </p:sp>
    </p:spTree>
    <p:extLst>
      <p:ext uri="{BB962C8B-B14F-4D97-AF65-F5344CB8AC3E}">
        <p14:creationId xmlns:p14="http://schemas.microsoft.com/office/powerpoint/2010/main" val="204777784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9">
            <a:extLst xmlns:a="http://schemas.openxmlformats.org/drawingml/2006/main">
              <a:ext uri="{FF2B5EF4-FFF2-40B4-BE49-F238E27FC236}">
                <a16:creationId xmlns:a16="http://schemas.microsoft.com/office/drawing/2014/main" id="{BF17F57B-BC0C-402A-B286-1DDFF3A9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9</a:t>
            </a:r>
          </a:p>
        </p:txBody>
      </p:sp>
      <p:sp>
        <p:nvSpPr>
          <p:cNvPr id="2" name="Review request">
            <a:extLst xmlns:a="http://schemas.openxmlformats.org/drawingml/2006/main">
              <a:ext uri="{FF2B5EF4-FFF2-40B4-BE49-F238E27FC236}">
                <a16:creationId xmlns:a16="http://schemas.microsoft.com/office/drawing/2014/main" id="{63F2D8B7-5EFA-4AA2-BC8E-C9B6B7E0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request</a:t>
            </a:r>
          </a:p>
        </p:txBody>
      </p:sp>
      <p:sp>
        <p:nvSpPr>
          <p:cNvPr id="3" name="- review the content in the root level context folder (">
            <a:extLst xmlns:a="http://schemas.openxmlformats.org/drawingml/2006/main">
              <a:ext uri="{FF2B5EF4-FFF2-40B4-BE49-F238E27FC236}">
                <a16:creationId xmlns:a16="http://schemas.microsoft.com/office/drawing/2014/main" id="{4E1E1EC2-59BC-49B3-90FB-ACC99A68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content in the root level context folder (with an emphasis on week's 7-9).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solutions to task 1 and task 2 in [applied2](applied2/) based on the specification [Applied #2 -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Assessment Specification.pdf](&lt;\&lt;applied2/assessment/Applied #2 - Assessment Specification.pdf\&gt;&gt;) . Identify any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key HD blockers in the solutions based on the rubric attached.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The solutions dont need to only use the theory in the context folder but where possible, they should.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8A626-ACB3-4DED-B79C-A42F7F84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7405BF9-9B4D-4D15-923C-6C4B4561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2 / 56">
            <a:extLst xmlns:a="http://schemas.openxmlformats.org/drawingml/2006/main">
              <a:ext uri="{FF2B5EF4-FFF2-40B4-BE49-F238E27FC236}">
                <a16:creationId xmlns:a16="http://schemas.microsoft.com/office/drawing/2014/main" id="{C826A3E7-7CE5-422E-9F7A-01D3DEFF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52 / 56</a:t>
            </a:r>
          </a:p>
        </p:txBody>
      </p:sp>
    </p:spTree>
    <p:extLst>
      <p:ext uri="{BB962C8B-B14F-4D97-AF65-F5344CB8AC3E}">
        <p14:creationId xmlns:p14="http://schemas.microsoft.com/office/powerpoint/2010/main" val="51976411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0">
            <a:extLst xmlns:a="http://schemas.openxmlformats.org/drawingml/2006/main">
              <a:ext uri="{FF2B5EF4-FFF2-40B4-BE49-F238E27FC236}">
                <a16:creationId xmlns:a16="http://schemas.microsoft.com/office/drawing/2014/main" id="{9008D41F-8556-4095-8F13-2ADB18AD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10</a:t>
            </a:r>
          </a:p>
        </p:txBody>
      </p:sp>
      <p:sp>
        <p:nvSpPr>
          <p:cNvPr id="2" name="Current preparation instructions">
            <a:extLst xmlns:a="http://schemas.openxmlformats.org/drawingml/2006/main">
              <a:ext uri="{FF2B5EF4-FFF2-40B4-BE49-F238E27FC236}">
                <a16:creationId xmlns:a16="http://schemas.microsoft.com/office/drawing/2014/main" id="{70B43540-4B87-4B97-9DAB-65BFD491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Current preparation instructions</a:t>
            </a:r>
          </a:p>
        </p:txBody>
      </p:sp>
      <p:sp>
        <p:nvSpPr>
          <p:cNvPr id="3" name="# AGENTS.md instructions&#10;&#10;&lt;INSTRUCTIONS&gt;&#10;- Answer immed">
            <a:extLst xmlns:a="http://schemas.openxmlformats.org/drawingml/2006/main">
              <a:ext uri="{FF2B5EF4-FFF2-40B4-BE49-F238E27FC236}">
                <a16:creationId xmlns:a16="http://schemas.microsoft.com/office/drawing/2014/main" id="{7E08F884-6590-47F9-AEDF-6919CDC1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Answer immediately without intro pleasantries, prompt repetitions, or polite filler.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Be concise. Avoid conversational fluff, over-explanation, and unsolicited summaries.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Rely strictly on verified facts. Never invent URLs, names, statistics, or quotes.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If an answer cannot be verified with absolute certainty, state "I do not know" instead of guessing.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For complex logic, perform brief step-by-step reasoning before delivering the final answer.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2B335-D797-476F-9676-F3EA882B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DB4BF03-FB34-4E25-8314-897DE0D7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3 / 56">
            <a:extLst xmlns:a="http://schemas.openxmlformats.org/drawingml/2006/main">
              <a:ext uri="{FF2B5EF4-FFF2-40B4-BE49-F238E27FC236}">
                <a16:creationId xmlns:a16="http://schemas.microsoft.com/office/drawing/2014/main" id="{D5722E5A-D3F9-409B-94B3-0E9A7EEC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53 / 56</a:t>
            </a:r>
          </a:p>
        </p:txBody>
      </p:sp>
    </p:spTree>
    <p:extLst>
      <p:ext uri="{BB962C8B-B14F-4D97-AF65-F5344CB8AC3E}">
        <p14:creationId xmlns:p14="http://schemas.microsoft.com/office/powerpoint/2010/main" val="88524611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Recorded goal 11">
            <a:extLst xmlns:a="http://schemas.openxmlformats.org/drawingml/2006/main">
              <a:ext uri="{FF2B5EF4-FFF2-40B4-BE49-F238E27FC236}">
                <a16:creationId xmlns:a16="http://schemas.microsoft.com/office/drawing/2014/main" id="{DBF613C7-0778-469C-B7AF-AD281F0A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Recorded goal 11</a:t>
            </a:r>
          </a:p>
        </p:txBody>
      </p:sp>
      <p:sp>
        <p:nvSpPr>
          <p:cNvPr id="2" name="Recorded review goal">
            <a:extLst xmlns:a="http://schemas.openxmlformats.org/drawingml/2006/main">
              <a:ext uri="{FF2B5EF4-FFF2-40B4-BE49-F238E27FC236}">
                <a16:creationId xmlns:a16="http://schemas.microsoft.com/office/drawing/2014/main" id="{A9C05804-5A38-42DA-B091-3AE99BBE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Recorded review goal</a:t>
            </a:r>
          </a:p>
        </p:txBody>
      </p:sp>
      <p:sp>
        <p:nvSpPr>
          <p:cNvPr id="3" name="Review the solutions to task 1 and task 2 in [applied2]">
            <a:extLst xmlns:a="http://schemas.openxmlformats.org/drawingml/2006/main">
              <a:ext uri="{FF2B5EF4-FFF2-40B4-BE49-F238E27FC236}">
                <a16:creationId xmlns:a16="http://schemas.microsoft.com/office/drawing/2014/main" id="{52A3A5DC-0A2E-483E-868C-00D7E95C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the solutions to task 1 and task 2 in [applied2](applied2/) based on the specification [Applied #2 - Assessment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Specification.pdf](&lt;applied2/assessment/Applied #2 - Assessment Specification.pdf&gt;) . Identify any key HD blockers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the solutions based on the rubric attached. Dont stop until you are certain you have identified every HD blocker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created an action plan which you can later execute to update the solutions to fix all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3D117-6113-4A2F-9984-C05168A4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BEF5E7D-129E-4504-AB20-2B65E6ED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4 / 56">
            <a:extLst xmlns:a="http://schemas.openxmlformats.org/drawingml/2006/main">
              <a:ext uri="{FF2B5EF4-FFF2-40B4-BE49-F238E27FC236}">
                <a16:creationId xmlns:a16="http://schemas.microsoft.com/office/drawing/2014/main" id="{59E01981-8847-4F8D-A344-0EE46571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54 / 56</a:t>
            </a:r>
          </a:p>
        </p:txBody>
      </p:sp>
    </p:spTree>
    <p:extLst>
      <p:ext uri="{BB962C8B-B14F-4D97-AF65-F5344CB8AC3E}">
        <p14:creationId xmlns:p14="http://schemas.microsoft.com/office/powerpoint/2010/main" val="57156660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2">
            <a:extLst xmlns:a="http://schemas.openxmlformats.org/drawingml/2006/main">
              <a:ext uri="{FF2B5EF4-FFF2-40B4-BE49-F238E27FC236}">
                <a16:creationId xmlns:a16="http://schemas.microsoft.com/office/drawing/2014/main" id="{6A44056A-C80A-4819-B3C6-BC4D3DDA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12</a:t>
            </a:r>
          </a:p>
        </p:txBody>
      </p:sp>
      <p:sp>
        <p:nvSpPr>
          <p:cNvPr id="2" name="Revision and presentation request">
            <a:extLst xmlns:a="http://schemas.openxmlformats.org/drawingml/2006/main">
              <a:ext uri="{FF2B5EF4-FFF2-40B4-BE49-F238E27FC236}">
                <a16:creationId xmlns:a16="http://schemas.microsoft.com/office/drawing/2014/main" id="{400588F7-CC41-49D6-BC1A-757A451A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Revision and presentation request</a:t>
            </a:r>
          </a:p>
        </p:txBody>
      </p:sp>
      <p:sp>
        <p:nvSpPr>
          <p:cNvPr id="3" name="Now, fix all the identified problems and HD blockers. D">
            <a:extLst xmlns:a="http://schemas.openxmlformats.org/drawingml/2006/main">
              <a:ext uri="{FF2B5EF4-FFF2-40B4-BE49-F238E27FC236}">
                <a16:creationId xmlns:a16="http://schemas.microsoft.com/office/drawing/2014/main" id="{98969D19-AABA-44E0-9D62-013CF54D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Now, fix all the identified problems and HD blockers. Don't stop until you're confident that task 1 and task 2 have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high probability of achieving an HD as per the applied-to rubric. Also refer to teaching_team_guidance.md, which is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applied2 directory. Also ignore the Q&amp;A and "Presentation Quality" in the rubric as these will be done by me. You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need to create the presentation but dont worry about presenting it. Once you are confident with the task 1 and 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solutions create a presentation as per task 3 (again dont worry about task 3 part c). Ensure the presentation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professionally formatted and contains all key details as I will not be submitting any other report, all info must be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 in the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A03CF-1B5F-45EF-B0A8-BD5E3812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21F146E-40E4-4DA8-AA0D-1AB8BECA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5 / 56">
            <a:extLst xmlns:a="http://schemas.openxmlformats.org/drawingml/2006/main">
              <a:ext uri="{FF2B5EF4-FFF2-40B4-BE49-F238E27FC236}">
                <a16:creationId xmlns:a16="http://schemas.microsoft.com/office/drawing/2014/main" id="{D35A8648-C2D4-4B3C-A51C-3718FD55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55 / 56</a:t>
            </a:r>
          </a:p>
        </p:txBody>
      </p:sp>
    </p:spTree>
    <p:extLst>
      <p:ext uri="{BB962C8B-B14F-4D97-AF65-F5344CB8AC3E}">
        <p14:creationId xmlns:p14="http://schemas.microsoft.com/office/powerpoint/2010/main" val="119876035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3">
            <a:extLst xmlns:a="http://schemas.openxmlformats.org/drawingml/2006/main">
              <a:ext uri="{FF2B5EF4-FFF2-40B4-BE49-F238E27FC236}">
                <a16:creationId xmlns:a16="http://schemas.microsoft.com/office/drawing/2014/main" id="{33646335-C087-4431-90EA-D57DA85D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13</a:t>
            </a:r>
          </a:p>
        </p:txBody>
      </p:sp>
      <p:sp>
        <p:nvSpPr>
          <p:cNvPr id="2" name="Identification details supplied">
            <a:extLst xmlns:a="http://schemas.openxmlformats.org/drawingml/2006/main">
              <a:ext uri="{FF2B5EF4-FFF2-40B4-BE49-F238E27FC236}">
                <a16:creationId xmlns:a16="http://schemas.microsoft.com/office/drawing/2014/main" id="{9C0BB69E-7BDB-4539-A44E-D29722A1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Identification details supplied</a:t>
            </a:r>
          </a:p>
        </p:txBody>
      </p:sp>
      <p:sp>
        <p:nvSpPr>
          <p:cNvPr id="3" name="Savin Vindiv De Alwis (35221631) - sdea0018@student.mon">
            <a:extLst xmlns:a="http://schemas.openxmlformats.org/drawingml/2006/main">
              <a:ext uri="{FF2B5EF4-FFF2-40B4-BE49-F238E27FC236}">
                <a16:creationId xmlns:a16="http://schemas.microsoft.com/office/drawing/2014/main" id="{8B8E9461-7753-4842-B120-2F348B33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Savin Vindiv De Alwis (35221631) - sdea0018@student.monash.edu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Shamle Thilaksiri (35512075) - wthi0003@student.monash.edu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10DD6-496A-4BF8-9AB0-D3755125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510C9EA-7A4A-49E1-A207-EF3C0260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6 / 56">
            <a:extLst xmlns:a="http://schemas.openxmlformats.org/drawingml/2006/main">
              <a:ext uri="{FF2B5EF4-FFF2-40B4-BE49-F238E27FC236}">
                <a16:creationId xmlns:a16="http://schemas.microsoft.com/office/drawing/2014/main" id="{265CAD9B-C5ED-47EF-B5F3-A0062007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56 / 56</a:t>
            </a:r>
          </a:p>
        </p:txBody>
      </p:sp>
    </p:spTree>
    <p:extLst>
      <p:ext uri="{BB962C8B-B14F-4D97-AF65-F5344CB8AC3E}">
        <p14:creationId xmlns:p14="http://schemas.microsoft.com/office/powerpoint/2010/main" val="543297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2026-10-08T11:00:12.4170000Z</dcterms:created>
  <dcterms:modified xsi:type="dcterms:W3CDTF">2026-10-08T11:00:12.4170000Z</dcterms:modified>
</coreProperties>
</file>