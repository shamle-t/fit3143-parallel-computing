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97b4ef73dc4e4b" /><Relationship Type="http://schemas.openxmlformats.org/officeDocument/2006/relationships/extended-properties" Target="/docProps/app.xml" Id="R6a3a5013c91449c6" /><Relationship Type="http://schemas.openxmlformats.org/officeDocument/2006/relationships/officeDocument" Target="/ppt/presentation.xml" Id="R0dbdb9c8b00847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9c82330ff44444"/>
  </p:sldMasterIdLst>
  <p:notesMasterIdLst>
    <p:notesMasterId xmlns:r="http://schemas.openxmlformats.org/officeDocument/2006/relationships" r:id="R6a6af7004fb8431e"/>
  </p:notesMasterIdLst>
  <p:sldIdLst>
    <p:sldId xmlns:r="http://schemas.openxmlformats.org/officeDocument/2006/relationships" id="256" r:id="R7041278b3d7a49ec"/>
    <p:sldId xmlns:r="http://schemas.openxmlformats.org/officeDocument/2006/relationships" id="257" r:id="R9ef15341e8834056"/>
    <p:sldId xmlns:r="http://schemas.openxmlformats.org/officeDocument/2006/relationships" id="258" r:id="Re01c6c7e29934798"/>
    <p:sldId xmlns:r="http://schemas.openxmlformats.org/officeDocument/2006/relationships" id="259" r:id="R8a22d6c8ca2a4ccc"/>
    <p:sldId xmlns:r="http://schemas.openxmlformats.org/officeDocument/2006/relationships" id="260" r:id="R4e644113e8284b59"/>
    <p:sldId xmlns:r="http://schemas.openxmlformats.org/officeDocument/2006/relationships" id="261" r:id="Rbff2292481f541c8"/>
    <p:sldId xmlns:r="http://schemas.openxmlformats.org/officeDocument/2006/relationships" id="262" r:id="R19f7f628ea6e4099"/>
    <p:sldId xmlns:r="http://schemas.openxmlformats.org/officeDocument/2006/relationships" id="263" r:id="R668f6ff666f94406"/>
    <p:sldId xmlns:r="http://schemas.openxmlformats.org/officeDocument/2006/relationships" id="264" r:id="R9f3fcf0830b94e2f"/>
    <p:sldId xmlns:r="http://schemas.openxmlformats.org/officeDocument/2006/relationships" id="265" r:id="R73d1346e26fb4c37"/>
    <p:sldId xmlns:r="http://schemas.openxmlformats.org/officeDocument/2006/relationships" id="266" r:id="Re41fb4b932ed44a4"/>
    <p:sldId xmlns:r="http://schemas.openxmlformats.org/officeDocument/2006/relationships" id="267" r:id="Rec0347d0667e43fc"/>
    <p:sldId xmlns:r="http://schemas.openxmlformats.org/officeDocument/2006/relationships" id="268" r:id="R451dcee7afcb4640"/>
    <p:sldId xmlns:r="http://schemas.openxmlformats.org/officeDocument/2006/relationships" id="269" r:id="Re02a2e1155544ba6"/>
    <p:sldId xmlns:r="http://schemas.openxmlformats.org/officeDocument/2006/relationships" id="270" r:id="R33d82a74c48a4155"/>
    <p:sldId xmlns:r="http://schemas.openxmlformats.org/officeDocument/2006/relationships" id="271" r:id="R50d61f10d0a04c0c"/>
    <p:sldId xmlns:r="http://schemas.openxmlformats.org/officeDocument/2006/relationships" id="272" r:id="Rba6f5dc96da8475b"/>
    <p:sldId xmlns:r="http://schemas.openxmlformats.org/officeDocument/2006/relationships" id="273" r:id="R0002c736783048fc"/>
    <p:sldId xmlns:r="http://schemas.openxmlformats.org/officeDocument/2006/relationships" id="274" r:id="Rb1040e3899e6430b"/>
    <p:sldId xmlns:r="http://schemas.openxmlformats.org/officeDocument/2006/relationships" id="275" r:id="Rc92e92ebca0d41a8"/>
    <p:sldId xmlns:r="http://schemas.openxmlformats.org/officeDocument/2006/relationships" id="276" r:id="R64ec0284ee4a4e5f"/>
    <p:sldId xmlns:r="http://schemas.openxmlformats.org/officeDocument/2006/relationships" id="277" r:id="R3be30c2707ef41a2"/>
    <p:sldId xmlns:r="http://schemas.openxmlformats.org/officeDocument/2006/relationships" id="278" r:id="R27fae518d0064044"/>
    <p:sldId xmlns:r="http://schemas.openxmlformats.org/officeDocument/2006/relationships" id="279" r:id="R72fd0ef01ea14153"/>
    <p:sldId xmlns:r="http://schemas.openxmlformats.org/officeDocument/2006/relationships" id="280" r:id="R80d66f8a20e4405d"/>
    <p:sldId xmlns:r="http://schemas.openxmlformats.org/officeDocument/2006/relationships" id="281" r:id="Rc356731c26fc4ac9"/>
    <p:sldId xmlns:r="http://schemas.openxmlformats.org/officeDocument/2006/relationships" id="282" r:id="R2e9a344fc0eb4a3d"/>
    <p:sldId xmlns:r="http://schemas.openxmlformats.org/officeDocument/2006/relationships" id="283" r:id="R0dc2e89eb81c4a36"/>
    <p:sldId xmlns:r="http://schemas.openxmlformats.org/officeDocument/2006/relationships" id="284" r:id="Rbb8b98b295bb4d4c"/>
    <p:sldId xmlns:r="http://schemas.openxmlformats.org/officeDocument/2006/relationships" id="285" r:id="Rbabe08d44ce1492a"/>
    <p:sldId xmlns:r="http://schemas.openxmlformats.org/officeDocument/2006/relationships" id="286" r:id="R7b50e3aaee2b4207"/>
    <p:sldId xmlns:r="http://schemas.openxmlformats.org/officeDocument/2006/relationships" id="287" r:id="Ra3c09c5bbf864089"/>
    <p:sldId xmlns:r="http://schemas.openxmlformats.org/officeDocument/2006/relationships" id="288" r:id="Rb3987e348ee84050"/>
    <p:sldId xmlns:r="http://schemas.openxmlformats.org/officeDocument/2006/relationships" id="289" r:id="R957d6132d2144e2e"/>
    <p:sldId xmlns:r="http://schemas.openxmlformats.org/officeDocument/2006/relationships" id="290" r:id="R19f0cfd3837044ba"/>
    <p:sldId xmlns:r="http://schemas.openxmlformats.org/officeDocument/2006/relationships" id="291" r:id="R969fb45de9c4464e"/>
    <p:sldId xmlns:r="http://schemas.openxmlformats.org/officeDocument/2006/relationships" id="292" r:id="R14e5159a9cbc49bd"/>
    <p:sldId xmlns:r="http://schemas.openxmlformats.org/officeDocument/2006/relationships" id="293" r:id="Re908a151d8154ff3"/>
    <p:sldId xmlns:r="http://schemas.openxmlformats.org/officeDocument/2006/relationships" id="294" r:id="R34404e09a3f740d8"/>
    <p:sldId xmlns:r="http://schemas.openxmlformats.org/officeDocument/2006/relationships" id="295" r:id="R2a7093223e3248e7"/>
    <p:sldId xmlns:r="http://schemas.openxmlformats.org/officeDocument/2006/relationships" id="296" r:id="R6d1901f71e01402b"/>
    <p:sldId xmlns:r="http://schemas.openxmlformats.org/officeDocument/2006/relationships" id="297" r:id="Rc5d3a1de1bd5457e"/>
    <p:sldId xmlns:r="http://schemas.openxmlformats.org/officeDocument/2006/relationships" id="298" r:id="R7b9900f75f5f416a"/>
    <p:sldId xmlns:r="http://schemas.openxmlformats.org/officeDocument/2006/relationships" id="299" r:id="R53bc69a878064557"/>
    <p:sldId xmlns:r="http://schemas.openxmlformats.org/officeDocument/2006/relationships" id="300" r:id="Re3f3172fe4af479c"/>
    <p:sldId xmlns:r="http://schemas.openxmlformats.org/officeDocument/2006/relationships" id="301" r:id="Raec1cd7514c6452c"/>
    <p:sldId xmlns:r="http://schemas.openxmlformats.org/officeDocument/2006/relationships" id="302" r:id="R4b8156cf8a6c4e18"/>
    <p:sldId xmlns:r="http://schemas.openxmlformats.org/officeDocument/2006/relationships" id="303" r:id="R1ca9fa8a23344ea8"/>
    <p:sldId xmlns:r="http://schemas.openxmlformats.org/officeDocument/2006/relationships" id="304" r:id="Rca9defd46a9b4b34"/>
    <p:sldId xmlns:r="http://schemas.openxmlformats.org/officeDocument/2006/relationships" id="305" r:id="R8960e92290cc4c74"/>
    <p:sldId xmlns:r="http://schemas.openxmlformats.org/officeDocument/2006/relationships" id="306" r:id="Re8798fd918e54ec3"/>
    <p:sldId xmlns:r="http://schemas.openxmlformats.org/officeDocument/2006/relationships" id="307" r:id="Rf75234b5cdf2426e"/>
    <p:sldId xmlns:r="http://schemas.openxmlformats.org/officeDocument/2006/relationships" id="308" r:id="R34eab6dba32b4ab7"/>
    <p:sldId xmlns:r="http://schemas.openxmlformats.org/officeDocument/2006/relationships" id="309" r:id="R4e1ed82e0a494a20"/>
    <p:sldId xmlns:r="http://schemas.openxmlformats.org/officeDocument/2006/relationships" id="310" r:id="Rc55c5cfe42af4ab7"/>
    <p:sldId xmlns:r="http://schemas.openxmlformats.org/officeDocument/2006/relationships" id="311" r:id="R59bf45b7feb64a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3d3ccb1ac447c4" /><Relationship Type="http://schemas.openxmlformats.org/officeDocument/2006/relationships/slideMaster" Target="/ppt/slideMasters/slideMaster1.xml" Id="R749c82330ff44444" /><Relationship Type="http://schemas.openxmlformats.org/officeDocument/2006/relationships/notesMaster" Target="/ppt/notesMasters/notesMaster1.xml" Id="R6a6af7004fb8431e" /><Relationship Type="http://schemas.openxmlformats.org/officeDocument/2006/relationships/presProps" Target="/ppt/presProps.xml" Id="Rd40ba876f6c14c01" /><Relationship Type="http://schemas.openxmlformats.org/officeDocument/2006/relationships/tableStyles" Target="/ppt/tableStyles.xml" Id="R20c21a044d164c36" /><Relationship Type="http://schemas.openxmlformats.org/officeDocument/2006/relationships/slide" Target="/ppt/slides/slide1.xml" Id="R7041278b3d7a49ec" /><Relationship Type="http://schemas.openxmlformats.org/officeDocument/2006/relationships/slide" Target="/ppt/slides/slide2.xml" Id="R9ef15341e8834056" /><Relationship Type="http://schemas.openxmlformats.org/officeDocument/2006/relationships/slide" Target="/ppt/slides/slide3.xml" Id="Re01c6c7e29934798" /><Relationship Type="http://schemas.openxmlformats.org/officeDocument/2006/relationships/slide" Target="/ppt/slides/slide4.xml" Id="R8a22d6c8ca2a4ccc" /><Relationship Type="http://schemas.openxmlformats.org/officeDocument/2006/relationships/slide" Target="/ppt/slides/slide5.xml" Id="R4e644113e8284b59" /><Relationship Type="http://schemas.openxmlformats.org/officeDocument/2006/relationships/slide" Target="/ppt/slides/slide6.xml" Id="Rbff2292481f541c8" /><Relationship Type="http://schemas.openxmlformats.org/officeDocument/2006/relationships/slide" Target="/ppt/slides/slide7.xml" Id="R19f7f628ea6e4099" /><Relationship Type="http://schemas.openxmlformats.org/officeDocument/2006/relationships/slide" Target="/ppt/slides/slide8.xml" Id="R668f6ff666f94406" /><Relationship Type="http://schemas.openxmlformats.org/officeDocument/2006/relationships/slide" Target="/ppt/slides/slide9.xml" Id="R9f3fcf0830b94e2f" /><Relationship Type="http://schemas.openxmlformats.org/officeDocument/2006/relationships/slide" Target="/ppt/slides/slide10.xml" Id="R73d1346e26fb4c37" /><Relationship Type="http://schemas.openxmlformats.org/officeDocument/2006/relationships/slide" Target="/ppt/slides/slide11.xml" Id="Re41fb4b932ed44a4" /><Relationship Type="http://schemas.openxmlformats.org/officeDocument/2006/relationships/slide" Target="/ppt/slides/slide12.xml" Id="Rec0347d0667e43fc" /><Relationship Type="http://schemas.openxmlformats.org/officeDocument/2006/relationships/slide" Target="/ppt/slides/slide13.xml" Id="R451dcee7afcb4640" /><Relationship Type="http://schemas.openxmlformats.org/officeDocument/2006/relationships/slide" Target="/ppt/slides/slide14.xml" Id="Re02a2e1155544ba6" /><Relationship Type="http://schemas.openxmlformats.org/officeDocument/2006/relationships/slide" Target="/ppt/slides/slide15.xml" Id="R33d82a74c48a4155" /><Relationship Type="http://schemas.openxmlformats.org/officeDocument/2006/relationships/slide" Target="/ppt/slides/slide16.xml" Id="R50d61f10d0a04c0c" /><Relationship Type="http://schemas.openxmlformats.org/officeDocument/2006/relationships/slide" Target="/ppt/slides/slide17.xml" Id="Rba6f5dc96da8475b" /><Relationship Type="http://schemas.openxmlformats.org/officeDocument/2006/relationships/slide" Target="/ppt/slides/slide18.xml" Id="R0002c736783048fc" /><Relationship Type="http://schemas.openxmlformats.org/officeDocument/2006/relationships/slide" Target="/ppt/slides/slide19.xml" Id="Rb1040e3899e6430b" /><Relationship Type="http://schemas.openxmlformats.org/officeDocument/2006/relationships/slide" Target="/ppt/slides/slide20.xml" Id="Rc92e92ebca0d41a8" /><Relationship Type="http://schemas.openxmlformats.org/officeDocument/2006/relationships/slide" Target="/ppt/slides/slide21.xml" Id="R64ec0284ee4a4e5f" /><Relationship Type="http://schemas.openxmlformats.org/officeDocument/2006/relationships/slide" Target="/ppt/slides/slide22.xml" Id="R3be30c2707ef41a2" /><Relationship Type="http://schemas.openxmlformats.org/officeDocument/2006/relationships/slide" Target="/ppt/slides/slide23.xml" Id="R27fae518d0064044" /><Relationship Type="http://schemas.openxmlformats.org/officeDocument/2006/relationships/slide" Target="/ppt/slides/slide24.xml" Id="R72fd0ef01ea14153" /><Relationship Type="http://schemas.openxmlformats.org/officeDocument/2006/relationships/slide" Target="/ppt/slides/slide25.xml" Id="R80d66f8a20e4405d" /><Relationship Type="http://schemas.openxmlformats.org/officeDocument/2006/relationships/slide" Target="/ppt/slides/slide26.xml" Id="Rc356731c26fc4ac9" /><Relationship Type="http://schemas.openxmlformats.org/officeDocument/2006/relationships/slide" Target="/ppt/slides/slide27.xml" Id="R2e9a344fc0eb4a3d" /><Relationship Type="http://schemas.openxmlformats.org/officeDocument/2006/relationships/slide" Target="/ppt/slides/slide28.xml" Id="R0dc2e89eb81c4a36" /><Relationship Type="http://schemas.openxmlformats.org/officeDocument/2006/relationships/slide" Target="/ppt/slides/slide29.xml" Id="Rbb8b98b295bb4d4c" /><Relationship Type="http://schemas.openxmlformats.org/officeDocument/2006/relationships/slide" Target="/ppt/slides/slide30.xml" Id="Rbabe08d44ce1492a" /><Relationship Type="http://schemas.openxmlformats.org/officeDocument/2006/relationships/slide" Target="/ppt/slides/slide31.xml" Id="R7b50e3aaee2b4207" /><Relationship Type="http://schemas.openxmlformats.org/officeDocument/2006/relationships/slide" Target="/ppt/slides/slide32.xml" Id="Ra3c09c5bbf864089" /><Relationship Type="http://schemas.openxmlformats.org/officeDocument/2006/relationships/slide" Target="/ppt/slides/slide33.xml" Id="Rb3987e348ee84050" /><Relationship Type="http://schemas.openxmlformats.org/officeDocument/2006/relationships/slide" Target="/ppt/slides/slide34.xml" Id="R957d6132d2144e2e" /><Relationship Type="http://schemas.openxmlformats.org/officeDocument/2006/relationships/slide" Target="/ppt/slides/slide35.xml" Id="R19f0cfd3837044ba" /><Relationship Type="http://schemas.openxmlformats.org/officeDocument/2006/relationships/slide" Target="/ppt/slides/slide36.xml" Id="R969fb45de9c4464e" /><Relationship Type="http://schemas.openxmlformats.org/officeDocument/2006/relationships/slide" Target="/ppt/slides/slide37.xml" Id="R14e5159a9cbc49bd" /><Relationship Type="http://schemas.openxmlformats.org/officeDocument/2006/relationships/slide" Target="/ppt/slides/slide38.xml" Id="Re908a151d8154ff3" /><Relationship Type="http://schemas.openxmlformats.org/officeDocument/2006/relationships/slide" Target="/ppt/slides/slide39.xml" Id="R34404e09a3f740d8" /><Relationship Type="http://schemas.openxmlformats.org/officeDocument/2006/relationships/slide" Target="/ppt/slides/slide40.xml" Id="R2a7093223e3248e7" /><Relationship Type="http://schemas.openxmlformats.org/officeDocument/2006/relationships/slide" Target="/ppt/slides/slide41.xml" Id="R6d1901f71e01402b" /><Relationship Type="http://schemas.openxmlformats.org/officeDocument/2006/relationships/slide" Target="/ppt/slides/slide42.xml" Id="Rc5d3a1de1bd5457e" /><Relationship Type="http://schemas.openxmlformats.org/officeDocument/2006/relationships/slide" Target="/ppt/slides/slide43.xml" Id="R7b9900f75f5f416a" /><Relationship Type="http://schemas.openxmlformats.org/officeDocument/2006/relationships/slide" Target="/ppt/slides/slide44.xml" Id="R53bc69a878064557" /><Relationship Type="http://schemas.openxmlformats.org/officeDocument/2006/relationships/slide" Target="/ppt/slides/slide45.xml" Id="Re3f3172fe4af479c" /><Relationship Type="http://schemas.openxmlformats.org/officeDocument/2006/relationships/slide" Target="/ppt/slides/slide46.xml" Id="Raec1cd7514c6452c" /><Relationship Type="http://schemas.openxmlformats.org/officeDocument/2006/relationships/slide" Target="/ppt/slides/slide47.xml" Id="R4b8156cf8a6c4e18" /><Relationship Type="http://schemas.openxmlformats.org/officeDocument/2006/relationships/slide" Target="/ppt/slides/slide48.xml" Id="R1ca9fa8a23344ea8" /><Relationship Type="http://schemas.openxmlformats.org/officeDocument/2006/relationships/slide" Target="/ppt/slides/slide49.xml" Id="Rca9defd46a9b4b34" /><Relationship Type="http://schemas.openxmlformats.org/officeDocument/2006/relationships/slide" Target="/ppt/slides/slide50.xml" Id="R8960e92290cc4c74" /><Relationship Type="http://schemas.openxmlformats.org/officeDocument/2006/relationships/slide" Target="/ppt/slides/slide51.xml" Id="Re8798fd918e54ec3" /><Relationship Type="http://schemas.openxmlformats.org/officeDocument/2006/relationships/slide" Target="/ppt/slides/slide52.xml" Id="Rf75234b5cdf2426e" /><Relationship Type="http://schemas.openxmlformats.org/officeDocument/2006/relationships/slide" Target="/ppt/slides/slide53.xml" Id="R34eab6dba32b4ab7" /><Relationship Type="http://schemas.openxmlformats.org/officeDocument/2006/relationships/slide" Target="/ppt/slides/slide54.xml" Id="R4e1ed82e0a494a20" /><Relationship Type="http://schemas.openxmlformats.org/officeDocument/2006/relationships/slide" Target="/ppt/slides/slide55.xml" Id="Rc55c5cfe42af4ab7" /><Relationship Type="http://schemas.openxmlformats.org/officeDocument/2006/relationships/slide" Target="/ppt/slides/slide56.xml" Id="R59bf45b7feb64a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d6ab2dc96348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bae89db73c4530" /><Relationship Type="http://schemas.openxmlformats.org/officeDocument/2006/relationships/notesMaster" Target="/ppt/notesMasters/notesMaster1.xml" Id="R465afab355f742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80cb995f5249da" /><Relationship Type="http://schemas.openxmlformats.org/officeDocument/2006/relationships/notesMaster" Target="/ppt/notesMasters/notesMaster1.xml" Id="R9e0772ecd12748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61e20495a14b76" /><Relationship Type="http://schemas.openxmlformats.org/officeDocument/2006/relationships/notesMaster" Target="/ppt/notesMasters/notesMaster1.xml" Id="R3773a452b92a4a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a628b1100a4896" /><Relationship Type="http://schemas.openxmlformats.org/officeDocument/2006/relationships/notesMaster" Target="/ppt/notesMasters/notesMaster1.xml" Id="R365c57b4d59340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093d3de0634762" /><Relationship Type="http://schemas.openxmlformats.org/officeDocument/2006/relationships/notesMaster" Target="/ppt/notesMasters/notesMaster1.xml" Id="R66bc9cad316245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dc456db03440df" /><Relationship Type="http://schemas.openxmlformats.org/officeDocument/2006/relationships/notesMaster" Target="/ppt/notesMasters/notesMaster1.xml" Id="R6089ba89af5c46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4b3461b6f5498e" /><Relationship Type="http://schemas.openxmlformats.org/officeDocument/2006/relationships/notesMaster" Target="/ppt/notesMasters/notesMaster1.xml" Id="R240ac1a12bf74c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593382712e4ca8" /><Relationship Type="http://schemas.openxmlformats.org/officeDocument/2006/relationships/notesMaster" Target="/ppt/notesMasters/notesMaster1.xml" Id="Rcbac7f2322e94c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1fb8137ffc48ab" /><Relationship Type="http://schemas.openxmlformats.org/officeDocument/2006/relationships/notesMaster" Target="/ppt/notesMasters/notesMaster1.xml" Id="R81d17f0bbc0648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b8d34ba9f14c8f" /><Relationship Type="http://schemas.openxmlformats.org/officeDocument/2006/relationships/notesMaster" Target="/ppt/notesMasters/notesMaster1.xml" Id="Rb062c73c38e641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f597202bc24791" /><Relationship Type="http://schemas.openxmlformats.org/officeDocument/2006/relationships/notesMaster" Target="/ppt/notesMasters/notesMaster1.xml" Id="Rdf3b3403d91f47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ee3a63714f4aa1" /><Relationship Type="http://schemas.openxmlformats.org/officeDocument/2006/relationships/notesMaster" Target="/ppt/notesMasters/notesMaster1.xml" Id="R5fc98847ec534a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8f4ceb8a38457c" /><Relationship Type="http://schemas.openxmlformats.org/officeDocument/2006/relationships/notesMaster" Target="/ppt/notesMasters/notesMaster1.xml" Id="R1f7e78b2254f48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ad6c39e6074502" /><Relationship Type="http://schemas.openxmlformats.org/officeDocument/2006/relationships/notesMaster" Target="/ppt/notesMasters/notesMaster1.xml" Id="R18450d5ef28549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af744863404dd9" /><Relationship Type="http://schemas.openxmlformats.org/officeDocument/2006/relationships/notesMaster" Target="/ppt/notesMasters/notesMaster1.xml" Id="R64b8354afbc44b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e7db45076d4097" /><Relationship Type="http://schemas.openxmlformats.org/officeDocument/2006/relationships/notesMaster" Target="/ppt/notesMasters/notesMaster1.xml" Id="Rc164f6d2970548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6703cade4e44b5" /><Relationship Type="http://schemas.openxmlformats.org/officeDocument/2006/relationships/notesMaster" Target="/ppt/notesMasters/notesMaster1.xml" Id="Rc0683640d4bf4d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9604775e114f70" /><Relationship Type="http://schemas.openxmlformats.org/officeDocument/2006/relationships/notesMaster" Target="/ppt/notesMasters/notesMaster1.xml" Id="R95498bdde01544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13e2d18c304f37" /><Relationship Type="http://schemas.openxmlformats.org/officeDocument/2006/relationships/notesMaster" Target="/ppt/notesMasters/notesMaster1.xml" Id="R7ce582baa89544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fb26379b39f4be7" /><Relationship Type="http://schemas.openxmlformats.org/officeDocument/2006/relationships/notesMaster" Target="/ppt/notesMasters/notesMaster1.xml" Id="R5bf963dd37b143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ec68fd88aa42ab" /><Relationship Type="http://schemas.openxmlformats.org/officeDocument/2006/relationships/notesMaster" Target="/ppt/notesMasters/notesMaster1.xml" Id="Ra13ce11dca56496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415b9b676b4b6d" /><Relationship Type="http://schemas.openxmlformats.org/officeDocument/2006/relationships/notesMaster" Target="/ppt/notesMasters/notesMaster1.xml" Id="Re3aad78e7a204e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eb84b2430904741" /><Relationship Type="http://schemas.openxmlformats.org/officeDocument/2006/relationships/notesMaster" Target="/ppt/notesMasters/notesMaster1.xml" Id="R42a571f7f79f4d6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58e5358e49f4f68" /><Relationship Type="http://schemas.openxmlformats.org/officeDocument/2006/relationships/notesMaster" Target="/ppt/notesMasters/notesMaster1.xml" Id="Ra1d3b8aa0e744e4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992d3a42eb94da6" /><Relationship Type="http://schemas.openxmlformats.org/officeDocument/2006/relationships/notesMaster" Target="/ppt/notesMasters/notesMaster1.xml" Id="Rf676e0ede9d8467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d83ce50a03a4c65" /><Relationship Type="http://schemas.openxmlformats.org/officeDocument/2006/relationships/notesMaster" Target="/ppt/notesMasters/notesMaster1.xml" Id="R17fb74f0d2234bd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5091c3b9a3b4041" /><Relationship Type="http://schemas.openxmlformats.org/officeDocument/2006/relationships/notesMaster" Target="/ppt/notesMasters/notesMaster1.xml" Id="Rc4aca74300d5430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2fd236b474f44c9" /><Relationship Type="http://schemas.openxmlformats.org/officeDocument/2006/relationships/notesMaster" Target="/ppt/notesMasters/notesMaster1.xml" Id="R8ccfc7ef42ba4bd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fa850b00dfa4751" /><Relationship Type="http://schemas.openxmlformats.org/officeDocument/2006/relationships/notesMaster" Target="/ppt/notesMasters/notesMaster1.xml" Id="Raeb1cd556f58445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484810fa82d4ee1" /><Relationship Type="http://schemas.openxmlformats.org/officeDocument/2006/relationships/notesMaster" Target="/ppt/notesMasters/notesMaster1.xml" Id="R47cb8347b9c04a7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05f98a5a5254908" /><Relationship Type="http://schemas.openxmlformats.org/officeDocument/2006/relationships/notesMaster" Target="/ppt/notesMasters/notesMaster1.xml" Id="R3a71b138a99f49a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0ded6c9b8164ffc" /><Relationship Type="http://schemas.openxmlformats.org/officeDocument/2006/relationships/notesMaster" Target="/ppt/notesMasters/notesMaster1.xml" Id="R0a95c1fc70b54f0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92cd54e7b144392" /><Relationship Type="http://schemas.openxmlformats.org/officeDocument/2006/relationships/notesMaster" Target="/ppt/notesMasters/notesMaster1.xml" Id="R1e7d3afdc65942a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7abf45ba5284650" /><Relationship Type="http://schemas.openxmlformats.org/officeDocument/2006/relationships/notesMaster" Target="/ppt/notesMasters/notesMaster1.xml" Id="Ree69ba8ddb864a0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62857b4377c43af" /><Relationship Type="http://schemas.openxmlformats.org/officeDocument/2006/relationships/notesMaster" Target="/ppt/notesMasters/notesMaster1.xml" Id="R83dd366ee59f464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846b05da1bd4464" /><Relationship Type="http://schemas.openxmlformats.org/officeDocument/2006/relationships/notesMaster" Target="/ppt/notesMasters/notesMaster1.xml" Id="Rd56ca1cf4c0a4d7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98d5c5fce6e45c6" /><Relationship Type="http://schemas.openxmlformats.org/officeDocument/2006/relationships/notesMaster" Target="/ppt/notesMasters/notesMaster1.xml" Id="R91c2c2a098ce457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9b5432b171e48e9" /><Relationship Type="http://schemas.openxmlformats.org/officeDocument/2006/relationships/notesMaster" Target="/ppt/notesMasters/notesMaster1.xml" Id="R390dd8152b734d4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cb3760beacf42ed" /><Relationship Type="http://schemas.openxmlformats.org/officeDocument/2006/relationships/notesMaster" Target="/ppt/notesMasters/notesMaster1.xml" Id="Rf736757ae8674f3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43670263ecf4009" /><Relationship Type="http://schemas.openxmlformats.org/officeDocument/2006/relationships/notesMaster" Target="/ppt/notesMasters/notesMaster1.xml" Id="R36fa631a72e5412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6048b19487a45b8" /><Relationship Type="http://schemas.openxmlformats.org/officeDocument/2006/relationships/notesMaster" Target="/ppt/notesMasters/notesMaster1.xml" Id="R4b73844429c5441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9b91da829dc4da8" /><Relationship Type="http://schemas.openxmlformats.org/officeDocument/2006/relationships/notesMaster" Target="/ppt/notesMasters/notesMaster1.xml" Id="Ref2f447e9e224f2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15212d226524beb" /><Relationship Type="http://schemas.openxmlformats.org/officeDocument/2006/relationships/notesMaster" Target="/ppt/notesMasters/notesMaster1.xml" Id="Rf99806dc54dc4e2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cb4fe71a1a64ecf" /><Relationship Type="http://schemas.openxmlformats.org/officeDocument/2006/relationships/notesMaster" Target="/ppt/notesMasters/notesMaster1.xml" Id="Racf54ffb8e83480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a491c05873444a8" /><Relationship Type="http://schemas.openxmlformats.org/officeDocument/2006/relationships/notesMaster" Target="/ppt/notesMasters/notesMaster1.xml" Id="Rd05d5c102bb2471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0bda47bf08d4fad" /><Relationship Type="http://schemas.openxmlformats.org/officeDocument/2006/relationships/notesMaster" Target="/ppt/notesMasters/notesMaster1.xml" Id="Rd43de6f1c076436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75c825aaa7545b2" /><Relationship Type="http://schemas.openxmlformats.org/officeDocument/2006/relationships/notesMaster" Target="/ppt/notesMasters/notesMaster1.xml" Id="Rb9c0c78d81f44e6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9eaa1aba3da481f" /><Relationship Type="http://schemas.openxmlformats.org/officeDocument/2006/relationships/notesMaster" Target="/ppt/notesMasters/notesMaster1.xml" Id="R945d3e5e6375414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1fcbe00ec0042c8" /><Relationship Type="http://schemas.openxmlformats.org/officeDocument/2006/relationships/notesMaster" Target="/ppt/notesMasters/notesMaster1.xml" Id="R84577c70ce49446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1284abdfeec4477" /><Relationship Type="http://schemas.openxmlformats.org/officeDocument/2006/relationships/notesMaster" Target="/ppt/notesMasters/notesMaster1.xml" Id="Rbfb60320ef974cf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f10f186b649442b" /><Relationship Type="http://schemas.openxmlformats.org/officeDocument/2006/relationships/notesMaster" Target="/ppt/notesMasters/notesMaster1.xml" Id="R7bc84c4292b34b3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97478cdaddb403d" /><Relationship Type="http://schemas.openxmlformats.org/officeDocument/2006/relationships/notesMaster" Target="/ppt/notesMasters/notesMaster1.xml" Id="Re266d80c1a88414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d0ff66795c342b0" /><Relationship Type="http://schemas.openxmlformats.org/officeDocument/2006/relationships/notesMaster" Target="/ppt/notesMasters/notesMaster1.xml" Id="Rf1fc3777e4e743d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16f58faefdf4fea" /><Relationship Type="http://schemas.openxmlformats.org/officeDocument/2006/relationships/notesMaster" Target="/ppt/notesMasters/notesMaster1.xml" Id="Ra5c0d1893b064a0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82fa316b5964dbc" /><Relationship Type="http://schemas.openxmlformats.org/officeDocument/2006/relationships/notesMaster" Target="/ppt/notesMasters/notesMaster1.xml" Id="Rc1e5a0a2d95541f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f371cc9799f4715" /><Relationship Type="http://schemas.openxmlformats.org/officeDocument/2006/relationships/notesMaster" Target="/ppt/notesMasters/notesMaster1.xml" Id="R3f1ee2e227c34c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[20] NVIDIA, “Rotate,” NPP Image Geometry Transforms, CUDA 13.0.3 archive documentation, accessed Oct. 8, 2026.</a:t>
            </a:r>
          </a:p>
          <a:p xmlns:a="http://schemas.openxmlformats.org/drawingml/2006/main">
            <a:r>
              <a:t>https://docs.nvidia.com/cuda/archive/13.0.3/npp/image_geometry_transforms.html#rotate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f838d648147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2477e97c14e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b6c0f8185341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bd78afc9144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b141f2fa046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eea74a1b14b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1AFE1B-56EE-4EA3-A31E-A2E4191230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49DF80-E3E2-4068-92AD-0CDB777375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C0BEEC-1B0C-45DC-90D7-F034C66204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C04C30-236C-427A-839A-EAD4B50BD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A659FF-14D5-4E40-B85B-7EF042A7E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21287E-DF17-4053-AA19-00469A8BA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1BC572-DFD2-4E48-B04C-CF6C3DA59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26995D-99EB-4810-A4ED-1309D12E12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A31BB8-E87F-4592-94DD-322DD9707C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A94EF8-4D16-4FE2-B5CA-5DB838C3F3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2c641cdf174e7a" /><Relationship Type="http://schemas.openxmlformats.org/officeDocument/2006/relationships/slideLayout" Target="/ppt/slideLayouts/slideLayout1.xml" Id="R8a1cfb09c44a4fc3" /><Relationship Type="http://schemas.openxmlformats.org/officeDocument/2006/relationships/slideLayout" Target="/ppt/slideLayouts/slideLayout2.xml" Id="Ra9b1b90adfe04dd2" /><Relationship Type="http://schemas.openxmlformats.org/officeDocument/2006/relationships/slideLayout" Target="/ppt/slideLayouts/slideLayout3.xml" Id="R8499d32abb1444a5" /><Relationship Type="http://schemas.openxmlformats.org/officeDocument/2006/relationships/slideLayout" Target="/ppt/slideLayouts/slideLayout4.xml" Id="Re74c05cafc9d436c" /><Relationship Type="http://schemas.openxmlformats.org/officeDocument/2006/relationships/slideLayout" Target="/ppt/slideLayouts/slideLayout5.xml" Id="R00b3d24716a340d2" /><Relationship Type="http://schemas.openxmlformats.org/officeDocument/2006/relationships/slideLayout" Target="/ppt/slideLayouts/slideLayout6.xml" Id="Ra6e3e5122d3e41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cfb09c44a4fc3"/>
    <p:sldLayoutId xmlns:r="http://schemas.openxmlformats.org/officeDocument/2006/relationships" id="2147483650" r:id="Ra9b1b90adfe04dd2"/>
    <p:sldLayoutId xmlns:r="http://schemas.openxmlformats.org/officeDocument/2006/relationships" id="2147483651" r:id="R8499d32abb1444a5"/>
    <p:sldLayoutId xmlns:r="http://schemas.openxmlformats.org/officeDocument/2006/relationships" id="2147483652" r:id="Re74c05cafc9d436c"/>
    <p:sldLayoutId xmlns:r="http://schemas.openxmlformats.org/officeDocument/2006/relationships" id="2147483653" r:id="R00b3d24716a340d2"/>
    <p:sldLayoutId xmlns:r="http://schemas.openxmlformats.org/officeDocument/2006/relationships" id="2147483654" r:id="Ra6e3e5122d3e41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cf4b3a2b14b55" /><Relationship Type="http://schemas.openxmlformats.org/officeDocument/2006/relationships/notesSlide" Target="/ppt/notesSlides/notesSlide1.xml" Id="Rf263bce72bc147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907862a9fb407f" /><Relationship Type="http://schemas.openxmlformats.org/officeDocument/2006/relationships/notesSlide" Target="/ppt/notesSlides/notesSlide2.xml" Id="R8c050605e80b45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bfd0da1c1442b4" /><Relationship Type="http://schemas.openxmlformats.org/officeDocument/2006/relationships/notesSlide" Target="/ppt/notesSlides/notesSlide3.xml" Id="Rd2e1c8fca82b40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82374f3ce41c2" /><Relationship Type="http://schemas.openxmlformats.org/officeDocument/2006/relationships/notesSlide" Target="/ppt/notesSlides/notesSlide4.xml" Id="R258589c7af2548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8393c86714ee3" /><Relationship Type="http://schemas.openxmlformats.org/officeDocument/2006/relationships/notesSlide" Target="/ppt/notesSlides/notesSlide5.xml" Id="Rc4f079be93e844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a35086af7044cc" /><Relationship Type="http://schemas.openxmlformats.org/officeDocument/2006/relationships/notesSlide" Target="/ppt/notesSlides/notesSlide6.xml" Id="Rd6c8a8c62ac044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a65febc474250" /><Relationship Type="http://schemas.openxmlformats.org/officeDocument/2006/relationships/notesSlide" Target="/ppt/notesSlides/notesSlide7.xml" Id="Rc5100a95805441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d8adef9db43fa" /><Relationship Type="http://schemas.openxmlformats.org/officeDocument/2006/relationships/notesSlide" Target="/ppt/notesSlides/notesSlide8.xml" Id="Rf4ea25ca01564e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3361d64ca41d3" /><Relationship Type="http://schemas.openxmlformats.org/officeDocument/2006/relationships/chart" Target="/ppt/slides/charts/chart1.xml" Id="R0c7053a115dd4286" /><Relationship Type="http://schemas.openxmlformats.org/officeDocument/2006/relationships/chart" Target="/ppt/slides/charts/chart2.xml" Id="R4adcfcbc6ebd4e1e" /><Relationship Type="http://schemas.openxmlformats.org/officeDocument/2006/relationships/notesSlide" Target="/ppt/notesSlides/notesSlide9.xml" Id="R93e6b72da4b140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55db7ab68414e" /><Relationship Type="http://schemas.openxmlformats.org/officeDocument/2006/relationships/notesSlide" Target="/ppt/notesSlides/notesSlide10.xml" Id="R0a23b84b1ee546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209247caa14755" /><Relationship Type="http://schemas.openxmlformats.org/officeDocument/2006/relationships/notesSlide" Target="/ppt/notesSlides/notesSlide11.xml" Id="Rfdc9f09dcda546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1ed070e894ea3" /><Relationship Type="http://schemas.openxmlformats.org/officeDocument/2006/relationships/notesSlide" Target="/ppt/notesSlides/notesSlide12.xml" Id="R2e7665cda27b4a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5d1360e89745ab" /><Relationship Type="http://schemas.openxmlformats.org/officeDocument/2006/relationships/notesSlide" Target="/ppt/notesSlides/notesSlide13.xml" Id="Raf32d74e910041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ceaa1de0b4362" /><Relationship Type="http://schemas.openxmlformats.org/officeDocument/2006/relationships/notesSlide" Target="/ppt/notesSlides/notesSlide14.xml" Id="R8433acc3d0db41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eb0c10db2c4eb1" /><Relationship Type="http://schemas.openxmlformats.org/officeDocument/2006/relationships/notesSlide" Target="/ppt/notesSlides/notesSlide15.xml" Id="R477e5f2936c44e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47713276d4c0e" /><Relationship Type="http://schemas.openxmlformats.org/officeDocument/2006/relationships/notesSlide" Target="/ppt/notesSlides/notesSlide16.xml" Id="R65573724efd441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bf2401eb0e4b2f" /><Relationship Type="http://schemas.openxmlformats.org/officeDocument/2006/relationships/notesSlide" Target="/ppt/notesSlides/notesSlide17.xml" Id="R4d935661028649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f52f9ab1e428f" /><Relationship Type="http://schemas.openxmlformats.org/officeDocument/2006/relationships/notesSlide" Target="/ppt/notesSlides/notesSlide18.xml" Id="R17e3a67147254f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a0fd6936284a6e" /><Relationship Type="http://schemas.openxmlformats.org/officeDocument/2006/relationships/notesSlide" Target="/ppt/notesSlides/notesSlide19.xml" Id="R9d054c3e23994f4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af7a22b2f48cc" /><Relationship Type="http://schemas.openxmlformats.org/officeDocument/2006/relationships/notesSlide" Target="/ppt/notesSlides/notesSlide20.xml" Id="R3c6d211a1f91451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a58ff7455146b4" /><Relationship Type="http://schemas.openxmlformats.org/officeDocument/2006/relationships/notesSlide" Target="/ppt/notesSlides/notesSlide21.xml" Id="R1117ac44955f4be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57744782346d6" /><Relationship Type="http://schemas.openxmlformats.org/officeDocument/2006/relationships/notesSlide" Target="/ppt/notesSlides/notesSlide22.xml" Id="Rc35b5f062fef44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335bba8084c71" /><Relationship Type="http://schemas.openxmlformats.org/officeDocument/2006/relationships/notesSlide" Target="/ppt/notesSlides/notesSlide23.xml" Id="Rba95e51ee30a46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db4a5ae0846c7" /><Relationship Type="http://schemas.openxmlformats.org/officeDocument/2006/relationships/notesSlide" Target="/ppt/notesSlides/notesSlide24.xml" Id="R406b214cd140480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81560c65e4d3d" /><Relationship Type="http://schemas.openxmlformats.org/officeDocument/2006/relationships/notesSlide" Target="/ppt/notesSlides/notesSlide25.xml" Id="Ra57546a5665c403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238a959864efa" /><Relationship Type="http://schemas.openxmlformats.org/officeDocument/2006/relationships/notesSlide" Target="/ppt/notesSlides/notesSlide26.xml" Id="R012d5b4cabad4b8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6b3491a175490e" /><Relationship Type="http://schemas.openxmlformats.org/officeDocument/2006/relationships/notesSlide" Target="/ppt/notesSlides/notesSlide27.xml" Id="Rddd99157775d4e4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81aae2e1b412d" /><Relationship Type="http://schemas.openxmlformats.org/officeDocument/2006/relationships/notesSlide" Target="/ppt/notesSlides/notesSlide28.xml" Id="R3a99299e9b3746c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ea2254cae848cd" /><Relationship Type="http://schemas.openxmlformats.org/officeDocument/2006/relationships/notesSlide" Target="/ppt/notesSlides/notesSlide29.xml" Id="R7916a91351a140e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b5f45e1694ab1" /><Relationship Type="http://schemas.openxmlformats.org/officeDocument/2006/relationships/notesSlide" Target="/ppt/notesSlides/notesSlide30.xml" Id="R806e9e2c960b485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0efe189794326" /><Relationship Type="http://schemas.openxmlformats.org/officeDocument/2006/relationships/notesSlide" Target="/ppt/notesSlides/notesSlide31.xml" Id="R451f6577acf1403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f0513711b4fa4" /><Relationship Type="http://schemas.openxmlformats.org/officeDocument/2006/relationships/notesSlide" Target="/ppt/notesSlides/notesSlide32.xml" Id="Rac757f2c0be24e8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a183e67bc4a2f" /><Relationship Type="http://schemas.openxmlformats.org/officeDocument/2006/relationships/notesSlide" Target="/ppt/notesSlides/notesSlide33.xml" Id="Ra82b45297be143b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bbc7f876274b11" /><Relationship Type="http://schemas.openxmlformats.org/officeDocument/2006/relationships/notesSlide" Target="/ppt/notesSlides/notesSlide34.xml" Id="R066a3d50f312448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768808ef54a05" /><Relationship Type="http://schemas.openxmlformats.org/officeDocument/2006/relationships/hyperlink" Target="https://docs.nvidia.com/cuda/cuda-programming-guide/01-introduction/programming-model.html" TargetMode="External" Id="Recb5dcc537284ac4" /><Relationship Type="http://schemas.openxmlformats.org/officeDocument/2006/relationships/notesSlide" Target="/ppt/notesSlides/notesSlide35.xml" Id="R262a684d489f4d5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7984e3a0d040f3" /><Relationship Type="http://schemas.openxmlformats.org/officeDocument/2006/relationships/hyperlink" Target="https://docs.nvidia.com/cuda/cuda-c-best-practices-guide/index.html" TargetMode="External" Id="Rbe86582528ad4779" /><Relationship Type="http://schemas.openxmlformats.org/officeDocument/2006/relationships/hyperlink" Target="https://docs.nvidia.com/gpudirect-storage/overview-guide/index.html" TargetMode="External" Id="R658c6fdf5aaa4948" /><Relationship Type="http://schemas.openxmlformats.org/officeDocument/2006/relationships/hyperlink" Target="https://docs.nvidia.com/gpudirect-storage/design-guide/index.html" TargetMode="External" Id="R3343fd766c914eb1" /><Relationship Type="http://schemas.openxmlformats.org/officeDocument/2006/relationships/hyperlink" Target="https://docs.nvidia.com/megatron-core/developer-guide/latest/user-guide/parallelism-guide.html" TargetMode="External" Id="R61c348cd8dc548c7" /><Relationship Type="http://schemas.openxmlformats.org/officeDocument/2006/relationships/notesSlide" Target="/ppt/notesSlides/notesSlide36.xml" Id="R2fa1c080de94437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2b8af9b96040db" /><Relationship Type="http://schemas.openxmlformats.org/officeDocument/2006/relationships/hyperlink" Target="https://www.iea.org/reports/key-questions-on-energy-and-ai/executive-summary" TargetMode="External" Id="Rd9932a6ba0f74d63" /><Relationship Type="http://schemas.openxmlformats.org/officeDocument/2006/relationships/hyperlink" Target="https://www.nsf.gov/cise/updates/nairr-2-years-advancing-american-artificial-intelligence" TargetMode="External" Id="Rad535c4e98b541ad" /><Relationship Type="http://schemas.openxmlformats.org/officeDocument/2006/relationships/hyperlink" Target="https://aclanthology.org/P19-1355/" TargetMode="External" Id="R60d27475443a4f43" /><Relationship Type="http://schemas.openxmlformats.org/officeDocument/2006/relationships/hyperlink" Target="https://arxiv.org/abs/2304.03271v5" TargetMode="External" Id="Re529b47cdcf44b31" /><Relationship Type="http://schemas.openxmlformats.org/officeDocument/2006/relationships/notesSlide" Target="/ppt/notesSlides/notesSlide37.xml" Id="R504d3affbf9a493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f24c46441e434a" /><Relationship Type="http://schemas.openxmlformats.org/officeDocument/2006/relationships/hyperlink" Target="https://arxiv.org/abs/1907.10597" TargetMode="External" Id="Re021d8dbd49c4817" /><Relationship Type="http://schemas.openxmlformats.org/officeDocument/2006/relationships/hyperlink" Target="https://arxiv.org/abs/1906.08935v2" TargetMode="External" Id="Re9ef584df8d940d8" /><Relationship Type="http://schemas.openxmlformats.org/officeDocument/2006/relationships/hyperlink" Target="https://aclanthology.org/2024.cl-3.8/" TargetMode="External" Id="R873aa1a8b23e4325" /><Relationship Type="http://schemas.openxmlformats.org/officeDocument/2006/relationships/hyperlink" Target="https://arxiv.org/abs/2010.15581v1" TargetMode="External" Id="R88879e42ca894c2a" /><Relationship Type="http://schemas.openxmlformats.org/officeDocument/2006/relationships/notesSlide" Target="/ppt/notesSlides/notesSlide38.xml" Id="R6c7d6be14437489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06e163077a4c8d" /><Relationship Type="http://schemas.openxmlformats.org/officeDocument/2006/relationships/hyperlink" Target="https://arxiv.org/abs/2106.11750v1" TargetMode="External" Id="R6acb08937419454b" /><Relationship Type="http://schemas.openxmlformats.org/officeDocument/2006/relationships/hyperlink" Target="https://www.oecd.org/en/topics/ai-principles.html" TargetMode="External" Id="R4fc480d773524fec" /><Relationship Type="http://schemas.openxmlformats.org/officeDocument/2006/relationships/hyperlink" Target="https://airc.nist.gov/airmf-resources/playbook/" TargetMode="External" Id="Rcc852756a0534514" /><Relationship Type="http://schemas.openxmlformats.org/officeDocument/2006/relationships/hyperlink" Target="https://docs.nvidia.com/cuda/archive/13.0.3/npp/image_geometry_transforms.html#rotate" TargetMode="External" Id="Ra5ee59a888ae4fef" /><Relationship Type="http://schemas.openxmlformats.org/officeDocument/2006/relationships/notesSlide" Target="/ppt/notesSlides/notesSlide39.xml" Id="R610c23c1cdb4479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3d8d284a946e8" /><Relationship Type="http://schemas.openxmlformats.org/officeDocument/2006/relationships/notesSlide" Target="/ppt/notesSlides/notesSlide40.xml" Id="Rc724d5d986b8443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9c49460c54d25" /><Relationship Type="http://schemas.openxmlformats.org/officeDocument/2006/relationships/notesSlide" Target="/ppt/notesSlides/notesSlide41.xml" Id="R6e1853a63d3540f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04325d6bc744d0" /><Relationship Type="http://schemas.openxmlformats.org/officeDocument/2006/relationships/notesSlide" Target="/ppt/notesSlides/notesSlide42.xml" Id="R9b53cfd0356a4fb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480e26d29243bf" /><Relationship Type="http://schemas.openxmlformats.org/officeDocument/2006/relationships/notesSlide" Target="/ppt/notesSlides/notesSlide43.xml" Id="Rddd37f60b8d4416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4e7693af04bf9" /><Relationship Type="http://schemas.openxmlformats.org/officeDocument/2006/relationships/notesSlide" Target="/ppt/notesSlides/notesSlide44.xml" Id="R44469a301b7e406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436368e69439c" /><Relationship Type="http://schemas.openxmlformats.org/officeDocument/2006/relationships/notesSlide" Target="/ppt/notesSlides/notesSlide45.xml" Id="R70a249e2d6e8486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9f6169ecef4a50" /><Relationship Type="http://schemas.openxmlformats.org/officeDocument/2006/relationships/notesSlide" Target="/ppt/notesSlides/notesSlide46.xml" Id="Ra948191ba17f455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dd337343c74ecc" /><Relationship Type="http://schemas.openxmlformats.org/officeDocument/2006/relationships/notesSlide" Target="/ppt/notesSlides/notesSlide47.xml" Id="Rfd77ca51fc5c449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400e3ba6634b47" /><Relationship Type="http://schemas.openxmlformats.org/officeDocument/2006/relationships/notesSlide" Target="/ppt/notesSlides/notesSlide48.xml" Id="R8837974a228e407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70280a71944ed0" /><Relationship Type="http://schemas.openxmlformats.org/officeDocument/2006/relationships/notesSlide" Target="/ppt/notesSlides/notesSlide49.xml" Id="R6cc7d3299c5e4d3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b9eca1e0a49e1" /><Relationship Type="http://schemas.openxmlformats.org/officeDocument/2006/relationships/notesSlide" Target="/ppt/notesSlides/notesSlide50.xml" Id="Rd7f2a540a444430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83da956df64c0c" /><Relationship Type="http://schemas.openxmlformats.org/officeDocument/2006/relationships/notesSlide" Target="/ppt/notesSlides/notesSlide51.xml" Id="R53ffb78ffac7498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65fd28dec4cee" /><Relationship Type="http://schemas.openxmlformats.org/officeDocument/2006/relationships/notesSlide" Target="/ppt/notesSlides/notesSlide52.xml" Id="Re61dfea5d30d4f4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6a2705468d4843" /><Relationship Type="http://schemas.openxmlformats.org/officeDocument/2006/relationships/notesSlide" Target="/ppt/notesSlides/notesSlide53.xml" Id="R8eefc9e0839f47e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d8fff35e24ce0" /><Relationship Type="http://schemas.openxmlformats.org/officeDocument/2006/relationships/notesSlide" Target="/ppt/notesSlides/notesSlide54.xml" Id="Rfac4e6e7ec264d0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d2de495454381" /><Relationship Type="http://schemas.openxmlformats.org/officeDocument/2006/relationships/notesSlide" Target="/ppt/notesSlides/notesSlide55.xml" Id="Rdce05c5df1f2448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f6ad84ea1e4fb0" /><Relationship Type="http://schemas.openxmlformats.org/officeDocument/2006/relationships/notesSlide" Target="/ppt/notesSlides/notesSlide56.xml" Id="Re1415d8e3c12451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s 1 and 2">
            <a:extLst xmlns:a="http://schemas.openxmlformats.org/drawingml/2006/main">
              <a:ext uri="{FF2B5EF4-FFF2-40B4-BE49-F238E27FC236}">
                <a16:creationId xmlns:a16="http://schemas.microsoft.com/office/drawing/2014/main" id="{7C55E5C7-54DF-4DF4-BB47-6A863038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Tasks 1 and 2</a:t>
            </a:r>
          </a:p>
        </p:txBody>
      </p:sp>
      <p:sp>
        <p:nvSpPr>
          <p:cNvPr id="2" name="GPU image rotation&#10;and 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80A9AF24-4B3E-4BF6-BD1F-BD175B28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image rotation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A5CF8A3E-B2B6-434E-ABA3-AF5040A7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48152-F7A2-46F9-9A4B-6365EC96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66DF1981-BF30-4E0E-8E7D-5092A2FB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303E4ED2-7348-4725-83F4-67EA3899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7C8080CC-C20A-45DE-B123-FF9A6B5B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67FC2216-7620-4835-B576-9E6F2DC3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6E3A5F09-86BE-4BF0-9391-71209B13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records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1356339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2DCE7-F6C3-46A6-8FBE-DF4606A4129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2E149-C6A4-42D9-A179-7E1093BD2FA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CC061-75A1-4E8C-A520-ECA83A99B7C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E971A-E267-4215-B1A9-8DA986AFD65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5" name="Task 1(a)">
            <a:extLst xmlns:a="http://schemas.openxmlformats.org/drawingml/2006/main">
              <a:ext uri="{FF2B5EF4-FFF2-40B4-BE49-F238E27FC236}">
                <a16:creationId xmlns:a16="http://schemas.microsoft.com/office/drawing/2014/main" id="{21BDAF02-6DB0-4C54-82D6-8FB34A90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1(a)</a:t>
            </a:r>
          </a:p>
        </p:txBody>
      </p:sp>
      <p:sp>
        <p:nvSpPr>
          <p:cNvPr id="2" name="Host–GPU image data flow">
            <a:extLst xmlns:a="http://schemas.openxmlformats.org/drawingml/2006/main">
              <a:ext uri="{FF2B5EF4-FFF2-40B4-BE49-F238E27FC236}">
                <a16:creationId xmlns:a16="http://schemas.microsoft.com/office/drawing/2014/main" id="{B0B3BDF0-1BD5-49A2-852B-578A138C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Host–GPU image data flow</a:t>
            </a:r>
          </a:p>
        </p:txBody>
      </p:sp>
      <p:sp>
        <p:nvSpPr>
          <p:cNvPr id="3" name="CPU: load/decode, allocate, launch, save">
            <a:extLst xmlns:a="http://schemas.openxmlformats.org/drawingml/2006/main">
              <a:ext uri="{FF2B5EF4-FFF2-40B4-BE49-F238E27FC236}">
                <a16:creationId xmlns:a16="http://schemas.microsoft.com/office/drawing/2014/main" id="{77571A5B-C90F-4391-B36C-A7D563E3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CPU: load/decode, allocate, launch, save</a:t>
            </a:r>
          </a:p>
        </p:txBody>
      </p:sp>
      <p:sp>
        <p:nvSpPr>
          <p:cNvPr id="4" name="GPU: read input, rotate, write output">
            <a:extLst xmlns:a="http://schemas.openxmlformats.org/drawingml/2006/main">
              <a:ext uri="{FF2B5EF4-FFF2-40B4-BE49-F238E27FC236}">
                <a16:creationId xmlns:a16="http://schemas.microsoft.com/office/drawing/2014/main" id="{922D36D1-9F41-4FBE-A8CD-FC313F51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GPU: read input, rotate, write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E83CE-DA71-4AC7-93CE-D28ABC95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98819-2918-4D4D-B763-2524A480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DDR example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59115-A4DD-4753-B800-093AD6E2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4DA1A-2930-4CDC-99B0-20CAF498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4877B-D1DF-40A0-B86E-3DAE2A19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pixels</a:t>
            </a:r>
          </a:p>
        </p:txBody>
      </p:sp>
      <p:sp>
        <p:nvSpPr>
          <p:cNvPr id="14" name="CPU&#10;decode">
            <a:extLst xmlns:a="http://schemas.openxmlformats.org/drawingml/2006/main">
              <a:ext uri="{FF2B5EF4-FFF2-40B4-BE49-F238E27FC236}">
                <a16:creationId xmlns:a16="http://schemas.microsoft.com/office/drawing/2014/main" id="{F801227D-D6FB-4045-BCA5-57DAA2A8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" name="H2D&#10;PCIe">
            <a:extLst xmlns:a="http://schemas.openxmlformats.org/drawingml/2006/main">
              <a:ext uri="{FF2B5EF4-FFF2-40B4-BE49-F238E27FC236}">
                <a16:creationId xmlns:a16="http://schemas.microsoft.com/office/drawing/2014/main" id="{4BFB94EE-91EE-4CBF-8BB2-FB169803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H2D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6" name="CUDA&#10;kernel">
            <a:extLst xmlns:a="http://schemas.openxmlformats.org/drawingml/2006/main">
              <a:ext uri="{FF2B5EF4-FFF2-40B4-BE49-F238E27FC236}">
                <a16:creationId xmlns:a16="http://schemas.microsoft.com/office/drawing/2014/main" id="{0273F2B5-4EB1-4FDA-A7AD-A2C5C1DB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CUDA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D2H&#10;PCIe">
            <a:extLst xmlns:a="http://schemas.openxmlformats.org/drawingml/2006/main">
              <a:ext uri="{FF2B5EF4-FFF2-40B4-BE49-F238E27FC236}">
                <a16:creationId xmlns:a16="http://schemas.microsoft.com/office/drawing/2014/main" id="{082A1F28-21BA-48FC-99B6-D0DDC5CB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D2H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8" name="H2D: host → device. D2H: device → host. Separate buffer">
            <a:extLst xmlns:a="http://schemas.openxmlformats.org/drawingml/2006/main">
              <a:ext uri="{FF2B5EF4-FFF2-40B4-BE49-F238E27FC236}">
                <a16:creationId xmlns:a16="http://schemas.microsoft.com/office/drawing/2014/main" id="{8B0D8F8F-FBB9-4E4E-B1CB-D35BB56F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H2D: host → device. D2H: device → host. Separate buffers; DMA (direct memory access) engines transfer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over PCIe.</a:t>
            </a:r>
          </a:p>
        </p:txBody>
      </p:sp>
      <p:sp>
        <p:nvSpPr>
          <p:cNvPr id="19" name="GPU memory bandwidth differs from PCIe bandwidth. Pinne">
            <a:extLst xmlns:a="http://schemas.openxmlformats.org/drawingml/2006/main">
              <a:ext uri="{FF2B5EF4-FFF2-40B4-BE49-F238E27FC236}">
                <a16:creationId xmlns:a16="http://schemas.microsoft.com/office/drawing/2014/main" id="{2A3E39E1-9CEF-4822-8D7F-2CA4D618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222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 bandwidth differs from PCIe bandwidth. Pinned RAM supports DMA; pageable RAM may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stage. Complete output before saving or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41B1A-7057-465B-B11B-88BD095A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1" name="The CPU orchestrates I/O and launches; the GPU rotates ">
            <a:extLst xmlns:a="http://schemas.openxmlformats.org/drawingml/2006/main">
              <a:ext uri="{FF2B5EF4-FFF2-40B4-BE49-F238E27FC236}">
                <a16:creationId xmlns:a16="http://schemas.microsoft.com/office/drawing/2014/main" id="{34271CEC-26CB-4D34-B24F-AEA0508B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CPU orchestrates I/O and launches; the GPU rotates decoded pixels.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FE14B-5D61-4C74-8431-0741B4B1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7806C54A-4799-45D0-9DFE-7FF70F20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24" name="2 / 56">
            <a:extLst xmlns:a="http://schemas.openxmlformats.org/drawingml/2006/main">
              <a:ext uri="{FF2B5EF4-FFF2-40B4-BE49-F238E27FC236}">
                <a16:creationId xmlns:a16="http://schemas.microsoft.com/office/drawing/2014/main" id="{B24A5BBC-1F4E-4843-A77B-5D2B03BB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56</a:t>
            </a:r>
          </a:p>
        </p:txBody>
      </p:sp>
    </p:spTree>
    <p:extLst>
      <p:ext uri="{BB962C8B-B14F-4D97-AF65-F5344CB8AC3E}">
        <p14:creationId xmlns:p14="http://schemas.microsoft.com/office/powerpoint/2010/main" val="101443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3EFC4-A377-4A74-B2AA-DD5AC607FE9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25063" y="2762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8" name="Task 1(b)">
            <a:extLst xmlns:a="http://schemas.openxmlformats.org/drawingml/2006/main">
              <a:ext uri="{FF2B5EF4-FFF2-40B4-BE49-F238E27FC236}">
                <a16:creationId xmlns:a16="http://schemas.microsoft.com/office/drawing/2014/main" id="{9D6D97EC-9811-4CF7-B784-DE026365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Rotation as independent output work">
            <a:extLst xmlns:a="http://schemas.openxmlformats.org/drawingml/2006/main">
              <a:ext uri="{FF2B5EF4-FFF2-40B4-BE49-F238E27FC236}">
                <a16:creationId xmlns:a16="http://schemas.microsoft.com/office/drawing/2014/main" id="{2B8EE18F-7B23-40F1-8A2D-1688013A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 independent output work</a:t>
            </a:r>
          </a:p>
        </p:txBody>
      </p:sp>
      <p:sp>
        <p:nvSpPr>
          <p:cNvPr id="3" name="Inverse mapping in y-down image coordinates">
            <a:extLst xmlns:a="http://schemas.openxmlformats.org/drawingml/2006/main">
              <a:ext uri="{FF2B5EF4-FFF2-40B4-BE49-F238E27FC236}">
                <a16:creationId xmlns:a16="http://schemas.microsoft.com/office/drawing/2014/main" id="{87682AA2-C850-497F-9BA1-876B4B28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Inverse mapping in y-down image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2598E-5E82-4A26-A1B5-B418E8E9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8008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x = c*(x-cx) - s*(y-cy) + cx;&#10;sy = s*(x-cx) + c*(y-cy)">
            <a:extLst xmlns:a="http://schemas.openxmlformats.org/drawingml/2006/main">
              <a:ext uri="{FF2B5EF4-FFF2-40B4-BE49-F238E27FC236}">
                <a16:creationId xmlns:a16="http://schemas.microsoft.com/office/drawing/2014/main" id="{D3CD6C40-D08A-4C97-8D5E-0AB5AC80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572250" cy="11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sx = c*(x-cx) - s*(y-cy) + cx;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sy = s*(x-cx) + c*(y-cy) + cy;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ix = floor(sx + 0.5);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iy = floor(sy + 0.5);</a:t>
            </a:r>
          </a:p>
        </p:txBody>
      </p:sp>
      <p:sp>
        <p:nvSpPr>
          <p:cNvPr id="6" name="c = cos θ; s = sin θ; center = ((W−1)/2, (H−1)/2)">
            <a:extLst xmlns:a="http://schemas.openxmlformats.org/drawingml/2006/main">
              <a:ext uri="{FF2B5EF4-FFF2-40B4-BE49-F238E27FC236}">
                <a16:creationId xmlns:a16="http://schemas.microsoft.com/office/drawing/2014/main" id="{782A423F-24B6-413A-8891-CE601A56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9913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cos θ; s = sin θ; center = ((W−1)/2, (H−1)/2)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127C5-EB8C-4F9D-8537-C64A0BB2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(x,y)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99DA7-B8AA-46A4-B78C-DB8F1225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 input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(ix,iy)</a:t>
            </a:r>
          </a:p>
        </p:txBody>
      </p:sp>
      <p:sp>
        <p:nvSpPr>
          <p:cNvPr id="10" name="lookup">
            <a:extLst xmlns:a="http://schemas.openxmlformats.org/drawingml/2006/main">
              <a:ext uri="{FF2B5EF4-FFF2-40B4-BE49-F238E27FC236}">
                <a16:creationId xmlns:a16="http://schemas.microsoft.com/office/drawing/2014/main" id="{C2B4A543-A519-41D2-8E6B-70603934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24175"/>
            <a:ext cx="1066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lookup</a:t>
            </a:r>
          </a:p>
        </p:txBody>
      </p:sp>
      <p:sp>
        <p:nvSpPr>
          <p:cNvPr id="11" name="Positive θ rotates visually counterclockwise. Use a fix">
            <a:extLst xmlns:a="http://schemas.openxmlformats.org/drawingml/2006/main">
              <a:ext uri="{FF2B5EF4-FFF2-40B4-BE49-F238E27FC236}">
                <a16:creationId xmlns:a16="http://schemas.microsoft.com/office/drawing/2014/main" id="{A8A213C9-1EAD-490B-88B1-8DBF1B3D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rotates visually counterclockwise. Use a fixed canvas; rounded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 indices outside the image produce black.</a:t>
            </a:r>
          </a:p>
        </p:txBody>
      </p:sp>
      <p:sp>
        <p:nvSpPr>
          <p:cNvPr id="12" name="Brightness touches the same pixel in/out; rotation gath">
            <a:extLst xmlns:a="http://schemas.openxmlformats.org/drawingml/2006/main">
              <a:ext uri="{FF2B5EF4-FFF2-40B4-BE49-F238E27FC236}">
                <a16:creationId xmlns:a16="http://schemas.microsoft.com/office/drawing/2014/main" id="{C3F513B1-DC77-4015-9575-D24D628F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8428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Brightness touches the same pixel in/out; rotation gathers a different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source. Nearest-neighbour sampling is simple but can alias.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61242-CD21-413E-9978-82EF71D4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One thread owns one output pixel: gather a source value">
            <a:extLst xmlns:a="http://schemas.openxmlformats.org/drawingml/2006/main">
              <a:ext uri="{FF2B5EF4-FFF2-40B4-BE49-F238E27FC236}">
                <a16:creationId xmlns:a16="http://schemas.microsoft.com/office/drawing/2014/main" id="{E853536B-711E-451A-A3E8-461AC4C0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 pixel: gather a source value, then write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F920F-8235-4BF6-9DBC-AD829C24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BF4F15FD-7938-4CF5-93FC-5B8DC996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7" name="3 / 56">
            <a:extLst xmlns:a="http://schemas.openxmlformats.org/drawingml/2006/main">
              <a:ext uri="{FF2B5EF4-FFF2-40B4-BE49-F238E27FC236}">
                <a16:creationId xmlns:a16="http://schemas.microsoft.com/office/drawing/2014/main" id="{C7F36310-1C5C-47A2-BA59-686E3C04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56</a:t>
            </a:r>
          </a:p>
        </p:txBody>
      </p:sp>
    </p:spTree>
    <p:extLst>
      <p:ext uri="{BB962C8B-B14F-4D97-AF65-F5344CB8AC3E}">
        <p14:creationId xmlns:p14="http://schemas.microsoft.com/office/powerpoint/2010/main" val="555975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ask 1(b)">
            <a:extLst xmlns:a="http://schemas.openxmlformats.org/drawingml/2006/main">
              <a:ext uri="{FF2B5EF4-FFF2-40B4-BE49-F238E27FC236}">
                <a16:creationId xmlns:a16="http://schemas.microsoft.com/office/drawing/2014/main" id="{975493B4-2A31-4B6E-9B01-8D2F99B8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launch and execution hierarchy">
            <a:extLst xmlns:a="http://schemas.openxmlformats.org/drawingml/2006/main">
              <a:ext uri="{FF2B5EF4-FFF2-40B4-BE49-F238E27FC236}">
                <a16:creationId xmlns:a16="http://schemas.microsoft.com/office/drawing/2014/main" id="{34DF3A28-E833-4C3D-B160-559FDAEC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launch and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44DF0-B064-4508-8D39-C3FC6E00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436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16);&#10;dim3 grid(64,64);&#10;rotate_rgb&lt;&lt;&lt;grid,">
            <a:extLst xmlns:a="http://schemas.openxmlformats.org/drawingml/2006/main">
              <a:ext uri="{FF2B5EF4-FFF2-40B4-BE49-F238E27FC236}">
                <a16:creationId xmlns:a16="http://schemas.microsoft.com/office/drawing/2014/main" id="{2704AFA6-FECB-41DA-9606-7C7CAB2E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00" cy="1101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block(16,16);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grid(64,64);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rotate_rgb&lt;&lt;&lt;grid,block&gt;&gt;&gt;(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d_in,d_out,1024,1024,c,s);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8845E-AA3D-4ABB-94DC-59F3149C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43600" cy="94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x = blockIdx.x*blockDim.x + threadIdx.x;&#10;y = blockIdx.y">
            <a:extLst xmlns:a="http://schemas.openxmlformats.org/drawingml/2006/main">
              <a:ext uri="{FF2B5EF4-FFF2-40B4-BE49-F238E27FC236}">
                <a16:creationId xmlns:a16="http://schemas.microsoft.com/office/drawing/2014/main" id="{C1A241B2-5A77-4502-952A-09ECB143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x = blockIdx.x*blockDim.x + threadIdx.x;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y = blockIdx.y*blockDim.y + threadIdx.y;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if (x &gt;= W || y &gt;= H) return;</a:t>
            </a:r>
          </a:p>
        </p:txBody>
      </p:sp>
      <p:sp>
        <p:nvSpPr>
          <p:cNvPr id="7" name="1024 × 1024 output">
            <a:extLst xmlns:a="http://schemas.openxmlformats.org/drawingml/2006/main">
              <a:ext uri="{FF2B5EF4-FFF2-40B4-BE49-F238E27FC236}">
                <a16:creationId xmlns:a16="http://schemas.microsoft.com/office/drawing/2014/main" id="{E4DE37E1-E2E5-4EAF-8519-6694A2EA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434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1024 × 1024 output</a:t>
            </a:r>
          </a:p>
        </p:txBody>
      </p:sp>
      <p:sp>
        <p:nvSpPr>
          <p:cNvPr id="8" name="64 × 64 = 4,096 blocks">
            <a:extLst xmlns:a="http://schemas.openxmlformats.org/drawingml/2006/main">
              <a:ext uri="{FF2B5EF4-FFF2-40B4-BE49-F238E27FC236}">
                <a16:creationId xmlns:a16="http://schemas.microsoft.com/office/drawing/2014/main" id="{F9F3D07C-B84D-4314-8239-3184DAD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64 × 64 = 4,096 blocks</a:t>
            </a:r>
          </a:p>
        </p:txBody>
      </p:sp>
      <p:sp>
        <p:nvSpPr>
          <p:cNvPr id="9" name="16 × 16 = 256 threads/block">
            <a:extLst xmlns:a="http://schemas.openxmlformats.org/drawingml/2006/main">
              <a:ext uri="{FF2B5EF4-FFF2-40B4-BE49-F238E27FC236}">
                <a16:creationId xmlns:a16="http://schemas.microsoft.com/office/drawing/2014/main" id="{CCA5B285-C628-4185-A66E-201F65BE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16 × 16 = 256 threads/block</a:t>
            </a:r>
          </a:p>
        </p:txBody>
      </p:sp>
      <p:sp>
        <p:nvSpPr>
          <p:cNvPr id="10" name="1,048,576 logical threads">
            <a:extLst xmlns:a="http://schemas.openxmlformats.org/drawingml/2006/main">
              <a:ext uri="{FF2B5EF4-FFF2-40B4-BE49-F238E27FC236}">
                <a16:creationId xmlns:a16="http://schemas.microsoft.com/office/drawing/2014/main" id="{F45C72C7-1FCC-4FEB-9C2D-4909DD2D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1,048,576 logical threads</a:t>
            </a:r>
          </a:p>
        </p:txBody>
      </p:sp>
      <p:sp>
        <p:nvSpPr>
          <p:cNvPr id="11" name="32 threads/warp → 8 warps/block">
            <a:extLst xmlns:a="http://schemas.openxmlformats.org/drawingml/2006/main">
              <a:ext uri="{FF2B5EF4-FFF2-40B4-BE49-F238E27FC236}">
                <a16:creationId xmlns:a16="http://schemas.microsoft.com/office/drawing/2014/main" id="{837C410C-859B-40DF-ABFC-1AA09E83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32 threads/warp → 8 warps/block</a:t>
            </a:r>
          </a:p>
        </p:txBody>
      </p:sp>
      <p:sp>
        <p:nvSpPr>
          <p:cNvPr id="12" name="One highlighted warp within a 16-wide block">
            <a:extLst xmlns:a="http://schemas.openxmlformats.org/drawingml/2006/main">
              <a:ext uri="{FF2B5EF4-FFF2-40B4-BE49-F238E27FC236}">
                <a16:creationId xmlns:a16="http://schemas.microsoft.com/office/drawing/2014/main" id="{292D1A70-8157-4112-A254-0C2E0D06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343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One highlighted warp within a 16-wide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662A4-5F5E-4B29-920D-F9A48A1C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253D4-AFA6-465D-8119-17B24FA8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39A1E-6D94-47C8-A0D8-894576F5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417B5-30A5-4468-9A32-2E85F26D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C0DE8-DEC5-4317-8BBF-96272D0E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BDCF4-EDC8-48C6-AA96-C2A0B3AF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7BA52-6E7A-4871-AFE2-0840FD64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8CB6B-EF9D-4D04-960B-4105C3A2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D8FC9-8661-49B8-A624-F158BC2E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57F199-A5AF-44BE-AFAE-8BC6A1A3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B6CE9-38E0-4E3C-AC38-87466D21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1045D-A9FF-4515-B2AA-F0514A7E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CCCBAC-81DA-4307-B0C1-BBD1A496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3CBA8-FDE2-4C83-B9BF-AA5756BC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64C97-153B-4216-8D98-E798A724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4DAD4-010E-48C1-BC25-D9F9EEDB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09001F-18B3-4712-993F-15377F00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675DAC-C838-455D-ACC6-01F2CA24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A4227D-1FD7-4BB3-B96E-8CBD7425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78D745-2E2B-4BF5-8732-D3D8043E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86156F-F374-452C-846B-5A4D41B9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F8890E-4AAF-4E8E-A4A5-25CA547E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DBC774-25AF-43C8-826B-D8C53820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990DB1-A593-4EB5-9F93-25ECCABB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91AFBF-79AA-45F8-ABA9-0FD62A10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4235B8-C998-4C3F-AC45-0E8C957B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2583DF-5B26-427F-9F06-C0950FF8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89568E-22F1-4D97-90E5-B4762DAC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6FDCAF-CF09-4AA3-8BB2-58237F71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AC4CCF-111D-46CD-954F-D5756329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60B716-63C3-4584-AF40-E52E0E5D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DEA79F-34F3-4F72-8F76-BE07C398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5" name="Non-multiple dimensions: ceil-divide the grid and keep ">
            <a:extLst xmlns:a="http://schemas.openxmlformats.org/drawingml/2006/main">
              <a:ext uri="{FF2B5EF4-FFF2-40B4-BE49-F238E27FC236}">
                <a16:creationId xmlns:a16="http://schemas.microsoft.com/office/drawing/2014/main" id="{DB060365-10FE-411D-9A20-403B3634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Non-multiple dimensions: ceil-divide the grid and keep the bounds guard.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B62111-791A-456D-AB5B-9062E04A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47" name="A grid specifies logical work; finite SMs schedule its ">
            <a:extLst xmlns:a="http://schemas.openxmlformats.org/drawingml/2006/main">
              <a:ext uri="{FF2B5EF4-FFF2-40B4-BE49-F238E27FC236}">
                <a16:creationId xmlns:a16="http://schemas.microsoft.com/office/drawing/2014/main" id="{AFFDE31B-A249-4974-B077-1B0698ED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grid specifies logical work; finite SMs schedule its blocks and warps.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4A4C2D-162E-46DD-A5B4-5DA4E842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49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74D170AD-A5BF-4F45-A7ED-9D28439F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50" name="4 / 56">
            <a:extLst xmlns:a="http://schemas.openxmlformats.org/drawingml/2006/main">
              <a:ext uri="{FF2B5EF4-FFF2-40B4-BE49-F238E27FC236}">
                <a16:creationId xmlns:a16="http://schemas.microsoft.com/office/drawing/2014/main" id="{7C01EC33-6409-47B1-A662-AF77331B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56</a:t>
            </a:r>
          </a:p>
        </p:txBody>
      </p:sp>
    </p:spTree>
    <p:extLst>
      <p:ext uri="{BB962C8B-B14F-4D97-AF65-F5344CB8AC3E}">
        <p14:creationId xmlns:p14="http://schemas.microsoft.com/office/powerpoint/2010/main" val="1255797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FF0B0-5730-4848-8414-A9C69057661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644063" y="2305050"/>
            <a:ext cx="4763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1(b)">
            <a:extLst xmlns:a="http://schemas.openxmlformats.org/drawingml/2006/main">
              <a:ext uri="{FF2B5EF4-FFF2-40B4-BE49-F238E27FC236}">
                <a16:creationId xmlns:a16="http://schemas.microsoft.com/office/drawing/2014/main" id="{2C843A57-34E2-47B6-8251-D9DC0F4E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features that affect throughput">
            <a:extLst xmlns:a="http://schemas.openxmlformats.org/drawingml/2006/main">
              <a:ext uri="{FF2B5EF4-FFF2-40B4-BE49-F238E27FC236}">
                <a16:creationId xmlns:a16="http://schemas.microsoft.com/office/drawing/2014/main" id="{9A5D36FE-4B6F-48E6-BA65-69BE4B35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features that affect throughput</a:t>
            </a:r>
          </a:p>
        </p:txBody>
      </p:sp>
      <p:sp>
        <p:nvSpPr>
          <p:cNvPr id="3" name="Example: independent brightness channels">
            <a:extLst xmlns:a="http://schemas.openxmlformats.org/drawingml/2006/main">
              <a:ext uri="{FF2B5EF4-FFF2-40B4-BE49-F238E27FC236}">
                <a16:creationId xmlns:a16="http://schemas.microsoft.com/office/drawing/2014/main" id="{0B20F9F1-4044-4A76-A32B-B3AB1E66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38875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Example: independent brightness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9F29F-E8CF-4170-B738-F6A84204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419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ize_t p = 3*(size_t(y)*W + x);&#10;for (int ch=0; ch&lt;3; ++">
            <a:extLst xmlns:a="http://schemas.openxmlformats.org/drawingml/2006/main">
              <a:ext uri="{FF2B5EF4-FFF2-40B4-BE49-F238E27FC236}">
                <a16:creationId xmlns:a16="http://schemas.microsoft.com/office/drawing/2014/main" id="{CF394ED6-AD41-4725-AA12-F12E6D96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19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size_t p = 3*(size_t(y)*W + x);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for (int ch=0; ch&lt;3; ++ch) {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v = int(in[p+ch]) + delta;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out[p+ch] = v&lt;0 ? 0 : (v&gt;255 ? 255 : v);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Excerpt after coordinate/bounds checks; valid contiguou">
            <a:extLst xmlns:a="http://schemas.openxmlformats.org/drawingml/2006/main">
              <a:ext uri="{FF2B5EF4-FFF2-40B4-BE49-F238E27FC236}">
                <a16:creationId xmlns:a16="http://schemas.microsoft.com/office/drawing/2014/main" id="{1A629C38-D315-469C-81E3-429D9804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2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Excerpt after coordinate/bounds checks; valid contiguous RGB buffers.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776C2-6C71-4A4F-9D02-83D5B181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Pending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083DB-8A15-41AE-BF16-C9D33F7F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667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Streaming multiprocessor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→ execution units</a:t>
            </a:r>
          </a:p>
        </p:txBody>
      </p:sp>
      <p:sp>
        <p:nvSpPr>
          <p:cNvPr id="10" name="SIMT = single instruction, multiple threads. A warp iss">
            <a:extLst xmlns:a="http://schemas.openxmlformats.org/drawingml/2006/main">
              <a:ext uri="{FF2B5EF4-FFF2-40B4-BE49-F238E27FC236}">
                <a16:creationId xmlns:a16="http://schemas.microsoft.com/office/drawing/2014/main" id="{5637469C-0BA7-42D9-B307-D430CE05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95775"/>
            <a:ext cx="38671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SIMT = single instruction, multiple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threads. A warp issues common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instructions; divergent paths can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efficiency.</a:t>
            </a:r>
          </a:p>
        </p:txBody>
      </p:sp>
      <p:sp>
        <p:nvSpPr>
          <p:cNvPr id="11" name="Resident warps hide latency; registers limit residency.">
            <a:extLst xmlns:a="http://schemas.openxmlformats.org/drawingml/2006/main">
              <a:ext uri="{FF2B5EF4-FFF2-40B4-BE49-F238E27FC236}">
                <a16:creationId xmlns:a16="http://schemas.microsoft.com/office/drawing/2014/main" id="{B9222BEB-1346-41EC-B3E8-7FDC9AF5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5151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hide latency; registers limit residency.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Coalescing groups nearby accesses into fewer transactions;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can disrupt read locality.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7954B-206B-4373-9612-47AFAB77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Concurrency helps only when memory access and resource ">
            <a:extLst xmlns:a="http://schemas.openxmlformats.org/drawingml/2006/main">
              <a:ext uri="{FF2B5EF4-FFF2-40B4-BE49-F238E27FC236}">
                <a16:creationId xmlns:a16="http://schemas.microsoft.com/office/drawing/2014/main" id="{9B39D2AD-0822-455C-BA23-42E0F37A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Concurrency helps only when memory access and resource use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64588-D00D-45FB-84AA-436553CE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4A9E00F6-EA02-480B-B7FE-A8B15891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16" name="5 / 56">
            <a:extLst xmlns:a="http://schemas.openxmlformats.org/drawingml/2006/main">
              <a:ext uri="{FF2B5EF4-FFF2-40B4-BE49-F238E27FC236}">
                <a16:creationId xmlns:a16="http://schemas.microsoft.com/office/drawing/2014/main" id="{71F14072-B1D0-4608-9B8E-5A015E53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56</a:t>
            </a:r>
          </a:p>
        </p:txBody>
      </p:sp>
    </p:spTree>
    <p:extLst>
      <p:ext uri="{BB962C8B-B14F-4D97-AF65-F5344CB8AC3E}">
        <p14:creationId xmlns:p14="http://schemas.microsoft.com/office/powerpoint/2010/main" val="1903656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sk 1(b)">
            <a:extLst xmlns:a="http://schemas.openxmlformats.org/drawingml/2006/main">
              <a:ext uri="{FF2B5EF4-FFF2-40B4-BE49-F238E27FC236}">
                <a16:creationId xmlns:a16="http://schemas.microsoft.com/office/drawing/2014/main" id="{81E236A0-A6CE-4290-B17E-CAAD1BB3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Expected speedup and its limits">
            <a:extLst xmlns:a="http://schemas.openxmlformats.org/drawingml/2006/main">
              <a:ext uri="{FF2B5EF4-FFF2-40B4-BE49-F238E27FC236}">
                <a16:creationId xmlns:a16="http://schemas.microsoft.com/office/drawing/2014/main" id="{794CEF11-1587-42D4-B0F3-C6C0B468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Expected speedup and its limits</a:t>
            </a:r>
          </a:p>
        </p:txBody>
      </p:sp>
      <p:sp>
        <p:nvSpPr>
          <p:cNvPr id="3" name="Baseline: single CPU thread, same rotation and sampling">
            <a:extLst xmlns:a="http://schemas.openxmlformats.org/drawingml/2006/main">
              <a:ext uri="{FF2B5EF4-FFF2-40B4-BE49-F238E27FC236}">
                <a16:creationId xmlns:a16="http://schemas.microsoft.com/office/drawing/2014/main" id="{CC68A0CF-E337-4294-AA61-026E55D7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Baseline: single CPU thread, same rotation and sampling</a:t>
            </a:r>
          </a:p>
        </p:txBody>
      </p:sp>
      <p:sp>
        <p:nvSpPr>
          <p:cNvPr id="4" name="Also compare a multithreaded CPU; identical output and ">
            <a:extLst xmlns:a="http://schemas.openxmlformats.org/drawingml/2006/main">
              <a:ext uri="{FF2B5EF4-FFF2-40B4-BE49-F238E27FC236}">
                <a16:creationId xmlns:a16="http://schemas.microsoft.com/office/drawing/2014/main" id="{1B38D029-5345-425A-88F0-E4F0A1CC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Also compare a multithreaded CPU; identical output and timing boundaries.</a:t>
            </a:r>
          </a:p>
        </p:txBody>
      </p:sp>
      <p:sp>
        <p:nvSpPr>
          <p:cNvPr id="5" name="Speedup = TCPU / TGPU,total">
            <a:extLst xmlns:a="http://schemas.openxmlformats.org/drawingml/2006/main">
              <a:ext uri="{FF2B5EF4-FFF2-40B4-BE49-F238E27FC236}">
                <a16:creationId xmlns:a16="http://schemas.microsoft.com/office/drawing/2014/main" id="{24F5A4EF-5457-430D-9107-CBD02530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439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= TCPU / TGPU,total</a:t>
            </a:r>
          </a:p>
        </p:txBody>
      </p:sp>
      <p:sp>
        <p:nvSpPr>
          <p:cNvPr id="6" name="TGPU,total = allocation/setup + H2D + kernel + D2H">
            <a:extLst xmlns:a="http://schemas.openxmlformats.org/drawingml/2006/main">
              <a:ext uri="{FF2B5EF4-FFF2-40B4-BE49-F238E27FC236}">
                <a16:creationId xmlns:a16="http://schemas.microsoft.com/office/drawing/2014/main" id="{195A43E0-ADA0-42A7-B304-14F1D65B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TGPU,total = allocation/setup + H2D + kernel + D2H</a:t>
            </a:r>
          </a:p>
        </p:txBody>
      </p:sp>
      <p:sp>
        <p:nvSpPr>
          <p:cNvPr id="7" name="Many GPU execution units and high device bandwidth favo">
            <a:extLst xmlns:a="http://schemas.openxmlformats.org/drawingml/2006/main">
              <a:ext uri="{FF2B5EF4-FFF2-40B4-BE49-F238E27FC236}">
                <a16:creationId xmlns:a16="http://schemas.microsoft.com/office/drawing/2014/main" id="{88BBE7B7-204A-4B88-BA02-47A098E5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Many GPU execution units and high device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favor parallel throughput. Large or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images amortize setup; gathered reads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limit bandwidth.</a:t>
            </a:r>
          </a:p>
        </p:txBody>
      </p:sp>
      <p:sp>
        <p:nvSpPr>
          <p:cNvPr id="8" name="Week 7: S = 1 / (s + (1−s)/a). s is the unchanged seria">
            <a:extLst xmlns:a="http://schemas.openxmlformats.org/drawingml/2006/main">
              <a:ext uri="{FF2B5EF4-FFF2-40B4-BE49-F238E27FC236}">
                <a16:creationId xmlns:a16="http://schemas.microsoft.com/office/drawing/2014/main" id="{AFA8B337-2993-4F4B-822D-82836308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Week 7: S = 1 / (s + (1−s)/a). s is the unchanged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share; a accelerates the remainder. s = 0.20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gives a 5× ideal ceiling before added transfers.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Theoretical, not 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E2674-4599-4867-ACD8-A9FA5E1B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0" name="Expect gains for large or resident workloads; measure t">
            <a:extLst xmlns:a="http://schemas.openxmlformats.org/drawingml/2006/main">
              <a:ext uri="{FF2B5EF4-FFF2-40B4-BE49-F238E27FC236}">
                <a16:creationId xmlns:a16="http://schemas.microsoft.com/office/drawing/2014/main" id="{1FFDD208-88F8-48F0-8E81-268CA03F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 gains for large or resident workloads; measure the whole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8A22F-39FC-48DE-BB26-A9491953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1002E539-58CA-41EE-A4BA-082FAAB1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3" name="6 / 56">
            <a:extLst xmlns:a="http://schemas.openxmlformats.org/drawingml/2006/main">
              <a:ext uri="{FF2B5EF4-FFF2-40B4-BE49-F238E27FC236}">
                <a16:creationId xmlns:a16="http://schemas.microsoft.com/office/drawing/2014/main" id="{B61227AD-79BE-4B66-B78B-26697575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56</a:t>
            </a:r>
          </a:p>
        </p:txBody>
      </p:sp>
    </p:spTree>
    <p:extLst>
      <p:ext uri="{BB962C8B-B14F-4D97-AF65-F5344CB8AC3E}">
        <p14:creationId xmlns:p14="http://schemas.microsoft.com/office/powerpoint/2010/main" val="1343801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9FB29-21A8-45DF-99AC-6DD4CBAFC3D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86100" y="40957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A71A9-8CD9-43C8-A823-14109172662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343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428BB-A321-4B02-B146-B1C98ABCF86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57475" y="23431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Task 1(c)">
            <a:extLst xmlns:a="http://schemas.openxmlformats.org/drawingml/2006/main">
              <a:ext uri="{FF2B5EF4-FFF2-40B4-BE49-F238E27FC236}">
                <a16:creationId xmlns:a16="http://schemas.microsoft.com/office/drawing/2014/main" id="{08417C7A-3BF9-44E1-9299-7E51C4ED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1(c)</a:t>
            </a:r>
          </a:p>
        </p:txBody>
      </p:sp>
      <p:sp>
        <p:nvSpPr>
          <p:cNvPr id="2" name="GPUDirect Storage and rotation">
            <a:extLst xmlns:a="http://schemas.openxmlformats.org/drawingml/2006/main">
              <a:ext uri="{FF2B5EF4-FFF2-40B4-BE49-F238E27FC236}">
                <a16:creationId xmlns:a16="http://schemas.microsoft.com/office/drawing/2014/main" id="{072B179E-A850-487A-928A-33FA4A45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GPUDirect Storage and rotation</a:t>
            </a:r>
          </a:p>
        </p:txBody>
      </p:sp>
      <p:sp>
        <p:nvSpPr>
          <p:cNvPr id="3" name="Conventional storage path">
            <a:extLst xmlns:a="http://schemas.openxmlformats.org/drawingml/2006/main">
              <a:ext uri="{FF2B5EF4-FFF2-40B4-BE49-F238E27FC236}">
                <a16:creationId xmlns:a16="http://schemas.microsoft.com/office/drawing/2014/main" id="{58E4D88F-1A06-4AB2-99BF-64BB43E1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storage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2838C-2754-4353-B7FE-64E2A4E6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47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5B9B7-DDBE-4CA7-ABFE-C624CCF6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A5E0A-67AB-415C-B4EB-E9060311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71675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9" name="storage read">
            <a:extLst xmlns:a="http://schemas.openxmlformats.org/drawingml/2006/main">
              <a:ext uri="{FF2B5EF4-FFF2-40B4-BE49-F238E27FC236}">
                <a16:creationId xmlns:a16="http://schemas.microsoft.com/office/drawing/2014/main" id="{86C62508-3656-4B74-95E0-95871E61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57400"/>
            <a:ext cx="15240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 read</a:t>
            </a:r>
          </a:p>
        </p:txBody>
      </p:sp>
      <p:sp>
        <p:nvSpPr>
          <p:cNvPr id="10" name="H2D / PCIe">
            <a:extLst xmlns:a="http://schemas.openxmlformats.org/drawingml/2006/main">
              <a:ext uri="{FF2B5EF4-FFF2-40B4-BE49-F238E27FC236}">
                <a16:creationId xmlns:a16="http://schemas.microsoft.com/office/drawing/2014/main" id="{D4553AFB-690D-469E-B065-77B4C753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162877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 / PCIe</a:t>
            </a:r>
          </a:p>
        </p:txBody>
      </p:sp>
      <p:sp>
        <p:nvSpPr>
          <p:cNvPr id="11" name="GDS direct path (supported configuration)">
            <a:extLst xmlns:a="http://schemas.openxmlformats.org/drawingml/2006/main">
              <a:ext uri="{FF2B5EF4-FFF2-40B4-BE49-F238E27FC236}">
                <a16:creationId xmlns:a16="http://schemas.microsoft.com/office/drawing/2014/main" id="{B5BACA70-33DB-4024-B82A-0AF1AB7B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GDS direct path (supported configuration)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B6063-454E-4F1C-A56D-27547518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Storage-side DMA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NVMe / 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38152-5F37-4149-90C6-231692DF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305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5" name="PCIe data path bypasses host staging">
            <a:extLst xmlns:a="http://schemas.openxmlformats.org/drawingml/2006/main">
              <a:ext uri="{FF2B5EF4-FFF2-40B4-BE49-F238E27FC236}">
                <a16:creationId xmlns:a16="http://schemas.microsoft.com/office/drawing/2014/main" id="{945C447E-E8B8-4893-9D53-B83B336E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24275"/>
            <a:ext cx="49720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data path bypasses host staging</a:t>
            </a:r>
          </a:p>
        </p:txBody>
      </p:sp>
      <p:sp>
        <p:nvSpPr>
          <p:cNvPr id="16" name="CPU issues cuFile I/O; compatibility fallback may stage">
            <a:extLst xmlns:a="http://schemas.openxmlformats.org/drawingml/2006/main">
              <a:ext uri="{FF2B5EF4-FFF2-40B4-BE49-F238E27FC236}">
                <a16:creationId xmlns:a16="http://schemas.microsoft.com/office/drawing/2014/main" id="{3B287557-AD5B-4542-9284-FA9309D4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issues cuFile I/O; compatibility fallback may stage through RAM.</a:t>
            </a:r>
          </a:p>
        </p:txBody>
      </p:sp>
      <p:sp>
        <p:nvSpPr>
          <p:cNvPr id="17" name="CPU-decoded / already-in-RAM image: little benefit. Lar">
            <a:extLst xmlns:a="http://schemas.openxmlformats.org/drawingml/2006/main">
              <a:ext uri="{FF2B5EF4-FFF2-40B4-BE49-F238E27FC236}">
                <a16:creationId xmlns:a16="http://schemas.microsoft.com/office/drawing/2014/main" id="{CBE98B49-E31E-4480-9ABA-F02E00B1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CPU-decoded / already-in-RAM image: little benefit. Large storage-bound batches with GPU-ready data: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possible benefit, verify direct path and total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B502C-9613-4281-B5FA-ACB54D86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GDS can reduce storage staging; it does not accelerate ">
            <a:extLst xmlns:a="http://schemas.openxmlformats.org/drawingml/2006/main">
              <a:ext uri="{FF2B5EF4-FFF2-40B4-BE49-F238E27FC236}">
                <a16:creationId xmlns:a16="http://schemas.microsoft.com/office/drawing/2014/main" id="{F874EEE6-D6EA-4825-A56F-C77EFD3E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can reduce storage staging; it does not accelerate rotation arithmetic.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900D2-F640-4090-AE21-47F7552E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39AB9F97-48F3-4DB8-BBEE-2237232C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22" name="7 / 56">
            <a:extLst xmlns:a="http://schemas.openxmlformats.org/drawingml/2006/main">
              <a:ext uri="{FF2B5EF4-FFF2-40B4-BE49-F238E27FC236}">
                <a16:creationId xmlns:a16="http://schemas.microsoft.com/office/drawing/2014/main" id="{1FCA4845-CF4E-4FE9-8E41-FA8F595B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56</a:t>
            </a:r>
          </a:p>
        </p:txBody>
      </p:sp>
    </p:spTree>
    <p:extLst>
      <p:ext uri="{BB962C8B-B14F-4D97-AF65-F5344CB8AC3E}">
        <p14:creationId xmlns:p14="http://schemas.microsoft.com/office/powerpoint/2010/main" val="6483266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A6988788-2922-412E-B91A-28686B18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DFDEFC58-68CE-4078-827F-B1B1B76B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86AEA-3EDB-4C88-BEC9-DC0D20E3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9FEBB-1B0A-4D32-88EE-51B49000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443F1-B912-4ADB-B28A-B91A27E2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02365-8466-4E0A-99BD-7B101B62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024D4-3D78-4BC2-B558-B1991E48ABD9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CA296-1E25-47F9-B0B4-3F4052071DE9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55300-93ED-468A-915A-BB283D8994A7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85F7ECDB-D7E9-44A3-8345-1D82E756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84F8F35F-5813-4A36-B119-AB2FF2BA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2838BEC4-BDDE-4F9B-9EC5-5DF61E36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EF019BF5-C4D6-4720-A5BC-D876617B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30710-1F33-4439-BAEF-B2097748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A7E6DCF8-4088-47E8-8379-E4CD6BD5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A40D7-2C0F-4D17-928B-C30451C1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E7C7E297-3584-4A43-AE51-D56A3056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8" name="8 / 56">
            <a:extLst xmlns:a="http://schemas.openxmlformats.org/drawingml/2006/main">
              <a:ext uri="{FF2B5EF4-FFF2-40B4-BE49-F238E27FC236}">
                <a16:creationId xmlns:a16="http://schemas.microsoft.com/office/drawing/2014/main" id="{2D0ABC45-C883-4B9E-939B-7BF89281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56</a:t>
            </a:r>
          </a:p>
        </p:txBody>
      </p:sp>
    </p:spTree>
    <p:extLst>
      <p:ext uri="{BB962C8B-B14F-4D97-AF65-F5344CB8AC3E}">
        <p14:creationId xmlns:p14="http://schemas.microsoft.com/office/powerpoint/2010/main" val="1612241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97F54E3D-EDE8-4AA3-88D3-4BFF932D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49B3A76B-149A-44FE-8E06-BCE98033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85FD76D2-14C9-4B0F-AC62-1083FB77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A5752854-CD45-4700-AE27-E626C2F0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3E98C08-704C-46C9-BB65-1E06712D26EE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7053a115dd4286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4CC09E3-18B0-4DB8-9B52-69215A64B6DD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dcfcbc6ebd4e1e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886BF37F-83BE-4017-A2FF-3335C542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2C3626B0-D67F-43CB-87C3-569CC465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FF0CB-48C5-405A-8307-1AFB6298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1138E6EE-0C16-48FC-BA8C-888486FF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9 / 56">
            <a:extLst xmlns:a="http://schemas.openxmlformats.org/drawingml/2006/main">
              <a:ext uri="{FF2B5EF4-FFF2-40B4-BE49-F238E27FC236}">
                <a16:creationId xmlns:a16="http://schemas.microsoft.com/office/drawing/2014/main" id="{4B10EC01-616C-4296-B67C-ED880D7D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56</a:t>
            </a:r>
          </a:p>
        </p:txBody>
      </p:sp>
    </p:spTree>
    <p:extLst>
      <p:ext uri="{BB962C8B-B14F-4D97-AF65-F5344CB8AC3E}">
        <p14:creationId xmlns:p14="http://schemas.microsoft.com/office/powerpoint/2010/main" val="7771409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CF95C-D880-454C-978A-985CE5331D69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B633C-AAB3-4B8F-87DF-4E0580CB1BB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6DC5198F-1231-4E1C-98F5-EE1BF873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5E5DA4CF-BA81-41B5-A305-3B342F61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CD18A896-555E-4E67-80CC-144FC7A6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008F5AF5-D687-428A-948B-958E16A1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1D6AD-E997-45B3-96F1-BE6BBCEE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4C053-9FF3-4DD9-ABC7-409E2FF6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F854A-D00D-4553-8CF1-4F39EB62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22E5B-E15A-4D36-85B3-EB6C3BEC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218B3229-0DC7-4DBE-B759-0DEDA387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282DB7CD-7725-4CD9-8C33-0F8883AE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A5C6CF94-D2A7-4D55-9E3A-16E5AC39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BDBF7-942A-4F45-8A87-6392E800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A4F55E45-2BB2-46B0-A417-FD3991A1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DF85C-2133-4AE2-A453-D155F723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CED1B332-028D-41B2-A036-6EBA390A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10 / 56">
            <a:extLst xmlns:a="http://schemas.openxmlformats.org/drawingml/2006/main">
              <a:ext uri="{FF2B5EF4-FFF2-40B4-BE49-F238E27FC236}">
                <a16:creationId xmlns:a16="http://schemas.microsoft.com/office/drawing/2014/main" id="{629D030F-102D-4298-8CCA-12A0E4E8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56</a:t>
            </a:r>
          </a:p>
        </p:txBody>
      </p:sp>
    </p:spTree>
    <p:extLst>
      <p:ext uri="{BB962C8B-B14F-4D97-AF65-F5344CB8AC3E}">
        <p14:creationId xmlns:p14="http://schemas.microsoft.com/office/powerpoint/2010/main" val="13031992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B31F484B-0DD3-46EE-B641-2A91C1D8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BFEB527C-FF1D-4499-8467-A8232155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3C7BE-65DD-4D5B-B777-D6CF1B305D31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B0212EA1-ABF9-4F68-A165-12022516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C30868C2-2FDB-4C3F-93FA-72931733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6B100ABA-4DEC-45F5-92FE-04E8B3C9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CA980-C085-4AB0-BE1E-C60BE9D0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3A446073-D182-431F-BDB3-ACF50633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10D07-74D9-44F0-8A72-F215B7DA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E6A18167-D05F-4893-8D26-848CED53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11 / 56">
            <a:extLst xmlns:a="http://schemas.openxmlformats.org/drawingml/2006/main">
              <a:ext uri="{FF2B5EF4-FFF2-40B4-BE49-F238E27FC236}">
                <a16:creationId xmlns:a16="http://schemas.microsoft.com/office/drawing/2014/main" id="{C5AB7EB9-67BB-4144-8D65-EF1BAE27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56</a:t>
            </a:r>
          </a:p>
        </p:txBody>
      </p:sp>
    </p:spTree>
    <p:extLst>
      <p:ext uri="{BB962C8B-B14F-4D97-AF65-F5344CB8AC3E}">
        <p14:creationId xmlns:p14="http://schemas.microsoft.com/office/powerpoint/2010/main" val="19280957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9D493-7EDC-42F4-8DE8-164929CA35D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F0653-A4D8-41B5-9B19-04042F39961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BC329F73-A928-4D31-A443-E5AAD835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F55B7EE9-0D85-4390-9D8D-B09A8ED0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2622B-3F38-4C40-8F44-E583C6F1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71E49-2E37-44EB-A92A-D33BB6B6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332BC-BE57-4D9D-AFF6-77DF9D04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F129409D-1C88-4218-92F6-92922CC2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1BAA9ABD-2BBE-4332-8780-697F3446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Govern, Map, Measure,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D26556E7-CBAA-45C2-8EE2-38922837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A3D34ED6-561C-4762-89B7-228A1745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CC1D7-2B02-42E7-B16D-2E8A457E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165B2E17-2288-416E-8E4A-19FD2260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573D8-AD5E-48CB-BB5E-B9B07233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AB52C805-1753-48AA-8AAB-A540BE35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12 / 56">
            <a:extLst xmlns:a="http://schemas.openxmlformats.org/drawingml/2006/main">
              <a:ext uri="{FF2B5EF4-FFF2-40B4-BE49-F238E27FC236}">
                <a16:creationId xmlns:a16="http://schemas.microsoft.com/office/drawing/2014/main" id="{952364EA-B737-405F-BDFB-876BB630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56</a:t>
            </a:r>
          </a:p>
        </p:txBody>
      </p:sp>
    </p:spTree>
    <p:extLst>
      <p:ext uri="{BB962C8B-B14F-4D97-AF65-F5344CB8AC3E}">
        <p14:creationId xmlns:p14="http://schemas.microsoft.com/office/powerpoint/2010/main" val="7045793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9FDB2C8B-E7AE-4208-8642-D588B44F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2598A0BC-1360-4E20-8896-7D3AB515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3D4C8370-0D6B-4E3D-B5E8-3B737102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DCFA0ED7-CFD9-4E35-8782-AB72035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C3CF371C-0C79-40AB-9932-6210C093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75BB57D6-4D43-48F0-85AA-E180CDA7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787C03A7-543A-4723-B3B8-B0E39D24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57A1766F-43B2-48E3-8D9B-40BE898C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21D105DE-D37B-49F0-9A41-EDD065D9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I disclosure/prompt records are part of">
            <a:extLst xmlns:a="http://schemas.openxmlformats.org/drawingml/2006/main">
              <a:ext uri="{FF2B5EF4-FFF2-40B4-BE49-F238E27FC236}">
                <a16:creationId xmlns:a16="http://schemas.microsoft.com/office/drawing/2014/main" id="{B82EE9B4-3A37-4291-ABB3-FA70616D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AI disclosure/prompt records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of 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FFAF9-6422-4278-8D63-5AC97E7C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08D99-B08D-4006-8BF2-A119B521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427BD62-8579-4CBE-9FC6-43901B04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13 / 56">
            <a:extLst xmlns:a="http://schemas.openxmlformats.org/drawingml/2006/main">
              <a:ext uri="{FF2B5EF4-FFF2-40B4-BE49-F238E27FC236}">
                <a16:creationId xmlns:a16="http://schemas.microsoft.com/office/drawing/2014/main" id="{F43C3267-8E83-4AAB-8C91-AA079CEF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56</a:t>
            </a:r>
          </a:p>
        </p:txBody>
      </p:sp>
    </p:spTree>
    <p:extLst>
      <p:ext uri="{BB962C8B-B14F-4D97-AF65-F5344CB8AC3E}">
        <p14:creationId xmlns:p14="http://schemas.microsoft.com/office/powerpoint/2010/main" val="6914014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">
            <a:extLst xmlns:a="http://schemas.openxmlformats.org/drawingml/2006/main">
              <a:ext uri="{FF2B5EF4-FFF2-40B4-BE49-F238E27FC236}">
                <a16:creationId xmlns:a16="http://schemas.microsoft.com/office/drawing/2014/main" id="{9309D6A7-F826-4C4C-96BB-5BB60798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Rotation coordinates and sampling">
            <a:extLst xmlns:a="http://schemas.openxmlformats.org/drawingml/2006/main">
              <a:ext uri="{FF2B5EF4-FFF2-40B4-BE49-F238E27FC236}">
                <a16:creationId xmlns:a16="http://schemas.microsoft.com/office/drawing/2014/main" id="{4EFDDF6C-3EBD-4B73-8189-D4E25DBB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coordinates and sampling</a:t>
            </a:r>
          </a:p>
        </p:txBody>
      </p:sp>
      <p:sp>
        <p:nvSpPr>
          <p:cNvPr id="3" name="Coordinate convention">
            <a:extLst xmlns:a="http://schemas.openxmlformats.org/drawingml/2006/main">
              <a:ext uri="{FF2B5EF4-FFF2-40B4-BE49-F238E27FC236}">
                <a16:creationId xmlns:a16="http://schemas.microsoft.com/office/drawing/2014/main" id="{31654A43-4EAB-4A79-8480-50E602A1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Coordinate convention</a:t>
            </a:r>
          </a:p>
        </p:txBody>
      </p:sp>
      <p:sp>
        <p:nvSpPr>
          <p:cNvPr id="4" name="Input/output: contiguous 8-bit RGB; positive width W an">
            <a:extLst xmlns:a="http://schemas.openxmlformats.org/drawingml/2006/main">
              <a:ext uri="{FF2B5EF4-FFF2-40B4-BE49-F238E27FC236}">
                <a16:creationId xmlns:a16="http://schemas.microsoft.com/office/drawing/2014/main" id="{84C427B6-4B98-4AF8-A413-5F25DDAD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Input/output: contiguous 8-bit RGB; positive width 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height H; x points right and y points down. Input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output buffers are distinct.</a:t>
            </a:r>
          </a:p>
        </p:txBody>
      </p:sp>
      <p:sp>
        <p:nvSpPr>
          <p:cNvPr id="5" name="Rotate around cx = (W − 1)/2 and cy = (H − 1)/2. Positi">
            <a:extLst xmlns:a="http://schemas.openxmlformats.org/drawingml/2006/main">
              <a:ext uri="{FF2B5EF4-FFF2-40B4-BE49-F238E27FC236}">
                <a16:creationId xmlns:a16="http://schemas.microsoft.com/office/drawing/2014/main" id="{BF9FE735-7071-454A-8609-34C54210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Rotate around cx = (W − 1)/2 and cy = (H − 1)/2.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is visually counterclockwise; the host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supplies c = cos θ and s = sin θ in radians.</a:t>
            </a:r>
          </a:p>
        </p:txBody>
      </p:sp>
      <p:sp>
        <p:nvSpPr>
          <p:cNvPr id="6" name="Forward image-coordinate rotation uses [c s; −s c]. Inv">
            <a:extLst xmlns:a="http://schemas.openxmlformats.org/drawingml/2006/main">
              <a:ext uri="{FF2B5EF4-FFF2-40B4-BE49-F238E27FC236}">
                <a16:creationId xmlns:a16="http://schemas.microsoft.com/office/drawing/2014/main" id="{E91FF71D-B27F-4666-8219-1109CC64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image-coordinate rotation uses [c s; −s c].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Inverting it gives source offsets [c −s; s c] ×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offsets, then restores the center.</a:t>
            </a:r>
          </a:p>
        </p:txBody>
      </p:sp>
      <p:sp>
        <p:nvSpPr>
          <p:cNvPr id="7" name="Deliberate design choices">
            <a:extLst xmlns:a="http://schemas.openxmlformats.org/drawingml/2006/main">
              <a:ext uri="{FF2B5EF4-FFF2-40B4-BE49-F238E27FC236}">
                <a16:creationId xmlns:a16="http://schemas.microsoft.com/office/drawing/2014/main" id="{3A9E292F-4202-45F9-A465-71CF97AC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Deliberate design choices</a:t>
            </a:r>
          </a:p>
        </p:txBody>
      </p:sp>
      <p:sp>
        <p:nvSpPr>
          <p:cNvPr id="8" name="Nearest-neighbour indices: ix = floor(sx + 0.5), iy = f">
            <a:extLst xmlns:a="http://schemas.openxmlformats.org/drawingml/2006/main">
              <a:ext uri="{FF2B5EF4-FFF2-40B4-BE49-F238E27FC236}">
                <a16:creationId xmlns:a16="http://schemas.microsoft.com/office/drawing/2014/main" id="{8BECC605-07D5-44EE-9ED4-6B1256BA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indices: ix = floor(sx + 0.5), iy =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floor(sy + 0.5). Copy three channels if the rounded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indices are in bounds; otherwise write black.</a:t>
            </a:r>
          </a:p>
        </p:txBody>
      </p:sp>
      <p:sp>
        <p:nvSpPr>
          <p:cNvPr id="9" name="The fixed W × H canvas can crop rotated corners. Neares">
            <a:extLst xmlns:a="http://schemas.openxmlformats.org/drawingml/2006/main">
              <a:ext uri="{FF2B5EF4-FFF2-40B4-BE49-F238E27FC236}">
                <a16:creationId xmlns:a16="http://schemas.microsoft.com/office/drawing/2014/main" id="{4DD2864A-8672-425C-8F1A-8B8FEC34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fixed W × H canvas can crop rotated corners.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sampling can alias; bilinear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interpolation improves smoothness but adds 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reads/arithmetic.</a:t>
            </a:r>
          </a:p>
        </p:txBody>
      </p:sp>
      <p:sp>
        <p:nvSpPr>
          <p:cNvPr id="10" name="Forward scatter can leave holes or competing writes aft">
            <a:extLst xmlns:a="http://schemas.openxmlformats.org/drawingml/2006/main">
              <a:ext uri="{FF2B5EF4-FFF2-40B4-BE49-F238E27FC236}">
                <a16:creationId xmlns:a16="http://schemas.microsoft.com/office/drawing/2014/main" id="{6ED8318E-BF90-4819-968F-7B782BC2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scatter can leave holes or competing writes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after rounding. Inverse gathering assigns every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exactly one writer. NPP offers library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 explicit interpolation/ROI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3C4A7-DEC4-4915-86EA-68FC7266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D5DA4-F0CE-4EE4-AD50-48D6CD46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] Topic 8: GPU architecture and CUDA; [20] N">
            <a:extLst xmlns:a="http://schemas.openxmlformats.org/drawingml/2006/main">
              <a:ext uri="{FF2B5EF4-FFF2-40B4-BE49-F238E27FC236}">
                <a16:creationId xmlns:a16="http://schemas.microsoft.com/office/drawing/2014/main" id="{9535DE26-EC9F-4A41-B25B-61C1A0A1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[20] NVIDIA NPP: library alternative</a:t>
            </a:r>
          </a:p>
        </p:txBody>
      </p:sp>
      <p:sp>
        <p:nvSpPr>
          <p:cNvPr id="14" name="14 / 56">
            <a:extLst xmlns:a="http://schemas.openxmlformats.org/drawingml/2006/main">
              <a:ext uri="{FF2B5EF4-FFF2-40B4-BE49-F238E27FC236}">
                <a16:creationId xmlns:a16="http://schemas.microsoft.com/office/drawing/2014/main" id="{CE52F2A4-3E81-41D2-AFEE-E9D4C6EF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56</a:t>
            </a:r>
          </a:p>
        </p:txBody>
      </p:sp>
    </p:spTree>
    <p:extLst>
      <p:ext uri="{BB962C8B-B14F-4D97-AF65-F5344CB8AC3E}">
        <p14:creationId xmlns:p14="http://schemas.microsoft.com/office/powerpoint/2010/main" val="13992418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A2">
            <a:extLst xmlns:a="http://schemas.openxmlformats.org/drawingml/2006/main">
              <a:ext uri="{FF2B5EF4-FFF2-40B4-BE49-F238E27FC236}">
                <a16:creationId xmlns:a16="http://schemas.microsoft.com/office/drawing/2014/main" id="{3C8F5FB1-198B-4051-BB2B-51838F7E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A 90-degree rotation example">
            <a:extLst xmlns:a="http://schemas.openxmlformats.org/drawingml/2006/main">
              <a:ext uri="{FF2B5EF4-FFF2-40B4-BE49-F238E27FC236}">
                <a16:creationId xmlns:a16="http://schemas.microsoft.com/office/drawing/2014/main" id="{6F6C1BC3-A3ED-43D4-B856-481DF0F0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90-degree rotation example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FB937775-5AB1-4FB8-B800-EEE77861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9CC9B-47B1-4B14-8C10-64543B9150A3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utput: 90° counterclockwise">
            <a:extLst xmlns:a="http://schemas.openxmlformats.org/drawingml/2006/main">
              <a:ext uri="{FF2B5EF4-FFF2-40B4-BE49-F238E27FC236}">
                <a16:creationId xmlns:a16="http://schemas.microsoft.com/office/drawing/2014/main" id="{01074942-E7EE-425E-BB0E-2736356B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Output: 90° counterclockwise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35ED6-12B1-4DB5-B971-3724AC5F01B9}"/>
              </a:ext>
            </a:extLst>
          </p:cNvPr>
          <p:cNvGraphicFramePr/>
          <p:nvPr/>
        </p:nvGraphicFramePr>
        <p:xfrm>
          <a:off xmlns:a="http://schemas.openxmlformats.org/drawingml/2006/main" x="756285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θ = 90°&#10;c = 0, s = 1&#10;center = (2,2)">
            <a:extLst xmlns:a="http://schemas.openxmlformats.org/drawingml/2006/main">
              <a:ext uri="{FF2B5EF4-FFF2-40B4-BE49-F238E27FC236}">
                <a16:creationId xmlns:a16="http://schemas.microsoft.com/office/drawing/2014/main" id="{487FA602-3A0E-440B-BE00-5EAA7B0B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57400" cy="9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θ = 90°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0, s = 1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center = (2,2)</a:t>
            </a:r>
          </a:p>
        </p:txBody>
      </p:sp>
      <p:sp>
        <p:nvSpPr>
          <p:cNvPr id="8" name="Output (0,1) → source (3,0) → value 3">
            <a:extLst xmlns:a="http://schemas.openxmlformats.org/drawingml/2006/main">
              <a:ext uri="{FF2B5EF4-FFF2-40B4-BE49-F238E27FC236}">
                <a16:creationId xmlns:a16="http://schemas.microsoft.com/office/drawing/2014/main" id="{A9852FD0-B4FB-4D88-BBC9-50B4927B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(0,1) → source (3,0) → value 3</a:t>
            </a:r>
          </a:p>
        </p:txBody>
      </p:sp>
      <p:sp>
        <p:nvSpPr>
          <p:cNvPr id="9" name="The matrix values are illustrative pixel identifiers, n">
            <a:extLst xmlns:a="http://schemas.openxmlformats.org/drawingml/2006/main">
              <a:ext uri="{FF2B5EF4-FFF2-40B4-BE49-F238E27FC236}">
                <a16:creationId xmlns:a16="http://schemas.microsoft.com/office/drawing/2014/main" id="{81250605-B824-4767-83CF-99EF0E40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 matrix values are illustrative pixel identifiers, not channel intensities.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54ED1-C814-4CE5-A6B9-7145AA39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F74859D-DE54-4097-97B1-3562E5E2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15 / 56">
            <a:extLst xmlns:a="http://schemas.openxmlformats.org/drawingml/2006/main">
              <a:ext uri="{FF2B5EF4-FFF2-40B4-BE49-F238E27FC236}">
                <a16:creationId xmlns:a16="http://schemas.microsoft.com/office/drawing/2014/main" id="{AAB1AAD9-02FE-4E10-93EE-EC6E2DF1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56</a:t>
            </a:r>
          </a:p>
        </p:txBody>
      </p:sp>
    </p:spTree>
    <p:extLst>
      <p:ext uri="{BB962C8B-B14F-4D97-AF65-F5344CB8AC3E}">
        <p14:creationId xmlns:p14="http://schemas.microsoft.com/office/powerpoint/2010/main" val="19699963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3">
            <a:extLst xmlns:a="http://schemas.openxmlformats.org/drawingml/2006/main">
              <a:ext uri="{FF2B5EF4-FFF2-40B4-BE49-F238E27FC236}">
                <a16:creationId xmlns:a16="http://schemas.microsoft.com/office/drawing/2014/main" id="{5964B36C-3BBA-42F7-A23C-ED9BAC70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Crafted CUDA example: RGB brightness">
            <a:extLst xmlns:a="http://schemas.openxmlformats.org/drawingml/2006/main">
              <a:ext uri="{FF2B5EF4-FFF2-40B4-BE49-F238E27FC236}">
                <a16:creationId xmlns:a16="http://schemas.microsoft.com/office/drawing/2014/main" id="{7F1439BE-3BDF-4BC7-B412-845A136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RGB brightness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4E12E-8043-4B22-BEC7-EDBD57E3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brightness_rgb(const unsigned char* inp">
            <a:extLst xmlns:a="http://schemas.openxmlformats.org/drawingml/2006/main">
              <a:ext uri="{FF2B5EF4-FFF2-40B4-BE49-F238E27FC236}">
                <a16:creationId xmlns:a16="http://schemas.microsoft.com/office/drawing/2014/main" id="{EB5C9DA5-C917-48B4-93C7-F1B3B0F8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brightness_rgb(const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brightness)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offset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int value = int(input[offset + channel]) + brightness;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output[offset + channel]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value &lt; 0 ? 0 : (value &gt; 255 ? 255 : value);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Same operation on independent pixels: a data-parallel k">
            <a:extLst xmlns:a="http://schemas.openxmlformats.org/drawingml/2006/main">
              <a:ext uri="{FF2B5EF4-FFF2-40B4-BE49-F238E27FC236}">
                <a16:creationId xmlns:a16="http://schemas.microsoft.com/office/drawing/2014/main" id="{256413EC-619F-439F-A2AB-87CA0C1A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operation 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pixels: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data-parallel kernel.</a:t>
            </a:r>
          </a:p>
        </p:txBody>
      </p:sp>
      <p:sp>
        <p:nvSpPr>
          <p:cNvPr id="6" name="Assume brightness in [−255,255]. Integer addition avoid">
            <a:extLst xmlns:a="http://schemas.openxmlformats.org/drawingml/2006/main">
              <a:ext uri="{FF2B5EF4-FFF2-40B4-BE49-F238E27FC236}">
                <a16:creationId xmlns:a16="http://schemas.microsoft.com/office/drawing/2014/main" id="{B4E02CBB-2D22-47E2-8651-59703579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Assume brightness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[−255,255]. Integer addition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avoids uint8 wrap; clamp each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 to [0,255].</a:t>
            </a:r>
          </a:p>
        </p:txBody>
      </p:sp>
      <p:sp>
        <p:nvSpPr>
          <p:cNvPr id="7" name="Adjacent threads touch adjacent pixel locations, provid">
            <a:extLst xmlns:a="http://schemas.openxmlformats.org/drawingml/2006/main">
              <a:ext uri="{FF2B5EF4-FFF2-40B4-BE49-F238E27FC236}">
                <a16:creationId xmlns:a16="http://schemas.microsoft.com/office/drawing/2014/main" id="{1E91144A-06FF-4DA5-BA70-E1FF947B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2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threads touch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pixel locations,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providing useful locality.</a:t>
            </a:r>
          </a:p>
        </p:txBody>
      </p:sp>
      <p:sp>
        <p:nvSpPr>
          <p:cNvPr id="8" name="Illustrative CUDA C++; uncompiled and unbenchmarked.">
            <a:extLst xmlns:a="http://schemas.openxmlformats.org/drawingml/2006/main">
              <a:ext uri="{FF2B5EF4-FFF2-40B4-BE49-F238E27FC236}">
                <a16:creationId xmlns:a16="http://schemas.microsoft.com/office/drawing/2014/main" id="{70A42E0C-656A-4BB2-BBD3-9CEE30FB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537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CUDA C++;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uncompiled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D44BC-B2D6-4D14-92B8-D5B32286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C8C00BD1-A400-48D7-87C6-D64D6C9B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6 / 56">
            <a:extLst xmlns:a="http://schemas.openxmlformats.org/drawingml/2006/main">
              <a:ext uri="{FF2B5EF4-FFF2-40B4-BE49-F238E27FC236}">
                <a16:creationId xmlns:a16="http://schemas.microsoft.com/office/drawing/2014/main" id="{B9632B2F-AD76-4541-88F8-EAA609A6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56</a:t>
            </a:r>
          </a:p>
        </p:txBody>
      </p:sp>
    </p:spTree>
    <p:extLst>
      <p:ext uri="{BB962C8B-B14F-4D97-AF65-F5344CB8AC3E}">
        <p14:creationId xmlns:p14="http://schemas.microsoft.com/office/powerpoint/2010/main" val="12878257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4">
            <a:extLst xmlns:a="http://schemas.openxmlformats.org/drawingml/2006/main">
              <a:ext uri="{FF2B5EF4-FFF2-40B4-BE49-F238E27FC236}">
                <a16:creationId xmlns:a16="http://schemas.microsoft.com/office/drawing/2014/main" id="{920D7159-AAB1-4F7C-BA97-5B4984C1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Crafted CUDA example: inverse mapping">
            <a:extLst xmlns:a="http://schemas.openxmlformats.org/drawingml/2006/main">
              <a:ext uri="{FF2B5EF4-FFF2-40B4-BE49-F238E27FC236}">
                <a16:creationId xmlns:a16="http://schemas.microsoft.com/office/drawing/2014/main" id="{F85B0ACA-DB8C-4502-911C-76144D8E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inverse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E5289-493C-41B6-88FA-DE92528C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put,&#10;">
            <a:extLst xmlns:a="http://schemas.openxmlformats.org/drawingml/2006/main">
              <a:ext uri="{FF2B5EF4-FFF2-40B4-BE49-F238E27FC236}">
                <a16:creationId xmlns:a16="http://schemas.microsoft.com/office/drawing/2014/main" id="{1C751491-8113-4B22-B7D3-DE9EA852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c,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cx = (width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cy = (height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sx = c * (x - cx) - s * (y - cy) + cx;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sy = s * (x - cx) + c * (y - cy) + cy;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ix = int(floorf(sx + 0.5f));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iy = int(floorf(sy + 0.5f));</a:t>
            </a:r>
          </a:p>
        </p:txBody>
      </p:sp>
      <p:sp>
        <p:nvSpPr>
          <p:cNvPr id="5" name="Global coordinates come from block/thread indices.">
            <a:extLst xmlns:a="http://schemas.openxmlformats.org/drawingml/2006/main">
              <a:ext uri="{FF2B5EF4-FFF2-40B4-BE49-F238E27FC236}">
                <a16:creationId xmlns:a16="http://schemas.microsoft.com/office/drawing/2014/main" id="{7B6205EC-8E64-4585-9681-A31E3F26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coordinates come from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block/thread indices.</a:t>
            </a:r>
          </a:p>
        </p:txBody>
      </p:sp>
      <p:sp>
        <p:nvSpPr>
          <p:cNvPr id="6" name="The guard handles partial edge blocks before any memory">
            <a:extLst xmlns:a="http://schemas.openxmlformats.org/drawingml/2006/main">
              <a:ext uri="{FF2B5EF4-FFF2-40B4-BE49-F238E27FC236}">
                <a16:creationId xmlns:a16="http://schemas.microsoft.com/office/drawing/2014/main" id="{1292A263-31EC-4527-8C64-C69CC06F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guard handles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 before any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access.</a:t>
            </a:r>
          </a:p>
        </p:txBody>
      </p:sp>
      <p:sp>
        <p:nvSpPr>
          <p:cNvPr id="7" name="The host computes sine/cosine once per angle.">
            <a:extLst xmlns:a="http://schemas.openxmlformats.org/drawingml/2006/main">
              <a:ext uri="{FF2B5EF4-FFF2-40B4-BE49-F238E27FC236}">
                <a16:creationId xmlns:a16="http://schemas.microsoft.com/office/drawing/2014/main" id="{9B2711AE-28CF-4ABE-A4A7-957BC091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host computes sine/cosine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per angle.</a:t>
            </a:r>
          </a:p>
        </p:txBody>
      </p:sp>
      <p:sp>
        <p:nvSpPr>
          <p:cNvPr id="8" name="Nearest-neighbour mapping uses the documented y-down co">
            <a:extLst xmlns:a="http://schemas.openxmlformats.org/drawingml/2006/main">
              <a:ext uri="{FF2B5EF4-FFF2-40B4-BE49-F238E27FC236}">
                <a16:creationId xmlns:a16="http://schemas.microsoft.com/office/drawing/2014/main" id="{B5238381-8FD1-4E63-99FA-0F462777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58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mapping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uses the documented y-down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9BE45-BA82-40E1-A081-ED4DA415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80DD7180-CD5D-4CA4-A4C4-F94CCAB5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7 / 56">
            <a:extLst xmlns:a="http://schemas.openxmlformats.org/drawingml/2006/main">
              <a:ext uri="{FF2B5EF4-FFF2-40B4-BE49-F238E27FC236}">
                <a16:creationId xmlns:a16="http://schemas.microsoft.com/office/drawing/2014/main" id="{AE5F08E8-9A95-467D-825B-D55308CA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56</a:t>
            </a:r>
          </a:p>
        </p:txBody>
      </p:sp>
    </p:spTree>
    <p:extLst>
      <p:ext uri="{BB962C8B-B14F-4D97-AF65-F5344CB8AC3E}">
        <p14:creationId xmlns:p14="http://schemas.microsoft.com/office/powerpoint/2010/main" val="15668705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5">
            <a:extLst xmlns:a="http://schemas.openxmlformats.org/drawingml/2006/main">
              <a:ext uri="{FF2B5EF4-FFF2-40B4-BE49-F238E27FC236}">
                <a16:creationId xmlns:a16="http://schemas.microsoft.com/office/drawing/2014/main" id="{B884F9C8-4EBB-4A2F-A473-A7764628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Crafted CUDA example: safe output writes">
            <a:extLst xmlns:a="http://schemas.openxmlformats.org/drawingml/2006/main">
              <a:ext uri="{FF2B5EF4-FFF2-40B4-BE49-F238E27FC236}">
                <a16:creationId xmlns:a16="http://schemas.microsoft.com/office/drawing/2014/main" id="{988C442F-2E8D-4067-8596-13F4CBD7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safe output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9018F-2054-4D38-9A7E-CC899C04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    const size_t destination =&#10;        (size_t(y) * siz">
            <a:extLst xmlns:a="http://schemas.openxmlformats.org/drawingml/2006/main">
              <a:ext uri="{FF2B5EF4-FFF2-40B4-BE49-F238E27FC236}">
                <a16:creationId xmlns:a16="http://schemas.microsoft.com/office/drawing/2014/main" id="{38758DB3-3156-4019-A31F-2946D6EC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destination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(ix &gt;= 0 &amp;&amp; ix &lt; width &amp;&amp; iy &gt;= 0 &amp;&amp; iy &lt;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size_t source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(size_t(iy) * size_t(width) + size_t(ix))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input[source + channel];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GB address = 3 × (row × width + column).">
            <a:extLst xmlns:a="http://schemas.openxmlformats.org/drawingml/2006/main">
              <a:ext uri="{FF2B5EF4-FFF2-40B4-BE49-F238E27FC236}">
                <a16:creationId xmlns:a16="http://schemas.microsoft.com/office/drawing/2014/main" id="{E223DD76-EDD5-45C9-A8D0-7F76A0E4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RGB address = 3 × (row ×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width + column).</a:t>
            </a:r>
          </a:p>
        </p:txBody>
      </p:sp>
      <p:sp>
        <p:nvSpPr>
          <p:cNvPr id="6" name="Every valid output gets three channels, including black">
            <a:extLst xmlns:a="http://schemas.openxmlformats.org/drawingml/2006/main">
              <a:ext uri="{FF2B5EF4-FFF2-40B4-BE49-F238E27FC236}">
                <a16:creationId xmlns:a16="http://schemas.microsoft.com/office/drawing/2014/main" id="{3EAFF5A8-3B7E-4D24-9452-ADD78A54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valid output gets three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channels, including black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borders.</a:t>
            </a:r>
          </a:p>
        </p:txBody>
      </p:sp>
      <p:sp>
        <p:nvSpPr>
          <p:cNvPr id="7" name="No atomics, mutex or block barrier is needed: writers h">
            <a:extLst xmlns:a="http://schemas.openxmlformats.org/drawingml/2006/main">
              <a:ext uri="{FF2B5EF4-FFF2-40B4-BE49-F238E27FC236}">
                <a16:creationId xmlns:a16="http://schemas.microsoft.com/office/drawing/2014/main" id="{A79D6F97-CA9A-4A18-B953-515744E5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atomics, mutex or block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barrier is needed: writers have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destinations.</a:t>
            </a:r>
          </a:p>
        </p:txBody>
      </p:sp>
      <p:sp>
        <p:nvSpPr>
          <p:cNvPr id="8" name="Total work Θ(W × H); input/output storage Θ(W × H) each">
            <a:extLst xmlns:a="http://schemas.openxmlformats.org/drawingml/2006/main">
              <a:ext uri="{FF2B5EF4-FFF2-40B4-BE49-F238E27FC236}">
                <a16:creationId xmlns:a16="http://schemas.microsoft.com/office/drawing/2014/main" id="{D2745FE3-6C5D-47F1-A239-222A499F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568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work Θ(W × H);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 storage Θ(W × H)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4823A-F9D2-4380-B23A-F98C8ED7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3879B533-7354-4AC7-9B53-825F1C7E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[22] Topic 9B: mutual exclusion and allocation</a:t>
            </a:r>
          </a:p>
        </p:txBody>
      </p:sp>
      <p:sp>
        <p:nvSpPr>
          <p:cNvPr id="11" name="18 / 56">
            <a:extLst xmlns:a="http://schemas.openxmlformats.org/drawingml/2006/main">
              <a:ext uri="{FF2B5EF4-FFF2-40B4-BE49-F238E27FC236}">
                <a16:creationId xmlns:a16="http://schemas.microsoft.com/office/drawing/2014/main" id="{84FE0B96-9FE3-4151-B143-35AA244A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56</a:t>
            </a:r>
          </a:p>
        </p:txBody>
      </p:sp>
    </p:spTree>
    <p:extLst>
      <p:ext uri="{BB962C8B-B14F-4D97-AF65-F5344CB8AC3E}">
        <p14:creationId xmlns:p14="http://schemas.microsoft.com/office/powerpoint/2010/main" val="19818956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6">
            <a:extLst xmlns:a="http://schemas.openxmlformats.org/drawingml/2006/main">
              <a:ext uri="{FF2B5EF4-FFF2-40B4-BE49-F238E27FC236}">
                <a16:creationId xmlns:a16="http://schemas.microsoft.com/office/drawing/2014/main" id="{E5454F11-DC98-4B54-B11A-5CCE6B3F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Host orchestration and completion">
            <a:extLst xmlns:a="http://schemas.openxmlformats.org/drawingml/2006/main">
              <a:ext uri="{FF2B5EF4-FFF2-40B4-BE49-F238E27FC236}">
                <a16:creationId xmlns:a16="http://schemas.microsoft.com/office/drawing/2014/main" id="{74246C33-2F4E-45CC-B2C9-22273758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orchestration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12443-95B1-4D00-84C4-0167B2AC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4198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 16);&#10;dim3 grid(1u + (unsigned(W)-1u)/blo">
            <a:extLst xmlns:a="http://schemas.openxmlformats.org/drawingml/2006/main">
              <a:ext uri="{FF2B5EF4-FFF2-40B4-BE49-F238E27FC236}">
                <a16:creationId xmlns:a16="http://schemas.microsoft.com/office/drawing/2014/main" id="{E61B5C82-15AF-46F3-8A5A-EEEBEDE5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 16);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grid(1u + (unsigned(W)-1u)/block.x,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1u + (unsigned(H)-1u)/block.y);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cudaMemcpy(d_in, h_in,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cudaMemcpyHostToDevice);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block&gt;&gt;&gt;(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d_in, d_out, W, H,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cudaMemcpy(h_out, d_out,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cudaMemcpyDeviceToHost);</a:t>
            </a:r>
          </a:p>
        </p:txBody>
      </p:sp>
      <p:sp>
        <p:nvSpPr>
          <p:cNvPr id="5" name="Illustrative excerpt, not a complete program: W/H &gt; 0; ">
            <a:extLst xmlns:a="http://schemas.openxmlformats.org/drawingml/2006/main">
              <a:ext uri="{FF2B5EF4-FFF2-40B4-BE49-F238E27FC236}">
                <a16:creationId xmlns:a16="http://schemas.microsoft.com/office/drawing/2014/main" id="{2E9ED3DF-0EF3-4F6D-8C2B-CAD8601C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191250" cy="78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excerpt, not a complete program: W/H &gt; 0; bytes = 3 × W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× H checked in size_t; valid separate buffers; grid/device limits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validated.</a:t>
            </a:r>
          </a:p>
        </p:txBody>
      </p:sp>
      <p:sp>
        <p:nvSpPr>
          <p:cNvPr id="6" name="CPU loads/decodes, allocates host/device buffers, check">
            <a:extLst xmlns:a="http://schemas.openxmlformats.org/drawingml/2006/main">
              <a:ext uri="{FF2B5EF4-FFF2-40B4-BE49-F238E27FC236}">
                <a16:creationId xmlns:a16="http://schemas.microsoft.com/office/drawing/2014/main" id="{363CC9B7-8AF8-4DB7-8847-B1384CA9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loads/decodes, allocates host/device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buffers, checks every API/launch/completion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result, saves output and frees resources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safely.</a:t>
            </a:r>
          </a:p>
        </p:txBody>
      </p:sp>
      <p:sp>
        <p:nvSpPr>
          <p:cNvPr id="7" name="For this ordered synchronous-copy example, D2H supplies">
            <a:extLst xmlns:a="http://schemas.openxmlformats.org/drawingml/2006/main">
              <a:ext uri="{FF2B5EF4-FFF2-40B4-BE49-F238E27FC236}">
                <a16:creationId xmlns:a16="http://schemas.microsoft.com/office/drawing/2014/main" id="{28891DBB-5BE7-4297-8DCA-C8612B82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0068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this ordered synchronous-copy example,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 supplies completed host data. A launch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asynchronous; launch-error checks alone do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establish successful completion.</a:t>
            </a:r>
          </a:p>
        </p:txBody>
      </p:sp>
      <p:sp>
        <p:nvSpPr>
          <p:cNvPr id="8" name="Pinned host storage is page-locked and supports efficie">
            <a:extLst xmlns:a="http://schemas.openxmlformats.org/drawingml/2006/main">
              <a:ext uri="{FF2B5EF4-FFF2-40B4-BE49-F238E27FC236}">
                <a16:creationId xmlns:a16="http://schemas.microsoft.com/office/drawing/2014/main" id="{D0728DF7-A4A8-47EF-9FCD-9686D782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8986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storage is page-locked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supports efficient DMA. Pageable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need runtime staging. Avoid excessive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E2F85-D534-4281-B4DA-1E295CE0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3] To">
            <a:extLst xmlns:a="http://schemas.openxmlformats.org/drawingml/2006/main">
              <a:ext uri="{FF2B5EF4-FFF2-40B4-BE49-F238E27FC236}">
                <a16:creationId xmlns:a16="http://schemas.microsoft.com/office/drawing/2014/main" id="{E16135FB-620B-4FD4-BA58-BC68BB7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[3] Topic 9A: synchronization; [4] NVIDIA CUDA programming model; [5] NVIDIA CUDA Best Practices</a:t>
            </a:r>
          </a:p>
        </p:txBody>
      </p:sp>
      <p:sp>
        <p:nvSpPr>
          <p:cNvPr id="11" name="19 / 56">
            <a:extLst xmlns:a="http://schemas.openxmlformats.org/drawingml/2006/main">
              <a:ext uri="{FF2B5EF4-FFF2-40B4-BE49-F238E27FC236}">
                <a16:creationId xmlns:a16="http://schemas.microsoft.com/office/drawing/2014/main" id="{BA64174B-11BF-4AA3-B158-55D2FE97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56</a:t>
            </a:r>
          </a:p>
        </p:txBody>
      </p:sp>
    </p:spTree>
    <p:extLst>
      <p:ext uri="{BB962C8B-B14F-4D97-AF65-F5344CB8AC3E}">
        <p14:creationId xmlns:p14="http://schemas.microsoft.com/office/powerpoint/2010/main" val="14938134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A7">
            <a:extLst xmlns:a="http://schemas.openxmlformats.org/drawingml/2006/main">
              <a:ext uri="{FF2B5EF4-FFF2-40B4-BE49-F238E27FC236}">
                <a16:creationId xmlns:a16="http://schemas.microsoft.com/office/drawing/2014/main" id="{0AA12BFE-7C9C-4238-B555-33BEE7BB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A7</a:t>
            </a:r>
          </a:p>
        </p:txBody>
      </p:sp>
      <p:sp>
        <p:nvSpPr>
          <p:cNvPr id="2" name="Launch shape and memory access">
            <a:extLst xmlns:a="http://schemas.openxmlformats.org/drawingml/2006/main">
              <a:ext uri="{FF2B5EF4-FFF2-40B4-BE49-F238E27FC236}">
                <a16:creationId xmlns:a16="http://schemas.microsoft.com/office/drawing/2014/main" id="{5D7DA134-568C-4A0F-A27C-24E5AFFA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shape and memory access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4BA89-AC06-461F-81B1-52660D6E73EE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implication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 × 16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two 16-wide 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Reasonable 2D starting point; row edges/alignment matter.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32 × 8 block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one 32-wide row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May improve row-oriented access; no universal winner.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Output gathering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Adjacent x threads write adjacent RGB pixels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 write locality; per-channel byte operations still require efficient transactions.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Rotated input reads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Angle changes the source addresses visited by a warp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Irregular gathers can reduce effective read bandwidth/cache reuse.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residency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Registers, shared memory and block/thread limits constrain active warps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Helps hide latency; maximum occupancy is not automatically fastest.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ompute grid for each block shape. Profile actual tra">
            <a:extLst xmlns:a="http://schemas.openxmlformats.org/drawingml/2006/main">
              <a:ext uri="{FF2B5EF4-FFF2-40B4-BE49-F238E27FC236}">
                <a16:creationId xmlns:a16="http://schemas.microsoft.com/office/drawing/2014/main" id="{0537C927-AB55-48DD-B3E0-B09A9D39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Recompute grid for each block shape. Profile actual transactions, latency and registers before selecting a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D43EF-7C1F-4CE4-A65A-051969BC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8218E08F-41F1-4689-91EB-1F8DB493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7" name="20 / 56">
            <a:extLst xmlns:a="http://schemas.openxmlformats.org/drawingml/2006/main">
              <a:ext uri="{FF2B5EF4-FFF2-40B4-BE49-F238E27FC236}">
                <a16:creationId xmlns:a16="http://schemas.microsoft.com/office/drawing/2014/main" id="{29F0B288-38DF-4BC2-B00B-101CF80B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56</a:t>
            </a:r>
          </a:p>
        </p:txBody>
      </p:sp>
    </p:spTree>
    <p:extLst>
      <p:ext uri="{BB962C8B-B14F-4D97-AF65-F5344CB8AC3E}">
        <p14:creationId xmlns:p14="http://schemas.microsoft.com/office/powerpoint/2010/main" val="6891691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8">
            <a:extLst xmlns:a="http://schemas.openxmlformats.org/drawingml/2006/main">
              <a:ext uri="{FF2B5EF4-FFF2-40B4-BE49-F238E27FC236}">
                <a16:creationId xmlns:a16="http://schemas.microsoft.com/office/drawing/2014/main" id="{25178C2C-0FE2-4F7B-B76D-D2519239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A8</a:t>
            </a:r>
          </a:p>
        </p:txBody>
      </p:sp>
      <p:sp>
        <p:nvSpPr>
          <p:cNvPr id="2" name="Asynchronous work within one stream">
            <a:extLst xmlns:a="http://schemas.openxmlformats.org/drawingml/2006/main">
              <a:ext uri="{FF2B5EF4-FFF2-40B4-BE49-F238E27FC236}">
                <a16:creationId xmlns:a16="http://schemas.microsoft.com/office/drawing/2014/main" id="{E8C19BA2-CAE8-4D21-8CA4-2DB29091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 work within one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3087C-91CB-4EFF-A629-42924D1A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35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cudaError_t enqueue_rotation(const unsigned char* h_inp">
            <a:extLst xmlns:a="http://schemas.openxmlformats.org/drawingml/2006/main">
              <a:ext uri="{FF2B5EF4-FFF2-40B4-BE49-F238E27FC236}">
                <a16:creationId xmlns:a16="http://schemas.microsoft.com/office/drawing/2014/main" id="{E28F8AF3-DFE1-4710-A064-F9E26405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22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cudaError_t enqueue_rotation(const unsigned char* h_input,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h_output,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size_t bytes, int width,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float c, float 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cudaStream_t stream)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block(32, 8);  // 256 threads.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grid = rotation_grid(width, height, block);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cudaError_t status = cudaMemcpyAsync(d_input, h_input,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cudaMemcpyHostToDevice,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rotate_rgb&lt;&lt;&lt;grid, block, 0, stream&gt;&gt;&gt;(d_input,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 width, height,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status = 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return cudaMemcpyAsync(h_output, d_output,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cudaMemcpyDeviceToHost,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Full enqueue function; rotation_grid uses the ceil-divi">
            <a:extLst xmlns:a="http://schemas.openxmlformats.org/drawingml/2006/main">
              <a:ext uri="{FF2B5EF4-FFF2-40B4-BE49-F238E27FC236}">
                <a16:creationId xmlns:a16="http://schemas.microsoft.com/office/drawing/2014/main" id="{12C227FE-02CE-48F6-A616-CF65C99E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Full enqueue function;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rotation_grid uses the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ceil-division shown in A6.</a:t>
            </a:r>
          </a:p>
        </p:txBody>
      </p:sp>
      <p:sp>
        <p:nvSpPr>
          <p:cNvPr id="6" name="Pinned host buffers and checked sizes are preconditions">
            <a:extLst xmlns:a="http://schemas.openxmlformats.org/drawingml/2006/main">
              <a:ext uri="{FF2B5EF4-FFF2-40B4-BE49-F238E27FC236}">
                <a16:creationId xmlns:a16="http://schemas.microsoft.com/office/drawing/2014/main" id="{2341935F-85A8-4BB0-AB8A-DCF40654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buffers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checked sizes are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preconditions.</a:t>
            </a:r>
          </a:p>
        </p:txBody>
      </p:sp>
      <p:sp>
        <p:nvSpPr>
          <p:cNvPr id="7" name="Success means submitted work; wait before reading, reus">
            <a:extLst xmlns:a="http://schemas.openxmlformats.org/drawingml/2006/main">
              <a:ext uri="{FF2B5EF4-FFF2-40B4-BE49-F238E27FC236}">
                <a16:creationId xmlns:a16="http://schemas.microsoft.com/office/drawing/2014/main" id="{B44D7EF5-3CC0-4BEC-8BC9-5E09D5CF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 means submitted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work; wait before reading,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reusing or freeing buffers.</a:t>
            </a:r>
          </a:p>
        </p:txBody>
      </p:sp>
      <p:sp>
        <p:nvSpPr>
          <p:cNvPr id="8" name="On error, previously enqueued work may still be pending">
            <a:extLst xmlns:a="http://schemas.openxmlformats.org/drawingml/2006/main">
              <a:ext uri="{FF2B5EF4-FFF2-40B4-BE49-F238E27FC236}">
                <a16:creationId xmlns:a16="http://schemas.microsoft.com/office/drawing/2014/main" id="{2260A897-189B-4833-95E5-69B9E9B7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 error, previously enqueued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 may still be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57A1D-A132-4D47-B191-6782B6D4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77D98142-22E5-4A87-8911-BC61336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11" name="21 / 56">
            <a:extLst xmlns:a="http://schemas.openxmlformats.org/drawingml/2006/main">
              <a:ext uri="{FF2B5EF4-FFF2-40B4-BE49-F238E27FC236}">
                <a16:creationId xmlns:a16="http://schemas.microsoft.com/office/drawing/2014/main" id="{DE17EDD6-5347-4B5A-AB88-1E7AD26A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56</a:t>
            </a:r>
          </a:p>
        </p:txBody>
      </p:sp>
    </p:spTree>
    <p:extLst>
      <p:ext uri="{BB962C8B-B14F-4D97-AF65-F5344CB8AC3E}">
        <p14:creationId xmlns:p14="http://schemas.microsoft.com/office/powerpoint/2010/main" val="13998963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AAECB-6D12-44F2-9DF9-5F81EF2F7C7A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0582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5E28D-A922-4325-B4F5-94699853555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5317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19035-D813-4A95-9365-6B69AB1554B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8182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88796-9A72-4162-82B3-59C5A5B3DE4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2917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Appendix A9">
            <a:extLst xmlns:a="http://schemas.openxmlformats.org/drawingml/2006/main">
              <a:ext uri="{FF2B5EF4-FFF2-40B4-BE49-F238E27FC236}">
                <a16:creationId xmlns:a16="http://schemas.microsoft.com/office/drawing/2014/main" id="{F4920F74-2C02-4D40-94A3-8512CED5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A9</a:t>
            </a:r>
          </a:p>
        </p:txBody>
      </p:sp>
      <p:sp>
        <p:nvSpPr>
          <p:cNvPr id="2" name="Batch overlap and GPU residency">
            <a:extLst xmlns:a="http://schemas.openxmlformats.org/drawingml/2006/main">
              <a:ext uri="{FF2B5EF4-FFF2-40B4-BE49-F238E27FC236}">
                <a16:creationId xmlns:a16="http://schemas.microsoft.com/office/drawing/2014/main" id="{7E38925F-08C7-4D61-A812-FF5BB607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 overlap and GPU residency</a:t>
            </a:r>
          </a:p>
        </p:txBody>
      </p:sp>
      <p:sp>
        <p:nvSpPr>
          <p:cNvPr id="3" name="Same stream: H2D → kernel → D2H, in order">
            <a:extLst xmlns:a="http://schemas.openxmlformats.org/drawingml/2006/main">
              <a:ext uri="{FF2B5EF4-FFF2-40B4-BE49-F238E27FC236}">
                <a16:creationId xmlns:a16="http://schemas.microsoft.com/office/drawing/2014/main" id="{FB88DA16-5FD4-4B93-B8D4-CEA3FF8E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Same stream: H2D → kernel → D2H, in order</a:t>
            </a:r>
          </a:p>
        </p:txBody>
      </p:sp>
      <p:sp>
        <p:nvSpPr>
          <p:cNvPr id="4" name="Stream A / image A">
            <a:extLst xmlns:a="http://schemas.openxmlformats.org/drawingml/2006/main">
              <a:ext uri="{FF2B5EF4-FFF2-40B4-BE49-F238E27FC236}">
                <a16:creationId xmlns:a16="http://schemas.microsoft.com/office/drawing/2014/main" id="{46E002DA-505D-4A73-91F4-2BF0659C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A / image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D895C-E99C-48A0-B065-01158694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D55B4-80E2-4A87-B5D9-6BC47DEA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970B1-6435-4E0A-ACA1-77B066FE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0" name="Stream B / image B">
            <a:extLst xmlns:a="http://schemas.openxmlformats.org/drawingml/2006/main">
              <a:ext uri="{FF2B5EF4-FFF2-40B4-BE49-F238E27FC236}">
                <a16:creationId xmlns:a16="http://schemas.microsoft.com/office/drawing/2014/main" id="{2E40DD7C-3946-4BE6-85E7-7AFEF64D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B / image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78FBC-344B-48B5-BC64-04BC9006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36D66-5C03-4D8E-9576-C80126FC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6AF8D-868A-4EC5-AD1C-B9E43E5B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6" name="Schematic overlap opportunity; not measured durations o">
            <a:extLst xmlns:a="http://schemas.openxmlformats.org/drawingml/2006/main">
              <a:ext uri="{FF2B5EF4-FFF2-40B4-BE49-F238E27FC236}">
                <a16:creationId xmlns:a16="http://schemas.microsoft.com/office/drawing/2014/main" id="{3F3E197B-8106-4EEC-B302-12A15167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Schematic overlap opportunity; not measured durations or guaranteed simultaneous execution.</a:t>
            </a:r>
          </a:p>
        </p:txBody>
      </p:sp>
      <p:sp>
        <p:nvSpPr>
          <p:cNvPr id="17" name="Independent streams + separate pinned/device buffers + ">
            <a:extLst xmlns:a="http://schemas.openxmlformats.org/drawingml/2006/main">
              <a:ext uri="{FF2B5EF4-FFF2-40B4-BE49-F238E27FC236}">
                <a16:creationId xmlns:a16="http://schemas.microsoft.com/office/drawing/2014/main" id="{71EEBBCE-4AE5-44B2-B4B2-E9BA6AFC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streams + separate pinned/device buffers + supporting copy/compute resources. Synchronize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reuse. Extra buffers consume memory; device residency avoids unnecessary round trips.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2EBFB-F3F7-4EC2-A7CE-D5B4933D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Overlap changes the critical path, not the amount of ro">
            <a:extLst xmlns:a="http://schemas.openxmlformats.org/drawingml/2006/main">
              <a:ext uri="{FF2B5EF4-FFF2-40B4-BE49-F238E27FC236}">
                <a16:creationId xmlns:a16="http://schemas.microsoft.com/office/drawing/2014/main" id="{8EDF246C-3C73-454B-BBAB-0A5E32B0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 changes the critical path, not the amount of rotation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DC1BC-9E37-4DB6-A160-20F5A824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771504D6-FFF6-4F1F-B4C8-8D0B74D0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22" name="22 / 56">
            <a:extLst xmlns:a="http://schemas.openxmlformats.org/drawingml/2006/main">
              <a:ext uri="{FF2B5EF4-FFF2-40B4-BE49-F238E27FC236}">
                <a16:creationId xmlns:a16="http://schemas.microsoft.com/office/drawing/2014/main" id="{9FFE12AF-4A2E-490D-B915-619C620F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56</a:t>
            </a:r>
          </a:p>
        </p:txBody>
      </p:sp>
    </p:spTree>
    <p:extLst>
      <p:ext uri="{BB962C8B-B14F-4D97-AF65-F5344CB8AC3E}">
        <p14:creationId xmlns:p14="http://schemas.microsoft.com/office/powerpoint/2010/main" val="6398317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0">
            <a:extLst xmlns:a="http://schemas.openxmlformats.org/drawingml/2006/main">
              <a:ext uri="{FF2B5EF4-FFF2-40B4-BE49-F238E27FC236}">
                <a16:creationId xmlns:a16="http://schemas.microsoft.com/office/drawing/2014/main" id="{B59BF348-EE4A-4C70-A025-95D140EE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A10</a:t>
            </a:r>
          </a:p>
        </p:txBody>
      </p:sp>
      <p:sp>
        <p:nvSpPr>
          <p:cNvPr id="2" name="Fair speedup comparison and profiling">
            <a:extLst xmlns:a="http://schemas.openxmlformats.org/drawingml/2006/main">
              <a:ext uri="{FF2B5EF4-FFF2-40B4-BE49-F238E27FC236}">
                <a16:creationId xmlns:a16="http://schemas.microsoft.com/office/drawing/2014/main" id="{481ACA99-E2CC-471D-9D14-CC2B56A4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 speedup comparison and profiling</a:t>
            </a:r>
          </a:p>
        </p:txBody>
      </p:sp>
      <p:sp>
        <p:nvSpPr>
          <p:cNvPr id="3" name="Comparable baselines">
            <a:extLst xmlns:a="http://schemas.openxmlformats.org/drawingml/2006/main">
              <a:ext uri="{FF2B5EF4-FFF2-40B4-BE49-F238E27FC236}">
                <a16:creationId xmlns:a16="http://schemas.microsoft.com/office/drawing/2014/main" id="{939F936C-7795-4AE7-9FF2-3CC5A41C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Comparable baselines</a:t>
            </a:r>
          </a:p>
        </p:txBody>
      </p:sp>
      <p:sp>
        <p:nvSpPr>
          <p:cNvPr id="4" name="Primary baseline: one CPU thread performs the same RGB ">
            <a:extLst xmlns:a="http://schemas.openxmlformats.org/drawingml/2006/main">
              <a:ext uri="{FF2B5EF4-FFF2-40B4-BE49-F238E27FC236}">
                <a16:creationId xmlns:a16="http://schemas.microsoft.com/office/drawing/2014/main" id="{7291CBB4-C6DE-445A-A94E-376F3A97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Primary baseline: one CPU thread performs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RGB inverse mapping, nearest-neighbour rule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fixed canvas. Also compare a multithreaded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for a stronger practical baseline.</a:t>
            </a:r>
          </a:p>
        </p:txBody>
      </p:sp>
      <p:sp>
        <p:nvSpPr>
          <p:cNvPr id="5" name="Use identical inputs/angles and verify identical or jus">
            <a:extLst xmlns:a="http://schemas.openxmlformats.org/drawingml/2006/main">
              <a:ext uri="{FF2B5EF4-FFF2-40B4-BE49-F238E27FC236}">
                <a16:creationId xmlns:a16="http://schemas.microsoft.com/office/drawing/2014/main" id="{4FE62292-9029-4023-9B4D-FF8D4DEC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identical inputs/angles and verify identical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justified numerically equivalent outputs. Include file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decoding/I/O in both paths or exclude it from both.</a:t>
            </a:r>
          </a:p>
        </p:txBody>
      </p:sp>
      <p:sp>
        <p:nvSpPr>
          <p:cNvPr id="6" name="For the stated decoded-buffer comparison, include GPU a">
            <a:extLst xmlns:a="http://schemas.openxmlformats.org/drawingml/2006/main">
              <a:ext uri="{FF2B5EF4-FFF2-40B4-BE49-F238E27FC236}">
                <a16:creationId xmlns:a16="http://schemas.microsoft.com/office/drawing/2014/main" id="{E3A99784-C729-44E3-AB92-43D19F4E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the stated decoded-buffer comparison, include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allocation, H2D, launch, completed kernel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D2H; CPU timing covers the corresponding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 and rotation.</a:t>
            </a:r>
          </a:p>
        </p:txBody>
      </p:sp>
      <p:sp>
        <p:nvSpPr>
          <p:cNvPr id="7" name="Measure the bottleneck">
            <a:extLst xmlns:a="http://schemas.openxmlformats.org/drawingml/2006/main">
              <a:ext uri="{FF2B5EF4-FFF2-40B4-BE49-F238E27FC236}">
                <a16:creationId xmlns:a16="http://schemas.microsoft.com/office/drawing/2014/main" id="{F89A7F78-DE33-41B8-97E9-5C78D8BC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Measure the bottleneck</a:t>
            </a:r>
          </a:p>
        </p:txBody>
      </p:sp>
      <p:sp>
        <p:nvSpPr>
          <p:cNvPr id="8" name="Report cold-start and warmed repeated runs separately. ">
            <a:extLst xmlns:a="http://schemas.openxmlformats.org/drawingml/2006/main">
              <a:ext uri="{FF2B5EF4-FFF2-40B4-BE49-F238E27FC236}">
                <a16:creationId xmlns:a16="http://schemas.microsoft.com/office/drawing/2014/main" id="{7765781B-433A-4F36-B95D-8796FFE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cold-start and warmed repeated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separately. Use CUDA events for kernel elapsed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time after completion and a host timer through final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completion for total latency.</a:t>
            </a:r>
          </a:p>
        </p:txBody>
      </p:sp>
      <p:sp>
        <p:nvSpPr>
          <p:cNvPr id="9" name="Vary image size, angle, block shape and batch size; rec">
            <a:extLst xmlns:a="http://schemas.openxmlformats.org/drawingml/2006/main">
              <a:ext uri="{FF2B5EF4-FFF2-40B4-BE49-F238E27FC236}">
                <a16:creationId xmlns:a16="http://schemas.microsoft.com/office/drawing/2014/main" id="{834778C9-0248-4F66-A6C5-BAB5C8C5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Vary image size, angle, block shape and batch size;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 hardware, transfer mode, register use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effective memory/link bandwidth.</a:t>
            </a:r>
          </a:p>
        </p:txBody>
      </p:sp>
      <p:sp>
        <p:nvSpPr>
          <p:cNvPr id="10" name="The sequential sum does not apply unchanged to overlapp">
            <a:extLst xmlns:a="http://schemas.openxmlformats.org/drawingml/2006/main">
              <a:ext uri="{FF2B5EF4-FFF2-40B4-BE49-F238E27FC236}">
                <a16:creationId xmlns:a16="http://schemas.microsoft.com/office/drawing/2014/main" id="{73F8CCF8-9475-42D2-B259-E6007348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sequential sum does not apply unchanged to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overlapping streams: measure the completed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critical path. Lower kernel time alone cannot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establish end-to-end speedup.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665BF-2609-4A2F-9DDB-646DA78E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4B552-E75B-4818-9FFD-711F2D7E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C527CB85-4670-4E51-B439-7217BCE9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4" name="23 / 56">
            <a:extLst xmlns:a="http://schemas.openxmlformats.org/drawingml/2006/main">
              <a:ext uri="{FF2B5EF4-FFF2-40B4-BE49-F238E27FC236}">
                <a16:creationId xmlns:a16="http://schemas.microsoft.com/office/drawing/2014/main" id="{A715EAB7-C93C-4145-AD94-4C30BBC8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56</a:t>
            </a:r>
          </a:p>
        </p:txBody>
      </p:sp>
    </p:spTree>
    <p:extLst>
      <p:ext uri="{BB962C8B-B14F-4D97-AF65-F5344CB8AC3E}">
        <p14:creationId xmlns:p14="http://schemas.microsoft.com/office/powerpoint/2010/main" val="13037794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1">
            <a:extLst xmlns:a="http://schemas.openxmlformats.org/drawingml/2006/main">
              <a:ext uri="{FF2B5EF4-FFF2-40B4-BE49-F238E27FC236}">
                <a16:creationId xmlns:a16="http://schemas.microsoft.com/office/drawing/2014/main" id="{D20B74E8-F11D-4653-9B84-4E38FBD3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A11</a:t>
            </a:r>
          </a:p>
        </p:txBody>
      </p:sp>
      <p:sp>
        <p:nvSpPr>
          <p:cNvPr id="2" name="GDS decision for the proposed pipeline">
            <a:extLst xmlns:a="http://schemas.openxmlformats.org/drawingml/2006/main">
              <a:ext uri="{FF2B5EF4-FFF2-40B4-BE49-F238E27FC236}">
                <a16:creationId xmlns:a16="http://schemas.microsoft.com/office/drawing/2014/main" id="{1FCB68B9-2238-453C-935F-27FAB8CB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decision for the proposed pipeline</a:t>
            </a:r>
          </a:p>
        </p:txBody>
      </p:sp>
      <p:sp>
        <p:nvSpPr>
          <p:cNvPr id="3" name="Conventional decoded-image path">
            <a:extLst xmlns:a="http://schemas.openxmlformats.org/drawingml/2006/main">
              <a:ext uri="{FF2B5EF4-FFF2-40B4-BE49-F238E27FC236}">
                <a16:creationId xmlns:a16="http://schemas.microsoft.com/office/drawing/2014/main" id="{7AFCE2F9-5C6C-46CD-A035-5B1EEFFE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decoded-image path</a:t>
            </a:r>
          </a:p>
        </p:txBody>
      </p:sp>
      <p:sp>
        <p:nvSpPr>
          <p:cNvPr id="4" name="CPU decoding requires host-visible compressed bytes and">
            <a:extLst xmlns:a="http://schemas.openxmlformats.org/drawingml/2006/main">
              <a:ext uri="{FF2B5EF4-FFF2-40B4-BE49-F238E27FC236}">
                <a16:creationId xmlns:a16="http://schemas.microsoft.com/office/drawing/2014/main" id="{243631B7-5D0D-4C97-8195-74805C81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decoding requires host-visible compressed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and produces pixels in RAM. Those pixels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copied to the GPU; the rotation kernel then runs.</a:t>
            </a:r>
          </a:p>
        </p:txBody>
      </p:sp>
      <p:sp>
        <p:nvSpPr>
          <p:cNvPr id="5" name="A single small image already in RAM gains little from b">
            <a:extLst xmlns:a="http://schemas.openxmlformats.org/drawingml/2006/main">
              <a:ext uri="{FF2B5EF4-FFF2-40B4-BE49-F238E27FC236}">
                <a16:creationId xmlns:a16="http://schemas.microsoft.com/office/drawing/2014/main" id="{A60186ED-819F-4B5A-946D-F74EE783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single small image already in RAM gains little from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bypassing a storage step that is no longer on its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path.</a:t>
            </a:r>
          </a:p>
        </p:txBody>
      </p:sp>
      <p:sp>
        <p:nvSpPr>
          <p:cNvPr id="6" name="GDS does not decode an image, bypass an application’s C">
            <a:extLst xmlns:a="http://schemas.openxmlformats.org/drawingml/2006/main">
              <a:ext uri="{FF2B5EF4-FFF2-40B4-BE49-F238E27FC236}">
                <a16:creationId xmlns:a16="http://schemas.microsoft.com/office/drawing/2014/main" id="{4529C050-7F41-464F-AE65-F37DC4E2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does not decode an image, bypass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application’s CPU transformation, or make GPU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access itself faster.</a:t>
            </a:r>
          </a:p>
        </p:txBody>
      </p:sp>
      <p:sp>
        <p:nvSpPr>
          <p:cNvPr id="7" name="Conditional batch alternative">
            <a:extLst xmlns:a="http://schemas.openxmlformats.org/drawingml/2006/main">
              <a:ext uri="{FF2B5EF4-FFF2-40B4-BE49-F238E27FC236}">
                <a16:creationId xmlns:a16="http://schemas.microsoft.com/office/drawing/2014/main" id="{4A18C98B-B4E1-4E86-9842-6AA55EE0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Conditional batch alternative</a:t>
            </a:r>
          </a:p>
        </p:txBody>
      </p:sp>
      <p:sp>
        <p:nvSpPr>
          <p:cNvPr id="8" name="Large storage-bound batches of GPU-ready pixels, or a c">
            <a:extLst xmlns:a="http://schemas.openxmlformats.org/drawingml/2006/main">
              <a:ext uri="{FF2B5EF4-FFF2-40B4-BE49-F238E27FC236}">
                <a16:creationId xmlns:a16="http://schemas.microsoft.com/office/drawing/2014/main" id="{BBBACB9B-F1CA-4592-85F4-7CDD1AC4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Large storage-bound batches of GPU-ready pixels,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 a compatible GPU decoding pipeline, may avoid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via cuFile and storage-side DMA.</a:t>
            </a:r>
          </a:p>
        </p:txBody>
      </p:sp>
      <p:sp>
        <p:nvSpPr>
          <p:cNvPr id="9" name="Verify the GPU, storage/filesystem, software and PCIe t">
            <a:extLst xmlns:a="http://schemas.openxmlformats.org/drawingml/2006/main">
              <a:ext uri="{FF2B5EF4-FFF2-40B4-BE49-F238E27FC236}">
                <a16:creationId xmlns:a16="http://schemas.microsoft.com/office/drawing/2014/main" id="{ABA4AB6E-7524-414D-80D9-3BB38434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Verify the GPU, storage/filesystem, software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topology support the direct path. Compatibility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fallback uses host staging and is not evidence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direct DMA.</a:t>
            </a:r>
          </a:p>
        </p:txBody>
      </p:sp>
      <p:sp>
        <p:nvSpPr>
          <p:cNvPr id="10" name="Adopt only if completed batch time/CPU overhead improve">
            <a:extLst xmlns:a="http://schemas.openxmlformats.org/drawingml/2006/main">
              <a:ext uri="{FF2B5EF4-FFF2-40B4-BE49-F238E27FC236}">
                <a16:creationId xmlns:a16="http://schemas.microsoft.com/office/drawing/2014/main" id="{6551D00C-C564-4AAC-A98D-4F5C4099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Adopt only if completed batch time/CPU overhead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improve on the real workload; include extra buffers,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 and storage bandwidth. Otherwise retain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conventional 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68800-3069-4B64-88BE-125D3046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F55CA-F3F9-4DA8-A440-FC29D698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DC2A1005-33E5-449B-A6DB-FDAD64B2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14" name="24 / 56">
            <a:extLst xmlns:a="http://schemas.openxmlformats.org/drawingml/2006/main">
              <a:ext uri="{FF2B5EF4-FFF2-40B4-BE49-F238E27FC236}">
                <a16:creationId xmlns:a16="http://schemas.microsoft.com/office/drawing/2014/main" id="{6C297116-FD06-4845-8CE2-9C3354F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56</a:t>
            </a:r>
          </a:p>
        </p:txBody>
      </p:sp>
    </p:spTree>
    <p:extLst>
      <p:ext uri="{BB962C8B-B14F-4D97-AF65-F5344CB8AC3E}">
        <p14:creationId xmlns:p14="http://schemas.microsoft.com/office/powerpoint/2010/main" val="2413426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06F5398F-50D1-41D7-A4E9-570D1D79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386C22CF-62C0-46CE-8109-0C12AF46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22D45-6263-472F-AA0E-ED45B7833A8A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6EB4BA34-FCFC-432F-A650-7666E438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6E4D7-53B2-43F9-87E8-6C40C1B4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18D5AFC8-1CE0-410E-BDDD-DE5A0652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25 / 56">
            <a:extLst xmlns:a="http://schemas.openxmlformats.org/drawingml/2006/main">
              <a:ext uri="{FF2B5EF4-FFF2-40B4-BE49-F238E27FC236}">
                <a16:creationId xmlns:a16="http://schemas.microsoft.com/office/drawing/2014/main" id="{81379299-14A5-4949-B310-22908A80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56</a:t>
            </a:r>
          </a:p>
        </p:txBody>
      </p:sp>
    </p:spTree>
    <p:extLst>
      <p:ext uri="{BB962C8B-B14F-4D97-AF65-F5344CB8AC3E}">
        <p14:creationId xmlns:p14="http://schemas.microsoft.com/office/powerpoint/2010/main" val="16327660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BB4F17D2-990E-4355-8BFF-526F1F27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FB9CF86D-D63B-44F7-ACEA-162DA1B4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E9D70-1B00-40C2-A58A-65EE476A860D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AEEF962A-12EE-47E2-A8A8-9BD919FE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6CF6DF87-FC03-4FC2-A126-065BE6E6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8862D-594C-4E5D-92EB-8ECA5A4F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5DE85C3B-3042-414A-ACB5-4E07C5D9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26 / 56">
            <a:extLst xmlns:a="http://schemas.openxmlformats.org/drawingml/2006/main">
              <a:ext uri="{FF2B5EF4-FFF2-40B4-BE49-F238E27FC236}">
                <a16:creationId xmlns:a16="http://schemas.microsoft.com/office/drawing/2014/main" id="{77BFC729-CC7F-40D6-8DA5-ECF3B05D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56</a:t>
            </a:r>
          </a:p>
        </p:txBody>
      </p:sp>
    </p:spTree>
    <p:extLst>
      <p:ext uri="{BB962C8B-B14F-4D97-AF65-F5344CB8AC3E}">
        <p14:creationId xmlns:p14="http://schemas.microsoft.com/office/powerpoint/2010/main" val="14498015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4B63D5B0-6977-47A1-8D92-864387BD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021CA858-498F-4EE7-8105-7E4DD645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7D1B187B-6F5B-4732-B8F6-342532D3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2F52AF54-86F0-4FC7-AE44-12479508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729A5E60-BC50-488C-B369-9B568CC9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EFC25EDC-084F-421E-9206-023C39B9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39AE176C-86E4-4FF9-AC30-1C4B0B40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3E09857F-65DE-4EB1-9B0B-862B0F46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4CE70F8F-5080-436A-8727-311BFD23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CF25E8C3-CDC4-42BE-9638-906329BB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29579-5406-4951-86BD-542B6FB5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6DF1F-CB2C-4B57-9B89-EEB50DFB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BA4FA98A-305D-4B95-8C70-26295B73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27 / 56">
            <a:extLst xmlns:a="http://schemas.openxmlformats.org/drawingml/2006/main">
              <a:ext uri="{FF2B5EF4-FFF2-40B4-BE49-F238E27FC236}">
                <a16:creationId xmlns:a16="http://schemas.microsoft.com/office/drawing/2014/main" id="{D6CB752B-21E6-467F-93F0-42CC395B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56</a:t>
            </a:r>
          </a:p>
        </p:txBody>
      </p:sp>
    </p:spTree>
    <p:extLst>
      <p:ext uri="{BB962C8B-B14F-4D97-AF65-F5344CB8AC3E}">
        <p14:creationId xmlns:p14="http://schemas.microsoft.com/office/powerpoint/2010/main" val="18166386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B5C138EB-655E-4EC8-A740-F1F1EF9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2A670F5D-FA87-46A7-8277-C8BF74F8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D7892-CA93-4DD0-B25C-3F7BD5660558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009756D1-55F8-4101-9D42-AB3EF9EF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09D71-3A38-4AE6-AA1A-0C2E6D24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A0B5DA03-2A2A-4410-A8B7-E344A6D5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28 / 56">
            <a:extLst xmlns:a="http://schemas.openxmlformats.org/drawingml/2006/main">
              <a:ext uri="{FF2B5EF4-FFF2-40B4-BE49-F238E27FC236}">
                <a16:creationId xmlns:a16="http://schemas.microsoft.com/office/drawing/2014/main" id="{D1B0885E-BCB4-4233-B5B4-15792C94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56</a:t>
            </a:r>
          </a:p>
        </p:txBody>
      </p:sp>
    </p:spTree>
    <p:extLst>
      <p:ext uri="{BB962C8B-B14F-4D97-AF65-F5344CB8AC3E}">
        <p14:creationId xmlns:p14="http://schemas.microsoft.com/office/powerpoint/2010/main" val="4922312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2B0DB0E1-DF6F-4CFB-9614-4BCE4BC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E6F3C41E-A1A1-4DB9-8D7E-BF5F337C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D61C7124-7204-4C66-840E-DF649DF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A4A90706-D8D4-412D-978D-64376EA5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1E3FE010-FF06-44F2-B9FB-F70A6B8B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C9676F10-7975-485F-A365-0C5A7A39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3C366CC8-C8E8-4BB2-AE88-3B642E34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88B4C87E-47CF-457E-85F3-BA25DB5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EC843D54-D924-4327-82D8-FAAB38D6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AE4EAB58-F3DC-4100-8FFB-9DF6C9EB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70816-1654-4CBB-B013-F8805E54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6EF85-CBE1-45B7-8D19-2A65C2BA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16BBB0D2-2652-4707-AC08-8A1B434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29 / 56">
            <a:extLst xmlns:a="http://schemas.openxmlformats.org/drawingml/2006/main">
              <a:ext uri="{FF2B5EF4-FFF2-40B4-BE49-F238E27FC236}">
                <a16:creationId xmlns:a16="http://schemas.microsoft.com/office/drawing/2014/main" id="{C447E82F-0E76-4329-8DE3-1960170A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56</a:t>
            </a:r>
          </a:p>
        </p:txBody>
      </p:sp>
    </p:spTree>
    <p:extLst>
      <p:ext uri="{BB962C8B-B14F-4D97-AF65-F5344CB8AC3E}">
        <p14:creationId xmlns:p14="http://schemas.microsoft.com/office/powerpoint/2010/main" val="14632807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ACB38027-C284-4A71-8951-7422C34B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989E6BC0-082E-4577-8511-C74E27D0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12851AA8-7DE1-4D19-A74B-ACCCBB80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30A79C0C-A048-415F-8B81-603F275B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6EC1EE71-46DA-4B2F-BFE2-77A3CCEB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7D7403C5-EE6E-4BEC-8B08-9462ECE5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0D8E0692-5A67-46E1-8BDB-DC631E50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C7943968-5596-4506-BAA1-BB15D060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17352DC3-9610-444D-B8D2-34D71B29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EC01A95E-CB63-4990-9F8A-918A5209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60A04-80A5-4834-BD62-9FC0A529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8A0A0-DB51-4408-88D6-39844A84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0EA411AA-C602-41AD-8640-9F8E2D60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30 / 56">
            <a:extLst xmlns:a="http://schemas.openxmlformats.org/drawingml/2006/main">
              <a:ext uri="{FF2B5EF4-FFF2-40B4-BE49-F238E27FC236}">
                <a16:creationId xmlns:a16="http://schemas.microsoft.com/office/drawing/2014/main" id="{468CCF57-11B6-4333-9699-A205F7DF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56</a:t>
            </a:r>
          </a:p>
        </p:txBody>
      </p:sp>
    </p:spTree>
    <p:extLst>
      <p:ext uri="{BB962C8B-B14F-4D97-AF65-F5344CB8AC3E}">
        <p14:creationId xmlns:p14="http://schemas.microsoft.com/office/powerpoint/2010/main" val="10111449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BF18CF20-A9A6-45C4-88B4-7236FD73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CD269684-F933-47DF-A7D8-B0E542E5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BCA1C-4FA9-440B-AF9A-F8A34B1F904D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4BA35D20-2122-4417-98BD-309CCB20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F612E-E9D6-457D-AB28-524DE071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FA873CFD-935C-4C4C-A76F-DB46A929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31 / 56">
            <a:extLst xmlns:a="http://schemas.openxmlformats.org/drawingml/2006/main">
              <a:ext uri="{FF2B5EF4-FFF2-40B4-BE49-F238E27FC236}">
                <a16:creationId xmlns:a16="http://schemas.microsoft.com/office/drawing/2014/main" id="{B3C69DEA-312A-46D3-BC41-1E7B21BD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56</a:t>
            </a:r>
          </a:p>
        </p:txBody>
      </p:sp>
    </p:spTree>
    <p:extLst>
      <p:ext uri="{BB962C8B-B14F-4D97-AF65-F5344CB8AC3E}">
        <p14:creationId xmlns:p14="http://schemas.microsoft.com/office/powerpoint/2010/main" val="115034684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57CFA-4D90-4A95-A681-9FDE408701C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32F2E-4778-4EEB-8AF2-91864697960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E5891019-E9AA-4701-9F7A-EA5D6719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241A97F1-A5F6-46C2-A021-A92796EE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8F911-0C1D-49F2-B50F-A39D2EAB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8F186-D68B-4F3B-B8A3-8FC767CE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49B7A-4429-4CD4-ABC1-7D9A1BDC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1B820BF6-AB8E-42C5-896D-F4BD26BF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0ADAA5BA-35E2-4C58-A21E-85878989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36681F14-E9B6-4CC9-B6E3-8F12D7BE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C56DB-B275-499A-9850-D8AF0450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69009C9F-D3CC-45A5-96AE-BD7C1BE0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6EB17-F200-41B9-88D5-64A86060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14FCF5F7-9040-4A37-A36E-A4415370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32 / 56">
            <a:extLst xmlns:a="http://schemas.openxmlformats.org/drawingml/2006/main">
              <a:ext uri="{FF2B5EF4-FFF2-40B4-BE49-F238E27FC236}">
                <a16:creationId xmlns:a16="http://schemas.microsoft.com/office/drawing/2014/main" id="{08417EB6-191C-41C8-A13D-CF92D93A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56</a:t>
            </a:r>
          </a:p>
        </p:txBody>
      </p:sp>
    </p:spTree>
    <p:extLst>
      <p:ext uri="{BB962C8B-B14F-4D97-AF65-F5344CB8AC3E}">
        <p14:creationId xmlns:p14="http://schemas.microsoft.com/office/powerpoint/2010/main" val="75799773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FD6E77E6-1284-4AFC-8B44-2BABB30F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66321100-5A9A-4F9F-9E2E-663B012B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9B31D-B8AB-4E07-AE02-1B00E65EBE75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BEAC52F0-0952-49A2-AB5F-14FC5E69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41E92-B19E-463F-9F1A-D90034A1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9E115491-5483-44B3-BA10-137D88D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33 / 56">
            <a:extLst xmlns:a="http://schemas.openxmlformats.org/drawingml/2006/main">
              <a:ext uri="{FF2B5EF4-FFF2-40B4-BE49-F238E27FC236}">
                <a16:creationId xmlns:a16="http://schemas.microsoft.com/office/drawing/2014/main" id="{ADDD41CA-123B-4569-A160-64243492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56</a:t>
            </a:r>
          </a:p>
        </p:txBody>
      </p:sp>
    </p:spTree>
    <p:extLst>
      <p:ext uri="{BB962C8B-B14F-4D97-AF65-F5344CB8AC3E}">
        <p14:creationId xmlns:p14="http://schemas.microsoft.com/office/powerpoint/2010/main" val="171373852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F38A32D8-9428-49F3-A0C9-692AB980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EB74F1E5-B1B9-4B09-B73E-D675DAB3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54E5B0C8-2FEC-46AC-82D3-3CA43EC7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58301A8B-8EAA-45F1-BD25-97E30B20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11FCAC6F-D084-4A9C-80AE-DF3FFAA6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21858367-8F78-4A92-868D-6D3EA3F4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25B9F51A-3630-4C7C-BD21-D1A49966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9F409518-CF09-4999-B625-CBF18146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AD731A98-CC9F-4CB6-A71A-A3033B50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5F3A4ACF-B8FA-49A2-9238-4860BC5F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FFA43-EA8D-40C9-A3BB-8BBE2A17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E4BBD-F157-4477-8CAA-643EC444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EC401746-A4E8-4300-9E15-4FC9EA8E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34 / 56">
            <a:extLst xmlns:a="http://schemas.openxmlformats.org/drawingml/2006/main">
              <a:ext uri="{FF2B5EF4-FFF2-40B4-BE49-F238E27FC236}">
                <a16:creationId xmlns:a16="http://schemas.microsoft.com/office/drawing/2014/main" id="{E8993E84-019A-4D66-BAF4-06E7F288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56</a:t>
            </a:r>
          </a:p>
        </p:txBody>
      </p:sp>
    </p:spTree>
    <p:extLst>
      <p:ext uri="{BB962C8B-B14F-4D97-AF65-F5344CB8AC3E}">
        <p14:creationId xmlns:p14="http://schemas.microsoft.com/office/powerpoint/2010/main" val="13518144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6">
            <a:extLst xmlns:a="http://schemas.openxmlformats.org/drawingml/2006/main">
              <a:ext uri="{FF2B5EF4-FFF2-40B4-BE49-F238E27FC236}">
                <a16:creationId xmlns:a16="http://schemas.microsoft.com/office/drawing/2014/main" id="{CA3C9C62-E3F4-4C29-9119-88A41DB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D91EEEBC-1A71-4953-ADE0-40054755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] Monash University, FIT3143 Topic 8: Vector processi">
            <a:extLst xmlns:a="http://schemas.openxmlformats.org/drawingml/2006/main">
              <a:ext uri="{FF2B5EF4-FFF2-40B4-BE49-F238E27FC236}">
                <a16:creationId xmlns:a16="http://schemas.microsoft.com/office/drawing/2014/main" id="{C188DB51-DEA3-4F67-B2C1-246BB63A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[1] Monash University, FIT3143 Topic 8: Vector processing, GPUs and NPUs, course slides, 2024, pp. 18–23, 32–35,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41–46.</a:t>
            </a:r>
          </a:p>
        </p:txBody>
      </p:sp>
      <p:sp>
        <p:nvSpPr>
          <p:cNvPr id="4" name="../context/FIT3143-Topic-8-2024.pdf">
            <a:extLst xmlns:a="http://schemas.openxmlformats.org/drawingml/2006/main">
              <a:ext uri="{FF2B5EF4-FFF2-40B4-BE49-F238E27FC236}">
                <a16:creationId xmlns:a16="http://schemas.microsoft.com/office/drawing/2014/main" id="{E0F44B2D-513D-4A6F-827D-9D49E340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../context/FIT3143-Topic-8-2024.pdf</a:t>
            </a:r>
          </a:p>
        </p:txBody>
      </p:sp>
      <p:sp>
        <p:nvSpPr>
          <p:cNvPr id="5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CA056178-3E53-4E37-B4EC-4EFE1457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6" name="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12925372-A56C-449A-BC60-F4313257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../context/FIT3143-Topic-7A-2024.pdf</a:t>
            </a:r>
          </a:p>
        </p:txBody>
      </p:sp>
      <p:sp>
        <p:nvSpPr>
          <p:cNvPr id="7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A8EB6D16-9A19-40D8-BF7E-F4163D6A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8" name="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E008B1E7-327E-4F66-B132-F4A92F5B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../context/FIT3143-Topic-9A-2024.pdf</a:t>
            </a:r>
          </a:p>
        </p:txBody>
      </p:sp>
      <p:sp>
        <p:nvSpPr>
          <p:cNvPr id="9" name="[4] NVIDIA, “Programming model,” CUDA Programming Guide">
            <a:extLst xmlns:a="http://schemas.openxmlformats.org/drawingml/2006/main">
              <a:ext uri="{FF2B5EF4-FFF2-40B4-BE49-F238E27FC236}">
                <a16:creationId xmlns:a16="http://schemas.microsoft.com/office/drawing/2014/main" id="{1886B630-1689-4480-A39E-46E33F38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“Programming model,” CUDA Programming Guide, online documentation, accessed Oct. 8, 2026.</a:t>
            </a:r>
          </a:p>
        </p:txBody>
      </p:sp>
      <p:sp>
        <p:nvSpPr>
          <p:cNvPr id="10" name="https://docs.nvidia.com/cuda/cuda-programming-guide/01-">
            <a:extLst xmlns:a="http://schemas.openxmlformats.org/drawingml/2006/main">
              <a:ext uri="{FF2B5EF4-FFF2-40B4-BE49-F238E27FC236}">
                <a16:creationId xmlns:a16="http://schemas.microsoft.com/office/drawing/2014/main" id="{D62B682E-2B0A-4524-93FE-04210D98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cb5dcc537284ac4"/>
              </a:rPr>
              <a:t>https://docs.nvidia.com/cuda/cuda-programming-guide/01-introduction/programming-model.html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52230-E47F-47DC-9A3A-0100DDFF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8F108F6-4AB5-4435-A422-CD696DA1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5 / 56">
            <a:extLst xmlns:a="http://schemas.openxmlformats.org/drawingml/2006/main">
              <a:ext uri="{FF2B5EF4-FFF2-40B4-BE49-F238E27FC236}">
                <a16:creationId xmlns:a16="http://schemas.microsoft.com/office/drawing/2014/main" id="{7FD6F0D9-97F3-475F-AA61-1E616F5A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56</a:t>
            </a:r>
          </a:p>
        </p:txBody>
      </p:sp>
    </p:spTree>
    <p:extLst>
      <p:ext uri="{BB962C8B-B14F-4D97-AF65-F5344CB8AC3E}">
        <p14:creationId xmlns:p14="http://schemas.microsoft.com/office/powerpoint/2010/main" val="70508728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6">
            <a:extLst xmlns:a="http://schemas.openxmlformats.org/drawingml/2006/main">
              <a:ext uri="{FF2B5EF4-FFF2-40B4-BE49-F238E27FC236}">
                <a16:creationId xmlns:a16="http://schemas.microsoft.com/office/drawing/2014/main" id="{FB66F9C9-A7F0-40B4-AE65-E3FA0B95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02A970C4-5DB8-42FA-A323-B43A71C7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3D3847D7-A225-4084-B963-480034A1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4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28C6EC03-2C43-4602-9B4D-A70B00A2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e86582528ad4779"/>
              </a:rPr>
              <a:t>https://docs.nvidia.com/cuda/cuda-c-best-practices-guide/index.html</a:t>
            </a:r>
          </a:p>
        </p:txBody>
      </p:sp>
      <p:sp>
        <p:nvSpPr>
          <p:cNvPr id="5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8FAB5345-B6B1-4C80-B93A-902526BB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6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09FDE1AF-9879-4693-8A14-9B808DF3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58c6fdf5aaa4948"/>
              </a:rPr>
              <a:t>https://docs.nvidia.com/gpudirect-storage/overview-guide/index.html</a:t>
            </a:r>
          </a:p>
        </p:txBody>
      </p:sp>
      <p:sp>
        <p:nvSpPr>
          <p:cNvPr id="7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BAE40427-11D8-4246-8224-8E264EE8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8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FA7A786D-46B7-49BA-9CB5-8DFD4C9C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3343fd766c914eb1"/>
              </a:rPr>
              <a:t>https://docs.nvidia.com/gpudirect-storage/design-guide/index.html</a:t>
            </a:r>
          </a:p>
        </p:txBody>
      </p:sp>
      <p:sp>
        <p:nvSpPr>
          <p:cNvPr id="9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9503D1C8-A76F-4A41-A2AF-9B9C4D62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10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3DDB885B-9F01-4215-8C13-C34BF106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1c348cd8dc548c7"/>
              </a:rPr>
              <a:t>https://docs.nvidia.com/megatron-core/developer-guide/latest/user-guide/parallelism-guide.html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1A7F9-BB17-4EF4-95E6-49BA0474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6095477-E3D6-46DE-9CC7-2CF6C143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6 / 56">
            <a:extLst xmlns:a="http://schemas.openxmlformats.org/drawingml/2006/main">
              <a:ext uri="{FF2B5EF4-FFF2-40B4-BE49-F238E27FC236}">
                <a16:creationId xmlns:a16="http://schemas.microsoft.com/office/drawing/2014/main" id="{819977F3-DA19-46B9-A31B-F2C4176D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56</a:t>
            </a:r>
          </a:p>
        </p:txBody>
      </p:sp>
    </p:spTree>
    <p:extLst>
      <p:ext uri="{BB962C8B-B14F-4D97-AF65-F5344CB8AC3E}">
        <p14:creationId xmlns:p14="http://schemas.microsoft.com/office/powerpoint/2010/main" val="127053142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6">
            <a:extLst xmlns:a="http://schemas.openxmlformats.org/drawingml/2006/main">
              <a:ext uri="{FF2B5EF4-FFF2-40B4-BE49-F238E27FC236}">
                <a16:creationId xmlns:a16="http://schemas.microsoft.com/office/drawing/2014/main" id="{3C917B20-4865-4B63-8AD3-AEC467E8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589E172F-A300-4FAD-BE80-3A82ACED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C09E8D29-93AE-47F8-8DD6-B3D0B5A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4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66C7DD38-2D73-48BE-A36F-EA52D131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9932a6ba0f74d63"/>
              </a:rPr>
              <a:t>https://www.iea.org/reports/key-questions-on-energy-and-ai/executive-summary</a:t>
            </a:r>
          </a:p>
        </p:txBody>
      </p:sp>
      <p:sp>
        <p:nvSpPr>
          <p:cNvPr id="5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21C4A74A-9C6C-4320-9F88-22B922CF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6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3F3A0B41-9ACB-4033-8354-661ACEE9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d535c4e98b541ad"/>
              </a:rPr>
              <a:t>https://www.nsf.gov/cise/updates/nairr-2-years-advancing-american-artificial-intelligence</a:t>
            </a:r>
          </a:p>
        </p:txBody>
      </p:sp>
      <p:sp>
        <p:nvSpPr>
          <p:cNvPr id="7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7298D563-B8CB-4763-A921-F8D2513D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8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C04ECA69-D505-46BD-B4A0-1BBF87EF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128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0d27475443a4f43"/>
              </a:rPr>
              <a:t>https://aclanthology.org/P19-1355/</a:t>
            </a:r>
          </a:p>
        </p:txBody>
      </p:sp>
      <p:sp>
        <p:nvSpPr>
          <p:cNvPr id="9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1AB619B1-E29F-49C4-A89F-54C1C80C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10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8D8CB61B-3089-46CE-86BD-984B9128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474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529b47cdcf44b31"/>
              </a:rPr>
              <a:t>https://arxiv.org/abs/2304.03271v5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9CFEA-2EEA-40CB-9829-0F5AB2FF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214B86F-FA6E-4274-9E33-7DCA10C3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7 / 56">
            <a:extLst xmlns:a="http://schemas.openxmlformats.org/drawingml/2006/main">
              <a:ext uri="{FF2B5EF4-FFF2-40B4-BE49-F238E27FC236}">
                <a16:creationId xmlns:a16="http://schemas.microsoft.com/office/drawing/2014/main" id="{56FE6335-7B7C-4180-8557-4F56BA8A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56</a:t>
            </a:r>
          </a:p>
        </p:txBody>
      </p:sp>
    </p:spTree>
    <p:extLst>
      <p:ext uri="{BB962C8B-B14F-4D97-AF65-F5344CB8AC3E}">
        <p14:creationId xmlns:p14="http://schemas.microsoft.com/office/powerpoint/2010/main" val="101321925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6">
            <a:extLst xmlns:a="http://schemas.openxmlformats.org/drawingml/2006/main">
              <a:ext uri="{FF2B5EF4-FFF2-40B4-BE49-F238E27FC236}">
                <a16:creationId xmlns:a16="http://schemas.microsoft.com/office/drawing/2014/main" id="{635CA92D-6BC6-4467-94D8-56D8264F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16C5E541-CA56-420E-A5E8-C4DB6A4A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9C815A0F-397C-4120-B5BD-D2E01646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4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B40D2301-F040-46F6-BB15-7A43F9C1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021d8dbd49c4817"/>
              </a:rPr>
              <a:t>https://arxiv.org/abs/1907.10597</a:t>
            </a:r>
          </a:p>
        </p:txBody>
      </p:sp>
      <p:sp>
        <p:nvSpPr>
          <p:cNvPr id="5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44332351-FEDC-40A2-AE98-D9564EFD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6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AEED9BE0-6668-4546-81AC-736A4F44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9ef584df8d940d8"/>
              </a:rPr>
              <a:t>https://arxiv.org/abs/1906.08935v2</a:t>
            </a:r>
          </a:p>
        </p:txBody>
      </p:sp>
      <p:sp>
        <p:nvSpPr>
          <p:cNvPr id="7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D7179CCF-7D1B-4339-8C83-E5C18512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8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60DF6B36-B6FF-4377-89DC-91871386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73aa1a8b23e4325"/>
              </a:rPr>
              <a:t>https://aclanthology.org/2024.cl-3.8/</a:t>
            </a:r>
          </a:p>
        </p:txBody>
      </p:sp>
      <p:sp>
        <p:nvSpPr>
          <p:cNvPr id="9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B511F023-DF9C-4416-83AA-89F48092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10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5809960D-5C3D-4711-AEA1-B032F729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8879e42ca894c2a"/>
              </a:rPr>
              <a:t>https://arxiv.org/abs/2010.15581v1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C76FF-5EBE-4A6A-84DF-32CFCBA0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2FFD903-5727-4ED3-B2CF-E38399A7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8 / 56">
            <a:extLst xmlns:a="http://schemas.openxmlformats.org/drawingml/2006/main">
              <a:ext uri="{FF2B5EF4-FFF2-40B4-BE49-F238E27FC236}">
                <a16:creationId xmlns:a16="http://schemas.microsoft.com/office/drawing/2014/main" id="{CFEF3DD3-857C-47D4-B08A-05EB8B36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56</a:t>
            </a:r>
          </a:p>
        </p:txBody>
      </p:sp>
    </p:spTree>
    <p:extLst>
      <p:ext uri="{BB962C8B-B14F-4D97-AF65-F5344CB8AC3E}">
        <p14:creationId xmlns:p14="http://schemas.microsoft.com/office/powerpoint/2010/main" val="64328489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5/6">
            <a:extLst xmlns:a="http://schemas.openxmlformats.org/drawingml/2006/main">
              <a:ext uri="{FF2B5EF4-FFF2-40B4-BE49-F238E27FC236}">
                <a16:creationId xmlns:a16="http://schemas.microsoft.com/office/drawing/2014/main" id="{D316CAB2-2B6D-4B55-BC0A-28F6324D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F968AD32-31C5-467C-8A36-BE9F9C97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5FB5382B-12F4-464A-9C23-90F2CBCF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4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5F324585-DBB6-4C9F-86C3-2F597D1B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acb08937419454b"/>
              </a:rPr>
              <a:t>https://arxiv.org/abs/2106.11750v1</a:t>
            </a:r>
          </a:p>
        </p:txBody>
      </p:sp>
      <p:sp>
        <p:nvSpPr>
          <p:cNvPr id="5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DE74CF9A-6949-4919-9824-6F048B36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6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993F5BA6-8163-44D2-A933-32202FC5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fc480d773524fec"/>
              </a:rPr>
              <a:t>https://www.oecd.org/en/topics/ai-principles.html</a:t>
            </a:r>
          </a:p>
        </p:txBody>
      </p:sp>
      <p:sp>
        <p:nvSpPr>
          <p:cNvPr id="7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7D24A5AA-8724-47C4-A5B1-643E9BAB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8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3971DAB6-90D9-4701-9EC9-0F9FDC98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c852756a0534514"/>
              </a:rPr>
              <a:t>https://airc.nist.gov/airmf-resources/playbook/</a:t>
            </a:r>
          </a:p>
        </p:txBody>
      </p:sp>
      <p:sp>
        <p:nvSpPr>
          <p:cNvPr id="9" name="[20] NVIDIA, “Rotate,” NPP Image Geometry Transforms, C">
            <a:extLst xmlns:a="http://schemas.openxmlformats.org/drawingml/2006/main">
              <a:ext uri="{FF2B5EF4-FFF2-40B4-BE49-F238E27FC236}">
                <a16:creationId xmlns:a16="http://schemas.microsoft.com/office/drawing/2014/main" id="{D01775C0-79DE-47D8-AD81-03E7DB15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[20] NVIDIA, “Rotate,” NPP Image Geometry Transforms, CUDA 13.0.3 archive documentation, accessed Oct. 8, 2026.</a:t>
            </a:r>
          </a:p>
        </p:txBody>
      </p:sp>
      <p:sp>
        <p:nvSpPr>
          <p:cNvPr id="10" name="https://docs.nvidia.com/cuda/archive/13.0.3/npp/image_g">
            <a:extLst xmlns:a="http://schemas.openxmlformats.org/drawingml/2006/main">
              <a:ext uri="{FF2B5EF4-FFF2-40B4-BE49-F238E27FC236}">
                <a16:creationId xmlns:a16="http://schemas.microsoft.com/office/drawing/2014/main" id="{E700B0D2-925B-4435-AA1A-37C44307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5ee59a888ae4fef"/>
              </a:rPr>
              <a:t>https://docs.nvidia.com/cuda/archive/13.0.3/npp/image_geometry_transforms.html#rotate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6C176-5F41-48F9-B397-DFFDFAB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A0AF3E7-17FA-4905-960E-A416193B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9 / 56">
            <a:extLst xmlns:a="http://schemas.openxmlformats.org/drawingml/2006/main">
              <a:ext uri="{FF2B5EF4-FFF2-40B4-BE49-F238E27FC236}">
                <a16:creationId xmlns:a16="http://schemas.microsoft.com/office/drawing/2014/main" id="{09BEA7DC-6375-4050-B63A-D9D1F5EB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56</a:t>
            </a:r>
          </a:p>
        </p:txBody>
      </p:sp>
    </p:spTree>
    <p:extLst>
      <p:ext uri="{BB962C8B-B14F-4D97-AF65-F5344CB8AC3E}">
        <p14:creationId xmlns:p14="http://schemas.microsoft.com/office/powerpoint/2010/main" val="62429068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ppendix • References 6/6">
            <a:extLst xmlns:a="http://schemas.openxmlformats.org/drawingml/2006/main">
              <a:ext uri="{FF2B5EF4-FFF2-40B4-BE49-F238E27FC236}">
                <a16:creationId xmlns:a16="http://schemas.microsoft.com/office/drawing/2014/main" id="{4EAB06E2-11A8-430B-80FF-3BB05951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6/6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33C7DEF9-C62D-4DC4-AEFA-4E726EC6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9FFD7A4C-3CE6-45CE-A21F-7C9F7BA3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4" name="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6A743083-211A-4102-AE0A-6EB287BB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../context/FIT3143_Week_5_Combined.pdf</a:t>
            </a:r>
          </a:p>
        </p:txBody>
      </p:sp>
      <p:sp>
        <p:nvSpPr>
          <p:cNvPr id="5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1962B6D1-2925-410E-9AFA-D74E3F56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6" name="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CAA8E57D-E5D7-460F-8361-759E542B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../context/FIT3143-Topic-9B-2024.pdf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ADA70-8C83-4DAF-9328-2BC3CB1B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C7E42D1-EA83-47CA-A32F-C7CD2AC8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9" name="40 / 56">
            <a:extLst xmlns:a="http://schemas.openxmlformats.org/drawingml/2006/main">
              <a:ext uri="{FF2B5EF4-FFF2-40B4-BE49-F238E27FC236}">
                <a16:creationId xmlns:a16="http://schemas.microsoft.com/office/drawing/2014/main" id="{DD9B7046-FF5B-4EBC-A356-AC1AC8F3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40 / 56</a:t>
            </a:r>
          </a:p>
        </p:txBody>
      </p:sp>
    </p:spTree>
    <p:extLst>
      <p:ext uri="{BB962C8B-B14F-4D97-AF65-F5344CB8AC3E}">
        <p14:creationId xmlns:p14="http://schemas.microsoft.com/office/powerpoint/2010/main" val="159784389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54016373-E63E-48D7-B3E6-8B011E35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assistance and prompt-record provenance">
            <a:extLst xmlns:a="http://schemas.openxmlformats.org/drawingml/2006/main">
              <a:ext uri="{FF2B5EF4-FFF2-40B4-BE49-F238E27FC236}">
                <a16:creationId xmlns:a16="http://schemas.microsoft.com/office/drawing/2014/main" id="{D1ED45DB-9D95-42B3-A928-BF705FD3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assistance and prompt-record provenance</a:t>
            </a:r>
          </a:p>
        </p:txBody>
      </p:sp>
      <p:sp>
        <p:nvSpPr>
          <p:cNvPr id="3" name="Tools and assistance">
            <a:extLst xmlns:a="http://schemas.openxmlformats.org/drawingml/2006/main">
              <a:ext uri="{FF2B5EF4-FFF2-40B4-BE49-F238E27FC236}">
                <a16:creationId xmlns:a16="http://schemas.microsoft.com/office/drawing/2014/main" id="{86C1ADFE-1C77-484E-87F9-6CF0FA0E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Tools and assistance</a:t>
            </a:r>
          </a:p>
        </p:txBody>
      </p:sp>
      <p:sp>
        <p:nvSpPr>
          <p:cNvPr id="4" name="OpenAI Codex was used on 6 and 8 October 2026 for resea">
            <a:extLst xmlns:a="http://schemas.openxmlformats.org/drawingml/2006/main">
              <a:ext uri="{FF2B5EF4-FFF2-40B4-BE49-F238E27FC236}">
                <a16:creationId xmlns:a16="http://schemas.microsoft.com/office/drawing/2014/main" id="{60BC18CD-E797-414F-85E7-68F951B7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Codex was used on 6 and 8 October 2026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research/source checks, drafting and revision,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examples, editable slide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diagrams/charts and presentation assembly.</a:t>
            </a:r>
          </a:p>
        </p:txBody>
      </p:sp>
      <p:sp>
        <p:nvSpPr>
          <p:cNvPr id="5" name="AI supported preparation. Students must understand and ">
            <a:extLst xmlns:a="http://schemas.openxmlformats.org/drawingml/2006/main">
              <a:ext uri="{FF2B5EF4-FFF2-40B4-BE49-F238E27FC236}">
                <a16:creationId xmlns:a16="http://schemas.microsoft.com/office/drawing/2014/main" id="{0A5A5462-CF35-4FE6-9035-2C4CD55B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supported preparation. Students must understand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validate submitted work; no AI use is permitted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during presentation/interview.</a:t>
            </a:r>
          </a:p>
        </p:txBody>
      </p:sp>
      <p:sp>
        <p:nvSpPr>
          <p:cNvPr id="6" name="Charts are cited sector evidence. Worked examples and p">
            <a:extLst xmlns:a="http://schemas.openxmlformats.org/drawingml/2006/main">
              <a:ext uri="{FF2B5EF4-FFF2-40B4-BE49-F238E27FC236}">
                <a16:creationId xmlns:a16="http://schemas.microsoft.com/office/drawing/2014/main" id="{FF33B7CA-55D1-433F-89E9-2B0DF4E2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Charts are cited sector evidence. Worked examples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policy scenarios are labeled illustrative; CUDA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was not measured.</a:t>
            </a:r>
          </a:p>
        </p:txBody>
      </p:sp>
      <p:sp>
        <p:nvSpPr>
          <p:cNvPr id="7" name="Record included in this deck">
            <a:extLst xmlns:a="http://schemas.openxmlformats.org/drawingml/2006/main">
              <a:ext uri="{FF2B5EF4-FFF2-40B4-BE49-F238E27FC236}">
                <a16:creationId xmlns:a16="http://schemas.microsoft.com/office/drawing/2014/main" id="{7EED290B-0D5B-4AAB-86A4-D2FA557E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Record included in this deck</a:t>
            </a:r>
          </a:p>
        </p:txBody>
      </p:sp>
      <p:sp>
        <p:nvSpPr>
          <p:cNvPr id="8" name="Earlier preparation prompts are reproduced from the sav">
            <a:extLst xmlns:a="http://schemas.openxmlformats.org/drawingml/2006/main">
              <a:ext uri="{FF2B5EF4-FFF2-40B4-BE49-F238E27FC236}">
                <a16:creationId xmlns:a16="http://schemas.microsoft.com/office/drawing/2014/main" id="{241A226F-0656-4177-B464-17FF5C3B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preparation prompts are reproduced from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saved Task 1 and Task 2 records with original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spelling. The continuation records the available 8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October requests and supplied details.</a:t>
            </a:r>
          </a:p>
        </p:txBody>
      </p:sp>
      <p:sp>
        <p:nvSpPr>
          <p:cNvPr id="9" name="A recorded review goal is labeled as such, separate fro">
            <a:extLst xmlns:a="http://schemas.openxmlformats.org/drawingml/2006/main">
              <a:ext uri="{FF2B5EF4-FFF2-40B4-BE49-F238E27FC236}">
                <a16:creationId xmlns:a16="http://schemas.microsoft.com/office/drawing/2014/main" id="{E7600026-C9FE-4D01-9F30-DA5EEE48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recorded review goal is labeled as such, separate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from direct user prompts. Environment/system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 and assistant/tool output are 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presented as student prompts.</a:t>
            </a:r>
          </a:p>
        </p:txBody>
      </p:sp>
      <p:sp>
        <p:nvSpPr>
          <p:cNvPr id="10" name="The accompanying PDF contains this same presentation, i">
            <a:extLst xmlns:a="http://schemas.openxmlformats.org/drawingml/2006/main">
              <a:ext uri="{FF2B5EF4-FFF2-40B4-BE49-F238E27FC236}">
                <a16:creationId xmlns:a16="http://schemas.microsoft.com/office/drawing/2014/main" id="{12852271-2867-41E7-9675-DE3F0BF4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accompanying PDF contains this same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presentation, including these records. Any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subsequent AI preparation must be appended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submission.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347A0-8FD8-42A4-B2D6-06BA641F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1312F-FC5E-48DA-843F-CCD31400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5459919-2CE1-45EC-B861-BDCF476F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41 / 56">
            <a:extLst xmlns:a="http://schemas.openxmlformats.org/drawingml/2006/main">
              <a:ext uri="{FF2B5EF4-FFF2-40B4-BE49-F238E27FC236}">
                <a16:creationId xmlns:a16="http://schemas.microsoft.com/office/drawing/2014/main" id="{0CD0A8A0-1AB2-4F4E-A1A9-5F4E10C2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41 / 56</a:t>
            </a:r>
          </a:p>
        </p:txBody>
      </p:sp>
    </p:spTree>
    <p:extLst>
      <p:ext uri="{BB962C8B-B14F-4D97-AF65-F5344CB8AC3E}">
        <p14:creationId xmlns:p14="http://schemas.microsoft.com/office/powerpoint/2010/main" val="212741863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1">
            <a:extLst xmlns:a="http://schemas.openxmlformats.org/drawingml/2006/main">
              <a:ext uri="{FF2B5EF4-FFF2-40B4-BE49-F238E27FC236}">
                <a16:creationId xmlns:a16="http://schemas.microsoft.com/office/drawing/2014/main" id="{69992235-106F-4B4E-A7CF-46F5F6BF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1</a:t>
            </a:r>
          </a:p>
        </p:txBody>
      </p:sp>
      <p:sp>
        <p:nvSpPr>
          <p:cNvPr id="2" name="Earlier task1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E98FA12D-177A-42B2-883A-C8A9727F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1</a:t>
            </a:r>
          </a:p>
        </p:txBody>
      </p:sp>
      <p:sp>
        <p:nvSpPr>
          <p:cNvPr id="3" name="# AGENTS.md instructions&#10;&#10;&lt;INSTRUCTIONS&gt;&#10;&quot;You are an ex">
            <a:extLst xmlns:a="http://schemas.openxmlformats.org/drawingml/2006/main">
              <a:ext uri="{FF2B5EF4-FFF2-40B4-BE49-F238E27FC236}">
                <a16:creationId xmlns:a16="http://schemas.microsoft.com/office/drawing/2014/main" id="{5ACDE2BC-6BC6-46F5-A958-436F92C3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"You are an expert computer science professor and senior software engineer acting as a student mentor.Core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Guidelines:Pedagogy First: When I ask for code, don't just provide the solution. Explain the logic, data structures,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algorithmic complexity (Big O) involved.Focus on Fundamentals: Prioritize standard libraries and fundamental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concepts taught in CS curriculum (e.g., Data Structures &amp; Algorithms, Operating Systems).Academic Integrity &amp; Best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Practices: Write clean, modular, and well-commented code that adheres to industry standards (e.g., PEP8 for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Python).Edge Case Analysis: Always prompt me to think about edge cases (null inputs, empty sets, large inputs)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providing the final code.Debugging Approach: When I present code with a bug, help me trace the logic rather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than immediately providing the fix. Ask probing questions to guide me to the answer."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CB19B-C4C5-4CB9-BFEB-F9B78FEB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27CA396-E7E0-4BFA-BEDA-1233C6ED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2 / 56">
            <a:extLst xmlns:a="http://schemas.openxmlformats.org/drawingml/2006/main">
              <a:ext uri="{FF2B5EF4-FFF2-40B4-BE49-F238E27FC236}">
                <a16:creationId xmlns:a16="http://schemas.microsoft.com/office/drawing/2014/main" id="{CBB49337-0CAE-4ECC-90DB-8AAC2436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42 / 56</a:t>
            </a:r>
          </a:p>
        </p:txBody>
      </p:sp>
    </p:spTree>
    <p:extLst>
      <p:ext uri="{BB962C8B-B14F-4D97-AF65-F5344CB8AC3E}">
        <p14:creationId xmlns:p14="http://schemas.microsoft.com/office/powerpoint/2010/main" val="7610913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2">
            <a:extLst xmlns:a="http://schemas.openxmlformats.org/drawingml/2006/main">
              <a:ext uri="{FF2B5EF4-FFF2-40B4-BE49-F238E27FC236}">
                <a16:creationId xmlns:a16="http://schemas.microsoft.com/office/drawing/2014/main" id="{8A42C653-7F6F-4780-B2C9-F10A88EE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2</a:t>
            </a:r>
          </a:p>
        </p:txBody>
      </p:sp>
      <p:sp>
        <p:nvSpPr>
          <p:cNvPr id="2" name="Earlier task1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4B89588A-84A0-4ACF-AC97-38691767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2</a:t>
            </a:r>
          </a:p>
        </p:txBody>
      </p:sp>
      <p:sp>
        <p:nvSpPr>
          <p:cNvPr id="3" name="in folder &quot;Applied 2&quot; you will have the content I want ">
            <a:extLst xmlns:a="http://schemas.openxmlformats.org/drawingml/2006/main">
              <a:ext uri="{FF2B5EF4-FFF2-40B4-BE49-F238E27FC236}">
                <a16:creationId xmlns:a16="http://schemas.microsoft.com/office/drawing/2014/main" id="{3DBBDA51-3339-42E0-B8E5-92D27A50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folder "Applied 2" you will have the content I want you to work on, explain me what i need to do for task 1(since task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 is done by someboday else), create evrrythign later on if your creating in this folder, you can access all the content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this folder and help me do this applied correctly, fo rthe moment only tell me what I need to do for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C87CD-3593-4C15-A311-80CEF746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234917E-9389-44E9-A3D6-C0D12815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3 / 56">
            <a:extLst xmlns:a="http://schemas.openxmlformats.org/drawingml/2006/main">
              <a:ext uri="{FF2B5EF4-FFF2-40B4-BE49-F238E27FC236}">
                <a16:creationId xmlns:a16="http://schemas.microsoft.com/office/drawing/2014/main" id="{BF53F5F3-7D26-4316-8782-EA757209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43 / 56</a:t>
            </a:r>
          </a:p>
        </p:txBody>
      </p:sp>
    </p:spTree>
    <p:extLst>
      <p:ext uri="{BB962C8B-B14F-4D97-AF65-F5344CB8AC3E}">
        <p14:creationId xmlns:p14="http://schemas.microsoft.com/office/powerpoint/2010/main" val="211526349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1/3)">
            <a:extLst xmlns:a="http://schemas.openxmlformats.org/drawingml/2006/main">
              <a:ext uri="{FF2B5EF4-FFF2-40B4-BE49-F238E27FC236}">
                <a16:creationId xmlns:a16="http://schemas.microsoft.com/office/drawing/2014/main" id="{C6F84FE8-40B9-4FAB-A43F-B39580D3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(1/3)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55493EEE-C105-479E-8596-CF047F5F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here is some more context as well which you can add on ">
            <a:extLst xmlns:a="http://schemas.openxmlformats.org/drawingml/2006/main">
              <a:ext uri="{FF2B5EF4-FFF2-40B4-BE49-F238E27FC236}">
                <a16:creationId xmlns:a16="http://schemas.microsoft.com/office/drawing/2014/main" id="{16203EC7-D0F4-42F4-8CA7-7B52F63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here is some more context as well which you can add on - Parallel Computer Applied 10 - Based on image rotations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Include diagrams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task 1 - (4min)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focus on the Part D of the workshop from collab - 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D: Reflection Questions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Answer the following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is the role of the host and device in CUDA?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are threads organised into blocks and grids?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is brightness adjustment considered a data-parallel problem?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does GPU acceleration generally improve as image size increases?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overhead is introduced by CPU-GPU memory transfers?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11D8B-22FE-41D8-887B-72D7E0E6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E252BBC-E029-491F-B150-BF9A6791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4 / 56">
            <a:extLst xmlns:a="http://schemas.openxmlformats.org/drawingml/2006/main">
              <a:ext uri="{FF2B5EF4-FFF2-40B4-BE49-F238E27FC236}">
                <a16:creationId xmlns:a16="http://schemas.microsoft.com/office/drawing/2014/main" id="{CD5EFA92-805A-4BF4-8502-4E366667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44 / 56</a:t>
            </a:r>
          </a:p>
        </p:txBody>
      </p:sp>
    </p:spTree>
    <p:extLst>
      <p:ext uri="{BB962C8B-B14F-4D97-AF65-F5344CB8AC3E}">
        <p14:creationId xmlns:p14="http://schemas.microsoft.com/office/powerpoint/2010/main" val="161633976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2/3)">
            <a:extLst xmlns:a="http://schemas.openxmlformats.org/drawingml/2006/main">
              <a:ext uri="{FF2B5EF4-FFF2-40B4-BE49-F238E27FC236}">
                <a16:creationId xmlns:a16="http://schemas.microsoft.com/office/drawing/2014/main" id="{842FE48F-90D5-4BC7-83DB-A1C8E789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(2/3)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3A517888-6AD8-40D8-B02D-41701CA8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How many threads are launched when using:&#10;&#10;      Image">
            <a:extLst xmlns:a="http://schemas.openxmlformats.org/drawingml/2006/main">
              <a:ext uri="{FF2B5EF4-FFF2-40B4-BE49-F238E27FC236}">
                <a16:creationId xmlns:a16="http://schemas.microsoft.com/office/drawing/2014/main" id="{F664C312-640F-4AD6-8341-FECC8848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many threads are launched when 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= 1024 x 1024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 Size = 16 x 16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If the GPU contained thousands of CUDA cores, how can they process millions of image pixels?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 2 - (3min)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how HPC is related to parallel computing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HPC relates to scaling and AI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to include statistics adn charts(make sure to get proper citation) and make sure you are able to properly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this and the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make sure to cover a few points not all (out of a,b,c,d), but not all have to be in detail (since some of them overlap)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atleast 1 point is explained in detail.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A75E0-6284-405B-828C-583E7468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EF93DDE-60B6-4A76-BD30-A093B064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5 / 56">
            <a:extLst xmlns:a="http://schemas.openxmlformats.org/drawingml/2006/main">
              <a:ext uri="{FF2B5EF4-FFF2-40B4-BE49-F238E27FC236}">
                <a16:creationId xmlns:a16="http://schemas.microsoft.com/office/drawing/2014/main" id="{82D81E35-254B-40A8-837D-1CBC6E90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45 / 56</a:t>
            </a:r>
          </a:p>
        </p:txBody>
      </p:sp>
    </p:spTree>
    <p:extLst>
      <p:ext uri="{BB962C8B-B14F-4D97-AF65-F5344CB8AC3E}">
        <p14:creationId xmlns:p14="http://schemas.microsoft.com/office/powerpoint/2010/main" val="52733005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3/3)">
            <a:extLst xmlns:a="http://schemas.openxmlformats.org/drawingml/2006/main">
              <a:ext uri="{FF2B5EF4-FFF2-40B4-BE49-F238E27FC236}">
                <a16:creationId xmlns:a16="http://schemas.microsoft.com/office/drawing/2014/main" id="{01D263FC-7FAA-4F2C-B56C-987E8FBB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(3/3)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9A5913E4-ABEA-40F4-9102-CF8CD84D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Ex: &#10;&#10;total time to present 7 mins&#10;&#10;&#10;can task 1 be don">
            <a:extLst xmlns:a="http://schemas.openxmlformats.org/drawingml/2006/main">
              <a:ext uri="{FF2B5EF4-FFF2-40B4-BE49-F238E27FC236}">
                <a16:creationId xmlns:a16="http://schemas.microsoft.com/office/drawing/2014/main" id="{17C4484B-8F3D-4258-886A-42CE44E2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time to present 7 mins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 task 1 be done by you or does it reqrueis desgnig somethign ? if you can do it go ahead and do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0ED96-E292-4837-9D7D-9160E2A4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EC03F3F-1E7C-4D7A-AD32-24E51A08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6 / 56">
            <a:extLst xmlns:a="http://schemas.openxmlformats.org/drawingml/2006/main">
              <a:ext uri="{FF2B5EF4-FFF2-40B4-BE49-F238E27FC236}">
                <a16:creationId xmlns:a16="http://schemas.microsoft.com/office/drawing/2014/main" id="{BD708864-7125-423A-8242-3549FFA1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46 / 56</a:t>
            </a:r>
          </a:p>
        </p:txBody>
      </p:sp>
    </p:spTree>
    <p:extLst>
      <p:ext uri="{BB962C8B-B14F-4D97-AF65-F5344CB8AC3E}">
        <p14:creationId xmlns:p14="http://schemas.microsoft.com/office/powerpoint/2010/main" val="41187681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4">
            <a:extLst xmlns:a="http://schemas.openxmlformats.org/drawingml/2006/main">
              <a:ext uri="{FF2B5EF4-FFF2-40B4-BE49-F238E27FC236}">
                <a16:creationId xmlns:a16="http://schemas.microsoft.com/office/drawing/2014/main" id="{B732CDDB-D39E-4F21-AF4F-877C0155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4</a:t>
            </a:r>
          </a:p>
        </p:txBody>
      </p:sp>
      <p:sp>
        <p:nvSpPr>
          <p:cNvPr id="2" name="Earlier task2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809BA2FF-BC1B-4373-A1D3-7170D5EA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1</a:t>
            </a:r>
          </a:p>
        </p:txBody>
      </p:sp>
      <p:sp>
        <p:nvSpPr>
          <p:cNvPr id="3" name="Are you able to push the changes to this git page and c">
            <a:extLst xmlns:a="http://schemas.openxmlformats.org/drawingml/2006/main">
              <a:ext uri="{FF2B5EF4-FFF2-40B4-BE49-F238E27FC236}">
                <a16:creationId xmlns:a16="http://schemas.microsoft.com/office/drawing/2014/main" id="{1E1B6A42-42FE-44B7-9660-A5035A07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you able to push the changes to this git page and create a new folder named applied2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https://github.com/Shamle-T/FIT3143-Parallel-Computing dont include any refernces of codex in the naming when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your creating a new folder. Let me know whether this is possible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950C8-8DE2-4C33-AEE7-56098055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2EF1792-2A64-409B-B3BD-C3FAB006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7 / 56">
            <a:extLst xmlns:a="http://schemas.openxmlformats.org/drawingml/2006/main">
              <a:ext uri="{FF2B5EF4-FFF2-40B4-BE49-F238E27FC236}">
                <a16:creationId xmlns:a16="http://schemas.microsoft.com/office/drawing/2014/main" id="{30D7A587-0820-4FBA-BB67-3904A8D7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47 / 56</a:t>
            </a:r>
          </a:p>
        </p:txBody>
      </p:sp>
    </p:spTree>
    <p:extLst>
      <p:ext uri="{BB962C8B-B14F-4D97-AF65-F5344CB8AC3E}">
        <p14:creationId xmlns:p14="http://schemas.microsoft.com/office/powerpoint/2010/main" val="100098802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5">
            <a:extLst xmlns:a="http://schemas.openxmlformats.org/drawingml/2006/main">
              <a:ext uri="{FF2B5EF4-FFF2-40B4-BE49-F238E27FC236}">
                <a16:creationId xmlns:a16="http://schemas.microsoft.com/office/drawing/2014/main" id="{B620111E-1920-4B9A-9C6C-56C362C0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5</a:t>
            </a:r>
          </a:p>
        </p:txBody>
      </p:sp>
      <p:sp>
        <p:nvSpPr>
          <p:cNvPr id="2" name="Earlier task2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F8F305E0-8C75-4AB7-B92F-9E3ADB64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2</a:t>
            </a:r>
          </a:p>
        </p:txBody>
      </p:sp>
      <p:sp>
        <p:nvSpPr>
          <p:cNvPr id="3" name="using a detailed comit message push the current changes">
            <a:extLst xmlns:a="http://schemas.openxmlformats.org/drawingml/2006/main">
              <a:ext uri="{FF2B5EF4-FFF2-40B4-BE49-F238E27FC236}">
                <a16:creationId xmlns:a16="http://schemas.microsoft.com/office/drawing/2014/main" id="{0554C30D-5B69-46B9-B8B7-38ECC21F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using a detailed comit message push the current changes to git and also do we need to do any code for task 1?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pushed do task 2 as well, and push the task 2 to git are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15A85-6A67-4183-9B54-C5ED05C1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B0BA6C9-9103-4886-A012-E63F6689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8 / 56">
            <a:extLst xmlns:a="http://schemas.openxmlformats.org/drawingml/2006/main">
              <a:ext uri="{FF2B5EF4-FFF2-40B4-BE49-F238E27FC236}">
                <a16:creationId xmlns:a16="http://schemas.microsoft.com/office/drawing/2014/main" id="{D25300A0-BEF8-434F-BF91-18F47D2B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48 / 56</a:t>
            </a:r>
          </a:p>
        </p:txBody>
      </p:sp>
    </p:spTree>
    <p:extLst>
      <p:ext uri="{BB962C8B-B14F-4D97-AF65-F5344CB8AC3E}">
        <p14:creationId xmlns:p14="http://schemas.microsoft.com/office/powerpoint/2010/main" val="6727329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6">
            <a:extLst xmlns:a="http://schemas.openxmlformats.org/drawingml/2006/main">
              <a:ext uri="{FF2B5EF4-FFF2-40B4-BE49-F238E27FC236}">
                <a16:creationId xmlns:a16="http://schemas.microsoft.com/office/drawing/2014/main" id="{F7803622-0E5B-4499-A1E6-29185106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6</a:t>
            </a:r>
          </a:p>
        </p:txBody>
      </p:sp>
      <p:sp>
        <p:nvSpPr>
          <p:cNvPr id="2" name="Earlier task2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627588E0-084C-493A-878A-B91DB458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3</a:t>
            </a:r>
          </a:p>
        </p:txBody>
      </p:sp>
      <p:sp>
        <p:nvSpPr>
          <p:cNvPr id="3" name="1)once you have compelted task 2, make sure you have ai">
            <a:extLst xmlns:a="http://schemas.openxmlformats.org/drawingml/2006/main">
              <a:ext uri="{FF2B5EF4-FFF2-40B4-BE49-F238E27FC236}">
                <a16:creationId xmlns:a16="http://schemas.microsoft.com/office/drawing/2014/main" id="{25D3021F-5BD8-4426-BC3E-DF0E3EE1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1)once you have compelted task 2, make sure you have aimed for HD in rubric yeah? for both task 1 and task 2 - if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update both tasks to cover HD level in the rubric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2) create a 6 minute script for both me (task1) and (task2) for my firend , make sure it doesnt sound overly robotic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since we will have to speak this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AAFA3-3F59-482C-A663-05EFDE1B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67DFF2F-6119-40AD-8FC9-4A353CEC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9 / 56">
            <a:extLst xmlns:a="http://schemas.openxmlformats.org/drawingml/2006/main">
              <a:ext uri="{FF2B5EF4-FFF2-40B4-BE49-F238E27FC236}">
                <a16:creationId xmlns:a16="http://schemas.microsoft.com/office/drawing/2014/main" id="{660808E1-51B7-4426-A7E3-5C565BEF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49 / 56</a:t>
            </a:r>
          </a:p>
        </p:txBody>
      </p:sp>
    </p:spTree>
    <p:extLst>
      <p:ext uri="{BB962C8B-B14F-4D97-AF65-F5344CB8AC3E}">
        <p14:creationId xmlns:p14="http://schemas.microsoft.com/office/powerpoint/2010/main" val="91965518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7">
            <a:extLst xmlns:a="http://schemas.openxmlformats.org/drawingml/2006/main">
              <a:ext uri="{FF2B5EF4-FFF2-40B4-BE49-F238E27FC236}">
                <a16:creationId xmlns:a16="http://schemas.microsoft.com/office/drawing/2014/main" id="{64FE209E-AE81-474A-83B4-D0C1F357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7</a:t>
            </a:r>
          </a:p>
        </p:txBody>
      </p:sp>
      <p:sp>
        <p:nvSpPr>
          <p:cNvPr id="2" name="Earlier task2 preparation, record 4">
            <a:extLst xmlns:a="http://schemas.openxmlformats.org/drawingml/2006/main">
              <a:ext uri="{FF2B5EF4-FFF2-40B4-BE49-F238E27FC236}">
                <a16:creationId xmlns:a16="http://schemas.microsoft.com/office/drawing/2014/main" id="{F193C856-BF7B-4F7F-827F-7DF0E79E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4</a:t>
            </a:r>
          </a:p>
        </p:txBody>
      </p:sp>
      <p:sp>
        <p:nvSpPr>
          <p:cNvPr id="3" name="Six minutes total: 3 minutes each">
            <a:extLst xmlns:a="http://schemas.openxmlformats.org/drawingml/2006/main">
              <a:ext uri="{FF2B5EF4-FFF2-40B4-BE49-F238E27FC236}">
                <a16:creationId xmlns:a16="http://schemas.microsoft.com/office/drawing/2014/main" id="{64B6B06D-3B5E-4CC8-A390-F1C4ACAE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Six minutes total: 3 minutes 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15E69-6869-4FAD-9E57-C83FAC2A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E2CBE60-7451-4D39-9E16-40C84782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0 / 56">
            <a:extLst xmlns:a="http://schemas.openxmlformats.org/drawingml/2006/main">
              <a:ext uri="{FF2B5EF4-FFF2-40B4-BE49-F238E27FC236}">
                <a16:creationId xmlns:a16="http://schemas.microsoft.com/office/drawing/2014/main" id="{CF9D256F-1F86-4B61-9495-B61E06FE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50 / 56</a:t>
            </a:r>
          </a:p>
        </p:txBody>
      </p:sp>
    </p:spTree>
    <p:extLst>
      <p:ext uri="{BB962C8B-B14F-4D97-AF65-F5344CB8AC3E}">
        <p14:creationId xmlns:p14="http://schemas.microsoft.com/office/powerpoint/2010/main" val="134660013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8">
            <a:extLst xmlns:a="http://schemas.openxmlformats.org/drawingml/2006/main">
              <a:ext uri="{FF2B5EF4-FFF2-40B4-BE49-F238E27FC236}">
                <a16:creationId xmlns:a16="http://schemas.microsoft.com/office/drawing/2014/main" id="{C949671A-863F-4B50-BF39-CA43EE11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8</a:t>
            </a:r>
          </a:p>
        </p:txBody>
      </p:sp>
      <p:sp>
        <p:nvSpPr>
          <p:cNvPr id="2" name="Repository synchronization">
            <a:extLst xmlns:a="http://schemas.openxmlformats.org/drawingml/2006/main">
              <a:ext uri="{FF2B5EF4-FFF2-40B4-BE49-F238E27FC236}">
                <a16:creationId xmlns:a16="http://schemas.microsoft.com/office/drawing/2014/main" id="{81108555-CD3B-4F56-8365-A869FDD0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Repository synchronization</a:t>
            </a:r>
          </a:p>
        </p:txBody>
      </p:sp>
      <p:sp>
        <p:nvSpPr>
          <p:cNvPr id="3" name="pull the latest from the remote repo, push any local ch">
            <a:extLst xmlns:a="http://schemas.openxmlformats.org/drawingml/2006/main">
              <a:ext uri="{FF2B5EF4-FFF2-40B4-BE49-F238E27FC236}">
                <a16:creationId xmlns:a16="http://schemas.microsoft.com/office/drawing/2014/main" id="{4F961B8E-C33E-45CF-891B-0D0F9684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pull the latest from the remote repo, push any local changes and merge, local changes arent important. main goal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 get the latest version of the "applied2" dir from the remote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5B9AA-2D81-4954-A313-DB4E5B6F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A901D21-384B-45CB-8CCF-2FD6BE2B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1 / 56">
            <a:extLst xmlns:a="http://schemas.openxmlformats.org/drawingml/2006/main">
              <a:ext uri="{FF2B5EF4-FFF2-40B4-BE49-F238E27FC236}">
                <a16:creationId xmlns:a16="http://schemas.microsoft.com/office/drawing/2014/main" id="{C64DBBE7-8A27-4CF5-A105-33A0BC6A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51 / 56</a:t>
            </a:r>
          </a:p>
        </p:txBody>
      </p:sp>
    </p:spTree>
    <p:extLst>
      <p:ext uri="{BB962C8B-B14F-4D97-AF65-F5344CB8AC3E}">
        <p14:creationId xmlns:p14="http://schemas.microsoft.com/office/powerpoint/2010/main" val="67925366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9">
            <a:extLst xmlns:a="http://schemas.openxmlformats.org/drawingml/2006/main">
              <a:ext uri="{FF2B5EF4-FFF2-40B4-BE49-F238E27FC236}">
                <a16:creationId xmlns:a16="http://schemas.microsoft.com/office/drawing/2014/main" id="{8FF3C8A4-8848-4EA9-A32E-9A7F0048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9</a:t>
            </a:r>
          </a:p>
        </p:txBody>
      </p:sp>
      <p:sp>
        <p:nvSpPr>
          <p:cNvPr id="2" name="Review request">
            <a:extLst xmlns:a="http://schemas.openxmlformats.org/drawingml/2006/main">
              <a:ext uri="{FF2B5EF4-FFF2-40B4-BE49-F238E27FC236}">
                <a16:creationId xmlns:a16="http://schemas.microsoft.com/office/drawing/2014/main" id="{B2D7808E-8741-4F1F-9DD3-46722DF5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request</a:t>
            </a:r>
          </a:p>
        </p:txBody>
      </p:sp>
      <p:sp>
        <p:nvSpPr>
          <p:cNvPr id="3" name="- review the content in the root level context folder (">
            <a:extLst xmlns:a="http://schemas.openxmlformats.org/drawingml/2006/main">
              <a:ext uri="{FF2B5EF4-FFF2-40B4-BE49-F238E27FC236}">
                <a16:creationId xmlns:a16="http://schemas.microsoft.com/office/drawing/2014/main" id="{CC457531-A314-4668-925F-DE608458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content in the root level context folder (with an emphasis on week's 7-9).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solutions to task 1 and task 2 in [applied2](applied2/) based on the specification [Applied #2 -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Assessment Specification.pdf](&lt;\&lt;applied2/assessment/Applied #2 - Assessment Specification.pdf\&gt;&gt;) . Identify any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key HD blockers in the solutions based on the rubric attached.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The solutions dont need to only use the theory in the context folder but where possible, they should.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F7967-5F10-492A-AC32-97B23E7B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DAD2376-1EB0-4990-808C-C92DEE61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2 / 56">
            <a:extLst xmlns:a="http://schemas.openxmlformats.org/drawingml/2006/main">
              <a:ext uri="{FF2B5EF4-FFF2-40B4-BE49-F238E27FC236}">
                <a16:creationId xmlns:a16="http://schemas.microsoft.com/office/drawing/2014/main" id="{25678956-0B02-43FD-8F02-1AEF9C8C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52 / 56</a:t>
            </a:r>
          </a:p>
        </p:txBody>
      </p:sp>
    </p:spTree>
    <p:extLst>
      <p:ext uri="{BB962C8B-B14F-4D97-AF65-F5344CB8AC3E}">
        <p14:creationId xmlns:p14="http://schemas.microsoft.com/office/powerpoint/2010/main" val="166136453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0">
            <a:extLst xmlns:a="http://schemas.openxmlformats.org/drawingml/2006/main">
              <a:ext uri="{FF2B5EF4-FFF2-40B4-BE49-F238E27FC236}">
                <a16:creationId xmlns:a16="http://schemas.microsoft.com/office/drawing/2014/main" id="{B6ACDF44-DFD1-4F8C-97D5-53C581B2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10</a:t>
            </a:r>
          </a:p>
        </p:txBody>
      </p:sp>
      <p:sp>
        <p:nvSpPr>
          <p:cNvPr id="2" name="Current preparation instructions">
            <a:extLst xmlns:a="http://schemas.openxmlformats.org/drawingml/2006/main">
              <a:ext uri="{FF2B5EF4-FFF2-40B4-BE49-F238E27FC236}">
                <a16:creationId xmlns:a16="http://schemas.microsoft.com/office/drawing/2014/main" id="{F186E293-CF42-4B87-A9EB-59262E52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Current preparation instructions</a:t>
            </a:r>
          </a:p>
        </p:txBody>
      </p:sp>
      <p:sp>
        <p:nvSpPr>
          <p:cNvPr id="3" name="# AGENTS.md instructions&#10;&#10;&lt;INSTRUCTIONS&gt;&#10;- Answer immed">
            <a:extLst xmlns:a="http://schemas.openxmlformats.org/drawingml/2006/main">
              <a:ext uri="{FF2B5EF4-FFF2-40B4-BE49-F238E27FC236}">
                <a16:creationId xmlns:a16="http://schemas.microsoft.com/office/drawing/2014/main" id="{1EA877B6-3C15-4ABD-A25C-66A3B037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Answer immediately without intro pleasantries, prompt repetitions, or polite filler.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Be concise. Avoid conversational fluff, over-explanation, and unsolicited summaries.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Rely strictly on verified facts. Never invent URLs, names, statistics, or quotes.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If an answer cannot be verified with absolute certainty, state "I do not know" instead of guessing.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For complex logic, perform brief step-by-step reasoning before delivering the final answer.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06D57-DD47-4F41-A191-4D7D0CF3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214254A-7CDC-4CF8-B2D3-3B816D9A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3 / 56">
            <a:extLst xmlns:a="http://schemas.openxmlformats.org/drawingml/2006/main">
              <a:ext uri="{FF2B5EF4-FFF2-40B4-BE49-F238E27FC236}">
                <a16:creationId xmlns:a16="http://schemas.microsoft.com/office/drawing/2014/main" id="{9953356A-79E8-4A25-8FFC-200F4DDC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53 / 56</a:t>
            </a:r>
          </a:p>
        </p:txBody>
      </p:sp>
    </p:spTree>
    <p:extLst>
      <p:ext uri="{BB962C8B-B14F-4D97-AF65-F5344CB8AC3E}">
        <p14:creationId xmlns:p14="http://schemas.microsoft.com/office/powerpoint/2010/main" val="69550125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Recorded goal 11">
            <a:extLst xmlns:a="http://schemas.openxmlformats.org/drawingml/2006/main">
              <a:ext uri="{FF2B5EF4-FFF2-40B4-BE49-F238E27FC236}">
                <a16:creationId xmlns:a16="http://schemas.microsoft.com/office/drawing/2014/main" id="{6256A3C2-0B23-456E-890B-DD60FD2E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Recorded goal 11</a:t>
            </a:r>
          </a:p>
        </p:txBody>
      </p:sp>
      <p:sp>
        <p:nvSpPr>
          <p:cNvPr id="2" name="Recorded review goal">
            <a:extLst xmlns:a="http://schemas.openxmlformats.org/drawingml/2006/main">
              <a:ext uri="{FF2B5EF4-FFF2-40B4-BE49-F238E27FC236}">
                <a16:creationId xmlns:a16="http://schemas.microsoft.com/office/drawing/2014/main" id="{F0EE6C8F-31BA-4C3D-A719-DEE5E884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Recorded review goal</a:t>
            </a:r>
          </a:p>
        </p:txBody>
      </p:sp>
      <p:sp>
        <p:nvSpPr>
          <p:cNvPr id="3" name="Review the solutions to task 1 and task 2 in [applied2]">
            <a:extLst xmlns:a="http://schemas.openxmlformats.org/drawingml/2006/main">
              <a:ext uri="{FF2B5EF4-FFF2-40B4-BE49-F238E27FC236}">
                <a16:creationId xmlns:a16="http://schemas.microsoft.com/office/drawing/2014/main" id="{D413D2BB-E4F4-49B1-88F5-6C45C698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the solutions to task 1 and task 2 in [applied2](applied2/) based on the specification [Applied #2 - Assessment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Specification.pdf](&lt;applied2/assessment/Applied #2 - Assessment Specification.pdf&gt;) . Identify any key HD blockers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the solutions based on the rubric attached. Dont stop until you are certain you have identified every HD blocker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created an action plan which you can later execute to update the solutions to fix all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15857-8210-42FD-95A1-43F07F40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B652EE4-C6C7-495D-A6CE-7B24B071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4 / 56">
            <a:extLst xmlns:a="http://schemas.openxmlformats.org/drawingml/2006/main">
              <a:ext uri="{FF2B5EF4-FFF2-40B4-BE49-F238E27FC236}">
                <a16:creationId xmlns:a16="http://schemas.microsoft.com/office/drawing/2014/main" id="{14DC6A5F-55BB-45E9-8DD0-8867449E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54 / 56</a:t>
            </a:r>
          </a:p>
        </p:txBody>
      </p:sp>
    </p:spTree>
    <p:extLst>
      <p:ext uri="{BB962C8B-B14F-4D97-AF65-F5344CB8AC3E}">
        <p14:creationId xmlns:p14="http://schemas.microsoft.com/office/powerpoint/2010/main" val="115205967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2">
            <a:extLst xmlns:a="http://schemas.openxmlformats.org/drawingml/2006/main">
              <a:ext uri="{FF2B5EF4-FFF2-40B4-BE49-F238E27FC236}">
                <a16:creationId xmlns:a16="http://schemas.microsoft.com/office/drawing/2014/main" id="{4A2E5457-0E36-46AB-B2F9-1A4B912E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12</a:t>
            </a:r>
          </a:p>
        </p:txBody>
      </p:sp>
      <p:sp>
        <p:nvSpPr>
          <p:cNvPr id="2" name="Revision and presentation request">
            <a:extLst xmlns:a="http://schemas.openxmlformats.org/drawingml/2006/main">
              <a:ext uri="{FF2B5EF4-FFF2-40B4-BE49-F238E27FC236}">
                <a16:creationId xmlns:a16="http://schemas.microsoft.com/office/drawing/2014/main" id="{EA47192A-0552-4408-A358-14F2FB5D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Revision and presentation request</a:t>
            </a:r>
          </a:p>
        </p:txBody>
      </p:sp>
      <p:sp>
        <p:nvSpPr>
          <p:cNvPr id="3" name="Now, fix all the identified problems and HD blockers. D">
            <a:extLst xmlns:a="http://schemas.openxmlformats.org/drawingml/2006/main">
              <a:ext uri="{FF2B5EF4-FFF2-40B4-BE49-F238E27FC236}">
                <a16:creationId xmlns:a16="http://schemas.microsoft.com/office/drawing/2014/main" id="{29215832-A73A-44C6-B206-C4CE21B9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Now, fix all the identified problems and HD blockers. Don't stop until you're confident that task 1 and task 2 have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high probability of achieving an HD as per the applied-to rubric. Also refer to teaching_team_guidance.md, which is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applied2 directory. Also ignore the Q&amp;A and "Presentation Quality" in the rubric as these will be done by me. You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need to create the presentation but dont worry about presenting it. Once you are confident with the task 1 and 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solutions create a presentation as per task 3 (again dont worry about task 3 part c). Ensure the presentation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professionally formatted and contains all key details as I will not be submitting any other report, all info must be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 in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9E343-D72E-4FB9-8C5E-048A854C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C9CCEE7-CB94-4807-BF4C-BAB7162F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5 / 56">
            <a:extLst xmlns:a="http://schemas.openxmlformats.org/drawingml/2006/main">
              <a:ext uri="{FF2B5EF4-FFF2-40B4-BE49-F238E27FC236}">
                <a16:creationId xmlns:a16="http://schemas.microsoft.com/office/drawing/2014/main" id="{CEAB798A-4F0E-4175-A05D-2C258D28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55 / 56</a:t>
            </a:r>
          </a:p>
        </p:txBody>
      </p:sp>
    </p:spTree>
    <p:extLst>
      <p:ext uri="{BB962C8B-B14F-4D97-AF65-F5344CB8AC3E}">
        <p14:creationId xmlns:p14="http://schemas.microsoft.com/office/powerpoint/2010/main" val="26066374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3">
            <a:extLst xmlns:a="http://schemas.openxmlformats.org/drawingml/2006/main">
              <a:ext uri="{FF2B5EF4-FFF2-40B4-BE49-F238E27FC236}">
                <a16:creationId xmlns:a16="http://schemas.microsoft.com/office/drawing/2014/main" id="{F66AB2B4-6668-4563-8B99-E95A69AC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13</a:t>
            </a:r>
          </a:p>
        </p:txBody>
      </p:sp>
      <p:sp>
        <p:nvSpPr>
          <p:cNvPr id="2" name="Identification details supplied">
            <a:extLst xmlns:a="http://schemas.openxmlformats.org/drawingml/2006/main">
              <a:ext uri="{FF2B5EF4-FFF2-40B4-BE49-F238E27FC236}">
                <a16:creationId xmlns:a16="http://schemas.microsoft.com/office/drawing/2014/main" id="{C75B89D7-2787-4CF0-82C1-4C2E92EE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Identification details supplied</a:t>
            </a:r>
          </a:p>
        </p:txBody>
      </p:sp>
      <p:sp>
        <p:nvSpPr>
          <p:cNvPr id="3" name="Savin Vindiv De Alwis (35221631) - sdea0018@student.mon">
            <a:extLst xmlns:a="http://schemas.openxmlformats.org/drawingml/2006/main">
              <a:ext uri="{FF2B5EF4-FFF2-40B4-BE49-F238E27FC236}">
                <a16:creationId xmlns:a16="http://schemas.microsoft.com/office/drawing/2014/main" id="{1D199444-BA4B-4BA8-B2D9-13C3D62A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Savin Vindiv De Alwis (35221631) - sdea0018@student.monash.edu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Shamle Thilaksiri (35512075) - wthi0003@student.monash.edu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A4F16-DDD4-423A-BF02-BB67CE0A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983EB10-8E6F-4D8A-B233-342DDC4E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6 / 56">
            <a:extLst xmlns:a="http://schemas.openxmlformats.org/drawingml/2006/main">
              <a:ext uri="{FF2B5EF4-FFF2-40B4-BE49-F238E27FC236}">
                <a16:creationId xmlns:a16="http://schemas.microsoft.com/office/drawing/2014/main" id="{696059CF-C621-49AC-9A28-67DF765B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56 / 56</a:t>
            </a:r>
          </a:p>
        </p:txBody>
      </p:sp>
    </p:spTree>
    <p:extLst>
      <p:ext uri="{BB962C8B-B14F-4D97-AF65-F5344CB8AC3E}">
        <p14:creationId xmlns:p14="http://schemas.microsoft.com/office/powerpoint/2010/main" val="383035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2026-10-08T11:22:56.4070000Z</dcterms:created>
  <dcterms:modified xsi:type="dcterms:W3CDTF">2026-10-08T11:22:56.4070000Z</dcterms:modified>
</coreProperties>
</file>