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859eab4bab4980" /><Relationship Type="http://schemas.openxmlformats.org/officeDocument/2006/relationships/extended-properties" Target="/docProps/app.xml" Id="R9b82460336214c24" /><Relationship Type="http://schemas.openxmlformats.org/officeDocument/2006/relationships/officeDocument" Target="/ppt/presentation.xml" Id="R5ec189b1cd5847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5b821f546f4a3b"/>
  </p:sldMasterIdLst>
  <p:notesMasterIdLst>
    <p:notesMasterId xmlns:r="http://schemas.openxmlformats.org/officeDocument/2006/relationships" r:id="R704f7deef5ea4255"/>
  </p:notesMasterIdLst>
  <p:sldIdLst>
    <p:sldId xmlns:r="http://schemas.openxmlformats.org/officeDocument/2006/relationships" id="256" r:id="Rc25bf2a5681f433b"/>
    <p:sldId xmlns:r="http://schemas.openxmlformats.org/officeDocument/2006/relationships" id="257" r:id="R0be9636c83f74ab4"/>
    <p:sldId xmlns:r="http://schemas.openxmlformats.org/officeDocument/2006/relationships" id="258" r:id="R7d602c39c7b94566"/>
    <p:sldId xmlns:r="http://schemas.openxmlformats.org/officeDocument/2006/relationships" id="259" r:id="R3a9b6187b7cc47c1"/>
    <p:sldId xmlns:r="http://schemas.openxmlformats.org/officeDocument/2006/relationships" id="260" r:id="R4aea24d6daf34408"/>
    <p:sldId xmlns:r="http://schemas.openxmlformats.org/officeDocument/2006/relationships" id="261" r:id="R37f9d6dc771e4fe7"/>
    <p:sldId xmlns:r="http://schemas.openxmlformats.org/officeDocument/2006/relationships" id="262" r:id="R802cdcee618b4e5d"/>
    <p:sldId xmlns:r="http://schemas.openxmlformats.org/officeDocument/2006/relationships" id="263" r:id="R7295a7315cd84838"/>
    <p:sldId xmlns:r="http://schemas.openxmlformats.org/officeDocument/2006/relationships" id="264" r:id="Rd6a1b49346ec4a12"/>
    <p:sldId xmlns:r="http://schemas.openxmlformats.org/officeDocument/2006/relationships" id="265" r:id="R92992c5719224ca8"/>
    <p:sldId xmlns:r="http://schemas.openxmlformats.org/officeDocument/2006/relationships" id="266" r:id="R310caacd12ed477d"/>
    <p:sldId xmlns:r="http://schemas.openxmlformats.org/officeDocument/2006/relationships" id="267" r:id="R3a444e6317894906"/>
    <p:sldId xmlns:r="http://schemas.openxmlformats.org/officeDocument/2006/relationships" id="268" r:id="R4ceb1dd68d3f48ff"/>
    <p:sldId xmlns:r="http://schemas.openxmlformats.org/officeDocument/2006/relationships" id="269" r:id="Rc03b1db9fdc94c72"/>
    <p:sldId xmlns:r="http://schemas.openxmlformats.org/officeDocument/2006/relationships" id="270" r:id="R74c41566a17f49de"/>
    <p:sldId xmlns:r="http://schemas.openxmlformats.org/officeDocument/2006/relationships" id="271" r:id="R1c59d430e4194da3"/>
    <p:sldId xmlns:r="http://schemas.openxmlformats.org/officeDocument/2006/relationships" id="272" r:id="Rc6d4218b6b65462a"/>
    <p:sldId xmlns:r="http://schemas.openxmlformats.org/officeDocument/2006/relationships" id="273" r:id="Rd30bc86777994d21"/>
    <p:sldId xmlns:r="http://schemas.openxmlformats.org/officeDocument/2006/relationships" id="274" r:id="Rc5208c8079e94421"/>
    <p:sldId xmlns:r="http://schemas.openxmlformats.org/officeDocument/2006/relationships" id="275" r:id="Rd1854b4c29a048fc"/>
    <p:sldId xmlns:r="http://schemas.openxmlformats.org/officeDocument/2006/relationships" id="276" r:id="Rb6e637264cbd45b4"/>
    <p:sldId xmlns:r="http://schemas.openxmlformats.org/officeDocument/2006/relationships" id="277" r:id="R94bcc9207acd47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543ac77db343c7" /><Relationship Type="http://schemas.openxmlformats.org/officeDocument/2006/relationships/slideMaster" Target="/ppt/slideMasters/slideMaster1.xml" Id="R5b5b821f546f4a3b" /><Relationship Type="http://schemas.openxmlformats.org/officeDocument/2006/relationships/notesMaster" Target="/ppt/notesMasters/notesMaster1.xml" Id="R704f7deef5ea4255" /><Relationship Type="http://schemas.openxmlformats.org/officeDocument/2006/relationships/presProps" Target="/ppt/presProps.xml" Id="R73ed0d02d70d4355" /><Relationship Type="http://schemas.openxmlformats.org/officeDocument/2006/relationships/tableStyles" Target="/ppt/tableStyles.xml" Id="R5b32aa9ec5c94e36" /><Relationship Type="http://schemas.openxmlformats.org/officeDocument/2006/relationships/slide" Target="/ppt/slides/slide1.xml" Id="Rc25bf2a5681f433b" /><Relationship Type="http://schemas.openxmlformats.org/officeDocument/2006/relationships/slide" Target="/ppt/slides/slide2.xml" Id="R0be9636c83f74ab4" /><Relationship Type="http://schemas.openxmlformats.org/officeDocument/2006/relationships/slide" Target="/ppt/slides/slide3.xml" Id="R7d602c39c7b94566" /><Relationship Type="http://schemas.openxmlformats.org/officeDocument/2006/relationships/slide" Target="/ppt/slides/slide4.xml" Id="R3a9b6187b7cc47c1" /><Relationship Type="http://schemas.openxmlformats.org/officeDocument/2006/relationships/slide" Target="/ppt/slides/slide5.xml" Id="R4aea24d6daf34408" /><Relationship Type="http://schemas.openxmlformats.org/officeDocument/2006/relationships/slide" Target="/ppt/slides/slide6.xml" Id="R37f9d6dc771e4fe7" /><Relationship Type="http://schemas.openxmlformats.org/officeDocument/2006/relationships/slide" Target="/ppt/slides/slide7.xml" Id="R802cdcee618b4e5d" /><Relationship Type="http://schemas.openxmlformats.org/officeDocument/2006/relationships/slide" Target="/ppt/slides/slide8.xml" Id="R7295a7315cd84838" /><Relationship Type="http://schemas.openxmlformats.org/officeDocument/2006/relationships/slide" Target="/ppt/slides/slide9.xml" Id="Rd6a1b49346ec4a12" /><Relationship Type="http://schemas.openxmlformats.org/officeDocument/2006/relationships/slide" Target="/ppt/slides/slide10.xml" Id="R92992c5719224ca8" /><Relationship Type="http://schemas.openxmlformats.org/officeDocument/2006/relationships/slide" Target="/ppt/slides/slide11.xml" Id="R310caacd12ed477d" /><Relationship Type="http://schemas.openxmlformats.org/officeDocument/2006/relationships/slide" Target="/ppt/slides/slide12.xml" Id="R3a444e6317894906" /><Relationship Type="http://schemas.openxmlformats.org/officeDocument/2006/relationships/slide" Target="/ppt/slides/slide13.xml" Id="R4ceb1dd68d3f48ff" /><Relationship Type="http://schemas.openxmlformats.org/officeDocument/2006/relationships/slide" Target="/ppt/slides/slide14.xml" Id="Rc03b1db9fdc94c72" /><Relationship Type="http://schemas.openxmlformats.org/officeDocument/2006/relationships/slide" Target="/ppt/slides/slide15.xml" Id="R74c41566a17f49de" /><Relationship Type="http://schemas.openxmlformats.org/officeDocument/2006/relationships/slide" Target="/ppt/slides/slide16.xml" Id="R1c59d430e4194da3" /><Relationship Type="http://schemas.openxmlformats.org/officeDocument/2006/relationships/slide" Target="/ppt/slides/slide17.xml" Id="Rc6d4218b6b65462a" /><Relationship Type="http://schemas.openxmlformats.org/officeDocument/2006/relationships/slide" Target="/ppt/slides/slide18.xml" Id="Rd30bc86777994d21" /><Relationship Type="http://schemas.openxmlformats.org/officeDocument/2006/relationships/slide" Target="/ppt/slides/slide19.xml" Id="Rc5208c8079e94421" /><Relationship Type="http://schemas.openxmlformats.org/officeDocument/2006/relationships/slide" Target="/ppt/slides/slide20.xml" Id="Rd1854b4c29a048fc" /><Relationship Type="http://schemas.openxmlformats.org/officeDocument/2006/relationships/slide" Target="/ppt/slides/slide21.xml" Id="Rb6e637264cbd45b4" /><Relationship Type="http://schemas.openxmlformats.org/officeDocument/2006/relationships/slide" Target="/ppt/slides/slide22.xml" Id="R94bcc9207acd47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1248e1bf45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863f447f2c4a62" /><Relationship Type="http://schemas.openxmlformats.org/officeDocument/2006/relationships/notesMaster" Target="/ppt/notesMasters/notesMaster1.xml" Id="R68f502569db94c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f3f05f04964e9a" /><Relationship Type="http://schemas.openxmlformats.org/officeDocument/2006/relationships/notesMaster" Target="/ppt/notesMasters/notesMaster1.xml" Id="R1fd1ab985a6e43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bec7c462c46f1" /><Relationship Type="http://schemas.openxmlformats.org/officeDocument/2006/relationships/notesMaster" Target="/ppt/notesMasters/notesMaster1.xml" Id="R0abe6411737b4e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72b8046ae543c6" /><Relationship Type="http://schemas.openxmlformats.org/officeDocument/2006/relationships/notesMaster" Target="/ppt/notesMasters/notesMaster1.xml" Id="R26d468f92e33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38954b0de5473d" /><Relationship Type="http://schemas.openxmlformats.org/officeDocument/2006/relationships/notesMaster" Target="/ppt/notesMasters/notesMaster1.xml" Id="Ra1941b4d6fd14c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171f963de24003" /><Relationship Type="http://schemas.openxmlformats.org/officeDocument/2006/relationships/notesMaster" Target="/ppt/notesMasters/notesMaster1.xml" Id="R79f81182f3b946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b80b03343f40dc" /><Relationship Type="http://schemas.openxmlformats.org/officeDocument/2006/relationships/notesMaster" Target="/ppt/notesMasters/notesMaster1.xml" Id="R1fc946702a3746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4d35ea8c4a4989" /><Relationship Type="http://schemas.openxmlformats.org/officeDocument/2006/relationships/notesMaster" Target="/ppt/notesMasters/notesMaster1.xml" Id="R901fe64e653c40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9071f23cd149e6" /><Relationship Type="http://schemas.openxmlformats.org/officeDocument/2006/relationships/notesMaster" Target="/ppt/notesMasters/notesMaster1.xml" Id="R2b41a46e340a43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ce134776274808" /><Relationship Type="http://schemas.openxmlformats.org/officeDocument/2006/relationships/notesMaster" Target="/ppt/notesMasters/notesMaster1.xml" Id="R66d30500c6ab4d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135fe67cb84475" /><Relationship Type="http://schemas.openxmlformats.org/officeDocument/2006/relationships/notesMaster" Target="/ppt/notesMasters/notesMaster1.xml" Id="R07882f5b1fe842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75b17f14bb42fd" /><Relationship Type="http://schemas.openxmlformats.org/officeDocument/2006/relationships/notesMaster" Target="/ppt/notesMasters/notesMaster1.xml" Id="Re6e9be2f97e148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9dac5a44bd42e1" /><Relationship Type="http://schemas.openxmlformats.org/officeDocument/2006/relationships/notesMaster" Target="/ppt/notesMasters/notesMaster1.xml" Id="R11f05b51ea0f48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0d034118024251" /><Relationship Type="http://schemas.openxmlformats.org/officeDocument/2006/relationships/notesMaster" Target="/ppt/notesMasters/notesMaster1.xml" Id="Rb8b0816f50f047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07fb837ad44b4c" /><Relationship Type="http://schemas.openxmlformats.org/officeDocument/2006/relationships/notesMaster" Target="/ppt/notesMasters/notesMaster1.xml" Id="R4aa2a777dcaf42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15879917c440e1" /><Relationship Type="http://schemas.openxmlformats.org/officeDocument/2006/relationships/notesMaster" Target="/ppt/notesMasters/notesMaster1.xml" Id="Ra8a83191e12e46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c38d4abd4d45d9" /><Relationship Type="http://schemas.openxmlformats.org/officeDocument/2006/relationships/notesMaster" Target="/ppt/notesMasters/notesMaster1.xml" Id="R90306e2c5af74c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4efcbc8ecb46fb" /><Relationship Type="http://schemas.openxmlformats.org/officeDocument/2006/relationships/notesMaster" Target="/ppt/notesMasters/notesMaster1.xml" Id="R1a6d67dc855b48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7d6018bbda41c1" /><Relationship Type="http://schemas.openxmlformats.org/officeDocument/2006/relationships/notesMaster" Target="/ppt/notesMasters/notesMaster1.xml" Id="R32f4de3e966044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d510df16bb47e5" /><Relationship Type="http://schemas.openxmlformats.org/officeDocument/2006/relationships/notesMaster" Target="/ppt/notesMasters/notesMaster1.xml" Id="Rae6a277aa5c044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c5cc0da3a045d6" /><Relationship Type="http://schemas.openxmlformats.org/officeDocument/2006/relationships/notesMaster" Target="/ppt/notesMasters/notesMaster1.xml" Id="R0ca434de375446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01e567f87f640fd" /><Relationship Type="http://schemas.openxmlformats.org/officeDocument/2006/relationships/notesMaster" Target="/ppt/notesMasters/notesMaster1.xml" Id="R0613192c4684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919a5c8de4f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fbcfa6a3241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e104bc68445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76bdabcdb47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c474063384a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56734b8bf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6875B8-B4CF-4D33-A685-6493437161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2B5305-1DE6-4885-B7DD-9FCB9C03F9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C1722D-1E61-471B-9FB2-6961C645B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128DD4-519B-42F1-B731-D2C457D52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27418E-D5A9-43D0-AFB0-9945BA5DDF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95A981-F61C-4B69-94E0-F04CCC52AD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AB4348-D4DA-4413-9F1F-A44CEDA08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A70CAE-F8F9-40A4-A44E-B1CB56E374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7A9BD9-0296-4AB9-87BE-BBD80C203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3598FC-3638-4844-A358-2C90CA077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2afd3ed0ae4157" /><Relationship Type="http://schemas.openxmlformats.org/officeDocument/2006/relationships/slideLayout" Target="/ppt/slideLayouts/slideLayout1.xml" Id="Rab96201e3d724065" /><Relationship Type="http://schemas.openxmlformats.org/officeDocument/2006/relationships/slideLayout" Target="/ppt/slideLayouts/slideLayout2.xml" Id="Rf1e6655d02f34b14" /><Relationship Type="http://schemas.openxmlformats.org/officeDocument/2006/relationships/slideLayout" Target="/ppt/slideLayouts/slideLayout3.xml" Id="R61216e74ec8a4865" /><Relationship Type="http://schemas.openxmlformats.org/officeDocument/2006/relationships/slideLayout" Target="/ppt/slideLayouts/slideLayout4.xml" Id="R63ee4bc2480946f3" /><Relationship Type="http://schemas.openxmlformats.org/officeDocument/2006/relationships/slideLayout" Target="/ppt/slideLayouts/slideLayout5.xml" Id="Rd70f3ef0a0ad4b48" /><Relationship Type="http://schemas.openxmlformats.org/officeDocument/2006/relationships/slideLayout" Target="/ppt/slideLayouts/slideLayout6.xml" Id="Rc5163c28f74d44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96201e3d724065"/>
    <p:sldLayoutId xmlns:r="http://schemas.openxmlformats.org/officeDocument/2006/relationships" id="2147483650" r:id="Rf1e6655d02f34b14"/>
    <p:sldLayoutId xmlns:r="http://schemas.openxmlformats.org/officeDocument/2006/relationships" id="2147483651" r:id="R61216e74ec8a4865"/>
    <p:sldLayoutId xmlns:r="http://schemas.openxmlformats.org/officeDocument/2006/relationships" id="2147483652" r:id="R63ee4bc2480946f3"/>
    <p:sldLayoutId xmlns:r="http://schemas.openxmlformats.org/officeDocument/2006/relationships" id="2147483653" r:id="Rd70f3ef0a0ad4b48"/>
    <p:sldLayoutId xmlns:r="http://schemas.openxmlformats.org/officeDocument/2006/relationships" id="2147483654" r:id="Rc5163c28f74d44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d231c835449f2" /><Relationship Type="http://schemas.openxmlformats.org/officeDocument/2006/relationships/notesSlide" Target="/ppt/notesSlides/notesSlide1.xml" Id="R9bd34a63af20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db51f941547dd" /><Relationship Type="http://schemas.openxmlformats.org/officeDocument/2006/relationships/notesSlide" Target="/ppt/notesSlides/notesSlide2.xml" Id="Rcf5d5f7531f54c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73c66c49d40ec" /><Relationship Type="http://schemas.openxmlformats.org/officeDocument/2006/relationships/chart" Target="/ppt/slides/charts/chart1.xml" Id="R74a13959e35a445d" /><Relationship Type="http://schemas.openxmlformats.org/officeDocument/2006/relationships/chart" Target="/ppt/slides/charts/chart2.xml" Id="R24f6930d522841d3" /><Relationship Type="http://schemas.openxmlformats.org/officeDocument/2006/relationships/notesSlide" Target="/ppt/notesSlides/notesSlide3.xml" Id="R0e2db663820e4a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f340f3ef44a21" /><Relationship Type="http://schemas.openxmlformats.org/officeDocument/2006/relationships/notesSlide" Target="/ppt/notesSlides/notesSlide4.xml" Id="R711ab5ca96684d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8722901b4419f" /><Relationship Type="http://schemas.openxmlformats.org/officeDocument/2006/relationships/notesSlide" Target="/ppt/notesSlides/notesSlide5.xml" Id="R9561709cbb97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6abbb3c054761" /><Relationship Type="http://schemas.openxmlformats.org/officeDocument/2006/relationships/notesSlide" Target="/ppt/notesSlides/notesSlide6.xml" Id="Rff156d9252bc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55ba93ce04e45" /><Relationship Type="http://schemas.openxmlformats.org/officeDocument/2006/relationships/notesSlide" Target="/ppt/notesSlides/notesSlide7.xml" Id="R7433c4779276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e95d9275e4f39" /><Relationship Type="http://schemas.openxmlformats.org/officeDocument/2006/relationships/notesSlide" Target="/ppt/notesSlides/notesSlide8.xml" Id="R879c48f4a04942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77f5c0b014164" /><Relationship Type="http://schemas.openxmlformats.org/officeDocument/2006/relationships/notesSlide" Target="/ppt/notesSlides/notesSlide9.xml" Id="R33c8f4c7b89d4c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1c0a42f974613" /><Relationship Type="http://schemas.openxmlformats.org/officeDocument/2006/relationships/notesSlide" Target="/ppt/notesSlides/notesSlide10.xml" Id="Rbd8f0ea0c54a47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a8924d52f4d5f" /><Relationship Type="http://schemas.openxmlformats.org/officeDocument/2006/relationships/notesSlide" Target="/ppt/notesSlides/notesSlide11.xml" Id="Red0141f9fbb64a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8a8a47b244b0d" /><Relationship Type="http://schemas.openxmlformats.org/officeDocument/2006/relationships/notesSlide" Target="/ppt/notesSlides/notesSlide12.xml" Id="Rafaed2f2614f45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e2d633a424e79" /><Relationship Type="http://schemas.openxmlformats.org/officeDocument/2006/relationships/notesSlide" Target="/ppt/notesSlides/notesSlide13.xml" Id="Rae6192ead06c42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18e46906d4192" /><Relationship Type="http://schemas.openxmlformats.org/officeDocument/2006/relationships/notesSlide" Target="/ppt/notesSlides/notesSlide14.xml" Id="Ra819661928d24a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651b8d54b4abe" /><Relationship Type="http://schemas.openxmlformats.org/officeDocument/2006/relationships/notesSlide" Target="/ppt/notesSlides/notesSlide15.xml" Id="R58af8a82b67940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4e96f4cf24d62" /><Relationship Type="http://schemas.openxmlformats.org/officeDocument/2006/relationships/notesSlide" Target="/ppt/notesSlides/notesSlide16.xml" Id="R26db7767b5ac47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32ddc4d5641fc" /><Relationship Type="http://schemas.openxmlformats.org/officeDocument/2006/relationships/notesSlide" Target="/ppt/notesSlides/notesSlide17.xml" Id="Ra88bf39824a944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5318fbfe24142" /><Relationship Type="http://schemas.openxmlformats.org/officeDocument/2006/relationships/hyperlink" Target="https://docs.nvidia.com/cuda/cuda-c-best-practices-guide/index.html" TargetMode="External" Id="Rc0ca98e8ddac4d53" /><Relationship Type="http://schemas.openxmlformats.org/officeDocument/2006/relationships/hyperlink" Target="https://docs.nvidia.com/gpudirect-storage/overview-guide/index.html" TargetMode="External" Id="R7866ca22c3ed4d14" /><Relationship Type="http://schemas.openxmlformats.org/officeDocument/2006/relationships/hyperlink" Target="https://docs.nvidia.com/gpudirect-storage/design-guide/index.html" TargetMode="External" Id="Rc0f13beeeeee4403" /><Relationship Type="http://schemas.openxmlformats.org/officeDocument/2006/relationships/hyperlink" Target="https://docs.nvidia.com/megatron-core/developer-guide/latest/user-guide/parallelism-guide.html" TargetMode="External" Id="Rc9f7798433224117" /><Relationship Type="http://schemas.openxmlformats.org/officeDocument/2006/relationships/notesSlide" Target="/ppt/notesSlides/notesSlide18.xml" Id="R2bcd53b4859243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a46b4a471425f" /><Relationship Type="http://schemas.openxmlformats.org/officeDocument/2006/relationships/hyperlink" Target="https://www.iea.org/reports/key-questions-on-energy-and-ai/executive-summary" TargetMode="External" Id="Rb18089012a5b4e3a" /><Relationship Type="http://schemas.openxmlformats.org/officeDocument/2006/relationships/hyperlink" Target="https://www.nsf.gov/cise/updates/nairr-2-years-advancing-american-artificial-intelligence" TargetMode="External" Id="Rb0d446cd5d0b4482" /><Relationship Type="http://schemas.openxmlformats.org/officeDocument/2006/relationships/hyperlink" Target="https://aclanthology.org/P19-1355/" TargetMode="External" Id="R505ccf7938204b0c" /><Relationship Type="http://schemas.openxmlformats.org/officeDocument/2006/relationships/hyperlink" Target="https://arxiv.org/abs/2304.03271v5" TargetMode="External" Id="R5fceb5ffff8540c5" /><Relationship Type="http://schemas.openxmlformats.org/officeDocument/2006/relationships/notesSlide" Target="/ppt/notesSlides/notesSlide19.xml" Id="R60027659edf447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37740632c493b" /><Relationship Type="http://schemas.openxmlformats.org/officeDocument/2006/relationships/hyperlink" Target="https://arxiv.org/abs/1907.10597" TargetMode="External" Id="R57192447ba714201" /><Relationship Type="http://schemas.openxmlformats.org/officeDocument/2006/relationships/hyperlink" Target="https://arxiv.org/abs/1906.08935v2" TargetMode="External" Id="R6460163d15904ce8" /><Relationship Type="http://schemas.openxmlformats.org/officeDocument/2006/relationships/hyperlink" Target="https://aclanthology.org/2024.cl-3.8/" TargetMode="External" Id="R8710c3a633ce4941" /><Relationship Type="http://schemas.openxmlformats.org/officeDocument/2006/relationships/hyperlink" Target="https://arxiv.org/abs/2010.15581v1" TargetMode="External" Id="Re5305cf13d7a4a00" /><Relationship Type="http://schemas.openxmlformats.org/officeDocument/2006/relationships/notesSlide" Target="/ppt/notesSlides/notesSlide20.xml" Id="R711b76fff66140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d2cf5dcf14fb4" /><Relationship Type="http://schemas.openxmlformats.org/officeDocument/2006/relationships/hyperlink" Target="https://arxiv.org/abs/2106.11750v1" TargetMode="External" Id="R258d8731a9f24161" /><Relationship Type="http://schemas.openxmlformats.org/officeDocument/2006/relationships/hyperlink" Target="https://www.oecd.org/en/topics/ai-principles.html" TargetMode="External" Id="Rfb7d6da18f0d406f" /><Relationship Type="http://schemas.openxmlformats.org/officeDocument/2006/relationships/hyperlink" Target="https://airc.nist.gov/airmf-resources/playbook/" TargetMode="External" Id="Rfbfb7afba78146ec" /><Relationship Type="http://schemas.openxmlformats.org/officeDocument/2006/relationships/notesSlide" Target="/ppt/notesSlides/notesSlide21.xml" Id="R16c59f654caa47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52186891e04191" /><Relationship Type="http://schemas.openxmlformats.org/officeDocument/2006/relationships/notesSlide" Target="/ppt/notesSlides/notesSlide22.xml" Id="R45537e572c7c4c8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ADD25BC9-7500-4053-A1BA-C0DFCA19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101D4AFB-2C04-42B8-A1B1-18A7CDE2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5024220E-0BA3-4515-BB17-7AF225C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5BB27-FA66-4071-9DD1-3C82EEB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4D3ABD56-2EB1-4554-85B6-9EAE878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80DC2F83-135D-453C-AC3E-0DD2F7C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717276F1-9B88-40AB-8C7B-85889B62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247A5127-91F2-41F9-89F0-8BDFC1D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67FBC8EB-AC71-477D-A99F-5C0688BB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declaration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2065927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16B12140-D78F-456E-8E0E-3E4D8A1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F1D2EA7E-3371-40C3-98C8-EDC61A41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0F8C6-B3D8-44B6-8C35-6ABB4DE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8E2EE-1F24-439D-B1E7-76F4FDCE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3E83D-3B16-4F23-8BF8-EF939FC8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0AE47-6341-4BF3-856D-0DEE2F2A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158D2-0FF6-4142-A9FE-91745B347264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DE464-95D3-460B-BEEE-D585CC5F0A94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3196E-2786-435D-B5E7-32674D73E928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B6E6C2B2-5F68-437D-9443-650DD99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96D71C16-145E-4DFF-BE34-48E5BF3D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AD0D1A1B-BD90-4902-83E0-5DB10278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62E98F45-018F-45D1-9953-9FA8DBA7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BC9A5-3E94-4956-91E2-445B2BF0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89A0DCE8-D181-4AF2-AA3A-0A37C638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1329F-6030-418C-992C-C55F79A0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24E9F267-A650-44F9-945B-44DBBC71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18" name="2 / 22">
            <a:extLst xmlns:a="http://schemas.openxmlformats.org/drawingml/2006/main">
              <a:ext uri="{FF2B5EF4-FFF2-40B4-BE49-F238E27FC236}">
                <a16:creationId xmlns:a16="http://schemas.microsoft.com/office/drawing/2014/main" id="{4D65244C-06C1-4144-8322-23AF5905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22</a:t>
            </a:r>
          </a:p>
        </p:txBody>
      </p:sp>
    </p:spTree>
    <p:extLst>
      <p:ext uri="{BB962C8B-B14F-4D97-AF65-F5344CB8AC3E}">
        <p14:creationId xmlns:p14="http://schemas.microsoft.com/office/powerpoint/2010/main" val="963879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035B7804-699A-49E6-A1C2-425BF1D7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5C64D3F9-AEDD-4372-AEA4-67637E53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CD0C4D36-9C0E-4A20-A0B7-28136553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E5CD85F5-E1C4-45B7-BF05-AFE3D737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C756B93-F0D0-4B71-B723-6AF69CE00099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a13959e35a445d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71BD230-1229-4B33-BC7D-80533E1AEF4A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f6930d522841d3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78EA9E34-3FEA-46A1-BC6F-2D080F5F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0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625B83AB-6E2E-4ABD-9C64-DC102F94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[10] emphasizes efficiency; water research [9]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49BAE-12D3-40FA-B190-71167970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17F7FF9B-E70A-4561-B4A0-833B3536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[9] Li et al. 2025 revision: water impacts; [10] Schwartz et al. 2019: efficiency reporting</a:t>
            </a:r>
          </a:p>
        </p:txBody>
      </p:sp>
      <p:sp>
        <p:nvSpPr>
          <p:cNvPr id="11" name="3 / 22">
            <a:extLst xmlns:a="http://schemas.openxmlformats.org/drawingml/2006/main">
              <a:ext uri="{FF2B5EF4-FFF2-40B4-BE49-F238E27FC236}">
                <a16:creationId xmlns:a16="http://schemas.microsoft.com/office/drawing/2014/main" id="{304EF2D6-5A85-41F5-B27B-91577B0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22</a:t>
            </a:r>
          </a:p>
        </p:txBody>
      </p:sp>
    </p:spTree>
    <p:extLst>
      <p:ext uri="{BB962C8B-B14F-4D97-AF65-F5344CB8AC3E}">
        <p14:creationId xmlns:p14="http://schemas.microsoft.com/office/powerpoint/2010/main" val="1470786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37C85-AF9A-451A-83B2-E8DE945144A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F2390-1A9C-445E-B7B1-ABD81C510DD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DAA10D82-8600-4C3F-A16A-169ED801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4D48B843-E346-4109-9010-218B6679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8E870610-3D84-46C8-8211-AFB873C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D3333195-316F-4AAB-A0CC-B69D3995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A7395-C7ED-49BF-A5B2-32D30E53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FC305-9C34-4986-B997-3BB9AF0C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EE3C1-6F25-4063-B158-1753FA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F33C2-01E7-413E-A445-01F244E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1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247738A0-8618-4387-AB50-B979D532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[11]: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2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CFCC959B-179D-4451-B46F-77CF45DF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[12]: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1514CF23-E50D-4992-A3CE-6C8972CD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FCBD3-8455-45EC-89BC-1C94E774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E4E48E74-7DFE-4D44-82F0-7C20405A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22E76-2E1E-4F68-8B41-38F740DC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1] Zhu et al. 2019: exposed gradients; [12] ">
            <a:extLst xmlns:a="http://schemas.openxmlformats.org/drawingml/2006/main">
              <a:ext uri="{FF2B5EF4-FFF2-40B4-BE49-F238E27FC236}">
                <a16:creationId xmlns:a16="http://schemas.microsoft.com/office/drawing/2014/main" id="{F11A0133-FED2-4E1C-BB71-FC60867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[12] Gallegos et al. 2024: fairness evaluation; [15] OECD: rights, fairness and accountability; [16]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4 / 22">
            <a:extLst xmlns:a="http://schemas.openxmlformats.org/drawingml/2006/main">
              <a:ext uri="{FF2B5EF4-FFF2-40B4-BE49-F238E27FC236}">
                <a16:creationId xmlns:a16="http://schemas.microsoft.com/office/drawing/2014/main" id="{6996E8A9-FB26-47CA-9E1B-0C728004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22</a:t>
            </a:r>
          </a:p>
        </p:txBody>
      </p:sp>
    </p:spTree>
    <p:extLst>
      <p:ext uri="{BB962C8B-B14F-4D97-AF65-F5344CB8AC3E}">
        <p14:creationId xmlns:p14="http://schemas.microsoft.com/office/powerpoint/2010/main" val="101096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25BAF781-EF45-44DD-8FB3-4B4C320F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2FD61161-5BEE-47B3-BEA8-0BD560B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B8305-D869-4597-B021-7B77D9857A5F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F9330EBC-D653-4055-938B-C93A24A9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1E71092A-35DC-4D28-922C-149CDC7C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509AC6D4-E101-4781-BCC1-BCB75E1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138BC-BE47-4877-B43B-6D7ACEAC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411D80BC-B350-4B15-A5A5-509941DF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04707-8EEB-40B5-8B44-3E16F678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B7F259BD-34A1-4717-B82D-6D4C24FD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1" name="5 / 22">
            <a:extLst xmlns:a="http://schemas.openxmlformats.org/drawingml/2006/main">
              <a:ext uri="{FF2B5EF4-FFF2-40B4-BE49-F238E27FC236}">
                <a16:creationId xmlns:a16="http://schemas.microsoft.com/office/drawing/2014/main" id="{40DBC87A-5934-42A9-9929-13DAF05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22</a:t>
            </a:r>
          </a:p>
        </p:txBody>
      </p:sp>
    </p:spTree>
    <p:extLst>
      <p:ext uri="{BB962C8B-B14F-4D97-AF65-F5344CB8AC3E}">
        <p14:creationId xmlns:p14="http://schemas.microsoft.com/office/powerpoint/2010/main" val="1003029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918EC-342E-4C90-B4E7-CD5A1781B05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7B9DF-5EB3-40A0-8C9B-0766ECF39C0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9AEF4BA2-EB51-4C75-BD33-04FB1093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E3F5076D-01CD-4B0B-95EC-F44C436C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F4C01-C573-4DFD-ADBD-5BB890C1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B1AB4-9147-4228-B0AB-F361FD28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63943-10AE-4339-AC25-85193CC3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0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1B17C6F4-CE87-4E74-BDE6-07B49B97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[10] • Carbon-aware scheduling: flexible work [14]</a:t>
            </a:r>
          </a:p>
        </p:txBody>
      </p:sp>
      <p:sp>
        <p:nvSpPr>
          <p:cNvPr id="9" name="OECD: values and rights [15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AE88761B-2BE7-4093-8DC9-13245802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[15] • NIST: Govern, Map, Measure, Manage [16]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D1438F7F-EBED-41E2-86DA-97C4DB29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8B213103-12EC-452F-B709-C8069450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EA1E2-85F1-46BC-AE6E-7FCFB5EB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E40C11EE-DB01-470E-9F18-BE669136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DBCBD-D99F-4213-A7F8-977B265F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DE80FDF4-9580-4213-93DC-8B24C466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6 / 22">
            <a:extLst xmlns:a="http://schemas.openxmlformats.org/drawingml/2006/main">
              <a:ext uri="{FF2B5EF4-FFF2-40B4-BE49-F238E27FC236}">
                <a16:creationId xmlns:a16="http://schemas.microsoft.com/office/drawing/2014/main" id="{A3A61228-17BC-4C46-9DFD-19C2AA8A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22</a:t>
            </a:r>
          </a:p>
        </p:txBody>
      </p:sp>
    </p:spTree>
    <p:extLst>
      <p:ext uri="{BB962C8B-B14F-4D97-AF65-F5344CB8AC3E}">
        <p14:creationId xmlns:p14="http://schemas.microsoft.com/office/powerpoint/2010/main" val="18169289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3B26D88F-677A-40CA-8FF7-78B92714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A1B835F4-2C96-4E56-8858-20984EDF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61E72C79-28C6-4EB8-BB66-23E8CE98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48AD28E8-8445-4E98-8E81-5AF89BE2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818B950E-5A65-4F7D-A57C-E790434B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E8A439DF-C59D-48EF-A03E-49EE999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BAF4425D-5AB1-4C47-8E2A-46E84598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AEFCA8E8-5591-4ED1-BF21-8CBB18B5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A6361B0B-7740-4E27-9CD5-85B6CA0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 brief AI use declaration are part of t">
            <a:extLst xmlns:a="http://schemas.openxmlformats.org/drawingml/2006/main">
              <a:ext uri="{FF2B5EF4-FFF2-40B4-BE49-F238E27FC236}">
                <a16:creationId xmlns:a16="http://schemas.microsoft.com/office/drawing/2014/main" id="{22954907-A3CA-4AED-87DB-C621916A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 brief AI use declaration are part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A1075-D9EF-45CD-9695-A64BFF51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5340F-5101-49DF-8AD9-4CF57B56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57E7F53-8FFB-4E9D-8780-8EE700AC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7 / 22">
            <a:extLst xmlns:a="http://schemas.openxmlformats.org/drawingml/2006/main">
              <a:ext uri="{FF2B5EF4-FFF2-40B4-BE49-F238E27FC236}">
                <a16:creationId xmlns:a16="http://schemas.microsoft.com/office/drawing/2014/main" id="{94D14544-24C7-49D7-B6B4-353B6326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22</a:t>
            </a:r>
          </a:p>
        </p:txBody>
      </p:sp>
    </p:spTree>
    <p:extLst>
      <p:ext uri="{BB962C8B-B14F-4D97-AF65-F5344CB8AC3E}">
        <p14:creationId xmlns:p14="http://schemas.microsoft.com/office/powerpoint/2010/main" val="984333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8F58A8DC-5CCD-4491-85CC-C08473A9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5935B492-7E5C-490F-863B-C663FDDC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A25A0-7FE0-4D51-8911-F7090F6C5090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1F4DFF56-84F0-4A89-A4FF-43BF8001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4E7CC-C246-4126-936B-034F16C9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073213C7-2769-4DC4-B586-F638D7F2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7" name="8 / 22">
            <a:extLst xmlns:a="http://schemas.openxmlformats.org/drawingml/2006/main">
              <a:ext uri="{FF2B5EF4-FFF2-40B4-BE49-F238E27FC236}">
                <a16:creationId xmlns:a16="http://schemas.microsoft.com/office/drawing/2014/main" id="{0E9B75AF-A301-483D-9DDF-6C4CFA9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22</a:t>
            </a:r>
          </a:p>
        </p:txBody>
      </p:sp>
    </p:spTree>
    <p:extLst>
      <p:ext uri="{BB962C8B-B14F-4D97-AF65-F5344CB8AC3E}">
        <p14:creationId xmlns:p14="http://schemas.microsoft.com/office/powerpoint/2010/main" val="16418202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2C6F179E-C1BC-480A-A983-D2D17E98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42549FE4-508B-4F2E-B2A4-4C6036CE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D0BC3-B783-4022-9C05-A27AD256FF6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C4810640-A03B-41E4-B7E7-887200A9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02CEF1F8-8D99-4FB6-BE69-9E4D943C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7C2A5-39CA-463A-B604-64D3B7DC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8] Strubell et al. 2019: cost and equity; [10">
            <a:extLst xmlns:a="http://schemas.openxmlformats.org/drawingml/2006/main">
              <a:ext uri="{FF2B5EF4-FFF2-40B4-BE49-F238E27FC236}">
                <a16:creationId xmlns:a16="http://schemas.microsoft.com/office/drawing/2014/main" id="{1DAEA3E7-033A-405E-A99C-66649787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[10] Schwartz et al. 2019: efficiency reporting; [2] NVIDIA CUDA Best Practices</a:t>
            </a:r>
          </a:p>
        </p:txBody>
      </p:sp>
      <p:sp>
        <p:nvSpPr>
          <p:cNvPr id="8" name="9 / 22">
            <a:extLst xmlns:a="http://schemas.openxmlformats.org/drawingml/2006/main">
              <a:ext uri="{FF2B5EF4-FFF2-40B4-BE49-F238E27FC236}">
                <a16:creationId xmlns:a16="http://schemas.microsoft.com/office/drawing/2014/main" id="{8A0244C8-059E-4F64-B33E-388C35FC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22</a:t>
            </a:r>
          </a:p>
        </p:txBody>
      </p:sp>
    </p:spTree>
    <p:extLst>
      <p:ext uri="{BB962C8B-B14F-4D97-AF65-F5344CB8AC3E}">
        <p14:creationId xmlns:p14="http://schemas.microsoft.com/office/powerpoint/2010/main" val="6820538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4E174629-4DE5-4383-A90F-864F6180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9C384690-2FDC-48BA-A835-193662D7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1F73A5F8-4E01-4426-BDA8-66A9FEAF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F35E5B98-7814-47CE-AB8A-8ACC8960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AEE3727D-8ADE-4D61-8310-FE211D96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83E18BEF-4511-4EE1-829C-204713EB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72BD9268-005B-499A-B190-4248BEA4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C5A322F4-C829-420B-8F7A-254C0DC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B4DCFB55-B5DA-4B44-B1D0-E94E46B1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AE54D3E7-C1BB-40B2-AD7B-DBC4928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2E744-9CEF-4931-9C4D-7E41ADEB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3FFA1-93BB-4572-8CC4-9868FA29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D79B4BCC-A7B7-4841-B1CB-07F68410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[8] Strubell et al. 2019: cost and equity; [9] Li et al. 2025 revision: water impacts; [10]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0 / 22">
            <a:extLst xmlns:a="http://schemas.openxmlformats.org/drawingml/2006/main">
              <a:ext uri="{FF2B5EF4-FFF2-40B4-BE49-F238E27FC236}">
                <a16:creationId xmlns:a16="http://schemas.microsoft.com/office/drawing/2014/main" id="{D31D4508-5538-480F-869B-47D5AA1C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1588802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FA77056C-A23D-4B12-9EE5-DFBC131C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E56AF670-DA6B-439A-B871-F730FA8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813E4-0807-4FB6-8657-F8452BB724E0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679211AD-3A78-4EC7-8053-D6C8F0B1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7F1EB-D6AB-4021-9095-50E1877C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7D60CECE-4569-4FD8-B9AF-2E7D4A8A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[15] OECD: rights, fairness and accountability; [16] NIST: Govern, Map, Measure, Manage</a:t>
            </a:r>
          </a:p>
        </p:txBody>
      </p:sp>
      <p:sp>
        <p:nvSpPr>
          <p:cNvPr id="7" name="11 / 22">
            <a:extLst xmlns:a="http://schemas.openxmlformats.org/drawingml/2006/main">
              <a:ext uri="{FF2B5EF4-FFF2-40B4-BE49-F238E27FC236}">
                <a16:creationId xmlns:a16="http://schemas.microsoft.com/office/drawing/2014/main" id="{B497C4E1-AA17-4B75-8B99-B6E9F90D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1436661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5D774B41-B0CE-43F9-98E4-74634AF0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DA59E3F7-E98F-44F8-AA0A-AEDA5E6B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CD4D7DD4-3972-467B-AF4F-5CA8B2A8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121083DE-C993-4DA0-9038-D10B0C48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D94ACA88-6BCA-44D8-8D46-B92E7619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F8C9A84F-11BD-46AD-AD48-86AA6984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D0EA5162-F457-4789-9C82-94293D0E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38FD18F9-77AB-4763-AB46-AF1F7BC8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6B9E808D-97C5-4DB7-9E49-E72E1E16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AF3E91E2-955B-4772-B07A-BAD37216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5E3C3-A4C5-4D72-A7D4-AE1070D4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CF5CB-B05A-4984-8BAA-7FFA70B6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2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022B9343-60AF-4510-9C1A-84F2103F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Gallegos et al. 2024: fairness evaluation; [15] OECD: rights, fairness and accountability; [16] NIST: Govern, Map, Measure, Manage</a:t>
            </a:r>
          </a:p>
        </p:txBody>
      </p:sp>
      <p:sp>
        <p:nvSpPr>
          <p:cNvPr id="14" name="12 / 22">
            <a:extLst xmlns:a="http://schemas.openxmlformats.org/drawingml/2006/main">
              <a:ext uri="{FF2B5EF4-FFF2-40B4-BE49-F238E27FC236}">
                <a16:creationId xmlns:a16="http://schemas.microsoft.com/office/drawing/2014/main" id="{D66D9A5E-CA2C-4F27-9AF6-97A635AB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8225599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16D46DF9-8B69-47F9-96C8-310E3A09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0CA495F4-52C8-419B-9AAD-3442F310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D5ED8FB3-8D18-4E59-A741-F352AF0B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03073EE9-B954-45FB-AB3E-6514534F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87E337B9-BF7A-4DAF-9C15-54FC4668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E296CC9C-6411-40E1-B14B-1EA4235A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67E094E8-7563-4C38-AF3C-DC99D70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9E27512F-E93F-4BEA-B27D-1186E0E3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EB0C0F24-8F2B-4AC3-8F27-A8777625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AB98A90C-C0AF-49E4-A41E-BF550AF0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CB686-6AD6-4012-9EF0-DD91F5EE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C23BF-F7C0-42F9-AA40-2F5AB1D5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804D8BCF-2368-4C85-A940-0E5CB8B1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4" name="13 / 22">
            <a:extLst xmlns:a="http://schemas.openxmlformats.org/drawingml/2006/main">
              <a:ext uri="{FF2B5EF4-FFF2-40B4-BE49-F238E27FC236}">
                <a16:creationId xmlns:a16="http://schemas.microsoft.com/office/drawing/2014/main" id="{065A9A0E-4B6A-4732-8E15-D6C26A03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1972393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7929623A-7403-4DFA-AE3B-95A6332A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DE35E9CC-3771-47BC-80D0-EBC7BB5F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F2B68-7183-4BB2-A7C4-7F1E3A6661E2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336FE379-6CE1-4848-A835-C5325477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315C8-FD17-4869-B46F-B9390E3F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4C1C4BDF-8CA3-4F08-AB85-3D71C435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4 / 22">
            <a:extLst xmlns:a="http://schemas.openxmlformats.org/drawingml/2006/main">
              <a:ext uri="{FF2B5EF4-FFF2-40B4-BE49-F238E27FC236}">
                <a16:creationId xmlns:a16="http://schemas.microsoft.com/office/drawing/2014/main" id="{C456B9C7-40A9-4971-A2E3-605663D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15369578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A8066-5AAD-45BC-8D7F-7E027079A37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A6B85-1A13-4F3E-99E4-7AEF184EC15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81B28781-D467-43C5-97E8-0121F71D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7638248D-901D-48A3-B0DD-659CFD41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84B55-1E99-413B-9109-99CE3E4A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E00DB-1B62-4D19-BD39-3727F620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022C1-53FC-467D-9F9E-6C37D323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4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C74EBF67-8978-4982-B7A3-C75D7ED8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[14]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84698536-3108-445C-A673-26EF13D9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C7115EE6-04BD-45EB-80D9-212AB1F4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0B37C-1CD4-4AB4-894B-3887D587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B673EC69-C019-4203-BD7B-FE686C01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E82CD-F22E-464F-8BA2-6F8B2594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9] Li et al. 2025 revision: water impacts; [1">
            <a:extLst xmlns:a="http://schemas.openxmlformats.org/drawingml/2006/main">
              <a:ext uri="{FF2B5EF4-FFF2-40B4-BE49-F238E27FC236}">
                <a16:creationId xmlns:a16="http://schemas.microsoft.com/office/drawing/2014/main" id="{0CED7281-260E-42FF-AB1D-716F1093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Li et al. 2025 revision: water impacts; [14] Radovanovic et al. 2021: flexible scheduling; [16] NIST: Govern, Map, Measure, Manage</a:t>
            </a:r>
          </a:p>
        </p:txBody>
      </p:sp>
      <p:sp>
        <p:nvSpPr>
          <p:cNvPr id="15" name="15 / 22">
            <a:extLst xmlns:a="http://schemas.openxmlformats.org/drawingml/2006/main">
              <a:ext uri="{FF2B5EF4-FFF2-40B4-BE49-F238E27FC236}">
                <a16:creationId xmlns:a16="http://schemas.microsoft.com/office/drawing/2014/main" id="{133FADC4-1578-43E1-A77B-2B645A2E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12265810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9818FD57-9C15-4B9A-892A-64032825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60398453-9DBA-417A-9FFB-9D9C3FFF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CC71-A3FE-486F-A268-7A19EE51536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[8,10] versus water-footprint research [9]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[11] versus fairness evaluation survey [12]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[13] versus workload cost/equity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[10] versus operational scheduling [14]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6,7] and governance fra">
            <a:extLst xmlns:a="http://schemas.openxmlformats.org/drawingml/2006/main">
              <a:ext uri="{FF2B5EF4-FFF2-40B4-BE49-F238E27FC236}">
                <a16:creationId xmlns:a16="http://schemas.microsoft.com/office/drawing/2014/main" id="{CD021AC4-2758-4575-BB54-79F310C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[6,7] and governance frameworks [15,16]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A5F2A-7CAC-4FB8-98F4-7ED2F315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8] Strubell et al. 2019: cost and equity; [9]">
            <a:extLst xmlns:a="http://schemas.openxmlformats.org/drawingml/2006/main">
              <a:ext uri="{FF2B5EF4-FFF2-40B4-BE49-F238E27FC236}">
                <a16:creationId xmlns:a16="http://schemas.microsoft.com/office/drawing/2014/main" id="{08F499BB-83CA-4A46-99C4-02E5645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[9] Li et al. 2025 revision: water impacts; [10] Schwartz et al. 2019: efficiency reporting; [11] Zhu et al. 2019: exposed gradients; [12]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Gallegos et al. 2024: fairness evaluation; [13] Ahmed and Wahed 2020: compute divide; [14] Radovanovic et al. 2021: flexible scheduling</a:t>
            </a:r>
          </a:p>
        </p:txBody>
      </p:sp>
      <p:sp>
        <p:nvSpPr>
          <p:cNvPr id="7" name="16 / 22">
            <a:extLst xmlns:a="http://schemas.openxmlformats.org/drawingml/2006/main">
              <a:ext uri="{FF2B5EF4-FFF2-40B4-BE49-F238E27FC236}">
                <a16:creationId xmlns:a16="http://schemas.microsoft.com/office/drawing/2014/main" id="{570F9185-4E7C-40A3-BC60-5CDCEE5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5216606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B579ADCB-83B2-40F3-B7ED-EB0028F6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63A523D3-364D-4BA8-87C5-8F97BB06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46D6001F-B79A-40D7-895F-E8F73F73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08B03938-B576-40AA-915B-DECA7483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893B460F-ED1C-4BDF-8010-D15DBC1D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C1377C26-57A5-4B8E-92A7-D558D314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185F43B0-31B4-4368-80CC-DDEAAB75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B8A700FD-DB00-495B-B267-409BB69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851A35B1-1C6D-40B8-9D2F-65841B5F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93ADDCCD-7532-4ED4-BC90-AA664A05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67F25-2AC0-4332-8809-223620F3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80506-532A-457C-80C1-CC9448E8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; [3] NVIDIA GDS">
            <a:extLst xmlns:a="http://schemas.openxmlformats.org/drawingml/2006/main">
              <a:ext uri="{FF2B5EF4-FFF2-40B4-BE49-F238E27FC236}">
                <a16:creationId xmlns:a16="http://schemas.microsoft.com/office/drawing/2014/main" id="{9AD6E1E4-8886-4065-BA54-DD7C8D83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Practices; [3] NVIDIA GDS overview; [4] NVIDIA GDS design; [10] Schwartz et al. 2019: efficiency reporting; [14] Radovanovic et al. 2021: flexible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scheduling; [16] NIST: Govern, Map, Measure, Manage</a:t>
            </a:r>
          </a:p>
        </p:txBody>
      </p:sp>
      <p:sp>
        <p:nvSpPr>
          <p:cNvPr id="14" name="17 / 22">
            <a:extLst xmlns:a="http://schemas.openxmlformats.org/drawingml/2006/main">
              <a:ext uri="{FF2B5EF4-FFF2-40B4-BE49-F238E27FC236}">
                <a16:creationId xmlns:a16="http://schemas.microsoft.com/office/drawing/2014/main" id="{7CDFD8AD-FA19-42C1-BF3E-EAF65C5B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6710108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4">
            <a:extLst xmlns:a="http://schemas.openxmlformats.org/drawingml/2006/main">
              <a:ext uri="{FF2B5EF4-FFF2-40B4-BE49-F238E27FC236}">
                <a16:creationId xmlns:a16="http://schemas.microsoft.com/office/drawing/2014/main" id="{46C35796-10A4-4785-B961-3B1F50F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2DB0CB5F-0981-47D0-910E-74F9BDB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629E2C41-423C-4D34-B17F-DC5ACE63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EF13E05D-C77D-4324-9E3E-7FF85EE7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0ca98e8ddac4d53"/>
              </a:rPr>
              <a:t>https://docs.nvidia.com/cuda/cuda-c-best-practices-guide/index.html</a:t>
            </a:r>
          </a:p>
        </p:txBody>
      </p:sp>
      <p:sp>
        <p:nvSpPr>
          <p:cNvPr id="5" name="[3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304F995A-6600-4BA7-AB50-54E73CDD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A15FC5FA-5D2A-4717-8FE3-E38BCF08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866ca22c3ed4d14"/>
              </a:rPr>
              <a:t>https://docs.nvidia.com/gpudirect-storage/overview-guide/index.html</a:t>
            </a:r>
          </a:p>
        </p:txBody>
      </p:sp>
      <p:sp>
        <p:nvSpPr>
          <p:cNvPr id="7" name="[4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8FC3CC42-5F4A-4AD0-89F9-17E5D009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C129CEAD-73C7-442E-B5EB-EE1D450D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0f13beeeeee4403"/>
              </a:rPr>
              <a:t>https://docs.nvidia.com/gpudirect-storage/design-guide/index.html</a:t>
            </a:r>
          </a:p>
        </p:txBody>
      </p:sp>
      <p:sp>
        <p:nvSpPr>
          <p:cNvPr id="9" name="[5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4F90BF73-C668-4E08-B325-8966CAF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C8EC9B4C-0B30-476E-A96C-C8CBAF21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9f7798433224117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65623-F531-4050-ABB7-41E9881B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5304423-7C45-40D0-B78B-6B2289E6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22">
            <a:extLst xmlns:a="http://schemas.openxmlformats.org/drawingml/2006/main">
              <a:ext uri="{FF2B5EF4-FFF2-40B4-BE49-F238E27FC236}">
                <a16:creationId xmlns:a16="http://schemas.microsoft.com/office/drawing/2014/main" id="{BB8B9A8E-D882-4B6E-8E91-BB63626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2492632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4">
            <a:extLst xmlns:a="http://schemas.openxmlformats.org/drawingml/2006/main">
              <a:ext uri="{FF2B5EF4-FFF2-40B4-BE49-F238E27FC236}">
                <a16:creationId xmlns:a16="http://schemas.microsoft.com/office/drawing/2014/main" id="{D98C5048-F3FD-4730-B351-BDFEB13F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0BEA4A7E-3EC7-4778-8C7E-8F9CEC70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6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DF624603-9B04-4225-83B3-DDC9844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04480276-1C42-46C4-BD78-3993F1D8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18089012a5b4e3a"/>
              </a:rPr>
              <a:t>https://www.iea.org/reports/key-questions-on-energy-and-ai/executive-summary</a:t>
            </a:r>
          </a:p>
        </p:txBody>
      </p:sp>
      <p:sp>
        <p:nvSpPr>
          <p:cNvPr id="5" name="[7] U.S. National Science Foundation, “NAIRR at 2 years">
            <a:extLst xmlns:a="http://schemas.openxmlformats.org/drawingml/2006/main">
              <a:ext uri="{FF2B5EF4-FFF2-40B4-BE49-F238E27FC236}">
                <a16:creationId xmlns:a16="http://schemas.microsoft.com/office/drawing/2014/main" id="{0F376CBD-8AFE-47B4-B894-BAD01EE2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7EB22C51-1C72-4FE5-AEA1-D7312DD4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0d446cd5d0b4482"/>
              </a:rPr>
              <a:t>https://www.nsf.gov/cise/updates/nairr-2-years-advancing-american-artificial-intelligence</a:t>
            </a:r>
          </a:p>
        </p:txBody>
      </p:sp>
      <p:sp>
        <p:nvSpPr>
          <p:cNvPr id="7" name="[8] E. Strubell, A. Ganesh, and A. McCallum, “Energy an">
            <a:extLst xmlns:a="http://schemas.openxmlformats.org/drawingml/2006/main">
              <a:ext uri="{FF2B5EF4-FFF2-40B4-BE49-F238E27FC236}">
                <a16:creationId xmlns:a16="http://schemas.microsoft.com/office/drawing/2014/main" id="{BDB28542-8366-413C-9D40-0E01CD42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0DD43527-6AEA-492C-BBAE-D58C0970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05ccf7938204b0c"/>
              </a:rPr>
              <a:t>https://aclanthology.org/P19-1355/</a:t>
            </a:r>
          </a:p>
        </p:txBody>
      </p:sp>
      <p:sp>
        <p:nvSpPr>
          <p:cNvPr id="9" name="[9] P. Li, J. Yang, M. A. Islam, and S. Ren, “Making AI">
            <a:extLst xmlns:a="http://schemas.openxmlformats.org/drawingml/2006/main">
              <a:ext uri="{FF2B5EF4-FFF2-40B4-BE49-F238E27FC236}">
                <a16:creationId xmlns:a16="http://schemas.microsoft.com/office/drawing/2014/main" id="{389ACD74-AA67-412B-BFBA-2A00781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3FE8AA4B-057D-4363-B38E-04FC59CB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fceb5ffff8540c5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8A00B-DB13-414B-9AFB-C1A17D7F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4B0ABDF-994F-493C-94C8-628CAE13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22">
            <a:extLst xmlns:a="http://schemas.openxmlformats.org/drawingml/2006/main">
              <a:ext uri="{FF2B5EF4-FFF2-40B4-BE49-F238E27FC236}">
                <a16:creationId xmlns:a16="http://schemas.microsoft.com/office/drawing/2014/main" id="{47BC4EBA-CE96-4351-AE8B-C367D41E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14023275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4">
            <a:extLst xmlns:a="http://schemas.openxmlformats.org/drawingml/2006/main">
              <a:ext uri="{FF2B5EF4-FFF2-40B4-BE49-F238E27FC236}">
                <a16:creationId xmlns:a16="http://schemas.microsoft.com/office/drawing/2014/main" id="{4004BCB4-C04B-48AE-82A9-26B4077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4193040-B78B-461F-996D-7ED6EC1D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0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8F7F2D68-A66E-4730-9896-43D00CB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5F282DB6-87F5-4AEE-A410-70A6C950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7192447ba714201"/>
              </a:rPr>
              <a:t>https://arxiv.org/abs/1907.10597</a:t>
            </a:r>
          </a:p>
        </p:txBody>
      </p:sp>
      <p:sp>
        <p:nvSpPr>
          <p:cNvPr id="5" name="[11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2F9953ED-9E01-4C63-8123-54F6949E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23D993DB-823C-40E8-AEA9-8DBBB70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460163d15904ce8"/>
              </a:rPr>
              <a:t>https://arxiv.org/abs/1906.08935v2</a:t>
            </a:r>
          </a:p>
        </p:txBody>
      </p:sp>
      <p:sp>
        <p:nvSpPr>
          <p:cNvPr id="7" name="[12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C347AC23-2E7B-42AE-9DDC-4CA5C9D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DFA3D29D-64FC-44BB-9E17-6CCBA1D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710c3a633ce4941"/>
              </a:rPr>
              <a:t>https://aclanthology.org/2024.cl-3.8/</a:t>
            </a:r>
          </a:p>
        </p:txBody>
      </p:sp>
      <p:sp>
        <p:nvSpPr>
          <p:cNvPr id="9" name="[13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0495CE84-E960-465C-B37A-CD7C0B9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BC0DF6F8-09F4-4419-8A21-EB81940D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5305cf13d7a4a00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3B628-EEAA-476A-A7EA-21440D74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791EB96-1B4E-4067-83BE-C2A69043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22">
            <a:extLst xmlns:a="http://schemas.openxmlformats.org/drawingml/2006/main">
              <a:ext uri="{FF2B5EF4-FFF2-40B4-BE49-F238E27FC236}">
                <a16:creationId xmlns:a16="http://schemas.microsoft.com/office/drawing/2014/main" id="{7BB1DAB6-0D8F-4386-828E-37F61F5B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18560623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4/4">
            <a:extLst xmlns:a="http://schemas.openxmlformats.org/drawingml/2006/main">
              <a:ext uri="{FF2B5EF4-FFF2-40B4-BE49-F238E27FC236}">
                <a16:creationId xmlns:a16="http://schemas.microsoft.com/office/drawing/2014/main" id="{CFA74D44-5F21-4677-94B1-398152E2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E1E01A3D-0E29-4741-B966-326572FC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4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B09517C0-4B82-4E79-AFA0-C57C9541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F4C483F9-CC16-43CC-AD9B-5EA8B32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58d8731a9f24161"/>
              </a:rPr>
              <a:t>https://arxiv.org/abs/2106.11750v1</a:t>
            </a:r>
          </a:p>
        </p:txBody>
      </p:sp>
      <p:sp>
        <p:nvSpPr>
          <p:cNvPr id="5" name="[15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EA5A1AEB-A7C7-4FD8-AB98-570830EE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0361F6DD-8408-4EF9-9236-EAAD46F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b7d6da18f0d406f"/>
              </a:rPr>
              <a:t>https://www.oecd.org/en/topics/ai-principles.html</a:t>
            </a:r>
          </a:p>
        </p:txBody>
      </p:sp>
      <p:sp>
        <p:nvSpPr>
          <p:cNvPr id="7" name="[16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A5840178-153D-4B46-A588-061E3C93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34D674FD-5742-4E1E-B093-3F9B6892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bfb7afba78146ec"/>
              </a:rPr>
              <a:t>https://airc.nist.gov/airmf-resources/playbook/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26845-9A46-4314-8E1B-49753D8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D458B4D-6670-4AB9-B482-913FF1C9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1 / 22">
            <a:extLst xmlns:a="http://schemas.openxmlformats.org/drawingml/2006/main">
              <a:ext uri="{FF2B5EF4-FFF2-40B4-BE49-F238E27FC236}">
                <a16:creationId xmlns:a16="http://schemas.microsoft.com/office/drawing/2014/main" id="{CD51FB52-C900-4E48-91AB-5DE47FD2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11598586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4F552E68-C063-4DD4-9ADC-DFE8CD50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0A35775D-238F-4507-A45C-7758F811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6347B736-2AEF-453A-8BF3-5F992DC2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A9B6BE10-9638-4039-941D-955EB647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BCA6D93E-AD81-4BC0-8F28-C45832DA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EE87AB1A-9BEF-40B9-B0D1-658D933D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91ABE-E2A0-409D-924F-BCF7A6DC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094F6-102B-482C-AFA4-EA76AD90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DE2D585-2F47-4E65-9C10-1574CF8C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22 / 22">
            <a:extLst xmlns:a="http://schemas.openxmlformats.org/drawingml/2006/main">
              <a:ext uri="{FF2B5EF4-FFF2-40B4-BE49-F238E27FC236}">
                <a16:creationId xmlns:a16="http://schemas.microsoft.com/office/drawing/2014/main" id="{313ECD98-9F7B-4D16-9B6F-C8BB57A1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1336984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2026-10-08T12:46:59.3730000Z</dcterms:created>
  <dcterms:modified xsi:type="dcterms:W3CDTF">2026-10-08T12:46:59.3730000Z</dcterms:modified>
</coreProperties>
</file>