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a99b532f8f74620" /><Relationship Type="http://schemas.openxmlformats.org/officeDocument/2006/relationships/extended-properties" Target="/docProps/app.xml" Id="Ree585dab7a91481e" /><Relationship Type="http://schemas.openxmlformats.org/officeDocument/2006/relationships/officeDocument" Target="/ppt/presentation.xml" Id="Re04fe24c2c854de0" /></Relationships>
</file>

<file path=ppt/presentation.xml><?xml version="1.0" encoding="utf-8"?>
<p:presentation xmlns:p="http://schemas.openxmlformats.org/presentationml/2006/main">
  <p:sldMasterIdLst>
    <p:sldMasterId xmlns:r="http://schemas.openxmlformats.org/officeDocument/2006/relationships" id="2147483648" r:id="Rb10c8d960ead40a9"/>
  </p:sldMasterIdLst>
  <p:notesMasterIdLst>
    <p:notesMasterId xmlns:r="http://schemas.openxmlformats.org/officeDocument/2006/relationships" r:id="R66b66c037311493f"/>
  </p:notesMasterIdLst>
  <p:sldIdLst>
    <p:sldId xmlns:r="http://schemas.openxmlformats.org/officeDocument/2006/relationships" id="256" r:id="R83596db24b0944ce"/>
    <p:sldId xmlns:r="http://schemas.openxmlformats.org/officeDocument/2006/relationships" id="257" r:id="Rc94de04596d145af"/>
    <p:sldId xmlns:r="http://schemas.openxmlformats.org/officeDocument/2006/relationships" id="258" r:id="R8f47c033aa1145a2"/>
    <p:sldId xmlns:r="http://schemas.openxmlformats.org/officeDocument/2006/relationships" id="259" r:id="R4d004a8e1d18461b"/>
    <p:sldId xmlns:r="http://schemas.openxmlformats.org/officeDocument/2006/relationships" id="260" r:id="Re2877d28e91c4293"/>
    <p:sldId xmlns:r="http://schemas.openxmlformats.org/officeDocument/2006/relationships" id="261" r:id="R9d5515cd974a40e0"/>
    <p:sldId xmlns:r="http://schemas.openxmlformats.org/officeDocument/2006/relationships" id="262" r:id="R3d7cc3ffeab24fc4"/>
    <p:sldId xmlns:r="http://schemas.openxmlformats.org/officeDocument/2006/relationships" id="263" r:id="R4808f15ce0fd4e01"/>
    <p:sldId xmlns:r="http://schemas.openxmlformats.org/officeDocument/2006/relationships" id="264" r:id="R7e25748863234732"/>
    <p:sldId xmlns:r="http://schemas.openxmlformats.org/officeDocument/2006/relationships" id="265" r:id="Rd206bb21652b443e"/>
    <p:sldId xmlns:r="http://schemas.openxmlformats.org/officeDocument/2006/relationships" id="266" r:id="R2b5555afef6a45ca"/>
    <p:sldId xmlns:r="http://schemas.openxmlformats.org/officeDocument/2006/relationships" id="267" r:id="R999c3db32246429a"/>
    <p:sldId xmlns:r="http://schemas.openxmlformats.org/officeDocument/2006/relationships" id="268" r:id="R9d81346d898b4063"/>
    <p:sldId xmlns:r="http://schemas.openxmlformats.org/officeDocument/2006/relationships" id="269" r:id="R3c3e83e815ee46ec"/>
    <p:sldId xmlns:r="http://schemas.openxmlformats.org/officeDocument/2006/relationships" id="270" r:id="Rd9add943fb284dfe"/>
    <p:sldId xmlns:r="http://schemas.openxmlformats.org/officeDocument/2006/relationships" id="271" r:id="Rf3b5e39a52554395"/>
    <p:sldId xmlns:r="http://schemas.openxmlformats.org/officeDocument/2006/relationships" id="272" r:id="R791c9aa9493e4433"/>
    <p:sldId xmlns:r="http://schemas.openxmlformats.org/officeDocument/2006/relationships" id="273" r:id="Re8b23171a4624901"/>
    <p:sldId xmlns:r="http://schemas.openxmlformats.org/officeDocument/2006/relationships" id="274" r:id="R171701aa4b084928"/>
    <p:sldId xmlns:r="http://schemas.openxmlformats.org/officeDocument/2006/relationships" id="275" r:id="Rbdaa1da934be44cf"/>
    <p:sldId xmlns:r="http://schemas.openxmlformats.org/officeDocument/2006/relationships" id="276" r:id="Rf2bc337fed74464e"/>
    <p:sldId xmlns:r="http://schemas.openxmlformats.org/officeDocument/2006/relationships" id="277" r:id="R885c2403a6634cd4"/>
    <p:sldId xmlns:r="http://schemas.openxmlformats.org/officeDocument/2006/relationships" id="278" r:id="Rf6254ca2cbf747e5"/>
    <p:sldId xmlns:r="http://schemas.openxmlformats.org/officeDocument/2006/relationships" id="279" r:id="R4b36dc1fcb9b42c8"/>
    <p:sldId xmlns:r="http://schemas.openxmlformats.org/officeDocument/2006/relationships" id="280" r:id="R16194db5f67a4500"/>
    <p:sldId xmlns:r="http://schemas.openxmlformats.org/officeDocument/2006/relationships" id="281" r:id="Rcd4eedc719784d80"/>
    <p:sldId xmlns:r="http://schemas.openxmlformats.org/officeDocument/2006/relationships" id="282" r:id="R9b3a996600ac4b4d"/>
    <p:sldId xmlns:r="http://schemas.openxmlformats.org/officeDocument/2006/relationships" id="283" r:id="Ra43ef63acc164eb7"/>
    <p:sldId xmlns:r="http://schemas.openxmlformats.org/officeDocument/2006/relationships" id="284" r:id="Rd42acbbf91274b94"/>
    <p:sldId xmlns:r="http://schemas.openxmlformats.org/officeDocument/2006/relationships" id="285" r:id="R656af3865e0b42ac"/>
    <p:sldId xmlns:r="http://schemas.openxmlformats.org/officeDocument/2006/relationships" id="286" r:id="R2ceee494aef148b8"/>
    <p:sldId xmlns:r="http://schemas.openxmlformats.org/officeDocument/2006/relationships" id="287" r:id="Ra8c4c0b89ed74632"/>
    <p:sldId xmlns:r="http://schemas.openxmlformats.org/officeDocument/2006/relationships" id="288" r:id="R68c87d0f2d5d4bb9"/>
    <p:sldId xmlns:r="http://schemas.openxmlformats.org/officeDocument/2006/relationships" id="289" r:id="R4b588b5389cf46ce"/>
    <p:sldId xmlns:r="http://schemas.openxmlformats.org/officeDocument/2006/relationships" id="290" r:id="R25d4a57d3a214a74"/>
    <p:sldId xmlns:r="http://schemas.openxmlformats.org/officeDocument/2006/relationships" id="291" r:id="R8db72aa0871546fe"/>
    <p:sldId xmlns:r="http://schemas.openxmlformats.org/officeDocument/2006/relationships" id="292" r:id="Rfc390217ff2b4e64"/>
    <p:sldId xmlns:r="http://schemas.openxmlformats.org/officeDocument/2006/relationships" id="293" r:id="R2717b9216ff54ac0"/>
    <p:sldId xmlns:r="http://schemas.openxmlformats.org/officeDocument/2006/relationships" id="294" r:id="R0026389628fe4cf4"/>
    <p:sldId xmlns:r="http://schemas.openxmlformats.org/officeDocument/2006/relationships" id="295" r:id="R9044fd69c0424a75"/>
    <p:sldId xmlns:r="http://schemas.openxmlformats.org/officeDocument/2006/relationships" id="296" r:id="Raa144af8a87b439f"/>
    <p:sldId xmlns:r="http://schemas.openxmlformats.org/officeDocument/2006/relationships" id="297" r:id="R98cdd45fd48b401f"/>
    <p:sldId xmlns:r="http://schemas.openxmlformats.org/officeDocument/2006/relationships" id="298" r:id="R317fa360e53f46d3"/>
    <p:sldId xmlns:r="http://schemas.openxmlformats.org/officeDocument/2006/relationships" id="299" r:id="Red9b53296c47497e"/>
    <p:sldId xmlns:r="http://schemas.openxmlformats.org/officeDocument/2006/relationships" id="300" r:id="R6f46da2c8cf2482e"/>
    <p:sldId xmlns:r="http://schemas.openxmlformats.org/officeDocument/2006/relationships" id="301" r:id="R170b4af228cd40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945e4c53a54ec4" /><Relationship Type="http://schemas.openxmlformats.org/officeDocument/2006/relationships/slideMaster" Target="/ppt/slideMasters/slideMaster1.xml" Id="Rb10c8d960ead40a9" /><Relationship Type="http://schemas.openxmlformats.org/officeDocument/2006/relationships/notesMaster" Target="/ppt/notesMasters/notesMaster1.xml" Id="R66b66c037311493f" /><Relationship Type="http://schemas.openxmlformats.org/officeDocument/2006/relationships/presProps" Target="/ppt/presProps.xml" Id="R44878e412fff431b" /><Relationship Type="http://schemas.openxmlformats.org/officeDocument/2006/relationships/tableStyles" Target="/ppt/tableStyles.xml" Id="Rc9a8b158c9244b84" /><Relationship Type="http://schemas.openxmlformats.org/officeDocument/2006/relationships/slide" Target="/ppt/slides/slide1.xml" Id="R83596db24b0944ce" /><Relationship Type="http://schemas.openxmlformats.org/officeDocument/2006/relationships/slide" Target="/ppt/slides/slide2.xml" Id="Rc94de04596d145af" /><Relationship Type="http://schemas.openxmlformats.org/officeDocument/2006/relationships/slide" Target="/ppt/slides/slide3.xml" Id="R8f47c033aa1145a2" /><Relationship Type="http://schemas.openxmlformats.org/officeDocument/2006/relationships/slide" Target="/ppt/slides/slide4.xml" Id="R4d004a8e1d18461b" /><Relationship Type="http://schemas.openxmlformats.org/officeDocument/2006/relationships/slide" Target="/ppt/slides/slide5.xml" Id="Re2877d28e91c4293" /><Relationship Type="http://schemas.openxmlformats.org/officeDocument/2006/relationships/slide" Target="/ppt/slides/slide6.xml" Id="R9d5515cd974a40e0" /><Relationship Type="http://schemas.openxmlformats.org/officeDocument/2006/relationships/slide" Target="/ppt/slides/slide7.xml" Id="R3d7cc3ffeab24fc4" /><Relationship Type="http://schemas.openxmlformats.org/officeDocument/2006/relationships/slide" Target="/ppt/slides/slide8.xml" Id="R4808f15ce0fd4e01" /><Relationship Type="http://schemas.openxmlformats.org/officeDocument/2006/relationships/slide" Target="/ppt/slides/slide9.xml" Id="R7e25748863234732" /><Relationship Type="http://schemas.openxmlformats.org/officeDocument/2006/relationships/slide" Target="/ppt/slides/slide10.xml" Id="Rd206bb21652b443e" /><Relationship Type="http://schemas.openxmlformats.org/officeDocument/2006/relationships/slide" Target="/ppt/slides/slide11.xml" Id="R2b5555afef6a45ca" /><Relationship Type="http://schemas.openxmlformats.org/officeDocument/2006/relationships/slide" Target="/ppt/slides/slide12.xml" Id="R999c3db32246429a" /><Relationship Type="http://schemas.openxmlformats.org/officeDocument/2006/relationships/slide" Target="/ppt/slides/slide13.xml" Id="R9d81346d898b4063" /><Relationship Type="http://schemas.openxmlformats.org/officeDocument/2006/relationships/slide" Target="/ppt/slides/slide14.xml" Id="R3c3e83e815ee46ec" /><Relationship Type="http://schemas.openxmlformats.org/officeDocument/2006/relationships/slide" Target="/ppt/slides/slide15.xml" Id="Rd9add943fb284dfe" /><Relationship Type="http://schemas.openxmlformats.org/officeDocument/2006/relationships/slide" Target="/ppt/slides/slide16.xml" Id="Rf3b5e39a52554395" /><Relationship Type="http://schemas.openxmlformats.org/officeDocument/2006/relationships/slide" Target="/ppt/slides/slide17.xml" Id="R791c9aa9493e4433" /><Relationship Type="http://schemas.openxmlformats.org/officeDocument/2006/relationships/slide" Target="/ppt/slides/slide18.xml" Id="Re8b23171a4624901" /><Relationship Type="http://schemas.openxmlformats.org/officeDocument/2006/relationships/slide" Target="/ppt/slides/slide19.xml" Id="R171701aa4b084928" /><Relationship Type="http://schemas.openxmlformats.org/officeDocument/2006/relationships/slide" Target="/ppt/slides/slide20.xml" Id="Rbdaa1da934be44cf" /><Relationship Type="http://schemas.openxmlformats.org/officeDocument/2006/relationships/slide" Target="/ppt/slides/slide21.xml" Id="Rf2bc337fed74464e" /><Relationship Type="http://schemas.openxmlformats.org/officeDocument/2006/relationships/slide" Target="/ppt/slides/slide22.xml" Id="R885c2403a6634cd4" /><Relationship Type="http://schemas.openxmlformats.org/officeDocument/2006/relationships/slide" Target="/ppt/slides/slide23.xml" Id="Rf6254ca2cbf747e5" /><Relationship Type="http://schemas.openxmlformats.org/officeDocument/2006/relationships/slide" Target="/ppt/slides/slide24.xml" Id="R4b36dc1fcb9b42c8" /><Relationship Type="http://schemas.openxmlformats.org/officeDocument/2006/relationships/slide" Target="/ppt/slides/slide25.xml" Id="R16194db5f67a4500" /><Relationship Type="http://schemas.openxmlformats.org/officeDocument/2006/relationships/slide" Target="/ppt/slides/slide26.xml" Id="Rcd4eedc719784d80" /><Relationship Type="http://schemas.openxmlformats.org/officeDocument/2006/relationships/slide" Target="/ppt/slides/slide27.xml" Id="R9b3a996600ac4b4d" /><Relationship Type="http://schemas.openxmlformats.org/officeDocument/2006/relationships/slide" Target="/ppt/slides/slide28.xml" Id="Ra43ef63acc164eb7" /><Relationship Type="http://schemas.openxmlformats.org/officeDocument/2006/relationships/slide" Target="/ppt/slides/slide29.xml" Id="Rd42acbbf91274b94" /><Relationship Type="http://schemas.openxmlformats.org/officeDocument/2006/relationships/slide" Target="/ppt/slides/slide30.xml" Id="R656af3865e0b42ac" /><Relationship Type="http://schemas.openxmlformats.org/officeDocument/2006/relationships/slide" Target="/ppt/slides/slide31.xml" Id="R2ceee494aef148b8" /><Relationship Type="http://schemas.openxmlformats.org/officeDocument/2006/relationships/slide" Target="/ppt/slides/slide32.xml" Id="Ra8c4c0b89ed74632" /><Relationship Type="http://schemas.openxmlformats.org/officeDocument/2006/relationships/slide" Target="/ppt/slides/slide33.xml" Id="R68c87d0f2d5d4bb9" /><Relationship Type="http://schemas.openxmlformats.org/officeDocument/2006/relationships/slide" Target="/ppt/slides/slide34.xml" Id="R4b588b5389cf46ce" /><Relationship Type="http://schemas.openxmlformats.org/officeDocument/2006/relationships/slide" Target="/ppt/slides/slide35.xml" Id="R25d4a57d3a214a74" /><Relationship Type="http://schemas.openxmlformats.org/officeDocument/2006/relationships/slide" Target="/ppt/slides/slide36.xml" Id="R8db72aa0871546fe" /><Relationship Type="http://schemas.openxmlformats.org/officeDocument/2006/relationships/slide" Target="/ppt/slides/slide37.xml" Id="Rfc390217ff2b4e64" /><Relationship Type="http://schemas.openxmlformats.org/officeDocument/2006/relationships/slide" Target="/ppt/slides/slide38.xml" Id="R2717b9216ff54ac0" /><Relationship Type="http://schemas.openxmlformats.org/officeDocument/2006/relationships/slide" Target="/ppt/slides/slide39.xml" Id="R0026389628fe4cf4" /><Relationship Type="http://schemas.openxmlformats.org/officeDocument/2006/relationships/slide" Target="/ppt/slides/slide40.xml" Id="R9044fd69c0424a75" /><Relationship Type="http://schemas.openxmlformats.org/officeDocument/2006/relationships/slide" Target="/ppt/slides/slide41.xml" Id="Raa144af8a87b439f" /><Relationship Type="http://schemas.openxmlformats.org/officeDocument/2006/relationships/slide" Target="/ppt/slides/slide42.xml" Id="R98cdd45fd48b401f" /><Relationship Type="http://schemas.openxmlformats.org/officeDocument/2006/relationships/slide" Target="/ppt/slides/slide43.xml" Id="R317fa360e53f46d3" /><Relationship Type="http://schemas.openxmlformats.org/officeDocument/2006/relationships/slide" Target="/ppt/slides/slide44.xml" Id="Red9b53296c47497e" /><Relationship Type="http://schemas.openxmlformats.org/officeDocument/2006/relationships/slide" Target="/ppt/slides/slide45.xml" Id="R6f46da2c8cf2482e" /><Relationship Type="http://schemas.openxmlformats.org/officeDocument/2006/relationships/slide" Target="/ppt/slides/slide46.xml" Id="R170b4af228cd40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f09a5d7c924a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1d9de8e2bc4335" /><Relationship Type="http://schemas.openxmlformats.org/officeDocument/2006/relationships/notesMaster" Target="/ppt/notesMasters/notesMaster1.xml" Id="Rd637d4198bb74d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dbba1afb2f4522" /><Relationship Type="http://schemas.openxmlformats.org/officeDocument/2006/relationships/notesMaster" Target="/ppt/notesMasters/notesMaster1.xml" Id="R4fc219e12fae4a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27587b39684033" /><Relationship Type="http://schemas.openxmlformats.org/officeDocument/2006/relationships/notesMaster" Target="/ppt/notesMasters/notesMaster1.xml" Id="R2f14948d6e9f4b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d4341fc7a84bfe" /><Relationship Type="http://schemas.openxmlformats.org/officeDocument/2006/relationships/notesMaster" Target="/ppt/notesMasters/notesMaster1.xml" Id="R75be5b9aad9949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5a6376069649e5" /><Relationship Type="http://schemas.openxmlformats.org/officeDocument/2006/relationships/notesMaster" Target="/ppt/notesMasters/notesMaster1.xml" Id="R34ed770acafa42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f606448acd44d9" /><Relationship Type="http://schemas.openxmlformats.org/officeDocument/2006/relationships/notesMaster" Target="/ppt/notesMasters/notesMaster1.xml" Id="Rbb2ad9c7c3e343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911bba499d4938" /><Relationship Type="http://schemas.openxmlformats.org/officeDocument/2006/relationships/notesMaster" Target="/ppt/notesMasters/notesMaster1.xml" Id="R14004136816244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a2ee23713e427b" /><Relationship Type="http://schemas.openxmlformats.org/officeDocument/2006/relationships/notesMaster" Target="/ppt/notesMasters/notesMaster1.xml" Id="Rd89f8ccd206b4d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6700a714634769" /><Relationship Type="http://schemas.openxmlformats.org/officeDocument/2006/relationships/notesMaster" Target="/ppt/notesMasters/notesMaster1.xml" Id="Rb346de3938f04e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7c18fae8594483" /><Relationship Type="http://schemas.openxmlformats.org/officeDocument/2006/relationships/notesMaster" Target="/ppt/notesMasters/notesMaster1.xml" Id="Rabbb061302a14b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4eeed4ea7e46c2" /><Relationship Type="http://schemas.openxmlformats.org/officeDocument/2006/relationships/notesMaster" Target="/ppt/notesMasters/notesMaster1.xml" Id="R1700650590fa41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a749c4f7eb4465" /><Relationship Type="http://schemas.openxmlformats.org/officeDocument/2006/relationships/notesMaster" Target="/ppt/notesMasters/notesMaster1.xml" Id="R07367ca15c8941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c8f91df99d4c47" /><Relationship Type="http://schemas.openxmlformats.org/officeDocument/2006/relationships/notesMaster" Target="/ppt/notesMasters/notesMaster1.xml" Id="R0015b54fdf9044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2768c27e9949e9" /><Relationship Type="http://schemas.openxmlformats.org/officeDocument/2006/relationships/notesMaster" Target="/ppt/notesMasters/notesMaster1.xml" Id="Re31aace5cd8246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9b452df12d460c" /><Relationship Type="http://schemas.openxmlformats.org/officeDocument/2006/relationships/notesMaster" Target="/ppt/notesMasters/notesMaster1.xml" Id="R862433be16a94b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76f4b1e3b3402a" /><Relationship Type="http://schemas.openxmlformats.org/officeDocument/2006/relationships/notesMaster" Target="/ppt/notesMasters/notesMaster1.xml" Id="Rebbefe4427484a8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41324142b44c64" /><Relationship Type="http://schemas.openxmlformats.org/officeDocument/2006/relationships/notesMaster" Target="/ppt/notesMasters/notesMaster1.xml" Id="R658fa8e16a48463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d76ca458484b30" /><Relationship Type="http://schemas.openxmlformats.org/officeDocument/2006/relationships/notesMaster" Target="/ppt/notesMasters/notesMaster1.xml" Id="Rf654868f22bf4c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89ab76dac546c8" /><Relationship Type="http://schemas.openxmlformats.org/officeDocument/2006/relationships/notesMaster" Target="/ppt/notesMasters/notesMaster1.xml" Id="Rb9fe4792174d431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612356da84048ed" /><Relationship Type="http://schemas.openxmlformats.org/officeDocument/2006/relationships/notesMaster" Target="/ppt/notesMasters/notesMaster1.xml" Id="Rb61857200b5342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69a310d5eef466e" /><Relationship Type="http://schemas.openxmlformats.org/officeDocument/2006/relationships/notesMaster" Target="/ppt/notesMasters/notesMaster1.xml" Id="R2b802b72a1ea4b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90eaae47764579" /><Relationship Type="http://schemas.openxmlformats.org/officeDocument/2006/relationships/notesMaster" Target="/ppt/notesMasters/notesMaster1.xml" Id="Rbb9a1bc4eedb400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ed5e5145c04d76" /><Relationship Type="http://schemas.openxmlformats.org/officeDocument/2006/relationships/notesMaster" Target="/ppt/notesMasters/notesMaster1.xml" Id="R6625bc29cf414d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494ac6e75c4475b" /><Relationship Type="http://schemas.openxmlformats.org/officeDocument/2006/relationships/notesMaster" Target="/ppt/notesMasters/notesMaster1.xml" Id="Rb1776cba3d50425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438a19ce6e74e35" /><Relationship Type="http://schemas.openxmlformats.org/officeDocument/2006/relationships/notesMaster" Target="/ppt/notesMasters/notesMaster1.xml" Id="Rff7c71e6572645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6b4fb363f94955" /><Relationship Type="http://schemas.openxmlformats.org/officeDocument/2006/relationships/notesMaster" Target="/ppt/notesMasters/notesMaster1.xml" Id="R9baa92bc7e3c419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5b530e40fb44b85" /><Relationship Type="http://schemas.openxmlformats.org/officeDocument/2006/relationships/notesMaster" Target="/ppt/notesMasters/notesMaster1.xml" Id="R52b31d21ccb140b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5d3678948a64bf9" /><Relationship Type="http://schemas.openxmlformats.org/officeDocument/2006/relationships/notesMaster" Target="/ppt/notesMasters/notesMaster1.xml" Id="R024df83b8d1f4e9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5303ae50ff48ce" /><Relationship Type="http://schemas.openxmlformats.org/officeDocument/2006/relationships/notesMaster" Target="/ppt/notesMasters/notesMaster1.xml" Id="Ra0a1299830d241f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f41f9c2e708441d" /><Relationship Type="http://schemas.openxmlformats.org/officeDocument/2006/relationships/notesMaster" Target="/ppt/notesMasters/notesMaster1.xml" Id="Re5b55808ac77452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8e025a486c44100" /><Relationship Type="http://schemas.openxmlformats.org/officeDocument/2006/relationships/notesMaster" Target="/ppt/notesMasters/notesMaster1.xml" Id="R20355bba23a04a0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ccea362792d491f" /><Relationship Type="http://schemas.openxmlformats.org/officeDocument/2006/relationships/notesMaster" Target="/ppt/notesMasters/notesMaster1.xml" Id="R4066b3b90b2c403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aa58f40913f458d" /><Relationship Type="http://schemas.openxmlformats.org/officeDocument/2006/relationships/notesMaster" Target="/ppt/notesMasters/notesMaster1.xml" Id="R617f641ede244dd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19bf0f8a9f34079" /><Relationship Type="http://schemas.openxmlformats.org/officeDocument/2006/relationships/notesMaster" Target="/ppt/notesMasters/notesMaster1.xml" Id="R0defb0093481437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5fabd2183e740f8" /><Relationship Type="http://schemas.openxmlformats.org/officeDocument/2006/relationships/notesMaster" Target="/ppt/notesMasters/notesMaster1.xml" Id="Rcd8b8b8145ad4af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4eaf5d4dd414373" /><Relationship Type="http://schemas.openxmlformats.org/officeDocument/2006/relationships/notesMaster" Target="/ppt/notesMasters/notesMaster1.xml" Id="R9c1ad5e21f474f7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a05592da98e4f12" /><Relationship Type="http://schemas.openxmlformats.org/officeDocument/2006/relationships/notesMaster" Target="/ppt/notesMasters/notesMaster1.xml" Id="R083df6988db441e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4547e1171154d97" /><Relationship Type="http://schemas.openxmlformats.org/officeDocument/2006/relationships/notesMaster" Target="/ppt/notesMasters/notesMaster1.xml" Id="Re3b90594bd464da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b6be591f58748b9" /><Relationship Type="http://schemas.openxmlformats.org/officeDocument/2006/relationships/notesMaster" Target="/ppt/notesMasters/notesMaster1.xml" Id="Rbacdf4e7bffe47f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e92de19dc144e22" /><Relationship Type="http://schemas.openxmlformats.org/officeDocument/2006/relationships/notesMaster" Target="/ppt/notesMasters/notesMaster1.xml" Id="R303d341bd2eb4f5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f57d44d28f54ba7" /><Relationship Type="http://schemas.openxmlformats.org/officeDocument/2006/relationships/notesMaster" Target="/ppt/notesMasters/notesMaster1.xml" Id="Rc9a1d83d99164c5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0b00c6fbc7e459d" /><Relationship Type="http://schemas.openxmlformats.org/officeDocument/2006/relationships/notesMaster" Target="/ppt/notesMasters/notesMaster1.xml" Id="R3fa85a337837471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14c0c51ca264334" /><Relationship Type="http://schemas.openxmlformats.org/officeDocument/2006/relationships/notesMaster" Target="/ppt/notesMasters/notesMaster1.xml" Id="Re08b9ecede75431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c227c88c03e4536" /><Relationship Type="http://schemas.openxmlformats.org/officeDocument/2006/relationships/notesMaster" Target="/ppt/notesMasters/notesMaster1.xml" Id="Rc47b6cf0ccc84f9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6f8578d962e415f" /><Relationship Type="http://schemas.openxmlformats.org/officeDocument/2006/relationships/notesMaster" Target="/ppt/notesMasters/notesMaster1.xml" Id="Rb28fc28b6684441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1005cf67d2e4027" /><Relationship Type="http://schemas.openxmlformats.org/officeDocument/2006/relationships/notesMaster" Target="/ppt/notesMasters/notesMaster1.xml" Id="Rc339d3f6ae3a43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r>
              <a:t/>
            </a:r>
          </a:p>
          <a:p xmlns:a="http://schemas.openxmlformats.org/drawingml/2006/main">
            <a:r>
              <a:t>We address GPU image rotation and responsible HPC scaling. The appendix retains our full implementation, research and calculations.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The CPU loads and decodes an image into host RAM, allocates separate device input and output buffers, and launches the GPU work. DMA transfers decoded pixels to GPU memory over PCIe. The kernel rotates the pixels, and completed output returns to host RAM for saving. GPU memory bandwidth is different from link bandwidth. Pinned RAM supports efficient transfer; pageable memory may require staging.</a:t>
            </a:r>
          </a:p>
          <a:p xmlns:a="http://schemas.openxmlformats.org/drawingml/2006/main">
            <a:r>
              <a:t/>
            </a:r>
          </a:p>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Each thread owns one output pixel. Inverse rotation gathers the nearest source pixel, avoiding scatter holes. With y pointing down, positive angles are visually counterclockwise. Copy three RGB channels, or write black when rounded source indices fall outside the image. Separate output locations require no atomics or barrier. The fixed canvas can crop corners and nearest-neighbour sampling can alias. Full kernels and a worked example remain in the appendix.</a:t>
            </a:r>
          </a:p>
          <a:p xmlns:a="http://schemas.openxmlformats.org/drawingml/2006/main">
            <a:r>
              <a:t/>
            </a:r>
          </a:p>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The CPU launches a grid of blocks; each block contains threads. A sixteen-by-sixteen block has two hundred and fifty-six threads, or eight warps. For a one-thousand-and-twenty-four-square image, the grid is sixty-four by sixty-four blocks. Each thread computes its global pixel coordinate and checks the image boundary. Streaming multiprocessors schedule resident warps using SIMT. The brightness excerpt shows a second independent pixel operation with clamping. More resident warps can hide latency, but registers and divergence affect execution; these examples are uncompiled.</a:t>
            </a:r>
          </a:p>
          <a:p xmlns:a="http://schemas.openxmlformats.org/drawingml/2006/main">
            <a:r>
              <a:t/>
            </a:r>
          </a:p>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Compare identical rotation against one CPU thread and a multithreaded CPU. GPU execution units and memory bandwidth favor parallel work. Coalesced output writes help; rotated gathers can limit bandwidth. Include setup, both transfers and completed kernel execution in timing. Streams can overlap work with supporting hardware and pinned buffers. Serial work and transfers bound gains. No measured speedup is claimed.</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Conventional storage reads stage bytes in host RAM. GPUDirect Storage can move bytes directly into GPU memory using storage-side DMA; the CPU still issues cuFile requests. GDS does not decode images or speed rotation arithmetic. Our CPU-decoded path needs host RAM. Consider supported storage-bound GPU-ready batches or compatible GPU decoding only after measuring completed workload benefits. Fallback may still stage through RAM.</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Scaling a cluster increases both compute capacity and communication costs. Faster completion need not mean lower energy. The IEA estimates four hundred and eighty-five terawatt-hours of data-centre electricity in twenty twenty-five and projects nine hundred and fifty in twenty thirty. These are whole-sector figures, not one model’s footprint. The growth categories overlap and must not be added. Green AI emphasizes efficiency per useful outcome; water-footprint research adds place and time constraints. We propose measuring whole-job energy, carbon intensity and local cooling impacts, including tuning and failed runs. Hardware manufacture adds embodied impacts. Job-level equations, a faster-but-higher-energy example and research limits are in the appendix.</a:t>
            </a:r>
          </a:p>
          <a:p xmlns:a="http://schemas.openxmlformats.org/drawingml/2006/main">
            <a:r>
              <a:t/>
            </a:r>
          </a:p>
          <a:p xmlns:a="http://schemas.openxmlformats.org/drawingml/2006/main">
            <a:r>
              <a:t>[6] International Energy Agency, Key Questions on Energy and AI, executive summary, Apr. 16, 2026, CC BY 4.0, accessed Oct. 8, 2026.</a:t>
            </a:r>
          </a:p>
          <a:p xmlns:a="http://schemas.openxmlformats.org/drawingml/2006/main">
            <a:r>
              <a:t>https://www.iea.org/reports/key-questions-on-energy-and-ai/executive-summary</a:t>
            </a:r>
          </a:p>
          <a:p xmlns:a="http://schemas.openxmlformats.org/drawingml/2006/main">
            <a:r>
              <a:t/>
            </a:r>
          </a:p>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Distributed training exchanges gradients and stores checkpoints across workers, increasing the assets and replicas to protect. Zhu and colleagues show input reconstruction from exposed gradients in studied settings; this is not proof that every production collective leaks. Use least privilege, isolation, protected transport and storage, plus provenance, permissions, deletion and dual-use review with named owners. Fairness is a separate concern. Gallegos and colleagues distinguish evaluation metrics, datasets and mitigation stages. Large compute enables evaluation but does not guarantee representative data or fair outputs. Reserve evaluation compute for affected groups, choose harm-specific criteria, test disaggregated outcomes and reevaluate after mitigation. Encryption does not establish fairness, and HPC itself is not claimed to cause bias.</a:t>
            </a:r>
          </a:p>
          <a:p xmlns:a="http://schemas.openxmlformats.org/drawingml/2006/main">
            <a:r>
              <a:t/>
            </a:r>
          </a:p>
          <a:p xmlns:a="http://schemas.openxmlformats.org/drawingml/2006/main">
            <a:r>
              <a:t>[11] L. Zhu, Z. Liu, and S. Han, “Deep leakage from gradients,” arXiv:1906.08935v2, 2019.</a:t>
            </a:r>
          </a:p>
          <a:p xmlns:a="http://schemas.openxmlformats.org/drawingml/2006/main">
            <a:r>
              <a:t>https://arxiv.org/abs/1906.08935v2</a:t>
            </a:r>
          </a:p>
          <a:p xmlns:a="http://schemas.openxmlformats.org/drawingml/2006/main">
            <a:r>
              <a:t/>
            </a:r>
          </a:p>
          <a:p xmlns:a="http://schemas.openxmlformats.org/drawingml/2006/main">
            <a:r>
              <a:t>[12] I. O. Gallegos et al., “Bias and fairness in large language models: A survey,” Computational Linguistics, vol. 50, no. 3, pp. 1097–1179, 2024, doi: 10.1162/coli_a_00524.</a:t>
            </a:r>
          </a:p>
          <a:p xmlns:a="http://schemas.openxmlformats.org/drawingml/2006/main">
            <a:r>
              <a:t>https://aclanthology.org/2024.cl-3.8/</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Compute concentration affects who can train models and reproduce findings. Ahmed and Wahed examine historical institutional participation, while Strubell and colleagues examine costs of selected workloads; their scopes differ. NAIRR is a current US shared-resource response, but participation numbers do not prove worldwide equality. We propose published GPU-hour allocation rules, smaller-institution and replication capacity, training and appeals. Track waiting times and awards. Reserved access can reduce immediate utilization, so prevent resource starvation while balancing urgent work.</a:t>
            </a:r>
          </a:p>
          <a:p xmlns:a="http://schemas.openxmlformats.org/drawingml/2006/main">
            <a:r>
              <a:t/>
            </a:r>
          </a:p>
          <a:p xmlns:a="http://schemas.openxmlformats.org/drawingml/2006/main">
            <a:r>
              <a:t>[7] U.S. National Science Foundation, “NAIRR at 2 years: Advancing American artificial intelligence innovation and leadership,” Mar. 19, 2026, accessed Oct. 8, 2026.</a:t>
            </a:r>
          </a:p>
          <a:p xmlns:a="http://schemas.openxmlformats.org/drawingml/2006/main">
            <a:r>
              <a:t>https://www.nsf.gov/cise/updates/nairr-2-years-advancing-american-artificial-intelligence</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Our proposal combines OECD rights and accountability, NIST risk management, Green AI measurement and carbon-aware scheduling. Govern assigns ownership throughout. Map defines the use, stakeholders and alternatives. Measure records quality, energy, security and group harms. Manage approves, defers, reduces scale or redesigns. Shift flexible jobs toward lower-carbon windows only when deadlines, water constraints and equitable waiting limits remain satisfied. An accountable owner records exceptions; forecast uncertainty and urgent work can override deferral. This is an iterative proposed policy, not a certification.</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20 seconds.</a:t>
            </a:r>
          </a:p>
          <a:p xmlns:a="http://schemas.openxmlformats.org/drawingml/2006/main">
            <a:r>
              <a:t/>
            </a:r>
          </a:p>
          <a:p xmlns:a="http://schemas.openxmlformats.org/drawingml/2006/main">
            <a:r>
              <a:t>CUDA is promising for independent pixels, but performance needs measurement. Responsible HPC requires useful outcomes, protected data and equitable access. Next, compile and validate the rotation, then measure a real cluster job and revise decisions using evidence.</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NVIDIA, “Parallelism strategies guide,” Megatron Core, online documentation, accessed Oct. 8, 2026.</a:t>
            </a:r>
          </a:p>
          <a:p xmlns:a="http://schemas.openxmlformats.org/drawingml/2006/main">
            <a:r>
              <a:t>https://docs.nvidia.com/megatron-core/developer-guide/latest/user-guide/parallelism-guide.html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International Energy Agency, Key Questions on Energy and AI, executive summary, Apr. 16, 2026, CC BY 4.0, accessed Oct. 8, 2026.</a:t>
            </a:r>
          </a:p>
          <a:p xmlns:a="http://schemas.openxmlformats.org/drawingml/2006/main">
            <a:r>
              <a:t>https://www.iea.org/reports/key-questions-on-energy-and-ai/executive-summary</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L. Zhu, Z. Liu, and S. Han, “Deep leakage from gradients,” arXiv:1906.08935v2, 2019.</a:t>
            </a:r>
          </a:p>
          <a:p xmlns:a="http://schemas.openxmlformats.org/drawingml/2006/main">
            <a:r>
              <a:t>https://arxiv.org/abs/1906.08935v2</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I. O. Gallegos et al., “Bias and fairness in large language models: A survey,” Computational Linguistics, vol. 50, no. 3, pp. 1097–1179, 2024, doi: 10.1162/coli_a_00524.</a:t>
            </a:r>
          </a:p>
          <a:p xmlns:a="http://schemas.openxmlformats.org/drawingml/2006/main">
            <a:r>
              <a:t>https://aclanthology.org/2024.cl-3.8/</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U.S. National Science Foundation, “NAIRR at 2 years: Advancing American artificial intelligence innovation and leadership,” Mar. 19, 2026, accessed Oct. 8, 2026.</a:t>
            </a:r>
          </a:p>
          <a:p xmlns:a="http://schemas.openxmlformats.org/drawingml/2006/main">
            <a:r>
              <a:t>https://www.nsf.gov/cise/updates/nairr-2-years-advancing-american-artificial-intelligence</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U.S. National Science Foundation, “NAIRR at 2 years: Advancing American artificial intelligence innovation and leadership,” Mar. 19, 2026, accessed Oct. 8, 2026.</a:t>
            </a:r>
          </a:p>
          <a:p xmlns:a="http://schemas.openxmlformats.org/drawingml/2006/main">
            <a:r>
              <a:t>https://www.nsf.gov/cise/updates/nairr-2-years-advancing-american-artificial-intelligence</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NVIDIA, “Rotate,” NPP Image Geometry Transforms, CUDA 13.0.3 archive documentation, accessed Oct. 8, 2026.</a:t>
            </a:r>
          </a:p>
          <a:p xmlns:a="http://schemas.openxmlformats.org/drawingml/2006/main">
            <a:r>
              <a:t>https://docs.nvidia.com/cuda/archive/13.0.3/npp/image_geometry_transforms.html#rotate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NVIDIA, “Parallelism strategies guide,” Megatron Core, online documentation, accessed Oct. 8, 2026.</a:t>
            </a:r>
          </a:p>
          <a:p xmlns:a="http://schemas.openxmlformats.org/drawingml/2006/main">
            <a:r>
              <a:t>https://docs.nvidia.com/megatron-core/developer-guide/latest/user-guide/parallelism-guide.html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[11] L. Zhu, Z. Liu, and S. Han, “Deep leakage from gradients,” arXiv:1906.08935v2, 2019.</a:t>
            </a:r>
          </a:p>
          <a:p xmlns:a="http://schemas.openxmlformats.org/drawingml/2006/main">
            <a:r>
              <a:t>https://arxiv.org/abs/1906.08935v2</a:t>
            </a:r>
          </a:p>
          <a:p xmlns:a="http://schemas.openxmlformats.org/drawingml/2006/main">
            <a:r>
              <a:t/>
            </a:r>
          </a:p>
          <a:p xmlns:a="http://schemas.openxmlformats.org/drawingml/2006/main">
            <a:r>
              <a:t>[12] I. O. Gallegos et al., “Bias and fairness in large language models: A survey,” Computational Linguistics, vol. 50, no. 3, pp. 1097–1179, 2024, doi: 10.1162/coli_a_00524.</a:t>
            </a:r>
          </a:p>
          <a:p xmlns:a="http://schemas.openxmlformats.org/drawingml/2006/main">
            <a:r>
              <a:t>https://aclanthology.org/2024.cl-3.8/</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12aa61ae214d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01e52a36d64a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729ff41f0247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03c6c5255348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88255139f449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efcb9fd15545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A6690B-739E-4A4B-817E-650449B77D3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74B2AC-4092-40BB-B474-24ECFE6C98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92844C-71E0-4E6C-8640-26DDFDE09C5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A9CBB5-B401-4DC5-8040-8F828D3E9E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3E348D-0881-4CF9-8AAE-11C6926AFC4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DDF41E-B764-4290-8F84-FC8F63D607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72711D-9041-4F7A-8D4A-C6C7F142D5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B8226E-7A05-4684-8C7C-8BC5F28E197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B1B6E8-450D-4D57-BF78-5DE69C40D6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D275C1-D408-4D3B-9816-6A48F2A30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40684884394be6" /><Relationship Type="http://schemas.openxmlformats.org/officeDocument/2006/relationships/slideLayout" Target="/ppt/slideLayouts/slideLayout1.xml" Id="R1a311f9440074071" /><Relationship Type="http://schemas.openxmlformats.org/officeDocument/2006/relationships/slideLayout" Target="/ppt/slideLayouts/slideLayout2.xml" Id="Ra2e83317f8684553" /><Relationship Type="http://schemas.openxmlformats.org/officeDocument/2006/relationships/slideLayout" Target="/ppt/slideLayouts/slideLayout3.xml" Id="R3f1d74b7d14d40a1" /><Relationship Type="http://schemas.openxmlformats.org/officeDocument/2006/relationships/slideLayout" Target="/ppt/slideLayouts/slideLayout4.xml" Id="Rc4d3d2d3d9d143f4" /><Relationship Type="http://schemas.openxmlformats.org/officeDocument/2006/relationships/slideLayout" Target="/ppt/slideLayouts/slideLayout5.xml" Id="R5b7198504a314bd8" /><Relationship Type="http://schemas.openxmlformats.org/officeDocument/2006/relationships/slideLayout" Target="/ppt/slideLayouts/slideLayout6.xml" Id="Rc8e7f30123c346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311f9440074071"/>
    <p:sldLayoutId xmlns:r="http://schemas.openxmlformats.org/officeDocument/2006/relationships" id="2147483650" r:id="Ra2e83317f8684553"/>
    <p:sldLayoutId xmlns:r="http://schemas.openxmlformats.org/officeDocument/2006/relationships" id="2147483651" r:id="R3f1d74b7d14d40a1"/>
    <p:sldLayoutId xmlns:r="http://schemas.openxmlformats.org/officeDocument/2006/relationships" id="2147483652" r:id="Rc4d3d2d3d9d143f4"/>
    <p:sldLayoutId xmlns:r="http://schemas.openxmlformats.org/officeDocument/2006/relationships" id="2147483653" r:id="R5b7198504a314bd8"/>
    <p:sldLayoutId xmlns:r="http://schemas.openxmlformats.org/officeDocument/2006/relationships" id="2147483654" r:id="Rc8e7f30123c346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77e1b71e8ef4f29" /><Relationship Type="http://schemas.openxmlformats.org/officeDocument/2006/relationships/notesSlide" Target="/ppt/notesSlides/notesSlide1.xml" Id="Rc6faafd9c29145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c72d9522f845ac" /><Relationship Type="http://schemas.openxmlformats.org/officeDocument/2006/relationships/notesSlide" Target="/ppt/notesSlides/notesSlide2.xml" Id="Ra31baf10bdab45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7902c2049b49dc" /><Relationship Type="http://schemas.openxmlformats.org/officeDocument/2006/relationships/notesSlide" Target="/ppt/notesSlides/notesSlide3.xml" Id="Rb1278ee0f5da47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db8d642b744b25" /><Relationship Type="http://schemas.openxmlformats.org/officeDocument/2006/relationships/notesSlide" Target="/ppt/notesSlides/notesSlide4.xml" Id="R6d2e13dd18bf4c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1beb8c92f44297" /><Relationship Type="http://schemas.openxmlformats.org/officeDocument/2006/relationships/notesSlide" Target="/ppt/notesSlides/notesSlide5.xml" Id="R791c96a143f040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a12276a17d491a" /><Relationship Type="http://schemas.openxmlformats.org/officeDocument/2006/relationships/notesSlide" Target="/ppt/notesSlides/notesSlide6.xml" Id="R695ac5ae68044e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5a2b6617c4046e5" /><Relationship Type="http://schemas.openxmlformats.org/officeDocument/2006/relationships/chart" Target="/ppt/slides/charts/chart1.xml" Id="R375600b549194389" /><Relationship Type="http://schemas.openxmlformats.org/officeDocument/2006/relationships/chart" Target="/ppt/slides/charts/chart2.xml" Id="R9671abaea9204d50" /><Relationship Type="http://schemas.openxmlformats.org/officeDocument/2006/relationships/notesSlide" Target="/ppt/notesSlides/notesSlide7.xml" Id="R1e72421fd09049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bd57f3f0ce64d5c" /><Relationship Type="http://schemas.openxmlformats.org/officeDocument/2006/relationships/notesSlide" Target="/ppt/notesSlides/notesSlide8.xml" Id="R3463a5df9be24c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a89c603b50453b" /><Relationship Type="http://schemas.openxmlformats.org/officeDocument/2006/relationships/notesSlide" Target="/ppt/notesSlides/notesSlide9.xml" Id="R6035aa7dc1364f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c7e58b1cda4e9d" /><Relationship Type="http://schemas.openxmlformats.org/officeDocument/2006/relationships/notesSlide" Target="/ppt/notesSlides/notesSlide10.xml" Id="Rd4595ae13dd941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3fb0e353964896" /><Relationship Type="http://schemas.openxmlformats.org/officeDocument/2006/relationships/notesSlide" Target="/ppt/notesSlides/notesSlide11.xml" Id="R03bfd17c0a514d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c9e6795fdd4ada" /><Relationship Type="http://schemas.openxmlformats.org/officeDocument/2006/relationships/notesSlide" Target="/ppt/notesSlides/notesSlide12.xml" Id="R506375f943f545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540216fcff448c2" /><Relationship Type="http://schemas.openxmlformats.org/officeDocument/2006/relationships/notesSlide" Target="/ppt/notesSlides/notesSlide13.xml" Id="R62ce82bd622b48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5ef8e41120e4804" /><Relationship Type="http://schemas.openxmlformats.org/officeDocument/2006/relationships/notesSlide" Target="/ppt/notesSlides/notesSlide14.xml" Id="R8109929477f249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6f4000b2ce44c9e" /><Relationship Type="http://schemas.openxmlformats.org/officeDocument/2006/relationships/notesSlide" Target="/ppt/notesSlides/notesSlide15.xml" Id="R44dbdd95ad8e45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d096ceb74d24664" /><Relationship Type="http://schemas.openxmlformats.org/officeDocument/2006/relationships/notesSlide" Target="/ppt/notesSlides/notesSlide16.xml" Id="Rb8d6a2984d7b4f3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555b8b84a144380" /><Relationship Type="http://schemas.openxmlformats.org/officeDocument/2006/relationships/notesSlide" Target="/ppt/notesSlides/notesSlide17.xml" Id="R527ef293baab48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6e2bd2283c34851" /><Relationship Type="http://schemas.openxmlformats.org/officeDocument/2006/relationships/notesSlide" Target="/ppt/notesSlides/notesSlide18.xml" Id="Rb5e7bddb086d44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737cbf9d6c94f43" /><Relationship Type="http://schemas.openxmlformats.org/officeDocument/2006/relationships/notesSlide" Target="/ppt/notesSlides/notesSlide19.xml" Id="R4a6ff90237854b8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c1e00c65a13456c" /><Relationship Type="http://schemas.openxmlformats.org/officeDocument/2006/relationships/notesSlide" Target="/ppt/notesSlides/notesSlide20.xml" Id="R67a471fc0384478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b98f2ad06584503" /><Relationship Type="http://schemas.openxmlformats.org/officeDocument/2006/relationships/notesSlide" Target="/ppt/notesSlides/notesSlide21.xml" Id="Rbf5e5814d6204e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cfb7dd322a24083" /><Relationship Type="http://schemas.openxmlformats.org/officeDocument/2006/relationships/notesSlide" Target="/ppt/notesSlides/notesSlide22.xml" Id="R76f282db06f94eb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50b36c423d3496e" /><Relationship Type="http://schemas.openxmlformats.org/officeDocument/2006/relationships/notesSlide" Target="/ppt/notesSlides/notesSlide23.xml" Id="Rf7ec17b7c9a84f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ab5e450daa04696" /><Relationship Type="http://schemas.openxmlformats.org/officeDocument/2006/relationships/notesSlide" Target="/ppt/notesSlides/notesSlide24.xml" Id="R5ba41e6ef9d243c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ce886132ee74e83" /><Relationship Type="http://schemas.openxmlformats.org/officeDocument/2006/relationships/notesSlide" Target="/ppt/notesSlides/notesSlide25.xml" Id="R9e5fe2250c25452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ab730676ae6420f" /><Relationship Type="http://schemas.openxmlformats.org/officeDocument/2006/relationships/notesSlide" Target="/ppt/notesSlides/notesSlide26.xml" Id="R25edb97f21d643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220e07432fc4560" /><Relationship Type="http://schemas.openxmlformats.org/officeDocument/2006/relationships/notesSlide" Target="/ppt/notesSlides/notesSlide27.xml" Id="R8c2544f44a384b3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bed0d3bc8224c44" /><Relationship Type="http://schemas.openxmlformats.org/officeDocument/2006/relationships/notesSlide" Target="/ppt/notesSlides/notesSlide28.xml" Id="R4c7a305728fa4a0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1c163433ee645f0" /><Relationship Type="http://schemas.openxmlformats.org/officeDocument/2006/relationships/notesSlide" Target="/ppt/notesSlides/notesSlide29.xml" Id="Rd6bc483db615440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c8c07e322794485" /><Relationship Type="http://schemas.openxmlformats.org/officeDocument/2006/relationships/notesSlide" Target="/ppt/notesSlides/notesSlide30.xml" Id="R146cf9f7fd2f4d2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d9e3a0e6aaa4071" /><Relationship Type="http://schemas.openxmlformats.org/officeDocument/2006/relationships/notesSlide" Target="/ppt/notesSlides/notesSlide31.xml" Id="R541a096c89b947d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55431d716c04106" /><Relationship Type="http://schemas.openxmlformats.org/officeDocument/2006/relationships/notesSlide" Target="/ppt/notesSlides/notesSlide32.xml" Id="Raf93be70ca0d49f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1443d7fb9a94084" /><Relationship Type="http://schemas.openxmlformats.org/officeDocument/2006/relationships/notesSlide" Target="/ppt/notesSlides/notesSlide33.xml" Id="R3275754b0e694ea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ca5604a6b1c4557" /><Relationship Type="http://schemas.openxmlformats.org/officeDocument/2006/relationships/notesSlide" Target="/ppt/notesSlides/notesSlide34.xml" Id="R9596514fef4a491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34950fd09104d81" /><Relationship Type="http://schemas.openxmlformats.org/officeDocument/2006/relationships/notesSlide" Target="/ppt/notesSlides/notesSlide35.xml" Id="Rc5076bb8d4ff473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b294ed128ed446b" /><Relationship Type="http://schemas.openxmlformats.org/officeDocument/2006/relationships/notesSlide" Target="/ppt/notesSlides/notesSlide36.xml" Id="Rbd2934dfdbff46a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fcb59303bce40e4" /><Relationship Type="http://schemas.openxmlformats.org/officeDocument/2006/relationships/notesSlide" Target="/ppt/notesSlides/notesSlide37.xml" Id="R3177a1106fb34a5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7b0cbce8d094c06" /><Relationship Type="http://schemas.openxmlformats.org/officeDocument/2006/relationships/notesSlide" Target="/ppt/notesSlides/notesSlide38.xml" Id="Rb89668907f67408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b1e622b582e46ca" /><Relationship Type="http://schemas.openxmlformats.org/officeDocument/2006/relationships/notesSlide" Target="/ppt/notesSlides/notesSlide39.xml" Id="R8db63d9138ff469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1a60024a0b84c6f" /><Relationship Type="http://schemas.openxmlformats.org/officeDocument/2006/relationships/notesSlide" Target="/ppt/notesSlides/notesSlide40.xml" Id="Re67b2f5bb67749a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967d7868a07429c" /><Relationship Type="http://schemas.openxmlformats.org/officeDocument/2006/relationships/notesSlide" Target="/ppt/notesSlides/notesSlide41.xml" Id="R460aca41bd554d8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d49dcbc90a4466c" /><Relationship Type="http://schemas.openxmlformats.org/officeDocument/2006/relationships/hyperlink" Target="https://docs.nvidia.com/cuda/cuda-programming-guide/01-introduction/programming-model.html" TargetMode="External" Id="R7cdbd4dcc1584716" /><Relationship Type="http://schemas.openxmlformats.org/officeDocument/2006/relationships/hyperlink" Target="https://docs.nvidia.com/cuda/cuda-c-best-practices-guide/index.html" TargetMode="External" Id="Rec29219a72ed42a0" /><Relationship Type="http://schemas.openxmlformats.org/officeDocument/2006/relationships/hyperlink" Target="https://docs.nvidia.com/gpudirect-storage/overview-guide/index.html" TargetMode="External" Id="Rb9f69387408b49e2" /><Relationship Type="http://schemas.openxmlformats.org/officeDocument/2006/relationships/hyperlink" Target="https://docs.nvidia.com/gpudirect-storage/design-guide/index.html" TargetMode="External" Id="R95e1e618d211431d" /><Relationship Type="http://schemas.openxmlformats.org/officeDocument/2006/relationships/notesSlide" Target="/ppt/notesSlides/notesSlide42.xml" Id="R1ad7a2fc840b49a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8e4e9fa08994b8a" /><Relationship Type="http://schemas.openxmlformats.org/officeDocument/2006/relationships/hyperlink" Target="https://docs.nvidia.com/megatron-core/developer-guide/latest/user-guide/parallelism-guide.html" TargetMode="External" Id="Ra593dc04fc5e407a" /><Relationship Type="http://schemas.openxmlformats.org/officeDocument/2006/relationships/hyperlink" Target="https://www.iea.org/reports/key-questions-on-energy-and-ai/executive-summary" TargetMode="External" Id="R7ae2c7ce454e4c59" /><Relationship Type="http://schemas.openxmlformats.org/officeDocument/2006/relationships/hyperlink" Target="https://www.nsf.gov/cise/updates/nairr-2-years-advancing-american-artificial-intelligence" TargetMode="External" Id="Rf6a92bb32f8c446e" /><Relationship Type="http://schemas.openxmlformats.org/officeDocument/2006/relationships/hyperlink" Target="https://aclanthology.org/P19-1355/" TargetMode="External" Id="R73a274729f9b4ee0" /><Relationship Type="http://schemas.openxmlformats.org/officeDocument/2006/relationships/notesSlide" Target="/ppt/notesSlides/notesSlide43.xml" Id="R14e116b8a250444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149af1f7c5e94512" /><Relationship Type="http://schemas.openxmlformats.org/officeDocument/2006/relationships/hyperlink" Target="https://arxiv.org/abs/2304.03271v5" TargetMode="External" Id="R4536fb917db24050" /><Relationship Type="http://schemas.openxmlformats.org/officeDocument/2006/relationships/hyperlink" Target="https://arxiv.org/abs/1907.10597" TargetMode="External" Id="R2e4ef0a20b9a4815" /><Relationship Type="http://schemas.openxmlformats.org/officeDocument/2006/relationships/hyperlink" Target="https://arxiv.org/abs/1906.08935v2" TargetMode="External" Id="Raf27726be15f4c95" /><Relationship Type="http://schemas.openxmlformats.org/officeDocument/2006/relationships/hyperlink" Target="https://aclanthology.org/2024.cl-3.8/" TargetMode="External" Id="Rb81201e1775a4d12" /><Relationship Type="http://schemas.openxmlformats.org/officeDocument/2006/relationships/notesSlide" Target="/ppt/notesSlides/notesSlide44.xml" Id="Rcf4d8dda506943c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829ef6b3b1b4ac0" /><Relationship Type="http://schemas.openxmlformats.org/officeDocument/2006/relationships/hyperlink" Target="https://arxiv.org/abs/2010.15581v1" TargetMode="External" Id="Rd7d5898be71c429c" /><Relationship Type="http://schemas.openxmlformats.org/officeDocument/2006/relationships/hyperlink" Target="https://arxiv.org/abs/2106.11750v1" TargetMode="External" Id="Ra24e4c6b0bac400b" /><Relationship Type="http://schemas.openxmlformats.org/officeDocument/2006/relationships/hyperlink" Target="https://www.oecd.org/en/topics/ai-principles.html" TargetMode="External" Id="R730ce8f5c4e945e6" /><Relationship Type="http://schemas.openxmlformats.org/officeDocument/2006/relationships/hyperlink" Target="https://airc.nist.gov/airmf-resources/playbook/" TargetMode="External" Id="R7a4fc2698b044a84" /><Relationship Type="http://schemas.openxmlformats.org/officeDocument/2006/relationships/hyperlink" Target="https://docs.nvidia.com/cuda/archive/13.0.3/npp/image_geometry_transforms.html#rotate" TargetMode="External" Id="R239000ebf6a9404a" /><Relationship Type="http://schemas.openxmlformats.org/officeDocument/2006/relationships/notesSlide" Target="/ppt/notesSlides/notesSlide45.xml" Id="R2c5951abb43746d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993a4758d3934931" /><Relationship Type="http://schemas.openxmlformats.org/officeDocument/2006/relationships/notesSlide" Target="/ppt/notesSlides/notesSlide46.xml" Id="Re1679b338897484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Electricity (TWh)</c:v>
          </c:tx>
          <c:spPr>
            <a:solidFill xmlns:a="http://schemas.openxmlformats.org/drawingml/2006/main">
              <a:srgbClr val="007B83"/>
            </a:solidFill>
          </c:spPr>
          <c:cat>
            <c:strRef>
              <c:f>'Chart Data'!$A$2:$A$3</c:f>
              <c:strCache>
                <c:ptCount val="2"/>
                <c:pt idx="0">
                  <c:v>2025 estimate</c:v>
                </c:pt>
                <c:pt idx="1">
                  <c:v>2030 projection</c:v>
                </c:pt>
              </c:strCache>
            </c:strRef>
          </c:cat>
          <c:val>
            <c:numRef>
              <c:f>'Chart Data'!$B$2:$B$3</c:f>
              <c:numCache>
                <c:formatCode>0</c:formatCode>
                <c:ptCount val="2"/>
                <c:pt idx="0">
                  <c:v>485</c:v>
                </c:pt>
                <c:pt idx="1">
                  <c:v>950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42D45"/>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a:solidFill>
              <a:srgbClr val="CBD5DC"/>
            </a:solidFill>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BD5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2025 growth</c:v>
          </c:tx>
          <c:spPr>
            <a:solidFill xmlns:a="http://schemas.openxmlformats.org/drawingml/2006/main">
              <a:srgbClr val="B55E24"/>
            </a:solidFill>
          </c:spPr>
          <c:cat>
            <c:strRef>
              <c:f>'Chart Data'!$A$2:$A$3</c:f>
              <c:strCache>
                <c:ptCount val="2"/>
                <c:pt idx="0">
                  <c:v>All data centres</c:v>
                </c:pt>
                <c:pt idx="1">
                  <c:v>AI-focused subset</c:v>
                </c:pt>
              </c:strCache>
            </c:strRef>
          </c:cat>
          <c:val>
            <c:numRef>
              <c:f>'Chart Data'!$B$2:$B$3</c:f>
              <c:numCache>
                <c:formatCode>0%</c:formatCode>
                <c:ptCount val="2"/>
                <c:pt idx="0">
                  <c:v>0.17</c:v>
                </c:pt>
                <c:pt idx="1">
                  <c:v>0.5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42D45"/>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a:solidFill>
              <a:srgbClr val="CBD5DC"/>
            </a:solidFill>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BD5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45"/>
        </a:solidFill>
      </p:bgPr>
    </p:bg>
    <p:spTree>
      <p:nvGrpSpPr>
        <p:cNvPr id="1" name=""/>
        <p:cNvGrpSpPr/>
        <p:nvPr/>
      </p:nvGrpSpPr>
      <p:grpSpPr>
        <a:xfrm xmlns:a="http://schemas.openxmlformats.org/drawingml/2006/main"/>
      </p:grpSpPr>
      <p:sp>
        <p:nvSpPr>
          <p:cNvPr id="10" name="FIT3143 • Applied 2 • Tasks 1 and 2">
            <a:extLst xmlns:a="http://schemas.openxmlformats.org/drawingml/2006/main">
              <a:ext uri="{FF2B5EF4-FFF2-40B4-BE49-F238E27FC236}">
                <a16:creationId xmlns:a16="http://schemas.microsoft.com/office/drawing/2014/main" id="{31E56352-D8E2-4CEA-9E1F-67FDB461B305}"/>
              </a:ext>
            </a:extLst>
          </p:cNvPr>
          <p:cNvSpPr>
            <a:spLocks xmlns:a="http://schemas.openxmlformats.org/drawingml/2006/main" noGrp="1"/>
          </p:cNvSpPr>
          <p:nvPr/>
        </p:nvSpPr>
        <p:spPr>
          <a:xfrm xmlns:a="http://schemas.openxmlformats.org/drawingml/2006/main">
            <a:off x="609600" y="619125"/>
            <a:ext cx="108585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8CD7D5"/>
                </a:solidFill>
                <a:latin typeface="Arial"/>
                <a:ea typeface="Arial"/>
                <a:cs typeface="Arial"/>
              </a:defRPr>
            </a:defPPr>
          </a:lstStyle>
          <a:p xmlns:a="http://schemas.openxmlformats.org/drawingml/2006/main">
            <a:pPr algn="l">
              <a:defRPr sz="1500" b="1">
                <a:solidFill>
                  <a:srgbClr val="8CD7D5"/>
                </a:solidFill>
                <a:latin typeface="Arial"/>
                <a:ea typeface="Arial"/>
                <a:cs typeface="Arial"/>
              </a:defRPr>
            </a:pPr>
            <a:r>
              <a:rPr sz="1500" b="1">
                <a:solidFill>
                  <a:srgbClr val="8CD7D5"/>
                </a:solidFill>
                <a:latin typeface="Arial"/>
                <a:ea typeface="Arial"/>
                <a:cs typeface="Arial"/>
              </a:rPr>
              <a:t>FIT3143 • Applied 2 • Tasks 1 and 2</a:t>
            </a:r>
          </a:p>
        </p:txBody>
      </p:sp>
      <p:sp>
        <p:nvSpPr>
          <p:cNvPr id="2" name="GPU image rotation&#10;and responsible HPC for AI">
            <a:extLst xmlns:a="http://schemas.openxmlformats.org/drawingml/2006/main">
              <a:ext uri="{FF2B5EF4-FFF2-40B4-BE49-F238E27FC236}">
                <a16:creationId xmlns:a16="http://schemas.microsoft.com/office/drawing/2014/main" id="{98B3E439-DBF0-46F1-B125-83E4C9D1B459}"/>
              </a:ext>
            </a:extLst>
          </p:cNvPr>
          <p:cNvSpPr>
            <a:spLocks xmlns:a="http://schemas.openxmlformats.org/drawingml/2006/main" noGrp="1"/>
          </p:cNvSpPr>
          <p:nvPr/>
        </p:nvSpPr>
        <p:spPr>
          <a:xfrm xmlns:a="http://schemas.openxmlformats.org/drawingml/2006/main">
            <a:off x="609600" y="1562100"/>
            <a:ext cx="1085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FFFFF"/>
                </a:solidFill>
                <a:latin typeface="Arial"/>
                <a:ea typeface="Arial"/>
                <a:cs typeface="Arial"/>
              </a:defRPr>
            </a:defPPr>
          </a:lstStyle>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GPU image rotation</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and responsible HPC for AI</a:t>
            </a:r>
          </a:p>
        </p:txBody>
      </p:sp>
      <p:sp>
        <p:nvSpPr>
          <p:cNvPr id="3" name="CUDA design and performance • Evidence, trade-offs and ">
            <a:extLst xmlns:a="http://schemas.openxmlformats.org/drawingml/2006/main">
              <a:ext uri="{FF2B5EF4-FFF2-40B4-BE49-F238E27FC236}">
                <a16:creationId xmlns:a16="http://schemas.microsoft.com/office/drawing/2014/main" id="{D5F567AF-AEE0-4C1D-B674-1687D056D113}"/>
              </a:ext>
            </a:extLst>
          </p:cNvPr>
          <p:cNvSpPr>
            <a:spLocks xmlns:a="http://schemas.openxmlformats.org/drawingml/2006/main" noGrp="1"/>
          </p:cNvSpPr>
          <p:nvPr/>
        </p:nvSpPr>
        <p:spPr>
          <a:xfrm xmlns:a="http://schemas.openxmlformats.org/drawingml/2006/main">
            <a:off x="609600" y="320992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CDCE4"/>
                </a:solidFill>
                <a:latin typeface="Arial"/>
                <a:ea typeface="Arial"/>
                <a:cs typeface="Arial"/>
              </a:defRPr>
            </a:defPPr>
          </a:lstStyle>
          <a:p xmlns:a="http://schemas.openxmlformats.org/drawingml/2006/main">
            <a:pPr algn="l">
              <a:defRPr sz="1950" b="0">
                <a:solidFill>
                  <a:srgbClr val="CCDCE4"/>
                </a:solidFill>
                <a:latin typeface="Arial"/>
                <a:ea typeface="Arial"/>
                <a:cs typeface="Arial"/>
              </a:defRPr>
            </a:pPr>
            <a:r>
              <a:rPr sz="1950" b="0">
                <a:solidFill>
                  <a:srgbClr val="CCDCE4"/>
                </a:solidFill>
                <a:latin typeface="Arial"/>
                <a:ea typeface="Arial"/>
                <a:cs typeface="Arial"/>
              </a:rPr>
              <a:t>CUDA design and performance • Evidence, trade-offs and accountable use</a:t>
            </a:r>
          </a:p>
        </p:txBody>
      </p:sp>
      <p:sp>
        <p:nvSpPr>
          <p:cNvPr id="4" name="">
            <a:extLst xmlns:a="http://schemas.openxmlformats.org/drawingml/2006/main">
              <a:ext uri="{FF2B5EF4-FFF2-40B4-BE49-F238E27FC236}">
                <a16:creationId xmlns:a16="http://schemas.microsoft.com/office/drawing/2014/main" id="{3C3DA01B-820F-43E7-A57C-C0FE3A9A165E}"/>
              </a:ext>
            </a:extLst>
          </p:cNvPr>
          <p:cNvSpPr>
            <a:spLocks xmlns:a="http://schemas.openxmlformats.org/drawingml/2006/main" noGrp="1"/>
          </p:cNvSpPr>
          <p:nvPr/>
        </p:nvSpPr>
        <p:spPr>
          <a:xfrm xmlns:a="http://schemas.openxmlformats.org/drawingml/2006/main">
            <a:off x="609600" y="4095750"/>
            <a:ext cx="10972800" cy="0"/>
          </a:xfrm>
          <a:prstGeom xmlns:a="http://schemas.openxmlformats.org/drawingml/2006/main" prst="line">
            <a:avLst/>
          </a:prstGeom>
          <a:noFill xmlns:a="http://schemas.openxmlformats.org/drawingml/2006/main"/>
          <a:ln xmlns:a="http://schemas.openxmlformats.org/drawingml/2006/main" w="9525">
            <a:solidFill>
              <a:srgbClr val="577082"/>
            </a:solidFill>
            <a:prstDash val="solid"/>
          </a:ln>
        </p:spPr>
      </p:sp>
      <p:sp>
        <p:nvSpPr>
          <p:cNvPr id="5" name="Savin Vindiv De Alwis  ·  35221631">
            <a:extLst xmlns:a="http://schemas.openxmlformats.org/drawingml/2006/main">
              <a:ext uri="{FF2B5EF4-FFF2-40B4-BE49-F238E27FC236}">
                <a16:creationId xmlns:a16="http://schemas.microsoft.com/office/drawing/2014/main" id="{EA0C823F-EC28-44E9-999D-1730E0FED07E}"/>
              </a:ext>
            </a:extLst>
          </p:cNvPr>
          <p:cNvSpPr>
            <a:spLocks xmlns:a="http://schemas.openxmlformats.org/drawingml/2006/main" noGrp="1"/>
          </p:cNvSpPr>
          <p:nvPr/>
        </p:nvSpPr>
        <p:spPr>
          <a:xfrm xmlns:a="http://schemas.openxmlformats.org/drawingml/2006/main">
            <a:off x="609600" y="442912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Savin Vindiv De Alwis · 35221631</a:t>
            </a:r>
          </a:p>
        </p:txBody>
      </p:sp>
      <p:sp>
        <p:nvSpPr>
          <p:cNvPr id="6" name="sdea0018@student.monash.edu">
            <a:extLst xmlns:a="http://schemas.openxmlformats.org/drawingml/2006/main">
              <a:ext uri="{FF2B5EF4-FFF2-40B4-BE49-F238E27FC236}">
                <a16:creationId xmlns:a16="http://schemas.microsoft.com/office/drawing/2014/main" id="{070BC79C-F623-4683-A973-3B997F61E528}"/>
              </a:ext>
            </a:extLst>
          </p:cNvPr>
          <p:cNvSpPr>
            <a:spLocks xmlns:a="http://schemas.openxmlformats.org/drawingml/2006/main" noGrp="1"/>
          </p:cNvSpPr>
          <p:nvPr/>
        </p:nvSpPr>
        <p:spPr>
          <a:xfrm xmlns:a="http://schemas.openxmlformats.org/drawingml/2006/main">
            <a:off x="609600" y="4772025"/>
            <a:ext cx="108585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D9E3"/>
                </a:solidFill>
                <a:latin typeface="Arial"/>
                <a:ea typeface="Arial"/>
                <a:cs typeface="Arial"/>
              </a:defRPr>
            </a:defPPr>
          </a:lstStyle>
          <a:p xmlns:a="http://schemas.openxmlformats.org/drawingml/2006/main">
            <a:pPr algn="l">
              <a:defRPr sz="1650" b="0">
                <a:solidFill>
                  <a:srgbClr val="C8D9E3"/>
                </a:solidFill>
                <a:latin typeface="Arial"/>
                <a:ea typeface="Arial"/>
                <a:cs typeface="Arial"/>
              </a:defRPr>
            </a:pPr>
            <a:r>
              <a:rPr sz="1650" b="0">
                <a:solidFill>
                  <a:srgbClr val="C8D9E3"/>
                </a:solidFill>
                <a:latin typeface="Arial"/>
                <a:ea typeface="Arial"/>
                <a:cs typeface="Arial"/>
              </a:rPr>
              <a:t>sdea0018@student.monash.edu</a:t>
            </a:r>
          </a:p>
        </p:txBody>
      </p:sp>
      <p:sp>
        <p:nvSpPr>
          <p:cNvPr id="7" name="Shamle Thilaksiri  ·  35512075">
            <a:extLst xmlns:a="http://schemas.openxmlformats.org/drawingml/2006/main">
              <a:ext uri="{FF2B5EF4-FFF2-40B4-BE49-F238E27FC236}">
                <a16:creationId xmlns:a16="http://schemas.microsoft.com/office/drawing/2014/main" id="{E8EF6959-626F-4FF8-B16B-61E311842F3D}"/>
              </a:ext>
            </a:extLst>
          </p:cNvPr>
          <p:cNvSpPr>
            <a:spLocks xmlns:a="http://schemas.openxmlformats.org/drawingml/2006/main" noGrp="1"/>
          </p:cNvSpPr>
          <p:nvPr/>
        </p:nvSpPr>
        <p:spPr>
          <a:xfrm xmlns:a="http://schemas.openxmlformats.org/drawingml/2006/main">
            <a:off x="609600" y="521017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Shamle Thilaksiri · 35512075</a:t>
            </a:r>
          </a:p>
        </p:txBody>
      </p:sp>
      <p:sp>
        <p:nvSpPr>
          <p:cNvPr id="8" name="wthi0003@student.monash.edu">
            <a:extLst xmlns:a="http://schemas.openxmlformats.org/drawingml/2006/main">
              <a:ext uri="{FF2B5EF4-FFF2-40B4-BE49-F238E27FC236}">
                <a16:creationId xmlns:a16="http://schemas.microsoft.com/office/drawing/2014/main" id="{180D3AD8-D79F-46F6-8824-9389A9749C1D}"/>
              </a:ext>
            </a:extLst>
          </p:cNvPr>
          <p:cNvSpPr>
            <a:spLocks xmlns:a="http://schemas.openxmlformats.org/drawingml/2006/main" noGrp="1"/>
          </p:cNvSpPr>
          <p:nvPr/>
        </p:nvSpPr>
        <p:spPr>
          <a:xfrm xmlns:a="http://schemas.openxmlformats.org/drawingml/2006/main">
            <a:off x="609600" y="5553075"/>
            <a:ext cx="108585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D9E3"/>
                </a:solidFill>
                <a:latin typeface="Arial"/>
                <a:ea typeface="Arial"/>
                <a:cs typeface="Arial"/>
              </a:defRPr>
            </a:defPPr>
          </a:lstStyle>
          <a:p xmlns:a="http://schemas.openxmlformats.org/drawingml/2006/main">
            <a:pPr algn="l">
              <a:defRPr sz="1650" b="0">
                <a:solidFill>
                  <a:srgbClr val="C8D9E3"/>
                </a:solidFill>
                <a:latin typeface="Arial"/>
                <a:ea typeface="Arial"/>
                <a:cs typeface="Arial"/>
              </a:defRPr>
            </a:pPr>
            <a:r>
              <a:rPr sz="1650" b="0">
                <a:solidFill>
                  <a:srgbClr val="C8D9E3"/>
                </a:solidFill>
                <a:latin typeface="Arial"/>
                <a:ea typeface="Arial"/>
                <a:cs typeface="Arial"/>
              </a:rPr>
              <a:t>wthi0003@student.monash.edu</a:t>
            </a:r>
          </a:p>
        </p:txBody>
      </p:sp>
      <p:sp>
        <p:nvSpPr>
          <p:cNvPr id="9" name="8 October 2026  •  Focused answers first; full implemen">
            <a:extLst xmlns:a="http://schemas.openxmlformats.org/drawingml/2006/main">
              <a:ext uri="{FF2B5EF4-FFF2-40B4-BE49-F238E27FC236}">
                <a16:creationId xmlns:a16="http://schemas.microsoft.com/office/drawing/2014/main" id="{B438D63C-6EA2-4CB7-AC50-4585BC47CFB9}"/>
              </a:ext>
            </a:extLst>
          </p:cNvPr>
          <p:cNvSpPr>
            <a:spLocks xmlns:a="http://schemas.openxmlformats.org/drawingml/2006/main" noGrp="1"/>
          </p:cNvSpPr>
          <p:nvPr/>
        </p:nvSpPr>
        <p:spPr>
          <a:xfrm xmlns:a="http://schemas.openxmlformats.org/drawingml/2006/main">
            <a:off x="609600" y="6391275"/>
            <a:ext cx="10858500" cy="2152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C8D9E3"/>
                </a:solidFill>
                <a:latin typeface="Arial"/>
                <a:ea typeface="Arial"/>
                <a:cs typeface="Arial"/>
              </a:defRPr>
            </a:defPPr>
          </a:lstStyle>
          <a:p xmlns:a="http://schemas.openxmlformats.org/drawingml/2006/main">
            <a:pPr algn="l">
              <a:defRPr sz="1125" b="0">
                <a:solidFill>
                  <a:srgbClr val="C8D9E3"/>
                </a:solidFill>
                <a:latin typeface="Arial"/>
                <a:ea typeface="Arial"/>
                <a:cs typeface="Arial"/>
              </a:defRPr>
            </a:pPr>
            <a:r>
              <a:rPr sz="1125" b="0">
                <a:solidFill>
                  <a:srgbClr val="C8D9E3"/>
                </a:solidFill>
                <a:latin typeface="Arial"/>
                <a:ea typeface="Arial"/>
                <a:cs typeface="Arial"/>
              </a:rPr>
              <a:t>8 October 2026 • Focused answers first; full implementation and evidence in the appendix</a:t>
            </a:r>
          </a:p>
        </p:txBody>
      </p:sp>
    </p:spTree>
    <p:extLst>
      <p:ext uri="{BB962C8B-B14F-4D97-AF65-F5344CB8AC3E}">
        <p14:creationId xmlns:p14="http://schemas.microsoft.com/office/powerpoint/2010/main" val="507969058"/>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91531621-7B65-4753-B085-40B0FEE7CE0A}"/>
              </a:ext>
            </a:extLst>
          </p:cNvPr>
          <p:cNvCxnSpPr>
            <a:stCxn xmlns:a="http://schemas.openxmlformats.org/drawingml/2006/main" id="8" idx="3"/>
            <a:endCxn xmlns:a="http://schemas.openxmlformats.org/drawingml/2006/main" id="9" idx="1"/>
          </p:cNvCxnSpPr>
          <p:nvPr/>
        </p:nvCxnSpPr>
        <p:spPr>
          <a:xfrm xmlns:a="http://schemas.openxmlformats.org/drawingml/2006/main">
            <a:off x="92583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3C6EAC91-F57E-459D-BD3C-02EDB43CE217}"/>
              </a:ext>
            </a:extLst>
          </p:cNvPr>
          <p:cNvCxnSpPr>
            <a:stCxn xmlns:a="http://schemas.openxmlformats.org/drawingml/2006/main" id="7" idx="3"/>
            <a:endCxn xmlns:a="http://schemas.openxmlformats.org/drawingml/2006/main" id="8" idx="1"/>
          </p:cNvCxnSpPr>
          <p:nvPr/>
        </p:nvCxnSpPr>
        <p:spPr>
          <a:xfrm xmlns:a="http://schemas.openxmlformats.org/drawingml/2006/main">
            <a:off x="69342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FCC079FA-6ACA-423F-81FC-2F61B68DE27C}"/>
              </a:ext>
            </a:extLst>
          </p:cNvPr>
          <p:cNvCxnSpPr>
            <a:stCxn xmlns:a="http://schemas.openxmlformats.org/drawingml/2006/main" id="6" idx="3"/>
            <a:endCxn xmlns:a="http://schemas.openxmlformats.org/drawingml/2006/main" id="7" idx="1"/>
          </p:cNvCxnSpPr>
          <p:nvPr/>
        </p:nvCxnSpPr>
        <p:spPr>
          <a:xfrm xmlns:a="http://schemas.openxmlformats.org/drawingml/2006/main">
            <a:off x="46101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01018AE5-F39D-46ED-B1CA-FFBE3992ED31}"/>
              </a:ext>
            </a:extLst>
          </p:cNvPr>
          <p:cNvCxnSpPr>
            <a:stCxn xmlns:a="http://schemas.openxmlformats.org/drawingml/2006/main" id="5" idx="3"/>
            <a:endCxn xmlns:a="http://schemas.openxmlformats.org/drawingml/2006/main" id="6" idx="1"/>
          </p:cNvCxnSpPr>
          <p:nvPr/>
        </p:nvCxnSpPr>
        <p:spPr>
          <a:xfrm xmlns:a="http://schemas.openxmlformats.org/drawingml/2006/main">
            <a:off x="22860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5" name="Task 1(a)">
            <a:extLst xmlns:a="http://schemas.openxmlformats.org/drawingml/2006/main">
              <a:ext uri="{FF2B5EF4-FFF2-40B4-BE49-F238E27FC236}">
                <a16:creationId xmlns:a16="http://schemas.microsoft.com/office/drawing/2014/main" id="{E8DB4212-65F0-4DAB-92A6-1A29BC2E634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1(a)</a:t>
            </a:r>
          </a:p>
        </p:txBody>
      </p:sp>
      <p:sp>
        <p:nvSpPr>
          <p:cNvPr id="2" name="Host–GPU image data flow">
            <a:extLst xmlns:a="http://schemas.openxmlformats.org/drawingml/2006/main">
              <a:ext uri="{FF2B5EF4-FFF2-40B4-BE49-F238E27FC236}">
                <a16:creationId xmlns:a16="http://schemas.microsoft.com/office/drawing/2014/main" id="{AAAB3FED-4997-4D76-A193-91126A70D36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Host–GPU image data flow</a:t>
            </a:r>
          </a:p>
        </p:txBody>
      </p:sp>
      <p:sp>
        <p:nvSpPr>
          <p:cNvPr id="3" name="CPU: load/decode, allocate, launch, save">
            <a:extLst xmlns:a="http://schemas.openxmlformats.org/drawingml/2006/main">
              <a:ext uri="{FF2B5EF4-FFF2-40B4-BE49-F238E27FC236}">
                <a16:creationId xmlns:a16="http://schemas.microsoft.com/office/drawing/2014/main" id="{536CA3D7-8786-4A2D-98E7-C1A809230474}"/>
              </a:ext>
            </a:extLst>
          </p:cNvPr>
          <p:cNvSpPr>
            <a:spLocks xmlns:a="http://schemas.openxmlformats.org/drawingml/2006/main" noGrp="1"/>
          </p:cNvSpPr>
          <p:nvPr/>
        </p:nvSpPr>
        <p:spPr>
          <a:xfrm xmlns:a="http://schemas.openxmlformats.org/drawingml/2006/main">
            <a:off x="609600" y="15240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D45"/>
                </a:solidFill>
                <a:latin typeface="Arial"/>
                <a:ea typeface="Arial"/>
                <a:cs typeface="Arial"/>
              </a:defRPr>
            </a:defPPr>
          </a:lstStyle>
          <a:p xmlns:a="http://schemas.openxmlformats.org/drawingml/2006/main">
            <a:pPr algn="l">
              <a:defRPr sz="1875" b="1">
                <a:solidFill>
                  <a:srgbClr val="142D45"/>
                </a:solidFill>
                <a:latin typeface="Arial"/>
                <a:ea typeface="Arial"/>
                <a:cs typeface="Arial"/>
              </a:defRPr>
            </a:pPr>
            <a:r>
              <a:rPr sz="1875" b="1">
                <a:solidFill>
                  <a:srgbClr val="142D45"/>
                </a:solidFill>
                <a:latin typeface="Arial"/>
                <a:ea typeface="Arial"/>
                <a:cs typeface="Arial"/>
              </a:rPr>
              <a:t>CPU: load/decode, allocate, launch, save</a:t>
            </a:r>
          </a:p>
        </p:txBody>
      </p:sp>
      <p:sp>
        <p:nvSpPr>
          <p:cNvPr id="4" name="GPU: read input, rotate, write output">
            <a:extLst xmlns:a="http://schemas.openxmlformats.org/drawingml/2006/main">
              <a:ext uri="{FF2B5EF4-FFF2-40B4-BE49-F238E27FC236}">
                <a16:creationId xmlns:a16="http://schemas.microsoft.com/office/drawing/2014/main" id="{7225280E-12C2-466C-8198-9CF56D3FD367}"/>
              </a:ext>
            </a:extLst>
          </p:cNvPr>
          <p:cNvSpPr>
            <a:spLocks xmlns:a="http://schemas.openxmlformats.org/drawingml/2006/main" noGrp="1"/>
          </p:cNvSpPr>
          <p:nvPr/>
        </p:nvSpPr>
        <p:spPr>
          <a:xfrm xmlns:a="http://schemas.openxmlformats.org/drawingml/2006/main">
            <a:off x="6324600" y="15240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D45"/>
                </a:solidFill>
                <a:latin typeface="Arial"/>
                <a:ea typeface="Arial"/>
                <a:cs typeface="Arial"/>
              </a:defRPr>
            </a:defPPr>
          </a:lstStyle>
          <a:p xmlns:a="http://schemas.openxmlformats.org/drawingml/2006/main">
            <a:pPr algn="l">
              <a:defRPr sz="1875" b="1">
                <a:solidFill>
                  <a:srgbClr val="142D45"/>
                </a:solidFill>
                <a:latin typeface="Arial"/>
                <a:ea typeface="Arial"/>
                <a:cs typeface="Arial"/>
              </a:defRPr>
            </a:pPr>
            <a:r>
              <a:rPr sz="1875" b="1">
                <a:solidFill>
                  <a:srgbClr val="142D45"/>
                </a:solidFill>
                <a:latin typeface="Arial"/>
                <a:ea typeface="Arial"/>
                <a:cs typeface="Arial"/>
              </a:rPr>
              <a:t>GPU: read input, rotate, write output</a:t>
            </a:r>
          </a:p>
        </p:txBody>
      </p:sp>
      <p:sp>
        <p:nvSpPr>
          <p:cNvPr id="5" name="">
            <a:extLst xmlns:a="http://schemas.openxmlformats.org/drawingml/2006/main">
              <a:ext uri="{FF2B5EF4-FFF2-40B4-BE49-F238E27FC236}">
                <a16:creationId xmlns:a16="http://schemas.microsoft.com/office/drawing/2014/main" id="{56980114-C13C-4CE4-8099-79BC453E6116}"/>
              </a:ext>
            </a:extLst>
          </p:cNvPr>
          <p:cNvSpPr>
            <a:spLocks xmlns:a="http://schemas.openxmlformats.org/drawingml/2006/main" noGrp="1"/>
          </p:cNvSpPr>
          <p:nvPr/>
        </p:nvSpPr>
        <p:spPr>
          <a:xfrm xmlns:a="http://schemas.openxmlformats.org/drawingml/2006/main">
            <a:off x="6096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Storage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encoded</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image</a:t>
            </a:r>
          </a:p>
        </p:txBody>
      </p:sp>
      <p:sp>
        <p:nvSpPr>
          <p:cNvPr id="6" name="">
            <a:extLst xmlns:a="http://schemas.openxmlformats.org/drawingml/2006/main">
              <a:ext uri="{FF2B5EF4-FFF2-40B4-BE49-F238E27FC236}">
                <a16:creationId xmlns:a16="http://schemas.microsoft.com/office/drawing/2014/main" id="{82644A6E-CB77-4DF2-849C-D9A3C6C03AB5}"/>
              </a:ext>
            </a:extLst>
          </p:cNvPr>
          <p:cNvSpPr>
            <a:spLocks xmlns:a="http://schemas.openxmlformats.org/drawingml/2006/main" noGrp="1"/>
          </p:cNvSpPr>
          <p:nvPr/>
        </p:nvSpPr>
        <p:spPr>
          <a:xfrm xmlns:a="http://schemas.openxmlformats.org/drawingml/2006/main">
            <a:off x="29337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DDR example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input pixels</a:t>
            </a:r>
          </a:p>
        </p:txBody>
      </p:sp>
      <p:sp>
        <p:nvSpPr>
          <p:cNvPr id="7" name="">
            <a:extLst xmlns:a="http://schemas.openxmlformats.org/drawingml/2006/main">
              <a:ext uri="{FF2B5EF4-FFF2-40B4-BE49-F238E27FC236}">
                <a16:creationId xmlns:a16="http://schemas.microsoft.com/office/drawing/2014/main" id="{7A13516F-0EFE-45C8-82FF-32EFD8F93457}"/>
              </a:ext>
            </a:extLst>
          </p:cNvPr>
          <p:cNvSpPr>
            <a:spLocks xmlns:a="http://schemas.openxmlformats.org/drawingml/2006/main" noGrp="1"/>
          </p:cNvSpPr>
          <p:nvPr/>
        </p:nvSpPr>
        <p:spPr>
          <a:xfrm xmlns:a="http://schemas.openxmlformats.org/drawingml/2006/main">
            <a:off x="52578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input buffer</a:t>
            </a:r>
          </a:p>
        </p:txBody>
      </p:sp>
      <p:sp>
        <p:nvSpPr>
          <p:cNvPr id="8" name="">
            <a:extLst xmlns:a="http://schemas.openxmlformats.org/drawingml/2006/main">
              <a:ext uri="{FF2B5EF4-FFF2-40B4-BE49-F238E27FC236}">
                <a16:creationId xmlns:a16="http://schemas.microsoft.com/office/drawing/2014/main" id="{DBA596AD-85FC-4DE0-B165-B13B2D68F431}"/>
              </a:ext>
            </a:extLst>
          </p:cNvPr>
          <p:cNvSpPr>
            <a:spLocks xmlns:a="http://schemas.openxmlformats.org/drawingml/2006/main" noGrp="1"/>
          </p:cNvSpPr>
          <p:nvPr/>
        </p:nvSpPr>
        <p:spPr>
          <a:xfrm xmlns:a="http://schemas.openxmlformats.org/drawingml/2006/main">
            <a:off x="75819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output buffer</a:t>
            </a:r>
          </a:p>
        </p:txBody>
      </p:sp>
      <p:sp>
        <p:nvSpPr>
          <p:cNvPr id="9" name="">
            <a:extLst xmlns:a="http://schemas.openxmlformats.org/drawingml/2006/main">
              <a:ext uri="{FF2B5EF4-FFF2-40B4-BE49-F238E27FC236}">
                <a16:creationId xmlns:a16="http://schemas.microsoft.com/office/drawing/2014/main" id="{E8F92622-F50D-4AD8-A805-F7A82C0B3C8B}"/>
              </a:ext>
            </a:extLst>
          </p:cNvPr>
          <p:cNvSpPr>
            <a:spLocks xmlns:a="http://schemas.openxmlformats.org/drawingml/2006/main" noGrp="1"/>
          </p:cNvSpPr>
          <p:nvPr/>
        </p:nvSpPr>
        <p:spPr>
          <a:xfrm xmlns:a="http://schemas.openxmlformats.org/drawingml/2006/main">
            <a:off x="99060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output pixels</a:t>
            </a:r>
          </a:p>
        </p:txBody>
      </p:sp>
      <p:sp>
        <p:nvSpPr>
          <p:cNvPr id="14" name="CPU&#10;decode">
            <a:extLst xmlns:a="http://schemas.openxmlformats.org/drawingml/2006/main">
              <a:ext uri="{FF2B5EF4-FFF2-40B4-BE49-F238E27FC236}">
                <a16:creationId xmlns:a16="http://schemas.microsoft.com/office/drawing/2014/main" id="{78C15E76-4ED7-43B1-B6F3-2B439060AA7E}"/>
              </a:ext>
            </a:extLst>
          </p:cNvPr>
          <p:cNvSpPr>
            <a:spLocks xmlns:a="http://schemas.openxmlformats.org/drawingml/2006/main" noGrp="1"/>
          </p:cNvSpPr>
          <p:nvPr/>
        </p:nvSpPr>
        <p:spPr>
          <a:xfrm xmlns:a="http://schemas.openxmlformats.org/drawingml/2006/main">
            <a:off x="21336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CPU</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decode</a:t>
            </a:r>
          </a:p>
        </p:txBody>
      </p:sp>
      <p:sp>
        <p:nvSpPr>
          <p:cNvPr id="15" name="H2D&#10;PCIe">
            <a:extLst xmlns:a="http://schemas.openxmlformats.org/drawingml/2006/main">
              <a:ext uri="{FF2B5EF4-FFF2-40B4-BE49-F238E27FC236}">
                <a16:creationId xmlns:a16="http://schemas.microsoft.com/office/drawing/2014/main" id="{1630312D-1F8E-4CE1-A80A-FE054E6E7465}"/>
              </a:ext>
            </a:extLst>
          </p:cNvPr>
          <p:cNvSpPr>
            <a:spLocks xmlns:a="http://schemas.openxmlformats.org/drawingml/2006/main" noGrp="1"/>
          </p:cNvSpPr>
          <p:nvPr/>
        </p:nvSpPr>
        <p:spPr>
          <a:xfrm xmlns:a="http://schemas.openxmlformats.org/drawingml/2006/main">
            <a:off x="44577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H2D</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6" name="CUDA&#10;kernel">
            <a:extLst xmlns:a="http://schemas.openxmlformats.org/drawingml/2006/main">
              <a:ext uri="{FF2B5EF4-FFF2-40B4-BE49-F238E27FC236}">
                <a16:creationId xmlns:a16="http://schemas.microsoft.com/office/drawing/2014/main" id="{57FC24FE-AD00-48FB-A9A5-A43F33A190AE}"/>
              </a:ext>
            </a:extLst>
          </p:cNvPr>
          <p:cNvSpPr>
            <a:spLocks xmlns:a="http://schemas.openxmlformats.org/drawingml/2006/main" noGrp="1"/>
          </p:cNvSpPr>
          <p:nvPr/>
        </p:nvSpPr>
        <p:spPr>
          <a:xfrm xmlns:a="http://schemas.openxmlformats.org/drawingml/2006/main">
            <a:off x="67818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CUDA</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kernel</a:t>
            </a:r>
          </a:p>
        </p:txBody>
      </p:sp>
      <p:sp>
        <p:nvSpPr>
          <p:cNvPr id="17" name="D2H&#10;PCIe">
            <a:extLst xmlns:a="http://schemas.openxmlformats.org/drawingml/2006/main">
              <a:ext uri="{FF2B5EF4-FFF2-40B4-BE49-F238E27FC236}">
                <a16:creationId xmlns:a16="http://schemas.microsoft.com/office/drawing/2014/main" id="{86475356-87D0-49A7-9A64-233111A3008B}"/>
              </a:ext>
            </a:extLst>
          </p:cNvPr>
          <p:cNvSpPr>
            <a:spLocks xmlns:a="http://schemas.openxmlformats.org/drawingml/2006/main" noGrp="1"/>
          </p:cNvSpPr>
          <p:nvPr/>
        </p:nvSpPr>
        <p:spPr>
          <a:xfrm xmlns:a="http://schemas.openxmlformats.org/drawingml/2006/main">
            <a:off x="91059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D2H</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8" name="H2D: host → device. D2H: device → host. Separate buffer">
            <a:extLst xmlns:a="http://schemas.openxmlformats.org/drawingml/2006/main">
              <a:ext uri="{FF2B5EF4-FFF2-40B4-BE49-F238E27FC236}">
                <a16:creationId xmlns:a16="http://schemas.microsoft.com/office/drawing/2014/main" id="{C9935DAD-B766-4E80-A6EC-856C30D8469A}"/>
              </a:ext>
            </a:extLst>
          </p:cNvPr>
          <p:cNvSpPr>
            <a:spLocks xmlns:a="http://schemas.openxmlformats.org/drawingml/2006/main" noGrp="1"/>
          </p:cNvSpPr>
          <p:nvPr/>
        </p:nvSpPr>
        <p:spPr>
          <a:xfrm xmlns:a="http://schemas.openxmlformats.org/drawingml/2006/main">
            <a:off x="609600" y="4114800"/>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H2D: host → device. D2H: device → host. Separate buffers; DMA (direct memory access) engines transfer</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bytes over PCIe.</a:t>
            </a:r>
          </a:p>
        </p:txBody>
      </p:sp>
      <p:sp>
        <p:nvSpPr>
          <p:cNvPr id="19" name="GPU memory bandwidth differs from PCIe bandwidth. Pinne">
            <a:extLst xmlns:a="http://schemas.openxmlformats.org/drawingml/2006/main">
              <a:ext uri="{FF2B5EF4-FFF2-40B4-BE49-F238E27FC236}">
                <a16:creationId xmlns:a16="http://schemas.microsoft.com/office/drawing/2014/main" id="{39528F57-2ED8-4106-82AE-53F17FFE4382}"/>
              </a:ext>
            </a:extLst>
          </p:cNvPr>
          <p:cNvSpPr>
            <a:spLocks xmlns:a="http://schemas.openxmlformats.org/drawingml/2006/main" noGrp="1"/>
          </p:cNvSpPr>
          <p:nvPr/>
        </p:nvSpPr>
        <p:spPr>
          <a:xfrm xmlns:a="http://schemas.openxmlformats.org/drawingml/2006/main">
            <a:off x="609600" y="4872228"/>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GPU memory bandwidth differs from PCIe bandwidth. Pinned RAM supports DMA; pageable RAM may</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stage. Complete output before saving or reuse.</a:t>
            </a:r>
          </a:p>
        </p:txBody>
      </p:sp>
      <p:sp>
        <p:nvSpPr>
          <p:cNvPr id="20" name="">
            <a:extLst xmlns:a="http://schemas.openxmlformats.org/drawingml/2006/main">
              <a:ext uri="{FF2B5EF4-FFF2-40B4-BE49-F238E27FC236}">
                <a16:creationId xmlns:a16="http://schemas.microsoft.com/office/drawing/2014/main" id="{40472B18-1B40-4325-9BFD-135C9FAC7747}"/>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21" name="The CPU orchestrates I/O and launches; the GPU rotates ">
            <a:extLst xmlns:a="http://schemas.openxmlformats.org/drawingml/2006/main">
              <a:ext uri="{FF2B5EF4-FFF2-40B4-BE49-F238E27FC236}">
                <a16:creationId xmlns:a16="http://schemas.microsoft.com/office/drawing/2014/main" id="{0A8B5EC3-8114-4996-9B95-D9B5BB2E6CFE}"/>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The CPU orchestrates I/O and launches; the GPU rotates decoded pixels.</a:t>
            </a:r>
          </a:p>
        </p:txBody>
      </p:sp>
      <p:sp>
        <p:nvSpPr>
          <p:cNvPr id="22" name="">
            <a:extLst xmlns:a="http://schemas.openxmlformats.org/drawingml/2006/main">
              <a:ext uri="{FF2B5EF4-FFF2-40B4-BE49-F238E27FC236}">
                <a16:creationId xmlns:a16="http://schemas.microsoft.com/office/drawing/2014/main" id="{191E17CA-339E-45FE-A34F-3844F26A3222}"/>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3" name="Sources: [1] NVIDIA CUDA programming model; [2] NVIDIA ">
            <a:extLst xmlns:a="http://schemas.openxmlformats.org/drawingml/2006/main">
              <a:ext uri="{FF2B5EF4-FFF2-40B4-BE49-F238E27FC236}">
                <a16:creationId xmlns:a16="http://schemas.microsoft.com/office/drawing/2014/main" id="{B428D472-A7C2-449A-9F2D-AE59AA9E22EA}"/>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4" name="2 / 46">
            <a:extLst xmlns:a="http://schemas.openxmlformats.org/drawingml/2006/main">
              <a:ext uri="{FF2B5EF4-FFF2-40B4-BE49-F238E27FC236}">
                <a16:creationId xmlns:a16="http://schemas.microsoft.com/office/drawing/2014/main" id="{DA60DB47-E6ED-4D0D-927F-83F6C0511ED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 / 46</a:t>
            </a:r>
          </a:p>
        </p:txBody>
      </p:sp>
    </p:spTree>
    <p:extLst>
      <p:ext uri="{BB962C8B-B14F-4D97-AF65-F5344CB8AC3E}">
        <p14:creationId xmlns:p14="http://schemas.microsoft.com/office/powerpoint/2010/main" val="133810641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6E1C2FE5-AE92-4FCF-8068-670F66341C3C}"/>
              </a:ext>
            </a:extLst>
          </p:cNvPr>
          <p:cNvCxnSpPr>
            <a:stCxn xmlns:a="http://schemas.openxmlformats.org/drawingml/2006/main" id="7" idx="2"/>
            <a:endCxn xmlns:a="http://schemas.openxmlformats.org/drawingml/2006/main" id="8" idx="0"/>
          </p:cNvCxnSpPr>
          <p:nvPr/>
        </p:nvCxnSpPr>
        <p:spPr>
          <a:xfrm xmlns:a="http://schemas.openxmlformats.org/drawingml/2006/main">
            <a:off x="10025063" y="2762250"/>
            <a:ext cx="0" cy="63817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8" name="Task 1(b)">
            <a:extLst xmlns:a="http://schemas.openxmlformats.org/drawingml/2006/main">
              <a:ext uri="{FF2B5EF4-FFF2-40B4-BE49-F238E27FC236}">
                <a16:creationId xmlns:a16="http://schemas.microsoft.com/office/drawing/2014/main" id="{6494B953-761D-408B-BC65-B253FB062E67}"/>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1(b)</a:t>
            </a:r>
          </a:p>
        </p:txBody>
      </p:sp>
      <p:sp>
        <p:nvSpPr>
          <p:cNvPr id="2" name="Rotation as independent output work">
            <a:extLst xmlns:a="http://schemas.openxmlformats.org/drawingml/2006/main">
              <a:ext uri="{FF2B5EF4-FFF2-40B4-BE49-F238E27FC236}">
                <a16:creationId xmlns:a16="http://schemas.microsoft.com/office/drawing/2014/main" id="{E71C7692-9425-41DC-821F-C9959F4310AE}"/>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Rotation as independent output work</a:t>
            </a:r>
          </a:p>
        </p:txBody>
      </p:sp>
      <p:sp>
        <p:nvSpPr>
          <p:cNvPr id="3" name="Inverse mapping in y-down image coordinates">
            <a:extLst xmlns:a="http://schemas.openxmlformats.org/drawingml/2006/main">
              <a:ext uri="{FF2B5EF4-FFF2-40B4-BE49-F238E27FC236}">
                <a16:creationId xmlns:a16="http://schemas.microsoft.com/office/drawing/2014/main" id="{5D8907A7-0AAC-4D69-86FB-249FD309D67F}"/>
              </a:ext>
            </a:extLst>
          </p:cNvPr>
          <p:cNvSpPr>
            <a:spLocks xmlns:a="http://schemas.openxmlformats.org/drawingml/2006/main" noGrp="1"/>
          </p:cNvSpPr>
          <p:nvPr/>
        </p:nvSpPr>
        <p:spPr>
          <a:xfrm xmlns:a="http://schemas.openxmlformats.org/drawingml/2006/main">
            <a:off x="609600" y="1514475"/>
            <a:ext cx="65722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Inverse mapping in y-down image coordinates</a:t>
            </a:r>
          </a:p>
        </p:txBody>
      </p:sp>
      <p:sp>
        <p:nvSpPr>
          <p:cNvPr id="4" name="">
            <a:extLst xmlns:a="http://schemas.openxmlformats.org/drawingml/2006/main">
              <a:ext uri="{FF2B5EF4-FFF2-40B4-BE49-F238E27FC236}">
                <a16:creationId xmlns:a16="http://schemas.microsoft.com/office/drawing/2014/main" id="{FEA7EAA6-CF2B-47C8-8AE2-D1631D1D64F3}"/>
              </a:ext>
            </a:extLst>
          </p:cNvPr>
          <p:cNvSpPr>
            <a:spLocks xmlns:a="http://schemas.openxmlformats.org/drawingml/2006/main" noGrp="1"/>
          </p:cNvSpPr>
          <p:nvPr/>
        </p:nvSpPr>
        <p:spPr>
          <a:xfrm xmlns:a="http://schemas.openxmlformats.org/drawingml/2006/main">
            <a:off x="609600" y="2009775"/>
            <a:ext cx="6800850" cy="128016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sx = c*(x-cx) - s*(y-cy) + cx;&#10;sy = s*(x-cx) + c*(y-cy)">
            <a:extLst xmlns:a="http://schemas.openxmlformats.org/drawingml/2006/main">
              <a:ext uri="{FF2B5EF4-FFF2-40B4-BE49-F238E27FC236}">
                <a16:creationId xmlns:a16="http://schemas.microsoft.com/office/drawing/2014/main" id="{60AB8309-CC48-4D01-88A0-3F3C589F8C0F}"/>
              </a:ext>
            </a:extLst>
          </p:cNvPr>
          <p:cNvSpPr>
            <a:spLocks xmlns:a="http://schemas.openxmlformats.org/drawingml/2006/main" noGrp="1"/>
          </p:cNvSpPr>
          <p:nvPr/>
        </p:nvSpPr>
        <p:spPr>
          <a:xfrm xmlns:a="http://schemas.openxmlformats.org/drawingml/2006/main">
            <a:off x="723900" y="2095500"/>
            <a:ext cx="6572250" cy="1146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42D45"/>
                </a:solidFill>
                <a:latin typeface="Consolas"/>
                <a:ea typeface="Consolas"/>
                <a:cs typeface="Consolas"/>
              </a:defRPr>
            </a:defPPr>
          </a:lstStyle>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sx = c*(x-cx) - s*(y-cy) + cx;</a:t>
            </a:r>
          </a:p>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sy = s*(x-cx) + c*(y-cy) + cy;</a:t>
            </a:r>
          </a:p>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ix = floor(sx + 0.5);</a:t>
            </a:r>
          </a:p>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iy = floor(sy + 0.5);</a:t>
            </a:r>
          </a:p>
        </p:txBody>
      </p:sp>
      <p:sp>
        <p:nvSpPr>
          <p:cNvPr id="6" name="c = cos θ; s = sin θ; θ in radians; center = ((W−1)/2, ">
            <a:extLst xmlns:a="http://schemas.openxmlformats.org/drawingml/2006/main">
              <a:ext uri="{FF2B5EF4-FFF2-40B4-BE49-F238E27FC236}">
                <a16:creationId xmlns:a16="http://schemas.microsoft.com/office/drawing/2014/main" id="{05BDBB84-7FA0-4D35-A094-5D3D3A689DA3}"/>
              </a:ext>
            </a:extLst>
          </p:cNvPr>
          <p:cNvSpPr>
            <a:spLocks xmlns:a="http://schemas.openxmlformats.org/drawingml/2006/main" noGrp="1"/>
          </p:cNvSpPr>
          <p:nvPr/>
        </p:nvSpPr>
        <p:spPr>
          <a:xfrm xmlns:a="http://schemas.openxmlformats.org/drawingml/2006/main">
            <a:off x="609600" y="3571875"/>
            <a:ext cx="77152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c = cos θ; s = sin θ; θ in radians; center = ((W−1)/2, (H−1)/2)</a:t>
            </a:r>
          </a:p>
        </p:txBody>
      </p:sp>
      <p:sp>
        <p:nvSpPr>
          <p:cNvPr id="7" name="">
            <a:extLst xmlns:a="http://schemas.openxmlformats.org/drawingml/2006/main">
              <a:ext uri="{FF2B5EF4-FFF2-40B4-BE49-F238E27FC236}">
                <a16:creationId xmlns:a16="http://schemas.microsoft.com/office/drawing/2014/main" id="{E788C493-2457-4047-8134-32D4065C9535}"/>
              </a:ext>
            </a:extLst>
          </p:cNvPr>
          <p:cNvSpPr>
            <a:spLocks xmlns:a="http://schemas.openxmlformats.org/drawingml/2006/main" noGrp="1"/>
          </p:cNvSpPr>
          <p:nvPr/>
        </p:nvSpPr>
        <p:spPr>
          <a:xfrm xmlns:a="http://schemas.openxmlformats.org/drawingml/2006/main">
            <a:off x="8858250" y="1876425"/>
            <a:ext cx="2333625" cy="885825"/>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Output pixel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(x,y)</a:t>
            </a:r>
          </a:p>
        </p:txBody>
      </p:sp>
      <p:sp>
        <p:nvSpPr>
          <p:cNvPr id="8" name="">
            <a:extLst xmlns:a="http://schemas.openxmlformats.org/drawingml/2006/main">
              <a:ext uri="{FF2B5EF4-FFF2-40B4-BE49-F238E27FC236}">
                <a16:creationId xmlns:a16="http://schemas.microsoft.com/office/drawing/2014/main" id="{80EA7935-DD39-47F0-A152-085D95A06D1C}"/>
              </a:ext>
            </a:extLst>
          </p:cNvPr>
          <p:cNvSpPr>
            <a:spLocks xmlns:a="http://schemas.openxmlformats.org/drawingml/2006/main" noGrp="1"/>
          </p:cNvSpPr>
          <p:nvPr/>
        </p:nvSpPr>
        <p:spPr>
          <a:xfrm xmlns:a="http://schemas.openxmlformats.org/drawingml/2006/main">
            <a:off x="8858250" y="3400425"/>
            <a:ext cx="2333625" cy="885825"/>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Nearest input</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(ix,iy)</a:t>
            </a:r>
          </a:p>
        </p:txBody>
      </p:sp>
      <p:sp>
        <p:nvSpPr>
          <p:cNvPr id="10" name="lookup">
            <a:extLst xmlns:a="http://schemas.openxmlformats.org/drawingml/2006/main">
              <a:ext uri="{FF2B5EF4-FFF2-40B4-BE49-F238E27FC236}">
                <a16:creationId xmlns:a16="http://schemas.microsoft.com/office/drawing/2014/main" id="{AE73027A-6533-44F2-AF24-82A52397D8EA}"/>
              </a:ext>
            </a:extLst>
          </p:cNvPr>
          <p:cNvSpPr>
            <a:spLocks xmlns:a="http://schemas.openxmlformats.org/drawingml/2006/main" noGrp="1"/>
          </p:cNvSpPr>
          <p:nvPr/>
        </p:nvSpPr>
        <p:spPr>
          <a:xfrm xmlns:a="http://schemas.openxmlformats.org/drawingml/2006/main">
            <a:off x="10210800" y="2924175"/>
            <a:ext cx="1066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B83"/>
                </a:solidFill>
                <a:latin typeface="Arial"/>
                <a:ea typeface="Arial"/>
                <a:cs typeface="Arial"/>
              </a:defRPr>
            </a:defPPr>
          </a:lstStyle>
          <a:p xmlns:a="http://schemas.openxmlformats.org/drawingml/2006/main">
            <a:pPr algn="l">
              <a:defRPr sz="1575" b="0">
                <a:solidFill>
                  <a:srgbClr val="007B83"/>
                </a:solidFill>
                <a:latin typeface="Arial"/>
                <a:ea typeface="Arial"/>
                <a:cs typeface="Arial"/>
              </a:defRPr>
            </a:pPr>
            <a:r>
              <a:rPr sz="1575" b="0">
                <a:solidFill>
                  <a:srgbClr val="007B83"/>
                </a:solidFill>
                <a:latin typeface="Arial"/>
                <a:ea typeface="Arial"/>
                <a:cs typeface="Arial"/>
              </a:rPr>
              <a:t>lookup</a:t>
            </a:r>
          </a:p>
        </p:txBody>
      </p:sp>
      <p:sp>
        <p:nvSpPr>
          <p:cNvPr id="11" name="Forward [c s; −s c]; inverse [c −s; s c]. Positive θ is">
            <a:extLst xmlns:a="http://schemas.openxmlformats.org/drawingml/2006/main">
              <a:ext uri="{FF2B5EF4-FFF2-40B4-BE49-F238E27FC236}">
                <a16:creationId xmlns:a16="http://schemas.microsoft.com/office/drawing/2014/main" id="{D54D5EFC-EEEC-4B0C-B1C7-2128A8A94985}"/>
              </a:ext>
            </a:extLst>
          </p:cNvPr>
          <p:cNvSpPr>
            <a:spLocks xmlns:a="http://schemas.openxmlformats.org/drawingml/2006/main" noGrp="1"/>
          </p:cNvSpPr>
          <p:nvPr/>
        </p:nvSpPr>
        <p:spPr>
          <a:xfrm xmlns:a="http://schemas.openxmlformats.org/drawingml/2006/main">
            <a:off x="609600" y="4191000"/>
            <a:ext cx="771525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Forward [c s; −s c]; inverse [c −s; s c]. Positive θ is visually counterclockwise.</a:t>
            </a:r>
          </a:p>
        </p:txBody>
      </p:sp>
      <p:sp>
        <p:nvSpPr>
          <p:cNvPr id="12" name="Fixed RGB canvas can crop; black borders. Gathering avo">
            <a:extLst xmlns:a="http://schemas.openxmlformats.org/drawingml/2006/main">
              <a:ext uri="{FF2B5EF4-FFF2-40B4-BE49-F238E27FC236}">
                <a16:creationId xmlns:a16="http://schemas.microsoft.com/office/drawing/2014/main" id="{18780981-5129-4653-A1C1-4DD05A22C079}"/>
              </a:ext>
            </a:extLst>
          </p:cNvPr>
          <p:cNvSpPr>
            <a:spLocks xmlns:a="http://schemas.openxmlformats.org/drawingml/2006/main" noGrp="1"/>
          </p:cNvSpPr>
          <p:nvPr/>
        </p:nvSpPr>
        <p:spPr>
          <a:xfrm xmlns:a="http://schemas.openxmlformats.org/drawingml/2006/main">
            <a:off x="609600" y="4641342"/>
            <a:ext cx="771525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Fixed RGB canvas can crop; black borders. Gathering avoids scatter holes;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can alias.</a:t>
            </a:r>
          </a:p>
        </p:txBody>
      </p:sp>
      <p:sp>
        <p:nvSpPr>
          <p:cNvPr id="13" name="">
            <a:extLst xmlns:a="http://schemas.openxmlformats.org/drawingml/2006/main">
              <a:ext uri="{FF2B5EF4-FFF2-40B4-BE49-F238E27FC236}">
                <a16:creationId xmlns:a16="http://schemas.microsoft.com/office/drawing/2014/main" id="{0D46821A-E8E9-42F7-8196-7BDDAA66DEAD}"/>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4" name="One thread owns one output pixel: gather a source value">
            <a:extLst xmlns:a="http://schemas.openxmlformats.org/drawingml/2006/main">
              <a:ext uri="{FF2B5EF4-FFF2-40B4-BE49-F238E27FC236}">
                <a16:creationId xmlns:a16="http://schemas.microsoft.com/office/drawing/2014/main" id="{469954D1-232B-4514-9B69-BE8AFA63FCDA}"/>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One thread owns one output pixel: gather a source value, then write once.</a:t>
            </a:r>
          </a:p>
        </p:txBody>
      </p:sp>
      <p:sp>
        <p:nvSpPr>
          <p:cNvPr id="15" name="">
            <a:extLst xmlns:a="http://schemas.openxmlformats.org/drawingml/2006/main">
              <a:ext uri="{FF2B5EF4-FFF2-40B4-BE49-F238E27FC236}">
                <a16:creationId xmlns:a16="http://schemas.microsoft.com/office/drawing/2014/main" id="{AA829C28-C916-41C6-B4EE-6E29BD53E7C2}"/>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6" name="Sources: [1] NVIDIA CUDA programming model">
            <a:extLst xmlns:a="http://schemas.openxmlformats.org/drawingml/2006/main">
              <a:ext uri="{FF2B5EF4-FFF2-40B4-BE49-F238E27FC236}">
                <a16:creationId xmlns:a16="http://schemas.microsoft.com/office/drawing/2014/main" id="{CB9AB61C-FF2F-49C7-8D7D-94050CE71D0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7" name="3 / 46">
            <a:extLst xmlns:a="http://schemas.openxmlformats.org/drawingml/2006/main">
              <a:ext uri="{FF2B5EF4-FFF2-40B4-BE49-F238E27FC236}">
                <a16:creationId xmlns:a16="http://schemas.microsoft.com/office/drawing/2014/main" id="{A0495B65-D8B9-4F69-8229-8C35834FAF8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 / 46</a:t>
            </a:r>
          </a:p>
        </p:txBody>
      </p:sp>
    </p:spTree>
    <p:extLst>
      <p:ext uri="{BB962C8B-B14F-4D97-AF65-F5344CB8AC3E}">
        <p14:creationId xmlns:p14="http://schemas.microsoft.com/office/powerpoint/2010/main" val="56582064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C0CE83F-FCE0-4E44-8F10-F3FB3BD2E200}"/>
              </a:ext>
            </a:extLst>
          </p:cNvPr>
          <p:cNvCxnSpPr>
            <a:stCxn xmlns:a="http://schemas.openxmlformats.org/drawingml/2006/main" id="7" idx="2"/>
            <a:endCxn xmlns:a="http://schemas.openxmlformats.org/drawingml/2006/main" id="8" idx="0"/>
          </p:cNvCxnSpPr>
          <p:nvPr/>
        </p:nvCxnSpPr>
        <p:spPr>
          <a:xfrm xmlns:a="http://schemas.openxmlformats.org/drawingml/2006/main">
            <a:off x="9801225" y="3429000"/>
            <a:ext cx="0" cy="47625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D7154E82-4CD1-429A-BFEB-D26F70B4F724}"/>
              </a:ext>
            </a:extLst>
          </p:cNvPr>
          <p:cNvCxnSpPr>
            <a:stCxn xmlns:a="http://schemas.openxmlformats.org/drawingml/2006/main" id="6" idx="2"/>
            <a:endCxn xmlns:a="http://schemas.openxmlformats.org/drawingml/2006/main" id="7" idx="0"/>
          </p:cNvCxnSpPr>
          <p:nvPr/>
        </p:nvCxnSpPr>
        <p:spPr>
          <a:xfrm xmlns:a="http://schemas.openxmlformats.org/drawingml/2006/main">
            <a:off x="9801225" y="2171700"/>
            <a:ext cx="0" cy="47625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1" name="Task 1(b) • Execution model">
            <a:extLst xmlns:a="http://schemas.openxmlformats.org/drawingml/2006/main">
              <a:ext uri="{FF2B5EF4-FFF2-40B4-BE49-F238E27FC236}">
                <a16:creationId xmlns:a16="http://schemas.microsoft.com/office/drawing/2014/main" id="{13A7F43F-371A-4759-904B-BA68A15A0347}"/>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1(b) • Execution model</a:t>
            </a:r>
          </a:p>
        </p:txBody>
      </p:sp>
      <p:sp>
        <p:nvSpPr>
          <p:cNvPr id="2" name="CUDA maps pixels to scheduled threads">
            <a:extLst xmlns:a="http://schemas.openxmlformats.org/drawingml/2006/main">
              <a:ext uri="{FF2B5EF4-FFF2-40B4-BE49-F238E27FC236}">
                <a16:creationId xmlns:a16="http://schemas.microsoft.com/office/drawing/2014/main" id="{8DC1AFFF-D33C-48C5-AFDB-A17A270179D1}"/>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maps pixels to scheduled threads</a:t>
            </a:r>
          </a:p>
        </p:txBody>
      </p:sp>
      <p:sp>
        <p:nvSpPr>
          <p:cNvPr id="3" name="Host launch + device pixel indexing">
            <a:extLst xmlns:a="http://schemas.openxmlformats.org/drawingml/2006/main">
              <a:ext uri="{FF2B5EF4-FFF2-40B4-BE49-F238E27FC236}">
                <a16:creationId xmlns:a16="http://schemas.microsoft.com/office/drawing/2014/main" id="{6AA7408F-85BA-4165-A2BA-3D6D0B3DCF41}"/>
              </a:ext>
            </a:extLst>
          </p:cNvPr>
          <p:cNvSpPr>
            <a:spLocks xmlns:a="http://schemas.openxmlformats.org/drawingml/2006/main" noGrp="1"/>
          </p:cNvSpPr>
          <p:nvPr/>
        </p:nvSpPr>
        <p:spPr>
          <a:xfrm xmlns:a="http://schemas.openxmlformats.org/drawingml/2006/main">
            <a:off x="609600" y="1476375"/>
            <a:ext cx="653415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Host launch + device pixel indexing</a:t>
            </a:r>
          </a:p>
        </p:txBody>
      </p:sp>
      <p:sp>
        <p:nvSpPr>
          <p:cNvPr id="4" name="">
            <a:extLst xmlns:a="http://schemas.openxmlformats.org/drawingml/2006/main">
              <a:ext uri="{FF2B5EF4-FFF2-40B4-BE49-F238E27FC236}">
                <a16:creationId xmlns:a16="http://schemas.microsoft.com/office/drawing/2014/main" id="{D4EC3987-5777-4E3F-8FE2-72CD832AC991}"/>
              </a:ext>
            </a:extLst>
          </p:cNvPr>
          <p:cNvSpPr>
            <a:spLocks xmlns:a="http://schemas.openxmlformats.org/drawingml/2006/main" noGrp="1"/>
          </p:cNvSpPr>
          <p:nvPr/>
        </p:nvSpPr>
        <p:spPr>
          <a:xfrm xmlns:a="http://schemas.openxmlformats.org/drawingml/2006/main">
            <a:off x="609600" y="1876425"/>
            <a:ext cx="6800850" cy="160020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dim3 block(16,16), grid(64,64);&#10;rotate_rgb&lt;&lt;&lt;grid,block">
            <a:extLst xmlns:a="http://schemas.openxmlformats.org/drawingml/2006/main">
              <a:ext uri="{FF2B5EF4-FFF2-40B4-BE49-F238E27FC236}">
                <a16:creationId xmlns:a16="http://schemas.microsoft.com/office/drawing/2014/main" id="{69FB720A-C3A3-4181-A921-BC71521D4905}"/>
              </a:ext>
            </a:extLst>
          </p:cNvPr>
          <p:cNvSpPr>
            <a:spLocks xmlns:a="http://schemas.openxmlformats.org/drawingml/2006/main" noGrp="1"/>
          </p:cNvSpPr>
          <p:nvPr/>
        </p:nvSpPr>
        <p:spPr>
          <a:xfrm xmlns:a="http://schemas.openxmlformats.org/drawingml/2006/main">
            <a:off x="723900" y="1962150"/>
            <a:ext cx="6572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42D45"/>
                </a:solidFill>
                <a:latin typeface="Consolas"/>
                <a:ea typeface="Consolas"/>
                <a:cs typeface="Consolas"/>
              </a:defRPr>
            </a:defPPr>
          </a:lstStyle>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dim3 block(16,16), grid(64,64);</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rotate_rgb&lt;&lt;&lt;grid,block&gt;&gt;&gt;(</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    d_in,d_out,1024,1024,c,s);</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x = blockIdx.x*blockDim.x + threadIdx.x;</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y = blockIdx.y*blockDim.y + threadIdx.y;</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if (x &gt;= W || y &gt;= H) return;</a:t>
            </a:r>
          </a:p>
        </p:txBody>
      </p:sp>
      <p:sp>
        <p:nvSpPr>
          <p:cNvPr id="6" name="">
            <a:extLst xmlns:a="http://schemas.openxmlformats.org/drawingml/2006/main">
              <a:ext uri="{FF2B5EF4-FFF2-40B4-BE49-F238E27FC236}">
                <a16:creationId xmlns:a16="http://schemas.microsoft.com/office/drawing/2014/main" id="{3B65EE38-2BA7-45D4-86C0-B93F77E3A71B}"/>
              </a:ext>
            </a:extLst>
          </p:cNvPr>
          <p:cNvSpPr>
            <a:spLocks xmlns:a="http://schemas.openxmlformats.org/drawingml/2006/main" noGrp="1"/>
          </p:cNvSpPr>
          <p:nvPr/>
        </p:nvSpPr>
        <p:spPr>
          <a:xfrm xmlns:a="http://schemas.openxmlformats.org/drawingml/2006/main">
            <a:off x="8020050" y="1571625"/>
            <a:ext cx="3562350" cy="600075"/>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Grid: 64 × 64 blocks</a:t>
            </a:r>
          </a:p>
        </p:txBody>
      </p:sp>
      <p:sp>
        <p:nvSpPr>
          <p:cNvPr id="7" name="">
            <a:extLst xmlns:a="http://schemas.openxmlformats.org/drawingml/2006/main">
              <a:ext uri="{FF2B5EF4-FFF2-40B4-BE49-F238E27FC236}">
                <a16:creationId xmlns:a16="http://schemas.microsoft.com/office/drawing/2014/main" id="{B1F763CB-F44B-4BDB-91D4-6403A85CAB88}"/>
              </a:ext>
            </a:extLst>
          </p:cNvPr>
          <p:cNvSpPr>
            <a:spLocks xmlns:a="http://schemas.openxmlformats.org/drawingml/2006/main" noGrp="1"/>
          </p:cNvSpPr>
          <p:nvPr/>
        </p:nvSpPr>
        <p:spPr>
          <a:xfrm xmlns:a="http://schemas.openxmlformats.org/drawingml/2006/main">
            <a:off x="8020050" y="2647950"/>
            <a:ext cx="35623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Block: 16 × 16 threads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256 threads = 8 warps</a:t>
            </a:r>
          </a:p>
        </p:txBody>
      </p:sp>
      <p:sp>
        <p:nvSpPr>
          <p:cNvPr id="8" name="">
            <a:extLst xmlns:a="http://schemas.openxmlformats.org/drawingml/2006/main">
              <a:ext uri="{FF2B5EF4-FFF2-40B4-BE49-F238E27FC236}">
                <a16:creationId xmlns:a16="http://schemas.microsoft.com/office/drawing/2014/main" id="{2DA5CA27-DD70-40CD-928D-0583BF3639E1}"/>
              </a:ext>
            </a:extLst>
          </p:cNvPr>
          <p:cNvSpPr>
            <a:spLocks xmlns:a="http://schemas.openxmlformats.org/drawingml/2006/main" noGrp="1"/>
          </p:cNvSpPr>
          <p:nvPr/>
        </p:nvSpPr>
        <p:spPr>
          <a:xfrm xmlns:a="http://schemas.openxmlformats.org/drawingml/2006/main">
            <a:off x="8020050" y="3905250"/>
            <a:ext cx="35623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SMs schedule resident warps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32 threads/warp • SIMT</a:t>
            </a:r>
          </a:p>
        </p:txBody>
      </p:sp>
      <p:sp>
        <p:nvSpPr>
          <p:cNvPr id="11" name="Second kernel feature: clamp a brightness channel">
            <a:extLst xmlns:a="http://schemas.openxmlformats.org/drawingml/2006/main">
              <a:ext uri="{FF2B5EF4-FFF2-40B4-BE49-F238E27FC236}">
                <a16:creationId xmlns:a16="http://schemas.microsoft.com/office/drawing/2014/main" id="{0F4DA787-33B6-431D-B363-BAF7A7433706}"/>
              </a:ext>
            </a:extLst>
          </p:cNvPr>
          <p:cNvSpPr>
            <a:spLocks xmlns:a="http://schemas.openxmlformats.org/drawingml/2006/main" noGrp="1"/>
          </p:cNvSpPr>
          <p:nvPr/>
        </p:nvSpPr>
        <p:spPr>
          <a:xfrm xmlns:a="http://schemas.openxmlformats.org/drawingml/2006/main">
            <a:off x="609600" y="3743325"/>
            <a:ext cx="653415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B83"/>
                </a:solidFill>
                <a:latin typeface="Arial"/>
                <a:ea typeface="Arial"/>
                <a:cs typeface="Arial"/>
              </a:defRPr>
            </a:defPPr>
          </a:lstStyle>
          <a:p xmlns:a="http://schemas.openxmlformats.org/drawingml/2006/main">
            <a:pPr algn="l">
              <a:defRPr sz="1725" b="1">
                <a:solidFill>
                  <a:srgbClr val="007B83"/>
                </a:solidFill>
                <a:latin typeface="Arial"/>
                <a:ea typeface="Arial"/>
                <a:cs typeface="Arial"/>
              </a:defRPr>
            </a:pPr>
            <a:r>
              <a:rPr sz="1725" b="1">
                <a:solidFill>
                  <a:srgbClr val="007B83"/>
                </a:solidFill>
                <a:latin typeface="Arial"/>
                <a:ea typeface="Arial"/>
                <a:cs typeface="Arial"/>
              </a:rPr>
              <a:t>Second kernel feature: clamp a brightness channel</a:t>
            </a:r>
          </a:p>
        </p:txBody>
      </p:sp>
      <p:sp>
        <p:nvSpPr>
          <p:cNvPr id="12" name="">
            <a:extLst xmlns:a="http://schemas.openxmlformats.org/drawingml/2006/main">
              <a:ext uri="{FF2B5EF4-FFF2-40B4-BE49-F238E27FC236}">
                <a16:creationId xmlns:a16="http://schemas.microsoft.com/office/drawing/2014/main" id="{4243F19C-AD62-4311-9707-6B0A56919D0C}"/>
              </a:ext>
            </a:extLst>
          </p:cNvPr>
          <p:cNvSpPr>
            <a:spLocks xmlns:a="http://schemas.openxmlformats.org/drawingml/2006/main" noGrp="1"/>
          </p:cNvSpPr>
          <p:nvPr/>
        </p:nvSpPr>
        <p:spPr>
          <a:xfrm xmlns:a="http://schemas.openxmlformats.org/drawingml/2006/main">
            <a:off x="609600" y="4105275"/>
            <a:ext cx="6800850" cy="68580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13" name="int v = int(in[p]) + delta;&#10;out[p] = v&lt;0 ? 0 : (v&gt;255 ?">
            <a:extLst xmlns:a="http://schemas.openxmlformats.org/drawingml/2006/main">
              <a:ext uri="{FF2B5EF4-FFF2-40B4-BE49-F238E27FC236}">
                <a16:creationId xmlns:a16="http://schemas.microsoft.com/office/drawing/2014/main" id="{2B0EEAF8-7E1C-4547-B5F1-A0D5A3B88882}"/>
              </a:ext>
            </a:extLst>
          </p:cNvPr>
          <p:cNvSpPr>
            <a:spLocks xmlns:a="http://schemas.openxmlformats.org/drawingml/2006/main" noGrp="1"/>
          </p:cNvSpPr>
          <p:nvPr/>
        </p:nvSpPr>
        <p:spPr>
          <a:xfrm xmlns:a="http://schemas.openxmlformats.org/drawingml/2006/main">
            <a:off x="723900" y="41910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42D45"/>
                </a:solidFill>
                <a:latin typeface="Consolas"/>
                <a:ea typeface="Consolas"/>
                <a:cs typeface="Consolas"/>
              </a:defRPr>
            </a:defPPr>
          </a:lstStyle>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v = int(in[p]) + delta;</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out[p] = v&lt;0 ? 0 : (v&gt;255 ? 255 : v);</a:t>
            </a:r>
          </a:p>
        </p:txBody>
      </p:sp>
      <p:sp>
        <p:nvSpPr>
          <p:cNvPr id="14" name="After bounds checks: p = 3*(size_t(y)*W+x)+ch; ch ∈ [0,">
            <a:extLst xmlns:a="http://schemas.openxmlformats.org/drawingml/2006/main">
              <a:ext uri="{FF2B5EF4-FFF2-40B4-BE49-F238E27FC236}">
                <a16:creationId xmlns:a16="http://schemas.microsoft.com/office/drawing/2014/main" id="{854C6CDD-A025-4FEA-A03F-EC9E76522F37}"/>
              </a:ext>
            </a:extLst>
          </p:cNvPr>
          <p:cNvSpPr>
            <a:spLocks xmlns:a="http://schemas.openxmlformats.org/drawingml/2006/main" noGrp="1"/>
          </p:cNvSpPr>
          <p:nvPr/>
        </p:nvSpPr>
        <p:spPr>
          <a:xfrm xmlns:a="http://schemas.openxmlformats.org/drawingml/2006/main">
            <a:off x="609600" y="4981575"/>
            <a:ext cx="6762750" cy="4869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42D45"/>
                </a:solidFill>
                <a:latin typeface="Arial"/>
                <a:ea typeface="Arial"/>
                <a:cs typeface="Arial"/>
              </a:defRPr>
            </a:defPPr>
          </a:lstStyle>
          <a:p xmlns:a="http://schemas.openxmlformats.org/drawingml/2006/main">
            <a:pPr algn="l">
              <a:defRPr sz="1425" b="0">
                <a:solidFill>
                  <a:srgbClr val="142D45"/>
                </a:solidFill>
                <a:latin typeface="Arial"/>
                <a:ea typeface="Arial"/>
                <a:cs typeface="Arial"/>
              </a:defRPr>
            </a:pPr>
            <a:r>
              <a:rPr sz="1425" b="0">
                <a:solidFill>
                  <a:srgbClr val="142D45"/>
                </a:solidFill>
                <a:latin typeface="Arial"/>
                <a:ea typeface="Arial"/>
                <a:cs typeface="Arial"/>
              </a:rPr>
              <a:t>After bounds checks: p = 3*(size_t(y)*W+x)+ch; ch ∈ [0,2]; delta ∈ [−255,255].</a:t>
            </a:r>
          </a:p>
          <a:p xmlns:a="http://schemas.openxmlformats.org/drawingml/2006/main">
            <a:pPr algn="l">
              <a:defRPr sz="1425" b="0">
                <a:solidFill>
                  <a:srgbClr val="142D45"/>
                </a:solidFill>
                <a:latin typeface="Arial"/>
                <a:ea typeface="Arial"/>
                <a:cs typeface="Arial"/>
              </a:defRPr>
            </a:pPr>
            <a:r>
              <a:rPr sz="1425" b="0">
                <a:solidFill>
                  <a:srgbClr val="142D45"/>
                </a:solidFill>
                <a:latin typeface="Arial"/>
                <a:ea typeface="Arial"/>
                <a:cs typeface="Arial"/>
              </a:rPr>
              <a:t>Separate RGB buffers. Uncompiled excerpts.</a:t>
            </a:r>
          </a:p>
        </p:txBody>
      </p:sp>
      <p:sp>
        <p:nvSpPr>
          <p:cNvPr id="15" name="Residency hides latency; registers and divergence limit">
            <a:extLst xmlns:a="http://schemas.openxmlformats.org/drawingml/2006/main">
              <a:ext uri="{FF2B5EF4-FFF2-40B4-BE49-F238E27FC236}">
                <a16:creationId xmlns:a16="http://schemas.microsoft.com/office/drawing/2014/main" id="{8DB01AEE-5A8B-466B-8103-B3463BE2FFD9}"/>
              </a:ext>
            </a:extLst>
          </p:cNvPr>
          <p:cNvSpPr>
            <a:spLocks xmlns:a="http://schemas.openxmlformats.org/drawingml/2006/main" noGrp="1"/>
          </p:cNvSpPr>
          <p:nvPr/>
        </p:nvSpPr>
        <p:spPr>
          <a:xfrm xmlns:a="http://schemas.openxmlformats.org/drawingml/2006/main">
            <a:off x="8020050" y="4981575"/>
            <a:ext cx="356235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Residency hides latency; registers and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divergence limit execution.</a:t>
            </a:r>
          </a:p>
        </p:txBody>
      </p:sp>
      <p:sp>
        <p:nvSpPr>
          <p:cNvPr id="16" name="">
            <a:extLst xmlns:a="http://schemas.openxmlformats.org/drawingml/2006/main">
              <a:ext uri="{FF2B5EF4-FFF2-40B4-BE49-F238E27FC236}">
                <a16:creationId xmlns:a16="http://schemas.microsoft.com/office/drawing/2014/main" id="{B3CDE638-CB45-4CE6-B258-7BF33354C1B2}"/>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7" name="A logical grid exposes work; SMs execute resident warps">
            <a:extLst xmlns:a="http://schemas.openxmlformats.org/drawingml/2006/main">
              <a:ext uri="{FF2B5EF4-FFF2-40B4-BE49-F238E27FC236}">
                <a16:creationId xmlns:a16="http://schemas.microsoft.com/office/drawing/2014/main" id="{84585DF9-64C6-4788-A356-6B5F4B02F517}"/>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A logical grid exposes work; SMs execute resident warps with SIMT.</a:t>
            </a:r>
          </a:p>
        </p:txBody>
      </p:sp>
      <p:sp>
        <p:nvSpPr>
          <p:cNvPr id="18" name="">
            <a:extLst xmlns:a="http://schemas.openxmlformats.org/drawingml/2006/main">
              <a:ext uri="{FF2B5EF4-FFF2-40B4-BE49-F238E27FC236}">
                <a16:creationId xmlns:a16="http://schemas.microsoft.com/office/drawing/2014/main" id="{6C1A110C-09DE-42CC-A080-7DB8883CB50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9" name="Sources: [1] NVIDIA CUDA programming model; [2] NVIDIA ">
            <a:extLst xmlns:a="http://schemas.openxmlformats.org/drawingml/2006/main">
              <a:ext uri="{FF2B5EF4-FFF2-40B4-BE49-F238E27FC236}">
                <a16:creationId xmlns:a16="http://schemas.microsoft.com/office/drawing/2014/main" id="{1607D06D-5E45-427C-85A6-C632FDEB8F6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0" name="4 / 46">
            <a:extLst xmlns:a="http://schemas.openxmlformats.org/drawingml/2006/main">
              <a:ext uri="{FF2B5EF4-FFF2-40B4-BE49-F238E27FC236}">
                <a16:creationId xmlns:a16="http://schemas.microsoft.com/office/drawing/2014/main" id="{5F69076E-5771-47BB-894D-EB5E7097715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 / 46</a:t>
            </a:r>
          </a:p>
        </p:txBody>
      </p:sp>
    </p:spTree>
    <p:extLst>
      <p:ext uri="{BB962C8B-B14F-4D97-AF65-F5344CB8AC3E}">
        <p14:creationId xmlns:p14="http://schemas.microsoft.com/office/powerpoint/2010/main" val="1755254028"/>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Task 1(b) • Expected speedup">
            <a:extLst xmlns:a="http://schemas.openxmlformats.org/drawingml/2006/main">
              <a:ext uri="{FF2B5EF4-FFF2-40B4-BE49-F238E27FC236}">
                <a16:creationId xmlns:a16="http://schemas.microsoft.com/office/drawing/2014/main" id="{4D531EF6-B333-40C5-A324-3BFA90B1B160}"/>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1(b) • Expected speedup</a:t>
            </a:r>
          </a:p>
        </p:txBody>
      </p:sp>
      <p:sp>
        <p:nvSpPr>
          <p:cNvPr id="2" name="Throughput gains depend on the bottleneck">
            <a:extLst xmlns:a="http://schemas.openxmlformats.org/drawingml/2006/main">
              <a:ext uri="{FF2B5EF4-FFF2-40B4-BE49-F238E27FC236}">
                <a16:creationId xmlns:a16="http://schemas.microsoft.com/office/drawing/2014/main" id="{40F6280B-8B25-4ECD-8594-C1D86F0B246D}"/>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Throughput gains depend on the bottleneck</a:t>
            </a:r>
          </a:p>
        </p:txBody>
      </p:sp>
      <p:sp>
        <p:nvSpPr>
          <p:cNvPr id="3" name="Why a GPU can be faster">
            <a:extLst xmlns:a="http://schemas.openxmlformats.org/drawingml/2006/main">
              <a:ext uri="{FF2B5EF4-FFF2-40B4-BE49-F238E27FC236}">
                <a16:creationId xmlns:a16="http://schemas.microsoft.com/office/drawing/2014/main" id="{D1679844-8087-4A57-B318-5C40E94857C4}"/>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Why a GPU can be faster</a:t>
            </a:r>
          </a:p>
        </p:txBody>
      </p:sp>
      <p:sp>
        <p:nvSpPr>
          <p:cNvPr id="4" name="Many execution units and high device-memory bandwidth p">
            <a:extLst xmlns:a="http://schemas.openxmlformats.org/drawingml/2006/main">
              <a:ext uri="{FF2B5EF4-FFF2-40B4-BE49-F238E27FC236}">
                <a16:creationId xmlns:a16="http://schemas.microsoft.com/office/drawing/2014/main" id="{EFB6E671-E631-48A1-A513-C3F5A8DD8A5D}"/>
              </a:ext>
            </a:extLst>
          </p:cNvPr>
          <p:cNvSpPr>
            <a:spLocks xmlns:a="http://schemas.openxmlformats.org/drawingml/2006/main" noGrp="1"/>
          </p:cNvSpPr>
          <p:nvPr/>
        </p:nvSpPr>
        <p:spPr>
          <a:xfrm xmlns:a="http://schemas.openxmlformats.org/drawingml/2006/main">
            <a:off x="60960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Many execution units and high device-memory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bandwidth process independent pixels concurrently.</a:t>
            </a:r>
          </a:p>
        </p:txBody>
      </p:sp>
      <p:sp>
        <p:nvSpPr>
          <p:cNvPr id="5" name="Coalesced writes help; rotated gathers, registers and d">
            <a:extLst xmlns:a="http://schemas.openxmlformats.org/drawingml/2006/main">
              <a:ext uri="{FF2B5EF4-FFF2-40B4-BE49-F238E27FC236}">
                <a16:creationId xmlns:a16="http://schemas.microsoft.com/office/drawing/2014/main" id="{87ABBC01-3BA7-41B3-91C0-2F7981CB047B}"/>
              </a:ext>
            </a:extLst>
          </p:cNvPr>
          <p:cNvSpPr>
            <a:spLocks xmlns:a="http://schemas.openxmlformats.org/drawingml/2006/main" noGrp="1"/>
          </p:cNvSpPr>
          <p:nvPr/>
        </p:nvSpPr>
        <p:spPr>
          <a:xfrm xmlns:a="http://schemas.openxmlformats.org/drawingml/2006/main">
            <a:off x="609600" y="2724531"/>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Coalesced writes help; rotated gathers, registers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divergence can limit throughput.</a:t>
            </a:r>
          </a:p>
        </p:txBody>
      </p:sp>
      <p:sp>
        <p:nvSpPr>
          <p:cNvPr id="6" name="Large/resident images amortize setup. Streams can overl">
            <a:extLst xmlns:a="http://schemas.openxmlformats.org/drawingml/2006/main">
              <a:ext uri="{FF2B5EF4-FFF2-40B4-BE49-F238E27FC236}">
                <a16:creationId xmlns:a16="http://schemas.microsoft.com/office/drawing/2014/main" id="{2DB69DC3-C02A-4BA3-A26F-F44F13470CA6}"/>
              </a:ext>
            </a:extLst>
          </p:cNvPr>
          <p:cNvSpPr>
            <a:spLocks xmlns:a="http://schemas.openxmlformats.org/drawingml/2006/main" noGrp="1"/>
          </p:cNvSpPr>
          <p:nvPr/>
        </p:nvSpPr>
        <p:spPr>
          <a:xfrm xmlns:a="http://schemas.openxmlformats.org/drawingml/2006/main">
            <a:off x="609600" y="347738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Large/resident images amortize setup. Streams can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overlap transfers/compute with separate pinned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buffers and supporting hardware.</a:t>
            </a:r>
          </a:p>
        </p:txBody>
      </p:sp>
      <p:sp>
        <p:nvSpPr>
          <p:cNvPr id="7" name="Compare completed equivalent work">
            <a:extLst xmlns:a="http://schemas.openxmlformats.org/drawingml/2006/main">
              <a:ext uri="{FF2B5EF4-FFF2-40B4-BE49-F238E27FC236}">
                <a16:creationId xmlns:a16="http://schemas.microsoft.com/office/drawing/2014/main" id="{C5D771EA-2961-4BB7-A79D-9E83FD97BC9C}"/>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Compare completed equivalent work</a:t>
            </a:r>
          </a:p>
        </p:txBody>
      </p:sp>
      <p:sp>
        <p:nvSpPr>
          <p:cNvPr id="8" name="Speedup = TCPU / TGPU,total. Same rotation/sampling on ">
            <a:extLst xmlns:a="http://schemas.openxmlformats.org/drawingml/2006/main">
              <a:ext uri="{FF2B5EF4-FFF2-40B4-BE49-F238E27FC236}">
                <a16:creationId xmlns:a16="http://schemas.microsoft.com/office/drawing/2014/main" id="{81FD70C1-FB3B-4604-980E-8AAA217DD0FA}"/>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 = TCPU / TGPU,total. Same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rotation/sampling on one CPU thread; also test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multithreaded CPU.</a:t>
            </a:r>
          </a:p>
        </p:txBody>
      </p:sp>
      <p:sp>
        <p:nvSpPr>
          <p:cNvPr id="9" name="Sequential time: setup + H2D + kernel + D2H. For overla">
            <a:extLst xmlns:a="http://schemas.openxmlformats.org/drawingml/2006/main">
              <a:ext uri="{FF2B5EF4-FFF2-40B4-BE49-F238E27FC236}">
                <a16:creationId xmlns:a16="http://schemas.microsoft.com/office/drawing/2014/main" id="{4864BC4D-1C58-4815-91E3-AE6338454C5B}"/>
              </a:ext>
            </a:extLst>
          </p:cNvPr>
          <p:cNvSpPr>
            <a:spLocks xmlns:a="http://schemas.openxmlformats.org/drawingml/2006/main" noGrp="1"/>
          </p:cNvSpPr>
          <p:nvPr/>
        </p:nvSpPr>
        <p:spPr>
          <a:xfrm xmlns:a="http://schemas.openxmlformats.org/drawingml/2006/main">
            <a:off x="641985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Sequential time: setup + H2D + kernel + D2H. For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overlapped batches, measure the completed critical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path; wait before reusing buffers.</a:t>
            </a:r>
          </a:p>
        </p:txBody>
      </p:sp>
      <p:sp>
        <p:nvSpPr>
          <p:cNvPr id="10" name="Amdahl: serial work bounds gains. No measured speedup; ">
            <a:extLst xmlns:a="http://schemas.openxmlformats.org/drawingml/2006/main">
              <a:ext uri="{FF2B5EF4-FFF2-40B4-BE49-F238E27FC236}">
                <a16:creationId xmlns:a16="http://schemas.microsoft.com/office/drawing/2014/main" id="{F5148F5B-E99D-447D-8525-047E11B5E0FC}"/>
              </a:ext>
            </a:extLst>
          </p:cNvPr>
          <p:cNvSpPr>
            <a:spLocks xmlns:a="http://schemas.openxmlformats.org/drawingml/2006/main" noGrp="1"/>
          </p:cNvSpPr>
          <p:nvPr/>
        </p:nvSpPr>
        <p:spPr>
          <a:xfrm xmlns:a="http://schemas.openxmlformats.org/drawingml/2006/main">
            <a:off x="6419850" y="4020693"/>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Amdahl: serial work bounds gains. No measured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 compile, verify and profile.</a:t>
            </a:r>
          </a:p>
        </p:txBody>
      </p:sp>
      <p:sp>
        <p:nvSpPr>
          <p:cNvPr id="11" name="">
            <a:extLst xmlns:a="http://schemas.openxmlformats.org/drawingml/2006/main">
              <a:ext uri="{FF2B5EF4-FFF2-40B4-BE49-F238E27FC236}">
                <a16:creationId xmlns:a16="http://schemas.microsoft.com/office/drawing/2014/main" id="{0A03F312-23D2-4A6D-8390-0AAA54DED352}"/>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8411CF33-2390-480E-9C83-0E3E3F5BE2C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a:extLst xmlns:a="http://schemas.openxmlformats.org/drawingml/2006/main">
              <a:ext uri="{FF2B5EF4-FFF2-40B4-BE49-F238E27FC236}">
                <a16:creationId xmlns:a16="http://schemas.microsoft.com/office/drawing/2014/main" id="{D6ED4B6E-9865-4AE4-90F4-185D0E51C913}"/>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5 / 46">
            <a:extLst xmlns:a="http://schemas.openxmlformats.org/drawingml/2006/main">
              <a:ext uri="{FF2B5EF4-FFF2-40B4-BE49-F238E27FC236}">
                <a16:creationId xmlns:a16="http://schemas.microsoft.com/office/drawing/2014/main" id="{8906316D-521D-463C-983E-1650201B00D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5 / 46</a:t>
            </a:r>
          </a:p>
        </p:txBody>
      </p:sp>
    </p:spTree>
    <p:extLst>
      <p:ext uri="{BB962C8B-B14F-4D97-AF65-F5344CB8AC3E}">
        <p14:creationId xmlns:p14="http://schemas.microsoft.com/office/powerpoint/2010/main" val="1439056185"/>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F6F581F-1D3E-49F3-8ECD-F0FE3017D36D}"/>
              </a:ext>
            </a:extLst>
          </p:cNvPr>
          <p:cNvCxnSpPr>
            <a:stCxn xmlns:a="http://schemas.openxmlformats.org/drawingml/2006/main" id="12" idx="3"/>
            <a:endCxn xmlns:a="http://schemas.openxmlformats.org/drawingml/2006/main" id="13" idx="1"/>
          </p:cNvCxnSpPr>
          <p:nvPr/>
        </p:nvCxnSpPr>
        <p:spPr>
          <a:xfrm xmlns:a="http://schemas.openxmlformats.org/drawingml/2006/main">
            <a:off x="3086100" y="3743325"/>
            <a:ext cx="619125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956DDFDF-451C-49F2-9848-33B5FB6E43F3}"/>
              </a:ext>
            </a:extLst>
          </p:cNvPr>
          <p:cNvCxnSpPr>
            <a:stCxn xmlns:a="http://schemas.openxmlformats.org/drawingml/2006/main" id="5" idx="3"/>
            <a:endCxn xmlns:a="http://schemas.openxmlformats.org/drawingml/2006/main" id="6" idx="1"/>
          </p:cNvCxnSpPr>
          <p:nvPr/>
        </p:nvCxnSpPr>
        <p:spPr>
          <a:xfrm xmlns:a="http://schemas.openxmlformats.org/drawingml/2006/main">
            <a:off x="7372350" y="2343150"/>
            <a:ext cx="19050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1B7C42E2-C547-44B2-822A-449B3D2419C1}"/>
              </a:ext>
            </a:extLst>
          </p:cNvPr>
          <p:cNvCxnSpPr>
            <a:stCxn xmlns:a="http://schemas.openxmlformats.org/drawingml/2006/main" id="4" idx="3"/>
            <a:endCxn xmlns:a="http://schemas.openxmlformats.org/drawingml/2006/main" id="5" idx="1"/>
          </p:cNvCxnSpPr>
          <p:nvPr/>
        </p:nvCxnSpPr>
        <p:spPr>
          <a:xfrm xmlns:a="http://schemas.openxmlformats.org/drawingml/2006/main">
            <a:off x="2657475" y="2343150"/>
            <a:ext cx="176212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3" name="Task 1(c)">
            <a:extLst xmlns:a="http://schemas.openxmlformats.org/drawingml/2006/main">
              <a:ext uri="{FF2B5EF4-FFF2-40B4-BE49-F238E27FC236}">
                <a16:creationId xmlns:a16="http://schemas.microsoft.com/office/drawing/2014/main" id="{B51A6CA9-DE7B-4AD9-A6B3-48D9BDD5C52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1(c)</a:t>
            </a:r>
          </a:p>
        </p:txBody>
      </p:sp>
      <p:sp>
        <p:nvSpPr>
          <p:cNvPr id="2" name="GPUDirect Storage and rotation">
            <a:extLst xmlns:a="http://schemas.openxmlformats.org/drawingml/2006/main">
              <a:ext uri="{FF2B5EF4-FFF2-40B4-BE49-F238E27FC236}">
                <a16:creationId xmlns:a16="http://schemas.microsoft.com/office/drawing/2014/main" id="{D4196381-EFDB-402D-A902-0CFD0BF6080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GPUDirect Storage and rotation</a:t>
            </a:r>
          </a:p>
        </p:txBody>
      </p:sp>
      <p:sp>
        <p:nvSpPr>
          <p:cNvPr id="3" name="Conventional storage path">
            <a:extLst xmlns:a="http://schemas.openxmlformats.org/drawingml/2006/main">
              <a:ext uri="{FF2B5EF4-FFF2-40B4-BE49-F238E27FC236}">
                <a16:creationId xmlns:a16="http://schemas.microsoft.com/office/drawing/2014/main" id="{7FC278DA-A457-4A36-B9CC-9D534FDF2F53}"/>
              </a:ext>
            </a:extLst>
          </p:cNvPr>
          <p:cNvSpPr>
            <a:spLocks xmlns:a="http://schemas.openxmlformats.org/drawingml/2006/main" noGrp="1"/>
          </p:cNvSpPr>
          <p:nvPr/>
        </p:nvSpPr>
        <p:spPr>
          <a:xfrm xmlns:a="http://schemas.openxmlformats.org/drawingml/2006/main">
            <a:off x="609600" y="1524000"/>
            <a:ext cx="109728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Conventional storage path</a:t>
            </a:r>
          </a:p>
        </p:txBody>
      </p:sp>
      <p:sp>
        <p:nvSpPr>
          <p:cNvPr id="4" name="">
            <a:extLst xmlns:a="http://schemas.openxmlformats.org/drawingml/2006/main">
              <a:ext uri="{FF2B5EF4-FFF2-40B4-BE49-F238E27FC236}">
                <a16:creationId xmlns:a16="http://schemas.microsoft.com/office/drawing/2014/main" id="{439E7C80-F03C-408B-9E4F-BB4E739DAAED}"/>
              </a:ext>
            </a:extLst>
          </p:cNvPr>
          <p:cNvSpPr>
            <a:spLocks xmlns:a="http://schemas.openxmlformats.org/drawingml/2006/main" noGrp="1"/>
          </p:cNvSpPr>
          <p:nvPr/>
        </p:nvSpPr>
        <p:spPr>
          <a:xfrm xmlns:a="http://schemas.openxmlformats.org/drawingml/2006/main">
            <a:off x="609600" y="1971675"/>
            <a:ext cx="2047875"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Storage</a:t>
            </a:r>
          </a:p>
        </p:txBody>
      </p:sp>
      <p:sp>
        <p:nvSpPr>
          <p:cNvPr id="5" name="">
            <a:extLst xmlns:a="http://schemas.openxmlformats.org/drawingml/2006/main">
              <a:ext uri="{FF2B5EF4-FFF2-40B4-BE49-F238E27FC236}">
                <a16:creationId xmlns:a16="http://schemas.microsoft.com/office/drawing/2014/main" id="{BFADEA50-C965-4075-A70A-FBF3AC3AF251}"/>
              </a:ext>
            </a:extLst>
          </p:cNvPr>
          <p:cNvSpPr>
            <a:spLocks xmlns:a="http://schemas.openxmlformats.org/drawingml/2006/main" noGrp="1"/>
          </p:cNvSpPr>
          <p:nvPr/>
        </p:nvSpPr>
        <p:spPr>
          <a:xfrm xmlns:a="http://schemas.openxmlformats.org/drawingml/2006/main">
            <a:off x="4419600" y="19716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Host staging RAM</a:t>
            </a:r>
          </a:p>
        </p:txBody>
      </p:sp>
      <p:sp>
        <p:nvSpPr>
          <p:cNvPr id="6" name="">
            <a:extLst xmlns:a="http://schemas.openxmlformats.org/drawingml/2006/main">
              <a:ext uri="{FF2B5EF4-FFF2-40B4-BE49-F238E27FC236}">
                <a16:creationId xmlns:a16="http://schemas.microsoft.com/office/drawing/2014/main" id="{E5EA3F1A-33AA-44A6-A822-B881F9B3B2FA}"/>
              </a:ext>
            </a:extLst>
          </p:cNvPr>
          <p:cNvSpPr>
            <a:spLocks xmlns:a="http://schemas.openxmlformats.org/drawingml/2006/main" noGrp="1"/>
          </p:cNvSpPr>
          <p:nvPr/>
        </p:nvSpPr>
        <p:spPr>
          <a:xfrm xmlns:a="http://schemas.openxmlformats.org/drawingml/2006/main">
            <a:off x="9277350" y="1971675"/>
            <a:ext cx="23050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9" name="storage read">
            <a:extLst xmlns:a="http://schemas.openxmlformats.org/drawingml/2006/main">
              <a:ext uri="{FF2B5EF4-FFF2-40B4-BE49-F238E27FC236}">
                <a16:creationId xmlns:a16="http://schemas.microsoft.com/office/drawing/2014/main" id="{45DD8EAD-E7F0-4926-B3BE-A673EE4A8E4A}"/>
              </a:ext>
            </a:extLst>
          </p:cNvPr>
          <p:cNvSpPr>
            <a:spLocks xmlns:a="http://schemas.openxmlformats.org/drawingml/2006/main" noGrp="1"/>
          </p:cNvSpPr>
          <p:nvPr/>
        </p:nvSpPr>
        <p:spPr>
          <a:xfrm xmlns:a="http://schemas.openxmlformats.org/drawingml/2006/main">
            <a:off x="2743200" y="2057400"/>
            <a:ext cx="15240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142D45"/>
                </a:solidFill>
                <a:latin typeface="Arial"/>
                <a:ea typeface="Arial"/>
                <a:cs typeface="Arial"/>
              </a:defRPr>
            </a:defPPr>
          </a:lstStyle>
          <a:p xmlns:a="http://schemas.openxmlformats.org/drawingml/2006/main">
            <a:pPr algn="ctr">
              <a:defRPr sz="1350" b="0">
                <a:solidFill>
                  <a:srgbClr val="142D45"/>
                </a:solidFill>
                <a:latin typeface="Arial"/>
                <a:ea typeface="Arial"/>
                <a:cs typeface="Arial"/>
              </a:defRPr>
            </a:pPr>
            <a:r>
              <a:rPr sz="1350" b="0">
                <a:solidFill>
                  <a:srgbClr val="142D45"/>
                </a:solidFill>
                <a:latin typeface="Arial"/>
                <a:ea typeface="Arial"/>
                <a:cs typeface="Arial"/>
              </a:rPr>
              <a:t>storage read</a:t>
            </a:r>
          </a:p>
        </p:txBody>
      </p:sp>
      <p:sp>
        <p:nvSpPr>
          <p:cNvPr id="10" name="H2D / PCIe">
            <a:extLst xmlns:a="http://schemas.openxmlformats.org/drawingml/2006/main">
              <a:ext uri="{FF2B5EF4-FFF2-40B4-BE49-F238E27FC236}">
                <a16:creationId xmlns:a16="http://schemas.microsoft.com/office/drawing/2014/main" id="{3CD98643-98E3-4A67-B19B-7DF539A0B7DD}"/>
              </a:ext>
            </a:extLst>
          </p:cNvPr>
          <p:cNvSpPr>
            <a:spLocks xmlns:a="http://schemas.openxmlformats.org/drawingml/2006/main" noGrp="1"/>
          </p:cNvSpPr>
          <p:nvPr/>
        </p:nvSpPr>
        <p:spPr>
          <a:xfrm xmlns:a="http://schemas.openxmlformats.org/drawingml/2006/main">
            <a:off x="7524750" y="2057400"/>
            <a:ext cx="1628775"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142D45"/>
                </a:solidFill>
                <a:latin typeface="Arial"/>
                <a:ea typeface="Arial"/>
                <a:cs typeface="Arial"/>
              </a:defRPr>
            </a:defPPr>
          </a:lstStyle>
          <a:p xmlns:a="http://schemas.openxmlformats.org/drawingml/2006/main">
            <a:pPr algn="ctr">
              <a:defRPr sz="1350" b="0">
                <a:solidFill>
                  <a:srgbClr val="142D45"/>
                </a:solidFill>
                <a:latin typeface="Arial"/>
                <a:ea typeface="Arial"/>
                <a:cs typeface="Arial"/>
              </a:defRPr>
            </a:pPr>
            <a:r>
              <a:rPr sz="1350" b="0">
                <a:solidFill>
                  <a:srgbClr val="142D45"/>
                </a:solidFill>
                <a:latin typeface="Arial"/>
                <a:ea typeface="Arial"/>
                <a:cs typeface="Arial"/>
              </a:rPr>
              <a:t>H2D / PCIe</a:t>
            </a:r>
          </a:p>
        </p:txBody>
      </p:sp>
      <p:sp>
        <p:nvSpPr>
          <p:cNvPr id="11" name="GDS direct path (supported configuration)">
            <a:extLst xmlns:a="http://schemas.openxmlformats.org/drawingml/2006/main">
              <a:ext uri="{FF2B5EF4-FFF2-40B4-BE49-F238E27FC236}">
                <a16:creationId xmlns:a16="http://schemas.microsoft.com/office/drawing/2014/main" id="{BC61FAF6-D6BE-4914-B655-741EF4419709}"/>
              </a:ext>
            </a:extLst>
          </p:cNvPr>
          <p:cNvSpPr>
            <a:spLocks xmlns:a="http://schemas.openxmlformats.org/drawingml/2006/main" noGrp="1"/>
          </p:cNvSpPr>
          <p:nvPr/>
        </p:nvSpPr>
        <p:spPr>
          <a:xfrm xmlns:a="http://schemas.openxmlformats.org/drawingml/2006/main">
            <a:off x="609600" y="2924175"/>
            <a:ext cx="76200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GDS direct path (supported configuration)</a:t>
            </a:r>
          </a:p>
        </p:txBody>
      </p:sp>
      <p:sp>
        <p:nvSpPr>
          <p:cNvPr id="12" name="">
            <a:extLst xmlns:a="http://schemas.openxmlformats.org/drawingml/2006/main">
              <a:ext uri="{FF2B5EF4-FFF2-40B4-BE49-F238E27FC236}">
                <a16:creationId xmlns:a16="http://schemas.microsoft.com/office/drawing/2014/main" id="{C80306E0-E074-49BA-9F46-8CB5E0169995}"/>
              </a:ext>
            </a:extLst>
          </p:cNvPr>
          <p:cNvSpPr>
            <a:spLocks xmlns:a="http://schemas.openxmlformats.org/drawingml/2006/main" noGrp="1"/>
          </p:cNvSpPr>
          <p:nvPr/>
        </p:nvSpPr>
        <p:spPr>
          <a:xfrm xmlns:a="http://schemas.openxmlformats.org/drawingml/2006/main">
            <a:off x="609600" y="3333750"/>
            <a:ext cx="2476500"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Storage-side DMA</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NVMe / NIC</a:t>
            </a:r>
          </a:p>
        </p:txBody>
      </p:sp>
      <p:sp>
        <p:nvSpPr>
          <p:cNvPr id="13" name="">
            <a:extLst xmlns:a="http://schemas.openxmlformats.org/drawingml/2006/main">
              <a:ext uri="{FF2B5EF4-FFF2-40B4-BE49-F238E27FC236}">
                <a16:creationId xmlns:a16="http://schemas.microsoft.com/office/drawing/2014/main" id="{0C16129D-246F-43F6-AEF1-ABEF641EF649}"/>
              </a:ext>
            </a:extLst>
          </p:cNvPr>
          <p:cNvSpPr>
            <a:spLocks xmlns:a="http://schemas.openxmlformats.org/drawingml/2006/main" noGrp="1"/>
          </p:cNvSpPr>
          <p:nvPr/>
        </p:nvSpPr>
        <p:spPr>
          <a:xfrm xmlns:a="http://schemas.openxmlformats.org/drawingml/2006/main">
            <a:off x="9277350" y="3333750"/>
            <a:ext cx="2305050"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15" name="PCIe data path bypasses host staging">
            <a:extLst xmlns:a="http://schemas.openxmlformats.org/drawingml/2006/main">
              <a:ext uri="{FF2B5EF4-FFF2-40B4-BE49-F238E27FC236}">
                <a16:creationId xmlns:a16="http://schemas.microsoft.com/office/drawing/2014/main" id="{86073C1D-D775-4EAF-A39D-4A74192A933B}"/>
              </a:ext>
            </a:extLst>
          </p:cNvPr>
          <p:cNvSpPr>
            <a:spLocks xmlns:a="http://schemas.openxmlformats.org/drawingml/2006/main" noGrp="1"/>
          </p:cNvSpPr>
          <p:nvPr/>
        </p:nvSpPr>
        <p:spPr>
          <a:xfrm xmlns:a="http://schemas.openxmlformats.org/drawingml/2006/main">
            <a:off x="3705225" y="3390900"/>
            <a:ext cx="49720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142D45"/>
                </a:solidFill>
                <a:latin typeface="Arial"/>
                <a:ea typeface="Arial"/>
                <a:cs typeface="Arial"/>
              </a:defRPr>
            </a:defPPr>
          </a:lstStyle>
          <a:p xmlns:a="http://schemas.openxmlformats.org/drawingml/2006/main">
            <a:pPr algn="ctr">
              <a:defRPr sz="1575" b="0">
                <a:solidFill>
                  <a:srgbClr val="142D45"/>
                </a:solidFill>
                <a:latin typeface="Arial"/>
                <a:ea typeface="Arial"/>
                <a:cs typeface="Arial"/>
              </a:defRPr>
            </a:pPr>
            <a:r>
              <a:rPr sz="1575" b="0">
                <a:solidFill>
                  <a:srgbClr val="142D45"/>
                </a:solidFill>
                <a:latin typeface="Arial"/>
                <a:ea typeface="Arial"/>
                <a:cs typeface="Arial"/>
              </a:rPr>
              <a:t>PCIe data path bypasses host staging</a:t>
            </a:r>
          </a:p>
        </p:txBody>
      </p:sp>
      <p:sp>
        <p:nvSpPr>
          <p:cNvPr id="16" name="CPU issues cuFile I/O. Fallback may stage through RAM; ">
            <a:extLst xmlns:a="http://schemas.openxmlformats.org/drawingml/2006/main">
              <a:ext uri="{FF2B5EF4-FFF2-40B4-BE49-F238E27FC236}">
                <a16:creationId xmlns:a16="http://schemas.microsoft.com/office/drawing/2014/main" id="{57D0C703-F9F0-46C4-879F-064704A2CE83}"/>
              </a:ext>
            </a:extLst>
          </p:cNvPr>
          <p:cNvSpPr>
            <a:spLocks xmlns:a="http://schemas.openxmlformats.org/drawingml/2006/main" noGrp="1"/>
          </p:cNvSpPr>
          <p:nvPr/>
        </p:nvSpPr>
        <p:spPr>
          <a:xfrm xmlns:a="http://schemas.openxmlformats.org/drawingml/2006/main">
            <a:off x="609600" y="4305300"/>
            <a:ext cx="109728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CPU issues cuFile I/O. Fallback may stage through RAM; GDS does not decode images or accelerate kernel</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arithmetic.</a:t>
            </a:r>
          </a:p>
        </p:txBody>
      </p:sp>
      <p:sp>
        <p:nvSpPr>
          <p:cNvPr id="17" name="Use conventional copies for CPU-decoded / already-in-RA">
            <a:extLst xmlns:a="http://schemas.openxmlformats.org/drawingml/2006/main">
              <a:ext uri="{FF2B5EF4-FFF2-40B4-BE49-F238E27FC236}">
                <a16:creationId xmlns:a16="http://schemas.microsoft.com/office/drawing/2014/main" id="{06307678-2135-4989-99CF-A5EFC4BBE9C9}"/>
              </a:ext>
            </a:extLst>
          </p:cNvPr>
          <p:cNvSpPr>
            <a:spLocks xmlns:a="http://schemas.openxmlformats.org/drawingml/2006/main" noGrp="1"/>
          </p:cNvSpPr>
          <p:nvPr/>
        </p:nvSpPr>
        <p:spPr>
          <a:xfrm xmlns:a="http://schemas.openxmlformats.org/drawingml/2006/main">
            <a:off x="609600" y="4924425"/>
            <a:ext cx="109728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Use conventional copies for CPU-decoded / already-in-RAM pixels. Consider GDS for storage-bound GPU-ready</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batches only with supported GPU/filesystem/driver/topology and lower completed batch time.</a:t>
            </a:r>
          </a:p>
        </p:txBody>
      </p:sp>
      <p:sp>
        <p:nvSpPr>
          <p:cNvPr id="18" name="">
            <a:extLst xmlns:a="http://schemas.openxmlformats.org/drawingml/2006/main">
              <a:ext uri="{FF2B5EF4-FFF2-40B4-BE49-F238E27FC236}">
                <a16:creationId xmlns:a16="http://schemas.microsoft.com/office/drawing/2014/main" id="{8D4298F4-5EC1-4F86-8B3D-AF1B8E3DBFC8}"/>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9" name="GDS can reduce storage staging; it does not accelerate ">
            <a:extLst xmlns:a="http://schemas.openxmlformats.org/drawingml/2006/main">
              <a:ext uri="{FF2B5EF4-FFF2-40B4-BE49-F238E27FC236}">
                <a16:creationId xmlns:a16="http://schemas.microsoft.com/office/drawing/2014/main" id="{8760107D-9C97-42FD-A14A-DD500DE2220F}"/>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GDS can reduce storage staging; it does not accelerate rotation arithmetic.</a:t>
            </a:r>
          </a:p>
        </p:txBody>
      </p:sp>
      <p:sp>
        <p:nvSpPr>
          <p:cNvPr id="20" name="">
            <a:extLst xmlns:a="http://schemas.openxmlformats.org/drawingml/2006/main">
              <a:ext uri="{FF2B5EF4-FFF2-40B4-BE49-F238E27FC236}">
                <a16:creationId xmlns:a16="http://schemas.microsoft.com/office/drawing/2014/main" id="{9EF385B1-6357-4C6B-92BF-0E67B3FFEFAA}"/>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1" name="Sources: [3] NVIDIA GDS overview; [4] NVIDIA GDS design">
            <a:extLst xmlns:a="http://schemas.openxmlformats.org/drawingml/2006/main">
              <a:ext uri="{FF2B5EF4-FFF2-40B4-BE49-F238E27FC236}">
                <a16:creationId xmlns:a16="http://schemas.microsoft.com/office/drawing/2014/main" id="{82242491-3406-4359-8DC7-E3853CEF721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22" name="6 / 46">
            <a:extLst xmlns:a="http://schemas.openxmlformats.org/drawingml/2006/main">
              <a:ext uri="{FF2B5EF4-FFF2-40B4-BE49-F238E27FC236}">
                <a16:creationId xmlns:a16="http://schemas.microsoft.com/office/drawing/2014/main" id="{8BCF3FC8-931B-444D-B329-931C85EEBA6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6 / 46</a:t>
            </a:r>
          </a:p>
        </p:txBody>
      </p:sp>
    </p:spTree>
    <p:extLst>
      <p:ext uri="{BB962C8B-B14F-4D97-AF65-F5344CB8AC3E}">
        <p14:creationId xmlns:p14="http://schemas.microsoft.com/office/powerpoint/2010/main" val="154405224"/>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Task 2(a)">
            <a:extLst xmlns:a="http://schemas.openxmlformats.org/drawingml/2006/main">
              <a:ext uri="{FF2B5EF4-FFF2-40B4-BE49-F238E27FC236}">
                <a16:creationId xmlns:a16="http://schemas.microsoft.com/office/drawing/2014/main" id="{DCA6008F-E212-4ACD-A1DA-0741AA529EA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2(a)</a:t>
            </a:r>
          </a:p>
        </p:txBody>
      </p:sp>
      <p:sp>
        <p:nvSpPr>
          <p:cNvPr id="2" name="Electricity demand and environmental costs">
            <a:extLst xmlns:a="http://schemas.openxmlformats.org/drawingml/2006/main">
              <a:ext uri="{FF2B5EF4-FFF2-40B4-BE49-F238E27FC236}">
                <a16:creationId xmlns:a16="http://schemas.microsoft.com/office/drawing/2014/main" id="{2BF496FD-A4C3-4813-9936-F9B10CA3DDD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Electricity demand and environmental costs</a:t>
            </a:r>
          </a:p>
        </p:txBody>
      </p:sp>
      <p:sp>
        <p:nvSpPr>
          <p:cNvPr id="3" name="Global data-centre electricity (TWh/year)">
            <a:extLst xmlns:a="http://schemas.openxmlformats.org/drawingml/2006/main">
              <a:ext uri="{FF2B5EF4-FFF2-40B4-BE49-F238E27FC236}">
                <a16:creationId xmlns:a16="http://schemas.microsoft.com/office/drawing/2014/main" id="{CD5664A8-65A7-420A-B206-C89D4688C0D4}"/>
              </a:ext>
            </a:extLst>
          </p:cNvPr>
          <p:cNvSpPr>
            <a:spLocks xmlns:a="http://schemas.openxmlformats.org/drawingml/2006/main" noGrp="1"/>
          </p:cNvSpPr>
          <p:nvPr/>
        </p:nvSpPr>
        <p:spPr>
          <a:xfrm xmlns:a="http://schemas.openxmlformats.org/drawingml/2006/main">
            <a:off x="609600" y="1438275"/>
            <a:ext cx="5257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D45"/>
                </a:solidFill>
                <a:latin typeface="Arial"/>
                <a:ea typeface="Arial"/>
                <a:cs typeface="Arial"/>
              </a:defRPr>
            </a:defPPr>
          </a:lstStyle>
          <a:p xmlns:a="http://schemas.openxmlformats.org/drawingml/2006/main">
            <a:pPr algn="l">
              <a:defRPr sz="1725" b="1">
                <a:solidFill>
                  <a:srgbClr val="142D45"/>
                </a:solidFill>
                <a:latin typeface="Arial"/>
                <a:ea typeface="Arial"/>
                <a:cs typeface="Arial"/>
              </a:defRPr>
            </a:pPr>
            <a:r>
              <a:rPr sz="1725" b="1">
                <a:solidFill>
                  <a:srgbClr val="142D45"/>
                </a:solidFill>
                <a:latin typeface="Arial"/>
                <a:ea typeface="Arial"/>
                <a:cs typeface="Arial"/>
              </a:rPr>
              <a:t>Global data-centre electricity (TWh/year)</a:t>
            </a:r>
          </a:p>
        </p:txBody>
      </p:sp>
      <p:sp>
        <p:nvSpPr>
          <p:cNvPr id="4" name="Electricity growth during 2025">
            <a:extLst xmlns:a="http://schemas.openxmlformats.org/drawingml/2006/main">
              <a:ext uri="{FF2B5EF4-FFF2-40B4-BE49-F238E27FC236}">
                <a16:creationId xmlns:a16="http://schemas.microsoft.com/office/drawing/2014/main" id="{433A1842-0A34-49CD-A333-808C1AC5BFA7}"/>
              </a:ext>
            </a:extLst>
          </p:cNvPr>
          <p:cNvSpPr>
            <a:spLocks xmlns:a="http://schemas.openxmlformats.org/drawingml/2006/main" noGrp="1"/>
          </p:cNvSpPr>
          <p:nvPr/>
        </p:nvSpPr>
        <p:spPr>
          <a:xfrm xmlns:a="http://schemas.openxmlformats.org/drawingml/2006/main">
            <a:off x="6324600" y="1438275"/>
            <a:ext cx="5257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D45"/>
                </a:solidFill>
                <a:latin typeface="Arial"/>
                <a:ea typeface="Arial"/>
                <a:cs typeface="Arial"/>
              </a:defRPr>
            </a:defPPr>
          </a:lstStyle>
          <a:p xmlns:a="http://schemas.openxmlformats.org/drawingml/2006/main">
            <a:pPr algn="l">
              <a:defRPr sz="1725" b="1">
                <a:solidFill>
                  <a:srgbClr val="142D45"/>
                </a:solidFill>
                <a:latin typeface="Arial"/>
                <a:ea typeface="Arial"/>
                <a:cs typeface="Arial"/>
              </a:defRPr>
            </a:pPr>
            <a:r>
              <a:rPr sz="1725" b="1">
                <a:solidFill>
                  <a:srgbClr val="142D45"/>
                </a:solidFill>
                <a:latin typeface="Arial"/>
                <a:ea typeface="Arial"/>
                <a:cs typeface="Arial"/>
              </a:rPr>
              <a:t>Electricity growth during 2025</a:t>
            </a:r>
          </a:p>
        </p:txBody>
      </p:sp>
      <p:graphicFrame>
        <p:nvGraphicFramePr>
          <p:cNvPr id="5" name="Chart">
            <a:extLst xmlns:a="http://schemas.openxmlformats.org/drawingml/2006/main">
              <a:ext uri="{FF2B5EF4-FFF2-40B4-BE49-F238E27FC236}">
                <a16:creationId xmlns:a16="http://schemas.microsoft.com/office/drawing/2014/main" id="{C5508891-6872-41C8-A33F-43D6029F08FC}"/>
              </a:ext>
            </a:extLst>
          </p:cNvPr>
          <p:cNvGraphicFramePr/>
          <p:nvPr/>
        </p:nvGraphicFramePr>
        <p:xfrm>
          <a:off xmlns:a="http://schemas.openxmlformats.org/drawingml/2006/main" x="609600" y="1876425"/>
          <a:ext xmlns:a="http://schemas.openxmlformats.org/drawingml/2006/main" cx="5257800" cy="2847975"/>
        </p:xfrm>
        <a:graphic xmlns:a="http://schemas.openxmlformats.org/drawingml/2006/main">
          <a:graphicData uri="http://schemas.openxmlformats.org/drawingml/2006/chart">
            <c:chart xmlns:r="http://schemas.openxmlformats.org/officeDocument/2006/relationships" xmlns:c="http://schemas.openxmlformats.org/drawingml/2006/chart" r:id="R375600b549194389"/>
          </a:graphicData>
        </a:graphic>
      </p:graphicFrame>
      <p:graphicFrame>
        <p:nvGraphicFramePr>
          <p:cNvPr id="6" name="Chart">
            <a:extLst xmlns:a="http://schemas.openxmlformats.org/drawingml/2006/main">
              <a:ext uri="{FF2B5EF4-FFF2-40B4-BE49-F238E27FC236}">
                <a16:creationId xmlns:a16="http://schemas.microsoft.com/office/drawing/2014/main" id="{3AF0D89F-1479-433C-ADA8-C97FEDDD53FB}"/>
              </a:ext>
            </a:extLst>
          </p:cNvPr>
          <p:cNvGraphicFramePr/>
          <p:nvPr/>
        </p:nvGraphicFramePr>
        <p:xfrm>
          <a:off xmlns:a="http://schemas.openxmlformats.org/drawingml/2006/main" x="6324600" y="1876425"/>
          <a:ext xmlns:a="http://schemas.openxmlformats.org/drawingml/2006/main" cx="5257800" cy="2847975"/>
        </p:xfrm>
        <a:graphic xmlns:a="http://schemas.openxmlformats.org/drawingml/2006/main">
          <a:graphicData uri="http://schemas.openxmlformats.org/drawingml/2006/chart">
            <c:chart xmlns:r="http://schemas.openxmlformats.org/officeDocument/2006/relationships" xmlns:c="http://schemas.openxmlformats.org/drawingml/2006/chart" r:id="R9671abaea9204d50"/>
          </a:graphicData>
        </a:graphic>
      </p:graphicFrame>
      <p:sp>
        <p:nvSpPr>
          <p:cNvPr id="7" name="IEA 2026: ≈96% increase to 2030. These cover the whole ">
            <a:extLst xmlns:a="http://schemas.openxmlformats.org/drawingml/2006/main">
              <a:ext uri="{FF2B5EF4-FFF2-40B4-BE49-F238E27FC236}">
                <a16:creationId xmlns:a16="http://schemas.microsoft.com/office/drawing/2014/main" id="{B28E6D88-7793-4E54-8E36-611DAA42245F}"/>
              </a:ext>
            </a:extLst>
          </p:cNvPr>
          <p:cNvSpPr>
            <a:spLocks xmlns:a="http://schemas.openxmlformats.org/drawingml/2006/main" noGrp="1"/>
          </p:cNvSpPr>
          <p:nvPr/>
        </p:nvSpPr>
        <p:spPr>
          <a:xfrm xmlns:a="http://schemas.openxmlformats.org/drawingml/2006/main">
            <a:off x="609600" y="4867275"/>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IEA 2026: ≈96% increase to 2030. These cover the whole sector, not AI training alone; growth categories overlap and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cannot be added.</a:t>
            </a:r>
          </a:p>
        </p:txBody>
      </p:sp>
      <p:sp>
        <p:nvSpPr>
          <p:cNvPr id="8" name="Research comparison: Green AI [10] emphasizes efficienc">
            <a:extLst xmlns:a="http://schemas.openxmlformats.org/drawingml/2006/main">
              <a:ext uri="{FF2B5EF4-FFF2-40B4-BE49-F238E27FC236}">
                <a16:creationId xmlns:a16="http://schemas.microsoft.com/office/drawing/2014/main" id="{C3A4FFBE-B9AD-4A98-89A8-5BFE0E189A0E}"/>
              </a:ext>
            </a:extLst>
          </p:cNvPr>
          <p:cNvSpPr>
            <a:spLocks xmlns:a="http://schemas.openxmlformats.org/drawingml/2006/main" noGrp="1"/>
          </p:cNvSpPr>
          <p:nvPr/>
        </p:nvSpPr>
        <p:spPr>
          <a:xfrm xmlns:a="http://schemas.openxmlformats.org/drawingml/2006/main">
            <a:off x="609600" y="5381625"/>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Research comparison: Green AI [10] emphasizes efficiency; water research [9] adds site/time constraints. Track energy,</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carbon and local cooling impacts.</a:t>
            </a:r>
          </a:p>
        </p:txBody>
      </p:sp>
      <p:sp>
        <p:nvSpPr>
          <p:cNvPr id="9" name="">
            <a:extLst xmlns:a="http://schemas.openxmlformats.org/drawingml/2006/main">
              <a:ext uri="{FF2B5EF4-FFF2-40B4-BE49-F238E27FC236}">
                <a16:creationId xmlns:a16="http://schemas.microsoft.com/office/drawing/2014/main" id="{290BC39D-E3C9-47FC-AB3B-ACEDF3CD6E8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6] IEA 2026: sector estimates and projection;">
            <a:extLst xmlns:a="http://schemas.openxmlformats.org/drawingml/2006/main">
              <a:ext uri="{FF2B5EF4-FFF2-40B4-BE49-F238E27FC236}">
                <a16:creationId xmlns:a16="http://schemas.microsoft.com/office/drawing/2014/main" id="{33A0564E-3CEB-487F-A05E-03513B4882A5}"/>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[9] Li et al. 2025 revision: water impacts; [10] Schwartz et al. 2019: efficiency reporting</a:t>
            </a:r>
          </a:p>
        </p:txBody>
      </p:sp>
      <p:sp>
        <p:nvSpPr>
          <p:cNvPr id="11" name="7 / 46">
            <a:extLst xmlns:a="http://schemas.openxmlformats.org/drawingml/2006/main">
              <a:ext uri="{FF2B5EF4-FFF2-40B4-BE49-F238E27FC236}">
                <a16:creationId xmlns:a16="http://schemas.microsoft.com/office/drawing/2014/main" id="{950E147C-1927-401F-BA0C-DA4D4797204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7 / 46</a:t>
            </a:r>
          </a:p>
        </p:txBody>
      </p:sp>
    </p:spTree>
    <p:extLst>
      <p:ext uri="{BB962C8B-B14F-4D97-AF65-F5344CB8AC3E}">
        <p14:creationId xmlns:p14="http://schemas.microsoft.com/office/powerpoint/2010/main" val="1340424741"/>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8C1C2CA2-16E0-4EA9-ACBD-6809A8C6D91C}"/>
              </a:ext>
            </a:extLst>
          </p:cNvPr>
          <p:cNvCxnSpPr>
            <a:stCxn xmlns:a="http://schemas.openxmlformats.org/drawingml/2006/main" id="8" idx="2"/>
            <a:endCxn xmlns:a="http://schemas.openxmlformats.org/drawingml/2006/main" id="9" idx="0"/>
          </p:cNvCxnSpPr>
          <p:nvPr/>
        </p:nvCxnSpPr>
        <p:spPr>
          <a:xfrm xmlns:a="http://schemas.openxmlformats.org/drawingml/2006/main">
            <a:off x="8953500" y="2886075"/>
            <a:ext cx="0" cy="54292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DE1AF492-936D-4121-9376-B2C53C69517E}"/>
              </a:ext>
            </a:extLst>
          </p:cNvPr>
          <p:cNvCxnSpPr>
            <a:stCxn xmlns:a="http://schemas.openxmlformats.org/drawingml/2006/main" id="5" idx="2"/>
            <a:endCxn xmlns:a="http://schemas.openxmlformats.org/drawingml/2006/main" id="6" idx="0"/>
          </p:cNvCxnSpPr>
          <p:nvPr/>
        </p:nvCxnSpPr>
        <p:spPr>
          <a:xfrm xmlns:a="http://schemas.openxmlformats.org/drawingml/2006/main">
            <a:off x="3219450" y="2886075"/>
            <a:ext cx="0" cy="54292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9" name="Task 2(b)">
            <a:extLst xmlns:a="http://schemas.openxmlformats.org/drawingml/2006/main">
              <a:ext uri="{FF2B5EF4-FFF2-40B4-BE49-F238E27FC236}">
                <a16:creationId xmlns:a16="http://schemas.microsoft.com/office/drawing/2014/main" id="{29820187-785C-4B5B-B186-0C2E3DE619E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2(b)</a:t>
            </a:r>
          </a:p>
        </p:txBody>
      </p:sp>
      <p:sp>
        <p:nvSpPr>
          <p:cNvPr id="2" name="Privacy, security and model fairness">
            <a:extLst xmlns:a="http://schemas.openxmlformats.org/drawingml/2006/main">
              <a:ext uri="{FF2B5EF4-FFF2-40B4-BE49-F238E27FC236}">
                <a16:creationId xmlns:a16="http://schemas.microsoft.com/office/drawing/2014/main" id="{6F5FFAF9-9FD2-435B-BE28-8FB76B523D2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Privacy, security and model fairness</a:t>
            </a:r>
          </a:p>
        </p:txBody>
      </p:sp>
      <p:sp>
        <p:nvSpPr>
          <p:cNvPr id="3" name="Security: protect distributed intermediates">
            <a:extLst xmlns:a="http://schemas.openxmlformats.org/drawingml/2006/main">
              <a:ext uri="{FF2B5EF4-FFF2-40B4-BE49-F238E27FC236}">
                <a16:creationId xmlns:a16="http://schemas.microsoft.com/office/drawing/2014/main" id="{78C7A1C2-08B7-4D40-BB2D-B6395974B6EA}"/>
              </a:ext>
            </a:extLst>
          </p:cNvPr>
          <p:cNvSpPr>
            <a:spLocks xmlns:a="http://schemas.openxmlformats.org/drawingml/2006/main" noGrp="1"/>
          </p:cNvSpPr>
          <p:nvPr/>
        </p:nvSpPr>
        <p:spPr>
          <a:xfrm xmlns:a="http://schemas.openxmlformats.org/drawingml/2006/main">
            <a:off x="609600" y="1504950"/>
            <a:ext cx="523875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Security: protect distributed intermediates</a:t>
            </a:r>
          </a:p>
        </p:txBody>
      </p:sp>
      <p:sp>
        <p:nvSpPr>
          <p:cNvPr id="4" name="Fairness: evaluate affected groups">
            <a:extLst xmlns:a="http://schemas.openxmlformats.org/drawingml/2006/main">
              <a:ext uri="{FF2B5EF4-FFF2-40B4-BE49-F238E27FC236}">
                <a16:creationId xmlns:a16="http://schemas.microsoft.com/office/drawing/2014/main" id="{B56BA681-6BBB-44E0-9E17-6CED30B82ACD}"/>
              </a:ext>
            </a:extLst>
          </p:cNvPr>
          <p:cNvSpPr>
            <a:spLocks xmlns:a="http://schemas.openxmlformats.org/drawingml/2006/main" noGrp="1"/>
          </p:cNvSpPr>
          <p:nvPr/>
        </p:nvSpPr>
        <p:spPr>
          <a:xfrm xmlns:a="http://schemas.openxmlformats.org/drawingml/2006/main">
            <a:off x="6324600" y="1504950"/>
            <a:ext cx="52578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Fairness: evaluate affected groups</a:t>
            </a:r>
          </a:p>
        </p:txBody>
      </p:sp>
      <p:sp>
        <p:nvSpPr>
          <p:cNvPr id="5" name="">
            <a:extLst xmlns:a="http://schemas.openxmlformats.org/drawingml/2006/main">
              <a:ext uri="{FF2B5EF4-FFF2-40B4-BE49-F238E27FC236}">
                <a16:creationId xmlns:a16="http://schemas.microsoft.com/office/drawing/2014/main" id="{DD40C7E5-FCBE-4DC0-BDEC-3131F9755E1C}"/>
              </a:ext>
            </a:extLst>
          </p:cNvPr>
          <p:cNvSpPr>
            <a:spLocks xmlns:a="http://schemas.openxmlformats.org/drawingml/2006/main" noGrp="1"/>
          </p:cNvSpPr>
          <p:nvPr/>
        </p:nvSpPr>
        <p:spPr>
          <a:xfrm xmlns:a="http://schemas.openxmlformats.org/drawingml/2006/main">
            <a:off x="609600" y="2009775"/>
            <a:ext cx="5219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Workers exchange gradients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and save checkpoints</a:t>
            </a:r>
          </a:p>
        </p:txBody>
      </p:sp>
      <p:sp>
        <p:nvSpPr>
          <p:cNvPr id="6" name="">
            <a:extLst xmlns:a="http://schemas.openxmlformats.org/drawingml/2006/main">
              <a:ext uri="{FF2B5EF4-FFF2-40B4-BE49-F238E27FC236}">
                <a16:creationId xmlns:a16="http://schemas.microsoft.com/office/drawing/2014/main" id="{B6CE4ED1-8A78-4A9B-A822-9DC08AB4424D}"/>
              </a:ext>
            </a:extLst>
          </p:cNvPr>
          <p:cNvSpPr>
            <a:spLocks xmlns:a="http://schemas.openxmlformats.org/drawingml/2006/main" noGrp="1"/>
          </p:cNvSpPr>
          <p:nvPr/>
        </p:nvSpPr>
        <p:spPr>
          <a:xfrm xmlns:a="http://schemas.openxmlformats.org/drawingml/2006/main">
            <a:off x="609600" y="3429000"/>
            <a:ext cx="5219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Least privilege, isolation,</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protected transport/storage</a:t>
            </a:r>
          </a:p>
        </p:txBody>
      </p:sp>
      <p:sp>
        <p:nvSpPr>
          <p:cNvPr id="8" name="">
            <a:extLst xmlns:a="http://schemas.openxmlformats.org/drawingml/2006/main">
              <a:ext uri="{FF2B5EF4-FFF2-40B4-BE49-F238E27FC236}">
                <a16:creationId xmlns:a16="http://schemas.microsoft.com/office/drawing/2014/main" id="{B58DD21D-E197-43DC-AB86-03579A3F1BA8}"/>
              </a:ext>
            </a:extLst>
          </p:cNvPr>
          <p:cNvSpPr>
            <a:spLocks xmlns:a="http://schemas.openxmlformats.org/drawingml/2006/main" noGrp="1"/>
          </p:cNvSpPr>
          <p:nvPr/>
        </p:nvSpPr>
        <p:spPr>
          <a:xfrm xmlns:a="http://schemas.openxmlformats.org/drawingml/2006/main">
            <a:off x="6324600" y="2009775"/>
            <a:ext cx="52578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coverage and model outputs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may differ across groups</a:t>
            </a:r>
          </a:p>
        </p:txBody>
      </p:sp>
      <p:sp>
        <p:nvSpPr>
          <p:cNvPr id="9" name="">
            <a:extLst xmlns:a="http://schemas.openxmlformats.org/drawingml/2006/main">
              <a:ext uri="{FF2B5EF4-FFF2-40B4-BE49-F238E27FC236}">
                <a16:creationId xmlns:a16="http://schemas.microsoft.com/office/drawing/2014/main" id="{D86A011C-D223-4C4D-9739-96470A457F82}"/>
              </a:ext>
            </a:extLst>
          </p:cNvPr>
          <p:cNvSpPr>
            <a:spLocks xmlns:a="http://schemas.openxmlformats.org/drawingml/2006/main" noGrp="1"/>
          </p:cNvSpPr>
          <p:nvPr/>
        </p:nvSpPr>
        <p:spPr>
          <a:xfrm xmlns:a="http://schemas.openxmlformats.org/drawingml/2006/main">
            <a:off x="6324600" y="3429000"/>
            <a:ext cx="52578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Disaggregated, harm-specific tests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 mitigation and reevaluation</a:t>
            </a:r>
          </a:p>
        </p:txBody>
      </p:sp>
      <p:sp>
        <p:nvSpPr>
          <p:cNvPr id="11" name="Zhu et al. [11]: exposed gradients can reconstruct inpu">
            <a:extLst xmlns:a="http://schemas.openxmlformats.org/drawingml/2006/main">
              <a:ext uri="{FF2B5EF4-FFF2-40B4-BE49-F238E27FC236}">
                <a16:creationId xmlns:a16="http://schemas.microsoft.com/office/drawing/2014/main" id="{D8E007E6-0468-48DE-9A8C-5D441B2FF452}"/>
              </a:ext>
            </a:extLst>
          </p:cNvPr>
          <p:cNvSpPr>
            <a:spLocks xmlns:a="http://schemas.openxmlformats.org/drawingml/2006/main" noGrp="1"/>
          </p:cNvSpPr>
          <p:nvPr/>
        </p:nvSpPr>
        <p:spPr>
          <a:xfrm xmlns:a="http://schemas.openxmlformats.org/drawingml/2006/main">
            <a:off x="609600" y="4562475"/>
            <a:ext cx="5219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Zhu et al. [11]: exposed gradients can reconstruct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inputs in studied settings. Not every production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collective leaks.</a:t>
            </a:r>
          </a:p>
        </p:txBody>
      </p:sp>
      <p:sp>
        <p:nvSpPr>
          <p:cNvPr id="12" name="Gallegos et al. [12]: metrics, datasets and mitigations">
            <a:extLst xmlns:a="http://schemas.openxmlformats.org/drawingml/2006/main">
              <a:ext uri="{FF2B5EF4-FFF2-40B4-BE49-F238E27FC236}">
                <a16:creationId xmlns:a16="http://schemas.microsoft.com/office/drawing/2014/main" id="{9548EA22-B8D8-48B0-8A0D-F21079786AE6}"/>
              </a:ext>
            </a:extLst>
          </p:cNvPr>
          <p:cNvSpPr>
            <a:spLocks xmlns:a="http://schemas.openxmlformats.org/drawingml/2006/main" noGrp="1"/>
          </p:cNvSpPr>
          <p:nvPr/>
        </p:nvSpPr>
        <p:spPr>
          <a:xfrm xmlns:a="http://schemas.openxmlformats.org/drawingml/2006/main">
            <a:off x="6324600" y="4514850"/>
            <a:ext cx="52578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Gallegos et al. [12]: metrics, datasets and mitigations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differ. Apply these to cluster-trained models; scale alone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does not guarantee fairness.</a:t>
            </a:r>
          </a:p>
        </p:txBody>
      </p:sp>
      <p:sp>
        <p:nvSpPr>
          <p:cNvPr id="13" name="Provenance/permissions, replica access and dual-use rev">
            <a:extLst xmlns:a="http://schemas.openxmlformats.org/drawingml/2006/main">
              <a:ext uri="{FF2B5EF4-FFF2-40B4-BE49-F238E27FC236}">
                <a16:creationId xmlns:a16="http://schemas.microsoft.com/office/drawing/2014/main" id="{2DF09818-F6E0-41D1-B42E-782CB8CE644B}"/>
              </a:ext>
            </a:extLst>
          </p:cNvPr>
          <p:cNvSpPr>
            <a:spLocks xmlns:a="http://schemas.openxmlformats.org/drawingml/2006/main" noGrp="1"/>
          </p:cNvSpPr>
          <p:nvPr/>
        </p:nvSpPr>
        <p:spPr>
          <a:xfrm xmlns:a="http://schemas.openxmlformats.org/drawingml/2006/main">
            <a:off x="609600" y="54102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Provenance/permissions, replica access and dual-use review need owners. Encryption alone cannot establish fair outputs.</a:t>
            </a:r>
          </a:p>
        </p:txBody>
      </p:sp>
      <p:sp>
        <p:nvSpPr>
          <p:cNvPr id="14" name="">
            <a:extLst xmlns:a="http://schemas.openxmlformats.org/drawingml/2006/main">
              <a:ext uri="{FF2B5EF4-FFF2-40B4-BE49-F238E27FC236}">
                <a16:creationId xmlns:a16="http://schemas.microsoft.com/office/drawing/2014/main" id="{63B4A77D-2895-4DA7-97FD-763987EC6875}"/>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5" name="Protect distributed data and evaluate harms; more compu">
            <a:extLst xmlns:a="http://schemas.openxmlformats.org/drawingml/2006/main">
              <a:ext uri="{FF2B5EF4-FFF2-40B4-BE49-F238E27FC236}">
                <a16:creationId xmlns:a16="http://schemas.microsoft.com/office/drawing/2014/main" id="{922ACE62-5D5D-42DB-91AB-C03257A80734}"/>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Protect distributed data and evaluate harms; more compute is not a fairness guarantee.</a:t>
            </a:r>
          </a:p>
        </p:txBody>
      </p:sp>
      <p:sp>
        <p:nvSpPr>
          <p:cNvPr id="16" name="">
            <a:extLst xmlns:a="http://schemas.openxmlformats.org/drawingml/2006/main">
              <a:ext uri="{FF2B5EF4-FFF2-40B4-BE49-F238E27FC236}">
                <a16:creationId xmlns:a16="http://schemas.microsoft.com/office/drawing/2014/main" id="{50489255-1D6E-4B74-8901-BFDA9E3D562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7" name="Sources: [11] Zhu et al. 2019: exposed gradients; [12] ">
            <a:extLst xmlns:a="http://schemas.openxmlformats.org/drawingml/2006/main">
              <a:ext uri="{FF2B5EF4-FFF2-40B4-BE49-F238E27FC236}">
                <a16:creationId xmlns:a16="http://schemas.microsoft.com/office/drawing/2014/main" id="{60EED5D8-0CD6-4534-807C-F27884A41AD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[12] Gallegos et al. 2024: fairness evaluation; [15] OECD: rights, fairness and accountability; [16] NIST: Govern, Map, Measure,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8" name="8 / 46">
            <a:extLst xmlns:a="http://schemas.openxmlformats.org/drawingml/2006/main">
              <a:ext uri="{FF2B5EF4-FFF2-40B4-BE49-F238E27FC236}">
                <a16:creationId xmlns:a16="http://schemas.microsoft.com/office/drawing/2014/main" id="{597C33D7-6145-4D4E-8F64-A7ABD23758C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8 / 46</a:t>
            </a:r>
          </a:p>
        </p:txBody>
      </p:sp>
    </p:spTree>
    <p:extLst>
      <p:ext uri="{BB962C8B-B14F-4D97-AF65-F5344CB8AC3E}">
        <p14:creationId xmlns:p14="http://schemas.microsoft.com/office/powerpoint/2010/main" val="1039848181"/>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Task 2(c) • Access and socioeconomic impact">
            <a:extLst xmlns:a="http://schemas.openxmlformats.org/drawingml/2006/main">
              <a:ext uri="{FF2B5EF4-FFF2-40B4-BE49-F238E27FC236}">
                <a16:creationId xmlns:a16="http://schemas.microsoft.com/office/drawing/2014/main" id="{E21F1FDD-52A0-45B4-93F2-1B72BA167D57}"/>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2(c) • Access and socioeconomic impact</a:t>
            </a:r>
          </a:p>
        </p:txBody>
      </p:sp>
      <p:sp>
        <p:nvSpPr>
          <p:cNvPr id="2" name="Compute concentration limits participation">
            <a:extLst xmlns:a="http://schemas.openxmlformats.org/drawingml/2006/main">
              <a:ext uri="{FF2B5EF4-FFF2-40B4-BE49-F238E27FC236}">
                <a16:creationId xmlns:a16="http://schemas.microsoft.com/office/drawing/2014/main" id="{E742490B-ED4C-41CF-9A6E-74D84A36FB4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Compute concentration limits participation</a:t>
            </a:r>
          </a:p>
        </p:txBody>
      </p:sp>
      <p:sp>
        <p:nvSpPr>
          <p:cNvPr id="3" name="Evidence and consequences">
            <a:extLst xmlns:a="http://schemas.openxmlformats.org/drawingml/2006/main">
              <a:ext uri="{FF2B5EF4-FFF2-40B4-BE49-F238E27FC236}">
                <a16:creationId xmlns:a16="http://schemas.microsoft.com/office/drawing/2014/main" id="{B8727F02-1AAD-4758-9E7C-91A68F4CE5E5}"/>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Evidence and consequences</a:t>
            </a:r>
          </a:p>
        </p:txBody>
      </p:sp>
      <p:sp>
        <p:nvSpPr>
          <p:cNvPr id="4" name="Ahmed &amp; Wahed [13]: institutional participation. Strube">
            <a:extLst xmlns:a="http://schemas.openxmlformats.org/drawingml/2006/main">
              <a:ext uri="{FF2B5EF4-FFF2-40B4-BE49-F238E27FC236}">
                <a16:creationId xmlns:a16="http://schemas.microsoft.com/office/drawing/2014/main" id="{6385492D-1A9C-4C8A-94C3-2E9DEF0784EF}"/>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Ahmed &amp; Wahed [13]: institutional participation.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Strubell et al. [8]: workload cost. Different scopes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reveal barriers to training and replication.</a:t>
            </a:r>
          </a:p>
        </p:txBody>
      </p:sp>
      <p:sp>
        <p:nvSpPr>
          <p:cNvPr id="5" name="Historical studies do not establish current global acce">
            <a:extLst xmlns:a="http://schemas.openxmlformats.org/drawingml/2006/main">
              <a:ext uri="{FF2B5EF4-FFF2-40B4-BE49-F238E27FC236}">
                <a16:creationId xmlns:a16="http://schemas.microsoft.com/office/drawing/2014/main" id="{EAC7B297-5698-4F4D-ACEE-F2B1C5003EFF}"/>
              </a:ext>
            </a:extLst>
          </p:cNvPr>
          <p:cNvSpPr>
            <a:spLocks xmlns:a="http://schemas.openxmlformats.org/drawingml/2006/main" noGrp="1"/>
          </p:cNvSpPr>
          <p:nvPr/>
        </p:nvSpPr>
        <p:spPr>
          <a:xfrm xmlns:a="http://schemas.openxmlformats.org/drawingml/2006/main">
            <a:off x="609600" y="2996184"/>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Historical studies do not establish current global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access.</a:t>
            </a:r>
          </a:p>
        </p:txBody>
      </p:sp>
      <p:sp>
        <p:nvSpPr>
          <p:cNvPr id="6" name="NAIRR: &gt;600 teams and &gt;6,000 students [7]; US reach doe">
            <a:extLst xmlns:a="http://schemas.openxmlformats.org/drawingml/2006/main">
              <a:ext uri="{FF2B5EF4-FFF2-40B4-BE49-F238E27FC236}">
                <a16:creationId xmlns:a16="http://schemas.microsoft.com/office/drawing/2014/main" id="{31920458-48A3-44B7-B48B-7696E6230543}"/>
              </a:ext>
            </a:extLst>
          </p:cNvPr>
          <p:cNvSpPr>
            <a:spLocks xmlns:a="http://schemas.openxmlformats.org/drawingml/2006/main" noGrp="1"/>
          </p:cNvSpPr>
          <p:nvPr/>
        </p:nvSpPr>
        <p:spPr>
          <a:xfrm xmlns:a="http://schemas.openxmlformats.org/drawingml/2006/main">
            <a:off x="609600" y="3749040"/>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NAIRR: &gt;600 teams and &gt;6,000 students [7]; US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reach does not establish worldwide equality.</a:t>
            </a:r>
          </a:p>
        </p:txBody>
      </p:sp>
      <p:sp>
        <p:nvSpPr>
          <p:cNvPr id="7" name="An equitable shared-cluster policy">
            <a:extLst xmlns:a="http://schemas.openxmlformats.org/drawingml/2006/main">
              <a:ext uri="{FF2B5EF4-FFF2-40B4-BE49-F238E27FC236}">
                <a16:creationId xmlns:a16="http://schemas.microsoft.com/office/drawing/2014/main" id="{2D57BBCD-9C43-4627-92B6-1FD2036B8D6C}"/>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An equitable shared-cluster policy</a:t>
            </a:r>
          </a:p>
        </p:txBody>
      </p:sp>
      <p:sp>
        <p:nvSpPr>
          <p:cNvPr id="8" name="Publish GPU-hour rules; reserve capacity for smaller in">
            <a:extLst xmlns:a="http://schemas.openxmlformats.org/drawingml/2006/main">
              <a:ext uri="{FF2B5EF4-FFF2-40B4-BE49-F238E27FC236}">
                <a16:creationId xmlns:a16="http://schemas.microsoft.com/office/drawing/2014/main" id="{9A8377ED-AB04-49C0-B877-2686EC270417}"/>
              </a:ext>
            </a:extLst>
          </p:cNvPr>
          <p:cNvSpPr>
            <a:spLocks xmlns:a="http://schemas.openxmlformats.org/drawingml/2006/main" noGrp="1"/>
          </p:cNvSpPr>
          <p:nvPr/>
        </p:nvSpPr>
        <p:spPr>
          <a:xfrm xmlns:a="http://schemas.openxmlformats.org/drawingml/2006/main">
            <a:off x="641985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Publish GPU-hour rules; reserve capacity for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smaller institutions and replication.</a:t>
            </a:r>
          </a:p>
        </p:txBody>
      </p:sp>
      <p:sp>
        <p:nvSpPr>
          <p:cNvPr id="9" name="Offer training and appeals; audit waiting times and awa">
            <a:extLst xmlns:a="http://schemas.openxmlformats.org/drawingml/2006/main">
              <a:ext uri="{FF2B5EF4-FFF2-40B4-BE49-F238E27FC236}">
                <a16:creationId xmlns:a16="http://schemas.microsoft.com/office/drawing/2014/main" id="{33E55796-22E6-4214-B81D-160680316757}"/>
              </a:ext>
            </a:extLst>
          </p:cNvPr>
          <p:cNvSpPr>
            <a:spLocks xmlns:a="http://schemas.openxmlformats.org/drawingml/2006/main" noGrp="1"/>
          </p:cNvSpPr>
          <p:nvPr/>
        </p:nvSpPr>
        <p:spPr>
          <a:xfrm xmlns:a="http://schemas.openxmlformats.org/drawingml/2006/main">
            <a:off x="6419850" y="2724531"/>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Offer training and appeals; audit waiting times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awards with privacy safeguards.</a:t>
            </a:r>
          </a:p>
        </p:txBody>
      </p:sp>
      <p:sp>
        <p:nvSpPr>
          <p:cNvPr id="10" name="Trade-off: reservations can lower utilization or delay ">
            <a:extLst xmlns:a="http://schemas.openxmlformats.org/drawingml/2006/main">
              <a:ext uri="{FF2B5EF4-FFF2-40B4-BE49-F238E27FC236}">
                <a16:creationId xmlns:a16="http://schemas.microsoft.com/office/drawing/2014/main" id="{28050B9B-9258-4127-BD89-96D0027D139D}"/>
              </a:ext>
            </a:extLst>
          </p:cNvPr>
          <p:cNvSpPr>
            <a:spLocks xmlns:a="http://schemas.openxmlformats.org/drawingml/2006/main" noGrp="1"/>
          </p:cNvSpPr>
          <p:nvPr/>
        </p:nvSpPr>
        <p:spPr>
          <a:xfrm xmlns:a="http://schemas.openxmlformats.org/drawingml/2006/main">
            <a:off x="6419850" y="3477387"/>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Trade-off: reservations can lower utilization or delay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urgent jobs. Prevent starvation.</a:t>
            </a:r>
          </a:p>
        </p:txBody>
      </p:sp>
      <p:sp>
        <p:nvSpPr>
          <p:cNvPr id="11" name="">
            <a:extLst xmlns:a="http://schemas.openxmlformats.org/drawingml/2006/main">
              <a:ext uri="{FF2B5EF4-FFF2-40B4-BE49-F238E27FC236}">
                <a16:creationId xmlns:a16="http://schemas.microsoft.com/office/drawing/2014/main" id="{1A6D4FA1-9A7C-4210-8830-63743EED6A44}"/>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D4A64543-0B8B-4E94-BA10-D83A5DB903A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7] NSF 2026: US programme reach; [8] Strubell">
            <a:extLst xmlns:a="http://schemas.openxmlformats.org/drawingml/2006/main">
              <a:ext uri="{FF2B5EF4-FFF2-40B4-BE49-F238E27FC236}">
                <a16:creationId xmlns:a16="http://schemas.microsoft.com/office/drawing/2014/main" id="{82CF8F2D-D8FB-4655-8CFD-10057388872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9 / 46">
            <a:extLst xmlns:a="http://schemas.openxmlformats.org/drawingml/2006/main">
              <a:ext uri="{FF2B5EF4-FFF2-40B4-BE49-F238E27FC236}">
                <a16:creationId xmlns:a16="http://schemas.microsoft.com/office/drawing/2014/main" id="{E6546648-9B31-4AE7-A2FA-E480B506A90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9 / 46</a:t>
            </a:r>
          </a:p>
        </p:txBody>
      </p:sp>
    </p:spTree>
    <p:extLst>
      <p:ext uri="{BB962C8B-B14F-4D97-AF65-F5344CB8AC3E}">
        <p14:creationId xmlns:p14="http://schemas.microsoft.com/office/powerpoint/2010/main" val="1219336564"/>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579DD7C0-6B2E-40BF-9B20-57B7AFBB6D6C}"/>
              </a:ext>
            </a:extLst>
          </p:cNvPr>
          <p:cNvCxnSpPr>
            <a:stCxn xmlns:a="http://schemas.openxmlformats.org/drawingml/2006/main" id="4" idx="3"/>
            <a:endCxn xmlns:a="http://schemas.openxmlformats.org/drawingml/2006/main" id="5" idx="1"/>
          </p:cNvCxnSpPr>
          <p:nvPr/>
        </p:nvCxnSpPr>
        <p:spPr>
          <a:xfrm xmlns:a="http://schemas.openxmlformats.org/drawingml/2006/main">
            <a:off x="7581900" y="2181225"/>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6AD361CB-DE27-4949-8C5E-6FE991A9117F}"/>
              </a:ext>
            </a:extLst>
          </p:cNvPr>
          <p:cNvCxnSpPr>
            <a:stCxn xmlns:a="http://schemas.openxmlformats.org/drawingml/2006/main" id="3" idx="3"/>
            <a:endCxn xmlns:a="http://schemas.openxmlformats.org/drawingml/2006/main" id="4" idx="1"/>
          </p:cNvCxnSpPr>
          <p:nvPr/>
        </p:nvCxnSpPr>
        <p:spPr>
          <a:xfrm xmlns:a="http://schemas.openxmlformats.org/drawingml/2006/main">
            <a:off x="3581400" y="2181225"/>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7" name="Task 2(d) • Responsible HPC framework">
            <a:extLst xmlns:a="http://schemas.openxmlformats.org/drawingml/2006/main">
              <a:ext uri="{FF2B5EF4-FFF2-40B4-BE49-F238E27FC236}">
                <a16:creationId xmlns:a16="http://schemas.microsoft.com/office/drawing/2014/main" id="{6FE8B23A-0D3F-4627-A106-BDAAB30FA0B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2(d) • Responsible HPC framework</a:t>
            </a:r>
          </a:p>
        </p:txBody>
      </p:sp>
      <p:sp>
        <p:nvSpPr>
          <p:cNvPr id="2" name="Approve scale with evidence and ownership">
            <a:extLst xmlns:a="http://schemas.openxmlformats.org/drawingml/2006/main">
              <a:ext uri="{FF2B5EF4-FFF2-40B4-BE49-F238E27FC236}">
                <a16:creationId xmlns:a16="http://schemas.microsoft.com/office/drawing/2014/main" id="{4015D5ED-9204-4613-AC60-2DE96454369E}"/>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Approve scale with evidence and ownership</a:t>
            </a:r>
          </a:p>
        </p:txBody>
      </p:sp>
      <p:sp>
        <p:nvSpPr>
          <p:cNvPr id="3" name="">
            <a:extLst xmlns:a="http://schemas.openxmlformats.org/drawingml/2006/main">
              <a:ext uri="{FF2B5EF4-FFF2-40B4-BE49-F238E27FC236}">
                <a16:creationId xmlns:a16="http://schemas.microsoft.com/office/drawing/2014/main" id="{CDB3B4AE-0BA3-4262-B5EF-A40DE33FA720}"/>
              </a:ext>
            </a:extLst>
          </p:cNvPr>
          <p:cNvSpPr>
            <a:spLocks xmlns:a="http://schemas.openxmlformats.org/drawingml/2006/main" noGrp="1"/>
          </p:cNvSpPr>
          <p:nvPr/>
        </p:nvSpPr>
        <p:spPr>
          <a:xfrm xmlns:a="http://schemas.openxmlformats.org/drawingml/2006/main">
            <a:off x="609600" y="1695450"/>
            <a:ext cx="29718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Map</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Use, stakeholders,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alternatives</a:t>
            </a:r>
          </a:p>
        </p:txBody>
      </p:sp>
      <p:sp>
        <p:nvSpPr>
          <p:cNvPr id="4" name="">
            <a:extLst xmlns:a="http://schemas.openxmlformats.org/drawingml/2006/main">
              <a:ext uri="{FF2B5EF4-FFF2-40B4-BE49-F238E27FC236}">
                <a16:creationId xmlns:a16="http://schemas.microsoft.com/office/drawing/2014/main" id="{F6A3CA45-B169-43E3-8A96-DED7B457E6C9}"/>
              </a:ext>
            </a:extLst>
          </p:cNvPr>
          <p:cNvSpPr>
            <a:spLocks xmlns:a="http://schemas.openxmlformats.org/drawingml/2006/main" noGrp="1"/>
          </p:cNvSpPr>
          <p:nvPr/>
        </p:nvSpPr>
        <p:spPr>
          <a:xfrm xmlns:a="http://schemas.openxmlformats.org/drawingml/2006/main">
            <a:off x="4610100" y="1695450"/>
            <a:ext cx="29718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Measure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Quality, energy, security,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harms</a:t>
            </a:r>
          </a:p>
        </p:txBody>
      </p:sp>
      <p:sp>
        <p:nvSpPr>
          <p:cNvPr id="5" name="">
            <a:extLst xmlns:a="http://schemas.openxmlformats.org/drawingml/2006/main">
              <a:ext uri="{FF2B5EF4-FFF2-40B4-BE49-F238E27FC236}">
                <a16:creationId xmlns:a16="http://schemas.microsoft.com/office/drawing/2014/main" id="{61C48DC1-03F8-4C0F-BFA1-9F2E8A9E28FF}"/>
              </a:ext>
            </a:extLst>
          </p:cNvPr>
          <p:cNvSpPr>
            <a:spLocks xmlns:a="http://schemas.openxmlformats.org/drawingml/2006/main" noGrp="1"/>
          </p:cNvSpPr>
          <p:nvPr/>
        </p:nvSpPr>
        <p:spPr>
          <a:xfrm xmlns:a="http://schemas.openxmlformats.org/drawingml/2006/main">
            <a:off x="8610600" y="1695450"/>
            <a:ext cx="29718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Manage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Approve / defer / redesign</a:t>
            </a:r>
          </a:p>
        </p:txBody>
      </p:sp>
      <p:sp>
        <p:nvSpPr>
          <p:cNvPr id="8" name="Govern throughout: accountable owner, rights, data rule">
            <a:extLst xmlns:a="http://schemas.openxmlformats.org/drawingml/2006/main">
              <a:ext uri="{FF2B5EF4-FFF2-40B4-BE49-F238E27FC236}">
                <a16:creationId xmlns:a16="http://schemas.microsoft.com/office/drawing/2014/main" id="{9386DC82-65FE-4D8D-9418-7E8C743AD3D1}"/>
              </a:ext>
            </a:extLst>
          </p:cNvPr>
          <p:cNvSpPr>
            <a:spLocks xmlns:a="http://schemas.openxmlformats.org/drawingml/2006/main" noGrp="1"/>
          </p:cNvSpPr>
          <p:nvPr/>
        </p:nvSpPr>
        <p:spPr>
          <a:xfrm xmlns:a="http://schemas.openxmlformats.org/drawingml/2006/main">
            <a:off x="609600" y="3057525"/>
            <a:ext cx="109728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Govern throughout: accountable owner, rights, data rules and equitable access</a:t>
            </a:r>
          </a:p>
        </p:txBody>
      </p:sp>
      <p:sp>
        <p:nvSpPr>
          <p:cNvPr id="9" name="Green AI [10]: efficiency per useful outcome. OECD [15]">
            <a:extLst xmlns:a="http://schemas.openxmlformats.org/drawingml/2006/main">
              <a:ext uri="{FF2B5EF4-FFF2-40B4-BE49-F238E27FC236}">
                <a16:creationId xmlns:a16="http://schemas.microsoft.com/office/drawing/2014/main" id="{C20FEE9E-3AC1-44BA-ACEB-179AA0EDA11D}"/>
              </a:ext>
            </a:extLst>
          </p:cNvPr>
          <p:cNvSpPr>
            <a:spLocks xmlns:a="http://schemas.openxmlformats.org/drawingml/2006/main" noGrp="1"/>
          </p:cNvSpPr>
          <p:nvPr/>
        </p:nvSpPr>
        <p:spPr>
          <a:xfrm xmlns:a="http://schemas.openxmlformats.org/drawingml/2006/main">
            <a:off x="609600" y="3609975"/>
            <a:ext cx="10972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Green AI [10]: efficiency per useful outcome. OECD [15] + NIST [16]: rights, safeguards and review.</a:t>
            </a:r>
          </a:p>
        </p:txBody>
      </p:sp>
      <p:sp>
        <p:nvSpPr>
          <p:cNvPr id="10" name="Carbon-aware scheduling [14]: shift flexible jobs withi">
            <a:extLst xmlns:a="http://schemas.openxmlformats.org/drawingml/2006/main">
              <a:ext uri="{FF2B5EF4-FFF2-40B4-BE49-F238E27FC236}">
                <a16:creationId xmlns:a16="http://schemas.microsoft.com/office/drawing/2014/main" id="{8CD97622-74A5-4557-8C16-67CDC701A64C}"/>
              </a:ext>
            </a:extLst>
          </p:cNvPr>
          <p:cNvSpPr>
            <a:spLocks xmlns:a="http://schemas.openxmlformats.org/drawingml/2006/main" noGrp="1"/>
          </p:cNvSpPr>
          <p:nvPr/>
        </p:nvSpPr>
        <p:spPr>
          <a:xfrm xmlns:a="http://schemas.openxmlformats.org/drawingml/2006/main">
            <a:off x="609600" y="4053078"/>
            <a:ext cx="1097280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Carbon-aware scheduling [14]: shift flexible jobs within deadlines, water/site limits and equitable waiting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commitments.</a:t>
            </a:r>
          </a:p>
        </p:txBody>
      </p:sp>
      <p:sp>
        <p:nvSpPr>
          <p:cNvPr id="11" name="Record exceptions and outcomes; urgent work and forecas">
            <a:extLst xmlns:a="http://schemas.openxmlformats.org/drawingml/2006/main">
              <a:ext uri="{FF2B5EF4-FFF2-40B4-BE49-F238E27FC236}">
                <a16:creationId xmlns:a16="http://schemas.microsoft.com/office/drawing/2014/main" id="{636EA41D-0DFA-4260-ACC9-F6968980614E}"/>
              </a:ext>
            </a:extLst>
          </p:cNvPr>
          <p:cNvSpPr>
            <a:spLocks xmlns:a="http://schemas.openxmlformats.org/drawingml/2006/main" noGrp="1"/>
          </p:cNvSpPr>
          <p:nvPr/>
        </p:nvSpPr>
        <p:spPr>
          <a:xfrm xmlns:a="http://schemas.openxmlformats.org/drawingml/2006/main">
            <a:off x="609600" y="4767834"/>
            <a:ext cx="10972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Record exceptions and outcomes; urgent work and forecast uncertainty can override deferral. Prevent starvation.</a:t>
            </a:r>
          </a:p>
        </p:txBody>
      </p:sp>
      <p:sp>
        <p:nvSpPr>
          <p:cNvPr id="12" name="">
            <a:extLst xmlns:a="http://schemas.openxmlformats.org/drawingml/2006/main">
              <a:ext uri="{FF2B5EF4-FFF2-40B4-BE49-F238E27FC236}">
                <a16:creationId xmlns:a16="http://schemas.microsoft.com/office/drawing/2014/main" id="{532ED956-BA40-49F0-BA36-EC5266CAF1EB}"/>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3" name="NIST Govern spans iterative review; unacceptable risks ">
            <a:extLst xmlns:a="http://schemas.openxmlformats.org/drawingml/2006/main">
              <a:ext uri="{FF2B5EF4-FFF2-40B4-BE49-F238E27FC236}">
                <a16:creationId xmlns:a16="http://schemas.microsoft.com/office/drawing/2014/main" id="{81A3DD4B-C531-47AD-B5EE-C844BF11F617}"/>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NIST Govern spans iterative review; unacceptable risks require redesign or rejection.</a:t>
            </a:r>
          </a:p>
        </p:txBody>
      </p:sp>
      <p:sp>
        <p:nvSpPr>
          <p:cNvPr id="14" name="">
            <a:extLst xmlns:a="http://schemas.openxmlformats.org/drawingml/2006/main">
              <a:ext uri="{FF2B5EF4-FFF2-40B4-BE49-F238E27FC236}">
                <a16:creationId xmlns:a16="http://schemas.microsoft.com/office/drawing/2014/main" id="{1464F3E6-C3CF-47B7-BF9E-5E9EF136EED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5" name="Sources: [10] Schwartz et al. 2019: efficiency reportin">
            <a:extLst xmlns:a="http://schemas.openxmlformats.org/drawingml/2006/main">
              <a:ext uri="{FF2B5EF4-FFF2-40B4-BE49-F238E27FC236}">
                <a16:creationId xmlns:a16="http://schemas.microsoft.com/office/drawing/2014/main" id="{8B2AEB4A-D9D6-4408-A4F7-3AF438FB9B0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10 / 46">
            <a:extLst xmlns:a="http://schemas.openxmlformats.org/drawingml/2006/main">
              <a:ext uri="{FF2B5EF4-FFF2-40B4-BE49-F238E27FC236}">
                <a16:creationId xmlns:a16="http://schemas.microsoft.com/office/drawing/2014/main" id="{D09C9C41-6744-4C74-9411-723E5CB544C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10 / 46</a:t>
            </a:r>
          </a:p>
        </p:txBody>
      </p:sp>
    </p:spTree>
    <p:extLst>
      <p:ext uri="{BB962C8B-B14F-4D97-AF65-F5344CB8AC3E}">
        <p14:creationId xmlns:p14="http://schemas.microsoft.com/office/powerpoint/2010/main" val="408962778"/>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Tasks 1 and 2 • Conclusions">
            <a:extLst xmlns:a="http://schemas.openxmlformats.org/drawingml/2006/main">
              <a:ext uri="{FF2B5EF4-FFF2-40B4-BE49-F238E27FC236}">
                <a16:creationId xmlns:a16="http://schemas.microsoft.com/office/drawing/2014/main" id="{CEBF4A30-DE5F-46A0-A168-89DB2C2F531D}"/>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Tasks 1 and 2 • Conclusions</a:t>
            </a:r>
          </a:p>
        </p:txBody>
      </p:sp>
      <p:sp>
        <p:nvSpPr>
          <p:cNvPr id="2" name="Scale useful work, then verify the outcome">
            <a:extLst xmlns:a="http://schemas.openxmlformats.org/drawingml/2006/main">
              <a:ext uri="{FF2B5EF4-FFF2-40B4-BE49-F238E27FC236}">
                <a16:creationId xmlns:a16="http://schemas.microsoft.com/office/drawing/2014/main" id="{F2753069-2DFC-4D4F-B1D4-EA2BC8CA64D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Scale useful work, then verify the outcome</a:t>
            </a:r>
          </a:p>
        </p:txBody>
      </p:sp>
      <p:sp>
        <p:nvSpPr>
          <p:cNvPr id="3" name="Task 1: conditional performance">
            <a:extLst xmlns:a="http://schemas.openxmlformats.org/drawingml/2006/main">
              <a:ext uri="{FF2B5EF4-FFF2-40B4-BE49-F238E27FC236}">
                <a16:creationId xmlns:a16="http://schemas.microsoft.com/office/drawing/2014/main" id="{46C03E6E-1153-4285-BD82-E7421045A10C}"/>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conditional performance</a:t>
            </a:r>
          </a:p>
        </p:txBody>
      </p:sp>
      <p:sp>
        <p:nvSpPr>
          <p:cNvPr id="4" name="Independent inverse-gather pixels suit CUDA; locality, ">
            <a:extLst xmlns:a="http://schemas.openxmlformats.org/drawingml/2006/main">
              <a:ext uri="{FF2B5EF4-FFF2-40B4-BE49-F238E27FC236}">
                <a16:creationId xmlns:a16="http://schemas.microsoft.com/office/drawing/2014/main" id="{E1AACA14-8FCF-40DA-AA15-5A2AD575F9C7}"/>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Independent inverse-gather pixels suit CUDA;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locality, transfers and SM scheduling determine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a:t>
            </a:r>
          </a:p>
        </p:txBody>
      </p:sp>
      <p:sp>
        <p:nvSpPr>
          <p:cNvPr id="5" name="GDS helps only a compatible storage-bound path. Next: c">
            <a:extLst xmlns:a="http://schemas.openxmlformats.org/drawingml/2006/main">
              <a:ext uri="{FF2B5EF4-FFF2-40B4-BE49-F238E27FC236}">
                <a16:creationId xmlns:a16="http://schemas.microsoft.com/office/drawing/2014/main" id="{A9A5B3B9-317E-444E-B9FF-85A45AED4D1E}"/>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GDS helps only a compatible storage-bound path.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compile, compare CPU/GPU output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 completed workloads.</a:t>
            </a:r>
          </a:p>
        </p:txBody>
      </p:sp>
      <p:sp>
        <p:nvSpPr>
          <p:cNvPr id="6" name="Task 2: accountable scaling">
            <a:extLst xmlns:a="http://schemas.openxmlformats.org/drawingml/2006/main">
              <a:ext uri="{FF2B5EF4-FFF2-40B4-BE49-F238E27FC236}">
                <a16:creationId xmlns:a16="http://schemas.microsoft.com/office/drawing/2014/main" id="{2B05B132-0399-4F3E-804B-FDDDDECAE5D1}"/>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accountable scaling</a:t>
            </a:r>
          </a:p>
        </p:txBody>
      </p:sp>
      <p:sp>
        <p:nvSpPr>
          <p:cNvPr id="7" name="Measure energy and useful output; protect data, evaluat">
            <a:extLst xmlns:a="http://schemas.openxmlformats.org/drawingml/2006/main">
              <a:ext uri="{FF2B5EF4-FFF2-40B4-BE49-F238E27FC236}">
                <a16:creationId xmlns:a16="http://schemas.microsoft.com/office/drawing/2014/main" id="{746A85F5-B048-489A-B402-9C9772D5F9DD}"/>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 energy and useful output; protect data,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evaluate group harms and allocate access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transparently.</a:t>
            </a:r>
          </a:p>
        </p:txBody>
      </p:sp>
      <p:sp>
        <p:nvSpPr>
          <p:cNvPr id="8" name="Next: test a real cluster job and review outcomes. Sect">
            <a:extLst xmlns:a="http://schemas.openxmlformats.org/drawingml/2006/main">
              <a:ext uri="{FF2B5EF4-FFF2-40B4-BE49-F238E27FC236}">
                <a16:creationId xmlns:a16="http://schemas.microsoft.com/office/drawing/2014/main" id="{B4B10A9E-72B1-4D77-A7C6-6CFEF7F18DFA}"/>
              </a:ext>
            </a:extLst>
          </p:cNvPr>
          <p:cNvSpPr>
            <a:spLocks xmlns:a="http://schemas.openxmlformats.org/drawingml/2006/main" noGrp="1"/>
          </p:cNvSpPr>
          <p:nvPr/>
        </p:nvSpPr>
        <p:spPr>
          <a:xfrm xmlns:a="http://schemas.openxmlformats.org/drawingml/2006/main">
            <a:off x="641985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test a real cluster job and review outcomes.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Sector projections and proposed policies 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evidence limits, not measured results.</a:t>
            </a:r>
          </a:p>
        </p:txBody>
      </p:sp>
      <p:sp>
        <p:nvSpPr>
          <p:cNvPr id="9" name="">
            <a:extLst xmlns:a="http://schemas.openxmlformats.org/drawingml/2006/main">
              <a:ext uri="{FF2B5EF4-FFF2-40B4-BE49-F238E27FC236}">
                <a16:creationId xmlns:a16="http://schemas.microsoft.com/office/drawing/2014/main" id="{5C611DBD-6DE1-4E04-9BEA-597CAD10F583}"/>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8E60B53B-2255-48B4-AF6B-B349395AE69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Sources: [2] NVIDIA CUDA Best Practices; [3] NVIDIA GDS">
            <a:extLst xmlns:a="http://schemas.openxmlformats.org/drawingml/2006/main">
              <a:ext uri="{FF2B5EF4-FFF2-40B4-BE49-F238E27FC236}">
                <a16:creationId xmlns:a16="http://schemas.microsoft.com/office/drawing/2014/main" id="{B6B69914-173E-48B9-920C-A9D90E2CCCC2}"/>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[16] NIST: Govern, Map, Measure,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2" name="11 / 46">
            <a:extLst xmlns:a="http://schemas.openxmlformats.org/drawingml/2006/main">
              <a:ext uri="{FF2B5EF4-FFF2-40B4-BE49-F238E27FC236}">
                <a16:creationId xmlns:a16="http://schemas.microsoft.com/office/drawing/2014/main" id="{5ABFB511-CBF4-4EE2-BC46-0E1E11D0992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11 / 46</a:t>
            </a:r>
          </a:p>
        </p:txBody>
      </p:sp>
    </p:spTree>
    <p:extLst>
      <p:ext uri="{BB962C8B-B14F-4D97-AF65-F5344CB8AC3E}">
        <p14:creationId xmlns:p14="http://schemas.microsoft.com/office/powerpoint/2010/main" val="85732267"/>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Not part of the seven-minute presentation">
            <a:extLst xmlns:a="http://schemas.openxmlformats.org/drawingml/2006/main">
              <a:ext uri="{FF2B5EF4-FFF2-40B4-BE49-F238E27FC236}">
                <a16:creationId xmlns:a16="http://schemas.microsoft.com/office/drawing/2014/main" id="{81A6BFA1-8A95-491B-8BFD-44C689C2F9D0}"/>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Not part of the seven-minute presentation</a:t>
            </a:r>
          </a:p>
        </p:txBody>
      </p:sp>
      <p:sp>
        <p:nvSpPr>
          <p:cNvPr id="2" name="Detailed answers and supporting evidence">
            <a:extLst xmlns:a="http://schemas.openxmlformats.org/drawingml/2006/main">
              <a:ext uri="{FF2B5EF4-FFF2-40B4-BE49-F238E27FC236}">
                <a16:creationId xmlns:a16="http://schemas.microsoft.com/office/drawing/2014/main" id="{E330342B-280D-499D-ACD1-1426A641476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Detailed answers and supporting evidence</a:t>
            </a:r>
          </a:p>
        </p:txBody>
      </p:sp>
      <p:sp>
        <p:nvSpPr>
          <p:cNvPr id="3" name="Task 1: implementation and analysis">
            <a:extLst xmlns:a="http://schemas.openxmlformats.org/drawingml/2006/main">
              <a:ext uri="{FF2B5EF4-FFF2-40B4-BE49-F238E27FC236}">
                <a16:creationId xmlns:a16="http://schemas.microsoft.com/office/drawing/2014/main" id="{9F56A032-6B2B-4346-A634-AF424B1C1299}"/>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and analysis</a:t>
            </a:r>
          </a:p>
        </p:txBody>
      </p:sp>
      <p:sp>
        <p:nvSpPr>
          <p:cNvPr id="4" name="Complete rotation and brightness examples, thread/grid ">
            <a:extLst xmlns:a="http://schemas.openxmlformats.org/drawingml/2006/main">
              <a:ext uri="{FF2B5EF4-FFF2-40B4-BE49-F238E27FC236}">
                <a16:creationId xmlns:a16="http://schemas.microsoft.com/office/drawing/2014/main" id="{E90CB734-B7A2-4918-AB81-F90B54D5F83C}"/>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Complete rotation and brightness examples,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thread/grid calculations, host launch and stream</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completion.</a:t>
            </a:r>
          </a:p>
        </p:txBody>
      </p:sp>
      <p:sp>
        <p:nvSpPr>
          <p:cNvPr id="5" name="Worked rotation, coordinate assumptions, launch-shape t">
            <a:extLst xmlns:a="http://schemas.openxmlformats.org/drawingml/2006/main">
              <a:ext uri="{FF2B5EF4-FFF2-40B4-BE49-F238E27FC236}">
                <a16:creationId xmlns:a16="http://schemas.microsoft.com/office/drawing/2014/main" id="{41177EE8-805A-4416-9F2F-36073AA65D89}"/>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Worked rotation, coordinate assumptions,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launch-shape trade-offs, Amdahl bound, profiling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GPUDirect Storage decision.</a:t>
            </a:r>
          </a:p>
        </p:txBody>
      </p:sp>
      <p:sp>
        <p:nvSpPr>
          <p:cNvPr id="6" name="Task 2: research and policy">
            <a:extLst xmlns:a="http://schemas.openxmlformats.org/drawingml/2006/main">
              <a:ext uri="{FF2B5EF4-FFF2-40B4-BE49-F238E27FC236}">
                <a16:creationId xmlns:a16="http://schemas.microsoft.com/office/drawing/2014/main" id="{D06953AD-D30F-40A0-82C9-DFEA736A92FA}"/>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research and policy</a:t>
            </a:r>
          </a:p>
        </p:txBody>
      </p:sp>
      <p:sp>
        <p:nvSpPr>
          <p:cNvPr id="7" name="Parallel training, energy/carbon calculations, environm">
            <a:extLst xmlns:a="http://schemas.openxmlformats.org/drawingml/2006/main">
              <a:ext uri="{FF2B5EF4-FFF2-40B4-BE49-F238E27FC236}">
                <a16:creationId xmlns:a16="http://schemas.microsoft.com/office/drawing/2014/main" id="{A2C1936B-0F5E-4407-8A68-0E542E67ECF8}"/>
              </a:ext>
            </a:extLst>
          </p:cNvPr>
          <p:cNvSpPr>
            <a:spLocks xmlns:a="http://schemas.openxmlformats.org/drawingml/2006/main" noGrp="1"/>
          </p:cNvSpPr>
          <p:nvPr/>
        </p:nvSpPr>
        <p:spPr>
          <a:xfrm xmlns:a="http://schemas.openxmlformats.org/drawingml/2006/main">
            <a:off x="641985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Parallel training, energy/carbon calculations,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environmental accounting and research limitations.</a:t>
            </a:r>
          </a:p>
        </p:txBody>
      </p:sp>
      <p:sp>
        <p:nvSpPr>
          <p:cNvPr id="8" name="Risk owners, fairness example, allocation policy, frame">
            <a:extLst xmlns:a="http://schemas.openxmlformats.org/drawingml/2006/main">
              <a:ext uri="{FF2B5EF4-FFF2-40B4-BE49-F238E27FC236}">
                <a16:creationId xmlns:a16="http://schemas.microsoft.com/office/drawing/2014/main" id="{C9084ECC-F277-4A46-B4A3-F58D07104E49}"/>
              </a:ext>
            </a:extLst>
          </p:cNvPr>
          <p:cNvSpPr>
            <a:spLocks xmlns:a="http://schemas.openxmlformats.org/drawingml/2006/main" noGrp="1"/>
          </p:cNvSpPr>
          <p:nvPr/>
        </p:nvSpPr>
        <p:spPr>
          <a:xfrm xmlns:a="http://schemas.openxmlformats.org/drawingml/2006/main">
            <a:off x="6419850" y="2724531"/>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Risk owners, fairness example, allocation policy,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framework roles, carbon-aware scheduling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cross-topic comparisons.</a:t>
            </a:r>
          </a:p>
        </p:txBody>
      </p:sp>
      <p:sp>
        <p:nvSpPr>
          <p:cNvPr id="9" name="">
            <a:extLst xmlns:a="http://schemas.openxmlformats.org/drawingml/2006/main">
              <a:ext uri="{FF2B5EF4-FFF2-40B4-BE49-F238E27FC236}">
                <a16:creationId xmlns:a16="http://schemas.microsoft.com/office/drawing/2014/main" id="{DF840030-3C17-4D32-B30D-3274768A5063}"/>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75386AC4-DFAA-43BD-9473-07D96204AB23}"/>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8335136D-7353-4306-8432-B598918CB956}"/>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2 / 46">
            <a:extLst xmlns:a="http://schemas.openxmlformats.org/drawingml/2006/main">
              <a:ext uri="{FF2B5EF4-FFF2-40B4-BE49-F238E27FC236}">
                <a16:creationId xmlns:a16="http://schemas.microsoft.com/office/drawing/2014/main" id="{6D8A6003-C94D-498B-A72D-21382E7EBA2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12 / 46</a:t>
            </a:r>
          </a:p>
        </p:txBody>
      </p:sp>
    </p:spTree>
    <p:extLst>
      <p:ext uri="{BB962C8B-B14F-4D97-AF65-F5344CB8AC3E}">
        <p14:creationId xmlns:p14="http://schemas.microsoft.com/office/powerpoint/2010/main" val="1438580368"/>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Task 1 • Task 1(b) • Worked rotation">
            <a:extLst xmlns:a="http://schemas.openxmlformats.org/drawingml/2006/main">
              <a:ext uri="{FF2B5EF4-FFF2-40B4-BE49-F238E27FC236}">
                <a16:creationId xmlns:a16="http://schemas.microsoft.com/office/drawing/2014/main" id="{D8871691-07E4-4EF6-9700-4801BB90779A}"/>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Worked rotation</a:t>
            </a:r>
          </a:p>
        </p:txBody>
      </p:sp>
      <p:sp>
        <p:nvSpPr>
          <p:cNvPr id="2" name="A 90-degree rotation example">
            <a:extLst xmlns:a="http://schemas.openxmlformats.org/drawingml/2006/main">
              <a:ext uri="{FF2B5EF4-FFF2-40B4-BE49-F238E27FC236}">
                <a16:creationId xmlns:a16="http://schemas.microsoft.com/office/drawing/2014/main" id="{6E49EEDC-A200-482D-B702-5EE0AC573125}"/>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 90-degree rotation example</a:t>
            </a:r>
          </a:p>
        </p:txBody>
      </p:sp>
      <p:sp>
        <p:nvSpPr>
          <p:cNvPr id="3" name="Input">
            <a:extLst xmlns:a="http://schemas.openxmlformats.org/drawingml/2006/main">
              <a:ext uri="{FF2B5EF4-FFF2-40B4-BE49-F238E27FC236}">
                <a16:creationId xmlns:a16="http://schemas.microsoft.com/office/drawing/2014/main" id="{414C1C26-2F79-4340-935C-E1BCD800D6C9}"/>
              </a:ext>
            </a:extLst>
          </p:cNvPr>
          <p:cNvSpPr>
            <a:spLocks xmlns:a="http://schemas.openxmlformats.org/drawingml/2006/main" noGrp="1"/>
          </p:cNvSpPr>
          <p:nvPr/>
        </p:nvSpPr>
        <p:spPr>
          <a:xfrm xmlns:a="http://schemas.openxmlformats.org/drawingml/2006/main">
            <a:off x="609600" y="1514475"/>
            <a:ext cx="40386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Input</a:t>
            </a:r>
          </a:p>
        </p:txBody>
      </p:sp>
      <p:graphicFrame>
        <p:nvGraphicFramePr>
          <p:cNvPr id="4" name="">
            <a:extLst xmlns:a="http://schemas.openxmlformats.org/drawingml/2006/main">
              <a:ext uri="{FF2B5EF4-FFF2-40B4-BE49-F238E27FC236}">
                <a16:creationId xmlns:a16="http://schemas.microsoft.com/office/drawing/2014/main" id="{9082771E-C7FD-4C54-9EE2-D12C66BBBA81}"/>
              </a:ext>
            </a:extLst>
          </p:cNvPr>
          <p:cNvGraphicFramePr/>
          <p:nvPr/>
        </p:nvGraphicFramePr>
        <p:xfrm>
          <a:off xmlns:a="http://schemas.openxmlformats.org/drawingml/2006/main" x="609600" y="2019300"/>
          <a:ext xmlns:a="http://schemas.openxmlformats.org/drawingml/2006/main" cx="4019550" cy="2857500"/>
        </p:xfrm>
        <a:graphic xmlns:a="http://schemas.openxmlformats.org/drawingml/2006/main">
          <a:graphicData uri="http://schemas.openxmlformats.org/drawingml/2006/table">
            <a:tbl>
              <a:tblPr/>
              <a:tblGrid>
                <a:gridCol w="803910"/>
                <a:gridCol w="803910"/>
                <a:gridCol w="803910"/>
                <a:gridCol w="803910"/>
                <a:gridCol w="803910"/>
              </a:tblGrid>
              <a:tr h="571500">
                <a:tc>
                  <a:txBody>
                    <a:bodyPr lIns="76200" tIns="76200" rIns="76200" bIns="76200"/>
                    <a:lstStyle/>
                    <a:p>
                      <a:pPr algn="ctr"/>
                      <a:r>
                        <a:rPr sz="2025">
                          <a:solidFill>
                            <a:srgbClr val="142D45"/>
                          </a:solidFill>
                          <a:latin typeface="Arial"/>
                          <a:ea typeface="Arial"/>
                          <a:cs typeface="Arial"/>
                        </a:rPr>
                        <a:t>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3</a:t>
                      </a:r>
                    </a:p>
                  </a:txBody>
                  <a:tcPr marL="91440" marR="91440" marT="45720" marB="45720" anchor="ctr">
                    <a:solidFill>
                      <a:srgbClr val="C2E7E5"/>
                    </a:solidFill>
                  </a:tcPr>
                </a:tc>
                <a:tc>
                  <a:txBody>
                    <a:bodyPr lIns="76200" tIns="76200" rIns="76200" bIns="76200"/>
                    <a:lstStyle/>
                    <a:p>
                      <a:pPr algn="ctr"/>
                      <a:r>
                        <a:rPr sz="2025">
                          <a:solidFill>
                            <a:srgbClr val="142D45"/>
                          </a:solidFill>
                          <a:latin typeface="Arial"/>
                          <a:ea typeface="Arial"/>
                          <a:cs typeface="Arial"/>
                        </a:rPr>
                        <a:t>4</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9</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10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13</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14</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15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19</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20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23</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24</a:t>
                      </a:r>
                    </a:p>
                  </a:txBody>
                  <a:tcPr marL="91440" marR="91440" marT="45720" marB="45720" anchor="ctr">
                    <a:solidFill>
                      <a:srgbClr val="FFFFFF"/>
                    </a:solidFill>
                  </a:tcPr>
                </a:tc>
              </a:tr>
            </a:tbl>
          </a:graphicData>
        </a:graphic>
      </p:graphicFrame>
      <p:sp>
        <p:nvSpPr>
          <p:cNvPr id="5" name="Output: 90° counterclockwise">
            <a:extLst xmlns:a="http://schemas.openxmlformats.org/drawingml/2006/main">
              <a:ext uri="{FF2B5EF4-FFF2-40B4-BE49-F238E27FC236}">
                <a16:creationId xmlns:a16="http://schemas.microsoft.com/office/drawing/2014/main" id="{B2CBA795-95DE-419E-9589-14F2BECE7E33}"/>
              </a:ext>
            </a:extLst>
          </p:cNvPr>
          <p:cNvSpPr>
            <a:spLocks xmlns:a="http://schemas.openxmlformats.org/drawingml/2006/main" noGrp="1"/>
          </p:cNvSpPr>
          <p:nvPr/>
        </p:nvSpPr>
        <p:spPr>
          <a:xfrm xmlns:a="http://schemas.openxmlformats.org/drawingml/2006/main">
            <a:off x="7562850" y="1514475"/>
            <a:ext cx="40386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Output: 90° counterclockwise</a:t>
            </a:r>
          </a:p>
        </p:txBody>
      </p:sp>
      <p:graphicFrame>
        <p:nvGraphicFramePr>
          <p:cNvPr id="6" name="">
            <a:extLst xmlns:a="http://schemas.openxmlformats.org/drawingml/2006/main">
              <a:ext uri="{FF2B5EF4-FFF2-40B4-BE49-F238E27FC236}">
                <a16:creationId xmlns:a16="http://schemas.microsoft.com/office/drawing/2014/main" id="{C8B341A8-A171-4E93-9593-4576F80A7AF3}"/>
              </a:ext>
            </a:extLst>
          </p:cNvPr>
          <p:cNvGraphicFramePr/>
          <p:nvPr/>
        </p:nvGraphicFramePr>
        <p:xfrm>
          <a:off xmlns:a="http://schemas.openxmlformats.org/drawingml/2006/main" x="7562850" y="2019300"/>
          <a:ext xmlns:a="http://schemas.openxmlformats.org/drawingml/2006/main" cx="4019550" cy="2857500"/>
        </p:xfrm>
        <a:graphic xmlns:a="http://schemas.openxmlformats.org/drawingml/2006/main">
          <a:graphicData uri="http://schemas.openxmlformats.org/drawingml/2006/table">
            <a:tbl>
              <a:tblPr/>
              <a:tblGrid>
                <a:gridCol w="803910"/>
                <a:gridCol w="803910"/>
                <a:gridCol w="803910"/>
                <a:gridCol w="803910"/>
                <a:gridCol w="803910"/>
              </a:tblGrid>
              <a:tr h="571500">
                <a:tc>
                  <a:txBody>
                    <a:bodyPr lIns="76200" tIns="76200" rIns="76200" bIns="76200"/>
                    <a:lstStyle/>
                    <a:p>
                      <a:pPr algn="ctr"/>
                      <a:r>
                        <a:rPr sz="2025">
                          <a:solidFill>
                            <a:srgbClr val="142D45"/>
                          </a:solidFill>
                          <a:latin typeface="Arial"/>
                          <a:ea typeface="Arial"/>
                          <a:cs typeface="Arial"/>
                        </a:rPr>
                        <a:t>4</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9</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14</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19</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24</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3</a:t>
                      </a:r>
                    </a:p>
                  </a:txBody>
                  <a:tcPr marL="91440" marR="91440" marT="45720" marB="45720" anchor="ctr">
                    <a:solidFill>
                      <a:srgbClr val="C2E7E5"/>
                    </a:solidFill>
                  </a:tcPr>
                </a:tc>
                <a:tc>
                  <a:txBody>
                    <a:bodyPr lIns="76200" tIns="76200" rIns="76200" bIns="76200"/>
                    <a:lstStyle/>
                    <a:p>
                      <a:pPr algn="ctr"/>
                      <a:r>
                        <a:rPr sz="2025">
                          <a:solidFill>
                            <a:srgbClr val="142D45"/>
                          </a:solidFill>
                          <a:latin typeface="Arial"/>
                          <a:ea typeface="Arial"/>
                          <a:cs typeface="Arial"/>
                        </a:rPr>
                        <a:t>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13</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23</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22</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21</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20</a:t>
                      </a:r>
                    </a:p>
                  </a:txBody>
                  <a:tcPr marL="91440" marR="91440" marT="45720" marB="45720" anchor="ctr">
                    <a:solidFill>
                      <a:srgbClr val="FFFFFF"/>
                    </a:solidFill>
                  </a:tcPr>
                </a:tc>
              </a:tr>
            </a:tbl>
          </a:graphicData>
        </a:graphic>
      </p:graphicFrame>
      <p:sp>
        <p:nvSpPr>
          <p:cNvPr id="7" name="θ = 90°&#10;c = 0, s = 1&#10;center = (2,2)">
            <a:extLst xmlns:a="http://schemas.openxmlformats.org/drawingml/2006/main">
              <a:ext uri="{FF2B5EF4-FFF2-40B4-BE49-F238E27FC236}">
                <a16:creationId xmlns:a16="http://schemas.microsoft.com/office/drawing/2014/main" id="{A39B6767-E11B-45CB-9377-FAD7375405D6}"/>
              </a:ext>
            </a:extLst>
          </p:cNvPr>
          <p:cNvSpPr>
            <a:spLocks xmlns:a="http://schemas.openxmlformats.org/drawingml/2006/main" noGrp="1"/>
          </p:cNvSpPr>
          <p:nvPr/>
        </p:nvSpPr>
        <p:spPr>
          <a:xfrm xmlns:a="http://schemas.openxmlformats.org/drawingml/2006/main">
            <a:off x="4991100" y="2286000"/>
            <a:ext cx="2057400" cy="9593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142D45"/>
                </a:solidFill>
                <a:latin typeface="Arial"/>
                <a:ea typeface="Arial"/>
                <a:cs typeface="Arial"/>
              </a:defRPr>
            </a:defPPr>
          </a:lstStyle>
          <a:p xmlns:a="http://schemas.openxmlformats.org/drawingml/2006/main">
            <a:pPr algn="ctr">
              <a:defRPr sz="1950" b="0">
                <a:solidFill>
                  <a:srgbClr val="142D45"/>
                </a:solidFill>
                <a:latin typeface="Arial"/>
                <a:ea typeface="Arial"/>
                <a:cs typeface="Arial"/>
              </a:defRPr>
            </a:pPr>
            <a:r>
              <a:rPr sz="1950" b="0">
                <a:solidFill>
                  <a:srgbClr val="142D45"/>
                </a:solidFill>
                <a:latin typeface="Arial"/>
                <a:ea typeface="Arial"/>
                <a:cs typeface="Arial"/>
              </a:rPr>
              <a:t>θ = 90°</a:t>
            </a:r>
          </a:p>
          <a:p xmlns:a="http://schemas.openxmlformats.org/drawingml/2006/main">
            <a:pPr algn="ctr">
              <a:defRPr sz="1950" b="0">
                <a:solidFill>
                  <a:srgbClr val="142D45"/>
                </a:solidFill>
                <a:latin typeface="Arial"/>
                <a:ea typeface="Arial"/>
                <a:cs typeface="Arial"/>
              </a:defRPr>
            </a:pPr>
            <a:r>
              <a:rPr sz="1950" b="0">
                <a:solidFill>
                  <a:srgbClr val="142D45"/>
                </a:solidFill>
                <a:latin typeface="Arial"/>
                <a:ea typeface="Arial"/>
                <a:cs typeface="Arial"/>
              </a:rPr>
              <a:t>c = 0, s = 1</a:t>
            </a:r>
          </a:p>
          <a:p xmlns:a="http://schemas.openxmlformats.org/drawingml/2006/main">
            <a:pPr algn="ctr">
              <a:defRPr sz="1950" b="0">
                <a:solidFill>
                  <a:srgbClr val="142D45"/>
                </a:solidFill>
                <a:latin typeface="Arial"/>
                <a:ea typeface="Arial"/>
                <a:cs typeface="Arial"/>
              </a:defRPr>
            </a:pPr>
            <a:r>
              <a:rPr sz="1950" b="0">
                <a:solidFill>
                  <a:srgbClr val="142D45"/>
                </a:solidFill>
                <a:latin typeface="Arial"/>
                <a:ea typeface="Arial"/>
                <a:cs typeface="Arial"/>
              </a:rPr>
              <a:t>center = (2,2)</a:t>
            </a:r>
          </a:p>
        </p:txBody>
      </p:sp>
      <p:sp>
        <p:nvSpPr>
          <p:cNvPr id="8" name="Output (0,1) → source (3,0) → value 3">
            <a:extLst xmlns:a="http://schemas.openxmlformats.org/drawingml/2006/main">
              <a:ext uri="{FF2B5EF4-FFF2-40B4-BE49-F238E27FC236}">
                <a16:creationId xmlns:a16="http://schemas.microsoft.com/office/drawing/2014/main" id="{2B16DFC9-B962-4F55-B67E-AD6F1A078D31}"/>
              </a:ext>
            </a:extLst>
          </p:cNvPr>
          <p:cNvSpPr>
            <a:spLocks xmlns:a="http://schemas.openxmlformats.org/drawingml/2006/main" noGrp="1"/>
          </p:cNvSpPr>
          <p:nvPr/>
        </p:nvSpPr>
        <p:spPr>
          <a:xfrm xmlns:a="http://schemas.openxmlformats.org/drawingml/2006/main">
            <a:off x="609600" y="5238750"/>
            <a:ext cx="109728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5"/>
                </a:solidFill>
                <a:latin typeface="Arial"/>
                <a:ea typeface="Arial"/>
                <a:cs typeface="Arial"/>
              </a:defRPr>
            </a:defPPr>
          </a:lstStyle>
          <a:p xmlns:a="http://schemas.openxmlformats.org/drawingml/2006/main">
            <a:pPr algn="l">
              <a:defRPr sz="2025" b="1">
                <a:solidFill>
                  <a:srgbClr val="142D45"/>
                </a:solidFill>
                <a:latin typeface="Arial"/>
                <a:ea typeface="Arial"/>
                <a:cs typeface="Arial"/>
              </a:defRPr>
            </a:pPr>
            <a:r>
              <a:rPr sz="2025" b="1">
                <a:solidFill>
                  <a:srgbClr val="142D45"/>
                </a:solidFill>
                <a:latin typeface="Arial"/>
                <a:ea typeface="Arial"/>
                <a:cs typeface="Arial"/>
              </a:rPr>
              <a:t>Output (0,1) → source (3,0) → value 3</a:t>
            </a:r>
          </a:p>
        </p:txBody>
      </p:sp>
      <p:sp>
        <p:nvSpPr>
          <p:cNvPr id="9" name="The matrix values are illustrative pixel identifiers, n">
            <a:extLst xmlns:a="http://schemas.openxmlformats.org/drawingml/2006/main">
              <a:ext uri="{FF2B5EF4-FFF2-40B4-BE49-F238E27FC236}">
                <a16:creationId xmlns:a16="http://schemas.microsoft.com/office/drawing/2014/main" id="{F53AD597-0F79-4620-969E-ACDF8E32EC8D}"/>
              </a:ext>
            </a:extLst>
          </p:cNvPr>
          <p:cNvSpPr>
            <a:spLocks xmlns:a="http://schemas.openxmlformats.org/drawingml/2006/main" noGrp="1"/>
          </p:cNvSpPr>
          <p:nvPr/>
        </p:nvSpPr>
        <p:spPr>
          <a:xfrm xmlns:a="http://schemas.openxmlformats.org/drawingml/2006/main">
            <a:off x="609600" y="5762625"/>
            <a:ext cx="109728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16170"/>
                </a:solidFill>
                <a:latin typeface="Arial"/>
                <a:ea typeface="Arial"/>
                <a:cs typeface="Arial"/>
              </a:defRPr>
            </a:defPPr>
          </a:lstStyle>
          <a:p xmlns:a="http://schemas.openxmlformats.org/drawingml/2006/main">
            <a:pPr algn="l">
              <a:defRPr sz="1650" b="0">
                <a:solidFill>
                  <a:srgbClr val="516170"/>
                </a:solidFill>
                <a:latin typeface="Arial"/>
                <a:ea typeface="Arial"/>
                <a:cs typeface="Arial"/>
              </a:defRPr>
            </a:pPr>
            <a:r>
              <a:rPr sz="1650" b="0">
                <a:solidFill>
                  <a:srgbClr val="516170"/>
                </a:solidFill>
                <a:latin typeface="Arial"/>
                <a:ea typeface="Arial"/>
                <a:cs typeface="Arial"/>
              </a:rPr>
              <a:t>The matrix values are illustrative pixel identifiers, not channel intensities.</a:t>
            </a:r>
          </a:p>
        </p:txBody>
      </p:sp>
      <p:sp>
        <p:nvSpPr>
          <p:cNvPr id="10" name="">
            <a:extLst xmlns:a="http://schemas.openxmlformats.org/drawingml/2006/main">
              <a:ext uri="{FF2B5EF4-FFF2-40B4-BE49-F238E27FC236}">
                <a16:creationId xmlns:a16="http://schemas.microsoft.com/office/drawing/2014/main" id="{15CF9FA0-BB55-4F6D-8F2B-0E3F6E61A8CD}"/>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1ACAD791-9170-4660-8B3C-7F991469C62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3 / 46">
            <a:extLst xmlns:a="http://schemas.openxmlformats.org/drawingml/2006/main">
              <a:ext uri="{FF2B5EF4-FFF2-40B4-BE49-F238E27FC236}">
                <a16:creationId xmlns:a16="http://schemas.microsoft.com/office/drawing/2014/main" id="{E54B2D4D-CC06-4443-9DE7-CF5F8EC68FE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13 / 46</a:t>
            </a:r>
          </a:p>
        </p:txBody>
      </p:sp>
    </p:spTree>
    <p:extLst>
      <p:ext uri="{BB962C8B-B14F-4D97-AF65-F5344CB8AC3E}">
        <p14:creationId xmlns:p14="http://schemas.microsoft.com/office/powerpoint/2010/main" val="1575689241"/>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51" name="Appendix • Task 1 • Task 1(b)">
            <a:extLst xmlns:a="http://schemas.openxmlformats.org/drawingml/2006/main">
              <a:ext uri="{FF2B5EF4-FFF2-40B4-BE49-F238E27FC236}">
                <a16:creationId xmlns:a16="http://schemas.microsoft.com/office/drawing/2014/main" id="{04F485BE-35DF-45D1-BC04-8FCABCA1795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launch and execution hierarchy">
            <a:extLst xmlns:a="http://schemas.openxmlformats.org/drawingml/2006/main">
              <a:ext uri="{FF2B5EF4-FFF2-40B4-BE49-F238E27FC236}">
                <a16:creationId xmlns:a16="http://schemas.microsoft.com/office/drawing/2014/main" id="{8FAC4D22-0820-4CD5-895A-1D6471C4769D}"/>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launch and execution hierarchy</a:t>
            </a:r>
          </a:p>
        </p:txBody>
      </p:sp>
      <p:sp>
        <p:nvSpPr>
          <p:cNvPr id="3" name="">
            <a:extLst xmlns:a="http://schemas.openxmlformats.org/drawingml/2006/main">
              <a:ext uri="{FF2B5EF4-FFF2-40B4-BE49-F238E27FC236}">
                <a16:creationId xmlns:a16="http://schemas.microsoft.com/office/drawing/2014/main" id="{F84F948C-9A8B-4B52-ACD1-29E4E0122795}"/>
              </a:ext>
            </a:extLst>
          </p:cNvPr>
          <p:cNvSpPr>
            <a:spLocks xmlns:a="http://schemas.openxmlformats.org/drawingml/2006/main" noGrp="1"/>
          </p:cNvSpPr>
          <p:nvPr/>
        </p:nvSpPr>
        <p:spPr>
          <a:xfrm xmlns:a="http://schemas.openxmlformats.org/drawingml/2006/main">
            <a:off x="609600" y="1514475"/>
            <a:ext cx="5943600" cy="123444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dim3 block(16,16);&#10;dim3 grid(64,64);&#10;rotate_rgb&lt;&lt;&lt;grid,">
            <a:extLst xmlns:a="http://schemas.openxmlformats.org/drawingml/2006/main">
              <a:ext uri="{FF2B5EF4-FFF2-40B4-BE49-F238E27FC236}">
                <a16:creationId xmlns:a16="http://schemas.microsoft.com/office/drawing/2014/main" id="{7CEB8B08-2F55-4B3B-B2AD-15CA00BCDE81}"/>
              </a:ext>
            </a:extLst>
          </p:cNvPr>
          <p:cNvSpPr>
            <a:spLocks xmlns:a="http://schemas.openxmlformats.org/drawingml/2006/main" noGrp="1"/>
          </p:cNvSpPr>
          <p:nvPr/>
        </p:nvSpPr>
        <p:spPr>
          <a:xfrm xmlns:a="http://schemas.openxmlformats.org/drawingml/2006/main">
            <a:off x="723900" y="1600200"/>
            <a:ext cx="5715000" cy="11010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42D45"/>
                </a:solidFill>
                <a:latin typeface="Consolas"/>
                <a:ea typeface="Consolas"/>
                <a:cs typeface="Consolas"/>
              </a:defRPr>
            </a:defPPr>
          </a:lstStyle>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block(16,16);</a:t>
            </a:r>
          </a:p>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grid(64,64);</a:t>
            </a:r>
          </a:p>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rotate_rgb&lt;&lt;&lt;grid,block&gt;&gt;&gt;(</a:t>
            </a:r>
          </a:p>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  d_in,d_out,1024,1024,c,s);</a:t>
            </a:r>
          </a:p>
        </p:txBody>
      </p:sp>
      <p:sp>
        <p:nvSpPr>
          <p:cNvPr id="5" name="">
            <a:extLst xmlns:a="http://schemas.openxmlformats.org/drawingml/2006/main">
              <a:ext uri="{FF2B5EF4-FFF2-40B4-BE49-F238E27FC236}">
                <a16:creationId xmlns:a16="http://schemas.microsoft.com/office/drawing/2014/main" id="{75A52D97-5B73-4971-A672-B6F17E9298F7}"/>
              </a:ext>
            </a:extLst>
          </p:cNvPr>
          <p:cNvSpPr>
            <a:spLocks xmlns:a="http://schemas.openxmlformats.org/drawingml/2006/main" noGrp="1"/>
          </p:cNvSpPr>
          <p:nvPr/>
        </p:nvSpPr>
        <p:spPr>
          <a:xfrm xmlns:a="http://schemas.openxmlformats.org/drawingml/2006/main">
            <a:off x="609600" y="3219450"/>
            <a:ext cx="5943600" cy="94869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6" name="x = blockIdx.x*blockDim.x + threadIdx.x;&#10;y = blockIdx.y">
            <a:extLst xmlns:a="http://schemas.openxmlformats.org/drawingml/2006/main">
              <a:ext uri="{FF2B5EF4-FFF2-40B4-BE49-F238E27FC236}">
                <a16:creationId xmlns:a16="http://schemas.microsoft.com/office/drawing/2014/main" id="{BD94402B-DAAA-4D9F-AC1B-08CCCEAAD8D0}"/>
              </a:ext>
            </a:extLst>
          </p:cNvPr>
          <p:cNvSpPr>
            <a:spLocks xmlns:a="http://schemas.openxmlformats.org/drawingml/2006/main" noGrp="1"/>
          </p:cNvSpPr>
          <p:nvPr/>
        </p:nvSpPr>
        <p:spPr>
          <a:xfrm xmlns:a="http://schemas.openxmlformats.org/drawingml/2006/main">
            <a:off x="723900" y="3305175"/>
            <a:ext cx="5715000" cy="815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42D45"/>
                </a:solidFill>
                <a:latin typeface="Consolas"/>
                <a:ea typeface="Consolas"/>
                <a:cs typeface="Consolas"/>
              </a:defRPr>
            </a:defPPr>
          </a:lstStyle>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x = blockIdx.x*blockDim.x + threadIdx.x;</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y = blockIdx.y*blockDim.y + threadIdx.y;</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if (x &gt;= W || y &gt;= H) return;</a:t>
            </a:r>
          </a:p>
        </p:txBody>
      </p:sp>
      <p:sp>
        <p:nvSpPr>
          <p:cNvPr id="7" name="1024 × 1024 output">
            <a:extLst xmlns:a="http://schemas.openxmlformats.org/drawingml/2006/main">
              <a:ext uri="{FF2B5EF4-FFF2-40B4-BE49-F238E27FC236}">
                <a16:creationId xmlns:a16="http://schemas.microsoft.com/office/drawing/2014/main" id="{608C80A8-3DCA-4DF5-B0EB-1E67583A16BC}"/>
              </a:ext>
            </a:extLst>
          </p:cNvPr>
          <p:cNvSpPr>
            <a:spLocks xmlns:a="http://schemas.openxmlformats.org/drawingml/2006/main" noGrp="1"/>
          </p:cNvSpPr>
          <p:nvPr/>
        </p:nvSpPr>
        <p:spPr>
          <a:xfrm xmlns:a="http://schemas.openxmlformats.org/drawingml/2006/main">
            <a:off x="7239000" y="1562100"/>
            <a:ext cx="43434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B83"/>
                </a:solidFill>
                <a:latin typeface="Arial"/>
                <a:ea typeface="Arial"/>
                <a:cs typeface="Arial"/>
              </a:defRPr>
            </a:defPPr>
          </a:lstStyle>
          <a:p xmlns:a="http://schemas.openxmlformats.org/drawingml/2006/main">
            <a:pPr algn="l">
              <a:defRPr sz="2100" b="1">
                <a:solidFill>
                  <a:srgbClr val="007B83"/>
                </a:solidFill>
                <a:latin typeface="Arial"/>
                <a:ea typeface="Arial"/>
                <a:cs typeface="Arial"/>
              </a:defRPr>
            </a:pPr>
            <a:r>
              <a:rPr sz="2100" b="1">
                <a:solidFill>
                  <a:srgbClr val="007B83"/>
                </a:solidFill>
                <a:latin typeface="Arial"/>
                <a:ea typeface="Arial"/>
                <a:cs typeface="Arial"/>
              </a:rPr>
              <a:t>1024 × 1024 output</a:t>
            </a:r>
          </a:p>
        </p:txBody>
      </p:sp>
      <p:sp>
        <p:nvSpPr>
          <p:cNvPr id="8" name="64 × 64 = 4,096 blocks">
            <a:extLst xmlns:a="http://schemas.openxmlformats.org/drawingml/2006/main">
              <a:ext uri="{FF2B5EF4-FFF2-40B4-BE49-F238E27FC236}">
                <a16:creationId xmlns:a16="http://schemas.microsoft.com/office/drawing/2014/main" id="{F7C1A297-85A4-4707-A398-79CCC5D0E16B}"/>
              </a:ext>
            </a:extLst>
          </p:cNvPr>
          <p:cNvSpPr>
            <a:spLocks xmlns:a="http://schemas.openxmlformats.org/drawingml/2006/main" noGrp="1"/>
          </p:cNvSpPr>
          <p:nvPr/>
        </p:nvSpPr>
        <p:spPr>
          <a:xfrm xmlns:a="http://schemas.openxmlformats.org/drawingml/2006/main">
            <a:off x="7239000" y="2085975"/>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64 × 64 = 4,096 blocks</a:t>
            </a:r>
          </a:p>
        </p:txBody>
      </p:sp>
      <p:sp>
        <p:nvSpPr>
          <p:cNvPr id="9" name="16 × 16 = 256 threads/block">
            <a:extLst xmlns:a="http://schemas.openxmlformats.org/drawingml/2006/main">
              <a:ext uri="{FF2B5EF4-FFF2-40B4-BE49-F238E27FC236}">
                <a16:creationId xmlns:a16="http://schemas.microsoft.com/office/drawing/2014/main" id="{F59E2AD1-0E72-4646-B98C-655B2FD8E208}"/>
              </a:ext>
            </a:extLst>
          </p:cNvPr>
          <p:cNvSpPr>
            <a:spLocks xmlns:a="http://schemas.openxmlformats.org/drawingml/2006/main" noGrp="1"/>
          </p:cNvSpPr>
          <p:nvPr/>
        </p:nvSpPr>
        <p:spPr>
          <a:xfrm xmlns:a="http://schemas.openxmlformats.org/drawingml/2006/main">
            <a:off x="7239000" y="2571750"/>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16 × 16 = 256 threads/block</a:t>
            </a:r>
          </a:p>
        </p:txBody>
      </p:sp>
      <p:sp>
        <p:nvSpPr>
          <p:cNvPr id="10" name="1,048,576 logical threads">
            <a:extLst xmlns:a="http://schemas.openxmlformats.org/drawingml/2006/main">
              <a:ext uri="{FF2B5EF4-FFF2-40B4-BE49-F238E27FC236}">
                <a16:creationId xmlns:a16="http://schemas.microsoft.com/office/drawing/2014/main" id="{0FE3CDA4-621F-432C-9003-B26BD01ADBF2}"/>
              </a:ext>
            </a:extLst>
          </p:cNvPr>
          <p:cNvSpPr>
            <a:spLocks xmlns:a="http://schemas.openxmlformats.org/drawingml/2006/main" noGrp="1"/>
          </p:cNvSpPr>
          <p:nvPr/>
        </p:nvSpPr>
        <p:spPr>
          <a:xfrm xmlns:a="http://schemas.openxmlformats.org/drawingml/2006/main">
            <a:off x="7239000" y="3057525"/>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1,048,576 logical threads</a:t>
            </a:r>
          </a:p>
        </p:txBody>
      </p:sp>
      <p:sp>
        <p:nvSpPr>
          <p:cNvPr id="11" name="32 threads/warp → 8 warps/block">
            <a:extLst xmlns:a="http://schemas.openxmlformats.org/drawingml/2006/main">
              <a:ext uri="{FF2B5EF4-FFF2-40B4-BE49-F238E27FC236}">
                <a16:creationId xmlns:a16="http://schemas.microsoft.com/office/drawing/2014/main" id="{8C1FDD40-FDB3-495C-B1C0-5C07C206205B}"/>
              </a:ext>
            </a:extLst>
          </p:cNvPr>
          <p:cNvSpPr>
            <a:spLocks xmlns:a="http://schemas.openxmlformats.org/drawingml/2006/main" noGrp="1"/>
          </p:cNvSpPr>
          <p:nvPr/>
        </p:nvSpPr>
        <p:spPr>
          <a:xfrm xmlns:a="http://schemas.openxmlformats.org/drawingml/2006/main">
            <a:off x="7239000" y="3543300"/>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32 threads/warp → 8 warps/block</a:t>
            </a:r>
          </a:p>
        </p:txBody>
      </p:sp>
      <p:sp>
        <p:nvSpPr>
          <p:cNvPr id="12" name="One highlighted warp within a 16-wide block">
            <a:extLst xmlns:a="http://schemas.openxmlformats.org/drawingml/2006/main">
              <a:ext uri="{FF2B5EF4-FFF2-40B4-BE49-F238E27FC236}">
                <a16:creationId xmlns:a16="http://schemas.microsoft.com/office/drawing/2014/main" id="{4D6720C3-DB89-4BE4-B82C-974CCE844F62}"/>
              </a:ext>
            </a:extLst>
          </p:cNvPr>
          <p:cNvSpPr>
            <a:spLocks xmlns:a="http://schemas.openxmlformats.org/drawingml/2006/main" noGrp="1"/>
          </p:cNvSpPr>
          <p:nvPr/>
        </p:nvSpPr>
        <p:spPr>
          <a:xfrm xmlns:a="http://schemas.openxmlformats.org/drawingml/2006/main">
            <a:off x="7239000" y="4029075"/>
            <a:ext cx="4343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One highlighted warp within a 16-wide block</a:t>
            </a:r>
          </a:p>
        </p:txBody>
      </p:sp>
      <p:sp>
        <p:nvSpPr>
          <p:cNvPr id="13" name="">
            <a:extLst xmlns:a="http://schemas.openxmlformats.org/drawingml/2006/main">
              <a:ext uri="{FF2B5EF4-FFF2-40B4-BE49-F238E27FC236}">
                <a16:creationId xmlns:a16="http://schemas.microsoft.com/office/drawing/2014/main" id="{313BFD3F-0C7D-4DF5-BE43-CCE7598F0659}"/>
              </a:ext>
            </a:extLst>
          </p:cNvPr>
          <p:cNvSpPr>
            <a:spLocks xmlns:a="http://schemas.openxmlformats.org/drawingml/2006/main" noGrp="1"/>
          </p:cNvSpPr>
          <p:nvPr/>
        </p:nvSpPr>
        <p:spPr>
          <a:xfrm xmlns:a="http://schemas.openxmlformats.org/drawingml/2006/main">
            <a:off x="72390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4" name="">
            <a:extLst xmlns:a="http://schemas.openxmlformats.org/drawingml/2006/main">
              <a:ext uri="{FF2B5EF4-FFF2-40B4-BE49-F238E27FC236}">
                <a16:creationId xmlns:a16="http://schemas.microsoft.com/office/drawing/2014/main" id="{A85A09C1-56A1-4562-8724-B2E487BCD615}"/>
              </a:ext>
            </a:extLst>
          </p:cNvPr>
          <p:cNvSpPr>
            <a:spLocks xmlns:a="http://schemas.openxmlformats.org/drawingml/2006/main" noGrp="1"/>
          </p:cNvSpPr>
          <p:nvPr/>
        </p:nvSpPr>
        <p:spPr>
          <a:xfrm xmlns:a="http://schemas.openxmlformats.org/drawingml/2006/main">
            <a:off x="74771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5" name="">
            <a:extLst xmlns:a="http://schemas.openxmlformats.org/drawingml/2006/main">
              <a:ext uri="{FF2B5EF4-FFF2-40B4-BE49-F238E27FC236}">
                <a16:creationId xmlns:a16="http://schemas.microsoft.com/office/drawing/2014/main" id="{4AD206BB-8E29-464D-91A6-81B221DCD180}"/>
              </a:ext>
            </a:extLst>
          </p:cNvPr>
          <p:cNvSpPr>
            <a:spLocks xmlns:a="http://schemas.openxmlformats.org/drawingml/2006/main" noGrp="1"/>
          </p:cNvSpPr>
          <p:nvPr/>
        </p:nvSpPr>
        <p:spPr>
          <a:xfrm xmlns:a="http://schemas.openxmlformats.org/drawingml/2006/main">
            <a:off x="77152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6" name="">
            <a:extLst xmlns:a="http://schemas.openxmlformats.org/drawingml/2006/main">
              <a:ext uri="{FF2B5EF4-FFF2-40B4-BE49-F238E27FC236}">
                <a16:creationId xmlns:a16="http://schemas.microsoft.com/office/drawing/2014/main" id="{F452EC67-B3D3-4937-88AC-11C8D8D6D38E}"/>
              </a:ext>
            </a:extLst>
          </p:cNvPr>
          <p:cNvSpPr>
            <a:spLocks xmlns:a="http://schemas.openxmlformats.org/drawingml/2006/main" noGrp="1"/>
          </p:cNvSpPr>
          <p:nvPr/>
        </p:nvSpPr>
        <p:spPr>
          <a:xfrm xmlns:a="http://schemas.openxmlformats.org/drawingml/2006/main">
            <a:off x="79533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7" name="">
            <a:extLst xmlns:a="http://schemas.openxmlformats.org/drawingml/2006/main">
              <a:ext uri="{FF2B5EF4-FFF2-40B4-BE49-F238E27FC236}">
                <a16:creationId xmlns:a16="http://schemas.microsoft.com/office/drawing/2014/main" id="{71491BD8-6A07-486B-9FD5-81F79AAB0DDF}"/>
              </a:ext>
            </a:extLst>
          </p:cNvPr>
          <p:cNvSpPr>
            <a:spLocks xmlns:a="http://schemas.openxmlformats.org/drawingml/2006/main" noGrp="1"/>
          </p:cNvSpPr>
          <p:nvPr/>
        </p:nvSpPr>
        <p:spPr>
          <a:xfrm xmlns:a="http://schemas.openxmlformats.org/drawingml/2006/main">
            <a:off x="81915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8" name="">
            <a:extLst xmlns:a="http://schemas.openxmlformats.org/drawingml/2006/main">
              <a:ext uri="{FF2B5EF4-FFF2-40B4-BE49-F238E27FC236}">
                <a16:creationId xmlns:a16="http://schemas.microsoft.com/office/drawing/2014/main" id="{480ED638-7403-4118-A3E1-32BE82831617}"/>
              </a:ext>
            </a:extLst>
          </p:cNvPr>
          <p:cNvSpPr>
            <a:spLocks xmlns:a="http://schemas.openxmlformats.org/drawingml/2006/main" noGrp="1"/>
          </p:cNvSpPr>
          <p:nvPr/>
        </p:nvSpPr>
        <p:spPr>
          <a:xfrm xmlns:a="http://schemas.openxmlformats.org/drawingml/2006/main">
            <a:off x="84296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9" name="">
            <a:extLst xmlns:a="http://schemas.openxmlformats.org/drawingml/2006/main">
              <a:ext uri="{FF2B5EF4-FFF2-40B4-BE49-F238E27FC236}">
                <a16:creationId xmlns:a16="http://schemas.microsoft.com/office/drawing/2014/main" id="{F8DC1049-2EE0-49E3-8908-F210BE0765EF}"/>
              </a:ext>
            </a:extLst>
          </p:cNvPr>
          <p:cNvSpPr>
            <a:spLocks xmlns:a="http://schemas.openxmlformats.org/drawingml/2006/main" noGrp="1"/>
          </p:cNvSpPr>
          <p:nvPr/>
        </p:nvSpPr>
        <p:spPr>
          <a:xfrm xmlns:a="http://schemas.openxmlformats.org/drawingml/2006/main">
            <a:off x="86677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0" name="">
            <a:extLst xmlns:a="http://schemas.openxmlformats.org/drawingml/2006/main">
              <a:ext uri="{FF2B5EF4-FFF2-40B4-BE49-F238E27FC236}">
                <a16:creationId xmlns:a16="http://schemas.microsoft.com/office/drawing/2014/main" id="{11F8C41B-E053-40FA-A2B7-C172A6550CB3}"/>
              </a:ext>
            </a:extLst>
          </p:cNvPr>
          <p:cNvSpPr>
            <a:spLocks xmlns:a="http://schemas.openxmlformats.org/drawingml/2006/main" noGrp="1"/>
          </p:cNvSpPr>
          <p:nvPr/>
        </p:nvSpPr>
        <p:spPr>
          <a:xfrm xmlns:a="http://schemas.openxmlformats.org/drawingml/2006/main">
            <a:off x="89058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1" name="">
            <a:extLst xmlns:a="http://schemas.openxmlformats.org/drawingml/2006/main">
              <a:ext uri="{FF2B5EF4-FFF2-40B4-BE49-F238E27FC236}">
                <a16:creationId xmlns:a16="http://schemas.microsoft.com/office/drawing/2014/main" id="{AC76518D-5802-4F26-AF6D-2DD336CA8C7C}"/>
              </a:ext>
            </a:extLst>
          </p:cNvPr>
          <p:cNvSpPr>
            <a:spLocks xmlns:a="http://schemas.openxmlformats.org/drawingml/2006/main" noGrp="1"/>
          </p:cNvSpPr>
          <p:nvPr/>
        </p:nvSpPr>
        <p:spPr>
          <a:xfrm xmlns:a="http://schemas.openxmlformats.org/drawingml/2006/main">
            <a:off x="91440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2" name="">
            <a:extLst xmlns:a="http://schemas.openxmlformats.org/drawingml/2006/main">
              <a:ext uri="{FF2B5EF4-FFF2-40B4-BE49-F238E27FC236}">
                <a16:creationId xmlns:a16="http://schemas.microsoft.com/office/drawing/2014/main" id="{0BEAC2DA-BDA7-42C1-B8FE-3B567298BFDD}"/>
              </a:ext>
            </a:extLst>
          </p:cNvPr>
          <p:cNvSpPr>
            <a:spLocks xmlns:a="http://schemas.openxmlformats.org/drawingml/2006/main" noGrp="1"/>
          </p:cNvSpPr>
          <p:nvPr/>
        </p:nvSpPr>
        <p:spPr>
          <a:xfrm xmlns:a="http://schemas.openxmlformats.org/drawingml/2006/main">
            <a:off x="93821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3" name="">
            <a:extLst xmlns:a="http://schemas.openxmlformats.org/drawingml/2006/main">
              <a:ext uri="{FF2B5EF4-FFF2-40B4-BE49-F238E27FC236}">
                <a16:creationId xmlns:a16="http://schemas.microsoft.com/office/drawing/2014/main" id="{E4E49AB2-2168-4364-A5FC-E574B393A7D3}"/>
              </a:ext>
            </a:extLst>
          </p:cNvPr>
          <p:cNvSpPr>
            <a:spLocks xmlns:a="http://schemas.openxmlformats.org/drawingml/2006/main" noGrp="1"/>
          </p:cNvSpPr>
          <p:nvPr/>
        </p:nvSpPr>
        <p:spPr>
          <a:xfrm xmlns:a="http://schemas.openxmlformats.org/drawingml/2006/main">
            <a:off x="96202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4" name="">
            <a:extLst xmlns:a="http://schemas.openxmlformats.org/drawingml/2006/main">
              <a:ext uri="{FF2B5EF4-FFF2-40B4-BE49-F238E27FC236}">
                <a16:creationId xmlns:a16="http://schemas.microsoft.com/office/drawing/2014/main" id="{C9411523-0AAC-4765-9BD4-4E44F3CB167F}"/>
              </a:ext>
            </a:extLst>
          </p:cNvPr>
          <p:cNvSpPr>
            <a:spLocks xmlns:a="http://schemas.openxmlformats.org/drawingml/2006/main" noGrp="1"/>
          </p:cNvSpPr>
          <p:nvPr/>
        </p:nvSpPr>
        <p:spPr>
          <a:xfrm xmlns:a="http://schemas.openxmlformats.org/drawingml/2006/main">
            <a:off x="98583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5" name="">
            <a:extLst xmlns:a="http://schemas.openxmlformats.org/drawingml/2006/main">
              <a:ext uri="{FF2B5EF4-FFF2-40B4-BE49-F238E27FC236}">
                <a16:creationId xmlns:a16="http://schemas.microsoft.com/office/drawing/2014/main" id="{50E6EDAC-27B5-459B-83F1-A4772855EC6C}"/>
              </a:ext>
            </a:extLst>
          </p:cNvPr>
          <p:cNvSpPr>
            <a:spLocks xmlns:a="http://schemas.openxmlformats.org/drawingml/2006/main" noGrp="1"/>
          </p:cNvSpPr>
          <p:nvPr/>
        </p:nvSpPr>
        <p:spPr>
          <a:xfrm xmlns:a="http://schemas.openxmlformats.org/drawingml/2006/main">
            <a:off x="100965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6" name="">
            <a:extLst xmlns:a="http://schemas.openxmlformats.org/drawingml/2006/main">
              <a:ext uri="{FF2B5EF4-FFF2-40B4-BE49-F238E27FC236}">
                <a16:creationId xmlns:a16="http://schemas.microsoft.com/office/drawing/2014/main" id="{7DE45605-8DAA-4A08-85D9-CEA84D8CDC2E}"/>
              </a:ext>
            </a:extLst>
          </p:cNvPr>
          <p:cNvSpPr>
            <a:spLocks xmlns:a="http://schemas.openxmlformats.org/drawingml/2006/main" noGrp="1"/>
          </p:cNvSpPr>
          <p:nvPr/>
        </p:nvSpPr>
        <p:spPr>
          <a:xfrm xmlns:a="http://schemas.openxmlformats.org/drawingml/2006/main">
            <a:off x="103346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7" name="">
            <a:extLst xmlns:a="http://schemas.openxmlformats.org/drawingml/2006/main">
              <a:ext uri="{FF2B5EF4-FFF2-40B4-BE49-F238E27FC236}">
                <a16:creationId xmlns:a16="http://schemas.microsoft.com/office/drawing/2014/main" id="{342F46F1-DB5D-444D-92D6-2BE913F73333}"/>
              </a:ext>
            </a:extLst>
          </p:cNvPr>
          <p:cNvSpPr>
            <a:spLocks xmlns:a="http://schemas.openxmlformats.org/drawingml/2006/main" noGrp="1"/>
          </p:cNvSpPr>
          <p:nvPr/>
        </p:nvSpPr>
        <p:spPr>
          <a:xfrm xmlns:a="http://schemas.openxmlformats.org/drawingml/2006/main">
            <a:off x="105727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8" name="">
            <a:extLst xmlns:a="http://schemas.openxmlformats.org/drawingml/2006/main">
              <a:ext uri="{FF2B5EF4-FFF2-40B4-BE49-F238E27FC236}">
                <a16:creationId xmlns:a16="http://schemas.microsoft.com/office/drawing/2014/main" id="{CBF7CD13-3C16-42D9-9D57-F11014EBB39F}"/>
              </a:ext>
            </a:extLst>
          </p:cNvPr>
          <p:cNvSpPr>
            <a:spLocks xmlns:a="http://schemas.openxmlformats.org/drawingml/2006/main" noGrp="1"/>
          </p:cNvSpPr>
          <p:nvPr/>
        </p:nvSpPr>
        <p:spPr>
          <a:xfrm xmlns:a="http://schemas.openxmlformats.org/drawingml/2006/main">
            <a:off x="108108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9" name="">
            <a:extLst xmlns:a="http://schemas.openxmlformats.org/drawingml/2006/main">
              <a:ext uri="{FF2B5EF4-FFF2-40B4-BE49-F238E27FC236}">
                <a16:creationId xmlns:a16="http://schemas.microsoft.com/office/drawing/2014/main" id="{1EBBD3B5-F00E-4848-BBAE-7776E4CC4282}"/>
              </a:ext>
            </a:extLst>
          </p:cNvPr>
          <p:cNvSpPr>
            <a:spLocks xmlns:a="http://schemas.openxmlformats.org/drawingml/2006/main" noGrp="1"/>
          </p:cNvSpPr>
          <p:nvPr/>
        </p:nvSpPr>
        <p:spPr>
          <a:xfrm xmlns:a="http://schemas.openxmlformats.org/drawingml/2006/main">
            <a:off x="72390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0" name="">
            <a:extLst xmlns:a="http://schemas.openxmlformats.org/drawingml/2006/main">
              <a:ext uri="{FF2B5EF4-FFF2-40B4-BE49-F238E27FC236}">
                <a16:creationId xmlns:a16="http://schemas.microsoft.com/office/drawing/2014/main" id="{F8905826-A8FA-489F-B4A2-71CA2E8DD02B}"/>
              </a:ext>
            </a:extLst>
          </p:cNvPr>
          <p:cNvSpPr>
            <a:spLocks xmlns:a="http://schemas.openxmlformats.org/drawingml/2006/main" noGrp="1"/>
          </p:cNvSpPr>
          <p:nvPr/>
        </p:nvSpPr>
        <p:spPr>
          <a:xfrm xmlns:a="http://schemas.openxmlformats.org/drawingml/2006/main">
            <a:off x="74771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1" name="">
            <a:extLst xmlns:a="http://schemas.openxmlformats.org/drawingml/2006/main">
              <a:ext uri="{FF2B5EF4-FFF2-40B4-BE49-F238E27FC236}">
                <a16:creationId xmlns:a16="http://schemas.microsoft.com/office/drawing/2014/main" id="{E86881ED-2501-4632-B494-4AD527BE422E}"/>
              </a:ext>
            </a:extLst>
          </p:cNvPr>
          <p:cNvSpPr>
            <a:spLocks xmlns:a="http://schemas.openxmlformats.org/drawingml/2006/main" noGrp="1"/>
          </p:cNvSpPr>
          <p:nvPr/>
        </p:nvSpPr>
        <p:spPr>
          <a:xfrm xmlns:a="http://schemas.openxmlformats.org/drawingml/2006/main">
            <a:off x="77152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2" name="">
            <a:extLst xmlns:a="http://schemas.openxmlformats.org/drawingml/2006/main">
              <a:ext uri="{FF2B5EF4-FFF2-40B4-BE49-F238E27FC236}">
                <a16:creationId xmlns:a16="http://schemas.microsoft.com/office/drawing/2014/main" id="{016EB699-88B2-4794-9DCF-3E025AD5F609}"/>
              </a:ext>
            </a:extLst>
          </p:cNvPr>
          <p:cNvSpPr>
            <a:spLocks xmlns:a="http://schemas.openxmlformats.org/drawingml/2006/main" noGrp="1"/>
          </p:cNvSpPr>
          <p:nvPr/>
        </p:nvSpPr>
        <p:spPr>
          <a:xfrm xmlns:a="http://schemas.openxmlformats.org/drawingml/2006/main">
            <a:off x="79533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3" name="">
            <a:extLst xmlns:a="http://schemas.openxmlformats.org/drawingml/2006/main">
              <a:ext uri="{FF2B5EF4-FFF2-40B4-BE49-F238E27FC236}">
                <a16:creationId xmlns:a16="http://schemas.microsoft.com/office/drawing/2014/main" id="{02EABCE2-34AE-4522-AD1B-3F071CF5563E}"/>
              </a:ext>
            </a:extLst>
          </p:cNvPr>
          <p:cNvSpPr>
            <a:spLocks xmlns:a="http://schemas.openxmlformats.org/drawingml/2006/main" noGrp="1"/>
          </p:cNvSpPr>
          <p:nvPr/>
        </p:nvSpPr>
        <p:spPr>
          <a:xfrm xmlns:a="http://schemas.openxmlformats.org/drawingml/2006/main">
            <a:off x="81915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4" name="">
            <a:extLst xmlns:a="http://schemas.openxmlformats.org/drawingml/2006/main">
              <a:ext uri="{FF2B5EF4-FFF2-40B4-BE49-F238E27FC236}">
                <a16:creationId xmlns:a16="http://schemas.microsoft.com/office/drawing/2014/main" id="{C9988559-E918-4A54-AA71-E076889B4482}"/>
              </a:ext>
            </a:extLst>
          </p:cNvPr>
          <p:cNvSpPr>
            <a:spLocks xmlns:a="http://schemas.openxmlformats.org/drawingml/2006/main" noGrp="1"/>
          </p:cNvSpPr>
          <p:nvPr/>
        </p:nvSpPr>
        <p:spPr>
          <a:xfrm xmlns:a="http://schemas.openxmlformats.org/drawingml/2006/main">
            <a:off x="84296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5" name="">
            <a:extLst xmlns:a="http://schemas.openxmlformats.org/drawingml/2006/main">
              <a:ext uri="{FF2B5EF4-FFF2-40B4-BE49-F238E27FC236}">
                <a16:creationId xmlns:a16="http://schemas.microsoft.com/office/drawing/2014/main" id="{BD95F003-0A69-4479-A54D-798995C78C83}"/>
              </a:ext>
            </a:extLst>
          </p:cNvPr>
          <p:cNvSpPr>
            <a:spLocks xmlns:a="http://schemas.openxmlformats.org/drawingml/2006/main" noGrp="1"/>
          </p:cNvSpPr>
          <p:nvPr/>
        </p:nvSpPr>
        <p:spPr>
          <a:xfrm xmlns:a="http://schemas.openxmlformats.org/drawingml/2006/main">
            <a:off x="86677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6" name="">
            <a:extLst xmlns:a="http://schemas.openxmlformats.org/drawingml/2006/main">
              <a:ext uri="{FF2B5EF4-FFF2-40B4-BE49-F238E27FC236}">
                <a16:creationId xmlns:a16="http://schemas.microsoft.com/office/drawing/2014/main" id="{39A270EA-28F3-4268-8B53-DB5650015CDB}"/>
              </a:ext>
            </a:extLst>
          </p:cNvPr>
          <p:cNvSpPr>
            <a:spLocks xmlns:a="http://schemas.openxmlformats.org/drawingml/2006/main" noGrp="1"/>
          </p:cNvSpPr>
          <p:nvPr/>
        </p:nvSpPr>
        <p:spPr>
          <a:xfrm xmlns:a="http://schemas.openxmlformats.org/drawingml/2006/main">
            <a:off x="89058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7" name="">
            <a:extLst xmlns:a="http://schemas.openxmlformats.org/drawingml/2006/main">
              <a:ext uri="{FF2B5EF4-FFF2-40B4-BE49-F238E27FC236}">
                <a16:creationId xmlns:a16="http://schemas.microsoft.com/office/drawing/2014/main" id="{49E622B9-475A-43B2-85DF-592D0DBB81A7}"/>
              </a:ext>
            </a:extLst>
          </p:cNvPr>
          <p:cNvSpPr>
            <a:spLocks xmlns:a="http://schemas.openxmlformats.org/drawingml/2006/main" noGrp="1"/>
          </p:cNvSpPr>
          <p:nvPr/>
        </p:nvSpPr>
        <p:spPr>
          <a:xfrm xmlns:a="http://schemas.openxmlformats.org/drawingml/2006/main">
            <a:off x="91440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8" name="">
            <a:extLst xmlns:a="http://schemas.openxmlformats.org/drawingml/2006/main">
              <a:ext uri="{FF2B5EF4-FFF2-40B4-BE49-F238E27FC236}">
                <a16:creationId xmlns:a16="http://schemas.microsoft.com/office/drawing/2014/main" id="{FE9AE0AC-2491-43EF-A097-3DDBC7A22387}"/>
              </a:ext>
            </a:extLst>
          </p:cNvPr>
          <p:cNvSpPr>
            <a:spLocks xmlns:a="http://schemas.openxmlformats.org/drawingml/2006/main" noGrp="1"/>
          </p:cNvSpPr>
          <p:nvPr/>
        </p:nvSpPr>
        <p:spPr>
          <a:xfrm xmlns:a="http://schemas.openxmlformats.org/drawingml/2006/main">
            <a:off x="93821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9" name="">
            <a:extLst xmlns:a="http://schemas.openxmlformats.org/drawingml/2006/main">
              <a:ext uri="{FF2B5EF4-FFF2-40B4-BE49-F238E27FC236}">
                <a16:creationId xmlns:a16="http://schemas.microsoft.com/office/drawing/2014/main" id="{2EA9610B-DFB1-4972-A6D2-3971914DE61D}"/>
              </a:ext>
            </a:extLst>
          </p:cNvPr>
          <p:cNvSpPr>
            <a:spLocks xmlns:a="http://schemas.openxmlformats.org/drawingml/2006/main" noGrp="1"/>
          </p:cNvSpPr>
          <p:nvPr/>
        </p:nvSpPr>
        <p:spPr>
          <a:xfrm xmlns:a="http://schemas.openxmlformats.org/drawingml/2006/main">
            <a:off x="96202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0" name="">
            <a:extLst xmlns:a="http://schemas.openxmlformats.org/drawingml/2006/main">
              <a:ext uri="{FF2B5EF4-FFF2-40B4-BE49-F238E27FC236}">
                <a16:creationId xmlns:a16="http://schemas.microsoft.com/office/drawing/2014/main" id="{FA154CC3-BD87-423F-94E0-51A7CF3CF69D}"/>
              </a:ext>
            </a:extLst>
          </p:cNvPr>
          <p:cNvSpPr>
            <a:spLocks xmlns:a="http://schemas.openxmlformats.org/drawingml/2006/main" noGrp="1"/>
          </p:cNvSpPr>
          <p:nvPr/>
        </p:nvSpPr>
        <p:spPr>
          <a:xfrm xmlns:a="http://schemas.openxmlformats.org/drawingml/2006/main">
            <a:off x="98583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1" name="">
            <a:extLst xmlns:a="http://schemas.openxmlformats.org/drawingml/2006/main">
              <a:ext uri="{FF2B5EF4-FFF2-40B4-BE49-F238E27FC236}">
                <a16:creationId xmlns:a16="http://schemas.microsoft.com/office/drawing/2014/main" id="{825EE67F-A607-4875-91C3-5174D1C32F0F}"/>
              </a:ext>
            </a:extLst>
          </p:cNvPr>
          <p:cNvSpPr>
            <a:spLocks xmlns:a="http://schemas.openxmlformats.org/drawingml/2006/main" noGrp="1"/>
          </p:cNvSpPr>
          <p:nvPr/>
        </p:nvSpPr>
        <p:spPr>
          <a:xfrm xmlns:a="http://schemas.openxmlformats.org/drawingml/2006/main">
            <a:off x="100965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2" name="">
            <a:extLst xmlns:a="http://schemas.openxmlformats.org/drawingml/2006/main">
              <a:ext uri="{FF2B5EF4-FFF2-40B4-BE49-F238E27FC236}">
                <a16:creationId xmlns:a16="http://schemas.microsoft.com/office/drawing/2014/main" id="{29FA10AA-33CE-454B-8C0F-A3607BE7DBC5}"/>
              </a:ext>
            </a:extLst>
          </p:cNvPr>
          <p:cNvSpPr>
            <a:spLocks xmlns:a="http://schemas.openxmlformats.org/drawingml/2006/main" noGrp="1"/>
          </p:cNvSpPr>
          <p:nvPr/>
        </p:nvSpPr>
        <p:spPr>
          <a:xfrm xmlns:a="http://schemas.openxmlformats.org/drawingml/2006/main">
            <a:off x="103346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3" name="">
            <a:extLst xmlns:a="http://schemas.openxmlformats.org/drawingml/2006/main">
              <a:ext uri="{FF2B5EF4-FFF2-40B4-BE49-F238E27FC236}">
                <a16:creationId xmlns:a16="http://schemas.microsoft.com/office/drawing/2014/main" id="{F13B9249-0BD7-4AEB-8034-C92F29761828}"/>
              </a:ext>
            </a:extLst>
          </p:cNvPr>
          <p:cNvSpPr>
            <a:spLocks xmlns:a="http://schemas.openxmlformats.org/drawingml/2006/main" noGrp="1"/>
          </p:cNvSpPr>
          <p:nvPr/>
        </p:nvSpPr>
        <p:spPr>
          <a:xfrm xmlns:a="http://schemas.openxmlformats.org/drawingml/2006/main">
            <a:off x="105727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4" name="">
            <a:extLst xmlns:a="http://schemas.openxmlformats.org/drawingml/2006/main">
              <a:ext uri="{FF2B5EF4-FFF2-40B4-BE49-F238E27FC236}">
                <a16:creationId xmlns:a16="http://schemas.microsoft.com/office/drawing/2014/main" id="{B35199B7-84EE-4143-A0F4-C90A334E89AE}"/>
              </a:ext>
            </a:extLst>
          </p:cNvPr>
          <p:cNvSpPr>
            <a:spLocks xmlns:a="http://schemas.openxmlformats.org/drawingml/2006/main" noGrp="1"/>
          </p:cNvSpPr>
          <p:nvPr/>
        </p:nvSpPr>
        <p:spPr>
          <a:xfrm xmlns:a="http://schemas.openxmlformats.org/drawingml/2006/main">
            <a:off x="108108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5" name="Non-multiple dimensions: ceil-divide the grid and keep ">
            <a:extLst xmlns:a="http://schemas.openxmlformats.org/drawingml/2006/main">
              <a:ext uri="{FF2B5EF4-FFF2-40B4-BE49-F238E27FC236}">
                <a16:creationId xmlns:a16="http://schemas.microsoft.com/office/drawing/2014/main" id="{28A8B3E8-0C0E-4BEB-8765-9FC77E276C48}"/>
              </a:ext>
            </a:extLst>
          </p:cNvPr>
          <p:cNvSpPr>
            <a:spLocks xmlns:a="http://schemas.openxmlformats.org/drawingml/2006/main" noGrp="1"/>
          </p:cNvSpPr>
          <p:nvPr/>
        </p:nvSpPr>
        <p:spPr>
          <a:xfrm xmlns:a="http://schemas.openxmlformats.org/drawingml/2006/main">
            <a:off x="609600" y="5143500"/>
            <a:ext cx="10972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Non-multiple dimensions: ceil-divide the grid and keep the bounds guard.</a:t>
            </a:r>
          </a:p>
        </p:txBody>
      </p:sp>
      <p:sp>
        <p:nvSpPr>
          <p:cNvPr id="46" name="">
            <a:extLst xmlns:a="http://schemas.openxmlformats.org/drawingml/2006/main">
              <a:ext uri="{FF2B5EF4-FFF2-40B4-BE49-F238E27FC236}">
                <a16:creationId xmlns:a16="http://schemas.microsoft.com/office/drawing/2014/main" id="{2D692DBD-6D65-4934-94CD-C29D00F88A39}"/>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47" name="A grid specifies logical work; finite SMs schedule its ">
            <a:extLst xmlns:a="http://schemas.openxmlformats.org/drawingml/2006/main">
              <a:ext uri="{FF2B5EF4-FFF2-40B4-BE49-F238E27FC236}">
                <a16:creationId xmlns:a16="http://schemas.microsoft.com/office/drawing/2014/main" id="{02D6D90F-1459-4B1E-906C-6DFCADA75884}"/>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A grid specifies logical work; finite SMs schedule its blocks and warps.</a:t>
            </a:r>
          </a:p>
        </p:txBody>
      </p:sp>
      <p:sp>
        <p:nvSpPr>
          <p:cNvPr id="48" name="">
            <a:extLst xmlns:a="http://schemas.openxmlformats.org/drawingml/2006/main">
              <a:ext uri="{FF2B5EF4-FFF2-40B4-BE49-F238E27FC236}">
                <a16:creationId xmlns:a16="http://schemas.microsoft.com/office/drawing/2014/main" id="{3592D7B8-34E2-4109-9AEF-D848FAC2F91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49" name="Sources: [1] NVIDIA CUDA programming model">
            <a:extLst xmlns:a="http://schemas.openxmlformats.org/drawingml/2006/main">
              <a:ext uri="{FF2B5EF4-FFF2-40B4-BE49-F238E27FC236}">
                <a16:creationId xmlns:a16="http://schemas.microsoft.com/office/drawing/2014/main" id="{3904C9FD-493E-45E3-BA87-C701E65966C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50" name="14 / 46">
            <a:extLst xmlns:a="http://schemas.openxmlformats.org/drawingml/2006/main">
              <a:ext uri="{FF2B5EF4-FFF2-40B4-BE49-F238E27FC236}">
                <a16:creationId xmlns:a16="http://schemas.microsoft.com/office/drawing/2014/main" id="{0AEEDE87-B9BC-4A39-BF81-596DDD3A49F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14 / 46</a:t>
            </a:r>
          </a:p>
        </p:txBody>
      </p:sp>
    </p:spTree>
    <p:extLst>
      <p:ext uri="{BB962C8B-B14F-4D97-AF65-F5344CB8AC3E}">
        <p14:creationId xmlns:p14="http://schemas.microsoft.com/office/powerpoint/2010/main" val="1553126568"/>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Task 1(b) • Rotation implementation">
            <a:extLst xmlns:a="http://schemas.openxmlformats.org/drawingml/2006/main">
              <a:ext uri="{FF2B5EF4-FFF2-40B4-BE49-F238E27FC236}">
                <a16:creationId xmlns:a16="http://schemas.microsoft.com/office/drawing/2014/main" id="{89DE2432-9907-4EC5-A42B-D9CAB6774240}"/>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Rotation implementation</a:t>
            </a:r>
          </a:p>
        </p:txBody>
      </p:sp>
      <p:sp>
        <p:nvSpPr>
          <p:cNvPr id="2" name="CUDA rotation kernel">
            <a:extLst xmlns:a="http://schemas.openxmlformats.org/drawingml/2006/main">
              <a:ext uri="{FF2B5EF4-FFF2-40B4-BE49-F238E27FC236}">
                <a16:creationId xmlns:a16="http://schemas.microsoft.com/office/drawing/2014/main" id="{A85FC162-6DA1-41F2-93CE-40A601115F6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rotation kernel</a:t>
            </a:r>
          </a:p>
        </p:txBody>
      </p:sp>
      <p:sp>
        <p:nvSpPr>
          <p:cNvPr id="3" name="">
            <a:extLst xmlns:a="http://schemas.openxmlformats.org/drawingml/2006/main">
              <a:ext uri="{FF2B5EF4-FFF2-40B4-BE49-F238E27FC236}">
                <a16:creationId xmlns:a16="http://schemas.microsoft.com/office/drawing/2014/main" id="{54F18394-A524-44A1-86F8-434AEFB82981}"/>
              </a:ext>
            </a:extLst>
          </p:cNvPr>
          <p:cNvSpPr>
            <a:spLocks xmlns:a="http://schemas.openxmlformats.org/drawingml/2006/main" noGrp="1"/>
          </p:cNvSpPr>
          <p:nvPr/>
        </p:nvSpPr>
        <p:spPr>
          <a:xfrm xmlns:a="http://schemas.openxmlformats.org/drawingml/2006/main">
            <a:off x="609600" y="1495425"/>
            <a:ext cx="7705725" cy="370332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__global__ void rotate_rgb(const unsigned char* in,&#10;   ">
            <a:extLst xmlns:a="http://schemas.openxmlformats.org/drawingml/2006/main">
              <a:ext uri="{FF2B5EF4-FFF2-40B4-BE49-F238E27FC236}">
                <a16:creationId xmlns:a16="http://schemas.microsoft.com/office/drawing/2014/main" id="{06F95351-D42B-451D-A25A-7273A57F316A}"/>
              </a:ext>
            </a:extLst>
          </p:cNvPr>
          <p:cNvSpPr>
            <a:spLocks xmlns:a="http://schemas.openxmlformats.org/drawingml/2006/main" noGrp="1"/>
          </p:cNvSpPr>
          <p:nvPr/>
        </p:nvSpPr>
        <p:spPr>
          <a:xfrm xmlns:a="http://schemas.openxmlformats.org/drawingml/2006/main">
            <a:off x="723900" y="1581150"/>
            <a:ext cx="7477125" cy="35699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 int W, int H, float c, float s)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x = blockIdx.x*blockDim.x + threadIdx.x;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y = blockIdx.y*blockDim.y + threadIdx.y;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 || y &gt;= H) return;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cx = (W-1)*0.5f, cy = (H-1)*0.5f;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ix = int(floorf(c*(x-cx)-s*(y-cy)+cx+0.5f));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iy = int(floorf(s*(x-cx)+c*(y-cy)+cy+0.5f));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dst = 3*(size_t(y)*W + 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 &amp;&amp; iy &gt;= 0 &amp;&amp; iy &lt; H)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src = 3*(size_t(iy)*W + ix);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in[src+ch];</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0;</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One thread owns one output pixel. Guard partial edge bl">
            <a:extLst xmlns:a="http://schemas.openxmlformats.org/drawingml/2006/main">
              <a:ext uri="{FF2B5EF4-FFF2-40B4-BE49-F238E27FC236}">
                <a16:creationId xmlns:a16="http://schemas.microsoft.com/office/drawing/2014/main" id="{83D291F2-031C-4762-9C15-EC5AD93F2471}"/>
              </a:ext>
            </a:extLst>
          </p:cNvPr>
          <p:cNvSpPr>
            <a:spLocks xmlns:a="http://schemas.openxmlformats.org/drawingml/2006/main" noGrp="1"/>
          </p:cNvSpPr>
          <p:nvPr/>
        </p:nvSpPr>
        <p:spPr>
          <a:xfrm xmlns:a="http://schemas.openxmlformats.org/drawingml/2006/main">
            <a:off x="8648700" y="158115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One thread owns one output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pixel. Guard partial edge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blocks.</a:t>
            </a:r>
          </a:p>
        </p:txBody>
      </p:sp>
      <p:sp>
        <p:nvSpPr>
          <p:cNvPr id="6" name="Inverse gather copies RGB; out-of-bounds indices write ">
            <a:extLst xmlns:a="http://schemas.openxmlformats.org/drawingml/2006/main">
              <a:ext uri="{FF2B5EF4-FFF2-40B4-BE49-F238E27FC236}">
                <a16:creationId xmlns:a16="http://schemas.microsoft.com/office/drawing/2014/main" id="{791BAF7C-028E-4185-AD57-BC20E9CC0532}"/>
              </a:ext>
            </a:extLst>
          </p:cNvPr>
          <p:cNvSpPr>
            <a:spLocks xmlns:a="http://schemas.openxmlformats.org/drawingml/2006/main" noGrp="1"/>
          </p:cNvSpPr>
          <p:nvPr/>
        </p:nvSpPr>
        <p:spPr>
          <a:xfrm xmlns:a="http://schemas.openxmlformats.org/drawingml/2006/main">
            <a:off x="8648700" y="2589276"/>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Inverse gather copies RGB;</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out-of-bounds indices write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black.</a:t>
            </a:r>
          </a:p>
        </p:txBody>
      </p:sp>
      <p:sp>
        <p:nvSpPr>
          <p:cNvPr id="7" name="Disjoint outputs need no atomics/barrier. Work and stor">
            <a:extLst xmlns:a="http://schemas.openxmlformats.org/drawingml/2006/main">
              <a:ext uri="{FF2B5EF4-FFF2-40B4-BE49-F238E27FC236}">
                <a16:creationId xmlns:a16="http://schemas.microsoft.com/office/drawing/2014/main" id="{B439F71B-0609-4F94-BF41-6D6931729FDF}"/>
              </a:ext>
            </a:extLst>
          </p:cNvPr>
          <p:cNvSpPr>
            <a:spLocks xmlns:a="http://schemas.openxmlformats.org/drawingml/2006/main" noGrp="1"/>
          </p:cNvSpPr>
          <p:nvPr/>
        </p:nvSpPr>
        <p:spPr>
          <a:xfrm xmlns:a="http://schemas.openxmlformats.org/drawingml/2006/main">
            <a:off x="8648700" y="3597402"/>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Disjoint outputs need no</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atomics/barrier. Work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storage: O(W × H).</a:t>
            </a:r>
          </a:p>
        </p:txBody>
      </p:sp>
      <p:sp>
        <p:nvSpPr>
          <p:cNvPr id="8" name="Separate RGB buffers; W/H &gt; 0; valid sizes, c/s. Uncomp">
            <a:extLst xmlns:a="http://schemas.openxmlformats.org/drawingml/2006/main">
              <a:ext uri="{FF2B5EF4-FFF2-40B4-BE49-F238E27FC236}">
                <a16:creationId xmlns:a16="http://schemas.microsoft.com/office/drawing/2014/main" id="{64385362-390C-42CF-92AA-9CD36BD1ABF4}"/>
              </a:ext>
            </a:extLst>
          </p:cNvPr>
          <p:cNvSpPr>
            <a:spLocks xmlns:a="http://schemas.openxmlformats.org/drawingml/2006/main" noGrp="1"/>
          </p:cNvSpPr>
          <p:nvPr/>
        </p:nvSpPr>
        <p:spPr>
          <a:xfrm xmlns:a="http://schemas.openxmlformats.org/drawingml/2006/main">
            <a:off x="8648700" y="4605528"/>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Separate RGB buffers; W/H &gt;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0; valid sizes, c/s. Uncompiled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and unbenchmarked.</a:t>
            </a:r>
          </a:p>
        </p:txBody>
      </p:sp>
      <p:sp>
        <p:nvSpPr>
          <p:cNvPr id="9" name="">
            <a:extLst xmlns:a="http://schemas.openxmlformats.org/drawingml/2006/main">
              <a:ext uri="{FF2B5EF4-FFF2-40B4-BE49-F238E27FC236}">
                <a16:creationId xmlns:a16="http://schemas.microsoft.com/office/drawing/2014/main" id="{CC7A2B0A-F76E-4CBB-AE52-0A3384C366FA}"/>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58E3EA1C-86DC-4432-B46C-D319FB2544E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15 / 46">
            <a:extLst xmlns:a="http://schemas.openxmlformats.org/drawingml/2006/main">
              <a:ext uri="{FF2B5EF4-FFF2-40B4-BE49-F238E27FC236}">
                <a16:creationId xmlns:a16="http://schemas.microsoft.com/office/drawing/2014/main" id="{804C0547-F3ED-4989-B5E2-9BA09EBC9E0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15 / 46</a:t>
            </a:r>
          </a:p>
        </p:txBody>
      </p:sp>
    </p:spTree>
    <p:extLst>
      <p:ext uri="{BB962C8B-B14F-4D97-AF65-F5344CB8AC3E}">
        <p14:creationId xmlns:p14="http://schemas.microsoft.com/office/powerpoint/2010/main" val="1643571136"/>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Task 1(b) • Host orchestration">
            <a:extLst xmlns:a="http://schemas.openxmlformats.org/drawingml/2006/main">
              <a:ext uri="{FF2B5EF4-FFF2-40B4-BE49-F238E27FC236}">
                <a16:creationId xmlns:a16="http://schemas.microsoft.com/office/drawing/2014/main" id="{FD55FB7D-4723-4BCE-85AE-241BCDADE0B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Host orchestration</a:t>
            </a:r>
          </a:p>
        </p:txBody>
      </p:sp>
      <p:sp>
        <p:nvSpPr>
          <p:cNvPr id="2" name="Host orchestration and completion">
            <a:extLst xmlns:a="http://schemas.openxmlformats.org/drawingml/2006/main">
              <a:ext uri="{FF2B5EF4-FFF2-40B4-BE49-F238E27FC236}">
                <a16:creationId xmlns:a16="http://schemas.microsoft.com/office/drawing/2014/main" id="{68C31195-3B8E-454B-B576-B56F49E6830E}"/>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Host orchestration and completion</a:t>
            </a:r>
          </a:p>
        </p:txBody>
      </p:sp>
      <p:sp>
        <p:nvSpPr>
          <p:cNvPr id="3" name="">
            <a:extLst xmlns:a="http://schemas.openxmlformats.org/drawingml/2006/main">
              <a:ext uri="{FF2B5EF4-FFF2-40B4-BE49-F238E27FC236}">
                <a16:creationId xmlns:a16="http://schemas.microsoft.com/office/drawing/2014/main" id="{78996245-3FA7-4A87-9A85-D336C7B3DBB4}"/>
              </a:ext>
            </a:extLst>
          </p:cNvPr>
          <p:cNvSpPr>
            <a:spLocks xmlns:a="http://schemas.openxmlformats.org/drawingml/2006/main" noGrp="1"/>
          </p:cNvSpPr>
          <p:nvPr/>
        </p:nvSpPr>
        <p:spPr>
          <a:xfrm xmlns:a="http://schemas.openxmlformats.org/drawingml/2006/main">
            <a:off x="609600" y="1495425"/>
            <a:ext cx="6419850" cy="240030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dim3 block(16, 16);&#10;dim3 grid(1u + (unsigned(W)-1u)/blo">
            <a:extLst xmlns:a="http://schemas.openxmlformats.org/drawingml/2006/main">
              <a:ext uri="{FF2B5EF4-FFF2-40B4-BE49-F238E27FC236}">
                <a16:creationId xmlns:a16="http://schemas.microsoft.com/office/drawing/2014/main" id="{16585E18-4AB8-4D0E-81D5-1E283E939B19}"/>
              </a:ext>
            </a:extLst>
          </p:cNvPr>
          <p:cNvSpPr>
            <a:spLocks xmlns:a="http://schemas.openxmlformats.org/drawingml/2006/main" noGrp="1"/>
          </p:cNvSpPr>
          <p:nvPr/>
        </p:nvSpPr>
        <p:spPr>
          <a:xfrm xmlns:a="http://schemas.openxmlformats.org/drawingml/2006/main">
            <a:off x="723900" y="1581150"/>
            <a:ext cx="61912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block(16, 16);</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grid(1u + (unsigned(W)-1u)/block.x,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1u + (unsigned(H)-1u)/block.y);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cudaMemcpy(d_in, h_in,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rotate_rgb&lt;&lt;&lt;grid, block&gt;&gt;&gt;(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d_in, d_out, W, H, c, 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cudaGetLastError();</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cudaMemcpy(h_out, d_out,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a:t>
            </a:r>
          </a:p>
        </p:txBody>
      </p:sp>
      <p:sp>
        <p:nvSpPr>
          <p:cNvPr id="5" name="Illustrative excerpt, not a complete program: W/H &gt; 0; ">
            <a:extLst xmlns:a="http://schemas.openxmlformats.org/drawingml/2006/main">
              <a:ext uri="{FF2B5EF4-FFF2-40B4-BE49-F238E27FC236}">
                <a16:creationId xmlns:a16="http://schemas.microsoft.com/office/drawing/2014/main" id="{0CC5D451-5063-4F1F-800E-817F2B38EA76}"/>
              </a:ext>
            </a:extLst>
          </p:cNvPr>
          <p:cNvSpPr>
            <a:spLocks xmlns:a="http://schemas.openxmlformats.org/drawingml/2006/main" noGrp="1"/>
          </p:cNvSpPr>
          <p:nvPr/>
        </p:nvSpPr>
        <p:spPr>
          <a:xfrm xmlns:a="http://schemas.openxmlformats.org/drawingml/2006/main">
            <a:off x="609600" y="4276725"/>
            <a:ext cx="6191250" cy="7821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Illustrative excerpt, not a complete program: W/H &gt; 0; bytes = 3 × W</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 H checked in size_t; valid separate buffers; grid/device limits</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validated.</a:t>
            </a:r>
          </a:p>
        </p:txBody>
      </p:sp>
      <p:sp>
        <p:nvSpPr>
          <p:cNvPr id="6" name="CPU loads/decodes, allocates host/device buffers, check">
            <a:extLst xmlns:a="http://schemas.openxmlformats.org/drawingml/2006/main">
              <a:ext uri="{FF2B5EF4-FFF2-40B4-BE49-F238E27FC236}">
                <a16:creationId xmlns:a16="http://schemas.microsoft.com/office/drawing/2014/main" id="{E2CB4124-8D3F-4204-8623-379A3A9F3DEC}"/>
              </a:ext>
            </a:extLst>
          </p:cNvPr>
          <p:cNvSpPr>
            <a:spLocks xmlns:a="http://schemas.openxmlformats.org/drawingml/2006/main" noGrp="1"/>
          </p:cNvSpPr>
          <p:nvPr/>
        </p:nvSpPr>
        <p:spPr>
          <a:xfrm xmlns:a="http://schemas.openxmlformats.org/drawingml/2006/main">
            <a:off x="7219950" y="1581150"/>
            <a:ext cx="436245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CPU loads/decodes, allocates host/device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buffers, checks every API/launch/completion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result, saves output and frees resources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safely.</a:t>
            </a:r>
          </a:p>
        </p:txBody>
      </p:sp>
      <p:sp>
        <p:nvSpPr>
          <p:cNvPr id="7" name="For this ordered synchronous-copy example, D2H supplies">
            <a:extLst xmlns:a="http://schemas.openxmlformats.org/drawingml/2006/main">
              <a:ext uri="{FF2B5EF4-FFF2-40B4-BE49-F238E27FC236}">
                <a16:creationId xmlns:a16="http://schemas.microsoft.com/office/drawing/2014/main" id="{8492C92A-9165-427C-A6F9-60AABB054A2F}"/>
              </a:ext>
            </a:extLst>
          </p:cNvPr>
          <p:cNvSpPr>
            <a:spLocks xmlns:a="http://schemas.openxmlformats.org/drawingml/2006/main" noGrp="1"/>
          </p:cNvSpPr>
          <p:nvPr/>
        </p:nvSpPr>
        <p:spPr>
          <a:xfrm xmlns:a="http://schemas.openxmlformats.org/drawingml/2006/main">
            <a:off x="7219950" y="2830068"/>
            <a:ext cx="436245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For this ordered synchronous-copy example,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D2H supplies completed host data. A launch is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asynchronous; launch-error checks alone do</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not establish successful completion.</a:t>
            </a:r>
          </a:p>
        </p:txBody>
      </p:sp>
      <p:sp>
        <p:nvSpPr>
          <p:cNvPr id="8" name="Pinned host storage is page-locked and supports efficie">
            <a:extLst xmlns:a="http://schemas.openxmlformats.org/drawingml/2006/main">
              <a:ext uri="{FF2B5EF4-FFF2-40B4-BE49-F238E27FC236}">
                <a16:creationId xmlns:a16="http://schemas.microsoft.com/office/drawing/2014/main" id="{0754AADE-59BD-46A8-8762-42DFF4647D69}"/>
              </a:ext>
            </a:extLst>
          </p:cNvPr>
          <p:cNvSpPr>
            <a:spLocks xmlns:a="http://schemas.openxmlformats.org/drawingml/2006/main" noGrp="1"/>
          </p:cNvSpPr>
          <p:nvPr/>
        </p:nvSpPr>
        <p:spPr>
          <a:xfrm xmlns:a="http://schemas.openxmlformats.org/drawingml/2006/main">
            <a:off x="7219950" y="4078986"/>
            <a:ext cx="436245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Pinned host storage is page-locked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supports efficient DMA. Pageable memory</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may need runtime staging. Avoid excessive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pinning.</a:t>
            </a:r>
          </a:p>
        </p:txBody>
      </p:sp>
      <p:sp>
        <p:nvSpPr>
          <p:cNvPr id="9" name="">
            <a:extLst xmlns:a="http://schemas.openxmlformats.org/drawingml/2006/main">
              <a:ext uri="{FF2B5EF4-FFF2-40B4-BE49-F238E27FC236}">
                <a16:creationId xmlns:a16="http://schemas.microsoft.com/office/drawing/2014/main" id="{8BC1FDF4-0A97-42F7-9FA8-04F64F9FA8DD}"/>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2] NVIDIA ">
            <a:extLst xmlns:a="http://schemas.openxmlformats.org/drawingml/2006/main">
              <a:ext uri="{FF2B5EF4-FFF2-40B4-BE49-F238E27FC236}">
                <a16:creationId xmlns:a16="http://schemas.microsoft.com/office/drawing/2014/main" id="{1DB9978C-CCD7-4528-83D7-268900904A14}"/>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1" name="16 / 46">
            <a:extLst xmlns:a="http://schemas.openxmlformats.org/drawingml/2006/main">
              <a:ext uri="{FF2B5EF4-FFF2-40B4-BE49-F238E27FC236}">
                <a16:creationId xmlns:a16="http://schemas.microsoft.com/office/drawing/2014/main" id="{412B8453-F74A-4144-A9D2-AE69E1AF227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16 / 46</a:t>
            </a:r>
          </a:p>
        </p:txBody>
      </p:sp>
    </p:spTree>
    <p:extLst>
      <p:ext uri="{BB962C8B-B14F-4D97-AF65-F5344CB8AC3E}">
        <p14:creationId xmlns:p14="http://schemas.microsoft.com/office/powerpoint/2010/main" val="919687032"/>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D81009FB-63A2-47C8-84DE-5B31800A68D5}"/>
              </a:ext>
            </a:extLst>
          </p:cNvPr>
          <p:cNvCxnSpPr>
            <a:stCxn xmlns:a="http://schemas.openxmlformats.org/drawingml/2006/main" id="7" idx="2"/>
            <a:endCxn xmlns:a="http://schemas.openxmlformats.org/drawingml/2006/main" id="8" idx="0"/>
          </p:cNvCxnSpPr>
          <p:nvPr/>
        </p:nvCxnSpPr>
        <p:spPr>
          <a:xfrm xmlns:a="http://schemas.openxmlformats.org/drawingml/2006/main" flipH="1">
            <a:off x="9644063" y="2305050"/>
            <a:ext cx="4763" cy="69532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7" name="Appendix • Task 1 • Task 1(b)">
            <a:extLst xmlns:a="http://schemas.openxmlformats.org/drawingml/2006/main">
              <a:ext uri="{FF2B5EF4-FFF2-40B4-BE49-F238E27FC236}">
                <a16:creationId xmlns:a16="http://schemas.microsoft.com/office/drawing/2014/main" id="{2F28EFD6-6341-4486-9984-9C52366E8EC9}"/>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features that affect throughput">
            <a:extLst xmlns:a="http://schemas.openxmlformats.org/drawingml/2006/main">
              <a:ext uri="{FF2B5EF4-FFF2-40B4-BE49-F238E27FC236}">
                <a16:creationId xmlns:a16="http://schemas.microsoft.com/office/drawing/2014/main" id="{3D336FEC-34BD-44D6-A60A-A0DEB22AEDDD}"/>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features that affect throughput</a:t>
            </a:r>
          </a:p>
        </p:txBody>
      </p:sp>
      <p:sp>
        <p:nvSpPr>
          <p:cNvPr id="3" name="Example: independent brightness channels">
            <a:extLst xmlns:a="http://schemas.openxmlformats.org/drawingml/2006/main">
              <a:ext uri="{FF2B5EF4-FFF2-40B4-BE49-F238E27FC236}">
                <a16:creationId xmlns:a16="http://schemas.microsoft.com/office/drawing/2014/main" id="{EC268C5C-03F1-4371-B062-67F1E2E380F9}"/>
              </a:ext>
            </a:extLst>
          </p:cNvPr>
          <p:cNvSpPr>
            <a:spLocks xmlns:a="http://schemas.openxmlformats.org/drawingml/2006/main" noGrp="1"/>
          </p:cNvSpPr>
          <p:nvPr/>
        </p:nvSpPr>
        <p:spPr>
          <a:xfrm xmlns:a="http://schemas.openxmlformats.org/drawingml/2006/main">
            <a:off x="609600" y="1562100"/>
            <a:ext cx="6238875"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Example: independent brightness channels</a:t>
            </a:r>
          </a:p>
        </p:txBody>
      </p:sp>
      <p:sp>
        <p:nvSpPr>
          <p:cNvPr id="4" name="">
            <a:extLst xmlns:a="http://schemas.openxmlformats.org/drawingml/2006/main">
              <a:ext uri="{FF2B5EF4-FFF2-40B4-BE49-F238E27FC236}">
                <a16:creationId xmlns:a16="http://schemas.microsoft.com/office/drawing/2014/main" id="{D33D18D6-5536-4DCE-A7FD-AB0707226B38}"/>
              </a:ext>
            </a:extLst>
          </p:cNvPr>
          <p:cNvSpPr>
            <a:spLocks xmlns:a="http://schemas.openxmlformats.org/drawingml/2006/main" noGrp="1"/>
          </p:cNvSpPr>
          <p:nvPr/>
        </p:nvSpPr>
        <p:spPr>
          <a:xfrm xmlns:a="http://schemas.openxmlformats.org/drawingml/2006/main">
            <a:off x="609600" y="2019300"/>
            <a:ext cx="6419850" cy="142875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size_t p = 3*(size_t(y)*W + x);&#10;for (int ch=0; ch&lt;3; ++">
            <a:extLst xmlns:a="http://schemas.openxmlformats.org/drawingml/2006/main">
              <a:ext uri="{FF2B5EF4-FFF2-40B4-BE49-F238E27FC236}">
                <a16:creationId xmlns:a16="http://schemas.microsoft.com/office/drawing/2014/main" id="{57B0DB62-CBD5-4911-8F8E-F9B6C455839F}"/>
              </a:ext>
            </a:extLst>
          </p:cNvPr>
          <p:cNvSpPr>
            <a:spLocks xmlns:a="http://schemas.openxmlformats.org/drawingml/2006/main" noGrp="1"/>
          </p:cNvSpPr>
          <p:nvPr/>
        </p:nvSpPr>
        <p:spPr>
          <a:xfrm xmlns:a="http://schemas.openxmlformats.org/drawingml/2006/main">
            <a:off x="723900" y="2105025"/>
            <a:ext cx="6191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42D45"/>
                </a:solidFill>
                <a:latin typeface="Consolas"/>
                <a:ea typeface="Consolas"/>
                <a:cs typeface="Consolas"/>
              </a:defRPr>
            </a:defPPr>
          </a:lstStyle>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size_t p = 3*(size_t(y)*W + x);</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for (int ch=0; ch&lt;3; ++ch) {</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int v = int(in[p+ch]) + delta;</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out[p+ch] = v&lt;0 ? 0 : (v&gt;255 ? 255 : v);</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a:t>
            </a:r>
          </a:p>
        </p:txBody>
      </p:sp>
      <p:sp>
        <p:nvSpPr>
          <p:cNvPr id="6" name="After coordinate/bounds checks; valid RGB buffers; delt">
            <a:extLst xmlns:a="http://schemas.openxmlformats.org/drawingml/2006/main">
              <a:ext uri="{FF2B5EF4-FFF2-40B4-BE49-F238E27FC236}">
                <a16:creationId xmlns:a16="http://schemas.microsoft.com/office/drawing/2014/main" id="{1558BAA2-41CA-459D-9F1E-78E2D26ABB3D}"/>
              </a:ext>
            </a:extLst>
          </p:cNvPr>
          <p:cNvSpPr>
            <a:spLocks xmlns:a="http://schemas.openxmlformats.org/drawingml/2006/main" noGrp="1"/>
          </p:cNvSpPr>
          <p:nvPr/>
        </p:nvSpPr>
        <p:spPr>
          <a:xfrm xmlns:a="http://schemas.openxmlformats.org/drawingml/2006/main">
            <a:off x="609600" y="3581400"/>
            <a:ext cx="6324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16170"/>
                </a:solidFill>
                <a:latin typeface="Arial"/>
                <a:ea typeface="Arial"/>
                <a:cs typeface="Arial"/>
              </a:defRPr>
            </a:defPPr>
          </a:lstStyle>
          <a:p xmlns:a="http://schemas.openxmlformats.org/drawingml/2006/main">
            <a:pPr algn="l">
              <a:defRPr sz="1425" b="0">
                <a:solidFill>
                  <a:srgbClr val="516170"/>
                </a:solidFill>
                <a:latin typeface="Arial"/>
                <a:ea typeface="Arial"/>
                <a:cs typeface="Arial"/>
              </a:defRPr>
            </a:pPr>
            <a:r>
              <a:rPr sz="1425" b="0">
                <a:solidFill>
                  <a:srgbClr val="516170"/>
                </a:solidFill>
                <a:latin typeface="Arial"/>
                <a:ea typeface="Arial"/>
                <a:cs typeface="Arial"/>
              </a:rPr>
              <a:t>After coordinate/bounds checks; valid RGB buffers; delta ∈ [−255,255].</a:t>
            </a:r>
          </a:p>
        </p:txBody>
      </p:sp>
      <p:sp>
        <p:nvSpPr>
          <p:cNvPr id="7" name="">
            <a:extLst xmlns:a="http://schemas.openxmlformats.org/drawingml/2006/main">
              <a:ext uri="{FF2B5EF4-FFF2-40B4-BE49-F238E27FC236}">
                <a16:creationId xmlns:a16="http://schemas.microsoft.com/office/drawing/2014/main" id="{5AEF432C-F91B-4502-8342-85768704B79C}"/>
              </a:ext>
            </a:extLst>
          </p:cNvPr>
          <p:cNvSpPr>
            <a:spLocks xmlns:a="http://schemas.openxmlformats.org/drawingml/2006/main" noGrp="1"/>
          </p:cNvSpPr>
          <p:nvPr/>
        </p:nvSpPr>
        <p:spPr>
          <a:xfrm xmlns:a="http://schemas.openxmlformats.org/drawingml/2006/main">
            <a:off x="8191500" y="1638300"/>
            <a:ext cx="291465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Pending blocks</a:t>
            </a:r>
          </a:p>
        </p:txBody>
      </p:sp>
      <p:sp>
        <p:nvSpPr>
          <p:cNvPr id="8" name="">
            <a:extLst xmlns:a="http://schemas.openxmlformats.org/drawingml/2006/main">
              <a:ext uri="{FF2B5EF4-FFF2-40B4-BE49-F238E27FC236}">
                <a16:creationId xmlns:a16="http://schemas.microsoft.com/office/drawing/2014/main" id="{8EF77AD2-8190-4F06-BC07-6B1DA4EEDE74}"/>
              </a:ext>
            </a:extLst>
          </p:cNvPr>
          <p:cNvSpPr>
            <a:spLocks xmlns:a="http://schemas.openxmlformats.org/drawingml/2006/main" noGrp="1"/>
          </p:cNvSpPr>
          <p:nvPr/>
        </p:nvSpPr>
        <p:spPr>
          <a:xfrm xmlns:a="http://schemas.openxmlformats.org/drawingml/2006/main">
            <a:off x="7810500" y="3000375"/>
            <a:ext cx="3667125" cy="11049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Streaming multiprocessor</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resident warps → execution units</a:t>
            </a:r>
          </a:p>
        </p:txBody>
      </p:sp>
      <p:sp>
        <p:nvSpPr>
          <p:cNvPr id="10" name="SIMT = single instruction, multiple threads. A warp iss">
            <a:extLst xmlns:a="http://schemas.openxmlformats.org/drawingml/2006/main">
              <a:ext uri="{FF2B5EF4-FFF2-40B4-BE49-F238E27FC236}">
                <a16:creationId xmlns:a16="http://schemas.microsoft.com/office/drawing/2014/main" id="{B4C98503-7CA6-4137-8BED-73A587918D15}"/>
              </a:ext>
            </a:extLst>
          </p:cNvPr>
          <p:cNvSpPr>
            <a:spLocks xmlns:a="http://schemas.openxmlformats.org/drawingml/2006/main" noGrp="1"/>
          </p:cNvSpPr>
          <p:nvPr/>
        </p:nvSpPr>
        <p:spPr>
          <a:xfrm xmlns:a="http://schemas.openxmlformats.org/drawingml/2006/main">
            <a:off x="7715250" y="4295775"/>
            <a:ext cx="3867150" cy="1171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SIMT = single instruction, multiple</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threads. A warp issues common</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instructions; divergent paths can</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reduce efficiency.</a:t>
            </a:r>
          </a:p>
        </p:txBody>
      </p:sp>
      <p:sp>
        <p:nvSpPr>
          <p:cNvPr id="11" name="Resident warps hide latency; registers limit residency.">
            <a:extLst xmlns:a="http://schemas.openxmlformats.org/drawingml/2006/main">
              <a:ext uri="{FF2B5EF4-FFF2-40B4-BE49-F238E27FC236}">
                <a16:creationId xmlns:a16="http://schemas.microsoft.com/office/drawing/2014/main" id="{E1B6C2D7-7111-4AD9-8CF9-D400B72C9599}"/>
              </a:ext>
            </a:extLst>
          </p:cNvPr>
          <p:cNvSpPr>
            <a:spLocks xmlns:a="http://schemas.openxmlformats.org/drawingml/2006/main" noGrp="1"/>
          </p:cNvSpPr>
          <p:nvPr/>
        </p:nvSpPr>
        <p:spPr>
          <a:xfrm xmlns:a="http://schemas.openxmlformats.org/drawingml/2006/main">
            <a:off x="609600" y="4362450"/>
            <a:ext cx="6515100" cy="888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Resident warps hide latency; registers limit residency.</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Coalescing groups nearby accesses into fewer transactions;</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rotation can disrupt read locality.</a:t>
            </a:r>
          </a:p>
        </p:txBody>
      </p:sp>
      <p:sp>
        <p:nvSpPr>
          <p:cNvPr id="12" name="">
            <a:extLst xmlns:a="http://schemas.openxmlformats.org/drawingml/2006/main">
              <a:ext uri="{FF2B5EF4-FFF2-40B4-BE49-F238E27FC236}">
                <a16:creationId xmlns:a16="http://schemas.microsoft.com/office/drawing/2014/main" id="{4A085186-60CC-48B4-BA0E-8D762768104B}"/>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3" name="Concurrency helps only when memory access and resource ">
            <a:extLst xmlns:a="http://schemas.openxmlformats.org/drawingml/2006/main">
              <a:ext uri="{FF2B5EF4-FFF2-40B4-BE49-F238E27FC236}">
                <a16:creationId xmlns:a16="http://schemas.microsoft.com/office/drawing/2014/main" id="{20F3BCDE-CF3C-4B23-838B-8E49D5A3E9CB}"/>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Concurrency helps only when memory access and resource use support it.</a:t>
            </a:r>
          </a:p>
        </p:txBody>
      </p:sp>
      <p:sp>
        <p:nvSpPr>
          <p:cNvPr id="14" name="">
            <a:extLst xmlns:a="http://schemas.openxmlformats.org/drawingml/2006/main">
              <a:ext uri="{FF2B5EF4-FFF2-40B4-BE49-F238E27FC236}">
                <a16:creationId xmlns:a16="http://schemas.microsoft.com/office/drawing/2014/main" id="{4D9537DF-74B1-4667-8F24-B0082B6751BB}"/>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5" name="Sources: [1] NVIDIA CUDA programming model; [2] NVIDIA ">
            <a:extLst xmlns:a="http://schemas.openxmlformats.org/drawingml/2006/main">
              <a:ext uri="{FF2B5EF4-FFF2-40B4-BE49-F238E27FC236}">
                <a16:creationId xmlns:a16="http://schemas.microsoft.com/office/drawing/2014/main" id="{6AE6CBEF-96E8-446A-BC2E-AEE26BA69F2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6" name="17 / 46">
            <a:extLst xmlns:a="http://schemas.openxmlformats.org/drawingml/2006/main">
              <a:ext uri="{FF2B5EF4-FFF2-40B4-BE49-F238E27FC236}">
                <a16:creationId xmlns:a16="http://schemas.microsoft.com/office/drawing/2014/main" id="{154477E3-2537-461B-BD9A-648F72D902B0}"/>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17 / 46</a:t>
            </a:r>
          </a:p>
        </p:txBody>
      </p:sp>
    </p:spTree>
    <p:extLst>
      <p:ext uri="{BB962C8B-B14F-4D97-AF65-F5344CB8AC3E}">
        <p14:creationId xmlns:p14="http://schemas.microsoft.com/office/powerpoint/2010/main" val="1393059494"/>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1 • Task 1(b) • Memory access and launc">
            <a:extLst xmlns:a="http://schemas.openxmlformats.org/drawingml/2006/main">
              <a:ext uri="{FF2B5EF4-FFF2-40B4-BE49-F238E27FC236}">
                <a16:creationId xmlns:a16="http://schemas.microsoft.com/office/drawing/2014/main" id="{50B50A78-9444-4C75-8813-CC6EFB5575A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Memory access and launch shape</a:t>
            </a:r>
          </a:p>
        </p:txBody>
      </p:sp>
      <p:sp>
        <p:nvSpPr>
          <p:cNvPr id="2" name="Launch shape and memory access">
            <a:extLst xmlns:a="http://schemas.openxmlformats.org/drawingml/2006/main">
              <a:ext uri="{FF2B5EF4-FFF2-40B4-BE49-F238E27FC236}">
                <a16:creationId xmlns:a16="http://schemas.microsoft.com/office/drawing/2014/main" id="{0CF1452F-9CA6-4FFC-B7BB-BBC2A579F491}"/>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Launch shape and memory access</a:t>
            </a:r>
          </a:p>
        </p:txBody>
      </p:sp>
      <p:graphicFrame>
        <p:nvGraphicFramePr>
          <p:cNvPr id="3" name="">
            <a:extLst xmlns:a="http://schemas.openxmlformats.org/drawingml/2006/main">
              <a:ext uri="{FF2B5EF4-FFF2-40B4-BE49-F238E27FC236}">
                <a16:creationId xmlns:a16="http://schemas.microsoft.com/office/drawing/2014/main" id="{8A0A2971-C305-4C80-A018-18919F731226}"/>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Choice</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Mechanism</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Performance implication</a:t>
                      </a:r>
                    </a:p>
                  </a:txBody>
                  <a:tcPr marL="91440" marR="91440" marT="45720" marB="45720" anchor="ctr">
                    <a:solidFill>
                      <a:srgbClr val="142D45"/>
                    </a:solidFill>
                  </a:tcPr>
                </a:tc>
              </a:tr>
              <a:tr h="666750">
                <a:tc>
                  <a:txBody>
                    <a:bodyPr lIns="95250" tIns="95250" rIns="95250" bIns="95250">
                      <a:noAutofit/>
                    </a:bodyPr>
                    <a:lstStyle/>
                    <a:p>
                      <a:pPr algn="l"/>
                      <a:r>
                        <a:rPr sz="1500" b="0">
                          <a:solidFill>
                            <a:srgbClr val="142D45"/>
                          </a:solidFill>
                          <a:latin typeface="Arial"/>
                          <a:ea typeface="Arial"/>
                          <a:cs typeface="Arial"/>
                        </a:rPr>
                        <a:t>16 × 16 block</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256 threads; each warp spans two 16-wide rows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Reasonable 2D starting point; row edges/alignment matter.</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32 × 8 block</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256 threads; each warp spans one 32-wide row</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May improve row-oriented access; no universal winner.</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Output gathering</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Adjacent x threads write adjacent RGB pixels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Useful write locality; per-channel byte operations still require efficient transactions.</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Rotated input reads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Angle changes the source addresses visited by a warp</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Irregular gathers can reduce effective read bandwidth/cache reuse.</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Higher residency</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Registers, shared memory and block/thread limits constrain active warps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Helps hide latency; maximum occupancy is not automatically fastest.</a:t>
                      </a:r>
                    </a:p>
                  </a:txBody>
                  <a:tcPr marL="91440" marR="91440" marT="45720" marB="45720" anchor="ctr">
                    <a:solidFill>
                      <a:srgbClr val="FFFFFF"/>
                    </a:solidFill>
                  </a:tcPr>
                </a:tc>
              </a:tr>
            </a:tbl>
          </a:graphicData>
        </a:graphic>
      </p:graphicFrame>
      <p:sp>
        <p:nvSpPr>
          <p:cNvPr id="4" name="Recompute grid for each block shape. Profile actual tra">
            <a:extLst xmlns:a="http://schemas.openxmlformats.org/drawingml/2006/main">
              <a:ext uri="{FF2B5EF4-FFF2-40B4-BE49-F238E27FC236}">
                <a16:creationId xmlns:a16="http://schemas.microsoft.com/office/drawing/2014/main" id="{EFE5A7E1-66A8-49BD-8BFE-3E053A6E041A}"/>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Recompute grid for each block shape. Profile actual transactions, latency and registers before selecting a shape.</a:t>
            </a:r>
          </a:p>
        </p:txBody>
      </p:sp>
      <p:sp>
        <p:nvSpPr>
          <p:cNvPr id="5" name="">
            <a:extLst xmlns:a="http://schemas.openxmlformats.org/drawingml/2006/main">
              <a:ext uri="{FF2B5EF4-FFF2-40B4-BE49-F238E27FC236}">
                <a16:creationId xmlns:a16="http://schemas.microsoft.com/office/drawing/2014/main" id="{5FEF45D7-D3B5-4AF1-8C89-7DFA3C05A927}"/>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1] NVIDIA CUDA programming model; [2] NVIDIA ">
            <a:extLst xmlns:a="http://schemas.openxmlformats.org/drawingml/2006/main">
              <a:ext uri="{FF2B5EF4-FFF2-40B4-BE49-F238E27FC236}">
                <a16:creationId xmlns:a16="http://schemas.microsoft.com/office/drawing/2014/main" id="{D78992FE-B80B-4231-94B4-A70AE2186004}"/>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7" name="18 / 46">
            <a:extLst xmlns:a="http://schemas.openxmlformats.org/drawingml/2006/main">
              <a:ext uri="{FF2B5EF4-FFF2-40B4-BE49-F238E27FC236}">
                <a16:creationId xmlns:a16="http://schemas.microsoft.com/office/drawing/2014/main" id="{33ECB07D-6586-4109-946B-F49937FBD66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18 / 46</a:t>
            </a:r>
          </a:p>
        </p:txBody>
      </p:sp>
    </p:spTree>
    <p:extLst>
      <p:ext uri="{BB962C8B-B14F-4D97-AF65-F5344CB8AC3E}">
        <p14:creationId xmlns:p14="http://schemas.microsoft.com/office/powerpoint/2010/main" val="1293331537"/>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Task 1 • Task 1(b)">
            <a:extLst xmlns:a="http://schemas.openxmlformats.org/drawingml/2006/main">
              <a:ext uri="{FF2B5EF4-FFF2-40B4-BE49-F238E27FC236}">
                <a16:creationId xmlns:a16="http://schemas.microsoft.com/office/drawing/2014/main" id="{00D88D3D-317D-47F4-92E4-C17554E5178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Expected speedup and its limits">
            <a:extLst xmlns:a="http://schemas.openxmlformats.org/drawingml/2006/main">
              <a:ext uri="{FF2B5EF4-FFF2-40B4-BE49-F238E27FC236}">
                <a16:creationId xmlns:a16="http://schemas.microsoft.com/office/drawing/2014/main" id="{EA57C725-020A-47B1-9B7D-395955B5B0AE}"/>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Expected speedup and its limits</a:t>
            </a:r>
          </a:p>
        </p:txBody>
      </p:sp>
      <p:sp>
        <p:nvSpPr>
          <p:cNvPr id="3" name="Baseline: single CPU thread, same rotation and sampling">
            <a:extLst xmlns:a="http://schemas.openxmlformats.org/drawingml/2006/main">
              <a:ext uri="{FF2B5EF4-FFF2-40B4-BE49-F238E27FC236}">
                <a16:creationId xmlns:a16="http://schemas.microsoft.com/office/drawing/2014/main" id="{AC9864A6-1389-46F3-B66F-070F938900F8}"/>
              </a:ext>
            </a:extLst>
          </p:cNvPr>
          <p:cNvSpPr>
            <a:spLocks xmlns:a="http://schemas.openxmlformats.org/drawingml/2006/main" noGrp="1"/>
          </p:cNvSpPr>
          <p:nvPr/>
        </p:nvSpPr>
        <p:spPr>
          <a:xfrm xmlns:a="http://schemas.openxmlformats.org/drawingml/2006/main">
            <a:off x="609600" y="1514475"/>
            <a:ext cx="109728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Baseline: single CPU thread, same rotation and sampling</a:t>
            </a:r>
          </a:p>
        </p:txBody>
      </p:sp>
      <p:sp>
        <p:nvSpPr>
          <p:cNvPr id="4" name="Also compare a multithreaded CPU; identical output and ">
            <a:extLst xmlns:a="http://schemas.openxmlformats.org/drawingml/2006/main">
              <a:ext uri="{FF2B5EF4-FFF2-40B4-BE49-F238E27FC236}">
                <a16:creationId xmlns:a16="http://schemas.microsoft.com/office/drawing/2014/main" id="{AA776F31-790D-4170-84B0-C9113FF925EC}"/>
              </a:ext>
            </a:extLst>
          </p:cNvPr>
          <p:cNvSpPr>
            <a:spLocks xmlns:a="http://schemas.openxmlformats.org/drawingml/2006/main" noGrp="1"/>
          </p:cNvSpPr>
          <p:nvPr/>
        </p:nvSpPr>
        <p:spPr>
          <a:xfrm xmlns:a="http://schemas.openxmlformats.org/drawingml/2006/main">
            <a:off x="609600" y="1924050"/>
            <a:ext cx="10972800" cy="321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Also compare a multithreaded CPU; identical output and timing boundaries.</a:t>
            </a:r>
          </a:p>
        </p:txBody>
      </p:sp>
      <p:sp>
        <p:nvSpPr>
          <p:cNvPr id="5" name="Speedup = TCPU / TGPU,total">
            <a:extLst xmlns:a="http://schemas.openxmlformats.org/drawingml/2006/main">
              <a:ext uri="{FF2B5EF4-FFF2-40B4-BE49-F238E27FC236}">
                <a16:creationId xmlns:a16="http://schemas.microsoft.com/office/drawing/2014/main" id="{A1000CFA-FBD6-4D0C-BA7F-8CC64CFCC501}"/>
              </a:ext>
            </a:extLst>
          </p:cNvPr>
          <p:cNvSpPr>
            <a:spLocks xmlns:a="http://schemas.openxmlformats.org/drawingml/2006/main" noGrp="1"/>
          </p:cNvSpPr>
          <p:nvPr/>
        </p:nvSpPr>
        <p:spPr>
          <a:xfrm xmlns:a="http://schemas.openxmlformats.org/drawingml/2006/main">
            <a:off x="609600" y="2505075"/>
            <a:ext cx="10972800" cy="4396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D45"/>
                </a:solidFill>
                <a:latin typeface="Arial"/>
                <a:ea typeface="Arial"/>
                <a:cs typeface="Arial"/>
              </a:defRPr>
            </a:defPPr>
          </a:lstStyle>
          <a:p xmlns:a="http://schemas.openxmlformats.org/drawingml/2006/main">
            <a:pPr algn="l">
              <a:defRPr sz="2550" b="1">
                <a:solidFill>
                  <a:srgbClr val="142D45"/>
                </a:solidFill>
                <a:latin typeface="Arial"/>
                <a:ea typeface="Arial"/>
                <a:cs typeface="Arial"/>
              </a:defRPr>
            </a:pPr>
            <a:r>
              <a:rPr sz="2550" b="1">
                <a:solidFill>
                  <a:srgbClr val="142D45"/>
                </a:solidFill>
                <a:latin typeface="Arial"/>
                <a:ea typeface="Arial"/>
                <a:cs typeface="Arial"/>
              </a:rPr>
              <a:t>Speedup = TCPU / TGPU,total</a:t>
            </a:r>
          </a:p>
        </p:txBody>
      </p:sp>
      <p:sp>
        <p:nvSpPr>
          <p:cNvPr id="6" name="TGPU,total = allocation/setup + H2D + kernel + D2H">
            <a:extLst xmlns:a="http://schemas.openxmlformats.org/drawingml/2006/main">
              <a:ext uri="{FF2B5EF4-FFF2-40B4-BE49-F238E27FC236}">
                <a16:creationId xmlns:a16="http://schemas.microsoft.com/office/drawing/2014/main" id="{317BF2EA-57DD-461C-A4E6-925F98F6AEFF}"/>
              </a:ext>
            </a:extLst>
          </p:cNvPr>
          <p:cNvSpPr>
            <a:spLocks xmlns:a="http://schemas.openxmlformats.org/drawingml/2006/main" noGrp="1"/>
          </p:cNvSpPr>
          <p:nvPr/>
        </p:nvSpPr>
        <p:spPr>
          <a:xfrm xmlns:a="http://schemas.openxmlformats.org/drawingml/2006/main">
            <a:off x="609600" y="3038475"/>
            <a:ext cx="109728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D45"/>
                </a:solidFill>
                <a:latin typeface="Arial"/>
                <a:ea typeface="Arial"/>
                <a:cs typeface="Arial"/>
              </a:defRPr>
            </a:defPPr>
          </a:lstStyle>
          <a:p xmlns:a="http://schemas.openxmlformats.org/drawingml/2006/main">
            <a:pPr algn="l">
              <a:defRPr sz="2025" b="0">
                <a:solidFill>
                  <a:srgbClr val="142D45"/>
                </a:solidFill>
                <a:latin typeface="Arial"/>
                <a:ea typeface="Arial"/>
                <a:cs typeface="Arial"/>
              </a:defRPr>
            </a:pPr>
            <a:r>
              <a:rPr sz="2025" b="0">
                <a:solidFill>
                  <a:srgbClr val="142D45"/>
                </a:solidFill>
                <a:latin typeface="Arial"/>
                <a:ea typeface="Arial"/>
                <a:cs typeface="Arial"/>
              </a:rPr>
              <a:t>TGPU,total = allocation/setup + H2D + kernel + D2H</a:t>
            </a:r>
          </a:p>
        </p:txBody>
      </p:sp>
      <p:sp>
        <p:nvSpPr>
          <p:cNvPr id="7" name="Many GPU execution units and high device bandwidth favo">
            <a:extLst xmlns:a="http://schemas.openxmlformats.org/drawingml/2006/main">
              <a:ext uri="{FF2B5EF4-FFF2-40B4-BE49-F238E27FC236}">
                <a16:creationId xmlns:a16="http://schemas.microsoft.com/office/drawing/2014/main" id="{1A822BB1-CE55-4A84-A377-48DB87E6B2D3}"/>
              </a:ext>
            </a:extLst>
          </p:cNvPr>
          <p:cNvSpPr>
            <a:spLocks xmlns:a="http://schemas.openxmlformats.org/drawingml/2006/main" noGrp="1"/>
          </p:cNvSpPr>
          <p:nvPr/>
        </p:nvSpPr>
        <p:spPr>
          <a:xfrm xmlns:a="http://schemas.openxmlformats.org/drawingml/2006/main">
            <a:off x="609600" y="3714750"/>
            <a:ext cx="5219700" cy="1171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Many GPU execution units and high device</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bandwidth favor parallel throughput. Large or</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resident images amortize setup; gathered reads</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may limit bandwidth.</a:t>
            </a:r>
          </a:p>
        </p:txBody>
      </p:sp>
      <p:sp>
        <p:nvSpPr>
          <p:cNvPr id="8" name="Amdahl: S = 1 / (s + (1−s)/a). s is the unchanged seria">
            <a:extLst xmlns:a="http://schemas.openxmlformats.org/drawingml/2006/main">
              <a:ext uri="{FF2B5EF4-FFF2-40B4-BE49-F238E27FC236}">
                <a16:creationId xmlns:a16="http://schemas.microsoft.com/office/drawing/2014/main" id="{19BF3856-B1B1-419B-A541-A3453E926525}"/>
              </a:ext>
            </a:extLst>
          </p:cNvPr>
          <p:cNvSpPr>
            <a:spLocks xmlns:a="http://schemas.openxmlformats.org/drawingml/2006/main" noGrp="1"/>
          </p:cNvSpPr>
          <p:nvPr/>
        </p:nvSpPr>
        <p:spPr>
          <a:xfrm xmlns:a="http://schemas.openxmlformats.org/drawingml/2006/main">
            <a:off x="6419850" y="3714750"/>
            <a:ext cx="5162550" cy="1171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Amdahl: S = 1 / (s + (1−s)/a). s is the unchanged</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serial share; a accelerates the remainder. s = 0.20</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gives a 5× ideal ceiling before added transfers.</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Theoretical, not measured.</a:t>
            </a:r>
          </a:p>
        </p:txBody>
      </p:sp>
      <p:sp>
        <p:nvSpPr>
          <p:cNvPr id="9" name="">
            <a:extLst xmlns:a="http://schemas.openxmlformats.org/drawingml/2006/main">
              <a:ext uri="{FF2B5EF4-FFF2-40B4-BE49-F238E27FC236}">
                <a16:creationId xmlns:a16="http://schemas.microsoft.com/office/drawing/2014/main" id="{8FE83224-6E48-444D-A202-7B17FC1AB46E}"/>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0" name="Expect gains for large or resident workloads; measure t">
            <a:extLst xmlns:a="http://schemas.openxmlformats.org/drawingml/2006/main">
              <a:ext uri="{FF2B5EF4-FFF2-40B4-BE49-F238E27FC236}">
                <a16:creationId xmlns:a16="http://schemas.microsoft.com/office/drawing/2014/main" id="{8542EDC5-9B23-4648-B8EA-2A93639AF303}"/>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Expect gains for large or resident workloads; measure the whole pipeline.</a:t>
            </a:r>
          </a:p>
        </p:txBody>
      </p:sp>
      <p:sp>
        <p:nvSpPr>
          <p:cNvPr id="11" name="">
            <a:extLst xmlns:a="http://schemas.openxmlformats.org/drawingml/2006/main">
              <a:ext uri="{FF2B5EF4-FFF2-40B4-BE49-F238E27FC236}">
                <a16:creationId xmlns:a16="http://schemas.microsoft.com/office/drawing/2014/main" id="{0E567D70-3BD1-4023-A1F0-90D439CAC9D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Sources: [2] NVIDIA CUDA Best Practices">
            <a:extLst xmlns:a="http://schemas.openxmlformats.org/drawingml/2006/main">
              <a:ext uri="{FF2B5EF4-FFF2-40B4-BE49-F238E27FC236}">
                <a16:creationId xmlns:a16="http://schemas.microsoft.com/office/drawing/2014/main" id="{6071803A-2BD8-4FB0-BF7A-9893A4D81429}"/>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3" name="19 / 46">
            <a:extLst xmlns:a="http://schemas.openxmlformats.org/drawingml/2006/main">
              <a:ext uri="{FF2B5EF4-FFF2-40B4-BE49-F238E27FC236}">
                <a16:creationId xmlns:a16="http://schemas.microsoft.com/office/drawing/2014/main" id="{71896EB6-1E23-4006-98EA-1DC2A7F606F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19 / 46</a:t>
            </a:r>
          </a:p>
        </p:txBody>
      </p:sp>
    </p:spTree>
    <p:extLst>
      <p:ext uri="{BB962C8B-B14F-4D97-AF65-F5344CB8AC3E}">
        <p14:creationId xmlns:p14="http://schemas.microsoft.com/office/powerpoint/2010/main" val="2010674898"/>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9E48FE12-12A3-4BD6-8059-EADA5801D7E4}"/>
              </a:ext>
            </a:extLst>
          </p:cNvPr>
          <p:cNvCxnSpPr>
            <a:stCxn xmlns:a="http://schemas.openxmlformats.org/drawingml/2006/main" id="16" idx="3"/>
            <a:endCxn xmlns:a="http://schemas.openxmlformats.org/drawingml/2006/main" id="17" idx="1"/>
          </p:cNvCxnSpPr>
          <p:nvPr/>
        </p:nvCxnSpPr>
        <p:spPr>
          <a:xfrm xmlns:a="http://schemas.openxmlformats.org/drawingml/2006/main">
            <a:off x="10287000" y="361950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EEA6B7E3-6CC3-4341-8D9B-65AB8B3616D4}"/>
              </a:ext>
            </a:extLst>
          </p:cNvPr>
          <p:cNvCxnSpPr>
            <a:stCxn xmlns:a="http://schemas.openxmlformats.org/drawingml/2006/main" id="15" idx="3"/>
            <a:endCxn xmlns:a="http://schemas.openxmlformats.org/drawingml/2006/main" id="16" idx="1"/>
          </p:cNvCxnSpPr>
          <p:nvPr/>
        </p:nvCxnSpPr>
        <p:spPr>
          <a:xfrm xmlns:a="http://schemas.openxmlformats.org/drawingml/2006/main">
            <a:off x="8924925" y="361950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17DD4747-E56F-434A-B7AA-6ADE0880D148}"/>
              </a:ext>
            </a:extLst>
          </p:cNvPr>
          <p:cNvCxnSpPr>
            <a:stCxn xmlns:a="http://schemas.openxmlformats.org/drawingml/2006/main" id="10" idx="3"/>
            <a:endCxn xmlns:a="http://schemas.openxmlformats.org/drawingml/2006/main" id="11" idx="1"/>
          </p:cNvCxnSpPr>
          <p:nvPr/>
        </p:nvCxnSpPr>
        <p:spPr>
          <a:xfrm xmlns:a="http://schemas.openxmlformats.org/drawingml/2006/main">
            <a:off x="9953625" y="241935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487B0E51-B532-471B-94CD-EBB7353F1626}"/>
              </a:ext>
            </a:extLst>
          </p:cNvPr>
          <p:cNvCxnSpPr>
            <a:stCxn xmlns:a="http://schemas.openxmlformats.org/drawingml/2006/main" id="9" idx="3"/>
            <a:endCxn xmlns:a="http://schemas.openxmlformats.org/drawingml/2006/main" id="10" idx="1"/>
          </p:cNvCxnSpPr>
          <p:nvPr/>
        </p:nvCxnSpPr>
        <p:spPr>
          <a:xfrm xmlns:a="http://schemas.openxmlformats.org/drawingml/2006/main">
            <a:off x="8591550" y="241935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7" name="Appendix • Task 1 • Task 1(b) • Concurrency and speedup">
            <a:extLst xmlns:a="http://schemas.openxmlformats.org/drawingml/2006/main">
              <a:ext uri="{FF2B5EF4-FFF2-40B4-BE49-F238E27FC236}">
                <a16:creationId xmlns:a16="http://schemas.microsoft.com/office/drawing/2014/main" id="{29DE1871-0B17-4EA6-8E0C-145AF80B7262}"/>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Concurrency and speedup</a:t>
            </a:r>
          </a:p>
        </p:txBody>
      </p:sp>
      <p:sp>
        <p:nvSpPr>
          <p:cNvPr id="2" name="Streams, overlap and completed output">
            <a:extLst xmlns:a="http://schemas.openxmlformats.org/drawingml/2006/main">
              <a:ext uri="{FF2B5EF4-FFF2-40B4-BE49-F238E27FC236}">
                <a16:creationId xmlns:a16="http://schemas.microsoft.com/office/drawing/2014/main" id="{269BC5FA-BB75-4A7D-BCDE-F4F7101526F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Streams, overlap and completed output</a:t>
            </a:r>
          </a:p>
        </p:txBody>
      </p:sp>
      <p:sp>
        <p:nvSpPr>
          <p:cNvPr id="3" name="Ordered work in one stream">
            <a:extLst xmlns:a="http://schemas.openxmlformats.org/drawingml/2006/main">
              <a:ext uri="{FF2B5EF4-FFF2-40B4-BE49-F238E27FC236}">
                <a16:creationId xmlns:a16="http://schemas.microsoft.com/office/drawing/2014/main" id="{92A222C6-E3DD-4A00-98D1-A719C9646319}"/>
              </a:ext>
            </a:extLst>
          </p:cNvPr>
          <p:cNvSpPr>
            <a:spLocks xmlns:a="http://schemas.openxmlformats.org/drawingml/2006/main" noGrp="1"/>
          </p:cNvSpPr>
          <p:nvPr/>
        </p:nvSpPr>
        <p:spPr>
          <a:xfrm xmlns:a="http://schemas.openxmlformats.org/drawingml/2006/main">
            <a:off x="609600" y="1504950"/>
            <a:ext cx="61912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Ordered work in one stream</a:t>
            </a:r>
          </a:p>
        </p:txBody>
      </p:sp>
      <p:sp>
        <p:nvSpPr>
          <p:cNvPr id="4" name="">
            <a:extLst xmlns:a="http://schemas.openxmlformats.org/drawingml/2006/main">
              <a:ext uri="{FF2B5EF4-FFF2-40B4-BE49-F238E27FC236}">
                <a16:creationId xmlns:a16="http://schemas.microsoft.com/office/drawing/2014/main" id="{2A89D397-210E-4021-AC51-3055D25E8CDB}"/>
              </a:ext>
            </a:extLst>
          </p:cNvPr>
          <p:cNvSpPr>
            <a:spLocks xmlns:a="http://schemas.openxmlformats.org/drawingml/2006/main" noGrp="1"/>
          </p:cNvSpPr>
          <p:nvPr/>
        </p:nvSpPr>
        <p:spPr>
          <a:xfrm xmlns:a="http://schemas.openxmlformats.org/drawingml/2006/main">
            <a:off x="609600" y="1971675"/>
            <a:ext cx="6419850" cy="214884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cudaMemcpyAsync(d_in, h_in, bytes,&#10;  cudaMemcpyHostToDe">
            <a:extLst xmlns:a="http://schemas.openxmlformats.org/drawingml/2006/main">
              <a:ext uri="{FF2B5EF4-FFF2-40B4-BE49-F238E27FC236}">
                <a16:creationId xmlns:a16="http://schemas.microsoft.com/office/drawing/2014/main" id="{8D53AF13-1AB1-4C3A-B253-4536B4806144}"/>
              </a:ext>
            </a:extLst>
          </p:cNvPr>
          <p:cNvSpPr>
            <a:spLocks xmlns:a="http://schemas.openxmlformats.org/drawingml/2006/main" noGrp="1"/>
          </p:cNvSpPr>
          <p:nvPr/>
        </p:nvSpPr>
        <p:spPr>
          <a:xfrm xmlns:a="http://schemas.openxmlformats.org/drawingml/2006/main">
            <a:off x="723900" y="2057400"/>
            <a:ext cx="6191250" cy="20154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42D45"/>
                </a:solidFill>
                <a:latin typeface="Consolas"/>
                <a:ea typeface="Consolas"/>
                <a:cs typeface="Consolas"/>
              </a:defRPr>
            </a:defPPr>
          </a:lstStyle>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cudaMemcpyAsync(d_in, h_in, bytes,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cudaMemcpyHostToDevice, stream);</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rotate_rgb&lt;&lt;&lt;grid, block, 0, stream&gt;&gt;&gt;(</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d_in, d_out, W, H, c, 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cudaMemcpyAsync(h_out, d_out, bytes,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cudaMemcpyDeviceToHost, stream);</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After enqueueing all batch images: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cudaStreamSynchronize(stream);</a:t>
            </a:r>
          </a:p>
        </p:txBody>
      </p:sp>
      <p:sp>
        <p:nvSpPr>
          <p:cNvPr id="6" name="Batch: enqueue all streams before waiting. Check every ">
            <a:extLst xmlns:a="http://schemas.openxmlformats.org/drawingml/2006/main">
              <a:ext uri="{FF2B5EF4-FFF2-40B4-BE49-F238E27FC236}">
                <a16:creationId xmlns:a16="http://schemas.microsoft.com/office/drawing/2014/main" id="{DC56D63D-53C4-4EC0-9C48-0428B42B5EC6}"/>
              </a:ext>
            </a:extLst>
          </p:cNvPr>
          <p:cNvSpPr>
            <a:spLocks xmlns:a="http://schemas.openxmlformats.org/drawingml/2006/main" noGrp="1"/>
          </p:cNvSpPr>
          <p:nvPr/>
        </p:nvSpPr>
        <p:spPr>
          <a:xfrm xmlns:a="http://schemas.openxmlformats.org/drawingml/2006/main">
            <a:off x="609600" y="4162425"/>
            <a:ext cx="619125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Batch: enqueue all streams before waiting. Check every API,</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launch and completion result; submission is not completion.</a:t>
            </a:r>
          </a:p>
        </p:txBody>
      </p:sp>
      <p:sp>
        <p:nvSpPr>
          <p:cNvPr id="7" name="Independent images / streams">
            <a:extLst xmlns:a="http://schemas.openxmlformats.org/drawingml/2006/main">
              <a:ext uri="{FF2B5EF4-FFF2-40B4-BE49-F238E27FC236}">
                <a16:creationId xmlns:a16="http://schemas.microsoft.com/office/drawing/2014/main" id="{964E85FF-A627-4391-A7D8-96B42ADF7990}"/>
              </a:ext>
            </a:extLst>
          </p:cNvPr>
          <p:cNvSpPr>
            <a:spLocks xmlns:a="http://schemas.openxmlformats.org/drawingml/2006/main" noGrp="1"/>
          </p:cNvSpPr>
          <p:nvPr/>
        </p:nvSpPr>
        <p:spPr>
          <a:xfrm xmlns:a="http://schemas.openxmlformats.org/drawingml/2006/main">
            <a:off x="7524750" y="1504950"/>
            <a:ext cx="4057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7B83"/>
                </a:solidFill>
                <a:latin typeface="Arial"/>
                <a:ea typeface="Arial"/>
                <a:cs typeface="Arial"/>
              </a:defRPr>
            </a:defPPr>
          </a:lstStyle>
          <a:p xmlns:a="http://schemas.openxmlformats.org/drawingml/2006/main">
            <a:pPr algn="l">
              <a:defRPr sz="1875" b="1">
                <a:solidFill>
                  <a:srgbClr val="007B83"/>
                </a:solidFill>
                <a:latin typeface="Arial"/>
                <a:ea typeface="Arial"/>
                <a:cs typeface="Arial"/>
              </a:defRPr>
            </a:pPr>
            <a:r>
              <a:rPr sz="1875" b="1">
                <a:solidFill>
                  <a:srgbClr val="007B83"/>
                </a:solidFill>
                <a:latin typeface="Arial"/>
                <a:ea typeface="Arial"/>
                <a:cs typeface="Arial"/>
              </a:rPr>
              <a:t>Independent images / streams</a:t>
            </a:r>
          </a:p>
        </p:txBody>
      </p:sp>
      <p:sp>
        <p:nvSpPr>
          <p:cNvPr id="8" name="A">
            <a:extLst xmlns:a="http://schemas.openxmlformats.org/drawingml/2006/main">
              <a:ext uri="{FF2B5EF4-FFF2-40B4-BE49-F238E27FC236}">
                <a16:creationId xmlns:a16="http://schemas.microsoft.com/office/drawing/2014/main" id="{B2DFF980-BAC1-4E1D-8027-3F5A38AC0CEA}"/>
              </a:ext>
            </a:extLst>
          </p:cNvPr>
          <p:cNvSpPr>
            <a:spLocks xmlns:a="http://schemas.openxmlformats.org/drawingml/2006/main" noGrp="1"/>
          </p:cNvSpPr>
          <p:nvPr/>
        </p:nvSpPr>
        <p:spPr>
          <a:xfrm xmlns:a="http://schemas.openxmlformats.org/drawingml/2006/main">
            <a:off x="7191375" y="2295525"/>
            <a:ext cx="3238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2D45"/>
                </a:solidFill>
                <a:latin typeface="Arial"/>
                <a:ea typeface="Arial"/>
                <a:cs typeface="Arial"/>
              </a:defRPr>
            </a:defPPr>
          </a:lstStyle>
          <a:p xmlns:a="http://schemas.openxmlformats.org/drawingml/2006/main">
            <a:pPr algn="l">
              <a:defRPr sz="1575" b="1">
                <a:solidFill>
                  <a:srgbClr val="142D45"/>
                </a:solidFill>
                <a:latin typeface="Arial"/>
                <a:ea typeface="Arial"/>
                <a:cs typeface="Arial"/>
              </a:defRPr>
            </a:pPr>
            <a:r>
              <a:rPr sz="1575" b="1">
                <a:solidFill>
                  <a:srgbClr val="142D45"/>
                </a:solidFill>
                <a:latin typeface="Arial"/>
                <a:ea typeface="Arial"/>
                <a:cs typeface="Arial"/>
              </a:rPr>
              <a:t>A</a:t>
            </a:r>
          </a:p>
        </p:txBody>
      </p:sp>
      <p:sp>
        <p:nvSpPr>
          <p:cNvPr id="9" name="">
            <a:extLst xmlns:a="http://schemas.openxmlformats.org/drawingml/2006/main">
              <a:ext uri="{FF2B5EF4-FFF2-40B4-BE49-F238E27FC236}">
                <a16:creationId xmlns:a16="http://schemas.microsoft.com/office/drawing/2014/main" id="{113211BD-343C-4095-BF16-77D048C0B6A5}"/>
              </a:ext>
            </a:extLst>
          </p:cNvPr>
          <p:cNvSpPr>
            <a:spLocks xmlns:a="http://schemas.openxmlformats.org/drawingml/2006/main" noGrp="1"/>
          </p:cNvSpPr>
          <p:nvPr/>
        </p:nvSpPr>
        <p:spPr>
          <a:xfrm xmlns:a="http://schemas.openxmlformats.org/drawingml/2006/main">
            <a:off x="7620000" y="209550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0" name="">
            <a:extLst xmlns:a="http://schemas.openxmlformats.org/drawingml/2006/main">
              <a:ext uri="{FF2B5EF4-FFF2-40B4-BE49-F238E27FC236}">
                <a16:creationId xmlns:a16="http://schemas.microsoft.com/office/drawing/2014/main" id="{DDC7643D-7F80-4F7B-A610-18DEBFA3ECDF}"/>
              </a:ext>
            </a:extLst>
          </p:cNvPr>
          <p:cNvSpPr>
            <a:spLocks xmlns:a="http://schemas.openxmlformats.org/drawingml/2006/main" noGrp="1"/>
          </p:cNvSpPr>
          <p:nvPr/>
        </p:nvSpPr>
        <p:spPr>
          <a:xfrm xmlns:a="http://schemas.openxmlformats.org/drawingml/2006/main">
            <a:off x="8924925" y="2095500"/>
            <a:ext cx="10287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1" name="">
            <a:extLst xmlns:a="http://schemas.openxmlformats.org/drawingml/2006/main">
              <a:ext uri="{FF2B5EF4-FFF2-40B4-BE49-F238E27FC236}">
                <a16:creationId xmlns:a16="http://schemas.microsoft.com/office/drawing/2014/main" id="{0F993D00-8C63-4709-A20F-B9A8E28DDAFC}"/>
              </a:ext>
            </a:extLst>
          </p:cNvPr>
          <p:cNvSpPr>
            <a:spLocks xmlns:a="http://schemas.openxmlformats.org/drawingml/2006/main" noGrp="1"/>
          </p:cNvSpPr>
          <p:nvPr/>
        </p:nvSpPr>
        <p:spPr>
          <a:xfrm xmlns:a="http://schemas.openxmlformats.org/drawingml/2006/main">
            <a:off x="10287000" y="209550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14" name="B">
            <a:extLst xmlns:a="http://schemas.openxmlformats.org/drawingml/2006/main">
              <a:ext uri="{FF2B5EF4-FFF2-40B4-BE49-F238E27FC236}">
                <a16:creationId xmlns:a16="http://schemas.microsoft.com/office/drawing/2014/main" id="{549774AC-AB21-4AE0-A78F-1457CEB052BB}"/>
              </a:ext>
            </a:extLst>
          </p:cNvPr>
          <p:cNvSpPr>
            <a:spLocks xmlns:a="http://schemas.openxmlformats.org/drawingml/2006/main" noGrp="1"/>
          </p:cNvSpPr>
          <p:nvPr/>
        </p:nvSpPr>
        <p:spPr>
          <a:xfrm xmlns:a="http://schemas.openxmlformats.org/drawingml/2006/main">
            <a:off x="7191375" y="3495675"/>
            <a:ext cx="3238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2D45"/>
                </a:solidFill>
                <a:latin typeface="Arial"/>
                <a:ea typeface="Arial"/>
                <a:cs typeface="Arial"/>
              </a:defRPr>
            </a:defPPr>
          </a:lstStyle>
          <a:p xmlns:a="http://schemas.openxmlformats.org/drawingml/2006/main">
            <a:pPr algn="l">
              <a:defRPr sz="1575" b="1">
                <a:solidFill>
                  <a:srgbClr val="142D45"/>
                </a:solidFill>
                <a:latin typeface="Arial"/>
                <a:ea typeface="Arial"/>
                <a:cs typeface="Arial"/>
              </a:defRPr>
            </a:pPr>
            <a:r>
              <a:rPr sz="1575" b="1">
                <a:solidFill>
                  <a:srgbClr val="142D45"/>
                </a:solidFill>
                <a:latin typeface="Arial"/>
                <a:ea typeface="Arial"/>
                <a:cs typeface="Arial"/>
              </a:rPr>
              <a:t>B</a:t>
            </a:r>
          </a:p>
        </p:txBody>
      </p:sp>
      <p:sp>
        <p:nvSpPr>
          <p:cNvPr id="15" name="">
            <a:extLst xmlns:a="http://schemas.openxmlformats.org/drawingml/2006/main">
              <a:ext uri="{FF2B5EF4-FFF2-40B4-BE49-F238E27FC236}">
                <a16:creationId xmlns:a16="http://schemas.microsoft.com/office/drawing/2014/main" id="{590C99A9-A03C-4098-BFAF-B10E158E75ED}"/>
              </a:ext>
            </a:extLst>
          </p:cNvPr>
          <p:cNvSpPr>
            <a:spLocks xmlns:a="http://schemas.openxmlformats.org/drawingml/2006/main" noGrp="1"/>
          </p:cNvSpPr>
          <p:nvPr/>
        </p:nvSpPr>
        <p:spPr>
          <a:xfrm xmlns:a="http://schemas.openxmlformats.org/drawingml/2006/main">
            <a:off x="7953375" y="329565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6" name="">
            <a:extLst xmlns:a="http://schemas.openxmlformats.org/drawingml/2006/main">
              <a:ext uri="{FF2B5EF4-FFF2-40B4-BE49-F238E27FC236}">
                <a16:creationId xmlns:a16="http://schemas.microsoft.com/office/drawing/2014/main" id="{8E423F7E-26A0-4EDA-A2F7-0D4A82C8C84A}"/>
              </a:ext>
            </a:extLst>
          </p:cNvPr>
          <p:cNvSpPr>
            <a:spLocks xmlns:a="http://schemas.openxmlformats.org/drawingml/2006/main" noGrp="1"/>
          </p:cNvSpPr>
          <p:nvPr/>
        </p:nvSpPr>
        <p:spPr>
          <a:xfrm xmlns:a="http://schemas.openxmlformats.org/drawingml/2006/main">
            <a:off x="9258300" y="3295650"/>
            <a:ext cx="10287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7" name="">
            <a:extLst xmlns:a="http://schemas.openxmlformats.org/drawingml/2006/main">
              <a:ext uri="{FF2B5EF4-FFF2-40B4-BE49-F238E27FC236}">
                <a16:creationId xmlns:a16="http://schemas.microsoft.com/office/drawing/2014/main" id="{7595C98E-9DD4-423F-95C6-8A75588555E6}"/>
              </a:ext>
            </a:extLst>
          </p:cNvPr>
          <p:cNvSpPr>
            <a:spLocks xmlns:a="http://schemas.openxmlformats.org/drawingml/2006/main" noGrp="1"/>
          </p:cNvSpPr>
          <p:nvPr/>
        </p:nvSpPr>
        <p:spPr>
          <a:xfrm xmlns:a="http://schemas.openxmlformats.org/drawingml/2006/main">
            <a:off x="10620375" y="329565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20" name="Possible overlap depends on supporting hardware and ava">
            <a:extLst xmlns:a="http://schemas.openxmlformats.org/drawingml/2006/main">
              <a:ext uri="{FF2B5EF4-FFF2-40B4-BE49-F238E27FC236}">
                <a16:creationId xmlns:a16="http://schemas.microsoft.com/office/drawing/2014/main" id="{FCC2CEFE-6EF6-4F1A-9E3C-5A5B0076225E}"/>
              </a:ext>
            </a:extLst>
          </p:cNvPr>
          <p:cNvSpPr>
            <a:spLocks xmlns:a="http://schemas.openxmlformats.org/drawingml/2006/main" noGrp="1"/>
          </p:cNvSpPr>
          <p:nvPr/>
        </p:nvSpPr>
        <p:spPr>
          <a:xfrm xmlns:a="http://schemas.openxmlformats.org/drawingml/2006/main">
            <a:off x="7524750" y="4295775"/>
            <a:ext cx="405765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16170"/>
                </a:solidFill>
                <a:latin typeface="Arial"/>
                <a:ea typeface="Arial"/>
                <a:cs typeface="Arial"/>
              </a:defRPr>
            </a:defPPr>
          </a:lstStyle>
          <a:p xmlns:a="http://schemas.openxmlformats.org/drawingml/2006/main">
            <a:pPr algn="l">
              <a:defRPr sz="1575" b="0">
                <a:solidFill>
                  <a:srgbClr val="516170"/>
                </a:solidFill>
                <a:latin typeface="Arial"/>
                <a:ea typeface="Arial"/>
                <a:cs typeface="Arial"/>
              </a:defRPr>
            </a:pPr>
            <a:r>
              <a:rPr sz="1575" b="0">
                <a:solidFill>
                  <a:srgbClr val="516170"/>
                </a:solidFill>
                <a:latin typeface="Arial"/>
                <a:ea typeface="Arial"/>
                <a:cs typeface="Arial"/>
              </a:rPr>
              <a:t>Possible overlap depends on supporting</a:t>
            </a:r>
          </a:p>
          <a:p xmlns:a="http://schemas.openxmlformats.org/drawingml/2006/main">
            <a:pPr algn="l">
              <a:defRPr sz="1575" b="0">
                <a:solidFill>
                  <a:srgbClr val="516170"/>
                </a:solidFill>
                <a:latin typeface="Arial"/>
                <a:ea typeface="Arial"/>
                <a:cs typeface="Arial"/>
              </a:defRPr>
            </a:pPr>
            <a:r>
              <a:rPr sz="1575" b="0">
                <a:solidFill>
                  <a:srgbClr val="516170"/>
                </a:solidFill>
                <a:latin typeface="Arial"/>
                <a:ea typeface="Arial"/>
                <a:cs typeface="Arial"/>
              </a:rPr>
              <a:t>hardware and available resources.</a:t>
            </a:r>
          </a:p>
        </p:txBody>
      </p:sp>
      <p:sp>
        <p:nvSpPr>
          <p:cNvPr id="21" name="Separate pinned/device buffers and non-default streams;">
            <a:extLst xmlns:a="http://schemas.openxmlformats.org/drawingml/2006/main">
              <a:ext uri="{FF2B5EF4-FFF2-40B4-BE49-F238E27FC236}">
                <a16:creationId xmlns:a16="http://schemas.microsoft.com/office/drawing/2014/main" id="{2D111BA5-58D7-4D26-887E-F39A4BCF3CDB}"/>
              </a:ext>
            </a:extLst>
          </p:cNvPr>
          <p:cNvSpPr>
            <a:spLocks xmlns:a="http://schemas.openxmlformats.org/drawingml/2006/main" noGrp="1"/>
          </p:cNvSpPr>
          <p:nvPr/>
        </p:nvSpPr>
        <p:spPr>
          <a:xfrm xmlns:a="http://schemas.openxmlformats.org/drawingml/2006/main">
            <a:off x="609600" y="4962525"/>
            <a:ext cx="1097280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 pinned/device buffers and non-default streams; synchronize before reuse. More buffers cost memory.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Keep images on the GPU across operations to avoid repeated transfers.</a:t>
            </a:r>
          </a:p>
        </p:txBody>
      </p:sp>
      <p:sp>
        <p:nvSpPr>
          <p:cNvPr id="22" name="">
            <a:extLst xmlns:a="http://schemas.openxmlformats.org/drawingml/2006/main">
              <a:ext uri="{FF2B5EF4-FFF2-40B4-BE49-F238E27FC236}">
                <a16:creationId xmlns:a16="http://schemas.microsoft.com/office/drawing/2014/main" id="{D4E29C26-4886-4EE7-BB05-34F41F976ED1}"/>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23" name="Overlap can shorten the batch critical path; it changes">
            <a:extLst xmlns:a="http://schemas.openxmlformats.org/drawingml/2006/main">
              <a:ext uri="{FF2B5EF4-FFF2-40B4-BE49-F238E27FC236}">
                <a16:creationId xmlns:a16="http://schemas.microsoft.com/office/drawing/2014/main" id="{94ACB811-9837-4868-B69B-58BBF5CAB82B}"/>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Overlap can shorten the batch critical path; it changes scheduling, not total work.</a:t>
            </a:r>
          </a:p>
        </p:txBody>
      </p:sp>
      <p:sp>
        <p:nvSpPr>
          <p:cNvPr id="24" name="">
            <a:extLst xmlns:a="http://schemas.openxmlformats.org/drawingml/2006/main">
              <a:ext uri="{FF2B5EF4-FFF2-40B4-BE49-F238E27FC236}">
                <a16:creationId xmlns:a16="http://schemas.microsoft.com/office/drawing/2014/main" id="{446C26B9-0EBE-4F1F-ACB2-60CE3A1AEA8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5" name="Sources: [2] NVIDIA CUDA Best Practices">
            <a:extLst xmlns:a="http://schemas.openxmlformats.org/drawingml/2006/main">
              <a:ext uri="{FF2B5EF4-FFF2-40B4-BE49-F238E27FC236}">
                <a16:creationId xmlns:a16="http://schemas.microsoft.com/office/drawing/2014/main" id="{016C0E14-E6FC-43F9-8FEA-B36B64A21683}"/>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26" name="20 / 46">
            <a:extLst xmlns:a="http://schemas.openxmlformats.org/drawingml/2006/main">
              <a:ext uri="{FF2B5EF4-FFF2-40B4-BE49-F238E27FC236}">
                <a16:creationId xmlns:a16="http://schemas.microsoft.com/office/drawing/2014/main" id="{2B64BE0A-140A-4239-A707-0763A7B999A0}"/>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20 / 46</a:t>
            </a:r>
          </a:p>
        </p:txBody>
      </p:sp>
    </p:spTree>
    <p:extLst>
      <p:ext uri="{BB962C8B-B14F-4D97-AF65-F5344CB8AC3E}">
        <p14:creationId xmlns:p14="http://schemas.microsoft.com/office/powerpoint/2010/main" val="473666381"/>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9" name="Appendix • Task 2 • Task 2 • HPC and AI">
            <a:extLst xmlns:a="http://schemas.openxmlformats.org/drawingml/2006/main">
              <a:ext uri="{FF2B5EF4-FFF2-40B4-BE49-F238E27FC236}">
                <a16:creationId xmlns:a16="http://schemas.microsoft.com/office/drawing/2014/main" id="{01A03DDC-E92F-477A-9043-CE655B8DA84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 • HPC and AI</a:t>
            </a:r>
          </a:p>
        </p:txBody>
      </p:sp>
      <p:sp>
        <p:nvSpPr>
          <p:cNvPr id="2" name="Parallel training across a compute cluster">
            <a:extLst xmlns:a="http://schemas.openxmlformats.org/drawingml/2006/main">
              <a:ext uri="{FF2B5EF4-FFF2-40B4-BE49-F238E27FC236}">
                <a16:creationId xmlns:a16="http://schemas.microsoft.com/office/drawing/2014/main" id="{384F87FE-F7D8-4876-8CC3-DDC88AF6881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Parallel training across a compute cluster</a:t>
            </a:r>
          </a:p>
        </p:txBody>
      </p:sp>
      <p:sp>
        <p:nvSpPr>
          <p:cNvPr id="3" name="">
            <a:extLst xmlns:a="http://schemas.openxmlformats.org/drawingml/2006/main">
              <a:ext uri="{FF2B5EF4-FFF2-40B4-BE49-F238E27FC236}">
                <a16:creationId xmlns:a16="http://schemas.microsoft.com/office/drawing/2014/main" id="{56F074B7-1647-494C-8B34-AE1F11CDD8EF}"/>
              </a:ext>
            </a:extLst>
          </p:cNvPr>
          <p:cNvSpPr>
            <a:spLocks xmlns:a="http://schemas.openxmlformats.org/drawingml/2006/main" noGrp="1"/>
          </p:cNvSpPr>
          <p:nvPr/>
        </p:nvSpPr>
        <p:spPr>
          <a:xfrm xmlns:a="http://schemas.openxmlformats.org/drawingml/2006/main">
            <a:off x="609600" y="1733550"/>
            <a:ext cx="297180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0</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partition A</a:t>
            </a:r>
          </a:p>
        </p:txBody>
      </p:sp>
      <p:sp>
        <p:nvSpPr>
          <p:cNvPr id="4" name="">
            <a:extLst xmlns:a="http://schemas.openxmlformats.org/drawingml/2006/main">
              <a:ext uri="{FF2B5EF4-FFF2-40B4-BE49-F238E27FC236}">
                <a16:creationId xmlns:a16="http://schemas.microsoft.com/office/drawing/2014/main" id="{72B7C451-9C2C-427E-B777-8CC1D3056947}"/>
              </a:ext>
            </a:extLst>
          </p:cNvPr>
          <p:cNvSpPr>
            <a:spLocks xmlns:a="http://schemas.openxmlformats.org/drawingml/2006/main" noGrp="1"/>
          </p:cNvSpPr>
          <p:nvPr/>
        </p:nvSpPr>
        <p:spPr>
          <a:xfrm xmlns:a="http://schemas.openxmlformats.org/drawingml/2006/main">
            <a:off x="4610100" y="1733550"/>
            <a:ext cx="297180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1</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partition B</a:t>
            </a:r>
          </a:p>
        </p:txBody>
      </p:sp>
      <p:sp>
        <p:nvSpPr>
          <p:cNvPr id="5" name="">
            <a:extLst xmlns:a="http://schemas.openxmlformats.org/drawingml/2006/main">
              <a:ext uri="{FF2B5EF4-FFF2-40B4-BE49-F238E27FC236}">
                <a16:creationId xmlns:a16="http://schemas.microsoft.com/office/drawing/2014/main" id="{320B647C-9312-42AB-BD3F-FB10CF82AA40}"/>
              </a:ext>
            </a:extLst>
          </p:cNvPr>
          <p:cNvSpPr>
            <a:spLocks xmlns:a="http://schemas.openxmlformats.org/drawingml/2006/main" noGrp="1"/>
          </p:cNvSpPr>
          <p:nvPr/>
        </p:nvSpPr>
        <p:spPr>
          <a:xfrm xmlns:a="http://schemas.openxmlformats.org/drawingml/2006/main">
            <a:off x="8610600" y="1733550"/>
            <a:ext cx="297180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2</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partition C</a:t>
            </a:r>
          </a:p>
        </p:txBody>
      </p:sp>
      <p:sp>
        <p:nvSpPr>
          <p:cNvPr id="6" name="">
            <a:extLst xmlns:a="http://schemas.openxmlformats.org/drawingml/2006/main">
              <a:ext uri="{FF2B5EF4-FFF2-40B4-BE49-F238E27FC236}">
                <a16:creationId xmlns:a16="http://schemas.microsoft.com/office/drawing/2014/main" id="{6623B9D6-70B1-43D3-9D5B-5D628DF9965D}"/>
              </a:ext>
            </a:extLst>
          </p:cNvPr>
          <p:cNvSpPr>
            <a:spLocks xmlns:a="http://schemas.openxmlformats.org/drawingml/2006/main" noGrp="1"/>
          </p:cNvSpPr>
          <p:nvPr/>
        </p:nvSpPr>
        <p:spPr>
          <a:xfrm xmlns:a="http://schemas.openxmlformats.org/drawingml/2006/main">
            <a:off x="609600" y="3714750"/>
            <a:ext cx="109728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Gradient all-reduce: average + share → consistent update on every GPU</a:t>
            </a:r>
          </a:p>
        </p:txBody>
      </p:sp>
      <p:cxnSp>
        <p:nvCxnSpPr>
          <p:cNvPr id="7" name="">
            <a:extLst xmlns:a="http://schemas.openxmlformats.org/drawingml/2006/main">
              <a:ext uri="{FF2B5EF4-FFF2-40B4-BE49-F238E27FC236}">
                <a16:creationId xmlns:a16="http://schemas.microsoft.com/office/drawing/2014/main" id="{E71EE1EC-524F-4EF9-9FBD-AEEAA332B000}"/>
              </a:ext>
            </a:extLst>
          </p:cNvPr>
          <p:cNvCxnSpPr/>
          <p:nvPr/>
        </p:nvCxnSpPr>
        <p:spPr>
          <a:xfrm xmlns:a="http://schemas.openxmlformats.org/drawingml/2006/main">
            <a:off x="2095500" y="2857500"/>
            <a:ext cx="0" cy="857250"/>
          </a:xfrm>
          <a:prstGeom xmlns:a="http://schemas.openxmlformats.org/drawingml/2006/main" prst="straightConnector1">
            <a:avLst/>
          </a:prstGeom>
          <a:ln xmlns:a="http://schemas.openxmlformats.org/drawingml/2006/main" w="19050">
            <a:solidFill>
              <a:srgbClr val="007B83"/>
            </a:solidFill>
            <a:tailEnd type="arrow" w="med" len="med"/>
          </a:ln>
        </p:spPr>
      </p:cxnSp>
      <p:cxnSp>
        <p:nvCxnSpPr>
          <p:cNvPr id="8" name="">
            <a:extLst xmlns:a="http://schemas.openxmlformats.org/drawingml/2006/main">
              <a:ext uri="{FF2B5EF4-FFF2-40B4-BE49-F238E27FC236}">
                <a16:creationId xmlns:a16="http://schemas.microsoft.com/office/drawing/2014/main" id="{F3D46D7C-C854-4C6D-A073-A344D2C0BA23}"/>
              </a:ext>
            </a:extLst>
          </p:cNvPr>
          <p:cNvCxnSpPr/>
          <p:nvPr/>
        </p:nvCxnSpPr>
        <p:spPr>
          <a:xfrm xmlns:a="http://schemas.openxmlformats.org/drawingml/2006/main">
            <a:off x="6096000" y="2857500"/>
            <a:ext cx="0" cy="857250"/>
          </a:xfrm>
          <a:prstGeom xmlns:a="http://schemas.openxmlformats.org/drawingml/2006/main" prst="straightConnector1">
            <a:avLst/>
          </a:prstGeom>
          <a:ln xmlns:a="http://schemas.openxmlformats.org/drawingml/2006/main" w="19050">
            <a:solidFill>
              <a:srgbClr val="007B83"/>
            </a:solidFill>
            <a:tailEnd type="arrow" w="med" len="med"/>
          </a:ln>
        </p:spPr>
      </p:cxnSp>
      <p:cxnSp>
        <p:nvCxnSpPr>
          <p:cNvPr id="9" name="">
            <a:extLst xmlns:a="http://schemas.openxmlformats.org/drawingml/2006/main">
              <a:ext uri="{FF2B5EF4-FFF2-40B4-BE49-F238E27FC236}">
                <a16:creationId xmlns:a16="http://schemas.microsoft.com/office/drawing/2014/main" id="{3E6A73F0-87A0-4683-B170-65A7B269A25D}"/>
              </a:ext>
            </a:extLst>
          </p:cNvPr>
          <p:cNvCxnSpPr/>
          <p:nvPr/>
        </p:nvCxnSpPr>
        <p:spPr>
          <a:xfrm xmlns:a="http://schemas.openxmlformats.org/drawingml/2006/main">
            <a:off x="10096500" y="2857500"/>
            <a:ext cx="0" cy="857250"/>
          </a:xfrm>
          <a:prstGeom xmlns:a="http://schemas.openxmlformats.org/drawingml/2006/main" prst="straightConnector1">
            <a:avLst/>
          </a:prstGeom>
          <a:ln xmlns:a="http://schemas.openxmlformats.org/drawingml/2006/main" w="19050">
            <a:solidFill>
              <a:srgbClr val="007B83"/>
            </a:solidFill>
            <a:tailEnd type="arrow" w="med" len="med"/>
          </a:ln>
        </p:spPr>
      </p:cxnSp>
      <p:sp>
        <p:nvSpPr>
          <p:cNvPr id="10" name="Interconnect:&#10;latency and bandwidth">
            <a:extLst xmlns:a="http://schemas.openxmlformats.org/drawingml/2006/main">
              <a:ext uri="{FF2B5EF4-FFF2-40B4-BE49-F238E27FC236}">
                <a16:creationId xmlns:a16="http://schemas.microsoft.com/office/drawing/2014/main" id="{F1D23A5C-B49B-4650-AC80-6101B9011C31}"/>
              </a:ext>
            </a:extLst>
          </p:cNvPr>
          <p:cNvSpPr>
            <a:spLocks xmlns:a="http://schemas.openxmlformats.org/drawingml/2006/main" noGrp="1"/>
          </p:cNvSpPr>
          <p:nvPr/>
        </p:nvSpPr>
        <p:spPr>
          <a:xfrm xmlns:a="http://schemas.openxmlformats.org/drawingml/2006/main">
            <a:off x="2619375" y="3038475"/>
            <a:ext cx="2990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7B83"/>
                </a:solidFill>
                <a:latin typeface="Arial"/>
                <a:ea typeface="Arial"/>
                <a:cs typeface="Arial"/>
              </a:defRPr>
            </a:defPPr>
          </a:lstStyle>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Interconnect:</a:t>
            </a:r>
          </a:p>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latency and bandwidth</a:t>
            </a:r>
          </a:p>
        </p:txBody>
      </p:sp>
      <p:sp>
        <p:nvSpPr>
          <p:cNvPr id="11" name="Gradient synchronization&#10;before each update">
            <a:extLst xmlns:a="http://schemas.openxmlformats.org/drawingml/2006/main">
              <a:ext uri="{FF2B5EF4-FFF2-40B4-BE49-F238E27FC236}">
                <a16:creationId xmlns:a16="http://schemas.microsoft.com/office/drawing/2014/main" id="{D2E6CFB2-F10E-4974-A8A6-F5C08EF32133}"/>
              </a:ext>
            </a:extLst>
          </p:cNvPr>
          <p:cNvSpPr>
            <a:spLocks xmlns:a="http://schemas.openxmlformats.org/drawingml/2006/main" noGrp="1"/>
          </p:cNvSpPr>
          <p:nvPr/>
        </p:nvSpPr>
        <p:spPr>
          <a:xfrm xmlns:a="http://schemas.openxmlformats.org/drawingml/2006/main">
            <a:off x="6629400" y="3038475"/>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7B83"/>
                </a:solidFill>
                <a:latin typeface="Arial"/>
                <a:ea typeface="Arial"/>
                <a:cs typeface="Arial"/>
              </a:defRPr>
            </a:defPPr>
          </a:lstStyle>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Gradient synchronization</a:t>
            </a:r>
          </a:p>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before each update</a:t>
            </a:r>
          </a:p>
        </p:txBody>
      </p:sp>
      <p:sp>
        <p:nvSpPr>
          <p:cNvPr id="12" name="HPC combines processors, memory, networks and storage. ">
            <a:extLst xmlns:a="http://schemas.openxmlformats.org/drawingml/2006/main">
              <a:ext uri="{FF2B5EF4-FFF2-40B4-BE49-F238E27FC236}">
                <a16:creationId xmlns:a16="http://schemas.microsoft.com/office/drawing/2014/main" id="{C49D0ED5-F329-4734-88B4-ED67D8B905FB}"/>
              </a:ext>
            </a:extLst>
          </p:cNvPr>
          <p:cNvSpPr>
            <a:spLocks xmlns:a="http://schemas.openxmlformats.org/drawingml/2006/main" noGrp="1"/>
          </p:cNvSpPr>
          <p:nvPr/>
        </p:nvSpPr>
        <p:spPr>
          <a:xfrm xmlns:a="http://schemas.openxmlformats.org/drawingml/2006/main">
            <a:off x="609600" y="4752975"/>
            <a:ext cx="521970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HPC combines processors, memory, networks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storage. Tensor/pipeline parallelism can also split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model.</a:t>
            </a:r>
          </a:p>
        </p:txBody>
      </p:sp>
      <p:sp>
        <p:nvSpPr>
          <p:cNvPr id="13" name="More GPUs enable larger work; communication, serial wor">
            <a:extLst xmlns:a="http://schemas.openxmlformats.org/drawingml/2006/main">
              <a:ext uri="{FF2B5EF4-FFF2-40B4-BE49-F238E27FC236}">
                <a16:creationId xmlns:a16="http://schemas.microsoft.com/office/drawing/2014/main" id="{ABB1F818-4CC6-4BA3-A22F-F84E50984861}"/>
              </a:ext>
            </a:extLst>
          </p:cNvPr>
          <p:cNvSpPr>
            <a:spLocks xmlns:a="http://schemas.openxmlformats.org/drawingml/2006/main" noGrp="1"/>
          </p:cNvSpPr>
          <p:nvPr/>
        </p:nvSpPr>
        <p:spPr>
          <a:xfrm xmlns:a="http://schemas.openxmlformats.org/drawingml/2006/main">
            <a:off x="6419850" y="4752975"/>
            <a:ext cx="51625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More GPUs enable larger work; communication,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serial work and imbalance limit speedup. Evaluate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useful output against resource cost.</a:t>
            </a:r>
          </a:p>
        </p:txBody>
      </p:sp>
      <p:sp>
        <p:nvSpPr>
          <p:cNvPr id="14" name="">
            <a:extLst xmlns:a="http://schemas.openxmlformats.org/drawingml/2006/main">
              <a:ext uri="{FF2B5EF4-FFF2-40B4-BE49-F238E27FC236}">
                <a16:creationId xmlns:a16="http://schemas.microsoft.com/office/drawing/2014/main" id="{B4C12D67-A669-4860-9392-A165846C5BCC}"/>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5" name="Scaling adds capacity and communication: ethical costs ">
            <a:extLst xmlns:a="http://schemas.openxmlformats.org/drawingml/2006/main">
              <a:ext uri="{FF2B5EF4-FFF2-40B4-BE49-F238E27FC236}">
                <a16:creationId xmlns:a16="http://schemas.microsoft.com/office/drawing/2014/main" id="{4759CE8E-5583-466C-BA63-0873BDEC93AA}"/>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Scaling adds capacity and communication: ethical costs depend on useful work.</a:t>
            </a:r>
          </a:p>
        </p:txBody>
      </p:sp>
      <p:sp>
        <p:nvSpPr>
          <p:cNvPr id="16" name="">
            <a:extLst xmlns:a="http://schemas.openxmlformats.org/drawingml/2006/main">
              <a:ext uri="{FF2B5EF4-FFF2-40B4-BE49-F238E27FC236}">
                <a16:creationId xmlns:a16="http://schemas.microsoft.com/office/drawing/2014/main" id="{59FF8D73-1C9A-485E-9130-29713F0AC09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7" name="Sources: [5] NVIDIA Megatron parallelism; [2] NVIDIA CU">
            <a:extLst xmlns:a="http://schemas.openxmlformats.org/drawingml/2006/main">
              <a:ext uri="{FF2B5EF4-FFF2-40B4-BE49-F238E27FC236}">
                <a16:creationId xmlns:a16="http://schemas.microsoft.com/office/drawing/2014/main" id="{9D0616EA-807D-4875-B28A-39F125CBB4E4}"/>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18" name="21 / 46">
            <a:extLst xmlns:a="http://schemas.openxmlformats.org/drawingml/2006/main">
              <a:ext uri="{FF2B5EF4-FFF2-40B4-BE49-F238E27FC236}">
                <a16:creationId xmlns:a16="http://schemas.microsoft.com/office/drawing/2014/main" id="{88AC3A69-D036-44F7-8738-440150677EF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21 / 46</a:t>
            </a:r>
          </a:p>
        </p:txBody>
      </p:sp>
    </p:spTree>
    <p:extLst>
      <p:ext uri="{BB962C8B-B14F-4D97-AF65-F5344CB8AC3E}">
        <p14:creationId xmlns:p14="http://schemas.microsoft.com/office/powerpoint/2010/main" val="1032617900"/>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Appendix • Task 2 • Task 2(a) • Illustrative energy cal">
            <a:extLst xmlns:a="http://schemas.openxmlformats.org/drawingml/2006/main">
              <a:ext uri="{FF2B5EF4-FFF2-40B4-BE49-F238E27FC236}">
                <a16:creationId xmlns:a16="http://schemas.microsoft.com/office/drawing/2014/main" id="{CB11C866-E72A-4D32-94ED-961167B8467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Illustrative energy calculation</a:t>
            </a:r>
          </a:p>
        </p:txBody>
      </p:sp>
      <p:sp>
        <p:nvSpPr>
          <p:cNvPr id="2" name="A faster job can consume more energy">
            <a:extLst xmlns:a="http://schemas.openxmlformats.org/drawingml/2006/main">
              <a:ext uri="{FF2B5EF4-FFF2-40B4-BE49-F238E27FC236}">
                <a16:creationId xmlns:a16="http://schemas.microsoft.com/office/drawing/2014/main" id="{54A98DC7-E40B-4732-84B8-A029AF56566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 faster job can consume more energy</a:t>
            </a:r>
          </a:p>
        </p:txBody>
      </p:sp>
      <p:graphicFrame>
        <p:nvGraphicFramePr>
          <p:cNvPr id="3" name="">
            <a:extLst xmlns:a="http://schemas.openxmlformats.org/drawingml/2006/main">
              <a:ext uri="{FF2B5EF4-FFF2-40B4-BE49-F238E27FC236}">
                <a16:creationId xmlns:a16="http://schemas.microsoft.com/office/drawing/2014/main" id="{777B2A8E-7AC5-4F51-BFF7-67017C0C9A06}"/>
              </a:ext>
            </a:extLst>
          </p:cNvPr>
          <p:cNvGraphicFramePr/>
          <p:nvPr/>
        </p:nvGraphicFramePr>
        <p:xfrm>
          <a:off xmlns:a="http://schemas.openxmlformats.org/drawingml/2006/main" x="609600" y="1562100"/>
          <a:ext xmlns:a="http://schemas.openxmlformats.org/drawingml/2006/main" cx="10972800" cy="25717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Assumed configuration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Completed runtime</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Whole-job energy</a:t>
                      </a:r>
                    </a:p>
                  </a:txBody>
                  <a:tcPr marL="91440" marR="91440" marT="45720" marB="45720" anchor="ctr">
                    <a:solidFill>
                      <a:srgbClr val="142D45"/>
                    </a:solidFill>
                  </a:tcPr>
                </a:tc>
              </a:tr>
              <a:tr h="1019175">
                <a:tc>
                  <a:txBody>
                    <a:bodyPr lIns="95250" tIns="95250" rIns="95250" bIns="95250">
                      <a:noAutofit/>
                    </a:bodyPr>
                    <a:lstStyle/>
                    <a:p>
                      <a:pPr algn="l"/>
                      <a:r>
                        <a:rPr sz="1500" b="0">
                          <a:solidFill>
                            <a:srgbClr val="142D45"/>
                          </a:solidFill>
                          <a:latin typeface="Arial"/>
                          <a:ea typeface="Arial"/>
                          <a:cs typeface="Arial"/>
                        </a:rPr>
                        <a:t>Lower parallel scale; 1 kW</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2.0 hours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1 × 2.0 = 2.0 kWh</a:t>
                      </a:r>
                    </a:p>
                  </a:txBody>
                  <a:tcPr marL="91440" marR="91440" marT="45720" marB="45720" anchor="ctr">
                    <a:solidFill>
                      <a:srgbClr val="FFFFFF"/>
                    </a:solidFill>
                  </a:tcPr>
                </a:tc>
              </a:tr>
              <a:tr h="1019175">
                <a:tc>
                  <a:txBody>
                    <a:bodyPr lIns="95250" tIns="95250" rIns="95250" bIns="95250">
                      <a:noAutofit/>
                    </a:bodyPr>
                    <a:lstStyle/>
                    <a:p>
                      <a:pPr algn="l"/>
                      <a:r>
                        <a:rPr sz="1500" b="0">
                          <a:solidFill>
                            <a:srgbClr val="142D45"/>
                          </a:solidFill>
                          <a:latin typeface="Arial"/>
                          <a:ea typeface="Arial"/>
                          <a:cs typeface="Arial"/>
                        </a:rPr>
                        <a:t>Higher parallel scale; 2 kW</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1.2 hours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2 × 1.2 = 2.4 kWh</a:t>
                      </a:r>
                    </a:p>
                  </a:txBody>
                  <a:tcPr marL="91440" marR="91440" marT="45720" marB="45720" anchor="ctr">
                    <a:solidFill>
                      <a:srgbClr val="F0F4F4"/>
                    </a:solidFill>
                  </a:tcPr>
                </a:tc>
              </a:tr>
            </a:tbl>
          </a:graphicData>
        </a:graphic>
      </p:graphicFrame>
      <p:sp>
        <p:nvSpPr>
          <p:cNvPr id="4" name="Illustrative constant power assumptions, not measuremen">
            <a:extLst xmlns:a="http://schemas.openxmlformats.org/drawingml/2006/main">
              <a:ext uri="{FF2B5EF4-FFF2-40B4-BE49-F238E27FC236}">
                <a16:creationId xmlns:a16="http://schemas.microsoft.com/office/drawing/2014/main" id="{8F999F0A-5C1A-4DE1-9AA6-CB02AE0545A1}"/>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Illustrative constant power assumptions, not measurements. Same useful output is assumed; faster completion uses 20% more</a:t>
            </a:r>
          </a:p>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energy here.</a:t>
            </a:r>
          </a:p>
        </p:txBody>
      </p:sp>
      <p:sp>
        <p:nvSpPr>
          <p:cNvPr id="5" name="E = ∫ P(t) dt     •     Carbon ≈ Σ Einterval × carbon i">
            <a:extLst xmlns:a="http://schemas.openxmlformats.org/drawingml/2006/main">
              <a:ext uri="{FF2B5EF4-FFF2-40B4-BE49-F238E27FC236}">
                <a16:creationId xmlns:a16="http://schemas.microsoft.com/office/drawing/2014/main" id="{4F25DDA3-3734-41A8-81CE-D378E8A17C3D}"/>
              </a:ext>
            </a:extLst>
          </p:cNvPr>
          <p:cNvSpPr>
            <a:spLocks xmlns:a="http://schemas.openxmlformats.org/drawingml/2006/main" noGrp="1"/>
          </p:cNvSpPr>
          <p:nvPr/>
        </p:nvSpPr>
        <p:spPr>
          <a:xfrm xmlns:a="http://schemas.openxmlformats.org/drawingml/2006/main">
            <a:off x="609600" y="4552950"/>
            <a:ext cx="109728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B83"/>
                </a:solidFill>
                <a:latin typeface="Arial"/>
                <a:ea typeface="Arial"/>
                <a:cs typeface="Arial"/>
              </a:defRPr>
            </a:defPPr>
          </a:lstStyle>
          <a:p xmlns:a="http://schemas.openxmlformats.org/drawingml/2006/main">
            <a:pPr algn="l">
              <a:defRPr sz="2100" b="1">
                <a:solidFill>
                  <a:srgbClr val="007B83"/>
                </a:solidFill>
                <a:latin typeface="Arial"/>
                <a:ea typeface="Arial"/>
                <a:cs typeface="Arial"/>
              </a:defRPr>
            </a:pPr>
            <a:r>
              <a:rPr sz="2100" b="1">
                <a:solidFill>
                  <a:srgbClr val="007B83"/>
                </a:solidFill>
                <a:latin typeface="Arial"/>
                <a:ea typeface="Arial"/>
                <a:cs typeface="Arial"/>
              </a:rPr>
              <a:t>E = ∫ P(t) dt • Carbon ≈ Σ Einterval × carbon intensity</a:t>
            </a:r>
          </a:p>
        </p:txBody>
      </p:sp>
      <p:sp>
        <p:nvSpPr>
          <p:cNvPr id="6" name="">
            <a:extLst xmlns:a="http://schemas.openxmlformats.org/drawingml/2006/main">
              <a:ext uri="{FF2B5EF4-FFF2-40B4-BE49-F238E27FC236}">
                <a16:creationId xmlns:a16="http://schemas.microsoft.com/office/drawing/2014/main" id="{C506CED9-9459-4DF5-B491-FCB99E7C671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7" name="Sources: [8] Strubell et al. 2019: cost and equity; [10">
            <a:extLst xmlns:a="http://schemas.openxmlformats.org/drawingml/2006/main">
              <a:ext uri="{FF2B5EF4-FFF2-40B4-BE49-F238E27FC236}">
                <a16:creationId xmlns:a16="http://schemas.microsoft.com/office/drawing/2014/main" id="{3A481853-6ACB-43CA-BB10-26734B2E2204}"/>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[10] Schwartz et al. 2019: efficiency reporting; [2] NVIDIA CUDA Best Practices</a:t>
            </a:r>
          </a:p>
        </p:txBody>
      </p:sp>
      <p:sp>
        <p:nvSpPr>
          <p:cNvPr id="8" name="22 / 46">
            <a:extLst xmlns:a="http://schemas.openxmlformats.org/drawingml/2006/main">
              <a:ext uri="{FF2B5EF4-FFF2-40B4-BE49-F238E27FC236}">
                <a16:creationId xmlns:a16="http://schemas.microsoft.com/office/drawing/2014/main" id="{2FF8E947-1675-4C19-BC80-23225C1D739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22 / 46</a:t>
            </a:r>
          </a:p>
        </p:txBody>
      </p:sp>
    </p:spTree>
    <p:extLst>
      <p:ext uri="{BB962C8B-B14F-4D97-AF65-F5344CB8AC3E}">
        <p14:creationId xmlns:p14="http://schemas.microsoft.com/office/powerpoint/2010/main" val="1277789658"/>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2 • Task 2(a) • Environmental accountin">
            <a:extLst xmlns:a="http://schemas.openxmlformats.org/drawingml/2006/main">
              <a:ext uri="{FF2B5EF4-FFF2-40B4-BE49-F238E27FC236}">
                <a16:creationId xmlns:a16="http://schemas.microsoft.com/office/drawing/2014/main" id="{9DF9EC87-F316-41CC-A2F8-3EA277927A7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Environmental accounting</a:t>
            </a:r>
          </a:p>
        </p:txBody>
      </p:sp>
      <p:sp>
        <p:nvSpPr>
          <p:cNvPr id="2" name="Environmental accounting and evidence limits">
            <a:extLst xmlns:a="http://schemas.openxmlformats.org/drawingml/2006/main">
              <a:ext uri="{FF2B5EF4-FFF2-40B4-BE49-F238E27FC236}">
                <a16:creationId xmlns:a16="http://schemas.microsoft.com/office/drawing/2014/main" id="{AD7140AC-194F-4FD8-B468-670DF2F542F8}"/>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Environmental accounting and evidence limits</a:t>
            </a:r>
          </a:p>
        </p:txBody>
      </p:sp>
      <p:sp>
        <p:nvSpPr>
          <p:cNvPr id="3" name="Define what is counted">
            <a:extLst xmlns:a="http://schemas.openxmlformats.org/drawingml/2006/main">
              <a:ext uri="{FF2B5EF4-FFF2-40B4-BE49-F238E27FC236}">
                <a16:creationId xmlns:a16="http://schemas.microsoft.com/office/drawing/2014/main" id="{30FC1BA1-CBBD-474F-A855-AD2E264B917A}"/>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Define what is counted</a:t>
            </a:r>
          </a:p>
        </p:txBody>
      </p:sp>
      <p:sp>
        <p:nvSpPr>
          <p:cNvPr id="4" name="Energy (kWh) integrates power (kW) over hours. Operatio">
            <a:extLst xmlns:a="http://schemas.openxmlformats.org/drawingml/2006/main">
              <a:ext uri="{FF2B5EF4-FFF2-40B4-BE49-F238E27FC236}">
                <a16:creationId xmlns:a16="http://schemas.microsoft.com/office/drawing/2014/main" id="{363DED8A-6981-4A68-B9CE-5DABE756F06E}"/>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Energy (kWh) integrates power (kW) over hours.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Operational emissions ≈ Σ energy in each interval ×</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that interval’s carbon intensity (kg CO₂e/kWh).</a:t>
            </a:r>
          </a:p>
        </p:txBody>
      </p:sp>
      <p:sp>
        <p:nvSpPr>
          <p:cNvPr id="5" name="Report accelerators, host CPUs, storage/networking and ">
            <a:extLst xmlns:a="http://schemas.openxmlformats.org/drawingml/2006/main">
              <a:ext uri="{FF2B5EF4-FFF2-40B4-BE49-F238E27FC236}">
                <a16:creationId xmlns:a16="http://schemas.microsoft.com/office/drawing/2014/main" id="{FEAF6228-2D14-439B-917C-1DAE3801FB7B}"/>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Report accelerators, host CPUs, storage/networking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allocated cooling overhead; include failed runs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repeated tuning when evaluating a project.</a:t>
            </a:r>
          </a:p>
        </p:txBody>
      </p:sp>
      <p:sp>
        <p:nvSpPr>
          <p:cNvPr id="6" name="Hardware manufacture and disposal are embodied impacts ">
            <a:extLst xmlns:a="http://schemas.openxmlformats.org/drawingml/2006/main">
              <a:ext uri="{FF2B5EF4-FFF2-40B4-BE49-F238E27FC236}">
                <a16:creationId xmlns:a16="http://schemas.microsoft.com/office/drawing/2014/main" id="{FE13B4BD-6ED4-4AE5-AF22-D3441B94EDA9}"/>
              </a:ext>
            </a:extLst>
          </p:cNvPr>
          <p:cNvSpPr>
            <a:spLocks xmlns:a="http://schemas.openxmlformats.org/drawingml/2006/main" noGrp="1"/>
          </p:cNvSpPr>
          <p:nvPr/>
        </p:nvSpPr>
        <p:spPr>
          <a:xfrm xmlns:a="http://schemas.openxmlformats.org/drawingml/2006/main">
            <a:off x="609600" y="4020693"/>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Hardware manufacture and disposal are embodied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impacts beyond operational electricity. Water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withdrawal and water consumption are different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measures.</a:t>
            </a:r>
          </a:p>
        </p:txBody>
      </p:sp>
      <p:sp>
        <p:nvSpPr>
          <p:cNvPr id="7" name="Compare the evidence">
            <a:extLst xmlns:a="http://schemas.openxmlformats.org/drawingml/2006/main">
              <a:ext uri="{FF2B5EF4-FFF2-40B4-BE49-F238E27FC236}">
                <a16:creationId xmlns:a16="http://schemas.microsoft.com/office/drawing/2014/main" id="{8CD249B2-6F3A-4B55-AF8D-67FE90650D3C}"/>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Compare the evidence</a:t>
            </a:r>
          </a:p>
        </p:txBody>
      </p:sp>
      <p:sp>
        <p:nvSpPr>
          <p:cNvPr id="8" name="Strubell et al. quantify costs for selected historical ">
            <a:extLst xmlns:a="http://schemas.openxmlformats.org/drawingml/2006/main">
              <a:ext uri="{FF2B5EF4-FFF2-40B4-BE49-F238E27FC236}">
                <a16:creationId xmlns:a16="http://schemas.microsoft.com/office/drawing/2014/main" id="{E8AB2FAD-B7E7-48AB-8D01-9DFAEC4D3050}"/>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Strubell et al. quantify costs for selected historical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NLP training/development workloads; those values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are not universal 2026 model footprints.</a:t>
            </a:r>
          </a:p>
        </p:txBody>
      </p:sp>
      <p:sp>
        <p:nvSpPr>
          <p:cNvPr id="9" name="Green AI motivates reporting efficiency alongside accur">
            <a:extLst xmlns:a="http://schemas.openxmlformats.org/drawingml/2006/main">
              <a:ext uri="{FF2B5EF4-FFF2-40B4-BE49-F238E27FC236}">
                <a16:creationId xmlns:a16="http://schemas.microsoft.com/office/drawing/2014/main" id="{C1C611EB-4EF8-4906-8C85-1894870F64AF}"/>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Green AI motivates reporting efficiency alongside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accuracy; Li et al. show why water varies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place/time. Carbon alone misses local water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pressures.</a:t>
            </a:r>
          </a:p>
        </p:txBody>
      </p:sp>
      <p:sp>
        <p:nvSpPr>
          <p:cNvPr id="10" name="IEA sector totals provide context, not causal attributi">
            <a:extLst xmlns:a="http://schemas.openxmlformats.org/drawingml/2006/main">
              <a:ext uri="{FF2B5EF4-FFF2-40B4-BE49-F238E27FC236}">
                <a16:creationId xmlns:a16="http://schemas.microsoft.com/office/drawing/2014/main" id="{24205B77-CB0A-486D-B186-88B584AC46CC}"/>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IEA sector totals provide context, not causal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attribution to one model. Forecasts depend 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demand and infrastructure assumptions; local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grid/cooling effects differ by site.</a:t>
            </a:r>
          </a:p>
        </p:txBody>
      </p:sp>
      <p:sp>
        <p:nvSpPr>
          <p:cNvPr id="11" name="">
            <a:extLst xmlns:a="http://schemas.openxmlformats.org/drawingml/2006/main">
              <a:ext uri="{FF2B5EF4-FFF2-40B4-BE49-F238E27FC236}">
                <a16:creationId xmlns:a16="http://schemas.microsoft.com/office/drawing/2014/main" id="{4A107D46-302D-425E-8BE7-648097442553}"/>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FD4A2720-EF38-4447-B3A8-5A5CD45E10B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6] IEA 2026: sector estimates and projection;">
            <a:extLst xmlns:a="http://schemas.openxmlformats.org/drawingml/2006/main">
              <a:ext uri="{FF2B5EF4-FFF2-40B4-BE49-F238E27FC236}">
                <a16:creationId xmlns:a16="http://schemas.microsoft.com/office/drawing/2014/main" id="{FADC6799-34E8-4203-8783-5543B1B29B8E}"/>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[8] Strubell et al. 2019: cost and equity; [9] Li et al. 2025 revision: water impacts; [10] Schwartz et al. 2019: efficiency</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reporting</a:t>
            </a:r>
          </a:p>
        </p:txBody>
      </p:sp>
      <p:sp>
        <p:nvSpPr>
          <p:cNvPr id="14" name="23 / 46">
            <a:extLst xmlns:a="http://schemas.openxmlformats.org/drawingml/2006/main">
              <a:ext uri="{FF2B5EF4-FFF2-40B4-BE49-F238E27FC236}">
                <a16:creationId xmlns:a16="http://schemas.microsoft.com/office/drawing/2014/main" id="{BFC94D57-4B0E-4D1D-A00F-E8C3BD56EC8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23 / 46</a:t>
            </a:r>
          </a:p>
        </p:txBody>
      </p:sp>
    </p:spTree>
    <p:extLst>
      <p:ext uri="{BB962C8B-B14F-4D97-AF65-F5344CB8AC3E}">
        <p14:creationId xmlns:p14="http://schemas.microsoft.com/office/powerpoint/2010/main" val="593865125"/>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Task 2(b) • Proposed governance con">
            <a:extLst xmlns:a="http://schemas.openxmlformats.org/drawingml/2006/main">
              <a:ext uri="{FF2B5EF4-FFF2-40B4-BE49-F238E27FC236}">
                <a16:creationId xmlns:a16="http://schemas.microsoft.com/office/drawing/2014/main" id="{2A24317B-2207-427E-9DB8-3F7D877BA2D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Proposed governance controls</a:t>
            </a:r>
          </a:p>
        </p:txBody>
      </p:sp>
      <p:sp>
        <p:nvSpPr>
          <p:cNvPr id="2" name="Governance controls and remaining risks">
            <a:extLst xmlns:a="http://schemas.openxmlformats.org/drawingml/2006/main">
              <a:ext uri="{FF2B5EF4-FFF2-40B4-BE49-F238E27FC236}">
                <a16:creationId xmlns:a16="http://schemas.microsoft.com/office/drawing/2014/main" id="{960F7162-0D04-48C4-A97F-CCF0D3098ED8}"/>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Governance controls and remaining risks</a:t>
            </a:r>
          </a:p>
        </p:txBody>
      </p:sp>
      <p:graphicFrame>
        <p:nvGraphicFramePr>
          <p:cNvPr id="3" name="">
            <a:extLst xmlns:a="http://schemas.openxmlformats.org/drawingml/2006/main">
              <a:ext uri="{FF2B5EF4-FFF2-40B4-BE49-F238E27FC236}">
                <a16:creationId xmlns:a16="http://schemas.microsoft.com/office/drawing/2014/main" id="{1676AAB6-C702-4918-AE8B-ADCC24E006F2}"/>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Risk / stakeholder</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Proposed control</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Residual limitation / owner</a:t>
                      </a:r>
                    </a:p>
                  </a:txBody>
                  <a:tcPr marL="91440" marR="91440" marT="45720" marB="45720" anchor="ctr">
                    <a:solidFill>
                      <a:srgbClr val="142D45"/>
                    </a:solidFill>
                  </a:tcPr>
                </a:tc>
              </a:tr>
              <a:tr h="833438">
                <a:tc>
                  <a:txBody>
                    <a:bodyPr lIns="95250" tIns="95250" rIns="95250" bIns="95250">
                      <a:noAutofit/>
                    </a:bodyPr>
                    <a:lstStyle/>
                    <a:p>
                      <a:pPr algn="l"/>
                      <a:r>
                        <a:rPr sz="1500" b="0">
                          <a:solidFill>
                            <a:srgbClr val="142D45"/>
                          </a:solidFill>
                          <a:latin typeface="Arial"/>
                          <a:ea typeface="Arial"/>
                          <a:cs typeface="Arial"/>
                        </a:rPr>
                        <a:t>Dataset misuse / data subjects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Provenance, permission checks, retention limits and access logs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 licence alone may not justify every use; data steward reviews purpose.</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Gradient/checkpoint exposure / participants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Least privilege, tenant isolation, protected transport and secure checkpoint storage</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Authorized endpoints can still see sensitive values; security owner models insider risk.</a:t>
                      </a:r>
                    </a:p>
                  </a:txBody>
                  <a:tcPr marL="91440" marR="91440" marT="45720" marB="45720" anchor="ctr">
                    <a:solidFill>
                      <a:srgbClr val="F0F4F4"/>
                    </a:solidFill>
                  </a:tcPr>
                </a:tc>
              </a:tr>
              <a:tr h="833438">
                <a:tc>
                  <a:txBody>
                    <a:bodyPr lIns="95250" tIns="95250" rIns="95250" bIns="95250">
                      <a:noAutofit/>
                    </a:bodyPr>
                    <a:lstStyle/>
                    <a:p>
                      <a:pPr algn="l"/>
                      <a:r>
                        <a:rPr sz="1500" b="0">
                          <a:solidFill>
                            <a:srgbClr val="142D45"/>
                          </a:solidFill>
                          <a:latin typeface="Arial"/>
                          <a:ea typeface="Arial"/>
                          <a:cs typeface="Arial"/>
                        </a:rPr>
                        <a:t>Unsafe dual use / affected public</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Authorized-use review, restricted access where justified and review of deployment risks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Controls cannot prevent every misuse; accountable owner weighs benefits/restrictions.</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Distributed replicas / operators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Track copies, deletion obligations and incident response across workers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Replication increases the number of assets to protect; operator audits recovery.</a:t>
                      </a:r>
                    </a:p>
                  </a:txBody>
                  <a:tcPr marL="91440" marR="91440" marT="45720" marB="45720" anchor="ctr">
                    <a:solidFill>
                      <a:srgbClr val="F0F4F4"/>
                    </a:solidFill>
                  </a:tcPr>
                </a:tc>
              </a:tr>
            </a:tbl>
          </a:graphicData>
        </a:graphic>
      </p:graphicFrame>
      <p:sp>
        <p:nvSpPr>
          <p:cNvPr id="4" name="These are proposed mitigations informed by research/fra">
            <a:extLst xmlns:a="http://schemas.openxmlformats.org/drawingml/2006/main">
              <a:ext uri="{FF2B5EF4-FFF2-40B4-BE49-F238E27FC236}">
                <a16:creationId xmlns:a16="http://schemas.microsoft.com/office/drawing/2014/main" id="{F8D5F737-B440-4122-900A-FB518CAAA315}"/>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These are proposed mitigations informed by research/frameworks, not a proof of privacy or a compliance certification.</a:t>
            </a:r>
          </a:p>
        </p:txBody>
      </p:sp>
      <p:sp>
        <p:nvSpPr>
          <p:cNvPr id="5" name="">
            <a:extLst xmlns:a="http://schemas.openxmlformats.org/drawingml/2006/main">
              <a:ext uri="{FF2B5EF4-FFF2-40B4-BE49-F238E27FC236}">
                <a16:creationId xmlns:a16="http://schemas.microsoft.com/office/drawing/2014/main" id="{3E73DEC4-C4E7-4B44-8D93-9069E7314F55}"/>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11] Zhu et al. 2019: exposed gradients; [15] ">
            <a:extLst xmlns:a="http://schemas.openxmlformats.org/drawingml/2006/main">
              <a:ext uri="{FF2B5EF4-FFF2-40B4-BE49-F238E27FC236}">
                <a16:creationId xmlns:a16="http://schemas.microsoft.com/office/drawing/2014/main" id="{ADFE05A8-4350-4514-8538-CFCCEC62A7D2}"/>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[15] OECD: rights, fairness and accountability; [16] NIST: Govern, Map, Measure, Manage</a:t>
            </a:r>
          </a:p>
        </p:txBody>
      </p:sp>
      <p:sp>
        <p:nvSpPr>
          <p:cNvPr id="7" name="24 / 46">
            <a:extLst xmlns:a="http://schemas.openxmlformats.org/drawingml/2006/main">
              <a:ext uri="{FF2B5EF4-FFF2-40B4-BE49-F238E27FC236}">
                <a16:creationId xmlns:a16="http://schemas.microsoft.com/office/drawing/2014/main" id="{6A778DFD-51DC-4BD3-BA3B-EDC31B67B5D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24 / 46</a:t>
            </a:r>
          </a:p>
        </p:txBody>
      </p:sp>
    </p:spTree>
    <p:extLst>
      <p:ext uri="{BB962C8B-B14F-4D97-AF65-F5344CB8AC3E}">
        <p14:creationId xmlns:p14="http://schemas.microsoft.com/office/powerpoint/2010/main" val="1857718275"/>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2 • Task 2(b) • Fairness with large-sca">
            <a:extLst xmlns:a="http://schemas.openxmlformats.org/drawingml/2006/main">
              <a:ext uri="{FF2B5EF4-FFF2-40B4-BE49-F238E27FC236}">
                <a16:creationId xmlns:a16="http://schemas.microsoft.com/office/drawing/2014/main" id="{907D5207-D09A-4767-8498-BC709D86F2B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Fairness with large-scale compute</a:t>
            </a:r>
          </a:p>
        </p:txBody>
      </p:sp>
      <p:sp>
        <p:nvSpPr>
          <p:cNvPr id="2" name="Fairness evaluation with large-scale compute">
            <a:extLst xmlns:a="http://schemas.openxmlformats.org/drawingml/2006/main">
              <a:ext uri="{FF2B5EF4-FFF2-40B4-BE49-F238E27FC236}">
                <a16:creationId xmlns:a16="http://schemas.microsoft.com/office/drawing/2014/main" id="{5783C3BC-EDE7-41EF-AAB0-D62D50900C40}"/>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Fairness evaluation with large-scale compute</a:t>
            </a:r>
          </a:p>
        </p:txBody>
      </p:sp>
      <p:sp>
        <p:nvSpPr>
          <p:cNvPr id="3" name="Compute connection">
            <a:extLst xmlns:a="http://schemas.openxmlformats.org/drawingml/2006/main">
              <a:ext uri="{FF2B5EF4-FFF2-40B4-BE49-F238E27FC236}">
                <a16:creationId xmlns:a16="http://schemas.microsoft.com/office/drawing/2014/main" id="{96382FC2-FF7A-4533-A106-81F7913FE824}"/>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Compute connection</a:t>
            </a:r>
          </a:p>
        </p:txBody>
      </p:sp>
      <p:sp>
        <p:nvSpPr>
          <p:cNvPr id="4" name="An illustrative multilingual LLM service may have unequ">
            <a:extLst xmlns:a="http://schemas.openxmlformats.org/drawingml/2006/main">
              <a:ext uri="{FF2B5EF4-FFF2-40B4-BE49-F238E27FC236}">
                <a16:creationId xmlns:a16="http://schemas.microsoft.com/office/drawing/2014/main" id="{2C349487-0DFE-4364-A5E4-5FCF83963300}"/>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 illustrative multilingual LLM service may have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unequal performance or stereotyped outputs across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language groups. Identify the actual harm before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choosing a metric.</a:t>
            </a:r>
          </a:p>
        </p:txBody>
      </p:sp>
      <p:sp>
        <p:nvSpPr>
          <p:cNvPr id="5" name="A cluster enables larger datasets and repeated training">
            <a:extLst xmlns:a="http://schemas.openxmlformats.org/drawingml/2006/main">
              <a:ext uri="{FF2B5EF4-FFF2-40B4-BE49-F238E27FC236}">
                <a16:creationId xmlns:a16="http://schemas.microsoft.com/office/drawing/2014/main" id="{D97B86C8-5161-4D04-9629-628521B587F5}"/>
              </a:ext>
            </a:extLst>
          </p:cNvPr>
          <p:cNvSpPr>
            <a:spLocks xmlns:a="http://schemas.openxmlformats.org/drawingml/2006/main" noGrp="1"/>
          </p:cNvSpPr>
          <p:nvPr/>
        </p:nvSpPr>
        <p:spPr>
          <a:xfrm xmlns:a="http://schemas.openxmlformats.org/drawingml/2006/main">
            <a:off x="609600" y="3267837"/>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 cluster enables larger datasets and repeated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training, but neither data volume nor GPU count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guarantees representative data or equitable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outcomes.</a:t>
            </a:r>
          </a:p>
        </p:txBody>
      </p:sp>
      <p:sp>
        <p:nvSpPr>
          <p:cNvPr id="6" name="Reserve evaluation compute for affected groups; documen">
            <a:extLst xmlns:a="http://schemas.openxmlformats.org/drawingml/2006/main">
              <a:ext uri="{FF2B5EF4-FFF2-40B4-BE49-F238E27FC236}">
                <a16:creationId xmlns:a16="http://schemas.microsoft.com/office/drawing/2014/main" id="{03183D29-9A3A-43D2-BAE7-EDC2773C08CE}"/>
              </a:ext>
            </a:extLst>
          </p:cNvPr>
          <p:cNvSpPr>
            <a:spLocks xmlns:a="http://schemas.openxmlformats.org/drawingml/2006/main" noGrp="1"/>
          </p:cNvSpPr>
          <p:nvPr/>
        </p:nvSpPr>
        <p:spPr>
          <a:xfrm xmlns:a="http://schemas.openxmlformats.org/drawingml/2006/main">
            <a:off x="609600" y="4563999"/>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Reserve evaluation compute for affected groups;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document dataset coverage and compare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disaggregated error or harmful-output rates using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task-appropriate test.</a:t>
            </a:r>
          </a:p>
        </p:txBody>
      </p:sp>
      <p:sp>
        <p:nvSpPr>
          <p:cNvPr id="7" name="Evidence and decision">
            <a:extLst xmlns:a="http://schemas.openxmlformats.org/drawingml/2006/main">
              <a:ext uri="{FF2B5EF4-FFF2-40B4-BE49-F238E27FC236}">
                <a16:creationId xmlns:a16="http://schemas.microsoft.com/office/drawing/2014/main" id="{C260589D-0BFC-4A8B-BEDB-2AE5C5CFAF95}"/>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Evidence and decision</a:t>
            </a:r>
          </a:p>
        </p:txBody>
      </p:sp>
      <p:sp>
        <p:nvSpPr>
          <p:cNvPr id="8" name="Gallegos et al. separate metrics, evaluation datasets a">
            <a:extLst xmlns:a="http://schemas.openxmlformats.org/drawingml/2006/main">
              <a:ext uri="{FF2B5EF4-FFF2-40B4-BE49-F238E27FC236}">
                <a16:creationId xmlns:a16="http://schemas.microsoft.com/office/drawing/2014/main" id="{B48B1D7D-AA47-4589-AD03-9CD58C23B219}"/>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Gallegos et al. separate metrics, evaluation datasets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mitigation stages. A single aggregate accuracy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score can hide a relevant subgroup harm.</a:t>
            </a:r>
          </a:p>
        </p:txBody>
      </p:sp>
      <p:sp>
        <p:nvSpPr>
          <p:cNvPr id="9" name="Specify justified acceptance criteria before training; ">
            <a:extLst xmlns:a="http://schemas.openxmlformats.org/drawingml/2006/main">
              <a:ext uri="{FF2B5EF4-FFF2-40B4-BE49-F238E27FC236}">
                <a16:creationId xmlns:a16="http://schemas.microsoft.com/office/drawing/2014/main" id="{8916C6F4-CAC5-4D4E-8006-E25680E4F7CF}"/>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Specify justified acceptance criteria before training;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examine uncertainty and small-group sample limits.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Mitigate, reevaluate, and document unresolved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harms.</a:t>
            </a:r>
          </a:p>
        </p:txBody>
      </p:sp>
      <p:sp>
        <p:nvSpPr>
          <p:cNvPr id="10" name="Security and fairness have different objectives: encryp">
            <a:extLst xmlns:a="http://schemas.openxmlformats.org/drawingml/2006/main">
              <a:ext uri="{FF2B5EF4-FFF2-40B4-BE49-F238E27FC236}">
                <a16:creationId xmlns:a16="http://schemas.microsoft.com/office/drawing/2014/main" id="{B2A995E3-965C-4711-9DE0-7FC65D9DDABD}"/>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Security and fairness have different objectives: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encrypted gradients do not establish fair outputs.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source supports model-bias analysis, not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claim that HPC itself causes bias.</a:t>
            </a:r>
          </a:p>
        </p:txBody>
      </p:sp>
      <p:sp>
        <p:nvSpPr>
          <p:cNvPr id="11" name="">
            <a:extLst xmlns:a="http://schemas.openxmlformats.org/drawingml/2006/main">
              <a:ext uri="{FF2B5EF4-FFF2-40B4-BE49-F238E27FC236}">
                <a16:creationId xmlns:a16="http://schemas.microsoft.com/office/drawing/2014/main" id="{B1212D49-E824-49E0-B9CE-4298FADE8D2F}"/>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04B29031-8402-4190-9B66-1C502C8D88B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12] Gallegos et al. 2024: fairness evaluation">
            <a:extLst xmlns:a="http://schemas.openxmlformats.org/drawingml/2006/main">
              <a:ext uri="{FF2B5EF4-FFF2-40B4-BE49-F238E27FC236}">
                <a16:creationId xmlns:a16="http://schemas.microsoft.com/office/drawing/2014/main" id="{DA1DAEF1-5198-4799-A3B9-36B13D6CBF2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[12] Gallegos et al. 2024: fairness evaluation; [15] OECD: rights, fairness and accountability; [16] NIST: Govern, Map, Measure, Manage</a:t>
            </a:r>
          </a:p>
        </p:txBody>
      </p:sp>
      <p:sp>
        <p:nvSpPr>
          <p:cNvPr id="14" name="25 / 46">
            <a:extLst xmlns:a="http://schemas.openxmlformats.org/drawingml/2006/main">
              <a:ext uri="{FF2B5EF4-FFF2-40B4-BE49-F238E27FC236}">
                <a16:creationId xmlns:a16="http://schemas.microsoft.com/office/drawing/2014/main" id="{042BAB57-C147-4ED0-924E-D38E252417E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25 / 46</a:t>
            </a:r>
          </a:p>
        </p:txBody>
      </p:sp>
    </p:spTree>
    <p:extLst>
      <p:ext uri="{BB962C8B-B14F-4D97-AF65-F5344CB8AC3E}">
        <p14:creationId xmlns:p14="http://schemas.microsoft.com/office/powerpoint/2010/main" val="1289230849"/>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2 • Task 2(c)">
            <a:extLst xmlns:a="http://schemas.openxmlformats.org/drawingml/2006/main">
              <a:ext uri="{FF2B5EF4-FFF2-40B4-BE49-F238E27FC236}">
                <a16:creationId xmlns:a16="http://schemas.microsoft.com/office/drawing/2014/main" id="{C40F89EE-958F-44DE-B816-ED6617090E4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a:t>
            </a:r>
          </a:p>
        </p:txBody>
      </p:sp>
      <p:sp>
        <p:nvSpPr>
          <p:cNvPr id="2" name="Unequal access to HPC resources">
            <a:extLst xmlns:a="http://schemas.openxmlformats.org/drawingml/2006/main">
              <a:ext uri="{FF2B5EF4-FFF2-40B4-BE49-F238E27FC236}">
                <a16:creationId xmlns:a16="http://schemas.microsoft.com/office/drawing/2014/main" id="{8023B4A1-14C8-4194-BD81-7CDC368FBDF0}"/>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Unequal access to HPC resources</a:t>
            </a:r>
          </a:p>
        </p:txBody>
      </p:sp>
      <p:graphicFrame>
        <p:nvGraphicFramePr>
          <p:cNvPr id="3" name="">
            <a:extLst xmlns:a="http://schemas.openxmlformats.org/drawingml/2006/main">
              <a:ext uri="{FF2B5EF4-FFF2-40B4-BE49-F238E27FC236}">
                <a16:creationId xmlns:a16="http://schemas.microsoft.com/office/drawing/2014/main" id="{28DDE5A1-965E-49AD-9CD0-640A6340052E}"/>
              </a:ext>
            </a:extLst>
          </p:cNvPr>
          <p:cNvGraphicFramePr/>
          <p:nvPr/>
        </p:nvGraphicFramePr>
        <p:xfrm>
          <a:off xmlns:a="http://schemas.openxmlformats.org/drawingml/2006/main" x="609600" y="1571625"/>
          <a:ext xmlns:a="http://schemas.openxmlformats.org/drawingml/2006/main" cx="10972800" cy="2381250"/>
        </p:xfrm>
        <a:graphic xmlns:a="http://schemas.openxmlformats.org/drawingml/2006/main">
          <a:graphicData uri="http://schemas.openxmlformats.org/drawingml/2006/table">
            <a:tbl>
              <a:tblPr firstRow="1"/>
              <a:tblGrid>
                <a:gridCol w="2857500"/>
                <a:gridCol w="4095750"/>
                <a:gridCol w="4019550"/>
              </a:tblGrid>
              <a:tr h="533400">
                <a:tc>
                  <a:txBody>
                    <a:bodyPr lIns="114300" tIns="114300" rIns="114300" bIns="114300"/>
                    <a:lstStyle/>
                    <a:p>
                      <a:r>
                        <a:rPr sz="1725" b="1">
                          <a:solidFill>
                            <a:srgbClr val="FFFFFF"/>
                          </a:solidFill>
                          <a:latin typeface="Arial"/>
                          <a:ea typeface="Arial"/>
                          <a:cs typeface="Arial"/>
                        </a:rPr>
                        <a:t>Evidence</a:t>
                      </a:r>
                    </a:p>
                  </a:txBody>
                  <a:tcPr marL="91440" marR="91440" marT="45720" marB="45720" anchor="ctr">
                    <a:solidFill>
                      <a:srgbClr val="142D45"/>
                    </a:solidFill>
                  </a:tcPr>
                </a:tc>
                <a:tc>
                  <a:txBody>
                    <a:bodyPr lIns="114300" tIns="114300" rIns="114300" bIns="114300"/>
                    <a:lstStyle/>
                    <a:p>
                      <a:r>
                        <a:rPr sz="1725" b="1">
                          <a:solidFill>
                            <a:srgbClr val="FFFFFF"/>
                          </a:solidFill>
                          <a:latin typeface="Arial"/>
                          <a:ea typeface="Arial"/>
                          <a:cs typeface="Arial"/>
                        </a:rPr>
                        <a:t>What it shows</a:t>
                      </a:r>
                    </a:p>
                  </a:txBody>
                  <a:tcPr marL="91440" marR="91440" marT="45720" marB="45720" anchor="ctr">
                    <a:solidFill>
                      <a:srgbClr val="142D45"/>
                    </a:solidFill>
                  </a:tcPr>
                </a:tc>
                <a:tc>
                  <a:txBody>
                    <a:bodyPr lIns="114300" tIns="114300" rIns="114300" bIns="114300"/>
                    <a:lstStyle/>
                    <a:p>
                      <a:r>
                        <a:rPr sz="1725" b="1">
                          <a:solidFill>
                            <a:srgbClr val="FFFFFF"/>
                          </a:solidFill>
                          <a:latin typeface="Arial"/>
                          <a:ea typeface="Arial"/>
                          <a:cs typeface="Arial"/>
                        </a:rPr>
                        <a:t>What it cannot establish</a:t>
                      </a:r>
                    </a:p>
                  </a:txBody>
                  <a:tcPr marL="91440" marR="91440" marT="45720" marB="45720" anchor="ctr">
                    <a:solidFill>
                      <a:srgbClr val="142D45"/>
                    </a:solidFill>
                  </a:tcPr>
                </a:tc>
              </a:tr>
              <a:tr h="923925">
                <a:tc>
                  <a:txBody>
                    <a:bodyPr lIns="114300" tIns="114300" rIns="114300" bIns="114300"/>
                    <a:lstStyle/>
                    <a:p>
                      <a:r>
                        <a:rPr sz="1725" b="0">
                          <a:solidFill>
                            <a:srgbClr val="142D45"/>
                          </a:solidFill>
                          <a:latin typeface="Arial"/>
                          <a:ea typeface="Arial"/>
                          <a:cs typeface="Arial"/>
                        </a:rPr>
                        <a:t>Ahmed &amp; Wahed [13]</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Historical research participation and compute concentration</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Current worldwide access or a universal causal effect</a:t>
                      </a:r>
                    </a:p>
                  </a:txBody>
                  <a:tcPr marL="91440" marR="91440" marT="45720" marB="45720" anchor="ctr">
                    <a:solidFill>
                      <a:srgbClr val="FFFFFF"/>
                    </a:solidFill>
                  </a:tcPr>
                </a:tc>
              </a:tr>
              <a:tr h="923925">
                <a:tc>
                  <a:txBody>
                    <a:bodyPr lIns="114300" tIns="114300" rIns="114300" bIns="114300"/>
                    <a:lstStyle/>
                    <a:p>
                      <a:r>
                        <a:rPr sz="1725" b="0">
                          <a:solidFill>
                            <a:srgbClr val="142D45"/>
                          </a:solidFill>
                          <a:latin typeface="Arial"/>
                          <a:ea typeface="Arial"/>
                          <a:cs typeface="Arial"/>
                        </a:rPr>
                        <a:t>Strubell et al. [8]</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Selected NLP workload costs and financial barriers</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The cost of every current AI workload</a:t>
                      </a:r>
                    </a:p>
                  </a:txBody>
                  <a:tcPr marL="91440" marR="91440" marT="45720" marB="45720" anchor="ctr">
                    <a:solidFill>
                      <a:srgbClr val="FFFFFF"/>
                    </a:solidFill>
                  </a:tcPr>
                </a:tc>
              </a:tr>
            </a:tbl>
          </a:graphicData>
        </a:graphic>
      </p:graphicFrame>
      <p:sp>
        <p:nvSpPr>
          <p:cNvPr id="4" name="Current response: NAIRR supported &gt;600 teams and &gt;6,000">
            <a:extLst xmlns:a="http://schemas.openxmlformats.org/drawingml/2006/main">
              <a:ext uri="{FF2B5EF4-FFF2-40B4-BE49-F238E27FC236}">
                <a16:creationId xmlns:a16="http://schemas.microsoft.com/office/drawing/2014/main" id="{025B08D1-35C8-425F-A2A2-CC63427A0DEF}"/>
              </a:ext>
            </a:extLst>
          </p:cNvPr>
          <p:cNvSpPr>
            <a:spLocks xmlns:a="http://schemas.openxmlformats.org/drawingml/2006/main" noGrp="1"/>
          </p:cNvSpPr>
          <p:nvPr/>
        </p:nvSpPr>
        <p:spPr>
          <a:xfrm xmlns:a="http://schemas.openxmlformats.org/drawingml/2006/main">
            <a:off x="609600" y="4276725"/>
            <a:ext cx="109728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B83"/>
                </a:solidFill>
                <a:latin typeface="Arial"/>
                <a:ea typeface="Arial"/>
                <a:cs typeface="Arial"/>
              </a:defRPr>
            </a:defPPr>
          </a:lstStyle>
          <a:p xmlns:a="http://schemas.openxmlformats.org/drawingml/2006/main">
            <a:pPr algn="l">
              <a:defRPr sz="2100" b="1">
                <a:solidFill>
                  <a:srgbClr val="007B83"/>
                </a:solidFill>
                <a:latin typeface="Arial"/>
                <a:ea typeface="Arial"/>
                <a:cs typeface="Arial"/>
              </a:defRPr>
            </a:pPr>
            <a:r>
              <a:rPr sz="2100" b="1">
                <a:solidFill>
                  <a:srgbClr val="007B83"/>
                </a:solidFill>
                <a:latin typeface="Arial"/>
                <a:ea typeface="Arial"/>
                <a:cs typeface="Arial"/>
              </a:rPr>
              <a:t>Current response: NAIRR supported &gt;600 teams and &gt;6,000 students</a:t>
            </a:r>
          </a:p>
        </p:txBody>
      </p:sp>
      <p:sp>
        <p:nvSpPr>
          <p:cNvPr id="5" name="NSF, March 2026; US programme since 2024. Reach does no">
            <a:extLst xmlns:a="http://schemas.openxmlformats.org/drawingml/2006/main">
              <a:ext uri="{FF2B5EF4-FFF2-40B4-BE49-F238E27FC236}">
                <a16:creationId xmlns:a16="http://schemas.microsoft.com/office/drawing/2014/main" id="{361FE106-0D78-4446-9521-A0C8F23B929F}"/>
              </a:ext>
            </a:extLst>
          </p:cNvPr>
          <p:cNvSpPr>
            <a:spLocks xmlns:a="http://schemas.openxmlformats.org/drawingml/2006/main" noGrp="1"/>
          </p:cNvSpPr>
          <p:nvPr/>
        </p:nvSpPr>
        <p:spPr>
          <a:xfrm xmlns:a="http://schemas.openxmlformats.org/drawingml/2006/main">
            <a:off x="609600" y="4676775"/>
            <a:ext cx="109728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NSF, March 2026; US programme since 2024. Reach does not prove global equality.</a:t>
            </a:r>
          </a:p>
        </p:txBody>
      </p:sp>
      <p:sp>
        <p:nvSpPr>
          <p:cNvPr id="6" name="Proposal: transparent GPU-hour allocation, smaller-inst">
            <a:extLst xmlns:a="http://schemas.openxmlformats.org/drawingml/2006/main">
              <a:ext uri="{FF2B5EF4-FFF2-40B4-BE49-F238E27FC236}">
                <a16:creationId xmlns:a16="http://schemas.microsoft.com/office/drawing/2014/main" id="{AA039C5A-8CFF-4DD0-BE0F-713CB9E8A84E}"/>
              </a:ext>
            </a:extLst>
          </p:cNvPr>
          <p:cNvSpPr>
            <a:spLocks xmlns:a="http://schemas.openxmlformats.org/drawingml/2006/main" noGrp="1"/>
          </p:cNvSpPr>
          <p:nvPr/>
        </p:nvSpPr>
        <p:spPr>
          <a:xfrm xmlns:a="http://schemas.openxmlformats.org/drawingml/2006/main">
            <a:off x="609600" y="5124450"/>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Proposal: transparent GPU-hour allocation, smaller-institution support and appeals. Trade-off: reserved</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access can reduce immediate utilization or delay urgent jobs.</a:t>
            </a:r>
          </a:p>
        </p:txBody>
      </p:sp>
      <p:sp>
        <p:nvSpPr>
          <p:cNvPr id="7" name="">
            <a:extLst xmlns:a="http://schemas.openxmlformats.org/drawingml/2006/main">
              <a:ext uri="{FF2B5EF4-FFF2-40B4-BE49-F238E27FC236}">
                <a16:creationId xmlns:a16="http://schemas.microsoft.com/office/drawing/2014/main" id="{0C5DF58D-621D-4D69-AB38-FEBC5AE5DFDC}"/>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8" name="Shared capacity helps; allocation, expertise and reprod">
            <a:extLst xmlns:a="http://schemas.openxmlformats.org/drawingml/2006/main">
              <a:ext uri="{FF2B5EF4-FFF2-40B4-BE49-F238E27FC236}">
                <a16:creationId xmlns:a16="http://schemas.microsoft.com/office/drawing/2014/main" id="{0A0E0B22-E121-468A-869F-837E6765B1D2}"/>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Shared capacity helps; allocation, expertise and reproducibility still need support.</a:t>
            </a:r>
          </a:p>
        </p:txBody>
      </p:sp>
      <p:sp>
        <p:nvSpPr>
          <p:cNvPr id="9" name="">
            <a:extLst xmlns:a="http://schemas.openxmlformats.org/drawingml/2006/main">
              <a:ext uri="{FF2B5EF4-FFF2-40B4-BE49-F238E27FC236}">
                <a16:creationId xmlns:a16="http://schemas.microsoft.com/office/drawing/2014/main" id="{830A5059-B027-42FA-A1E7-D91D9F6435C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7] NSF 2026: US programme reach; [8] Strubell">
            <a:extLst xmlns:a="http://schemas.openxmlformats.org/drawingml/2006/main">
              <a:ext uri="{FF2B5EF4-FFF2-40B4-BE49-F238E27FC236}">
                <a16:creationId xmlns:a16="http://schemas.microsoft.com/office/drawing/2014/main" id="{7665C087-3D9A-4EFD-8DD7-B17A210A45DE}"/>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1" name="26 / 46">
            <a:extLst xmlns:a="http://schemas.openxmlformats.org/drawingml/2006/main">
              <a:ext uri="{FF2B5EF4-FFF2-40B4-BE49-F238E27FC236}">
                <a16:creationId xmlns:a16="http://schemas.microsoft.com/office/drawing/2014/main" id="{4C015614-2B20-41E3-971D-63A457E5B53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26 / 46</a:t>
            </a:r>
          </a:p>
        </p:txBody>
      </p:sp>
    </p:spTree>
    <p:extLst>
      <p:ext uri="{BB962C8B-B14F-4D97-AF65-F5344CB8AC3E}">
        <p14:creationId xmlns:p14="http://schemas.microsoft.com/office/powerpoint/2010/main" val="553436676"/>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2 • Task 2(c) • Research and allocation">
            <a:extLst xmlns:a="http://schemas.openxmlformats.org/drawingml/2006/main">
              <a:ext uri="{FF2B5EF4-FFF2-40B4-BE49-F238E27FC236}">
                <a16:creationId xmlns:a16="http://schemas.microsoft.com/office/drawing/2014/main" id="{885EFE98-56F0-4F1D-ABAD-7C4F60D8321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 • Research and allocation decisions</a:t>
            </a:r>
          </a:p>
        </p:txBody>
      </p:sp>
      <p:sp>
        <p:nvSpPr>
          <p:cNvPr id="2" name="Access research and allocation choices">
            <a:extLst xmlns:a="http://schemas.openxmlformats.org/drawingml/2006/main">
              <a:ext uri="{FF2B5EF4-FFF2-40B4-BE49-F238E27FC236}">
                <a16:creationId xmlns:a16="http://schemas.microsoft.com/office/drawing/2014/main" id="{291E4F96-D598-4492-9DBE-5B6317677954}"/>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Access research and allocation choices</a:t>
            </a:r>
          </a:p>
        </p:txBody>
      </p:sp>
      <p:sp>
        <p:nvSpPr>
          <p:cNvPr id="3" name="Research comparison">
            <a:extLst xmlns:a="http://schemas.openxmlformats.org/drawingml/2006/main">
              <a:ext uri="{FF2B5EF4-FFF2-40B4-BE49-F238E27FC236}">
                <a16:creationId xmlns:a16="http://schemas.microsoft.com/office/drawing/2014/main" id="{6BC3097A-15EC-4468-A46E-E2219DB3FDC9}"/>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Research comparison</a:t>
            </a:r>
          </a:p>
        </p:txBody>
      </p:sp>
      <p:sp>
        <p:nvSpPr>
          <p:cNvPr id="4" name="Ahmed and Wahed study historical conference participati">
            <a:extLst xmlns:a="http://schemas.openxmlformats.org/drawingml/2006/main">
              <a:ext uri="{FF2B5EF4-FFF2-40B4-BE49-F238E27FC236}">
                <a16:creationId xmlns:a16="http://schemas.microsoft.com/office/drawing/2014/main" id="{5603F8B1-D94D-46E7-9BAB-FF74009BC320}"/>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Ahmed and Wahed study historical conference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participation and a compute divide. Strubell et 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examine financial/resource barriers in selected NLP</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workloads.</a:t>
            </a:r>
          </a:p>
        </p:txBody>
      </p:sp>
      <p:sp>
        <p:nvSpPr>
          <p:cNvPr id="5" name="The first concerns institutional participation; the sec">
            <a:extLst xmlns:a="http://schemas.openxmlformats.org/drawingml/2006/main">
              <a:ext uri="{FF2B5EF4-FFF2-40B4-BE49-F238E27FC236}">
                <a16:creationId xmlns:a16="http://schemas.microsoft.com/office/drawing/2014/main" id="{783B8D08-4D05-40BF-BB7C-1C8B0319176A}"/>
              </a:ext>
            </a:extLst>
          </p:cNvPr>
          <p:cNvSpPr>
            <a:spLocks xmlns:a="http://schemas.openxmlformats.org/drawingml/2006/main" noGrp="1"/>
          </p:cNvSpPr>
          <p:nvPr/>
        </p:nvSpPr>
        <p:spPr>
          <a:xfrm xmlns:a="http://schemas.openxmlformats.org/drawingml/2006/main">
            <a:off x="609600" y="3267837"/>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first concerns institutional participation; the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second concerns workload cost. Together they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motivate access support, but neither is a current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worldwide access census.</a:t>
            </a:r>
          </a:p>
        </p:txBody>
      </p:sp>
      <p:sp>
        <p:nvSpPr>
          <p:cNvPr id="6" name="NSF’s March 2026 participation figures describe a US sh">
            <a:extLst xmlns:a="http://schemas.openxmlformats.org/drawingml/2006/main">
              <a:ext uri="{FF2B5EF4-FFF2-40B4-BE49-F238E27FC236}">
                <a16:creationId xmlns:a16="http://schemas.microsoft.com/office/drawing/2014/main" id="{64EA389B-715E-4633-88FB-CE83AD6B8ACE}"/>
              </a:ext>
            </a:extLst>
          </p:cNvPr>
          <p:cNvSpPr>
            <a:spLocks xmlns:a="http://schemas.openxmlformats.org/drawingml/2006/main" noGrp="1"/>
          </p:cNvSpPr>
          <p:nvPr/>
        </p:nvSpPr>
        <p:spPr>
          <a:xfrm xmlns:a="http://schemas.openxmlformats.org/drawingml/2006/main">
            <a:off x="609600" y="4563999"/>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NSF’s March 2026 participation figures describe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US shared-resource response. Programme reach is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not proof of equal allocation, global access 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eliminated inequality.</a:t>
            </a:r>
          </a:p>
        </p:txBody>
      </p:sp>
      <p:sp>
        <p:nvSpPr>
          <p:cNvPr id="7" name="Proposed shared-cluster policy">
            <a:extLst xmlns:a="http://schemas.openxmlformats.org/drawingml/2006/main">
              <a:ext uri="{FF2B5EF4-FFF2-40B4-BE49-F238E27FC236}">
                <a16:creationId xmlns:a16="http://schemas.microsoft.com/office/drawing/2014/main" id="{2B5F31FD-6D1B-470F-B761-766D51FF4A6B}"/>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Proposed shared-cluster policy</a:t>
            </a:r>
          </a:p>
        </p:txBody>
      </p:sp>
      <p:sp>
        <p:nvSpPr>
          <p:cNvPr id="8" name="Publish eligibility, GPU-hour limits and allocation cri">
            <a:extLst xmlns:a="http://schemas.openxmlformats.org/drawingml/2006/main">
              <a:ext uri="{FF2B5EF4-FFF2-40B4-BE49-F238E27FC236}">
                <a16:creationId xmlns:a16="http://schemas.microsoft.com/office/drawing/2014/main" id="{AD144FA0-1576-4659-A4B4-61CE444FCA92}"/>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Publish eligibility, GPU-hour limits and allocation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criteria; reserve some capacity for teaching, smaller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institutions and independent replication.</a:t>
            </a:r>
          </a:p>
        </p:txBody>
      </p:sp>
      <p:sp>
        <p:nvSpPr>
          <p:cNvPr id="9" name="Provide application support and training; allow appeals">
            <a:extLst xmlns:a="http://schemas.openxmlformats.org/drawingml/2006/main">
              <a:ext uri="{FF2B5EF4-FFF2-40B4-BE49-F238E27FC236}">
                <a16:creationId xmlns:a16="http://schemas.microsoft.com/office/drawing/2014/main" id="{3597047B-DA38-4586-AFA2-2B365423112B}"/>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Provide application support and training; allow</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appeals. Track applicant-to-award outcomes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waiting times across institution groups with privacy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10" name="Trade-offs: reservations may reduce immediate utilizati">
            <a:extLst xmlns:a="http://schemas.openxmlformats.org/drawingml/2006/main">
              <a:ext uri="{FF2B5EF4-FFF2-40B4-BE49-F238E27FC236}">
                <a16:creationId xmlns:a16="http://schemas.microsoft.com/office/drawing/2014/main" id="{EAF9232A-AC8F-4D00-9D5E-9BAE19CF4C53}"/>
              </a:ext>
            </a:extLst>
          </p:cNvPr>
          <p:cNvSpPr>
            <a:spLocks xmlns:a="http://schemas.openxmlformats.org/drawingml/2006/main" noGrp="1"/>
          </p:cNvSpPr>
          <p:nvPr/>
        </p:nvSpPr>
        <p:spPr>
          <a:xfrm xmlns:a="http://schemas.openxmlformats.org/drawingml/2006/main">
            <a:off x="6419850" y="4292346"/>
            <a:ext cx="5124450" cy="1396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Trade-offs: reservations may reduce immediate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utilization; queueing can delay urgent work;</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unrestricted access can conflict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security/budgets. Prevent repeated deferral 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resource starvation.</a:t>
            </a:r>
          </a:p>
        </p:txBody>
      </p:sp>
      <p:sp>
        <p:nvSpPr>
          <p:cNvPr id="11" name="">
            <a:extLst xmlns:a="http://schemas.openxmlformats.org/drawingml/2006/main">
              <a:ext uri="{FF2B5EF4-FFF2-40B4-BE49-F238E27FC236}">
                <a16:creationId xmlns:a16="http://schemas.microsoft.com/office/drawing/2014/main" id="{D559A0FE-7A2A-4773-BCC1-9E30963E336C}"/>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DC50D72C-47BD-4915-A009-26A97CC67D8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7] NSF 2026: US programme reach; [8] Strubell">
            <a:extLst xmlns:a="http://schemas.openxmlformats.org/drawingml/2006/main">
              <a:ext uri="{FF2B5EF4-FFF2-40B4-BE49-F238E27FC236}">
                <a16:creationId xmlns:a16="http://schemas.microsoft.com/office/drawing/2014/main" id="{E6CAF63F-8D4D-45EA-B2B5-97280EFAA0A9}"/>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27 / 46">
            <a:extLst xmlns:a="http://schemas.openxmlformats.org/drawingml/2006/main">
              <a:ext uri="{FF2B5EF4-FFF2-40B4-BE49-F238E27FC236}">
                <a16:creationId xmlns:a16="http://schemas.microsoft.com/office/drawing/2014/main" id="{0BE8B5B6-E279-4A4C-84D3-603D2CAB3DD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27 / 46</a:t>
            </a:r>
          </a:p>
        </p:txBody>
      </p:sp>
    </p:spTree>
    <p:extLst>
      <p:ext uri="{BB962C8B-B14F-4D97-AF65-F5344CB8AC3E}">
        <p14:creationId xmlns:p14="http://schemas.microsoft.com/office/powerpoint/2010/main" val="380235252"/>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5092C37E-7A35-4936-B28D-00399F9C6756}"/>
              </a:ext>
            </a:extLst>
          </p:cNvPr>
          <p:cNvCxnSpPr>
            <a:stCxn xmlns:a="http://schemas.openxmlformats.org/drawingml/2006/main" id="4" idx="3"/>
            <a:endCxn xmlns:a="http://schemas.openxmlformats.org/drawingml/2006/main" id="5" idx="1"/>
          </p:cNvCxnSpPr>
          <p:nvPr/>
        </p:nvCxnSpPr>
        <p:spPr>
          <a:xfrm xmlns:a="http://schemas.openxmlformats.org/drawingml/2006/main">
            <a:off x="7581900" y="2266950"/>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5B30C2F5-32AE-4685-87BC-0F9347C3665B}"/>
              </a:ext>
            </a:extLst>
          </p:cNvPr>
          <p:cNvCxnSpPr>
            <a:stCxn xmlns:a="http://schemas.openxmlformats.org/drawingml/2006/main" id="3" idx="3"/>
            <a:endCxn xmlns:a="http://schemas.openxmlformats.org/drawingml/2006/main" id="4" idx="1"/>
          </p:cNvCxnSpPr>
          <p:nvPr/>
        </p:nvCxnSpPr>
        <p:spPr>
          <a:xfrm xmlns:a="http://schemas.openxmlformats.org/drawingml/2006/main">
            <a:off x="3581400" y="2266950"/>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7" name="Appendix • Task 2 • Task 2(d)">
            <a:extLst xmlns:a="http://schemas.openxmlformats.org/drawingml/2006/main">
              <a:ext uri="{FF2B5EF4-FFF2-40B4-BE49-F238E27FC236}">
                <a16:creationId xmlns:a16="http://schemas.microsoft.com/office/drawing/2014/main" id="{A90F2A14-E3F1-4566-BA5F-5DD3E3767E79}"/>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a:t>
            </a:r>
          </a:p>
        </p:txBody>
      </p:sp>
      <p:sp>
        <p:nvSpPr>
          <p:cNvPr id="2" name="An accountable HPC approval process">
            <a:extLst xmlns:a="http://schemas.openxmlformats.org/drawingml/2006/main">
              <a:ext uri="{FF2B5EF4-FFF2-40B4-BE49-F238E27FC236}">
                <a16:creationId xmlns:a16="http://schemas.microsoft.com/office/drawing/2014/main" id="{CC469B9F-0898-4EE5-8F8E-BC4E80C7834F}"/>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An accountable HPC approval process</a:t>
            </a:r>
          </a:p>
        </p:txBody>
      </p:sp>
      <p:sp>
        <p:nvSpPr>
          <p:cNvPr id="3" name="">
            <a:extLst xmlns:a="http://schemas.openxmlformats.org/drawingml/2006/main">
              <a:ext uri="{FF2B5EF4-FFF2-40B4-BE49-F238E27FC236}">
                <a16:creationId xmlns:a16="http://schemas.microsoft.com/office/drawing/2014/main" id="{ECC04982-71E1-435F-981B-589F41E5C6EF}"/>
              </a:ext>
            </a:extLst>
          </p:cNvPr>
          <p:cNvSpPr>
            <a:spLocks xmlns:a="http://schemas.openxmlformats.org/drawingml/2006/main" noGrp="1"/>
          </p:cNvSpPr>
          <p:nvPr/>
        </p:nvSpPr>
        <p:spPr>
          <a:xfrm xmlns:a="http://schemas.openxmlformats.org/drawingml/2006/main">
            <a:off x="609600" y="1752600"/>
            <a:ext cx="29718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Define outcome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 accountable owner</a:t>
            </a:r>
          </a:p>
        </p:txBody>
      </p:sp>
      <p:sp>
        <p:nvSpPr>
          <p:cNvPr id="4" name="">
            <a:extLst xmlns:a="http://schemas.openxmlformats.org/drawingml/2006/main">
              <a:ext uri="{FF2B5EF4-FFF2-40B4-BE49-F238E27FC236}">
                <a16:creationId xmlns:a16="http://schemas.microsoft.com/office/drawing/2014/main" id="{0270C0AF-1AD3-4111-A0F7-FEE1037BEA07}"/>
              </a:ext>
            </a:extLst>
          </p:cNvPr>
          <p:cNvSpPr>
            <a:spLocks xmlns:a="http://schemas.openxmlformats.org/drawingml/2006/main" noGrp="1"/>
          </p:cNvSpPr>
          <p:nvPr/>
        </p:nvSpPr>
        <p:spPr>
          <a:xfrm xmlns:a="http://schemas.openxmlformats.org/drawingml/2006/main">
            <a:off x="4610100" y="1752600"/>
            <a:ext cx="29718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Measure quality,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energy and harms</a:t>
            </a:r>
          </a:p>
        </p:txBody>
      </p:sp>
      <p:sp>
        <p:nvSpPr>
          <p:cNvPr id="5" name="">
            <a:extLst xmlns:a="http://schemas.openxmlformats.org/drawingml/2006/main">
              <a:ext uri="{FF2B5EF4-FFF2-40B4-BE49-F238E27FC236}">
                <a16:creationId xmlns:a16="http://schemas.microsoft.com/office/drawing/2014/main" id="{9FB530E4-D3AC-4F70-B9F0-BC68C0456237}"/>
              </a:ext>
            </a:extLst>
          </p:cNvPr>
          <p:cNvSpPr>
            <a:spLocks xmlns:a="http://schemas.openxmlformats.org/drawingml/2006/main" noGrp="1"/>
          </p:cNvSpPr>
          <p:nvPr/>
        </p:nvSpPr>
        <p:spPr>
          <a:xfrm xmlns:a="http://schemas.openxmlformats.org/drawingml/2006/main">
            <a:off x="8610600" y="1752600"/>
            <a:ext cx="29718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Approve / defer /</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reduce scale / redesign</a:t>
            </a:r>
          </a:p>
        </p:txBody>
      </p:sp>
      <p:sp>
        <p:nvSpPr>
          <p:cNvPr id="8" name="Green AI: efficiency evidence [10]  •  Carbon-aware sch">
            <a:extLst xmlns:a="http://schemas.openxmlformats.org/drawingml/2006/main">
              <a:ext uri="{FF2B5EF4-FFF2-40B4-BE49-F238E27FC236}">
                <a16:creationId xmlns:a16="http://schemas.microsoft.com/office/drawing/2014/main" id="{FADE5E30-56FE-4F1D-9249-41A9A86E7992}"/>
              </a:ext>
            </a:extLst>
          </p:cNvPr>
          <p:cNvSpPr>
            <a:spLocks xmlns:a="http://schemas.openxmlformats.org/drawingml/2006/main" noGrp="1"/>
          </p:cNvSpPr>
          <p:nvPr/>
        </p:nvSpPr>
        <p:spPr>
          <a:xfrm xmlns:a="http://schemas.openxmlformats.org/drawingml/2006/main">
            <a:off x="609600" y="3171825"/>
            <a:ext cx="10972800" cy="321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B83"/>
                </a:solidFill>
                <a:latin typeface="Arial"/>
                <a:ea typeface="Arial"/>
                <a:cs typeface="Arial"/>
              </a:defRPr>
            </a:defPPr>
          </a:lstStyle>
          <a:p xmlns:a="http://schemas.openxmlformats.org/drawingml/2006/main">
            <a:pPr algn="l">
              <a:defRPr sz="1800" b="1">
                <a:solidFill>
                  <a:srgbClr val="007B83"/>
                </a:solidFill>
                <a:latin typeface="Arial"/>
                <a:ea typeface="Arial"/>
                <a:cs typeface="Arial"/>
              </a:defRPr>
            </a:pPr>
            <a:r>
              <a:rPr sz="1800" b="1">
                <a:solidFill>
                  <a:srgbClr val="007B83"/>
                </a:solidFill>
                <a:latin typeface="Arial"/>
                <a:ea typeface="Arial"/>
                <a:cs typeface="Arial"/>
              </a:rPr>
              <a:t>Green AI: efficiency evidence [10] • Carbon-aware scheduling: flexible work [14]</a:t>
            </a:r>
          </a:p>
        </p:txBody>
      </p:sp>
      <p:sp>
        <p:nvSpPr>
          <p:cNvPr id="9" name="OECD: values and rights [15]  •  NIST: Govern, Map, Mea">
            <a:extLst xmlns:a="http://schemas.openxmlformats.org/drawingml/2006/main">
              <a:ext uri="{FF2B5EF4-FFF2-40B4-BE49-F238E27FC236}">
                <a16:creationId xmlns:a16="http://schemas.microsoft.com/office/drawing/2014/main" id="{6830CAC2-2B50-49C0-BBA3-C304A9CFC307}"/>
              </a:ext>
            </a:extLst>
          </p:cNvPr>
          <p:cNvSpPr>
            <a:spLocks xmlns:a="http://schemas.openxmlformats.org/drawingml/2006/main" noGrp="1"/>
          </p:cNvSpPr>
          <p:nvPr/>
        </p:nvSpPr>
        <p:spPr>
          <a:xfrm xmlns:a="http://schemas.openxmlformats.org/drawingml/2006/main">
            <a:off x="609600" y="3609975"/>
            <a:ext cx="10972800" cy="321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OECD: values and rights [15] • NIST: Govern, Map, Measure, Manage [16]</a:t>
            </a:r>
          </a:p>
        </p:txBody>
      </p:sp>
      <p:sp>
        <p:nvSpPr>
          <p:cNvPr id="10" name="Use an energy budget, security/group evaluation and tra">
            <a:extLst xmlns:a="http://schemas.openxmlformats.org/drawingml/2006/main">
              <a:ext uri="{FF2B5EF4-FFF2-40B4-BE49-F238E27FC236}">
                <a16:creationId xmlns:a16="http://schemas.microsoft.com/office/drawing/2014/main" id="{00B46626-502B-472C-8BC4-AF6951AFD595}"/>
              </a:ext>
            </a:extLst>
          </p:cNvPr>
          <p:cNvSpPr>
            <a:spLocks xmlns:a="http://schemas.openxmlformats.org/drawingml/2006/main" noGrp="1"/>
          </p:cNvSpPr>
          <p:nvPr/>
        </p:nvSpPr>
        <p:spPr>
          <a:xfrm xmlns:a="http://schemas.openxmlformats.org/drawingml/2006/main">
            <a:off x="609600" y="4086225"/>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Use an energy budget, security/group evaluation and transparent access rules. Record owner, rationale,</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exceptions and outcomes.</a:t>
            </a:r>
          </a:p>
        </p:txBody>
      </p:sp>
      <p:sp>
        <p:nvSpPr>
          <p:cNvPr id="11" name="Measurement informs action: shift flexible jobs to clea">
            <a:extLst xmlns:a="http://schemas.openxmlformats.org/drawingml/2006/main">
              <a:ext uri="{FF2B5EF4-FFF2-40B4-BE49-F238E27FC236}">
                <a16:creationId xmlns:a16="http://schemas.microsoft.com/office/drawing/2014/main" id="{48450D0A-381C-4BF2-8DCD-10FFA2489611}"/>
              </a:ext>
            </a:extLst>
          </p:cNvPr>
          <p:cNvSpPr>
            <a:spLocks xmlns:a="http://schemas.openxmlformats.org/drawingml/2006/main" noGrp="1"/>
          </p:cNvSpPr>
          <p:nvPr/>
        </p:nvSpPr>
        <p:spPr>
          <a:xfrm xmlns:a="http://schemas.openxmlformats.org/drawingml/2006/main">
            <a:off x="609600" y="4815078"/>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Measurement informs action: shift flexible jobs to cleaner periods within deadlines/capacity. Forecast</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uncertainty, water stress and urgent access can change the decision.</a:t>
            </a:r>
          </a:p>
        </p:txBody>
      </p:sp>
      <p:sp>
        <p:nvSpPr>
          <p:cNvPr id="12" name="">
            <a:extLst xmlns:a="http://schemas.openxmlformats.org/drawingml/2006/main">
              <a:ext uri="{FF2B5EF4-FFF2-40B4-BE49-F238E27FC236}">
                <a16:creationId xmlns:a16="http://schemas.microsoft.com/office/drawing/2014/main" id="{FF5C2DF8-8CF1-4FC1-A190-0F7D59D91078}"/>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3" name="Approve useful work with explicit budgets, safeguards a">
            <a:extLst xmlns:a="http://schemas.openxmlformats.org/drawingml/2006/main">
              <a:ext uri="{FF2B5EF4-FFF2-40B4-BE49-F238E27FC236}">
                <a16:creationId xmlns:a16="http://schemas.microsoft.com/office/drawing/2014/main" id="{442AD847-48A1-43D3-BC7B-A2CE8D37AF2D}"/>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Approve useful work with explicit budgets, safeguards and an accountable owner.</a:t>
            </a:r>
          </a:p>
        </p:txBody>
      </p:sp>
      <p:sp>
        <p:nvSpPr>
          <p:cNvPr id="14" name="">
            <a:extLst xmlns:a="http://schemas.openxmlformats.org/drawingml/2006/main">
              <a:ext uri="{FF2B5EF4-FFF2-40B4-BE49-F238E27FC236}">
                <a16:creationId xmlns:a16="http://schemas.microsoft.com/office/drawing/2014/main" id="{393BA7BF-F7B5-42AE-8250-1B4F33439493}"/>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5" name="Sources: [10] Schwartz et al. 2019: efficiency reportin">
            <a:extLst xmlns:a="http://schemas.openxmlformats.org/drawingml/2006/main">
              <a:ext uri="{FF2B5EF4-FFF2-40B4-BE49-F238E27FC236}">
                <a16:creationId xmlns:a16="http://schemas.microsoft.com/office/drawing/2014/main" id="{F77A31D6-4C6B-42FB-93EC-EF56A99A8542}"/>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28 / 46">
            <a:extLst xmlns:a="http://schemas.openxmlformats.org/drawingml/2006/main">
              <a:ext uri="{FF2B5EF4-FFF2-40B4-BE49-F238E27FC236}">
                <a16:creationId xmlns:a16="http://schemas.microsoft.com/office/drawing/2014/main" id="{299F6597-96EC-4033-B09E-9A91ADF5FBD0}"/>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28 / 46</a:t>
            </a:r>
          </a:p>
        </p:txBody>
      </p:sp>
    </p:spTree>
    <p:extLst>
      <p:ext uri="{BB962C8B-B14F-4D97-AF65-F5344CB8AC3E}">
        <p14:creationId xmlns:p14="http://schemas.microsoft.com/office/powerpoint/2010/main" val="58308714"/>
      </p:ext>
    </p:extLst>
  </p:cSld>
</p:sld>
</file>

<file path=ppt/slides/slide2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Task 2(d) • Framework actions and o">
            <a:extLst xmlns:a="http://schemas.openxmlformats.org/drawingml/2006/main">
              <a:ext uri="{FF2B5EF4-FFF2-40B4-BE49-F238E27FC236}">
                <a16:creationId xmlns:a16="http://schemas.microsoft.com/office/drawing/2014/main" id="{62A4225A-F098-4DB3-B370-3663524AF20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Framework actions and owners</a:t>
            </a:r>
          </a:p>
        </p:txBody>
      </p:sp>
      <p:sp>
        <p:nvSpPr>
          <p:cNvPr id="2" name="Framework roles and accountable decisions">
            <a:extLst xmlns:a="http://schemas.openxmlformats.org/drawingml/2006/main">
              <a:ext uri="{FF2B5EF4-FFF2-40B4-BE49-F238E27FC236}">
                <a16:creationId xmlns:a16="http://schemas.microsoft.com/office/drawing/2014/main" id="{31DCAEF8-28EF-4D10-B125-6E17AE21DFDD}"/>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Framework roles and accountable decisions</a:t>
            </a:r>
          </a:p>
        </p:txBody>
      </p:sp>
      <p:graphicFrame>
        <p:nvGraphicFramePr>
          <p:cNvPr id="3" name="">
            <a:extLst xmlns:a="http://schemas.openxmlformats.org/drawingml/2006/main">
              <a:ext uri="{FF2B5EF4-FFF2-40B4-BE49-F238E27FC236}">
                <a16:creationId xmlns:a16="http://schemas.microsoft.com/office/drawing/2014/main" id="{B3463672-5179-4E4A-829A-12ED156262E8}"/>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Function / evidence</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Concrete action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Decision / responsible role</a:t>
                      </a:r>
                    </a:p>
                  </a:txBody>
                  <a:tcPr marL="91440" marR="91440" marT="45720" marB="45720" anchor="ctr">
                    <a:solidFill>
                      <a:srgbClr val="142D45"/>
                    </a:solidFill>
                  </a:tcPr>
                </a:tc>
              </a:tr>
              <a:tr h="833438">
                <a:tc>
                  <a:txBody>
                    <a:bodyPr lIns="95250" tIns="95250" rIns="95250" bIns="95250">
                      <a:noAutofit/>
                    </a:bodyPr>
                    <a:lstStyle/>
                    <a:p>
                      <a:pPr algn="l"/>
                      <a:r>
                        <a:rPr sz="1500" b="0">
                          <a:solidFill>
                            <a:srgbClr val="142D45"/>
                          </a:solidFill>
                          <a:latin typeface="Arial"/>
                          <a:ea typeface="Arial"/>
                          <a:cs typeface="Arial"/>
                        </a:rPr>
                        <a:t>Govern / OECD values + NIST</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Assign ownership, data rules, access policy and escalation</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Accountable owner accepts obligations and review process.</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Map / NIST</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Define use, stakeholders, misuse risks, deadline and alternatives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Data/risk stewards establish the application-specific scope.</a:t>
                      </a:r>
                    </a:p>
                  </a:txBody>
                  <a:tcPr marL="91440" marR="91440" marT="45720" marB="45720" anchor="ctr">
                    <a:solidFill>
                      <a:srgbClr val="F0F4F4"/>
                    </a:solidFill>
                  </a:tcPr>
                </a:tc>
              </a:tr>
              <a:tr h="833438">
                <a:tc>
                  <a:txBody>
                    <a:bodyPr lIns="95250" tIns="95250" rIns="95250" bIns="95250">
                      <a:noAutofit/>
                    </a:bodyPr>
                    <a:lstStyle/>
                    <a:p>
                      <a:pPr algn="l"/>
                      <a:r>
                        <a:rPr sz="1500" b="0">
                          <a:solidFill>
                            <a:srgbClr val="142D45"/>
                          </a:solidFill>
                          <a:latin typeface="Arial"/>
                          <a:ea typeface="Arial"/>
                          <a:cs typeface="Arial"/>
                        </a:rPr>
                        <a:t>Measure / Green AI + NIST</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Track energy per useful outcome, model quality, group harms and scaling efficiency</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Operator/evaluator provides evidence and uncertainty.</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Manage / scheduling research + NIST</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Approve, defer, reduce scale or redesign; enforce safeguards and review outcomes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Owner authorizes exceptions or rejects unresolved risks.</a:t>
                      </a:r>
                    </a:p>
                  </a:txBody>
                  <a:tcPr marL="91440" marR="91440" marT="45720" marB="45720" anchor="ctr">
                    <a:solidFill>
                      <a:srgbClr val="F0F4F4"/>
                    </a:solidFill>
                  </a:tcPr>
                </a:tc>
              </a:tr>
            </a:tbl>
          </a:graphicData>
        </a:graphic>
      </p:graphicFrame>
      <p:sp>
        <p:nvSpPr>
          <p:cNvPr id="4" name="Our proposal combines measurement, scheduling and risk ">
            <a:extLst xmlns:a="http://schemas.openxmlformats.org/drawingml/2006/main">
              <a:ext uri="{FF2B5EF4-FFF2-40B4-BE49-F238E27FC236}">
                <a16:creationId xmlns:a16="http://schemas.microsoft.com/office/drawing/2014/main" id="{F2456272-2AB9-4C47-869A-CA9FABFE62D5}"/>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Our proposal combines measurement, scheduling and risk management. NIST Govern spans the other functions; risk</a:t>
            </a:r>
          </a:p>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management is iterative, not a certification.</a:t>
            </a:r>
          </a:p>
        </p:txBody>
      </p:sp>
      <p:sp>
        <p:nvSpPr>
          <p:cNvPr id="5" name="">
            <a:extLst xmlns:a="http://schemas.openxmlformats.org/drawingml/2006/main">
              <a:ext uri="{FF2B5EF4-FFF2-40B4-BE49-F238E27FC236}">
                <a16:creationId xmlns:a16="http://schemas.microsoft.com/office/drawing/2014/main" id="{41118CBA-C2FD-44BA-A330-8DE34938540A}"/>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10] Schwartz et al. 2019: efficiency reportin">
            <a:extLst xmlns:a="http://schemas.openxmlformats.org/drawingml/2006/main">
              <a:ext uri="{FF2B5EF4-FFF2-40B4-BE49-F238E27FC236}">
                <a16:creationId xmlns:a16="http://schemas.microsoft.com/office/drawing/2014/main" id="{1D992F3E-0F2E-4C32-958E-5F1DF240EF8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7" name="29 / 46">
            <a:extLst xmlns:a="http://schemas.openxmlformats.org/drawingml/2006/main">
              <a:ext uri="{FF2B5EF4-FFF2-40B4-BE49-F238E27FC236}">
                <a16:creationId xmlns:a16="http://schemas.microsoft.com/office/drawing/2014/main" id="{71F07190-0ACA-4CDF-AD3B-42826A3D58C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29 / 46</a:t>
            </a:r>
          </a:p>
        </p:txBody>
      </p:sp>
    </p:spTree>
    <p:extLst>
      <p:ext uri="{BB962C8B-B14F-4D97-AF65-F5344CB8AC3E}">
        <p14:creationId xmlns:p14="http://schemas.microsoft.com/office/powerpoint/2010/main" val="1885493962"/>
      </p:ext>
    </p:extLst>
  </p:cSld>
</p:sld>
</file>

<file path=ppt/slides/slide3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A95050A2-8368-4D80-96E5-4C8ADB0B0F9D}"/>
              </a:ext>
            </a:extLst>
          </p:cNvPr>
          <p:cNvCxnSpPr>
            <a:stCxn xmlns:a="http://schemas.openxmlformats.org/drawingml/2006/main" id="4" idx="3"/>
            <a:endCxn xmlns:a="http://schemas.openxmlformats.org/drawingml/2006/main" id="5" idx="1"/>
          </p:cNvCxnSpPr>
          <p:nvPr/>
        </p:nvCxnSpPr>
        <p:spPr>
          <a:xfrm xmlns:a="http://schemas.openxmlformats.org/drawingml/2006/main">
            <a:off x="7448550" y="2314575"/>
            <a:ext cx="14478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81FA886F-0893-4985-A3DC-EC8A06CFA5D1}"/>
              </a:ext>
            </a:extLst>
          </p:cNvPr>
          <p:cNvCxnSpPr>
            <a:stCxn xmlns:a="http://schemas.openxmlformats.org/drawingml/2006/main" id="3" idx="3"/>
            <a:endCxn xmlns:a="http://schemas.openxmlformats.org/drawingml/2006/main" id="4" idx="1"/>
          </p:cNvCxnSpPr>
          <p:nvPr/>
        </p:nvCxnSpPr>
        <p:spPr>
          <a:xfrm xmlns:a="http://schemas.openxmlformats.org/drawingml/2006/main">
            <a:off x="3181350" y="2314575"/>
            <a:ext cx="13335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6" name="Appendix • Task 2 • Task 2(d) • Carbon-aware scheduling">
            <a:extLst xmlns:a="http://schemas.openxmlformats.org/drawingml/2006/main">
              <a:ext uri="{FF2B5EF4-FFF2-40B4-BE49-F238E27FC236}">
                <a16:creationId xmlns:a16="http://schemas.microsoft.com/office/drawing/2014/main" id="{95BA9C81-AAC6-4107-939E-F1CFA94EC0E1}"/>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Carbon-aware scheduling</a:t>
            </a:r>
          </a:p>
        </p:txBody>
      </p:sp>
      <p:sp>
        <p:nvSpPr>
          <p:cNvPr id="2" name="Carbon-aware scheduling under constraints">
            <a:extLst xmlns:a="http://schemas.openxmlformats.org/drawingml/2006/main">
              <a:ext uri="{FF2B5EF4-FFF2-40B4-BE49-F238E27FC236}">
                <a16:creationId xmlns:a16="http://schemas.microsoft.com/office/drawing/2014/main" id="{74145335-ABD8-4B6F-910D-D58FE7E988C8}"/>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Carbon-aware scheduling under constraints</a:t>
            </a:r>
          </a:p>
        </p:txBody>
      </p:sp>
      <p:sp>
        <p:nvSpPr>
          <p:cNvPr id="3" name="">
            <a:extLst xmlns:a="http://schemas.openxmlformats.org/drawingml/2006/main">
              <a:ext uri="{FF2B5EF4-FFF2-40B4-BE49-F238E27FC236}">
                <a16:creationId xmlns:a16="http://schemas.microsoft.com/office/drawing/2014/main" id="{2FBFD39D-7B81-4A37-A55A-F17AA334EB60}"/>
              </a:ext>
            </a:extLst>
          </p:cNvPr>
          <p:cNvSpPr>
            <a:spLocks xmlns:a="http://schemas.openxmlformats.org/drawingml/2006/main" noGrp="1"/>
          </p:cNvSpPr>
          <p:nvPr/>
        </p:nvSpPr>
        <p:spPr>
          <a:xfrm xmlns:a="http://schemas.openxmlformats.org/drawingml/2006/main">
            <a:off x="609600" y="1838325"/>
            <a:ext cx="2571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Flexible job</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ready</a:t>
            </a:r>
          </a:p>
        </p:txBody>
      </p:sp>
      <p:sp>
        <p:nvSpPr>
          <p:cNvPr id="4" name="">
            <a:extLst xmlns:a="http://schemas.openxmlformats.org/drawingml/2006/main">
              <a:ext uri="{FF2B5EF4-FFF2-40B4-BE49-F238E27FC236}">
                <a16:creationId xmlns:a16="http://schemas.microsoft.com/office/drawing/2014/main" id="{04C6AB03-0029-49BF-9FD2-6B48F11565D7}"/>
              </a:ext>
            </a:extLst>
          </p:cNvPr>
          <p:cNvSpPr>
            <a:spLocks xmlns:a="http://schemas.openxmlformats.org/drawingml/2006/main" noGrp="1"/>
          </p:cNvSpPr>
          <p:nvPr/>
        </p:nvSpPr>
        <p:spPr>
          <a:xfrm xmlns:a="http://schemas.openxmlformats.org/drawingml/2006/main">
            <a:off x="4514850" y="1838325"/>
            <a:ext cx="29337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Lower-carbon</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forecast window</a:t>
            </a:r>
          </a:p>
        </p:txBody>
      </p:sp>
      <p:sp>
        <p:nvSpPr>
          <p:cNvPr id="5" name="">
            <a:extLst xmlns:a="http://schemas.openxmlformats.org/drawingml/2006/main">
              <a:ext uri="{FF2B5EF4-FFF2-40B4-BE49-F238E27FC236}">
                <a16:creationId xmlns:a16="http://schemas.microsoft.com/office/drawing/2014/main" id="{080C57E4-2A97-4C8E-BBB0-0985F703E442}"/>
              </a:ext>
            </a:extLst>
          </p:cNvPr>
          <p:cNvSpPr>
            <a:spLocks xmlns:a="http://schemas.openxmlformats.org/drawingml/2006/main" noGrp="1"/>
          </p:cNvSpPr>
          <p:nvPr/>
        </p:nvSpPr>
        <p:spPr>
          <a:xfrm xmlns:a="http://schemas.openxmlformats.org/drawingml/2006/main">
            <a:off x="8896350" y="1838325"/>
            <a:ext cx="26860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Complete before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deadline</a:t>
            </a:r>
          </a:p>
        </p:txBody>
      </p:sp>
      <p:sp>
        <p:nvSpPr>
          <p:cNvPr id="8" name="Research [14] demonstrates shifting temporally flexible">
            <a:extLst xmlns:a="http://schemas.openxmlformats.org/drawingml/2006/main">
              <a:ext uri="{FF2B5EF4-FFF2-40B4-BE49-F238E27FC236}">
                <a16:creationId xmlns:a16="http://schemas.microsoft.com/office/drawing/2014/main" id="{A67EF257-43C9-49A2-AE4E-4C69DB16FA4D}"/>
              </a:ext>
            </a:extLst>
          </p:cNvPr>
          <p:cNvSpPr>
            <a:spLocks xmlns:a="http://schemas.openxmlformats.org/drawingml/2006/main" noGrp="1"/>
          </p:cNvSpPr>
          <p:nvPr/>
        </p:nvSpPr>
        <p:spPr>
          <a:xfrm xmlns:a="http://schemas.openxmlformats.org/drawingml/2006/main">
            <a:off x="609600" y="33909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Research [14] demonstrates shifting temporally flexible workloads using forecasts while preserving daily</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capacity. It does not show every urgent GPU job can wait.</a:t>
            </a:r>
          </a:p>
        </p:txBody>
      </p:sp>
      <p:sp>
        <p:nvSpPr>
          <p:cNvPr id="9" name="Proposed rule: defer only if deadline, energy budget, w">
            <a:extLst xmlns:a="http://schemas.openxmlformats.org/drawingml/2006/main">
              <a:ext uri="{FF2B5EF4-FFF2-40B4-BE49-F238E27FC236}">
                <a16:creationId xmlns:a16="http://schemas.microsoft.com/office/drawing/2014/main" id="{18084F52-B35B-4A2C-A128-F2A483208F4F}"/>
              </a:ext>
            </a:extLst>
          </p:cNvPr>
          <p:cNvSpPr>
            <a:spLocks xmlns:a="http://schemas.openxmlformats.org/drawingml/2006/main" noGrp="1"/>
          </p:cNvSpPr>
          <p:nvPr/>
        </p:nvSpPr>
        <p:spPr>
          <a:xfrm xmlns:a="http://schemas.openxmlformats.org/drawingml/2006/main">
            <a:off x="609600" y="4200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Proposed rule: defer only if deadline, energy budget, water/site limits and equitable waiting-time</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commitments remain satisfied; record exceptions.</a:t>
            </a:r>
          </a:p>
        </p:txBody>
      </p:sp>
      <p:sp>
        <p:nvSpPr>
          <p:cNvPr id="10" name="No feasible window: reduce scale, redesign or approve a">
            <a:extLst xmlns:a="http://schemas.openxmlformats.org/drawingml/2006/main">
              <a:ext uri="{FF2B5EF4-FFF2-40B4-BE49-F238E27FC236}">
                <a16:creationId xmlns:a16="http://schemas.microsoft.com/office/drawing/2014/main" id="{5AD3AEDA-31BD-4DB4-9532-11F526B8E996}"/>
              </a:ext>
            </a:extLst>
          </p:cNvPr>
          <p:cNvSpPr>
            <a:spLocks xmlns:a="http://schemas.openxmlformats.org/drawingml/2006/main" noGrp="1"/>
          </p:cNvSpPr>
          <p:nvPr/>
        </p:nvSpPr>
        <p:spPr>
          <a:xfrm xmlns:a="http://schemas.openxmlformats.org/drawingml/2006/main">
            <a:off x="609600" y="50101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No feasible window: reduce scale, redesign or approve a justified urgent exception. Prevent indefinite</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deferral. Data residency and transfer costs constrain moving work between sites.</a:t>
            </a:r>
          </a:p>
        </p:txBody>
      </p:sp>
      <p:sp>
        <p:nvSpPr>
          <p:cNvPr id="11" name="">
            <a:extLst xmlns:a="http://schemas.openxmlformats.org/drawingml/2006/main">
              <a:ext uri="{FF2B5EF4-FFF2-40B4-BE49-F238E27FC236}">
                <a16:creationId xmlns:a16="http://schemas.microsoft.com/office/drawing/2014/main" id="{F9D30F1F-2DD5-48C6-A250-B158CE7A32D9}"/>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2" name="Flexible jobs may move; urgent jobs, water constraints ">
            <a:extLst xmlns:a="http://schemas.openxmlformats.org/drawingml/2006/main">
              <a:ext uri="{FF2B5EF4-FFF2-40B4-BE49-F238E27FC236}">
                <a16:creationId xmlns:a16="http://schemas.microsoft.com/office/drawing/2014/main" id="{1848F616-E26E-4589-B3A6-A867ED412164}"/>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Flexible jobs may move; urgent jobs, water constraints and access commitments can override deferral.</a:t>
            </a:r>
          </a:p>
        </p:txBody>
      </p:sp>
      <p:sp>
        <p:nvSpPr>
          <p:cNvPr id="13" name="">
            <a:extLst xmlns:a="http://schemas.openxmlformats.org/drawingml/2006/main">
              <a:ext uri="{FF2B5EF4-FFF2-40B4-BE49-F238E27FC236}">
                <a16:creationId xmlns:a16="http://schemas.microsoft.com/office/drawing/2014/main" id="{FCAD32D1-0E8B-4B01-985F-56F0F2968967}"/>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4" name="Sources: [9] Li et al. 2025 revision: water impacts; [1">
            <a:extLst xmlns:a="http://schemas.openxmlformats.org/drawingml/2006/main">
              <a:ext uri="{FF2B5EF4-FFF2-40B4-BE49-F238E27FC236}">
                <a16:creationId xmlns:a16="http://schemas.microsoft.com/office/drawing/2014/main" id="{57AF12BE-DC5E-4C12-9368-6FFCCFB5772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[9] Li et al. 2025 revision: water impacts; [14] Radovanovic et al. 2021: flexible scheduling; [16] NIST: Govern, Map, Measure, Manage</a:t>
            </a:r>
          </a:p>
        </p:txBody>
      </p:sp>
      <p:sp>
        <p:nvSpPr>
          <p:cNvPr id="15" name="30 / 46">
            <a:extLst xmlns:a="http://schemas.openxmlformats.org/drawingml/2006/main">
              <a:ext uri="{FF2B5EF4-FFF2-40B4-BE49-F238E27FC236}">
                <a16:creationId xmlns:a16="http://schemas.microsoft.com/office/drawing/2014/main" id="{DAC51F21-7DA8-4715-97AD-BC82EFE31DC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30 / 46</a:t>
            </a:r>
          </a:p>
        </p:txBody>
      </p:sp>
    </p:spTree>
    <p:extLst>
      <p:ext uri="{BB962C8B-B14F-4D97-AF65-F5344CB8AC3E}">
        <p14:creationId xmlns:p14="http://schemas.microsoft.com/office/powerpoint/2010/main" val="1510388049"/>
      </p:ext>
    </p:extLst>
  </p:cSld>
</p:sld>
</file>

<file path=ppt/slides/slide3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Supporting material • Tasks 1 and 2 • Conclu">
            <a:extLst xmlns:a="http://schemas.openxmlformats.org/drawingml/2006/main">
              <a:ext uri="{FF2B5EF4-FFF2-40B4-BE49-F238E27FC236}">
                <a16:creationId xmlns:a16="http://schemas.microsoft.com/office/drawing/2014/main" id="{5AA224F4-338E-448F-AEF6-E5051491459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Tasks 1 and 2 • Conclusions and limitations</a:t>
            </a:r>
          </a:p>
        </p:txBody>
      </p:sp>
      <p:sp>
        <p:nvSpPr>
          <p:cNvPr id="2" name="Conclusions and next measurements">
            <a:extLst xmlns:a="http://schemas.openxmlformats.org/drawingml/2006/main">
              <a:ext uri="{FF2B5EF4-FFF2-40B4-BE49-F238E27FC236}">
                <a16:creationId xmlns:a16="http://schemas.microsoft.com/office/drawing/2014/main" id="{8385FE28-AC58-402D-BB17-2F9E2051345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Conclusions and next measurements</a:t>
            </a:r>
          </a:p>
        </p:txBody>
      </p:sp>
      <p:sp>
        <p:nvSpPr>
          <p:cNvPr id="3" name="GPU rotation">
            <a:extLst xmlns:a="http://schemas.openxmlformats.org/drawingml/2006/main">
              <a:ext uri="{FF2B5EF4-FFF2-40B4-BE49-F238E27FC236}">
                <a16:creationId xmlns:a16="http://schemas.microsoft.com/office/drawing/2014/main" id="{7AB02CF6-4C11-4646-974A-F82EBB9083C2}"/>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GPU rotation</a:t>
            </a:r>
          </a:p>
        </p:txBody>
      </p:sp>
      <p:sp>
        <p:nvSpPr>
          <p:cNvPr id="4" name="Inverse gathering exposes independent pixel work. SM sc">
            <a:extLst xmlns:a="http://schemas.openxmlformats.org/drawingml/2006/main">
              <a:ext uri="{FF2B5EF4-FFF2-40B4-BE49-F238E27FC236}">
                <a16:creationId xmlns:a16="http://schemas.microsoft.com/office/drawing/2014/main" id="{D51EE109-9703-41D8-A3A4-FAEEE1B4A774}"/>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Inverse gathering exposes independent pixel work.</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SM scheduling, memory locality and transfer costs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determine achieved performance.</a:t>
            </a:r>
          </a:p>
        </p:txBody>
      </p:sp>
      <p:sp>
        <p:nvSpPr>
          <p:cNvPr id="5" name="Choose a CPU baseline and compare completed equivalent ">
            <a:extLst xmlns:a="http://schemas.openxmlformats.org/drawingml/2006/main">
              <a:ext uri="{FF2B5EF4-FFF2-40B4-BE49-F238E27FC236}">
                <a16:creationId xmlns:a16="http://schemas.microsoft.com/office/drawing/2014/main" id="{D3C48822-31C7-41CB-B95A-B6F46E2E512F}"/>
              </a:ext>
            </a:extLst>
          </p:cNvPr>
          <p:cNvSpPr>
            <a:spLocks xmlns:a="http://schemas.openxmlformats.org/drawingml/2006/main" noGrp="1"/>
          </p:cNvSpPr>
          <p:nvPr/>
        </p:nvSpPr>
        <p:spPr>
          <a:xfrm xmlns:a="http://schemas.openxmlformats.org/drawingml/2006/main">
            <a:off x="60960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Choose a CPU baseline and compare completed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equivalent pipelines. GDS is conditional on storage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bottlenecks, a compatible data path and verified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support.</a:t>
            </a:r>
          </a:p>
        </p:txBody>
      </p:sp>
      <p:sp>
        <p:nvSpPr>
          <p:cNvPr id="6" name="Next: compile the teaching examples, check output again">
            <a:extLst xmlns:a="http://schemas.openxmlformats.org/drawingml/2006/main">
              <a:ext uri="{FF2B5EF4-FFF2-40B4-BE49-F238E27FC236}">
                <a16:creationId xmlns:a16="http://schemas.microsoft.com/office/drawing/2014/main" id="{140ECD95-BEAF-4679-8832-50324DA4EE59}"/>
              </a:ext>
            </a:extLst>
          </p:cNvPr>
          <p:cNvSpPr>
            <a:spLocks xmlns:a="http://schemas.openxmlformats.org/drawingml/2006/main" noGrp="1"/>
          </p:cNvSpPr>
          <p:nvPr/>
        </p:nvSpPr>
        <p:spPr>
          <a:xfrm xmlns:a="http://schemas.openxmlformats.org/drawingml/2006/main">
            <a:off x="609600" y="4292346"/>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compile the teaching examples, check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against a CPU reference and profile representative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image sizes/angles/batches. No result is assumed.</a:t>
            </a:r>
          </a:p>
        </p:txBody>
      </p:sp>
      <p:sp>
        <p:nvSpPr>
          <p:cNvPr id="7" name="Responsible scaling">
            <a:extLst xmlns:a="http://schemas.openxmlformats.org/drawingml/2006/main">
              <a:ext uri="{FF2B5EF4-FFF2-40B4-BE49-F238E27FC236}">
                <a16:creationId xmlns:a16="http://schemas.microsoft.com/office/drawing/2014/main" id="{7A8B305E-2380-43C8-AC79-E758AD8667F8}"/>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Responsible scaling</a:t>
            </a:r>
          </a:p>
        </p:txBody>
      </p:sp>
      <p:sp>
        <p:nvSpPr>
          <p:cNvPr id="8" name="More compute can enable valuable research while concent">
            <a:extLst xmlns:a="http://schemas.openxmlformats.org/drawingml/2006/main">
              <a:ext uri="{FF2B5EF4-FFF2-40B4-BE49-F238E27FC236}">
                <a16:creationId xmlns:a16="http://schemas.microsoft.com/office/drawing/2014/main" id="{44FD1CE8-E08C-430D-B829-14EE7D5E467E}"/>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More compute can enable valuable research while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concentrating access and increasing resource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demand. Approve scale for useful outcomes,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9" name="Combine job-level energy/resource evidence, separate se">
            <a:extLst xmlns:a="http://schemas.openxmlformats.org/drawingml/2006/main">
              <a:ext uri="{FF2B5EF4-FFF2-40B4-BE49-F238E27FC236}">
                <a16:creationId xmlns:a16="http://schemas.microsoft.com/office/drawing/2014/main" id="{245CCA49-28E8-4B51-AC03-93F36B743FF0}"/>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Combine job-level energy/resource evidence,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 security/fairness evaluation, transparent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allocations and deadline-aware scheduling.</a:t>
            </a:r>
          </a:p>
        </p:txBody>
      </p:sp>
      <p:sp>
        <p:nvSpPr>
          <p:cNvPr id="10" name="Next: measure a real cluster job’s energy, quality, sca">
            <a:extLst xmlns:a="http://schemas.openxmlformats.org/drawingml/2006/main">
              <a:ext uri="{FF2B5EF4-FFF2-40B4-BE49-F238E27FC236}">
                <a16:creationId xmlns:a16="http://schemas.microsoft.com/office/drawing/2014/main" id="{F5554082-1433-4D82-AB8D-DD0B03A3DDF7}"/>
              </a:ext>
            </a:extLst>
          </p:cNvPr>
          <p:cNvSpPr>
            <a:spLocks xmlns:a="http://schemas.openxmlformats.org/drawingml/2006/main" noGrp="1"/>
          </p:cNvSpPr>
          <p:nvPr/>
        </p:nvSpPr>
        <p:spPr>
          <a:xfrm xmlns:a="http://schemas.openxmlformats.org/drawingml/2006/main">
            <a:off x="6419850" y="4292346"/>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measure a real cluster job’s energy, quality,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scaling efficiency and allocation outcomes; revise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policy when evidence or conditions change.</a:t>
            </a:r>
          </a:p>
        </p:txBody>
      </p:sp>
      <p:sp>
        <p:nvSpPr>
          <p:cNvPr id="11" name="">
            <a:extLst xmlns:a="http://schemas.openxmlformats.org/drawingml/2006/main">
              <a:ext uri="{FF2B5EF4-FFF2-40B4-BE49-F238E27FC236}">
                <a16:creationId xmlns:a16="http://schemas.microsoft.com/office/drawing/2014/main" id="{0712BACD-D15D-4237-9E46-EFF57C2E1DDC}"/>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C76DC275-3FF7-41C5-8F8B-3DC762FA5E8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3] NVIDIA GDS">
            <a:extLst xmlns:a="http://schemas.openxmlformats.org/drawingml/2006/main">
              <a:ext uri="{FF2B5EF4-FFF2-40B4-BE49-F238E27FC236}">
                <a16:creationId xmlns:a16="http://schemas.microsoft.com/office/drawing/2014/main" id="{6968FAF2-709E-4E5C-90F9-5349462A797E}"/>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[14] Radovanovic et al. 2021: flexible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scheduling; [16] NIST: Govern, Map, Measure, Manage</a:t>
            </a:r>
          </a:p>
        </p:txBody>
      </p:sp>
      <p:sp>
        <p:nvSpPr>
          <p:cNvPr id="14" name="31 / 46">
            <a:extLst xmlns:a="http://schemas.openxmlformats.org/drawingml/2006/main">
              <a:ext uri="{FF2B5EF4-FFF2-40B4-BE49-F238E27FC236}">
                <a16:creationId xmlns:a16="http://schemas.microsoft.com/office/drawing/2014/main" id="{925A49EC-F4CB-4375-BECC-B8B71D433A5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31 / 46</a:t>
            </a:r>
          </a:p>
        </p:txBody>
      </p:sp>
    </p:spTree>
    <p:extLst>
      <p:ext uri="{BB962C8B-B14F-4D97-AF65-F5344CB8AC3E}">
        <p14:creationId xmlns:p14="http://schemas.microsoft.com/office/powerpoint/2010/main" val="981526561"/>
      </p:ext>
    </p:extLst>
  </p:cSld>
</p:sld>
</file>

<file path=ppt/slides/slide3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Supporting material • Appendix • Reading gui">
            <a:extLst xmlns:a="http://schemas.openxmlformats.org/drawingml/2006/main">
              <a:ext uri="{FF2B5EF4-FFF2-40B4-BE49-F238E27FC236}">
                <a16:creationId xmlns:a16="http://schemas.microsoft.com/office/drawing/2014/main" id="{B7114EE5-583D-4F6E-86EC-B0592C7AA41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Appendix • Reading guide</a:t>
            </a:r>
          </a:p>
        </p:txBody>
      </p:sp>
      <p:sp>
        <p:nvSpPr>
          <p:cNvPr id="2" name="Optional supporting material">
            <a:extLst xmlns:a="http://schemas.openxmlformats.org/drawingml/2006/main">
              <a:ext uri="{FF2B5EF4-FFF2-40B4-BE49-F238E27FC236}">
                <a16:creationId xmlns:a16="http://schemas.microsoft.com/office/drawing/2014/main" id="{98DD198F-C2BD-4FD8-9B7C-A4617B900CD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Optional supporting material</a:t>
            </a:r>
          </a:p>
        </p:txBody>
      </p:sp>
      <p:sp>
        <p:nvSpPr>
          <p:cNvPr id="3" name="Task 1: implementation expansions">
            <a:extLst xmlns:a="http://schemas.openxmlformats.org/drawingml/2006/main">
              <a:ext uri="{FF2B5EF4-FFF2-40B4-BE49-F238E27FC236}">
                <a16:creationId xmlns:a16="http://schemas.microsoft.com/office/drawing/2014/main" id="{067A9BA4-1B23-4632-B62A-FA051D8DFB4A}"/>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expansions</a:t>
            </a:r>
          </a:p>
        </p:txBody>
      </p:sp>
      <p:sp>
        <p:nvSpPr>
          <p:cNvPr id="4" name="The Task 1 answers already contain the rotation formula">
            <a:extLst xmlns:a="http://schemas.openxmlformats.org/drawingml/2006/main">
              <a:ext uri="{FF2B5EF4-FFF2-40B4-BE49-F238E27FC236}">
                <a16:creationId xmlns:a16="http://schemas.microsoft.com/office/drawing/2014/main" id="{844F363D-9E06-43DA-BA41-51314259F548}"/>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Task 1 answers already contain the rotation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formula, worked calculation, kernel, host launch,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launch-shape comparison and stream/overlap</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example.</a:t>
            </a:r>
          </a:p>
        </p:txBody>
      </p:sp>
      <p:sp>
        <p:nvSpPr>
          <p:cNvPr id="5" name="The following slides expand coordinate conventions and ">
            <a:extLst xmlns:a="http://schemas.openxmlformats.org/drawingml/2006/main">
              <a:ext uri="{FF2B5EF4-FFF2-40B4-BE49-F238E27FC236}">
                <a16:creationId xmlns:a16="http://schemas.microsoft.com/office/drawing/2014/main" id="{650A153E-717E-448B-A5B8-C3671E441630}"/>
              </a:ext>
            </a:extLst>
          </p:cNvPr>
          <p:cNvSpPr>
            <a:spLocks xmlns:a="http://schemas.openxmlformats.org/drawingml/2006/main" noGrp="1"/>
          </p:cNvSpPr>
          <p:nvPr/>
        </p:nvSpPr>
        <p:spPr>
          <a:xfrm xmlns:a="http://schemas.openxmlformats.org/drawingml/2006/main">
            <a:off x="60960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following slides expand coordinate conventions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complete source examples, then give 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optional profiling plan and GDS background.</a:t>
            </a:r>
          </a:p>
        </p:txBody>
      </p:sp>
      <p:sp>
        <p:nvSpPr>
          <p:cNvPr id="6" name="Task 2: supplementary comparisons">
            <a:extLst xmlns:a="http://schemas.openxmlformats.org/drawingml/2006/main">
              <a:ext uri="{FF2B5EF4-FFF2-40B4-BE49-F238E27FC236}">
                <a16:creationId xmlns:a16="http://schemas.microsoft.com/office/drawing/2014/main" id="{10886C40-136B-400C-AD40-9D35BD57CEB2}"/>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supplementary comparisons</a:t>
            </a:r>
          </a:p>
        </p:txBody>
      </p:sp>
      <p:sp>
        <p:nvSpPr>
          <p:cNvPr id="7" name="The Task 2 answers already contain energy/carbon calcul">
            <a:extLst xmlns:a="http://schemas.openxmlformats.org/drawingml/2006/main">
              <a:ext uri="{FF2B5EF4-FFF2-40B4-BE49-F238E27FC236}">
                <a16:creationId xmlns:a16="http://schemas.microsoft.com/office/drawing/2014/main" id="{35E62DF7-686B-4B00-983C-BE44B294C03C}"/>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Task 2 answers already contain energy/carbon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calculations, research comparisons, governance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fairness decisions, access policy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accountable scheduling.</a:t>
            </a:r>
          </a:p>
        </p:txBody>
      </p:sp>
      <p:sp>
        <p:nvSpPr>
          <p:cNvPr id="8" name="Additional parallelism and cross-topic comparison table">
            <a:extLst xmlns:a="http://schemas.openxmlformats.org/drawingml/2006/main">
              <a:ext uri="{FF2B5EF4-FFF2-40B4-BE49-F238E27FC236}">
                <a16:creationId xmlns:a16="http://schemas.microsoft.com/office/drawing/2014/main" id="{70230785-23F0-4F57-822A-266E28465575}"/>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Additional parallelism and cross-topic comparison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tables follow. Website references and one brief</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AI-use declaration complete the deck.</a:t>
            </a:r>
          </a:p>
        </p:txBody>
      </p:sp>
      <p:sp>
        <p:nvSpPr>
          <p:cNvPr id="9" name="">
            <a:extLst xmlns:a="http://schemas.openxmlformats.org/drawingml/2006/main">
              <a:ext uri="{FF2B5EF4-FFF2-40B4-BE49-F238E27FC236}">
                <a16:creationId xmlns:a16="http://schemas.microsoft.com/office/drawing/2014/main" id="{A0FBDAFD-FBF8-433B-BF0A-9695B0F22F3A}"/>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CE3837EF-E704-4ABB-91B5-9B9EDFFDBDF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B3342A51-03DD-4501-B798-B3357B8DB57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32 / 46">
            <a:extLst xmlns:a="http://schemas.openxmlformats.org/drawingml/2006/main">
              <a:ext uri="{FF2B5EF4-FFF2-40B4-BE49-F238E27FC236}">
                <a16:creationId xmlns:a16="http://schemas.microsoft.com/office/drawing/2014/main" id="{3935E86D-0A26-46EB-ABBD-39382BBDD480}"/>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32 / 46</a:t>
            </a:r>
          </a:p>
        </p:txBody>
      </p:sp>
    </p:spTree>
    <p:extLst>
      <p:ext uri="{BB962C8B-B14F-4D97-AF65-F5344CB8AC3E}">
        <p14:creationId xmlns:p14="http://schemas.microsoft.com/office/powerpoint/2010/main" val="1311713116"/>
      </p:ext>
    </p:extLst>
  </p:cSld>
</p:sld>
</file>

<file path=ppt/slides/slide3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1 • Appendix A1">
            <a:extLst xmlns:a="http://schemas.openxmlformats.org/drawingml/2006/main">
              <a:ext uri="{FF2B5EF4-FFF2-40B4-BE49-F238E27FC236}">
                <a16:creationId xmlns:a16="http://schemas.microsoft.com/office/drawing/2014/main" id="{B3D5846C-40DE-478E-8F61-E828733468A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A1</a:t>
            </a:r>
          </a:p>
        </p:txBody>
      </p:sp>
      <p:sp>
        <p:nvSpPr>
          <p:cNvPr id="2" name="Rotation coordinates and sampling">
            <a:extLst xmlns:a="http://schemas.openxmlformats.org/drawingml/2006/main">
              <a:ext uri="{FF2B5EF4-FFF2-40B4-BE49-F238E27FC236}">
                <a16:creationId xmlns:a16="http://schemas.microsoft.com/office/drawing/2014/main" id="{5A70B0A4-9DCC-446A-9238-10AF2FAB6DC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Rotation coordinates and sampling</a:t>
            </a:r>
          </a:p>
        </p:txBody>
      </p:sp>
      <p:sp>
        <p:nvSpPr>
          <p:cNvPr id="3" name="Coordinate convention">
            <a:extLst xmlns:a="http://schemas.openxmlformats.org/drawingml/2006/main">
              <a:ext uri="{FF2B5EF4-FFF2-40B4-BE49-F238E27FC236}">
                <a16:creationId xmlns:a16="http://schemas.microsoft.com/office/drawing/2014/main" id="{1EC8287A-1F21-41F1-9AB3-4C4A220A97BD}"/>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Coordinate convention</a:t>
            </a:r>
          </a:p>
        </p:txBody>
      </p:sp>
      <p:sp>
        <p:nvSpPr>
          <p:cNvPr id="4" name="Input/output: contiguous 8-bit RGB; positive width W an">
            <a:extLst xmlns:a="http://schemas.openxmlformats.org/drawingml/2006/main">
              <a:ext uri="{FF2B5EF4-FFF2-40B4-BE49-F238E27FC236}">
                <a16:creationId xmlns:a16="http://schemas.microsoft.com/office/drawing/2014/main" id="{C70AFCED-217F-49C1-848D-C0A7BE3A927A}"/>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Input/output: contiguous 8-bit RGB; positive width W</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height H; x points right and y points down. Input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output buffers are distinct.</a:t>
            </a:r>
          </a:p>
        </p:txBody>
      </p:sp>
      <p:sp>
        <p:nvSpPr>
          <p:cNvPr id="5" name="Rotate around cx = (W − 1)/2 and cy = (H − 1)/2. Positi">
            <a:extLst xmlns:a="http://schemas.openxmlformats.org/drawingml/2006/main">
              <a:ext uri="{FF2B5EF4-FFF2-40B4-BE49-F238E27FC236}">
                <a16:creationId xmlns:a16="http://schemas.microsoft.com/office/drawing/2014/main" id="{4D94C0BD-A742-44B1-BBFD-36D9EA8F9205}"/>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Rotate around cx = (W − 1)/2 and cy = (H − 1)/2.</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Positive θ is visually counterclockwise; the host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supplies c = cos θ and s = sin θ in radians.</a:t>
            </a:r>
          </a:p>
        </p:txBody>
      </p:sp>
      <p:sp>
        <p:nvSpPr>
          <p:cNvPr id="6" name="Forward image-coordinate rotation uses [c s; −s c]. Inv">
            <a:extLst xmlns:a="http://schemas.openxmlformats.org/drawingml/2006/main">
              <a:ext uri="{FF2B5EF4-FFF2-40B4-BE49-F238E27FC236}">
                <a16:creationId xmlns:a16="http://schemas.microsoft.com/office/drawing/2014/main" id="{4D623DB8-5B3C-4D86-8A1B-572AB27A22E8}"/>
              </a:ext>
            </a:extLst>
          </p:cNvPr>
          <p:cNvSpPr>
            <a:spLocks xmlns:a="http://schemas.openxmlformats.org/drawingml/2006/main" noGrp="1"/>
          </p:cNvSpPr>
          <p:nvPr/>
        </p:nvSpPr>
        <p:spPr>
          <a:xfrm xmlns:a="http://schemas.openxmlformats.org/drawingml/2006/main">
            <a:off x="609600" y="4020693"/>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Forward image-coordinate rotation uses [c s; −s c].</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Inverting it gives source offsets [c −s; s c] ×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offsets, then restores the center.</a:t>
            </a:r>
          </a:p>
        </p:txBody>
      </p:sp>
      <p:sp>
        <p:nvSpPr>
          <p:cNvPr id="7" name="Deliberate design choices">
            <a:extLst xmlns:a="http://schemas.openxmlformats.org/drawingml/2006/main">
              <a:ext uri="{FF2B5EF4-FFF2-40B4-BE49-F238E27FC236}">
                <a16:creationId xmlns:a16="http://schemas.microsoft.com/office/drawing/2014/main" id="{6F9280F8-286F-4D5B-83EA-F0E1E352E654}"/>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Deliberate design choices</a:t>
            </a:r>
          </a:p>
        </p:txBody>
      </p:sp>
      <p:sp>
        <p:nvSpPr>
          <p:cNvPr id="8" name="Nearest-neighbour indices: ix = floor(sx + 0.5), iy = f">
            <a:extLst xmlns:a="http://schemas.openxmlformats.org/drawingml/2006/main">
              <a:ext uri="{FF2B5EF4-FFF2-40B4-BE49-F238E27FC236}">
                <a16:creationId xmlns:a16="http://schemas.microsoft.com/office/drawing/2014/main" id="{2FA0D4D2-B817-449C-84DD-FFA7090982BA}"/>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indices: ix = floor(sx + 0.5), iy =</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floor(sy + 0.5). Copy three channels if the rounded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indices are in bounds; otherwise write black.</a:t>
            </a:r>
          </a:p>
        </p:txBody>
      </p:sp>
      <p:sp>
        <p:nvSpPr>
          <p:cNvPr id="9" name="The fixed W × H canvas can crop rotated corners. Neares">
            <a:extLst xmlns:a="http://schemas.openxmlformats.org/drawingml/2006/main">
              <a:ext uri="{FF2B5EF4-FFF2-40B4-BE49-F238E27FC236}">
                <a16:creationId xmlns:a16="http://schemas.microsoft.com/office/drawing/2014/main" id="{A70ED770-FDAA-4AC9-B513-3277C333F8CD}"/>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fixed W × H canvas can crop rotated corners.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sampling can alias; bilinear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interpolation improves smoothness but adds source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reads/arithmetic.</a:t>
            </a:r>
          </a:p>
        </p:txBody>
      </p:sp>
      <p:sp>
        <p:nvSpPr>
          <p:cNvPr id="10" name="Forward scatter can leave holes or competing writes aft">
            <a:extLst xmlns:a="http://schemas.openxmlformats.org/drawingml/2006/main">
              <a:ext uri="{FF2B5EF4-FFF2-40B4-BE49-F238E27FC236}">
                <a16:creationId xmlns:a16="http://schemas.microsoft.com/office/drawing/2014/main" id="{228F654B-FEB7-4327-A7DC-85C904D3DE8A}"/>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Forward scatter can leave holes or competing writes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after rounding. Inverse gathering assigns every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output exactly one writer. NPP offers library rotation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with explicit interpolation/ROI choices.</a:t>
            </a:r>
          </a:p>
        </p:txBody>
      </p:sp>
      <p:sp>
        <p:nvSpPr>
          <p:cNvPr id="11" name="">
            <a:extLst xmlns:a="http://schemas.openxmlformats.org/drawingml/2006/main">
              <a:ext uri="{FF2B5EF4-FFF2-40B4-BE49-F238E27FC236}">
                <a16:creationId xmlns:a16="http://schemas.microsoft.com/office/drawing/2014/main" id="{5F93F30A-4307-4DA3-AB8E-5C9ADCD90834}"/>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7EAE03B2-2740-43BF-81D3-66E91993CC8E}"/>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17] NVIDIA NPP: library alternative">
            <a:extLst xmlns:a="http://schemas.openxmlformats.org/drawingml/2006/main">
              <a:ext uri="{FF2B5EF4-FFF2-40B4-BE49-F238E27FC236}">
                <a16:creationId xmlns:a16="http://schemas.microsoft.com/office/drawing/2014/main" id="{DF784F60-4826-40B6-B737-2122020DD9E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[17] NVIDIA NPP: library alternative</a:t>
            </a:r>
          </a:p>
        </p:txBody>
      </p:sp>
      <p:sp>
        <p:nvSpPr>
          <p:cNvPr id="14" name="33 / 46">
            <a:extLst xmlns:a="http://schemas.openxmlformats.org/drawingml/2006/main">
              <a:ext uri="{FF2B5EF4-FFF2-40B4-BE49-F238E27FC236}">
                <a16:creationId xmlns:a16="http://schemas.microsoft.com/office/drawing/2014/main" id="{AE43419B-32B3-4114-A6CA-4EED24AD55C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33 / 46</a:t>
            </a:r>
          </a:p>
        </p:txBody>
      </p:sp>
    </p:spTree>
    <p:extLst>
      <p:ext uri="{BB962C8B-B14F-4D97-AF65-F5344CB8AC3E}">
        <p14:creationId xmlns:p14="http://schemas.microsoft.com/office/powerpoint/2010/main" val="2145240853"/>
      </p:ext>
    </p:extLst>
  </p:cSld>
</p:sld>
</file>

<file path=ppt/slides/slide3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2">
            <a:extLst xmlns:a="http://schemas.openxmlformats.org/drawingml/2006/main">
              <a:ext uri="{FF2B5EF4-FFF2-40B4-BE49-F238E27FC236}">
                <a16:creationId xmlns:a16="http://schemas.microsoft.com/office/drawing/2014/main" id="{C4162C17-039D-4AF4-8B81-5EC205F3B17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A2</a:t>
            </a:r>
          </a:p>
        </p:txBody>
      </p:sp>
      <p:sp>
        <p:nvSpPr>
          <p:cNvPr id="2" name="Crafted CUDA example: RGB brightness">
            <a:extLst xmlns:a="http://schemas.openxmlformats.org/drawingml/2006/main">
              <a:ext uri="{FF2B5EF4-FFF2-40B4-BE49-F238E27FC236}">
                <a16:creationId xmlns:a16="http://schemas.microsoft.com/office/drawing/2014/main" id="{0D9AA92E-B3BD-46EB-8C5A-B56908C831B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RGB brightness</a:t>
            </a:r>
          </a:p>
        </p:txBody>
      </p:sp>
      <p:sp>
        <p:nvSpPr>
          <p:cNvPr id="3" name="">
            <a:extLst xmlns:a="http://schemas.openxmlformats.org/drawingml/2006/main">
              <a:ext uri="{FF2B5EF4-FFF2-40B4-BE49-F238E27FC236}">
                <a16:creationId xmlns:a16="http://schemas.microsoft.com/office/drawing/2014/main" id="{F53AB21A-B2E1-4E75-88D7-069BD434D569}"/>
              </a:ext>
            </a:extLst>
          </p:cNvPr>
          <p:cNvSpPr>
            <a:spLocks xmlns:a="http://schemas.openxmlformats.org/drawingml/2006/main" noGrp="1"/>
          </p:cNvSpPr>
          <p:nvPr/>
        </p:nvSpPr>
        <p:spPr>
          <a:xfrm xmlns:a="http://schemas.openxmlformats.org/drawingml/2006/main">
            <a:off x="609600" y="1495425"/>
            <a:ext cx="7705725" cy="413766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__global__ void brightness_rgb(const unsigned char* inp">
            <a:extLst xmlns:a="http://schemas.openxmlformats.org/drawingml/2006/main">
              <a:ext uri="{FF2B5EF4-FFF2-40B4-BE49-F238E27FC236}">
                <a16:creationId xmlns:a16="http://schemas.microsoft.com/office/drawing/2014/main" id="{CB272311-94FF-496F-8664-35EAC3797FD0}"/>
              </a:ext>
            </a:extLst>
          </p:cNvPr>
          <p:cNvSpPr>
            <a:spLocks xmlns:a="http://schemas.openxmlformats.org/drawingml/2006/main" noGrp="1"/>
          </p:cNvSpPr>
          <p:nvPr/>
        </p:nvSpPr>
        <p:spPr>
          <a:xfrm xmlns:a="http://schemas.openxmlformats.org/drawingml/2006/main">
            <a:off x="723900" y="1581150"/>
            <a:ext cx="7477125" cy="4004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brightness_rgb(const unsigned char* 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brightness)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offset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value = int(input[offset + channel]) + brightness;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output[offset +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value &lt; 0 ? 0 : (value &gt; 255 ? 255 : value);</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Same operation on independent pixels: a data-parallel k">
            <a:extLst xmlns:a="http://schemas.openxmlformats.org/drawingml/2006/main">
              <a:ext uri="{FF2B5EF4-FFF2-40B4-BE49-F238E27FC236}">
                <a16:creationId xmlns:a16="http://schemas.microsoft.com/office/drawing/2014/main" id="{653E19FC-B255-489E-A879-64EF7BB9C583}"/>
              </a:ext>
            </a:extLst>
          </p:cNvPr>
          <p:cNvSpPr>
            <a:spLocks xmlns:a="http://schemas.openxmlformats.org/drawingml/2006/main" noGrp="1"/>
          </p:cNvSpPr>
          <p:nvPr/>
        </p:nvSpPr>
        <p:spPr>
          <a:xfrm xmlns:a="http://schemas.openxmlformats.org/drawingml/2006/main">
            <a:off x="8648700" y="158115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Same operation 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independent pixels: a</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data-parallel kernel.</a:t>
            </a:r>
          </a:p>
        </p:txBody>
      </p:sp>
      <p:sp>
        <p:nvSpPr>
          <p:cNvPr id="6" name="Assume brightness in [−255,255]. Integer addition avoid">
            <a:extLst xmlns:a="http://schemas.openxmlformats.org/drawingml/2006/main">
              <a:ext uri="{FF2B5EF4-FFF2-40B4-BE49-F238E27FC236}">
                <a16:creationId xmlns:a16="http://schemas.microsoft.com/office/drawing/2014/main" id="{6B8C01B2-3E2D-4C4C-91A7-D6E4F1EEFE97}"/>
              </a:ext>
            </a:extLst>
          </p:cNvPr>
          <p:cNvSpPr>
            <a:spLocks xmlns:a="http://schemas.openxmlformats.org/drawingml/2006/main" noGrp="1"/>
          </p:cNvSpPr>
          <p:nvPr/>
        </p:nvSpPr>
        <p:spPr>
          <a:xfrm xmlns:a="http://schemas.openxmlformats.org/drawingml/2006/main">
            <a:off x="8648700" y="2589276"/>
            <a:ext cx="293370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Assume brightness in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[−255,255]. Integer addition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avoids uint8 wrap; clamp each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channel to [0,255].</a:t>
            </a:r>
          </a:p>
        </p:txBody>
      </p:sp>
      <p:sp>
        <p:nvSpPr>
          <p:cNvPr id="7" name="Adjacent threads touch adjacent pixel locations, provid">
            <a:extLst xmlns:a="http://schemas.openxmlformats.org/drawingml/2006/main">
              <a:ext uri="{FF2B5EF4-FFF2-40B4-BE49-F238E27FC236}">
                <a16:creationId xmlns:a16="http://schemas.microsoft.com/office/drawing/2014/main" id="{1FC50CAF-2AB9-452F-A529-CE341CD32622}"/>
              </a:ext>
            </a:extLst>
          </p:cNvPr>
          <p:cNvSpPr>
            <a:spLocks xmlns:a="http://schemas.openxmlformats.org/drawingml/2006/main" noGrp="1"/>
          </p:cNvSpPr>
          <p:nvPr/>
        </p:nvSpPr>
        <p:spPr>
          <a:xfrm xmlns:a="http://schemas.openxmlformats.org/drawingml/2006/main">
            <a:off x="8648700" y="385724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Adjacent threads touch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adjacent pixel locations,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providing useful locality.</a:t>
            </a:r>
          </a:p>
        </p:txBody>
      </p:sp>
      <p:sp>
        <p:nvSpPr>
          <p:cNvPr id="8" name="Illustrative CUDA C++; uncompiled and unbenchmarked.">
            <a:extLst xmlns:a="http://schemas.openxmlformats.org/drawingml/2006/main">
              <a:ext uri="{FF2B5EF4-FFF2-40B4-BE49-F238E27FC236}">
                <a16:creationId xmlns:a16="http://schemas.microsoft.com/office/drawing/2014/main" id="{F3529BA9-DA02-4ADA-9EF6-1015CCF03D98}"/>
              </a:ext>
            </a:extLst>
          </p:cNvPr>
          <p:cNvSpPr>
            <a:spLocks xmlns:a="http://schemas.openxmlformats.org/drawingml/2006/main" noGrp="1"/>
          </p:cNvSpPr>
          <p:nvPr/>
        </p:nvSpPr>
        <p:spPr>
          <a:xfrm xmlns:a="http://schemas.openxmlformats.org/drawingml/2006/main">
            <a:off x="8648700" y="486537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Illustrative CUDA C++;</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uncompiled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unbenchmarked.</a:t>
            </a:r>
          </a:p>
        </p:txBody>
      </p:sp>
      <p:sp>
        <p:nvSpPr>
          <p:cNvPr id="9" name="">
            <a:extLst xmlns:a="http://schemas.openxmlformats.org/drawingml/2006/main">
              <a:ext uri="{FF2B5EF4-FFF2-40B4-BE49-F238E27FC236}">
                <a16:creationId xmlns:a16="http://schemas.microsoft.com/office/drawing/2014/main" id="{EB5B3937-19CB-419F-A347-1905B80F9807}"/>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D8FAE123-8F29-4263-A0CE-A6118561C179}"/>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4 / 46">
            <a:extLst xmlns:a="http://schemas.openxmlformats.org/drawingml/2006/main">
              <a:ext uri="{FF2B5EF4-FFF2-40B4-BE49-F238E27FC236}">
                <a16:creationId xmlns:a16="http://schemas.microsoft.com/office/drawing/2014/main" id="{9D2A0C43-5B80-40A8-BB92-71A0EB829E1C}"/>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34 / 46</a:t>
            </a:r>
          </a:p>
        </p:txBody>
      </p:sp>
    </p:spTree>
    <p:extLst>
      <p:ext uri="{BB962C8B-B14F-4D97-AF65-F5344CB8AC3E}">
        <p14:creationId xmlns:p14="http://schemas.microsoft.com/office/powerpoint/2010/main" val="388241229"/>
      </p:ext>
    </p:extLst>
  </p:cSld>
</p:sld>
</file>

<file path=ppt/slides/slide3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3">
            <a:extLst xmlns:a="http://schemas.openxmlformats.org/drawingml/2006/main">
              <a:ext uri="{FF2B5EF4-FFF2-40B4-BE49-F238E27FC236}">
                <a16:creationId xmlns:a16="http://schemas.microsoft.com/office/drawing/2014/main" id="{7355F35B-C6B4-4027-B94B-E93B8896C80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A3</a:t>
            </a:r>
          </a:p>
        </p:txBody>
      </p:sp>
      <p:sp>
        <p:nvSpPr>
          <p:cNvPr id="2" name="Crafted CUDA example: inverse mapping">
            <a:extLst xmlns:a="http://schemas.openxmlformats.org/drawingml/2006/main">
              <a:ext uri="{FF2B5EF4-FFF2-40B4-BE49-F238E27FC236}">
                <a16:creationId xmlns:a16="http://schemas.microsoft.com/office/drawing/2014/main" id="{C0C74BB9-DB83-4D6E-B721-09F1818E9F1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inverse mapping</a:t>
            </a:r>
          </a:p>
        </p:txBody>
      </p:sp>
      <p:sp>
        <p:nvSpPr>
          <p:cNvPr id="3" name="">
            <a:extLst xmlns:a="http://schemas.openxmlformats.org/drawingml/2006/main">
              <a:ext uri="{FF2B5EF4-FFF2-40B4-BE49-F238E27FC236}">
                <a16:creationId xmlns:a16="http://schemas.microsoft.com/office/drawing/2014/main" id="{94C629FE-CC62-4D77-B47A-6BEF6C8C0A8D}"/>
              </a:ext>
            </a:extLst>
          </p:cNvPr>
          <p:cNvSpPr>
            <a:spLocks xmlns:a="http://schemas.openxmlformats.org/drawingml/2006/main" noGrp="1"/>
          </p:cNvSpPr>
          <p:nvPr/>
        </p:nvSpPr>
        <p:spPr>
          <a:xfrm xmlns:a="http://schemas.openxmlformats.org/drawingml/2006/main">
            <a:off x="609600" y="1495425"/>
            <a:ext cx="7705725" cy="413766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__global__ void rotate_rgb(const unsigned char* input,&#10;">
            <a:extLst xmlns:a="http://schemas.openxmlformats.org/drawingml/2006/main">
              <a:ext uri="{FF2B5EF4-FFF2-40B4-BE49-F238E27FC236}">
                <a16:creationId xmlns:a16="http://schemas.microsoft.com/office/drawing/2014/main" id="{F287C1A2-CD86-4352-BB95-177A0C5A3781}"/>
              </a:ext>
            </a:extLst>
          </p:cNvPr>
          <p:cNvSpPr>
            <a:spLocks xmlns:a="http://schemas.openxmlformats.org/drawingml/2006/main" noGrp="1"/>
          </p:cNvSpPr>
          <p:nvPr/>
        </p:nvSpPr>
        <p:spPr>
          <a:xfrm xmlns:a="http://schemas.openxmlformats.org/drawingml/2006/main">
            <a:off x="723900" y="1581150"/>
            <a:ext cx="7477125" cy="4004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s)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r>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cx = (width - 1) * 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cy = (height - 1) * 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sx = c * (x - cx) - s * (y - cy) + cx;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sy = s * (x - cx) + c * (y - cy) + cy;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ix = int(floorf(sx + 0.5f));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iy = int(floorf(sy + 0.5f));</a:t>
            </a:r>
          </a:p>
        </p:txBody>
      </p:sp>
      <p:sp>
        <p:nvSpPr>
          <p:cNvPr id="5" name="Global coordinates come from block/thread indices.">
            <a:extLst xmlns:a="http://schemas.openxmlformats.org/drawingml/2006/main">
              <a:ext uri="{FF2B5EF4-FFF2-40B4-BE49-F238E27FC236}">
                <a16:creationId xmlns:a16="http://schemas.microsoft.com/office/drawing/2014/main" id="{B610B5F8-E655-4083-8B6A-F07D8CC27792}"/>
              </a:ext>
            </a:extLst>
          </p:cNvPr>
          <p:cNvSpPr>
            <a:spLocks xmlns:a="http://schemas.openxmlformats.org/drawingml/2006/main" noGrp="1"/>
          </p:cNvSpPr>
          <p:nvPr/>
        </p:nvSpPr>
        <p:spPr>
          <a:xfrm xmlns:a="http://schemas.openxmlformats.org/drawingml/2006/main">
            <a:off x="8648700" y="158115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Global coordinates come from</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block/thread indices.</a:t>
            </a:r>
          </a:p>
        </p:txBody>
      </p:sp>
      <p:sp>
        <p:nvSpPr>
          <p:cNvPr id="6" name="The guard handles partial edge blocks before any memory">
            <a:extLst xmlns:a="http://schemas.openxmlformats.org/drawingml/2006/main">
              <a:ext uri="{FF2B5EF4-FFF2-40B4-BE49-F238E27FC236}">
                <a16:creationId xmlns:a16="http://schemas.microsoft.com/office/drawing/2014/main" id="{0C5E576E-EF90-495F-8DB5-290B296D8004}"/>
              </a:ext>
            </a:extLst>
          </p:cNvPr>
          <p:cNvSpPr>
            <a:spLocks xmlns:a="http://schemas.openxmlformats.org/drawingml/2006/main" noGrp="1"/>
          </p:cNvSpPr>
          <p:nvPr/>
        </p:nvSpPr>
        <p:spPr>
          <a:xfrm xmlns:a="http://schemas.openxmlformats.org/drawingml/2006/main">
            <a:off x="8648700" y="232943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The guard handles partial edge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blocks before any memory</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access.</a:t>
            </a:r>
          </a:p>
        </p:txBody>
      </p:sp>
      <p:sp>
        <p:nvSpPr>
          <p:cNvPr id="7" name="The host computes sine/cosine once per angle.">
            <a:extLst xmlns:a="http://schemas.openxmlformats.org/drawingml/2006/main">
              <a:ext uri="{FF2B5EF4-FFF2-40B4-BE49-F238E27FC236}">
                <a16:creationId xmlns:a16="http://schemas.microsoft.com/office/drawing/2014/main" id="{D09D3253-B574-452C-8E35-01D2C80277F8}"/>
              </a:ext>
            </a:extLst>
          </p:cNvPr>
          <p:cNvSpPr>
            <a:spLocks xmlns:a="http://schemas.openxmlformats.org/drawingml/2006/main" noGrp="1"/>
          </p:cNvSpPr>
          <p:nvPr/>
        </p:nvSpPr>
        <p:spPr>
          <a:xfrm xmlns:a="http://schemas.openxmlformats.org/drawingml/2006/main">
            <a:off x="8648700" y="333756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The host computes sine/cosine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once per angle.</a:t>
            </a:r>
          </a:p>
        </p:txBody>
      </p:sp>
      <p:sp>
        <p:nvSpPr>
          <p:cNvPr id="8" name="Nearest-neighbour mapping uses the documented y-down co">
            <a:extLst xmlns:a="http://schemas.openxmlformats.org/drawingml/2006/main">
              <a:ext uri="{FF2B5EF4-FFF2-40B4-BE49-F238E27FC236}">
                <a16:creationId xmlns:a16="http://schemas.microsoft.com/office/drawing/2014/main" id="{C70BBC9B-0A42-460F-A136-0DEDBBC8E279}"/>
              </a:ext>
            </a:extLst>
          </p:cNvPr>
          <p:cNvSpPr>
            <a:spLocks xmlns:a="http://schemas.openxmlformats.org/drawingml/2006/main" noGrp="1"/>
          </p:cNvSpPr>
          <p:nvPr/>
        </p:nvSpPr>
        <p:spPr>
          <a:xfrm xmlns:a="http://schemas.openxmlformats.org/drawingml/2006/main">
            <a:off x="8648700" y="408584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mapping</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uses the documented y-down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convention.</a:t>
            </a:r>
          </a:p>
        </p:txBody>
      </p:sp>
      <p:sp>
        <p:nvSpPr>
          <p:cNvPr id="9" name="">
            <a:extLst xmlns:a="http://schemas.openxmlformats.org/drawingml/2006/main">
              <a:ext uri="{FF2B5EF4-FFF2-40B4-BE49-F238E27FC236}">
                <a16:creationId xmlns:a16="http://schemas.microsoft.com/office/drawing/2014/main" id="{57F5447B-40B5-419A-BA66-DF430D28DE1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BB4B520D-97C1-4BC3-B48B-06F77EEEB7D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5 / 46">
            <a:extLst xmlns:a="http://schemas.openxmlformats.org/drawingml/2006/main">
              <a:ext uri="{FF2B5EF4-FFF2-40B4-BE49-F238E27FC236}">
                <a16:creationId xmlns:a16="http://schemas.microsoft.com/office/drawing/2014/main" id="{4864BAE9-2970-493B-9B05-D6330E2BC9F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35 / 46</a:t>
            </a:r>
          </a:p>
        </p:txBody>
      </p:sp>
    </p:spTree>
    <p:extLst>
      <p:ext uri="{BB962C8B-B14F-4D97-AF65-F5344CB8AC3E}">
        <p14:creationId xmlns:p14="http://schemas.microsoft.com/office/powerpoint/2010/main" val="604001177"/>
      </p:ext>
    </p:extLst>
  </p:cSld>
</p:sld>
</file>

<file path=ppt/slides/slide3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4">
            <a:extLst xmlns:a="http://schemas.openxmlformats.org/drawingml/2006/main">
              <a:ext uri="{FF2B5EF4-FFF2-40B4-BE49-F238E27FC236}">
                <a16:creationId xmlns:a16="http://schemas.microsoft.com/office/drawing/2014/main" id="{19FD1D99-443C-47B0-90C0-66DF941138AE}"/>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A4</a:t>
            </a:r>
          </a:p>
        </p:txBody>
      </p:sp>
      <p:sp>
        <p:nvSpPr>
          <p:cNvPr id="2" name="Crafted CUDA example: safe output writes">
            <a:extLst xmlns:a="http://schemas.openxmlformats.org/drawingml/2006/main">
              <a:ext uri="{FF2B5EF4-FFF2-40B4-BE49-F238E27FC236}">
                <a16:creationId xmlns:a16="http://schemas.microsoft.com/office/drawing/2014/main" id="{34E35498-2EE6-4F14-AE22-007964EE13B0}"/>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safe output writes</a:t>
            </a:r>
          </a:p>
        </p:txBody>
      </p:sp>
      <p:sp>
        <p:nvSpPr>
          <p:cNvPr id="3" name="">
            <a:extLst xmlns:a="http://schemas.openxmlformats.org/drawingml/2006/main">
              <a:ext uri="{FF2B5EF4-FFF2-40B4-BE49-F238E27FC236}">
                <a16:creationId xmlns:a16="http://schemas.microsoft.com/office/drawing/2014/main" id="{01BD182C-312B-47E9-B346-D2829BCA61B4}"/>
              </a:ext>
            </a:extLst>
          </p:cNvPr>
          <p:cNvSpPr>
            <a:spLocks xmlns:a="http://schemas.openxmlformats.org/drawingml/2006/main" noGrp="1"/>
          </p:cNvSpPr>
          <p:nvPr/>
        </p:nvSpPr>
        <p:spPr>
          <a:xfrm xmlns:a="http://schemas.openxmlformats.org/drawingml/2006/main">
            <a:off x="609600" y="1495425"/>
            <a:ext cx="7705725" cy="348615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    const size_t destination =&#10;        (size_t(y) * siz">
            <a:extLst xmlns:a="http://schemas.openxmlformats.org/drawingml/2006/main">
              <a:ext uri="{FF2B5EF4-FFF2-40B4-BE49-F238E27FC236}">
                <a16:creationId xmlns:a16="http://schemas.microsoft.com/office/drawing/2014/main" id="{002848DD-72A2-4D6B-ABE4-E33E180EC725}"/>
              </a:ext>
            </a:extLst>
          </p:cNvPr>
          <p:cNvSpPr>
            <a:spLocks xmlns:a="http://schemas.openxmlformats.org/drawingml/2006/main" noGrp="1"/>
          </p:cNvSpPr>
          <p:nvPr/>
        </p:nvSpPr>
        <p:spPr>
          <a:xfrm xmlns:a="http://schemas.openxmlformats.org/drawingml/2006/main">
            <a:off x="723900" y="1581150"/>
            <a:ext cx="7477125"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destination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xmlns:a="http://schemas.openxmlformats.org/drawingml/2006/main">
            <a:r>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width &amp;&amp; iy &gt;= 0 &amp;&amp; iy &lt; height)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source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(size_t(iy) * size_t(width) + size_t(ix)) * 3;</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input[source + channel];</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0;</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RGB address = 3 × (row × width + column).">
            <a:extLst xmlns:a="http://schemas.openxmlformats.org/drawingml/2006/main">
              <a:ext uri="{FF2B5EF4-FFF2-40B4-BE49-F238E27FC236}">
                <a16:creationId xmlns:a16="http://schemas.microsoft.com/office/drawing/2014/main" id="{1EAD8525-E589-4E2E-A6BC-C5F69B09B2F8}"/>
              </a:ext>
            </a:extLst>
          </p:cNvPr>
          <p:cNvSpPr>
            <a:spLocks xmlns:a="http://schemas.openxmlformats.org/drawingml/2006/main" noGrp="1"/>
          </p:cNvSpPr>
          <p:nvPr/>
        </p:nvSpPr>
        <p:spPr>
          <a:xfrm xmlns:a="http://schemas.openxmlformats.org/drawingml/2006/main">
            <a:off x="8648700" y="158115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RGB address = 3 × (row ×</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width + column).</a:t>
            </a:r>
          </a:p>
        </p:txBody>
      </p:sp>
      <p:sp>
        <p:nvSpPr>
          <p:cNvPr id="6" name="Every valid output gets three channels, including black">
            <a:extLst xmlns:a="http://schemas.openxmlformats.org/drawingml/2006/main">
              <a:ext uri="{FF2B5EF4-FFF2-40B4-BE49-F238E27FC236}">
                <a16:creationId xmlns:a16="http://schemas.microsoft.com/office/drawing/2014/main" id="{C790AFE1-AF1E-4B3F-BCE3-FF08D7E7E383}"/>
              </a:ext>
            </a:extLst>
          </p:cNvPr>
          <p:cNvSpPr>
            <a:spLocks xmlns:a="http://schemas.openxmlformats.org/drawingml/2006/main" noGrp="1"/>
          </p:cNvSpPr>
          <p:nvPr/>
        </p:nvSpPr>
        <p:spPr>
          <a:xfrm xmlns:a="http://schemas.openxmlformats.org/drawingml/2006/main">
            <a:off x="8648700" y="232943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Every valid output gets three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channels, including black</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borders.</a:t>
            </a:r>
          </a:p>
        </p:txBody>
      </p:sp>
      <p:sp>
        <p:nvSpPr>
          <p:cNvPr id="7" name="No atomics, mutex or block barrier is needed: writers h">
            <a:extLst xmlns:a="http://schemas.openxmlformats.org/drawingml/2006/main">
              <a:ext uri="{FF2B5EF4-FFF2-40B4-BE49-F238E27FC236}">
                <a16:creationId xmlns:a16="http://schemas.microsoft.com/office/drawing/2014/main" id="{B507F153-4C88-4208-ADE2-F5276644CE77}"/>
              </a:ext>
            </a:extLst>
          </p:cNvPr>
          <p:cNvSpPr>
            <a:spLocks xmlns:a="http://schemas.openxmlformats.org/drawingml/2006/main" noGrp="1"/>
          </p:cNvSpPr>
          <p:nvPr/>
        </p:nvSpPr>
        <p:spPr>
          <a:xfrm xmlns:a="http://schemas.openxmlformats.org/drawingml/2006/main">
            <a:off x="8648700" y="333756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No atomics, mutex or block</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barrier is needed: writers have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disjoint destinations.</a:t>
            </a:r>
          </a:p>
        </p:txBody>
      </p:sp>
      <p:sp>
        <p:nvSpPr>
          <p:cNvPr id="8" name="Total work Θ(W × H); input/output storage Θ(W × H) each">
            <a:extLst xmlns:a="http://schemas.openxmlformats.org/drawingml/2006/main">
              <a:ext uri="{FF2B5EF4-FFF2-40B4-BE49-F238E27FC236}">
                <a16:creationId xmlns:a16="http://schemas.microsoft.com/office/drawing/2014/main" id="{F0D5970F-DFB9-41F9-80F4-CE3D0BCA705F}"/>
              </a:ext>
            </a:extLst>
          </p:cNvPr>
          <p:cNvSpPr>
            <a:spLocks xmlns:a="http://schemas.openxmlformats.org/drawingml/2006/main" noGrp="1"/>
          </p:cNvSpPr>
          <p:nvPr/>
        </p:nvSpPr>
        <p:spPr>
          <a:xfrm xmlns:a="http://schemas.openxmlformats.org/drawingml/2006/main">
            <a:off x="8648700" y="4345686"/>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Total work Θ(W × 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input/output storage Θ(W × 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each.</a:t>
            </a:r>
          </a:p>
        </p:txBody>
      </p:sp>
      <p:sp>
        <p:nvSpPr>
          <p:cNvPr id="9" name="">
            <a:extLst xmlns:a="http://schemas.openxmlformats.org/drawingml/2006/main">
              <a:ext uri="{FF2B5EF4-FFF2-40B4-BE49-F238E27FC236}">
                <a16:creationId xmlns:a16="http://schemas.microsoft.com/office/drawing/2014/main" id="{5D34B020-43B4-46D6-90C7-92B5A5272333}"/>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A65344C2-A7C8-433B-A00E-55458B7D5A49}"/>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6 / 46">
            <a:extLst xmlns:a="http://schemas.openxmlformats.org/drawingml/2006/main">
              <a:ext uri="{FF2B5EF4-FFF2-40B4-BE49-F238E27FC236}">
                <a16:creationId xmlns:a16="http://schemas.microsoft.com/office/drawing/2014/main" id="{03534E14-F640-4EE8-A054-5BA0BE6ABF6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36 / 46</a:t>
            </a:r>
          </a:p>
        </p:txBody>
      </p:sp>
    </p:spTree>
    <p:extLst>
      <p:ext uri="{BB962C8B-B14F-4D97-AF65-F5344CB8AC3E}">
        <p14:creationId xmlns:p14="http://schemas.microsoft.com/office/powerpoint/2010/main" val="1854667962"/>
      </p:ext>
    </p:extLst>
  </p:cSld>
</p:sld>
</file>

<file path=ppt/slides/slide3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5">
            <a:extLst xmlns:a="http://schemas.openxmlformats.org/drawingml/2006/main">
              <a:ext uri="{FF2B5EF4-FFF2-40B4-BE49-F238E27FC236}">
                <a16:creationId xmlns:a16="http://schemas.microsoft.com/office/drawing/2014/main" id="{52C2CC74-DBDD-4D67-92F4-0A99AF0F628E}"/>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A5</a:t>
            </a:r>
          </a:p>
        </p:txBody>
      </p:sp>
      <p:sp>
        <p:nvSpPr>
          <p:cNvPr id="2" name="Asynchronous work within one stream">
            <a:extLst xmlns:a="http://schemas.openxmlformats.org/drawingml/2006/main">
              <a:ext uri="{FF2B5EF4-FFF2-40B4-BE49-F238E27FC236}">
                <a16:creationId xmlns:a16="http://schemas.microsoft.com/office/drawing/2014/main" id="{F98E5617-BAD5-43E5-B08F-08B38C41599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Asynchronous work within one stream</a:t>
            </a:r>
          </a:p>
        </p:txBody>
      </p:sp>
      <p:sp>
        <p:nvSpPr>
          <p:cNvPr id="3" name="">
            <a:extLst xmlns:a="http://schemas.openxmlformats.org/drawingml/2006/main">
              <a:ext uri="{FF2B5EF4-FFF2-40B4-BE49-F238E27FC236}">
                <a16:creationId xmlns:a16="http://schemas.microsoft.com/office/drawing/2014/main" id="{F7FE288C-1B69-4CCB-979C-281467DDCE57}"/>
              </a:ext>
            </a:extLst>
          </p:cNvPr>
          <p:cNvSpPr>
            <a:spLocks xmlns:a="http://schemas.openxmlformats.org/drawingml/2006/main" noGrp="1"/>
          </p:cNvSpPr>
          <p:nvPr/>
        </p:nvSpPr>
        <p:spPr>
          <a:xfrm xmlns:a="http://schemas.openxmlformats.org/drawingml/2006/main">
            <a:off x="609600" y="1495425"/>
            <a:ext cx="7705725" cy="435483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cudaError_t enqueue_rotation(const unsigned char* h_inp">
            <a:extLst xmlns:a="http://schemas.openxmlformats.org/drawingml/2006/main">
              <a:ext uri="{FF2B5EF4-FFF2-40B4-BE49-F238E27FC236}">
                <a16:creationId xmlns:a16="http://schemas.microsoft.com/office/drawing/2014/main" id="{06236917-CADB-40EE-8708-AB59991FACED}"/>
              </a:ext>
            </a:extLst>
          </p:cNvPr>
          <p:cNvSpPr>
            <a:spLocks xmlns:a="http://schemas.openxmlformats.org/drawingml/2006/main" noGrp="1"/>
          </p:cNvSpPr>
          <p:nvPr/>
        </p:nvSpPr>
        <p:spPr>
          <a:xfrm xmlns:a="http://schemas.openxmlformats.org/drawingml/2006/main">
            <a:off x="723900" y="1581150"/>
            <a:ext cx="7477125" cy="422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cudaError_t enqueue_rotation(const unsigned char* h_input,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h_output,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bytes, int width, int height,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 float 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cudaStream_t stream)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block(32, 8);  // 256 threads.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grid = rotation_grid(width, height, block);</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cudaError_t status = cudaMemcpyAsync(d_input, h_input,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 stream);</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rotate_rgb&lt;&lt;&lt;grid, block, 0, stream&gt;&gt;&gt;(d_input, d_output,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width, height, c, 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status = cudaGetLastError();</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 cudaMemcpyAsync(h_output, d_output,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 stream);</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Full enqueue function; rotation_grid uses the ceil-divi">
            <a:extLst xmlns:a="http://schemas.openxmlformats.org/drawingml/2006/main">
              <a:ext uri="{FF2B5EF4-FFF2-40B4-BE49-F238E27FC236}">
                <a16:creationId xmlns:a16="http://schemas.microsoft.com/office/drawing/2014/main" id="{3705718A-F1BC-4D7E-A882-5774ED8F8354}"/>
              </a:ext>
            </a:extLst>
          </p:cNvPr>
          <p:cNvSpPr>
            <a:spLocks xmlns:a="http://schemas.openxmlformats.org/drawingml/2006/main" noGrp="1"/>
          </p:cNvSpPr>
          <p:nvPr/>
        </p:nvSpPr>
        <p:spPr>
          <a:xfrm xmlns:a="http://schemas.openxmlformats.org/drawingml/2006/main">
            <a:off x="8648700" y="1581150"/>
            <a:ext cx="293370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Full enqueue function;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rotation_grid uses the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ceil-division shown in the host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orchestration answer.</a:t>
            </a:r>
          </a:p>
        </p:txBody>
      </p:sp>
      <p:sp>
        <p:nvSpPr>
          <p:cNvPr id="6" name="Pinned host buffers and checked sizes are preconditions">
            <a:extLst xmlns:a="http://schemas.openxmlformats.org/drawingml/2006/main">
              <a:ext uri="{FF2B5EF4-FFF2-40B4-BE49-F238E27FC236}">
                <a16:creationId xmlns:a16="http://schemas.microsoft.com/office/drawing/2014/main" id="{AA4926F7-9E59-48DC-807B-2A8241FE8099}"/>
              </a:ext>
            </a:extLst>
          </p:cNvPr>
          <p:cNvSpPr>
            <a:spLocks xmlns:a="http://schemas.openxmlformats.org/drawingml/2006/main" noGrp="1"/>
          </p:cNvSpPr>
          <p:nvPr/>
        </p:nvSpPr>
        <p:spPr>
          <a:xfrm xmlns:a="http://schemas.openxmlformats.org/drawingml/2006/main">
            <a:off x="8648700" y="2849118"/>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Pinned host buffers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checked sizes are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preconditions.</a:t>
            </a:r>
          </a:p>
        </p:txBody>
      </p:sp>
      <p:sp>
        <p:nvSpPr>
          <p:cNvPr id="7" name="Success means submitted work; wait before reading, reus">
            <a:extLst xmlns:a="http://schemas.openxmlformats.org/drawingml/2006/main">
              <a:ext uri="{FF2B5EF4-FFF2-40B4-BE49-F238E27FC236}">
                <a16:creationId xmlns:a16="http://schemas.microsoft.com/office/drawing/2014/main" id="{E588DB64-6F65-4325-8234-5FBB8EADDB70}"/>
              </a:ext>
            </a:extLst>
          </p:cNvPr>
          <p:cNvSpPr>
            <a:spLocks xmlns:a="http://schemas.openxmlformats.org/drawingml/2006/main" noGrp="1"/>
          </p:cNvSpPr>
          <p:nvPr/>
        </p:nvSpPr>
        <p:spPr>
          <a:xfrm xmlns:a="http://schemas.openxmlformats.org/drawingml/2006/main">
            <a:off x="8648700" y="385724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Success means submitted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work; wait before reading,</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reusing or freeing buffers.</a:t>
            </a:r>
          </a:p>
        </p:txBody>
      </p:sp>
      <p:sp>
        <p:nvSpPr>
          <p:cNvPr id="8" name="On error, previously enqueued work may still be pending">
            <a:extLst xmlns:a="http://schemas.openxmlformats.org/drawingml/2006/main">
              <a:ext uri="{FF2B5EF4-FFF2-40B4-BE49-F238E27FC236}">
                <a16:creationId xmlns:a16="http://schemas.microsoft.com/office/drawing/2014/main" id="{0670BFC5-F85B-4F96-AD69-F25A92440216}"/>
              </a:ext>
            </a:extLst>
          </p:cNvPr>
          <p:cNvSpPr>
            <a:spLocks xmlns:a="http://schemas.openxmlformats.org/drawingml/2006/main" noGrp="1"/>
          </p:cNvSpPr>
          <p:nvPr/>
        </p:nvSpPr>
        <p:spPr>
          <a:xfrm xmlns:a="http://schemas.openxmlformats.org/drawingml/2006/main">
            <a:off x="8648700" y="486537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On error, previously enqueued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work may still be pending.</a:t>
            </a:r>
          </a:p>
        </p:txBody>
      </p:sp>
      <p:sp>
        <p:nvSpPr>
          <p:cNvPr id="9" name="">
            <a:extLst xmlns:a="http://schemas.openxmlformats.org/drawingml/2006/main">
              <a:ext uri="{FF2B5EF4-FFF2-40B4-BE49-F238E27FC236}">
                <a16:creationId xmlns:a16="http://schemas.microsoft.com/office/drawing/2014/main" id="{3B1FF882-DFEF-427B-9EEA-3604D4968EE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2] NVIDIA CUDA Best Practices">
            <a:extLst xmlns:a="http://schemas.openxmlformats.org/drawingml/2006/main">
              <a:ext uri="{FF2B5EF4-FFF2-40B4-BE49-F238E27FC236}">
                <a16:creationId xmlns:a16="http://schemas.microsoft.com/office/drawing/2014/main" id="{ED7B9F76-E073-480B-86C0-521847F5DEF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1" name="37 / 46">
            <a:extLst xmlns:a="http://schemas.openxmlformats.org/drawingml/2006/main">
              <a:ext uri="{FF2B5EF4-FFF2-40B4-BE49-F238E27FC236}">
                <a16:creationId xmlns:a16="http://schemas.microsoft.com/office/drawing/2014/main" id="{A47FF164-F4A1-44FA-8716-F344D8BAC14C}"/>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37 / 46</a:t>
            </a:r>
          </a:p>
        </p:txBody>
      </p:sp>
    </p:spTree>
    <p:extLst>
      <p:ext uri="{BB962C8B-B14F-4D97-AF65-F5344CB8AC3E}">
        <p14:creationId xmlns:p14="http://schemas.microsoft.com/office/powerpoint/2010/main" val="32603286"/>
      </p:ext>
    </p:extLst>
  </p:cSld>
</p:sld>
</file>

<file path=ppt/slides/slide3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1 • Appendix A6">
            <a:extLst xmlns:a="http://schemas.openxmlformats.org/drawingml/2006/main">
              <a:ext uri="{FF2B5EF4-FFF2-40B4-BE49-F238E27FC236}">
                <a16:creationId xmlns:a16="http://schemas.microsoft.com/office/drawing/2014/main" id="{CDBC6740-C68D-4BDC-B94F-D55E9599264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A6</a:t>
            </a:r>
          </a:p>
        </p:txBody>
      </p:sp>
      <p:sp>
        <p:nvSpPr>
          <p:cNvPr id="2" name="Fair speedup comparison and profiling">
            <a:extLst xmlns:a="http://schemas.openxmlformats.org/drawingml/2006/main">
              <a:ext uri="{FF2B5EF4-FFF2-40B4-BE49-F238E27FC236}">
                <a16:creationId xmlns:a16="http://schemas.microsoft.com/office/drawing/2014/main" id="{BECA8CD4-472D-4994-A382-CA3D5138A7F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Fair speedup comparison and profiling</a:t>
            </a:r>
          </a:p>
        </p:txBody>
      </p:sp>
      <p:sp>
        <p:nvSpPr>
          <p:cNvPr id="3" name="Comparable baselines">
            <a:extLst xmlns:a="http://schemas.openxmlformats.org/drawingml/2006/main">
              <a:ext uri="{FF2B5EF4-FFF2-40B4-BE49-F238E27FC236}">
                <a16:creationId xmlns:a16="http://schemas.microsoft.com/office/drawing/2014/main" id="{8D4F23F4-AC77-4B69-B2FA-D1BF12C6E62C}"/>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Comparable baselines</a:t>
            </a:r>
          </a:p>
        </p:txBody>
      </p:sp>
      <p:sp>
        <p:nvSpPr>
          <p:cNvPr id="4" name="Primary baseline: one CPU thread performs the same RGB ">
            <a:extLst xmlns:a="http://schemas.openxmlformats.org/drawingml/2006/main">
              <a:ext uri="{FF2B5EF4-FFF2-40B4-BE49-F238E27FC236}">
                <a16:creationId xmlns:a16="http://schemas.microsoft.com/office/drawing/2014/main" id="{0F0808AB-D5A7-4943-8EC2-B5FF0DAC12D6}"/>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Primary baseline: one CPU thread performs the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same RGB inverse mapping, nearest-neighbour rule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fixed canvas. Also compare a multithreaded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CPU for a stronger practical baseline.</a:t>
            </a:r>
          </a:p>
        </p:txBody>
      </p:sp>
      <p:sp>
        <p:nvSpPr>
          <p:cNvPr id="5" name="Use identical inputs/angles and verify identical or jus">
            <a:extLst xmlns:a="http://schemas.openxmlformats.org/drawingml/2006/main">
              <a:ext uri="{FF2B5EF4-FFF2-40B4-BE49-F238E27FC236}">
                <a16:creationId xmlns:a16="http://schemas.microsoft.com/office/drawing/2014/main" id="{964DE8DD-43D5-4FC4-9956-DB1B145101ED}"/>
              </a:ext>
            </a:extLst>
          </p:cNvPr>
          <p:cNvSpPr>
            <a:spLocks xmlns:a="http://schemas.openxmlformats.org/drawingml/2006/main" noGrp="1"/>
          </p:cNvSpPr>
          <p:nvPr/>
        </p:nvSpPr>
        <p:spPr>
          <a:xfrm xmlns:a="http://schemas.openxmlformats.org/drawingml/2006/main">
            <a:off x="60960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Use identical inputs/angles and verify identical 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justified numerically equivalent outputs. Include file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decoding/I/O in both paths or exclude it from both.</a:t>
            </a:r>
          </a:p>
        </p:txBody>
      </p:sp>
      <p:sp>
        <p:nvSpPr>
          <p:cNvPr id="6" name="For the stated decoded-buffer comparison, include GPU a">
            <a:extLst xmlns:a="http://schemas.openxmlformats.org/drawingml/2006/main">
              <a:ext uri="{FF2B5EF4-FFF2-40B4-BE49-F238E27FC236}">
                <a16:creationId xmlns:a16="http://schemas.microsoft.com/office/drawing/2014/main" id="{8DAFF659-4A34-4D00-994E-3DF877E5C57C}"/>
              </a:ext>
            </a:extLst>
          </p:cNvPr>
          <p:cNvSpPr>
            <a:spLocks xmlns:a="http://schemas.openxmlformats.org/drawingml/2006/main" noGrp="1"/>
          </p:cNvSpPr>
          <p:nvPr/>
        </p:nvSpPr>
        <p:spPr>
          <a:xfrm xmlns:a="http://schemas.openxmlformats.org/drawingml/2006/main">
            <a:off x="60960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 the stated decoded-buffer comparison, include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GPU allocation, H2D, launch, completed kernel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D2H; CPU timing covers the corresponding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allocation and rotation.</a:t>
            </a:r>
          </a:p>
        </p:txBody>
      </p:sp>
      <p:sp>
        <p:nvSpPr>
          <p:cNvPr id="7" name="Measure the bottleneck">
            <a:extLst xmlns:a="http://schemas.openxmlformats.org/drawingml/2006/main">
              <a:ext uri="{FF2B5EF4-FFF2-40B4-BE49-F238E27FC236}">
                <a16:creationId xmlns:a16="http://schemas.microsoft.com/office/drawing/2014/main" id="{DB0BD25D-171B-436D-AD43-9E6E8BEB6AD7}"/>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Measure the bottleneck</a:t>
            </a:r>
          </a:p>
        </p:txBody>
      </p:sp>
      <p:sp>
        <p:nvSpPr>
          <p:cNvPr id="8" name="Report cold-start and warmed repeated runs separately. ">
            <a:extLst xmlns:a="http://schemas.openxmlformats.org/drawingml/2006/main">
              <a:ext uri="{FF2B5EF4-FFF2-40B4-BE49-F238E27FC236}">
                <a16:creationId xmlns:a16="http://schemas.microsoft.com/office/drawing/2014/main" id="{06D793F0-F194-4FD2-B0D1-C92C7CFA1AD0}"/>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Report cold-start and warmed repeated runs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separately. Use CUDA events for kernel elapsed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time after completion and a host timer through final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completion for total latency.</a:t>
            </a:r>
          </a:p>
        </p:txBody>
      </p:sp>
      <p:sp>
        <p:nvSpPr>
          <p:cNvPr id="9" name="Vary image size, angle, block shape and batch size; rec">
            <a:extLst xmlns:a="http://schemas.openxmlformats.org/drawingml/2006/main">
              <a:ext uri="{FF2B5EF4-FFF2-40B4-BE49-F238E27FC236}">
                <a16:creationId xmlns:a16="http://schemas.microsoft.com/office/drawing/2014/main" id="{C317D017-390E-4669-A5B6-189B16F48257}"/>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Vary image size, angle, block shape and batch size;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record hardware, transfer mode, register use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effective memory/link bandwidth.</a:t>
            </a:r>
          </a:p>
        </p:txBody>
      </p:sp>
      <p:sp>
        <p:nvSpPr>
          <p:cNvPr id="10" name="The sequential sum does not apply unchanged to overlapp">
            <a:extLst xmlns:a="http://schemas.openxmlformats.org/drawingml/2006/main">
              <a:ext uri="{FF2B5EF4-FFF2-40B4-BE49-F238E27FC236}">
                <a16:creationId xmlns:a16="http://schemas.microsoft.com/office/drawing/2014/main" id="{B7A6C2F7-A6E8-40E7-82D3-7F826034319D}"/>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sequential sum does not apply unchanged to</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overlapping streams: measure the completed batch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critical path. Lower kernel time alone cannot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establish end-to-end speedup.</a:t>
            </a:r>
          </a:p>
        </p:txBody>
      </p:sp>
      <p:sp>
        <p:nvSpPr>
          <p:cNvPr id="11" name="">
            <a:extLst xmlns:a="http://schemas.openxmlformats.org/drawingml/2006/main">
              <a:ext uri="{FF2B5EF4-FFF2-40B4-BE49-F238E27FC236}">
                <a16:creationId xmlns:a16="http://schemas.microsoft.com/office/drawing/2014/main" id="{D21834D7-ECE7-40BC-B284-51F70431DCA4}"/>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F712DDDE-92DA-4696-9DBB-9BFE9D1C605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a:extLst xmlns:a="http://schemas.openxmlformats.org/drawingml/2006/main">
              <a:ext uri="{FF2B5EF4-FFF2-40B4-BE49-F238E27FC236}">
                <a16:creationId xmlns:a16="http://schemas.microsoft.com/office/drawing/2014/main" id="{3E898319-9B33-42B8-8FB8-043293334A73}"/>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38 / 46">
            <a:extLst xmlns:a="http://schemas.openxmlformats.org/drawingml/2006/main">
              <a:ext uri="{FF2B5EF4-FFF2-40B4-BE49-F238E27FC236}">
                <a16:creationId xmlns:a16="http://schemas.microsoft.com/office/drawing/2014/main" id="{25452B37-4FF6-4607-BD85-77C1D2A5520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38 / 46</a:t>
            </a:r>
          </a:p>
        </p:txBody>
      </p:sp>
    </p:spTree>
    <p:extLst>
      <p:ext uri="{BB962C8B-B14F-4D97-AF65-F5344CB8AC3E}">
        <p14:creationId xmlns:p14="http://schemas.microsoft.com/office/powerpoint/2010/main" val="1895623486"/>
      </p:ext>
    </p:extLst>
  </p:cSld>
</p:sld>
</file>

<file path=ppt/slides/slide3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1 • Appendix A7">
            <a:extLst xmlns:a="http://schemas.openxmlformats.org/drawingml/2006/main">
              <a:ext uri="{FF2B5EF4-FFF2-40B4-BE49-F238E27FC236}">
                <a16:creationId xmlns:a16="http://schemas.microsoft.com/office/drawing/2014/main" id="{23846F44-7DC1-4C72-A637-9BC35D8D3D5E}"/>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A7</a:t>
            </a:r>
          </a:p>
        </p:txBody>
      </p:sp>
      <p:sp>
        <p:nvSpPr>
          <p:cNvPr id="2" name="GDS decision for the proposed pipeline">
            <a:extLst xmlns:a="http://schemas.openxmlformats.org/drawingml/2006/main">
              <a:ext uri="{FF2B5EF4-FFF2-40B4-BE49-F238E27FC236}">
                <a16:creationId xmlns:a16="http://schemas.microsoft.com/office/drawing/2014/main" id="{152FC211-4D04-434D-B376-45620DAEF4CE}"/>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GDS decision for the proposed pipeline</a:t>
            </a:r>
          </a:p>
        </p:txBody>
      </p:sp>
      <p:sp>
        <p:nvSpPr>
          <p:cNvPr id="3" name="Conventional decoded-image path">
            <a:extLst xmlns:a="http://schemas.openxmlformats.org/drawingml/2006/main">
              <a:ext uri="{FF2B5EF4-FFF2-40B4-BE49-F238E27FC236}">
                <a16:creationId xmlns:a16="http://schemas.microsoft.com/office/drawing/2014/main" id="{30AE6571-2BAB-4A54-BD56-0D520D38B127}"/>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Conventional decoded-image path</a:t>
            </a:r>
          </a:p>
        </p:txBody>
      </p:sp>
      <p:sp>
        <p:nvSpPr>
          <p:cNvPr id="4" name="CPU decoding requires host-visible compressed bytes and">
            <a:extLst xmlns:a="http://schemas.openxmlformats.org/drawingml/2006/main">
              <a:ext uri="{FF2B5EF4-FFF2-40B4-BE49-F238E27FC236}">
                <a16:creationId xmlns:a16="http://schemas.microsoft.com/office/drawing/2014/main" id="{2BCBB1C5-33F1-4AE0-9ECC-B59BCEA12DF2}"/>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CPU decoding requires host-visible compressed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bytes and produces pixels in RAM. Those pixels 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copied to the GPU; the rotation kernel then runs.</a:t>
            </a:r>
          </a:p>
        </p:txBody>
      </p:sp>
      <p:sp>
        <p:nvSpPr>
          <p:cNvPr id="5" name="A single small image already in RAM gains little from b">
            <a:extLst xmlns:a="http://schemas.openxmlformats.org/drawingml/2006/main">
              <a:ext uri="{FF2B5EF4-FFF2-40B4-BE49-F238E27FC236}">
                <a16:creationId xmlns:a16="http://schemas.microsoft.com/office/drawing/2014/main" id="{4BADD949-5794-40BB-B31B-CB627E1B1BD3}"/>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 single small image already in RAM gains little from</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bypassing a storage step that is no longer on its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path.</a:t>
            </a:r>
          </a:p>
        </p:txBody>
      </p:sp>
      <p:sp>
        <p:nvSpPr>
          <p:cNvPr id="6" name="GDS does not decode an image, bypass an application’s C">
            <a:extLst xmlns:a="http://schemas.openxmlformats.org/drawingml/2006/main">
              <a:ext uri="{FF2B5EF4-FFF2-40B4-BE49-F238E27FC236}">
                <a16:creationId xmlns:a16="http://schemas.microsoft.com/office/drawing/2014/main" id="{2BE12BEE-76D4-4C08-954A-A6C849FA5EB9}"/>
              </a:ext>
            </a:extLst>
          </p:cNvPr>
          <p:cNvSpPr>
            <a:spLocks xmlns:a="http://schemas.openxmlformats.org/drawingml/2006/main" noGrp="1"/>
          </p:cNvSpPr>
          <p:nvPr/>
        </p:nvSpPr>
        <p:spPr>
          <a:xfrm xmlns:a="http://schemas.openxmlformats.org/drawingml/2006/main">
            <a:off x="609600" y="4020693"/>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GDS does not decode an image, bypass 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application’s CPU transformation, or make GPU</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memory access itself faster.</a:t>
            </a:r>
          </a:p>
        </p:txBody>
      </p:sp>
      <p:sp>
        <p:nvSpPr>
          <p:cNvPr id="7" name="Conditional batch alternative">
            <a:extLst xmlns:a="http://schemas.openxmlformats.org/drawingml/2006/main">
              <a:ext uri="{FF2B5EF4-FFF2-40B4-BE49-F238E27FC236}">
                <a16:creationId xmlns:a16="http://schemas.microsoft.com/office/drawing/2014/main" id="{0DBDB424-73D7-459C-ACB1-E33ED3BBF6BE}"/>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Conditional batch alternative</a:t>
            </a:r>
          </a:p>
        </p:txBody>
      </p:sp>
      <p:sp>
        <p:nvSpPr>
          <p:cNvPr id="8" name="Large storage-bound batches of GPU-ready pixels, or a c">
            <a:extLst xmlns:a="http://schemas.openxmlformats.org/drawingml/2006/main">
              <a:ext uri="{FF2B5EF4-FFF2-40B4-BE49-F238E27FC236}">
                <a16:creationId xmlns:a16="http://schemas.microsoft.com/office/drawing/2014/main" id="{58A0673C-52E6-4964-83A9-ECD18E7FBE57}"/>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Large storage-bound batches of GPU-ready pixels,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or a compatible GPU decoding pipeline, may avoid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host staging via cuFile and storage-side DMA.</a:t>
            </a:r>
          </a:p>
        </p:txBody>
      </p:sp>
      <p:sp>
        <p:nvSpPr>
          <p:cNvPr id="9" name="Verify the GPU, storage/filesystem, software and PCIe t">
            <a:extLst xmlns:a="http://schemas.openxmlformats.org/drawingml/2006/main">
              <a:ext uri="{FF2B5EF4-FFF2-40B4-BE49-F238E27FC236}">
                <a16:creationId xmlns:a16="http://schemas.microsoft.com/office/drawing/2014/main" id="{1FAE9E88-BF1E-4E45-8F53-EF8D0FCE2EE0}"/>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Verify the GPU, storage/filesystem, software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PCIe topology support the direct path. Compatibility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fallback uses host staging and is not evidence of</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direct DMA.</a:t>
            </a:r>
          </a:p>
        </p:txBody>
      </p:sp>
      <p:sp>
        <p:nvSpPr>
          <p:cNvPr id="10" name="Adopt only if completed batch time/CPU overhead improve">
            <a:extLst xmlns:a="http://schemas.openxmlformats.org/drawingml/2006/main">
              <a:ext uri="{FF2B5EF4-FFF2-40B4-BE49-F238E27FC236}">
                <a16:creationId xmlns:a16="http://schemas.microsoft.com/office/drawing/2014/main" id="{C88724CD-A2E8-4D79-B4F2-94BCCD57DF54}"/>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Adopt only if completed batch time/CPU overhead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improve on the real workload; include extra buffers,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decoding and storage bandwidth. Otherwise retain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conventional copies.</a:t>
            </a:r>
          </a:p>
        </p:txBody>
      </p:sp>
      <p:sp>
        <p:nvSpPr>
          <p:cNvPr id="11" name="">
            <a:extLst xmlns:a="http://schemas.openxmlformats.org/drawingml/2006/main">
              <a:ext uri="{FF2B5EF4-FFF2-40B4-BE49-F238E27FC236}">
                <a16:creationId xmlns:a16="http://schemas.microsoft.com/office/drawing/2014/main" id="{4CA9BB25-51DC-4914-BB0D-1564692A5C27}"/>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66E188D0-5CC1-427E-BA12-2DF76B3F42B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3] NVIDIA GDS overview; [4] NVIDIA GDS design">
            <a:extLst xmlns:a="http://schemas.openxmlformats.org/drawingml/2006/main">
              <a:ext uri="{FF2B5EF4-FFF2-40B4-BE49-F238E27FC236}">
                <a16:creationId xmlns:a16="http://schemas.microsoft.com/office/drawing/2014/main" id="{4AAD21F0-CBBF-45CF-8B86-1A06ECEFCA2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14" name="39 / 46">
            <a:extLst xmlns:a="http://schemas.openxmlformats.org/drawingml/2006/main">
              <a:ext uri="{FF2B5EF4-FFF2-40B4-BE49-F238E27FC236}">
                <a16:creationId xmlns:a16="http://schemas.microsoft.com/office/drawing/2014/main" id="{170FB112-75A5-4F7A-970B-BF6167518F4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39 / 46</a:t>
            </a:r>
          </a:p>
        </p:txBody>
      </p:sp>
    </p:spTree>
    <p:extLst>
      <p:ext uri="{BB962C8B-B14F-4D97-AF65-F5344CB8AC3E}">
        <p14:creationId xmlns:p14="http://schemas.microsoft.com/office/powerpoint/2010/main" val="462730452"/>
      </p:ext>
    </p:extLst>
  </p:cSld>
</p:sld>
</file>

<file path=ppt/slides/slide4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Appendix B1">
            <a:extLst xmlns:a="http://schemas.openxmlformats.org/drawingml/2006/main">
              <a:ext uri="{FF2B5EF4-FFF2-40B4-BE49-F238E27FC236}">
                <a16:creationId xmlns:a16="http://schemas.microsoft.com/office/drawing/2014/main" id="{D4A4ADC2-D3A2-46C4-BA70-8DAB8F82E337}"/>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B1</a:t>
            </a:r>
          </a:p>
        </p:txBody>
      </p:sp>
      <p:sp>
        <p:nvSpPr>
          <p:cNvPr id="2" name="Parallelism, dependencies and scaling limits">
            <a:extLst xmlns:a="http://schemas.openxmlformats.org/drawingml/2006/main">
              <a:ext uri="{FF2B5EF4-FFF2-40B4-BE49-F238E27FC236}">
                <a16:creationId xmlns:a16="http://schemas.microsoft.com/office/drawing/2014/main" id="{06CF0D17-9260-45C5-B3B2-A8A7E0CF437C}"/>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Parallelism, dependencies and scaling limits</a:t>
            </a:r>
          </a:p>
        </p:txBody>
      </p:sp>
      <p:graphicFrame>
        <p:nvGraphicFramePr>
          <p:cNvPr id="3" name="">
            <a:extLst xmlns:a="http://schemas.openxmlformats.org/drawingml/2006/main">
              <a:ext uri="{FF2B5EF4-FFF2-40B4-BE49-F238E27FC236}">
                <a16:creationId xmlns:a16="http://schemas.microsoft.com/office/drawing/2014/main" id="{B134D178-9763-4DF4-B563-D94E0A0EEEC4}"/>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Model</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Partition and communication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Scaling limitation</a:t>
                      </a:r>
                    </a:p>
                  </a:txBody>
                  <a:tcPr marL="91440" marR="91440" marT="45720" marB="45720" anchor="ctr">
                    <a:solidFill>
                      <a:srgbClr val="142D45"/>
                    </a:solidFill>
                  </a:tcPr>
                </a:tc>
              </a:tr>
              <a:tr h="666750">
                <a:tc>
                  <a:txBody>
                    <a:bodyPr lIns="95250" tIns="95250" rIns="95250" bIns="95250">
                      <a:noAutofit/>
                    </a:bodyPr>
                    <a:lstStyle/>
                    <a:p>
                      <a:pPr algn="l"/>
                      <a:r>
                        <a:rPr sz="1500" b="0">
                          <a:solidFill>
                            <a:srgbClr val="142D45"/>
                          </a:solidFill>
                          <a:latin typeface="Arial"/>
                          <a:ea typeface="Arial"/>
                          <a:cs typeface="Arial"/>
                        </a:rPr>
                        <a:t>Data parallel</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Replicate model; partition batches; reduce/average gradients before a consistent update</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Collective latency/bandwidth and stragglers.</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Tensor parallel</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Partition computations within a layer; exchange partial results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Frequent inter-device communication.</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Pipeline parallel</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Assign layers to stages; pass activations/gradients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Stage imbalance and pipeline bubbles.</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Fixed workload</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More GPUs reduce only the parallelizable portion</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Serial work and communication bound speedup.</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Larger workload</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Scale capacity/model/data with added resources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 different claim from halving a fixed job’s runtime.</a:t>
                      </a:r>
                    </a:p>
                  </a:txBody>
                  <a:tcPr marL="91440" marR="91440" marT="45720" marB="45720" anchor="ctr">
                    <a:solidFill>
                      <a:srgbClr val="FFFFFF"/>
                    </a:solidFill>
                  </a:tcPr>
                </a:tc>
              </a:tr>
            </a:tbl>
          </a:graphicData>
        </a:graphic>
      </p:graphicFrame>
      <p:sp>
        <p:nvSpPr>
          <p:cNvPr id="4" name="All-reduce is a collective result-sharing concept, not ">
            <a:extLst xmlns:a="http://schemas.openxmlformats.org/drawingml/2006/main">
              <a:ext uri="{FF2B5EF4-FFF2-40B4-BE49-F238E27FC236}">
                <a16:creationId xmlns:a16="http://schemas.microsoft.com/office/drawing/2014/main" id="{D4C086D2-4E92-44EC-B7C6-316F398DF653}"/>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All-reduce is a collective result-sharing concept, not a claim that every AI framework uses the exact classroom MPI code.</a:t>
            </a:r>
          </a:p>
        </p:txBody>
      </p:sp>
      <p:sp>
        <p:nvSpPr>
          <p:cNvPr id="5" name="">
            <a:extLst xmlns:a="http://schemas.openxmlformats.org/drawingml/2006/main">
              <a:ext uri="{FF2B5EF4-FFF2-40B4-BE49-F238E27FC236}">
                <a16:creationId xmlns:a16="http://schemas.microsoft.com/office/drawing/2014/main" id="{96B1D9F0-C07D-4BA4-A092-2EAA1AA7014F}"/>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5] NVIDIA Megatron parallelism; [2] NVIDIA CU">
            <a:extLst xmlns:a="http://schemas.openxmlformats.org/drawingml/2006/main">
              <a:ext uri="{FF2B5EF4-FFF2-40B4-BE49-F238E27FC236}">
                <a16:creationId xmlns:a16="http://schemas.microsoft.com/office/drawing/2014/main" id="{51735946-6893-4684-A745-B5932FAAB7FE}"/>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7" name="40 / 46">
            <a:extLst xmlns:a="http://schemas.openxmlformats.org/drawingml/2006/main">
              <a:ext uri="{FF2B5EF4-FFF2-40B4-BE49-F238E27FC236}">
                <a16:creationId xmlns:a16="http://schemas.microsoft.com/office/drawing/2014/main" id="{AAFE524E-79EB-4E73-8419-7F24A43FF520}"/>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40 / 46</a:t>
            </a:r>
          </a:p>
        </p:txBody>
      </p:sp>
    </p:spTree>
    <p:extLst>
      <p:ext uri="{BB962C8B-B14F-4D97-AF65-F5344CB8AC3E}">
        <p14:creationId xmlns:p14="http://schemas.microsoft.com/office/powerpoint/2010/main" val="860671407"/>
      </p:ext>
    </p:extLst>
  </p:cSld>
</p:sld>
</file>

<file path=ppt/slides/slide4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Appendix B2">
            <a:extLst xmlns:a="http://schemas.openxmlformats.org/drawingml/2006/main">
              <a:ext uri="{FF2B5EF4-FFF2-40B4-BE49-F238E27FC236}">
                <a16:creationId xmlns:a16="http://schemas.microsoft.com/office/drawing/2014/main" id="{C97C182E-650B-4810-A47D-6534DC7817D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B2</a:t>
            </a:r>
          </a:p>
        </p:txBody>
      </p:sp>
      <p:sp>
        <p:nvSpPr>
          <p:cNvPr id="2" name="Research comparisons across all four topics">
            <a:extLst xmlns:a="http://schemas.openxmlformats.org/drawingml/2006/main">
              <a:ext uri="{FF2B5EF4-FFF2-40B4-BE49-F238E27FC236}">
                <a16:creationId xmlns:a16="http://schemas.microsoft.com/office/drawing/2014/main" id="{F74DC8C7-2DD8-449C-9942-0BE3A0EC9EB8}"/>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Research comparisons across all four topics</a:t>
            </a:r>
          </a:p>
        </p:txBody>
      </p:sp>
      <p:graphicFrame>
        <p:nvGraphicFramePr>
          <p:cNvPr id="3" name="">
            <a:extLst xmlns:a="http://schemas.openxmlformats.org/drawingml/2006/main">
              <a:ext uri="{FF2B5EF4-FFF2-40B4-BE49-F238E27FC236}">
                <a16:creationId xmlns:a16="http://schemas.microsoft.com/office/drawing/2014/main" id="{23BA3964-12AC-467F-8C03-5FF437846FAF}"/>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Topic</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Comparison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Interpretation / limit</a:t>
                      </a:r>
                    </a:p>
                  </a:txBody>
                  <a:tcPr marL="91440" marR="91440" marT="45720" marB="45720" anchor="ctr">
                    <a:solidFill>
                      <a:srgbClr val="142D45"/>
                    </a:solidFill>
                  </a:tcPr>
                </a:tc>
              </a:tr>
              <a:tr h="833438">
                <a:tc>
                  <a:txBody>
                    <a:bodyPr lIns="95250" tIns="95250" rIns="95250" bIns="95250">
                      <a:noAutofit/>
                    </a:bodyPr>
                    <a:lstStyle/>
                    <a:p>
                      <a:pPr algn="l"/>
                      <a:r>
                        <a:rPr sz="1500" b="0">
                          <a:solidFill>
                            <a:srgbClr val="142D45"/>
                          </a:solidFill>
                          <a:latin typeface="Arial"/>
                          <a:ea typeface="Arial"/>
                          <a:cs typeface="Arial"/>
                        </a:rPr>
                        <a:t>(a) Environment</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Cost/efficiency research [8,10] versus water-footprint research [9]</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Useful-output efficiency and local resource pressure need different measures.</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(b) Governance</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Gradient reconstruction [11] versus fairness evaluation survey [12]</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Data exposure and unequal outcomes are distinct failure mechanisms.</a:t>
                      </a:r>
                    </a:p>
                  </a:txBody>
                  <a:tcPr marL="91440" marR="91440" marT="45720" marB="45720" anchor="ctr">
                    <a:solidFill>
                      <a:srgbClr val="F0F4F4"/>
                    </a:solidFill>
                  </a:tcPr>
                </a:tc>
              </a:tr>
              <a:tr h="833438">
                <a:tc>
                  <a:txBody>
                    <a:bodyPr lIns="95250" tIns="95250" rIns="95250" bIns="95250">
                      <a:noAutofit/>
                    </a:bodyPr>
                    <a:lstStyle/>
                    <a:p>
                      <a:pPr algn="l"/>
                      <a:r>
                        <a:rPr sz="1500" b="0">
                          <a:solidFill>
                            <a:srgbClr val="142D45"/>
                          </a:solidFill>
                          <a:latin typeface="Arial"/>
                          <a:ea typeface="Arial"/>
                          <a:cs typeface="Arial"/>
                        </a:rPr>
                        <a:t>(c) Access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Institutional participation [13] versus workload cost/equity [8]</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Concentration and financial barriers reinforce a concern; scopes differ.</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(d) Frameworks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Efficiency-reporting argument [10] versus operational scheduling [14]</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Measurement motivates action; scheduling depends on flexibility and forecasts.</a:t>
                      </a:r>
                    </a:p>
                  </a:txBody>
                  <a:tcPr marL="91440" marR="91440" marT="45720" marB="45720" anchor="ctr">
                    <a:solidFill>
                      <a:srgbClr val="F0F4F4"/>
                    </a:solidFill>
                  </a:tcPr>
                </a:tc>
              </a:tr>
            </a:tbl>
          </a:graphicData>
        </a:graphic>
      </p:graphicFrame>
      <p:sp>
        <p:nvSpPr>
          <p:cNvPr id="4" name="Current institutional evidence [6,7] and governance fra">
            <a:extLst xmlns:a="http://schemas.openxmlformats.org/drawingml/2006/main">
              <a:ext uri="{FF2B5EF4-FFF2-40B4-BE49-F238E27FC236}">
                <a16:creationId xmlns:a16="http://schemas.microsoft.com/office/drawing/2014/main" id="{071DD681-74A7-4E8E-966C-CAB864C62E7B}"/>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Current institutional evidence [6,7] and governance frameworks [15,16] complement the research; they do not replace its</a:t>
            </a:r>
          </a:p>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methodological limits.</a:t>
            </a:r>
          </a:p>
        </p:txBody>
      </p:sp>
      <p:sp>
        <p:nvSpPr>
          <p:cNvPr id="5" name="">
            <a:extLst xmlns:a="http://schemas.openxmlformats.org/drawingml/2006/main">
              <a:ext uri="{FF2B5EF4-FFF2-40B4-BE49-F238E27FC236}">
                <a16:creationId xmlns:a16="http://schemas.microsoft.com/office/drawing/2014/main" id="{D280FDA4-5C25-42B2-A15C-427B2245741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8] Strubell et al. 2019: cost and equity; [9]">
            <a:extLst xmlns:a="http://schemas.openxmlformats.org/drawingml/2006/main">
              <a:ext uri="{FF2B5EF4-FFF2-40B4-BE49-F238E27FC236}">
                <a16:creationId xmlns:a16="http://schemas.microsoft.com/office/drawing/2014/main" id="{7AAF8294-94AF-45E6-B649-826BCBB1622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[9] Li et al. 2025 revision: water impacts; [10] Schwartz et al. 2019: efficiency reporting; [11] Zhu et al. 2019: exposed gradients; [12]</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Gallegos et al. 2024: fairness evaluation; [13] Ahmed and Wahed 2020: compute divide; [14] Radovanovic et al. 2021: flexible scheduling</a:t>
            </a:r>
          </a:p>
        </p:txBody>
      </p:sp>
      <p:sp>
        <p:nvSpPr>
          <p:cNvPr id="7" name="41 / 46">
            <a:extLst xmlns:a="http://schemas.openxmlformats.org/drawingml/2006/main">
              <a:ext uri="{FF2B5EF4-FFF2-40B4-BE49-F238E27FC236}">
                <a16:creationId xmlns:a16="http://schemas.microsoft.com/office/drawing/2014/main" id="{EDFB6BF4-2A90-4AD2-AD64-C1850C56C42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41 / 46</a:t>
            </a:r>
          </a:p>
        </p:txBody>
      </p:sp>
    </p:spTree>
    <p:extLst>
      <p:ext uri="{BB962C8B-B14F-4D97-AF65-F5344CB8AC3E}">
        <p14:creationId xmlns:p14="http://schemas.microsoft.com/office/powerpoint/2010/main" val="1166584282"/>
      </p:ext>
    </p:extLst>
  </p:cSld>
</p:sld>
</file>

<file path=ppt/slides/slide4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1/4">
            <a:extLst xmlns:a="http://schemas.openxmlformats.org/drawingml/2006/main">
              <a:ext uri="{FF2B5EF4-FFF2-40B4-BE49-F238E27FC236}">
                <a16:creationId xmlns:a16="http://schemas.microsoft.com/office/drawing/2014/main" id="{5501E27C-1E9C-439C-9848-3F1A56BA5F2D}"/>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1/4</a:t>
            </a:r>
          </a:p>
        </p:txBody>
      </p:sp>
      <p:sp>
        <p:nvSpPr>
          <p:cNvPr id="2" name="References">
            <a:extLst xmlns:a="http://schemas.openxmlformats.org/drawingml/2006/main">
              <a:ext uri="{FF2B5EF4-FFF2-40B4-BE49-F238E27FC236}">
                <a16:creationId xmlns:a16="http://schemas.microsoft.com/office/drawing/2014/main" id="{8609AF29-89CD-4C3F-8965-1D8A81435055}"/>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 NVIDIA, “Programming model,” CUDA Programming Guide">
            <a:extLst xmlns:a="http://schemas.openxmlformats.org/drawingml/2006/main">
              <a:ext uri="{FF2B5EF4-FFF2-40B4-BE49-F238E27FC236}">
                <a16:creationId xmlns:a16="http://schemas.microsoft.com/office/drawing/2014/main" id="{38F3F8E8-5BAE-4FFB-A2A6-CDD1511252C0}"/>
              </a:ext>
            </a:extLst>
          </p:cNvPr>
          <p:cNvSpPr>
            <a:spLocks xmlns:a="http://schemas.openxmlformats.org/drawingml/2006/main" noGrp="1"/>
          </p:cNvSpPr>
          <p:nvPr/>
        </p:nvSpPr>
        <p:spPr>
          <a:xfrm xmlns:a="http://schemas.openxmlformats.org/drawingml/2006/main">
            <a:off x="609600" y="15621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 NVIDIA, “Programming model,” CUDA Programming Guide, online documentation, accessed Oct. 8, 2026.</a:t>
            </a:r>
          </a:p>
        </p:txBody>
      </p:sp>
      <p:sp>
        <p:nvSpPr>
          <p:cNvPr id="4" name="https://docs.nvidia.com/cuda/cuda-programming-guide/01-">
            <a:extLst xmlns:a="http://schemas.openxmlformats.org/drawingml/2006/main">
              <a:ext uri="{FF2B5EF4-FFF2-40B4-BE49-F238E27FC236}">
                <a16:creationId xmlns:a16="http://schemas.microsoft.com/office/drawing/2014/main" id="{134A1273-A30E-4681-81FF-AAC2D43EF85E}"/>
              </a:ext>
            </a:extLst>
          </p:cNvPr>
          <p:cNvSpPr>
            <a:spLocks xmlns:a="http://schemas.openxmlformats.org/drawingml/2006/main" noGrp="1"/>
          </p:cNvSpPr>
          <p:nvPr/>
        </p:nvSpPr>
        <p:spPr>
          <a:xfrm xmlns:a="http://schemas.openxmlformats.org/drawingml/2006/main">
            <a:off x="609600" y="188633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7cdbd4dcc1584716"/>
              </a:rPr>
              <a:t>https://docs.nvidia.com/cuda/cuda-programming-guide/01-introduction/programming-model.html</a:t>
            </a:r>
          </a:p>
        </p:txBody>
      </p:sp>
      <p:sp>
        <p:nvSpPr>
          <p:cNvPr id="5" name="[2] NVIDIA, CUDA C++ Best Practices Guide, online docum">
            <a:extLst xmlns:a="http://schemas.openxmlformats.org/drawingml/2006/main">
              <a:ext uri="{FF2B5EF4-FFF2-40B4-BE49-F238E27FC236}">
                <a16:creationId xmlns:a16="http://schemas.microsoft.com/office/drawing/2014/main" id="{0F887F59-9729-4F97-92E9-2AF7CD84F5F9}"/>
              </a:ext>
            </a:extLst>
          </p:cNvPr>
          <p:cNvSpPr>
            <a:spLocks xmlns:a="http://schemas.openxmlformats.org/drawingml/2006/main" noGrp="1"/>
          </p:cNvSpPr>
          <p:nvPr/>
        </p:nvSpPr>
        <p:spPr>
          <a:xfrm xmlns:a="http://schemas.openxmlformats.org/drawingml/2006/main">
            <a:off x="609600" y="232752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[2] NVIDIA, CUDA C++ Best Practices Guide, online documentation, accessed Oct. 8, 2026.</a:t>
            </a:r>
          </a:p>
        </p:txBody>
      </p:sp>
      <p:sp>
        <p:nvSpPr>
          <p:cNvPr id="6" name="https://docs.nvidia.com/cuda/cuda-c-best-practices-guid">
            <a:extLst xmlns:a="http://schemas.openxmlformats.org/drawingml/2006/main">
              <a:ext uri="{FF2B5EF4-FFF2-40B4-BE49-F238E27FC236}">
                <a16:creationId xmlns:a16="http://schemas.microsoft.com/office/drawing/2014/main" id="{30223213-F002-4C82-B5B4-5929B6B1E930}"/>
              </a:ext>
            </a:extLst>
          </p:cNvPr>
          <p:cNvSpPr>
            <a:spLocks xmlns:a="http://schemas.openxmlformats.org/drawingml/2006/main" noGrp="1"/>
          </p:cNvSpPr>
          <p:nvPr/>
        </p:nvSpPr>
        <p:spPr>
          <a:xfrm xmlns:a="http://schemas.openxmlformats.org/drawingml/2006/main">
            <a:off x="609600" y="265176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ec29219a72ed42a0"/>
              </a:rPr>
              <a:t>https://docs.nvidia.com/cuda/cuda-c-best-practices-guide/index.html</a:t>
            </a:r>
          </a:p>
        </p:txBody>
      </p:sp>
      <p:sp>
        <p:nvSpPr>
          <p:cNvPr id="7" name="[3] NVIDIA, GPUDirect Storage Overview Guide, online do">
            <a:extLst xmlns:a="http://schemas.openxmlformats.org/drawingml/2006/main">
              <a:ext uri="{FF2B5EF4-FFF2-40B4-BE49-F238E27FC236}">
                <a16:creationId xmlns:a16="http://schemas.microsoft.com/office/drawing/2014/main" id="{5347027D-AE98-45A1-B191-9C5F38A3B175}"/>
              </a:ext>
            </a:extLst>
          </p:cNvPr>
          <p:cNvSpPr>
            <a:spLocks xmlns:a="http://schemas.openxmlformats.org/drawingml/2006/main" noGrp="1"/>
          </p:cNvSpPr>
          <p:nvPr/>
        </p:nvSpPr>
        <p:spPr>
          <a:xfrm xmlns:a="http://schemas.openxmlformats.org/drawingml/2006/main">
            <a:off x="609600" y="3092958"/>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[3] NVIDIA, GPUDirect Storage Overview Guide, online documentation, accessed Oct. 8, 2026.</a:t>
            </a:r>
          </a:p>
        </p:txBody>
      </p:sp>
      <p:sp>
        <p:nvSpPr>
          <p:cNvPr id="8" name="https://docs.nvidia.com/gpudirect-storage/overview-guid">
            <a:extLst xmlns:a="http://schemas.openxmlformats.org/drawingml/2006/main">
              <a:ext uri="{FF2B5EF4-FFF2-40B4-BE49-F238E27FC236}">
                <a16:creationId xmlns:a16="http://schemas.microsoft.com/office/drawing/2014/main" id="{D71D3E4A-DDD2-4BCF-92B4-A0DB478DBF77}"/>
              </a:ext>
            </a:extLst>
          </p:cNvPr>
          <p:cNvSpPr>
            <a:spLocks xmlns:a="http://schemas.openxmlformats.org/drawingml/2006/main" noGrp="1"/>
          </p:cNvSpPr>
          <p:nvPr/>
        </p:nvSpPr>
        <p:spPr>
          <a:xfrm xmlns:a="http://schemas.openxmlformats.org/drawingml/2006/main">
            <a:off x="609600" y="3417189"/>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b9f69387408b49e2"/>
              </a:rPr>
              <a:t>https://docs.nvidia.com/gpudirect-storage/overview-guide/index.html</a:t>
            </a:r>
          </a:p>
        </p:txBody>
      </p:sp>
      <p:sp>
        <p:nvSpPr>
          <p:cNvPr id="9" name="[4] NVIDIA, GPUDirect Storage Design Guide, online docu">
            <a:extLst xmlns:a="http://schemas.openxmlformats.org/drawingml/2006/main">
              <a:ext uri="{FF2B5EF4-FFF2-40B4-BE49-F238E27FC236}">
                <a16:creationId xmlns:a16="http://schemas.microsoft.com/office/drawing/2014/main" id="{E1E3A930-ECA3-4040-BEA2-040140F9E672}"/>
              </a:ext>
            </a:extLst>
          </p:cNvPr>
          <p:cNvSpPr>
            <a:spLocks xmlns:a="http://schemas.openxmlformats.org/drawingml/2006/main" noGrp="1"/>
          </p:cNvSpPr>
          <p:nvPr/>
        </p:nvSpPr>
        <p:spPr>
          <a:xfrm xmlns:a="http://schemas.openxmlformats.org/drawingml/2006/main">
            <a:off x="609600" y="3858387"/>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[4] NVIDIA, GPUDirect Storage Design Guide, online documentation, accessed Oct. 8, 2026.</a:t>
            </a:r>
          </a:p>
        </p:txBody>
      </p:sp>
      <p:sp>
        <p:nvSpPr>
          <p:cNvPr id="10" name="https://docs.nvidia.com/gpudirect-storage/design-guide/">
            <a:extLst xmlns:a="http://schemas.openxmlformats.org/drawingml/2006/main">
              <a:ext uri="{FF2B5EF4-FFF2-40B4-BE49-F238E27FC236}">
                <a16:creationId xmlns:a16="http://schemas.microsoft.com/office/drawing/2014/main" id="{ADDAFFB8-B0C6-4263-A06E-12B7002B5872}"/>
              </a:ext>
            </a:extLst>
          </p:cNvPr>
          <p:cNvSpPr>
            <a:spLocks xmlns:a="http://schemas.openxmlformats.org/drawingml/2006/main" noGrp="1"/>
          </p:cNvSpPr>
          <p:nvPr/>
        </p:nvSpPr>
        <p:spPr>
          <a:xfrm xmlns:a="http://schemas.openxmlformats.org/drawingml/2006/main">
            <a:off x="609600" y="4182618"/>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95e1e618d211431d"/>
              </a:rPr>
              <a:t>https://docs.nvidia.com/gpudirect-storage/design-guide/index.html</a:t>
            </a:r>
          </a:p>
        </p:txBody>
      </p:sp>
      <p:sp>
        <p:nvSpPr>
          <p:cNvPr id="11" name="">
            <a:extLst xmlns:a="http://schemas.openxmlformats.org/drawingml/2006/main">
              <a:ext uri="{FF2B5EF4-FFF2-40B4-BE49-F238E27FC236}">
                <a16:creationId xmlns:a16="http://schemas.microsoft.com/office/drawing/2014/main" id="{26899596-9058-400D-8332-DB4CF9DF6AE3}"/>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C507BDD4-6395-4DD6-ABCC-1119607D5942}"/>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2 / 46">
            <a:extLst xmlns:a="http://schemas.openxmlformats.org/drawingml/2006/main">
              <a:ext uri="{FF2B5EF4-FFF2-40B4-BE49-F238E27FC236}">
                <a16:creationId xmlns:a16="http://schemas.microsoft.com/office/drawing/2014/main" id="{861AF978-8965-4420-8962-AB22ED6881F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42 / 46</a:t>
            </a:r>
          </a:p>
        </p:txBody>
      </p:sp>
    </p:spTree>
    <p:extLst>
      <p:ext uri="{BB962C8B-B14F-4D97-AF65-F5344CB8AC3E}">
        <p14:creationId xmlns:p14="http://schemas.microsoft.com/office/powerpoint/2010/main" val="1222422395"/>
      </p:ext>
    </p:extLst>
  </p:cSld>
</p:sld>
</file>

<file path=ppt/slides/slide4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2/4">
            <a:extLst xmlns:a="http://schemas.openxmlformats.org/drawingml/2006/main">
              <a:ext uri="{FF2B5EF4-FFF2-40B4-BE49-F238E27FC236}">
                <a16:creationId xmlns:a16="http://schemas.microsoft.com/office/drawing/2014/main" id="{169A65F6-0B6D-457A-9B2B-2AE520B5B01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2/4</a:t>
            </a:r>
          </a:p>
        </p:txBody>
      </p:sp>
      <p:sp>
        <p:nvSpPr>
          <p:cNvPr id="2" name="References">
            <a:extLst xmlns:a="http://schemas.openxmlformats.org/drawingml/2006/main">
              <a:ext uri="{FF2B5EF4-FFF2-40B4-BE49-F238E27FC236}">
                <a16:creationId xmlns:a16="http://schemas.microsoft.com/office/drawing/2014/main" id="{828E6CAB-A241-4582-B81D-61F31C9038D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5] NVIDIA, “Parallelism strategies guide,” Megatron Co">
            <a:extLst xmlns:a="http://schemas.openxmlformats.org/drawingml/2006/main">
              <a:ext uri="{FF2B5EF4-FFF2-40B4-BE49-F238E27FC236}">
                <a16:creationId xmlns:a16="http://schemas.microsoft.com/office/drawing/2014/main" id="{94327D8E-3629-4ADA-8A8D-A331D476C647}"/>
              </a:ext>
            </a:extLst>
          </p:cNvPr>
          <p:cNvSpPr>
            <a:spLocks xmlns:a="http://schemas.openxmlformats.org/drawingml/2006/main" noGrp="1"/>
          </p:cNvSpPr>
          <p:nvPr/>
        </p:nvSpPr>
        <p:spPr>
          <a:xfrm xmlns:a="http://schemas.openxmlformats.org/drawingml/2006/main">
            <a:off x="609600" y="15621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[5] NVIDIA, “Parallelism strategies guide,” Megatron Core, online documentation, accessed Oct. 8, 2026.</a:t>
            </a:r>
          </a:p>
        </p:txBody>
      </p:sp>
      <p:sp>
        <p:nvSpPr>
          <p:cNvPr id="4" name="https://docs.nvidia.com/megatron-core/developer-guide/l">
            <a:extLst xmlns:a="http://schemas.openxmlformats.org/drawingml/2006/main">
              <a:ext uri="{FF2B5EF4-FFF2-40B4-BE49-F238E27FC236}">
                <a16:creationId xmlns:a16="http://schemas.microsoft.com/office/drawing/2014/main" id="{BDF3F195-700A-4FEE-9436-B992830A294B}"/>
              </a:ext>
            </a:extLst>
          </p:cNvPr>
          <p:cNvSpPr>
            <a:spLocks xmlns:a="http://schemas.openxmlformats.org/drawingml/2006/main" noGrp="1"/>
          </p:cNvSpPr>
          <p:nvPr/>
        </p:nvSpPr>
        <p:spPr>
          <a:xfrm xmlns:a="http://schemas.openxmlformats.org/drawingml/2006/main">
            <a:off x="609600" y="188633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a593dc04fc5e407a"/>
              </a:rPr>
              <a:t>https://docs.nvidia.com/megatron-core/developer-guide/latest/user-guide/parallelism-guide.html</a:t>
            </a:r>
          </a:p>
        </p:txBody>
      </p:sp>
      <p:sp>
        <p:nvSpPr>
          <p:cNvPr id="5" name="[6] International Energy Agency, Key Questions on Energ">
            <a:extLst xmlns:a="http://schemas.openxmlformats.org/drawingml/2006/main">
              <a:ext uri="{FF2B5EF4-FFF2-40B4-BE49-F238E27FC236}">
                <a16:creationId xmlns:a16="http://schemas.microsoft.com/office/drawing/2014/main" id="{D81FD331-C1D9-4F18-AD95-19126730787C}"/>
              </a:ext>
            </a:extLst>
          </p:cNvPr>
          <p:cNvSpPr>
            <a:spLocks xmlns:a="http://schemas.openxmlformats.org/drawingml/2006/main" noGrp="1"/>
          </p:cNvSpPr>
          <p:nvPr/>
        </p:nvSpPr>
        <p:spPr>
          <a:xfrm xmlns:a="http://schemas.openxmlformats.org/drawingml/2006/main">
            <a:off x="609600" y="2327529"/>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[6] International Energy Agency, Key Questions on Energy and AI, executive summary, Apr. 16, 2026, CC BY 4.0, accessed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Oct. 8, 2026.</a:t>
            </a:r>
          </a:p>
        </p:txBody>
      </p:sp>
      <p:sp>
        <p:nvSpPr>
          <p:cNvPr id="6" name="https://www.iea.org/reports/key-questions-on-energy-and">
            <a:extLst xmlns:a="http://schemas.openxmlformats.org/drawingml/2006/main">
              <a:ext uri="{FF2B5EF4-FFF2-40B4-BE49-F238E27FC236}">
                <a16:creationId xmlns:a16="http://schemas.microsoft.com/office/drawing/2014/main" id="{5AA26741-A52D-4120-B353-7BF3AB22646C}"/>
              </a:ext>
            </a:extLst>
          </p:cNvPr>
          <p:cNvSpPr>
            <a:spLocks xmlns:a="http://schemas.openxmlformats.org/drawingml/2006/main" noGrp="1"/>
          </p:cNvSpPr>
          <p:nvPr/>
        </p:nvSpPr>
        <p:spPr>
          <a:xfrm xmlns:a="http://schemas.openxmlformats.org/drawingml/2006/main">
            <a:off x="609600" y="289979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7ae2c7ce454e4c59"/>
              </a:rPr>
              <a:t>https://www.iea.org/reports/key-questions-on-energy-and-ai/executive-summary</a:t>
            </a:r>
          </a:p>
        </p:txBody>
      </p:sp>
      <p:sp>
        <p:nvSpPr>
          <p:cNvPr id="7" name="[7] U.S. National Science Foundation, “NAIRR at 2 years">
            <a:extLst xmlns:a="http://schemas.openxmlformats.org/drawingml/2006/main">
              <a:ext uri="{FF2B5EF4-FFF2-40B4-BE49-F238E27FC236}">
                <a16:creationId xmlns:a16="http://schemas.microsoft.com/office/drawing/2014/main" id="{EE580E5C-23C8-4973-BA58-636FE7F1F4A9}"/>
              </a:ext>
            </a:extLst>
          </p:cNvPr>
          <p:cNvSpPr>
            <a:spLocks xmlns:a="http://schemas.openxmlformats.org/drawingml/2006/main" noGrp="1"/>
          </p:cNvSpPr>
          <p:nvPr/>
        </p:nvSpPr>
        <p:spPr>
          <a:xfrm xmlns:a="http://schemas.openxmlformats.org/drawingml/2006/main">
            <a:off x="609600" y="3340989"/>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[7] U.S. National Science Foundation, “NAIRR at 2 years: Advancing American artificial intelligence innovation and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leadership,” Mar. 19, 2026, accessed Oct. 8, 2026.</a:t>
            </a:r>
          </a:p>
        </p:txBody>
      </p:sp>
      <p:sp>
        <p:nvSpPr>
          <p:cNvPr id="8" name="https://www.nsf.gov/cise/updates/nairr-2-years-advancin">
            <a:extLst xmlns:a="http://schemas.openxmlformats.org/drawingml/2006/main">
              <a:ext uri="{FF2B5EF4-FFF2-40B4-BE49-F238E27FC236}">
                <a16:creationId xmlns:a16="http://schemas.microsoft.com/office/drawing/2014/main" id="{D53CAB4E-A336-4605-A3B3-642F8E739C65}"/>
              </a:ext>
            </a:extLst>
          </p:cNvPr>
          <p:cNvSpPr>
            <a:spLocks xmlns:a="http://schemas.openxmlformats.org/drawingml/2006/main" noGrp="1"/>
          </p:cNvSpPr>
          <p:nvPr/>
        </p:nvSpPr>
        <p:spPr>
          <a:xfrm xmlns:a="http://schemas.openxmlformats.org/drawingml/2006/main">
            <a:off x="609600" y="391325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f6a92bb32f8c446e"/>
              </a:rPr>
              <a:t>https://www.nsf.gov/cise/updates/nairr-2-years-advancing-american-artificial-intelligence</a:t>
            </a:r>
          </a:p>
        </p:txBody>
      </p:sp>
      <p:sp>
        <p:nvSpPr>
          <p:cNvPr id="9" name="[8] E. Strubell, A. Ganesh, and A. McCallum, “Energy an">
            <a:extLst xmlns:a="http://schemas.openxmlformats.org/drawingml/2006/main">
              <a:ext uri="{FF2B5EF4-FFF2-40B4-BE49-F238E27FC236}">
                <a16:creationId xmlns:a16="http://schemas.microsoft.com/office/drawing/2014/main" id="{34C48030-774E-4837-BBFD-A8CB70EEA90D}"/>
              </a:ext>
            </a:extLst>
          </p:cNvPr>
          <p:cNvSpPr>
            <a:spLocks xmlns:a="http://schemas.openxmlformats.org/drawingml/2006/main" noGrp="1"/>
          </p:cNvSpPr>
          <p:nvPr/>
        </p:nvSpPr>
        <p:spPr>
          <a:xfrm xmlns:a="http://schemas.openxmlformats.org/drawingml/2006/main">
            <a:off x="609600" y="4354449"/>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[8] E. Strubell, A. Ganesh, and A. McCallum, “Energy and policy considerations for deep learning in NLP,” in Proc. ACL,</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2019, pp. 3645–3650, doi: 10.18653/v1/P19-1355.</a:t>
            </a:r>
          </a:p>
        </p:txBody>
      </p:sp>
      <p:sp>
        <p:nvSpPr>
          <p:cNvPr id="10" name="https://aclanthology.org/P19-1355/">
            <a:extLst xmlns:a="http://schemas.openxmlformats.org/drawingml/2006/main">
              <a:ext uri="{FF2B5EF4-FFF2-40B4-BE49-F238E27FC236}">
                <a16:creationId xmlns:a16="http://schemas.microsoft.com/office/drawing/2014/main" id="{1E04B077-B09E-4F05-8E91-C87D1E3DC64B}"/>
              </a:ext>
            </a:extLst>
          </p:cNvPr>
          <p:cNvSpPr>
            <a:spLocks xmlns:a="http://schemas.openxmlformats.org/drawingml/2006/main" noGrp="1"/>
          </p:cNvSpPr>
          <p:nvPr/>
        </p:nvSpPr>
        <p:spPr>
          <a:xfrm xmlns:a="http://schemas.openxmlformats.org/drawingml/2006/main">
            <a:off x="609600" y="492671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73a274729f9b4ee0"/>
              </a:rPr>
              <a:t>https://aclanthology.org/P19-1355/</a:t>
            </a:r>
          </a:p>
        </p:txBody>
      </p:sp>
      <p:sp>
        <p:nvSpPr>
          <p:cNvPr id="11" name="">
            <a:extLst xmlns:a="http://schemas.openxmlformats.org/drawingml/2006/main">
              <a:ext uri="{FF2B5EF4-FFF2-40B4-BE49-F238E27FC236}">
                <a16:creationId xmlns:a16="http://schemas.microsoft.com/office/drawing/2014/main" id="{F9FC2301-937C-409D-8535-E7F4D3DDCD1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7CDF7F2F-7002-4E3D-8DC5-2997E0AA22D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3 / 46">
            <a:extLst xmlns:a="http://schemas.openxmlformats.org/drawingml/2006/main">
              <a:ext uri="{FF2B5EF4-FFF2-40B4-BE49-F238E27FC236}">
                <a16:creationId xmlns:a16="http://schemas.microsoft.com/office/drawing/2014/main" id="{30FFE8FC-8E6C-4BBF-B8A4-6D53DC73A26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43 / 46</a:t>
            </a:r>
          </a:p>
        </p:txBody>
      </p:sp>
    </p:spTree>
    <p:extLst>
      <p:ext uri="{BB962C8B-B14F-4D97-AF65-F5344CB8AC3E}">
        <p14:creationId xmlns:p14="http://schemas.microsoft.com/office/powerpoint/2010/main" val="2088298209"/>
      </p:ext>
    </p:extLst>
  </p:cSld>
</p:sld>
</file>

<file path=ppt/slides/slide4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3/4">
            <a:extLst xmlns:a="http://schemas.openxmlformats.org/drawingml/2006/main">
              <a:ext uri="{FF2B5EF4-FFF2-40B4-BE49-F238E27FC236}">
                <a16:creationId xmlns:a16="http://schemas.microsoft.com/office/drawing/2014/main" id="{802ABA04-3B1A-4FA2-B53A-771F684CD93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3/4</a:t>
            </a:r>
          </a:p>
        </p:txBody>
      </p:sp>
      <p:sp>
        <p:nvSpPr>
          <p:cNvPr id="2" name="References">
            <a:extLst xmlns:a="http://schemas.openxmlformats.org/drawingml/2006/main">
              <a:ext uri="{FF2B5EF4-FFF2-40B4-BE49-F238E27FC236}">
                <a16:creationId xmlns:a16="http://schemas.microsoft.com/office/drawing/2014/main" id="{363F7808-2A58-4559-876B-AC4E93BAE983}"/>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9] P. Li, J. Yang, M. A. Islam, and S. Ren, “Making AI">
            <a:extLst xmlns:a="http://schemas.openxmlformats.org/drawingml/2006/main">
              <a:ext uri="{FF2B5EF4-FFF2-40B4-BE49-F238E27FC236}">
                <a16:creationId xmlns:a16="http://schemas.microsoft.com/office/drawing/2014/main" id="{08B4A86A-253D-4FB3-BF1F-2A86305299F7}"/>
              </a:ext>
            </a:extLst>
          </p:cNvPr>
          <p:cNvSpPr>
            <a:spLocks xmlns:a="http://schemas.openxmlformats.org/drawingml/2006/main" noGrp="1"/>
          </p:cNvSpPr>
          <p:nvPr/>
        </p:nvSpPr>
        <p:spPr>
          <a:xfrm xmlns:a="http://schemas.openxmlformats.org/drawingml/2006/main">
            <a:off x="609600" y="1562100"/>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[9] P. Li, J. Yang, M. A. Islam, and S. Ren, “Making AI less ‘thirsty’: Uncovering and addressing the secret water footprint of</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AI models,” arXiv:2304.03271v5, Mar. 26, 2025; first submitted 2023.</a:t>
            </a:r>
          </a:p>
        </p:txBody>
      </p:sp>
      <p:sp>
        <p:nvSpPr>
          <p:cNvPr id="4" name="https://arxiv.org/abs/2304.03271v5">
            <a:extLst xmlns:a="http://schemas.openxmlformats.org/drawingml/2006/main">
              <a:ext uri="{FF2B5EF4-FFF2-40B4-BE49-F238E27FC236}">
                <a16:creationId xmlns:a16="http://schemas.microsoft.com/office/drawing/2014/main" id="{0378CA7A-B46E-48C0-87A4-0040B3A080D5}"/>
              </a:ext>
            </a:extLst>
          </p:cNvPr>
          <p:cNvSpPr>
            <a:spLocks xmlns:a="http://schemas.openxmlformats.org/drawingml/2006/main" noGrp="1"/>
          </p:cNvSpPr>
          <p:nvPr/>
        </p:nvSpPr>
        <p:spPr>
          <a:xfrm xmlns:a="http://schemas.openxmlformats.org/drawingml/2006/main">
            <a:off x="609600" y="2134362"/>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4536fb917db24050"/>
              </a:rPr>
              <a:t>https://arxiv.org/abs/2304.03271v5</a:t>
            </a:r>
          </a:p>
        </p:txBody>
      </p:sp>
      <p:sp>
        <p:nvSpPr>
          <p:cNvPr id="5" name="[10] R. Schwartz, J. Dodge, N. A. Smith, and O. Etzioni">
            <a:extLst xmlns:a="http://schemas.openxmlformats.org/drawingml/2006/main">
              <a:ext uri="{FF2B5EF4-FFF2-40B4-BE49-F238E27FC236}">
                <a16:creationId xmlns:a16="http://schemas.microsoft.com/office/drawing/2014/main" id="{DA1AC79B-F8F3-4770-8CB5-00B2762767A3}"/>
              </a:ext>
            </a:extLst>
          </p:cNvPr>
          <p:cNvSpPr>
            <a:spLocks xmlns:a="http://schemas.openxmlformats.org/drawingml/2006/main" noGrp="1"/>
          </p:cNvSpPr>
          <p:nvPr/>
        </p:nvSpPr>
        <p:spPr>
          <a:xfrm xmlns:a="http://schemas.openxmlformats.org/drawingml/2006/main">
            <a:off x="609600" y="257556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[10] R. Schwartz, J. Dodge, N. A. Smith, and O. Etzioni, “Green AI,” arXiv:1907.10597, 2019.</a:t>
            </a:r>
          </a:p>
        </p:txBody>
      </p:sp>
      <p:sp>
        <p:nvSpPr>
          <p:cNvPr id="6" name="https://arxiv.org/abs/1907.10597">
            <a:extLst xmlns:a="http://schemas.openxmlformats.org/drawingml/2006/main">
              <a:ext uri="{FF2B5EF4-FFF2-40B4-BE49-F238E27FC236}">
                <a16:creationId xmlns:a16="http://schemas.microsoft.com/office/drawing/2014/main" id="{05E99B29-383D-4504-8495-52E3A0F6A9A9}"/>
              </a:ext>
            </a:extLst>
          </p:cNvPr>
          <p:cNvSpPr>
            <a:spLocks xmlns:a="http://schemas.openxmlformats.org/drawingml/2006/main" noGrp="1"/>
          </p:cNvSpPr>
          <p:nvPr/>
        </p:nvSpPr>
        <p:spPr>
          <a:xfrm xmlns:a="http://schemas.openxmlformats.org/drawingml/2006/main">
            <a:off x="609600" y="289979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2e4ef0a20b9a4815"/>
              </a:rPr>
              <a:t>https://arxiv.org/abs/1907.10597</a:t>
            </a:r>
          </a:p>
        </p:txBody>
      </p:sp>
      <p:sp>
        <p:nvSpPr>
          <p:cNvPr id="7" name="[11] L. Zhu, Z. Liu, and S. Han, “Deep leakage from gra">
            <a:extLst xmlns:a="http://schemas.openxmlformats.org/drawingml/2006/main">
              <a:ext uri="{FF2B5EF4-FFF2-40B4-BE49-F238E27FC236}">
                <a16:creationId xmlns:a16="http://schemas.microsoft.com/office/drawing/2014/main" id="{9BBAA633-DC29-45AA-81B1-F3F953845C51}"/>
              </a:ext>
            </a:extLst>
          </p:cNvPr>
          <p:cNvSpPr>
            <a:spLocks xmlns:a="http://schemas.openxmlformats.org/drawingml/2006/main" noGrp="1"/>
          </p:cNvSpPr>
          <p:nvPr/>
        </p:nvSpPr>
        <p:spPr>
          <a:xfrm xmlns:a="http://schemas.openxmlformats.org/drawingml/2006/main">
            <a:off x="609600" y="334098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[11] L. Zhu, Z. Liu, and S. Han, “Deep leakage from gradients,” arXiv:1906.08935v2, 2019.</a:t>
            </a:r>
          </a:p>
        </p:txBody>
      </p:sp>
      <p:sp>
        <p:nvSpPr>
          <p:cNvPr id="8" name="https://arxiv.org/abs/1906.08935v2">
            <a:extLst xmlns:a="http://schemas.openxmlformats.org/drawingml/2006/main">
              <a:ext uri="{FF2B5EF4-FFF2-40B4-BE49-F238E27FC236}">
                <a16:creationId xmlns:a16="http://schemas.microsoft.com/office/drawing/2014/main" id="{588DDCCA-6FEF-426D-95BC-40E2DE160900}"/>
              </a:ext>
            </a:extLst>
          </p:cNvPr>
          <p:cNvSpPr>
            <a:spLocks xmlns:a="http://schemas.openxmlformats.org/drawingml/2006/main" noGrp="1"/>
          </p:cNvSpPr>
          <p:nvPr/>
        </p:nvSpPr>
        <p:spPr>
          <a:xfrm xmlns:a="http://schemas.openxmlformats.org/drawingml/2006/main">
            <a:off x="609600" y="366522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af27726be15f4c95"/>
              </a:rPr>
              <a:t>https://arxiv.org/abs/1906.08935v2</a:t>
            </a:r>
          </a:p>
        </p:txBody>
      </p:sp>
      <p:sp>
        <p:nvSpPr>
          <p:cNvPr id="9" name="[12] I. O. Gallegos et al., “Bias and fairness in large">
            <a:extLst xmlns:a="http://schemas.openxmlformats.org/drawingml/2006/main">
              <a:ext uri="{FF2B5EF4-FFF2-40B4-BE49-F238E27FC236}">
                <a16:creationId xmlns:a16="http://schemas.microsoft.com/office/drawing/2014/main" id="{CD764433-C811-426F-9E1F-AF4E3D74BA1A}"/>
              </a:ext>
            </a:extLst>
          </p:cNvPr>
          <p:cNvSpPr>
            <a:spLocks xmlns:a="http://schemas.openxmlformats.org/drawingml/2006/main" noGrp="1"/>
          </p:cNvSpPr>
          <p:nvPr/>
        </p:nvSpPr>
        <p:spPr>
          <a:xfrm xmlns:a="http://schemas.openxmlformats.org/drawingml/2006/main">
            <a:off x="609600" y="4106418"/>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[12] I. O. Gallegos et al., “Bias and fairness in large language models: A survey,” Computational Linguistics, vol. 50, no. 3,</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pp. 1097–1179, 2024, doi: 10.1162/coli_a_00524.</a:t>
            </a:r>
          </a:p>
        </p:txBody>
      </p:sp>
      <p:sp>
        <p:nvSpPr>
          <p:cNvPr id="10" name="https://aclanthology.org/2024.cl-3.8/">
            <a:extLst xmlns:a="http://schemas.openxmlformats.org/drawingml/2006/main">
              <a:ext uri="{FF2B5EF4-FFF2-40B4-BE49-F238E27FC236}">
                <a16:creationId xmlns:a16="http://schemas.microsoft.com/office/drawing/2014/main" id="{71EC4BE4-6054-42F4-9CF4-2127EBD51121}"/>
              </a:ext>
            </a:extLst>
          </p:cNvPr>
          <p:cNvSpPr>
            <a:spLocks xmlns:a="http://schemas.openxmlformats.org/drawingml/2006/main" noGrp="1"/>
          </p:cNvSpPr>
          <p:nvPr/>
        </p:nvSpPr>
        <p:spPr>
          <a:xfrm xmlns:a="http://schemas.openxmlformats.org/drawingml/2006/main">
            <a:off x="609600" y="467868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b81201e1775a4d12"/>
              </a:rPr>
              <a:t>https://aclanthology.org/2024.cl-3.8/</a:t>
            </a:r>
          </a:p>
        </p:txBody>
      </p:sp>
      <p:sp>
        <p:nvSpPr>
          <p:cNvPr id="11" name="">
            <a:extLst xmlns:a="http://schemas.openxmlformats.org/drawingml/2006/main">
              <a:ext uri="{FF2B5EF4-FFF2-40B4-BE49-F238E27FC236}">
                <a16:creationId xmlns:a16="http://schemas.microsoft.com/office/drawing/2014/main" id="{B1945B16-2F25-42AA-9200-B6AE36F7D5F5}"/>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F384D27A-647F-46D2-81B6-93687A08FA69}"/>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4 / 46">
            <a:extLst xmlns:a="http://schemas.openxmlformats.org/drawingml/2006/main">
              <a:ext uri="{FF2B5EF4-FFF2-40B4-BE49-F238E27FC236}">
                <a16:creationId xmlns:a16="http://schemas.microsoft.com/office/drawing/2014/main" id="{D2C4F8CF-E4CE-4FC6-B5F2-A7D54AA85B8C}"/>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44 / 46</a:t>
            </a:r>
          </a:p>
        </p:txBody>
      </p:sp>
    </p:spTree>
    <p:extLst>
      <p:ext uri="{BB962C8B-B14F-4D97-AF65-F5344CB8AC3E}">
        <p14:creationId xmlns:p14="http://schemas.microsoft.com/office/powerpoint/2010/main" val="342134081"/>
      </p:ext>
    </p:extLst>
  </p:cSld>
</p:sld>
</file>

<file path=ppt/slides/slide4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Appendix • References 4/4">
            <a:extLst xmlns:a="http://schemas.openxmlformats.org/drawingml/2006/main">
              <a:ext uri="{FF2B5EF4-FFF2-40B4-BE49-F238E27FC236}">
                <a16:creationId xmlns:a16="http://schemas.microsoft.com/office/drawing/2014/main" id="{CA5F18DA-DBCF-481E-8755-2FE4A8CD78F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4/4</a:t>
            </a:r>
          </a:p>
        </p:txBody>
      </p:sp>
      <p:sp>
        <p:nvSpPr>
          <p:cNvPr id="2" name="References">
            <a:extLst xmlns:a="http://schemas.openxmlformats.org/drawingml/2006/main">
              <a:ext uri="{FF2B5EF4-FFF2-40B4-BE49-F238E27FC236}">
                <a16:creationId xmlns:a16="http://schemas.microsoft.com/office/drawing/2014/main" id="{B82B5013-2990-42E5-B2C5-92F8BC85BEFF}"/>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3] N. Ahmed and M. Wahed, “The de-democratization of ">
            <a:extLst xmlns:a="http://schemas.openxmlformats.org/drawingml/2006/main">
              <a:ext uri="{FF2B5EF4-FFF2-40B4-BE49-F238E27FC236}">
                <a16:creationId xmlns:a16="http://schemas.microsoft.com/office/drawing/2014/main" id="{50A22761-615A-4339-A281-4CE0693E9A64}"/>
              </a:ext>
            </a:extLst>
          </p:cNvPr>
          <p:cNvSpPr>
            <a:spLocks xmlns:a="http://schemas.openxmlformats.org/drawingml/2006/main" noGrp="1"/>
          </p:cNvSpPr>
          <p:nvPr/>
        </p:nvSpPr>
        <p:spPr>
          <a:xfrm xmlns:a="http://schemas.openxmlformats.org/drawingml/2006/main">
            <a:off x="609600" y="1562100"/>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[13] N. Ahmed and M. Wahed, “The de-democratization of AI: Deep learning and the compute divide in artificial intelligence</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research,” arXiv:2010.15581v1, 2020.</a:t>
            </a:r>
          </a:p>
        </p:txBody>
      </p:sp>
      <p:sp>
        <p:nvSpPr>
          <p:cNvPr id="4" name="https://arxiv.org/abs/2010.15581v1">
            <a:extLst xmlns:a="http://schemas.openxmlformats.org/drawingml/2006/main">
              <a:ext uri="{FF2B5EF4-FFF2-40B4-BE49-F238E27FC236}">
                <a16:creationId xmlns:a16="http://schemas.microsoft.com/office/drawing/2014/main" id="{E219E8C1-A836-4784-B443-973093268760}"/>
              </a:ext>
            </a:extLst>
          </p:cNvPr>
          <p:cNvSpPr>
            <a:spLocks xmlns:a="http://schemas.openxmlformats.org/drawingml/2006/main" noGrp="1"/>
          </p:cNvSpPr>
          <p:nvPr/>
        </p:nvSpPr>
        <p:spPr>
          <a:xfrm xmlns:a="http://schemas.openxmlformats.org/drawingml/2006/main">
            <a:off x="609600" y="2124837"/>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d7d5898be71c429c"/>
              </a:rPr>
              <a:t>https://arxiv.org/abs/2010.15581v1</a:t>
            </a:r>
          </a:p>
        </p:txBody>
      </p:sp>
      <p:sp>
        <p:nvSpPr>
          <p:cNvPr id="5" name="[14] A. Radovanovic et al., “Carbon-aware computing for">
            <a:extLst xmlns:a="http://schemas.openxmlformats.org/drawingml/2006/main">
              <a:ext uri="{FF2B5EF4-FFF2-40B4-BE49-F238E27FC236}">
                <a16:creationId xmlns:a16="http://schemas.microsoft.com/office/drawing/2014/main" id="{453A6275-5A16-490F-839A-1F65232A3927}"/>
              </a:ext>
            </a:extLst>
          </p:cNvPr>
          <p:cNvSpPr>
            <a:spLocks xmlns:a="http://schemas.openxmlformats.org/drawingml/2006/main" noGrp="1"/>
          </p:cNvSpPr>
          <p:nvPr/>
        </p:nvSpPr>
        <p:spPr>
          <a:xfrm xmlns:a="http://schemas.openxmlformats.org/drawingml/2006/main">
            <a:off x="609600" y="2508885"/>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[14] A. Radovanovic et al., “Carbon-aware computing for datacenters,” arXiv:2106.11750v1, 2021.</a:t>
            </a:r>
          </a:p>
        </p:txBody>
      </p:sp>
      <p:sp>
        <p:nvSpPr>
          <p:cNvPr id="6" name="https://arxiv.org/abs/2106.11750v1">
            <a:extLst xmlns:a="http://schemas.openxmlformats.org/drawingml/2006/main">
              <a:ext uri="{FF2B5EF4-FFF2-40B4-BE49-F238E27FC236}">
                <a16:creationId xmlns:a16="http://schemas.microsoft.com/office/drawing/2014/main" id="{5A300A29-9D30-4B09-9146-2C957138CE3C}"/>
              </a:ext>
            </a:extLst>
          </p:cNvPr>
          <p:cNvSpPr>
            <a:spLocks xmlns:a="http://schemas.openxmlformats.org/drawingml/2006/main" noGrp="1"/>
          </p:cNvSpPr>
          <p:nvPr/>
        </p:nvSpPr>
        <p:spPr>
          <a:xfrm xmlns:a="http://schemas.openxmlformats.org/drawingml/2006/main">
            <a:off x="609600" y="282359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a24e4c6b0bac400b"/>
              </a:rPr>
              <a:t>https://arxiv.org/abs/2106.11750v1</a:t>
            </a:r>
          </a:p>
        </p:txBody>
      </p:sp>
      <p:sp>
        <p:nvSpPr>
          <p:cNvPr id="7" name="[15] OECD, “OECD AI Principles,” adopted 2019, updated ">
            <a:extLst xmlns:a="http://schemas.openxmlformats.org/drawingml/2006/main">
              <a:ext uri="{FF2B5EF4-FFF2-40B4-BE49-F238E27FC236}">
                <a16:creationId xmlns:a16="http://schemas.microsoft.com/office/drawing/2014/main" id="{9F5A8E6D-22E6-47B4-8FF2-B28CD95E66F2}"/>
              </a:ext>
            </a:extLst>
          </p:cNvPr>
          <p:cNvSpPr>
            <a:spLocks xmlns:a="http://schemas.openxmlformats.org/drawingml/2006/main" noGrp="1"/>
          </p:cNvSpPr>
          <p:nvPr/>
        </p:nvSpPr>
        <p:spPr>
          <a:xfrm xmlns:a="http://schemas.openxmlformats.org/drawingml/2006/main">
            <a:off x="609600" y="320763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[15] OECD, “OECD AI Principles,” adopted 2019, updated 2024, accessed Oct. 8, 2026.</a:t>
            </a:r>
          </a:p>
        </p:txBody>
      </p:sp>
      <p:sp>
        <p:nvSpPr>
          <p:cNvPr id="8" name="https://www.oecd.org/en/topics/ai-principles.html">
            <a:extLst xmlns:a="http://schemas.openxmlformats.org/drawingml/2006/main">
              <a:ext uri="{FF2B5EF4-FFF2-40B4-BE49-F238E27FC236}">
                <a16:creationId xmlns:a16="http://schemas.microsoft.com/office/drawing/2014/main" id="{3A80C11A-85AF-434E-A374-71970A7A5A11}"/>
              </a:ext>
            </a:extLst>
          </p:cNvPr>
          <p:cNvSpPr>
            <a:spLocks xmlns:a="http://schemas.openxmlformats.org/drawingml/2006/main" noGrp="1"/>
          </p:cNvSpPr>
          <p:nvPr/>
        </p:nvSpPr>
        <p:spPr>
          <a:xfrm xmlns:a="http://schemas.openxmlformats.org/drawingml/2006/main">
            <a:off x="609600" y="3522345"/>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730ce8f5c4e945e6"/>
              </a:rPr>
              <a:t>https://www.oecd.org/en/topics/ai-principles.html</a:t>
            </a:r>
          </a:p>
        </p:txBody>
      </p:sp>
      <p:sp>
        <p:nvSpPr>
          <p:cNvPr id="9" name="[16] NIST, AI Risk Management Framework 1.0 Playbook, f">
            <a:extLst xmlns:a="http://schemas.openxmlformats.org/drawingml/2006/main">
              <a:ext uri="{FF2B5EF4-FFF2-40B4-BE49-F238E27FC236}">
                <a16:creationId xmlns:a16="http://schemas.microsoft.com/office/drawing/2014/main" id="{58DE624A-70CD-45D8-8072-6752B8CF2B95}"/>
              </a:ext>
            </a:extLst>
          </p:cNvPr>
          <p:cNvSpPr>
            <a:spLocks xmlns:a="http://schemas.openxmlformats.org/drawingml/2006/main" noGrp="1"/>
          </p:cNvSpPr>
          <p:nvPr/>
        </p:nvSpPr>
        <p:spPr>
          <a:xfrm xmlns:a="http://schemas.openxmlformats.org/drawingml/2006/main">
            <a:off x="609600" y="3906393"/>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[16] NIST, AI Risk Management Framework 1.0 Playbook, framework 2023, current online resource, accessed Oct. 8, 2026.</a:t>
            </a:r>
          </a:p>
        </p:txBody>
      </p:sp>
      <p:sp>
        <p:nvSpPr>
          <p:cNvPr id="10" name="https://airc.nist.gov/airmf-resources/playbook/">
            <a:extLst xmlns:a="http://schemas.openxmlformats.org/drawingml/2006/main">
              <a:ext uri="{FF2B5EF4-FFF2-40B4-BE49-F238E27FC236}">
                <a16:creationId xmlns:a16="http://schemas.microsoft.com/office/drawing/2014/main" id="{D5D3C7B0-7C4E-428E-ABD5-3F67D053E238}"/>
              </a:ext>
            </a:extLst>
          </p:cNvPr>
          <p:cNvSpPr>
            <a:spLocks xmlns:a="http://schemas.openxmlformats.org/drawingml/2006/main" noGrp="1"/>
          </p:cNvSpPr>
          <p:nvPr/>
        </p:nvSpPr>
        <p:spPr>
          <a:xfrm xmlns:a="http://schemas.openxmlformats.org/drawingml/2006/main">
            <a:off x="609600" y="4221099"/>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7a4fc2698b044a84"/>
              </a:rPr>
              <a:t>https://airc.nist.gov/airmf-resources/playbook/</a:t>
            </a:r>
          </a:p>
        </p:txBody>
      </p:sp>
      <p:sp>
        <p:nvSpPr>
          <p:cNvPr id="11" name="[17] NVIDIA, “Rotate,” NPP Image Geometry Transforms, C">
            <a:extLst xmlns:a="http://schemas.openxmlformats.org/drawingml/2006/main">
              <a:ext uri="{FF2B5EF4-FFF2-40B4-BE49-F238E27FC236}">
                <a16:creationId xmlns:a16="http://schemas.microsoft.com/office/drawing/2014/main" id="{D0CC05E1-F394-42DB-BF6D-90211D1CE533}"/>
              </a:ext>
            </a:extLst>
          </p:cNvPr>
          <p:cNvSpPr>
            <a:spLocks xmlns:a="http://schemas.openxmlformats.org/drawingml/2006/main" noGrp="1"/>
          </p:cNvSpPr>
          <p:nvPr/>
        </p:nvSpPr>
        <p:spPr>
          <a:xfrm xmlns:a="http://schemas.openxmlformats.org/drawingml/2006/main">
            <a:off x="609600" y="4605147"/>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[17] NVIDIA, “Rotate,” NPP Image Geometry Transforms, CUDA 13.0.3 archive documentation, accessed Oct. 8, 2026.</a:t>
            </a:r>
          </a:p>
        </p:txBody>
      </p:sp>
      <p:sp>
        <p:nvSpPr>
          <p:cNvPr id="12" name="https://docs.nvidia.com/cuda/archive/13.0.3/npp/image_g">
            <a:extLst xmlns:a="http://schemas.openxmlformats.org/drawingml/2006/main">
              <a:ext uri="{FF2B5EF4-FFF2-40B4-BE49-F238E27FC236}">
                <a16:creationId xmlns:a16="http://schemas.microsoft.com/office/drawing/2014/main" id="{801C7216-FE0A-4EDD-A880-53ED1DF4686A}"/>
              </a:ext>
            </a:extLst>
          </p:cNvPr>
          <p:cNvSpPr>
            <a:spLocks xmlns:a="http://schemas.openxmlformats.org/drawingml/2006/main" noGrp="1"/>
          </p:cNvSpPr>
          <p:nvPr/>
        </p:nvSpPr>
        <p:spPr>
          <a:xfrm xmlns:a="http://schemas.openxmlformats.org/drawingml/2006/main">
            <a:off x="609600" y="4919853"/>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239000ebf6a9404a"/>
              </a:rPr>
              <a:t>https://docs.nvidia.com/cuda/archive/13.0.3/npp/image_geometry_transforms.html#rotate</a:t>
            </a:r>
          </a:p>
        </p:txBody>
      </p:sp>
      <p:sp>
        <p:nvSpPr>
          <p:cNvPr id="13" name="">
            <a:extLst xmlns:a="http://schemas.openxmlformats.org/drawingml/2006/main">
              <a:ext uri="{FF2B5EF4-FFF2-40B4-BE49-F238E27FC236}">
                <a16:creationId xmlns:a16="http://schemas.microsoft.com/office/drawing/2014/main" id="{54D5335B-B6CC-4944-9966-C7B716373B7F}"/>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4" name="FIT3143 Applied 2">
            <a:extLst xmlns:a="http://schemas.openxmlformats.org/drawingml/2006/main">
              <a:ext uri="{FF2B5EF4-FFF2-40B4-BE49-F238E27FC236}">
                <a16:creationId xmlns:a16="http://schemas.microsoft.com/office/drawing/2014/main" id="{14C6A385-9404-462E-825B-8FAC5536630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5" name="45 / 46">
            <a:extLst xmlns:a="http://schemas.openxmlformats.org/drawingml/2006/main">
              <a:ext uri="{FF2B5EF4-FFF2-40B4-BE49-F238E27FC236}">
                <a16:creationId xmlns:a16="http://schemas.microsoft.com/office/drawing/2014/main" id="{BD1B3B00-46C5-4C19-BC64-22EB9DC4DC6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45 / 46</a:t>
            </a:r>
          </a:p>
        </p:txBody>
      </p:sp>
    </p:spTree>
    <p:extLst>
      <p:ext uri="{BB962C8B-B14F-4D97-AF65-F5344CB8AC3E}">
        <p14:creationId xmlns:p14="http://schemas.microsoft.com/office/powerpoint/2010/main" val="1119067220"/>
      </p:ext>
    </p:extLst>
  </p:cSld>
</p:sld>
</file>

<file path=ppt/slides/slide4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Appendix • AI declaration">
            <a:extLst xmlns:a="http://schemas.openxmlformats.org/drawingml/2006/main">
              <a:ext uri="{FF2B5EF4-FFF2-40B4-BE49-F238E27FC236}">
                <a16:creationId xmlns:a16="http://schemas.microsoft.com/office/drawing/2014/main" id="{55634464-3AD0-41D9-945A-85F0288A9C7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AI declaration</a:t>
            </a:r>
          </a:p>
        </p:txBody>
      </p:sp>
      <p:sp>
        <p:nvSpPr>
          <p:cNvPr id="2" name="AI use declaration">
            <a:extLst xmlns:a="http://schemas.openxmlformats.org/drawingml/2006/main">
              <a:ext uri="{FF2B5EF4-FFF2-40B4-BE49-F238E27FC236}">
                <a16:creationId xmlns:a16="http://schemas.microsoft.com/office/drawing/2014/main" id="{7C187805-9B0C-499F-A86F-8EC57907FEBF}"/>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AI use declaration</a:t>
            </a:r>
          </a:p>
        </p:txBody>
      </p:sp>
      <p:sp>
        <p:nvSpPr>
          <p:cNvPr id="3" name="AI model and tool">
            <a:extLst xmlns:a="http://schemas.openxmlformats.org/drawingml/2006/main">
              <a:ext uri="{FF2B5EF4-FFF2-40B4-BE49-F238E27FC236}">
                <a16:creationId xmlns:a16="http://schemas.microsoft.com/office/drawing/2014/main" id="{12FA6C36-EDC1-48CA-8A4F-D363AEA95750}"/>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AI model and tool</a:t>
            </a:r>
          </a:p>
        </p:txBody>
      </p:sp>
      <p:sp>
        <p:nvSpPr>
          <p:cNvPr id="4" name="OpenAI GPT-6, accessed through Codex.">
            <a:extLst xmlns:a="http://schemas.openxmlformats.org/drawingml/2006/main">
              <a:ext uri="{FF2B5EF4-FFF2-40B4-BE49-F238E27FC236}">
                <a16:creationId xmlns:a16="http://schemas.microsoft.com/office/drawing/2014/main" id="{DD7B29DC-4648-4C8A-80D7-FC07EBD28841}"/>
              </a:ext>
            </a:extLst>
          </p:cNvPr>
          <p:cNvSpPr>
            <a:spLocks xmlns:a="http://schemas.openxmlformats.org/drawingml/2006/main" noGrp="1"/>
          </p:cNvSpPr>
          <p:nvPr/>
        </p:nvSpPr>
        <p:spPr>
          <a:xfrm xmlns:a="http://schemas.openxmlformats.org/drawingml/2006/main">
            <a:off x="609600" y="1971675"/>
            <a:ext cx="512445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OpenAI GPT-6, accessed through Codex.</a:t>
            </a:r>
          </a:p>
        </p:txBody>
      </p:sp>
      <p:sp>
        <p:nvSpPr>
          <p:cNvPr id="5" name="How AI was used">
            <a:extLst xmlns:a="http://schemas.openxmlformats.org/drawingml/2006/main">
              <a:ext uri="{FF2B5EF4-FFF2-40B4-BE49-F238E27FC236}">
                <a16:creationId xmlns:a16="http://schemas.microsoft.com/office/drawing/2014/main" id="{AD5FF553-4188-4BCD-A907-3DA5D5778920}"/>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How AI was used</a:t>
            </a:r>
          </a:p>
        </p:txBody>
      </p:sp>
      <p:sp>
        <p:nvSpPr>
          <p:cNvPr id="6" name="Research and source checks; drafting and revision of ex">
            <a:extLst xmlns:a="http://schemas.openxmlformats.org/drawingml/2006/main">
              <a:ext uri="{FF2B5EF4-FFF2-40B4-BE49-F238E27FC236}">
                <a16:creationId xmlns:a16="http://schemas.microsoft.com/office/drawing/2014/main" id="{25CC38CE-13DB-439E-9E7E-4D73FB1691A1}"/>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Research and source checks; drafting and revision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 explanations and CUDA teaching examples;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creation of diagrams and charts; presentation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formatting and assembly.</a:t>
            </a:r>
          </a:p>
        </p:txBody>
      </p:sp>
      <p:sp>
        <p:nvSpPr>
          <p:cNvPr id="7" name="">
            <a:extLst xmlns:a="http://schemas.openxmlformats.org/drawingml/2006/main">
              <a:ext uri="{FF2B5EF4-FFF2-40B4-BE49-F238E27FC236}">
                <a16:creationId xmlns:a16="http://schemas.microsoft.com/office/drawing/2014/main" id="{680B685C-8293-4985-BAD0-D18B2ABA1B55}"/>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8" name="">
            <a:extLst xmlns:a="http://schemas.openxmlformats.org/drawingml/2006/main">
              <a:ext uri="{FF2B5EF4-FFF2-40B4-BE49-F238E27FC236}">
                <a16:creationId xmlns:a16="http://schemas.microsoft.com/office/drawing/2014/main" id="{1EC47641-40B3-402F-AFF5-D1A63B5939C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9" name="FIT3143 Applied 2">
            <a:extLst xmlns:a="http://schemas.openxmlformats.org/drawingml/2006/main">
              <a:ext uri="{FF2B5EF4-FFF2-40B4-BE49-F238E27FC236}">
                <a16:creationId xmlns:a16="http://schemas.microsoft.com/office/drawing/2014/main" id="{FEF34E80-CCF5-465E-9635-D55822CD5351}"/>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0" name="46 / 46">
            <a:extLst xmlns:a="http://schemas.openxmlformats.org/drawingml/2006/main">
              <a:ext uri="{FF2B5EF4-FFF2-40B4-BE49-F238E27FC236}">
                <a16:creationId xmlns:a16="http://schemas.microsoft.com/office/drawing/2014/main" id="{213349B5-ECD4-4F34-9C91-6D925DBECCD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46 / 46</a:t>
            </a:r>
          </a:p>
        </p:txBody>
      </p:sp>
    </p:spTree>
    <p:extLst>
      <p:ext uri="{BB962C8B-B14F-4D97-AF65-F5344CB8AC3E}">
        <p14:creationId xmlns:p14="http://schemas.microsoft.com/office/powerpoint/2010/main" val="18496756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2026-10-08T14:30:36.8870000Z</dcterms:created>
  <dcterms:modified xsi:type="dcterms:W3CDTF">2026-10-08T14:30:36.8870000Z</dcterms:modified>
</coreProperties>
</file>