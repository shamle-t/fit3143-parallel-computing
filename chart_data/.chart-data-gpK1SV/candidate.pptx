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3f4db0e59e94dc3" /><Relationship Type="http://schemas.openxmlformats.org/officeDocument/2006/relationships/extended-properties" Target="/docProps/app.xml" Id="R472f5b72991c4315" /><Relationship Type="http://schemas.openxmlformats.org/officeDocument/2006/relationships/officeDocument" Target="/ppt/presentation.xml" Id="R5d56dd7a1157473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dc124a7b82a43a1"/>
  </p:sldMasterIdLst>
  <p:notesMasterIdLst>
    <p:notesMasterId xmlns:r="http://schemas.openxmlformats.org/officeDocument/2006/relationships" r:id="Rc9a7364ae9754375"/>
  </p:notesMasterIdLst>
  <p:sldIdLst>
    <p:sldId xmlns:r="http://schemas.openxmlformats.org/officeDocument/2006/relationships" id="256" r:id="R5fef375acdf546bc"/>
    <p:sldId xmlns:r="http://schemas.openxmlformats.org/officeDocument/2006/relationships" id="257" r:id="R152d68cd7c1347f9"/>
    <p:sldId xmlns:r="http://schemas.openxmlformats.org/officeDocument/2006/relationships" id="258" r:id="R56b13b68304142a7"/>
    <p:sldId xmlns:r="http://schemas.openxmlformats.org/officeDocument/2006/relationships" id="259" r:id="R4b0cb0ab586e480e"/>
    <p:sldId xmlns:r="http://schemas.openxmlformats.org/officeDocument/2006/relationships" id="260" r:id="R77423038b55d415d"/>
    <p:sldId xmlns:r="http://schemas.openxmlformats.org/officeDocument/2006/relationships" id="261" r:id="Re44414cccc76495b"/>
    <p:sldId xmlns:r="http://schemas.openxmlformats.org/officeDocument/2006/relationships" id="262" r:id="Rf63985037dbd4e28"/>
    <p:sldId xmlns:r="http://schemas.openxmlformats.org/officeDocument/2006/relationships" id="263" r:id="Rc58ef71b1f2b4ba8"/>
    <p:sldId xmlns:r="http://schemas.openxmlformats.org/officeDocument/2006/relationships" id="264" r:id="R08d0fe82ae044b97"/>
    <p:sldId xmlns:r="http://schemas.openxmlformats.org/officeDocument/2006/relationships" id="265" r:id="Ra79f020d0c5c4574"/>
    <p:sldId xmlns:r="http://schemas.openxmlformats.org/officeDocument/2006/relationships" id="266" r:id="R09fc787e529440d6"/>
    <p:sldId xmlns:r="http://schemas.openxmlformats.org/officeDocument/2006/relationships" id="267" r:id="R24f69d1de9b04353"/>
    <p:sldId xmlns:r="http://schemas.openxmlformats.org/officeDocument/2006/relationships" id="268" r:id="R0ce552f445154da2"/>
    <p:sldId xmlns:r="http://schemas.openxmlformats.org/officeDocument/2006/relationships" id="269" r:id="R558468dfd077410d"/>
    <p:sldId xmlns:r="http://schemas.openxmlformats.org/officeDocument/2006/relationships" id="270" r:id="R111675a0e34a434f"/>
    <p:sldId xmlns:r="http://schemas.openxmlformats.org/officeDocument/2006/relationships" id="271" r:id="R391feb41e3984cfe"/>
    <p:sldId xmlns:r="http://schemas.openxmlformats.org/officeDocument/2006/relationships" id="272" r:id="R183fea1304c14265"/>
    <p:sldId xmlns:r="http://schemas.openxmlformats.org/officeDocument/2006/relationships" id="273" r:id="Rf95e2ca0e2cc4122"/>
    <p:sldId xmlns:r="http://schemas.openxmlformats.org/officeDocument/2006/relationships" id="274" r:id="Rc0f848d6df0941b6"/>
    <p:sldId xmlns:r="http://schemas.openxmlformats.org/officeDocument/2006/relationships" id="275" r:id="Rcc0df5dd991e41e7"/>
    <p:sldId xmlns:r="http://schemas.openxmlformats.org/officeDocument/2006/relationships" id="276" r:id="Raf291b412b0a4a1d"/>
    <p:sldId xmlns:r="http://schemas.openxmlformats.org/officeDocument/2006/relationships" id="277" r:id="R0f8e1daff404403b"/>
    <p:sldId xmlns:r="http://schemas.openxmlformats.org/officeDocument/2006/relationships" id="278" r:id="R07d1bd87be6a42b2"/>
    <p:sldId xmlns:r="http://schemas.openxmlformats.org/officeDocument/2006/relationships" id="279" r:id="R55f61b6e383a44c4"/>
    <p:sldId xmlns:r="http://schemas.openxmlformats.org/officeDocument/2006/relationships" id="280" r:id="Rb6624b71b28e4a93"/>
    <p:sldId xmlns:r="http://schemas.openxmlformats.org/officeDocument/2006/relationships" id="281" r:id="Rf8eac971a2c14ecc"/>
    <p:sldId xmlns:r="http://schemas.openxmlformats.org/officeDocument/2006/relationships" id="282" r:id="Re78c5e66f5204fde"/>
    <p:sldId xmlns:r="http://schemas.openxmlformats.org/officeDocument/2006/relationships" id="283" r:id="Rcd25730283f44c4b"/>
    <p:sldId xmlns:r="http://schemas.openxmlformats.org/officeDocument/2006/relationships" id="284" r:id="R70b44ab329d94444"/>
    <p:sldId xmlns:r="http://schemas.openxmlformats.org/officeDocument/2006/relationships" id="285" r:id="Ra1d728ad28da425a"/>
    <p:sldId xmlns:r="http://schemas.openxmlformats.org/officeDocument/2006/relationships" id="286" r:id="R7ac00379894444c3"/>
    <p:sldId xmlns:r="http://schemas.openxmlformats.org/officeDocument/2006/relationships" id="287" r:id="R46cb5261dc4c4eb0"/>
    <p:sldId xmlns:r="http://schemas.openxmlformats.org/officeDocument/2006/relationships" id="288" r:id="R278b6eb614b54995"/>
    <p:sldId xmlns:r="http://schemas.openxmlformats.org/officeDocument/2006/relationships" id="289" r:id="Rdc4949563afd4259"/>
    <p:sldId xmlns:r="http://schemas.openxmlformats.org/officeDocument/2006/relationships" id="290" r:id="R5d29aacc70a94b7e"/>
    <p:sldId xmlns:r="http://schemas.openxmlformats.org/officeDocument/2006/relationships" id="291" r:id="Rc841820cc26449b9"/>
    <p:sldId xmlns:r="http://schemas.openxmlformats.org/officeDocument/2006/relationships" id="292" r:id="R9d67c0510b224330"/>
    <p:sldId xmlns:r="http://schemas.openxmlformats.org/officeDocument/2006/relationships" id="293" r:id="Racfea0c185ef4c20"/>
    <p:sldId xmlns:r="http://schemas.openxmlformats.org/officeDocument/2006/relationships" id="294" r:id="R1c1bdc585be6424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4f6d65b05c149db" /><Relationship Type="http://schemas.openxmlformats.org/officeDocument/2006/relationships/slideMaster" Target="/ppt/slideMasters/slideMaster1.xml" Id="R1dc124a7b82a43a1" /><Relationship Type="http://schemas.openxmlformats.org/officeDocument/2006/relationships/notesMaster" Target="/ppt/notesMasters/notesMaster1.xml" Id="Rc9a7364ae9754375" /><Relationship Type="http://schemas.openxmlformats.org/officeDocument/2006/relationships/presProps" Target="/ppt/presProps.xml" Id="R7a4806398f694d3b" /><Relationship Type="http://schemas.openxmlformats.org/officeDocument/2006/relationships/tableStyles" Target="/ppt/tableStyles.xml" Id="R92e2ca5d367e4943" /><Relationship Type="http://schemas.openxmlformats.org/officeDocument/2006/relationships/slide" Target="/ppt/slides/slide1.xml" Id="R5fef375acdf546bc" /><Relationship Type="http://schemas.openxmlformats.org/officeDocument/2006/relationships/slide" Target="/ppt/slides/slide2.xml" Id="R152d68cd7c1347f9" /><Relationship Type="http://schemas.openxmlformats.org/officeDocument/2006/relationships/slide" Target="/ppt/slides/slide3.xml" Id="R56b13b68304142a7" /><Relationship Type="http://schemas.openxmlformats.org/officeDocument/2006/relationships/slide" Target="/ppt/slides/slide4.xml" Id="R4b0cb0ab586e480e" /><Relationship Type="http://schemas.openxmlformats.org/officeDocument/2006/relationships/slide" Target="/ppt/slides/slide5.xml" Id="R77423038b55d415d" /><Relationship Type="http://schemas.openxmlformats.org/officeDocument/2006/relationships/slide" Target="/ppt/slides/slide6.xml" Id="Re44414cccc76495b" /><Relationship Type="http://schemas.openxmlformats.org/officeDocument/2006/relationships/slide" Target="/ppt/slides/slide7.xml" Id="Rf63985037dbd4e28" /><Relationship Type="http://schemas.openxmlformats.org/officeDocument/2006/relationships/slide" Target="/ppt/slides/slide8.xml" Id="Rc58ef71b1f2b4ba8" /><Relationship Type="http://schemas.openxmlformats.org/officeDocument/2006/relationships/slide" Target="/ppt/slides/slide9.xml" Id="R08d0fe82ae044b97" /><Relationship Type="http://schemas.openxmlformats.org/officeDocument/2006/relationships/slide" Target="/ppt/slides/slide10.xml" Id="Ra79f020d0c5c4574" /><Relationship Type="http://schemas.openxmlformats.org/officeDocument/2006/relationships/slide" Target="/ppt/slides/slide11.xml" Id="R09fc787e529440d6" /><Relationship Type="http://schemas.openxmlformats.org/officeDocument/2006/relationships/slide" Target="/ppt/slides/slide12.xml" Id="R24f69d1de9b04353" /><Relationship Type="http://schemas.openxmlformats.org/officeDocument/2006/relationships/slide" Target="/ppt/slides/slide13.xml" Id="R0ce552f445154da2" /><Relationship Type="http://schemas.openxmlformats.org/officeDocument/2006/relationships/slide" Target="/ppt/slides/slide14.xml" Id="R558468dfd077410d" /><Relationship Type="http://schemas.openxmlformats.org/officeDocument/2006/relationships/slide" Target="/ppt/slides/slide15.xml" Id="R111675a0e34a434f" /><Relationship Type="http://schemas.openxmlformats.org/officeDocument/2006/relationships/slide" Target="/ppt/slides/slide16.xml" Id="R391feb41e3984cfe" /><Relationship Type="http://schemas.openxmlformats.org/officeDocument/2006/relationships/slide" Target="/ppt/slides/slide17.xml" Id="R183fea1304c14265" /><Relationship Type="http://schemas.openxmlformats.org/officeDocument/2006/relationships/slide" Target="/ppt/slides/slide18.xml" Id="Rf95e2ca0e2cc4122" /><Relationship Type="http://schemas.openxmlformats.org/officeDocument/2006/relationships/slide" Target="/ppt/slides/slide19.xml" Id="Rc0f848d6df0941b6" /><Relationship Type="http://schemas.openxmlformats.org/officeDocument/2006/relationships/slide" Target="/ppt/slides/slide20.xml" Id="Rcc0df5dd991e41e7" /><Relationship Type="http://schemas.openxmlformats.org/officeDocument/2006/relationships/slide" Target="/ppt/slides/slide21.xml" Id="Raf291b412b0a4a1d" /><Relationship Type="http://schemas.openxmlformats.org/officeDocument/2006/relationships/slide" Target="/ppt/slides/slide22.xml" Id="R0f8e1daff404403b" /><Relationship Type="http://schemas.openxmlformats.org/officeDocument/2006/relationships/slide" Target="/ppt/slides/slide23.xml" Id="R07d1bd87be6a42b2" /><Relationship Type="http://schemas.openxmlformats.org/officeDocument/2006/relationships/slide" Target="/ppt/slides/slide24.xml" Id="R55f61b6e383a44c4" /><Relationship Type="http://schemas.openxmlformats.org/officeDocument/2006/relationships/slide" Target="/ppt/slides/slide25.xml" Id="Rb6624b71b28e4a93" /><Relationship Type="http://schemas.openxmlformats.org/officeDocument/2006/relationships/slide" Target="/ppt/slides/slide26.xml" Id="Rf8eac971a2c14ecc" /><Relationship Type="http://schemas.openxmlformats.org/officeDocument/2006/relationships/slide" Target="/ppt/slides/slide27.xml" Id="Re78c5e66f5204fde" /><Relationship Type="http://schemas.openxmlformats.org/officeDocument/2006/relationships/slide" Target="/ppt/slides/slide28.xml" Id="Rcd25730283f44c4b" /><Relationship Type="http://schemas.openxmlformats.org/officeDocument/2006/relationships/slide" Target="/ppt/slides/slide29.xml" Id="R70b44ab329d94444" /><Relationship Type="http://schemas.openxmlformats.org/officeDocument/2006/relationships/slide" Target="/ppt/slides/slide30.xml" Id="Ra1d728ad28da425a" /><Relationship Type="http://schemas.openxmlformats.org/officeDocument/2006/relationships/slide" Target="/ppt/slides/slide31.xml" Id="R7ac00379894444c3" /><Relationship Type="http://schemas.openxmlformats.org/officeDocument/2006/relationships/slide" Target="/ppt/slides/slide32.xml" Id="R46cb5261dc4c4eb0" /><Relationship Type="http://schemas.openxmlformats.org/officeDocument/2006/relationships/slide" Target="/ppt/slides/slide33.xml" Id="R278b6eb614b54995" /><Relationship Type="http://schemas.openxmlformats.org/officeDocument/2006/relationships/slide" Target="/ppt/slides/slide34.xml" Id="Rdc4949563afd4259" /><Relationship Type="http://schemas.openxmlformats.org/officeDocument/2006/relationships/slide" Target="/ppt/slides/slide35.xml" Id="R5d29aacc70a94b7e" /><Relationship Type="http://schemas.openxmlformats.org/officeDocument/2006/relationships/slide" Target="/ppt/slides/slide36.xml" Id="Rc841820cc26449b9" /><Relationship Type="http://schemas.openxmlformats.org/officeDocument/2006/relationships/slide" Target="/ppt/slides/slide37.xml" Id="R9d67c0510b224330" /><Relationship Type="http://schemas.openxmlformats.org/officeDocument/2006/relationships/slide" Target="/ppt/slides/slide38.xml" Id="Racfea0c185ef4c20" /><Relationship Type="http://schemas.openxmlformats.org/officeDocument/2006/relationships/slide" Target="/ppt/slides/slide39.xml" Id="R1c1bdc585be6424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76319a32344e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36187d197bd43e5" /><Relationship Type="http://schemas.openxmlformats.org/officeDocument/2006/relationships/notesMaster" Target="/ppt/notesMasters/notesMaster1.xml" Id="Rd0461c29096841b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56678d08b55416e" /><Relationship Type="http://schemas.openxmlformats.org/officeDocument/2006/relationships/notesMaster" Target="/ppt/notesMasters/notesMaster1.xml" Id="Re44e100fbbba4a5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daf0fd9794de8" /><Relationship Type="http://schemas.openxmlformats.org/officeDocument/2006/relationships/notesMaster" Target="/ppt/notesMasters/notesMaster1.xml" Id="R04edccbf89f2443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018aade4554f2b" /><Relationship Type="http://schemas.openxmlformats.org/officeDocument/2006/relationships/notesMaster" Target="/ppt/notesMasters/notesMaster1.xml" Id="R31156d01e4af418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d65c062fc3d4453" /><Relationship Type="http://schemas.openxmlformats.org/officeDocument/2006/relationships/notesMaster" Target="/ppt/notesMasters/notesMaster1.xml" Id="R22a4cf3eee6f4e1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99b2b905fa242cc" /><Relationship Type="http://schemas.openxmlformats.org/officeDocument/2006/relationships/notesMaster" Target="/ppt/notesMasters/notesMaster1.xml" Id="Ra701ff0f5c85410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c8adcc8a254ec6" /><Relationship Type="http://schemas.openxmlformats.org/officeDocument/2006/relationships/notesMaster" Target="/ppt/notesMasters/notesMaster1.xml" Id="R5ed1c38f667743f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0156bf2020f444a" /><Relationship Type="http://schemas.openxmlformats.org/officeDocument/2006/relationships/notesMaster" Target="/ppt/notesMasters/notesMaster1.xml" Id="Rfaa2f030f790422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ba746161b764380" /><Relationship Type="http://schemas.openxmlformats.org/officeDocument/2006/relationships/notesMaster" Target="/ppt/notesMasters/notesMaster1.xml" Id="R48b6b9ba56224c4a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19c27d1a54a470b" /><Relationship Type="http://schemas.openxmlformats.org/officeDocument/2006/relationships/notesMaster" Target="/ppt/notesMasters/notesMaster1.xml" Id="R3fbb8c57d23a459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fb755fa8fe842ae" /><Relationship Type="http://schemas.openxmlformats.org/officeDocument/2006/relationships/notesMaster" Target="/ppt/notesMasters/notesMaster1.xml" Id="R387176388ada4a5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a7e849b273044e2" /><Relationship Type="http://schemas.openxmlformats.org/officeDocument/2006/relationships/notesMaster" Target="/ppt/notesMasters/notesMaster1.xml" Id="Ra048bac66f7746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ca61e1ac7af4bc1" /><Relationship Type="http://schemas.openxmlformats.org/officeDocument/2006/relationships/notesMaster" Target="/ppt/notesMasters/notesMaster1.xml" Id="R4baa17f8d83549de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0c1a5e3482043e8" /><Relationship Type="http://schemas.openxmlformats.org/officeDocument/2006/relationships/notesMaster" Target="/ppt/notesMasters/notesMaster1.xml" Id="R500b054a4123456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c740c7457d548fe" /><Relationship Type="http://schemas.openxmlformats.org/officeDocument/2006/relationships/notesMaster" Target="/ppt/notesMasters/notesMaster1.xml" Id="R184625ff23b7447a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174be6b82ae4ff0" /><Relationship Type="http://schemas.openxmlformats.org/officeDocument/2006/relationships/notesMaster" Target="/ppt/notesMasters/notesMaster1.xml" Id="R41d3b4f0568b4f4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082d40047e54761" /><Relationship Type="http://schemas.openxmlformats.org/officeDocument/2006/relationships/notesMaster" Target="/ppt/notesMasters/notesMaster1.xml" Id="R6ce958cbb73c466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d180e2212a5411e" /><Relationship Type="http://schemas.openxmlformats.org/officeDocument/2006/relationships/notesMaster" Target="/ppt/notesMasters/notesMaster1.xml" Id="R2bd54b75f0ff47d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57f5bf22dcc14e87" /><Relationship Type="http://schemas.openxmlformats.org/officeDocument/2006/relationships/notesMaster" Target="/ppt/notesMasters/notesMaster1.xml" Id="R949b8e77c48943a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cbf835dcaea4bdf" /><Relationship Type="http://schemas.openxmlformats.org/officeDocument/2006/relationships/notesMaster" Target="/ppt/notesMasters/notesMaster1.xml" Id="R4ba351a5ea404c9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d2e0bde78a2420a" /><Relationship Type="http://schemas.openxmlformats.org/officeDocument/2006/relationships/notesMaster" Target="/ppt/notesMasters/notesMaster1.xml" Id="Re3b8d9c2f32241f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028a6323cce8448f" /><Relationship Type="http://schemas.openxmlformats.org/officeDocument/2006/relationships/notesMaster" Target="/ppt/notesMasters/notesMaster1.xml" Id="R82d2a10ce47246a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7a0e86b43ce24bb5" /><Relationship Type="http://schemas.openxmlformats.org/officeDocument/2006/relationships/notesMaster" Target="/ppt/notesMasters/notesMaster1.xml" Id="Ref1c54e9e1f24023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adffa27f9a20478c" /><Relationship Type="http://schemas.openxmlformats.org/officeDocument/2006/relationships/notesMaster" Target="/ppt/notesMasters/notesMaster1.xml" Id="Ra1ca1b83a62f449c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be3b7929676445f1" /><Relationship Type="http://schemas.openxmlformats.org/officeDocument/2006/relationships/notesMaster" Target="/ppt/notesMasters/notesMaster1.xml" Id="R5010b8a08d614d7f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2c30d430e4574fe2" /><Relationship Type="http://schemas.openxmlformats.org/officeDocument/2006/relationships/notesMaster" Target="/ppt/notesMasters/notesMaster1.xml" Id="Rbe7ce8643bf34cf1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d33a57c0f01a4ffa" /><Relationship Type="http://schemas.openxmlformats.org/officeDocument/2006/relationships/notesMaster" Target="/ppt/notesMasters/notesMaster1.xml" Id="Rdddf2d7a4a1d4411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743067ab526748dd" /><Relationship Type="http://schemas.openxmlformats.org/officeDocument/2006/relationships/notesMaster" Target="/ppt/notesMasters/notesMaster1.xml" Id="Rcf55520721a14578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d5158d6084c4d04" /><Relationship Type="http://schemas.openxmlformats.org/officeDocument/2006/relationships/notesMaster" Target="/ppt/notesMasters/notesMaster1.xml" Id="R0580090b19034474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9e60f7021a6e4d1b" /><Relationship Type="http://schemas.openxmlformats.org/officeDocument/2006/relationships/notesMaster" Target="/ppt/notesMasters/notesMaster1.xml" Id="Ra44aef28fd4e4ba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4e47c0a0bb2b4ef8" /><Relationship Type="http://schemas.openxmlformats.org/officeDocument/2006/relationships/notesMaster" Target="/ppt/notesMasters/notesMaster1.xml" Id="R70cbfb303d1e4a0a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35c8e46b8094521" /><Relationship Type="http://schemas.openxmlformats.org/officeDocument/2006/relationships/notesMaster" Target="/ppt/notesMasters/notesMaster1.xml" Id="R2030c31aca1d4a73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ba3aef5db8fe4e1e" /><Relationship Type="http://schemas.openxmlformats.org/officeDocument/2006/relationships/notesMaster" Target="/ppt/notesMasters/notesMaster1.xml" Id="R5b2ababbd92546c7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3e020acf5732421f" /><Relationship Type="http://schemas.openxmlformats.org/officeDocument/2006/relationships/notesMaster" Target="/ppt/notesMasters/notesMaster1.xml" Id="R6d2296f2e87843a7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165c947cda584699" /><Relationship Type="http://schemas.openxmlformats.org/officeDocument/2006/relationships/notesMaster" Target="/ppt/notesMasters/notesMaster1.xml" Id="Rd6f7f840866345b1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43496715ed2243e4" /><Relationship Type="http://schemas.openxmlformats.org/officeDocument/2006/relationships/notesMaster" Target="/ppt/notesMasters/notesMaster1.xml" Id="R47ce7569e12e4d32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1cbe7cdacc604a68" /><Relationship Type="http://schemas.openxmlformats.org/officeDocument/2006/relationships/notesMaster" Target="/ppt/notesMasters/notesMaster1.xml" Id="Rab4fa6a3358f4043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1a023d1ae6704242" /><Relationship Type="http://schemas.openxmlformats.org/officeDocument/2006/relationships/notesMaster" Target="/ppt/notesMasters/notesMaster1.xml" Id="Re8d75b07132b4dc3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c26e5331412d498a" /><Relationship Type="http://schemas.openxmlformats.org/officeDocument/2006/relationships/notesMaster" Target="/ppt/notesMasters/notesMaster1.xml" Id="Rbe1fea72dbaa48c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[3] Monash University, FIT3143 Topic 9A: Synchronization and dependencies, course slides, 2024, pp. 2–7.</a:t>
            </a:r>
          </a:p>
          <a:p xmlns:a="http://schemas.openxmlformats.org/drawingml/2006/main">
            <a:r>
              <a:t>../../context/FIT3143-Topic-9A-2024.pdf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[8] NVIDIA, “Parallelism strategies guide,” Megatron Core, online documentation, accessed Oct. 8, 2026.</a:t>
            </a:r>
          </a:p>
          <a:p xmlns:a="http://schemas.openxmlformats.org/drawingml/2006/main">
            <a:r>
              <a:t>https://docs.nvidia.com/megatron-core/developer-guide/latest/user-guide/parallelism-guide.html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[21] Monash University, FIT3143 Week 5 combined course material, MPI collectives, pp. 148–155.</a:t>
            </a:r>
          </a:p>
          <a:p xmlns:a="http://schemas.openxmlformats.org/drawingml/2006/main">
            <a:r>
              <a:t>../../context/FIT3143_Week_5_Combined.pdf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[9] International Energy Agency, Key Questions on Energy and AI, executive summary, Apr. 16, 2026, CC BY 4.0, accessed Oct. 8, 2026.</a:t>
            </a:r>
          </a:p>
          <a:p xmlns:a="http://schemas.openxmlformats.org/drawingml/2006/main">
            <a:r>
              <a:t>https://www.iea.org/reports/key-questions-on-energy-and-ai/executive-summary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[10] U.S. National Science Foundation, “NAIRR at 2 years: Advancing American artificial intelligence innovation and leadership,” Mar. 19, 2026, accessed Oct. 8, 2026.</a:t>
            </a:r>
          </a:p>
          <a:p xmlns:a="http://schemas.openxmlformats.org/drawingml/2006/main">
            <a:r>
              <a:t>https://www.nsf.gov/cise/updates/nairr-2-years-advancing-american-artificial-intelligence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[22] Monash University, FIT3143 Topic 9B: Mutual exclusion and resource allocation, course slides, 2024, pp. 4–16, 24–32.</a:t>
            </a:r>
          </a:p>
          <a:p xmlns:a="http://schemas.openxmlformats.org/drawingml/2006/main">
            <a:r>
              <a:t>../../context/FIT3143-Topic-9B-2024.pdf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[18] OECD, “OECD AI Principles,” adopted 2019, updated 2024, accessed Oct. 8, 2026.</a:t>
            </a:r>
          </a:p>
          <a:p xmlns:a="http://schemas.openxmlformats.org/drawingml/2006/main">
            <a:r>
              <a:t>https://www.oecd.org/en/topics/ai-principles.html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[11] E. Strubell, A. Ganesh, and A. McCallum, “Energy and policy considerations for deep learning in NLP,” in Proc. ACL, 2019, pp. 3645–3650, doi: 10.18653/v1/P19-1355.</a:t>
            </a:r>
          </a:p>
          <a:p xmlns:a="http://schemas.openxmlformats.org/drawingml/2006/main">
            <a:r>
              <a:t>https://aclanthology.org/P19-1355/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[12] P. Li, J. Yang, M. A. Islam, and S. Ren, “Making AI less ‘thirsty’: Uncovering and addressing the secret water footprint of AI models,” arXiv:2304.03271v5, Mar. 26, 2025; first submitted 2023.</a:t>
            </a:r>
          </a:p>
          <a:p xmlns:a="http://schemas.openxmlformats.org/drawingml/2006/main">
            <a:r>
              <a:t>https://arxiv.org/abs/2304.03271v5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[14] L. Zhu, Z. Liu, and S. Han, “Deep leakage from gradients,” arXiv:1906.08935v2, 2019.</a:t>
            </a:r>
          </a:p>
          <a:p xmlns:a="http://schemas.openxmlformats.org/drawingml/2006/main">
            <a:r>
              <a:t>https://arxiv.org/abs/1906.08935v2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[15] I. O. Gallegos et al., “Bias and fairness in large language models: A survey,” Computational Linguistics, vol. 50, no. 3, pp. 1097–1179, 2024, doi: 10.1162/coli_a_00524.</a:t>
            </a:r>
          </a:p>
          <a:p xmlns:a="http://schemas.openxmlformats.org/drawingml/2006/main">
            <a:r>
              <a:t>https://aclanthology.org/2024.cl-3.8/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[16] N. Ahmed and M. Wahed, “The de-democratization of AI: Deep learning and the compute divide in artificial intelligence research,” arXiv:2010.15581v1, 2020.</a:t>
            </a:r>
          </a:p>
          <a:p xmlns:a="http://schemas.openxmlformats.org/drawingml/2006/main">
            <a:r>
              <a:t>https://arxiv.org/abs/2010.15581v1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[2] Monash University, FIT3143 Topic 7A: Parallel performance and Amdahl reasoning, course slides, 2024, pp. 6–15, 18–27.</a:t>
            </a:r>
          </a:p>
          <a:p xmlns:a="http://schemas.openxmlformats.org/drawingml/2006/main">
            <a:r>
              <a:t>../../context/FIT3143-Topic-7A-2024.pdf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[5] NVIDIA, CUDA C++ Best Practices Guide, online documentation, accessed Oct. 8, 2026.</a:t>
            </a:r>
          </a:p>
          <a:p xmlns:a="http://schemas.openxmlformats.org/drawingml/2006/main">
            <a:r>
              <a:t>https://docs.nvidia.com/cuda/cuda-c-best-practices-guide/index.html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[6] NVIDIA, GPUDirect Storage Overview Guide, online documentation, accessed Oct. 8, 2026.</a:t>
            </a:r>
          </a:p>
          <a:p xmlns:a="http://schemas.openxmlformats.org/drawingml/2006/main">
            <a:r>
              <a:t>https://docs.nvidia.com/gpudirect-storage/overview-guide/index.html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[7] NVIDIA, GPUDirect Storage Design Guide, online documentation, accessed Oct. 8, 2026.</a:t>
            </a:r>
          </a:p>
          <a:p xmlns:a="http://schemas.openxmlformats.org/drawingml/2006/main">
            <a:r>
              <a:t>https://docs.nvidia.com/gpudirect-storage/design-guide/index.html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[13] R. Schwartz, J. Dodge, N. A. Smith, and O. Etzioni, “Green AI,” arXiv:1907.10597, 2019.</a:t>
            </a:r>
          </a:p>
          <a:p xmlns:a="http://schemas.openxmlformats.org/drawingml/2006/main">
            <a:r>
              <a:t>https://arxiv.org/abs/1907.10597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[17] A. Radovanovic et al., “Carbon-aware computing for datacenters,” arXiv:2106.11750v1, 2021.</a:t>
            </a:r>
          </a:p>
          <a:p xmlns:a="http://schemas.openxmlformats.org/drawingml/2006/main">
            <a:r>
              <a:t>https://arxiv.org/abs/2106.11750v1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[19] NIST, AI Risk Management Framework 1.0 Playbook, framework 2023, current online resource, accessed Oct. 8, 2026.</a:t>
            </a:r>
          </a:p>
          <a:p xmlns:a="http://schemas.openxmlformats.org/drawingml/2006/main">
            <a:r>
              <a:t>https://airc.nist.gov/airmf-resources/playbook/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1508a1909348c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80682344ec4b6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51956c6aa14c84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b8363d9a147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4cc7abccf8749b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54eef0b70342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0A013E4-0277-462D-B874-9A71FF665D9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019DF7DD-F7DC-4D27-8B36-0EA5347DC55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D37583E-BF14-442D-A452-8A2901DDB9B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FA05412-3FF7-4E4D-BC4C-5FBA0A4A8A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86BCCBD-30C0-4AAF-8B2C-8B5FDDDF1F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ED70431-9FC9-41AA-B98D-10607A452C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4AB5154-3CA3-4329-A302-77B4FC4D03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CBC9AA8-E5B9-4D59-8F16-E37412719E4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B1F62CB-1B42-40B1-B460-6600DB312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6704BF7-2478-47A4-8100-3252967310F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44f92b002f54353" /><Relationship Type="http://schemas.openxmlformats.org/officeDocument/2006/relationships/slideLayout" Target="/ppt/slideLayouts/slideLayout1.xml" Id="Rd6aed4050dcd46e8" /><Relationship Type="http://schemas.openxmlformats.org/officeDocument/2006/relationships/slideLayout" Target="/ppt/slideLayouts/slideLayout2.xml" Id="R5124bc8ca42e420b" /><Relationship Type="http://schemas.openxmlformats.org/officeDocument/2006/relationships/slideLayout" Target="/ppt/slideLayouts/slideLayout3.xml" Id="R0cdc1883128e4466" /><Relationship Type="http://schemas.openxmlformats.org/officeDocument/2006/relationships/slideLayout" Target="/ppt/slideLayouts/slideLayout4.xml" Id="Rbdd810acad634411" /><Relationship Type="http://schemas.openxmlformats.org/officeDocument/2006/relationships/slideLayout" Target="/ppt/slideLayouts/slideLayout5.xml" Id="R7ec38a30a7f54572" /><Relationship Type="http://schemas.openxmlformats.org/officeDocument/2006/relationships/slideLayout" Target="/ppt/slideLayouts/slideLayout6.xml" Id="R54abb1beb5e84de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6aed4050dcd46e8"/>
    <p:sldLayoutId xmlns:r="http://schemas.openxmlformats.org/officeDocument/2006/relationships" id="2147483650" r:id="R5124bc8ca42e420b"/>
    <p:sldLayoutId xmlns:r="http://schemas.openxmlformats.org/officeDocument/2006/relationships" id="2147483651" r:id="R0cdc1883128e4466"/>
    <p:sldLayoutId xmlns:r="http://schemas.openxmlformats.org/officeDocument/2006/relationships" id="2147483652" r:id="Rbdd810acad634411"/>
    <p:sldLayoutId xmlns:r="http://schemas.openxmlformats.org/officeDocument/2006/relationships" id="2147483653" r:id="R7ec38a30a7f54572"/>
    <p:sldLayoutId xmlns:r="http://schemas.openxmlformats.org/officeDocument/2006/relationships" id="2147483654" r:id="R54abb1beb5e84de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cc3588dff5489e" /><Relationship Type="http://schemas.openxmlformats.org/officeDocument/2006/relationships/notesSlide" Target="/ppt/notesSlides/notesSlide1.xml" Id="R47a4e0ba8bad4f2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28474deb2e4ec5" /><Relationship Type="http://schemas.openxmlformats.org/officeDocument/2006/relationships/notesSlide" Target="/ppt/notesSlides/notesSlide2.xml" Id="Rca8bef8b0525463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18b672dd1640a4" /><Relationship Type="http://schemas.openxmlformats.org/officeDocument/2006/relationships/chart" Target="/ppt/slides/charts/chart1.xml" Id="R420f1da3f4c3407c" /><Relationship Type="http://schemas.openxmlformats.org/officeDocument/2006/relationships/chart" Target="/ppt/slides/charts/chart2.xml" Id="Ra2736391ebef44a8" /><Relationship Type="http://schemas.openxmlformats.org/officeDocument/2006/relationships/notesSlide" Target="/ppt/notesSlides/notesSlide3.xml" Id="R27bf5bd98f9b4fd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a8722e6ea8543c5" /><Relationship Type="http://schemas.openxmlformats.org/officeDocument/2006/relationships/notesSlide" Target="/ppt/notesSlides/notesSlide4.xml" Id="R0f2cef87cd114a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834e4f208524271" /><Relationship Type="http://schemas.openxmlformats.org/officeDocument/2006/relationships/notesSlide" Target="/ppt/notesSlides/notesSlide5.xml" Id="R37c22cf321ba44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cec14b02f054808" /><Relationship Type="http://schemas.openxmlformats.org/officeDocument/2006/relationships/notesSlide" Target="/ppt/notesSlides/notesSlide6.xml" Id="Radadd7f0b00142d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aad6aafce643c1" /><Relationship Type="http://schemas.openxmlformats.org/officeDocument/2006/relationships/notesSlide" Target="/ppt/notesSlides/notesSlide7.xml" Id="R7553690b1c4d42c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815921f4894459" /><Relationship Type="http://schemas.openxmlformats.org/officeDocument/2006/relationships/notesSlide" Target="/ppt/notesSlides/notesSlide8.xml" Id="R762ad05f32514d1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f2ccddc4e344a58" /><Relationship Type="http://schemas.openxmlformats.org/officeDocument/2006/relationships/notesSlide" Target="/ppt/notesSlides/notesSlide9.xml" Id="R722528e091c54142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8fcd201c4254e23" /><Relationship Type="http://schemas.openxmlformats.org/officeDocument/2006/relationships/notesSlide" Target="/ppt/notesSlides/notesSlide10.xml" Id="R97922380fff0459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d1ac4f3d54c19" /><Relationship Type="http://schemas.openxmlformats.org/officeDocument/2006/relationships/notesSlide" Target="/ppt/notesSlides/notesSlide11.xml" Id="Rf6e53667068843c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af5b5e8ead14361" /><Relationship Type="http://schemas.openxmlformats.org/officeDocument/2006/relationships/notesSlide" Target="/ppt/notesSlides/notesSlide12.xml" Id="R0f5a67059ccc4c45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6de08b22ec484a" /><Relationship Type="http://schemas.openxmlformats.org/officeDocument/2006/relationships/notesSlide" Target="/ppt/notesSlides/notesSlide13.xml" Id="Recf1362471924e2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1845a329ef749b2" /><Relationship Type="http://schemas.openxmlformats.org/officeDocument/2006/relationships/notesSlide" Target="/ppt/notesSlides/notesSlide14.xml" Id="R095cf06eb7d7430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4c17df12afa4433" /><Relationship Type="http://schemas.openxmlformats.org/officeDocument/2006/relationships/notesSlide" Target="/ppt/notesSlides/notesSlide15.xml" Id="Rabdbfb0d2eb34d7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74ffa5316a04a97" /><Relationship Type="http://schemas.openxmlformats.org/officeDocument/2006/relationships/notesSlide" Target="/ppt/notesSlides/notesSlide16.xml" Id="R1aeae3882dc64b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58e2e1341df4c77" /><Relationship Type="http://schemas.openxmlformats.org/officeDocument/2006/relationships/notesSlide" Target="/ppt/notesSlides/notesSlide17.xml" Id="Re3b73498ebfc413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97587dbcc24b02" /><Relationship Type="http://schemas.openxmlformats.org/officeDocument/2006/relationships/hyperlink" Target="https://docs.nvidia.com/cuda/cuda-c-best-practices-guide/index.html" TargetMode="External" Id="R957ac7a4f48549a3" /><Relationship Type="http://schemas.openxmlformats.org/officeDocument/2006/relationships/hyperlink" Target="https://docs.nvidia.com/gpudirect-storage/overview-guide/index.html" TargetMode="External" Id="R1000d438c88c4536" /><Relationship Type="http://schemas.openxmlformats.org/officeDocument/2006/relationships/notesSlide" Target="/ppt/notesSlides/notesSlide18.xml" Id="Rca4741f269fa4e8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d67b8df77b454b" /><Relationship Type="http://schemas.openxmlformats.org/officeDocument/2006/relationships/hyperlink" Target="https://docs.nvidia.com/gpudirect-storage/design-guide/index.html" TargetMode="External" Id="R4e859e424bcb4a4f" /><Relationship Type="http://schemas.openxmlformats.org/officeDocument/2006/relationships/hyperlink" Target="https://docs.nvidia.com/megatron-core/developer-guide/latest/user-guide/parallelism-guide.html" TargetMode="External" Id="R1e098987c46c4d89" /><Relationship Type="http://schemas.openxmlformats.org/officeDocument/2006/relationships/hyperlink" Target="https://www.iea.org/reports/key-questions-on-energy-and-ai/executive-summary" TargetMode="External" Id="Rfbdc190e24b04476" /><Relationship Type="http://schemas.openxmlformats.org/officeDocument/2006/relationships/hyperlink" Target="https://www.nsf.gov/cise/updates/nairr-2-years-advancing-american-artificial-intelligence" TargetMode="External" Id="R596ea314ea3d490a" /><Relationship Type="http://schemas.openxmlformats.org/officeDocument/2006/relationships/notesSlide" Target="/ppt/notesSlides/notesSlide19.xml" Id="R4a3691c0436546cd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6824b74e442b5" /><Relationship Type="http://schemas.openxmlformats.org/officeDocument/2006/relationships/hyperlink" Target="https://aclanthology.org/P19-1355/" TargetMode="External" Id="R72ba8486d60449e5" /><Relationship Type="http://schemas.openxmlformats.org/officeDocument/2006/relationships/hyperlink" Target="https://arxiv.org/abs/2304.03271v5" TargetMode="External" Id="Rccc17cc373dd40fa" /><Relationship Type="http://schemas.openxmlformats.org/officeDocument/2006/relationships/hyperlink" Target="https://arxiv.org/abs/1907.10597" TargetMode="External" Id="Rb5105f4a2ec5414e" /><Relationship Type="http://schemas.openxmlformats.org/officeDocument/2006/relationships/hyperlink" Target="https://arxiv.org/abs/1906.08935v2" TargetMode="External" Id="R353e06339012403b" /><Relationship Type="http://schemas.openxmlformats.org/officeDocument/2006/relationships/notesSlide" Target="/ppt/notesSlides/notesSlide20.xml" Id="R0c49a2d30a5d4b03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f8a238632ec4f85" /><Relationship Type="http://schemas.openxmlformats.org/officeDocument/2006/relationships/hyperlink" Target="https://aclanthology.org/2024.cl-3.8/" TargetMode="External" Id="R0b99bd03176e47ad" /><Relationship Type="http://schemas.openxmlformats.org/officeDocument/2006/relationships/hyperlink" Target="https://arxiv.org/abs/2010.15581v1" TargetMode="External" Id="R1df02370fe62456f" /><Relationship Type="http://schemas.openxmlformats.org/officeDocument/2006/relationships/hyperlink" Target="https://arxiv.org/abs/2106.11750v1" TargetMode="External" Id="R7c9379829ab04a8f" /><Relationship Type="http://schemas.openxmlformats.org/officeDocument/2006/relationships/hyperlink" Target="https://www.oecd.org/en/topics/ai-principles.html" TargetMode="External" Id="Rcc5a95f87ade4614" /><Relationship Type="http://schemas.openxmlformats.org/officeDocument/2006/relationships/notesSlide" Target="/ppt/notesSlides/notesSlide21.xml" Id="Rb5b05c46184f416f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fdcd9f70ceb4b28" /><Relationship Type="http://schemas.openxmlformats.org/officeDocument/2006/relationships/hyperlink" Target="https://airc.nist.gov/airmf-resources/playbook/" TargetMode="External" Id="Rb875e365d707419c" /><Relationship Type="http://schemas.openxmlformats.org/officeDocument/2006/relationships/notesSlide" Target="/ppt/notesSlides/notesSlide22.xml" Id="R7e33e60cad814c91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53499b72554e49" /><Relationship Type="http://schemas.openxmlformats.org/officeDocument/2006/relationships/notesSlide" Target="/ppt/notesSlides/notesSlide23.xml" Id="Ree5e0c6a5e234d97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93393902e147bf" /><Relationship Type="http://schemas.openxmlformats.org/officeDocument/2006/relationships/notesSlide" Target="/ppt/notesSlides/notesSlide24.xml" Id="R73faccdaf7334251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7799d0899e4c58" /><Relationship Type="http://schemas.openxmlformats.org/officeDocument/2006/relationships/notesSlide" Target="/ppt/notesSlides/notesSlide25.xml" Id="R4affca7cb8e0450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160c77c56324765" /><Relationship Type="http://schemas.openxmlformats.org/officeDocument/2006/relationships/notesSlide" Target="/ppt/notesSlides/notesSlide26.xml" Id="R21e8878e6bf94272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5a50473d70641a0" /><Relationship Type="http://schemas.openxmlformats.org/officeDocument/2006/relationships/notesSlide" Target="/ppt/notesSlides/notesSlide27.xml" Id="R915c377fc4894042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b37dbdfceed4eff" /><Relationship Type="http://schemas.openxmlformats.org/officeDocument/2006/relationships/notesSlide" Target="/ppt/notesSlides/notesSlide28.xml" Id="Re81b7a241aca441e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8fa98b773194ad1" /><Relationship Type="http://schemas.openxmlformats.org/officeDocument/2006/relationships/notesSlide" Target="/ppt/notesSlides/notesSlide29.xml" Id="R8130fd2bbe054c90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cb3c6f28064813" /><Relationship Type="http://schemas.openxmlformats.org/officeDocument/2006/relationships/notesSlide" Target="/ppt/notesSlides/notesSlide30.xml" Id="R719e930b8f474ccf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86be47492a4ee5" /><Relationship Type="http://schemas.openxmlformats.org/officeDocument/2006/relationships/notesSlide" Target="/ppt/notesSlides/notesSlide31.xml" Id="R5e99a8c716c44634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bd141cf389429c" /><Relationship Type="http://schemas.openxmlformats.org/officeDocument/2006/relationships/notesSlide" Target="/ppt/notesSlides/notesSlide32.xml" Id="R5e9c4f6719ec4df4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35c68dbbb6c4834" /><Relationship Type="http://schemas.openxmlformats.org/officeDocument/2006/relationships/notesSlide" Target="/ppt/notesSlides/notesSlide33.xml" Id="R21ef0cdcaeef40ea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724e9aa7c554a2a" /><Relationship Type="http://schemas.openxmlformats.org/officeDocument/2006/relationships/notesSlide" Target="/ppt/notesSlides/notesSlide34.xml" Id="Rf3a230310ff84a05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bd86b54da8f4a96" /><Relationship Type="http://schemas.openxmlformats.org/officeDocument/2006/relationships/notesSlide" Target="/ppt/notesSlides/notesSlide35.xml" Id="R8bb1ae93affe4f6d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1c4653522284df5" /><Relationship Type="http://schemas.openxmlformats.org/officeDocument/2006/relationships/notesSlide" Target="/ppt/notesSlides/notesSlide36.xml" Id="R50e756bb2a1d49f4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dbf8f56560848d8" /><Relationship Type="http://schemas.openxmlformats.org/officeDocument/2006/relationships/notesSlide" Target="/ppt/notesSlides/notesSlide37.xml" Id="Ra7d1126d90184a2b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f73bf01f2840c5" /><Relationship Type="http://schemas.openxmlformats.org/officeDocument/2006/relationships/notesSlide" Target="/ppt/notesSlides/notesSlide38.xml" Id="R369cd38920644b34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72312ac3d2b4da1" /><Relationship Type="http://schemas.openxmlformats.org/officeDocument/2006/relationships/notesSlide" Target="/ppt/notesSlides/notesSlide39.xml" Id="R37ba542c6efb4c9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Electricity (TWh)</c:v>
          </c:tx>
          <c:spPr>
            <a:solidFill xmlns:a="http://schemas.openxmlformats.org/drawingml/2006/main">
              <a:srgbClr val="007B83"/>
            </a:solidFill>
          </c:spPr>
          <c:cat>
            <c:strRef>
              <c:f>'Chart Data'!$A$2:$A$3</c:f>
              <c:strCache>
                <c:ptCount val="2"/>
                <c:pt idx="0">
                  <c:v>2025 estimate</c:v>
                </c:pt>
                <c:pt idx="1">
                  <c:v>2030 projection</c:v>
                </c:pt>
              </c:strCache>
            </c:strRef>
          </c:cat>
          <c:val>
            <c:numRef>
              <c:f>'Chart Data'!$B$2:$B$3</c:f>
              <c:numCache>
                <c:formatCode>0</c:formatCode>
                <c:ptCount val="2"/>
                <c:pt idx="0">
                  <c:v>485</c:v>
                </c:pt>
                <c:pt idx="1">
                  <c:v>950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2025 growth</c:v>
          </c:tx>
          <c:spPr>
            <a:solidFill xmlns:a="http://schemas.openxmlformats.org/drawingml/2006/main">
              <a:srgbClr val="B55E24"/>
            </a:solidFill>
          </c:spPr>
          <c:cat>
            <c:strRef>
              <c:f>'Chart Data'!$A$2:$A$3</c:f>
              <c:strCache>
                <c:ptCount val="2"/>
                <c:pt idx="0">
                  <c:v>All data centres</c:v>
                </c:pt>
                <c:pt idx="1">
                  <c:v>AI-focused subset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0.17</c:v>
                </c:pt>
                <c:pt idx="1">
                  <c:v>0.5</c:v>
                </c:pt>
              </c:numCache>
            </c:numRef>
          </c:val>
        </c:ser>
        <c:dLbls>
          <c:numFmt formatCode="0%" sourceLinked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725">
                  <a:solidFill>
                    <a:srgbClr val="142D45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2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>
            <a:solidFill>
              <a:srgbClr val="CBD5DC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CBD5DC"/>
              </a:solidFill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>
          <a:noFill/>
        </a:ln>
      </c:spPr>
    </c:plotArea>
    <c:plotVisOnly val="1"/>
  </c:chart>
  <c:spPr>
    <a:noFill xmlns:a="http://schemas.openxmlformats.org/drawingml/2006/main"/>
    <a:ln xmlns:a="http://schemas.openxmlformats.org/drawingml/2006/main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D4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FIT3143 • Applied 2 • Task 2">
            <a:extLst xmlns:a="http://schemas.openxmlformats.org/drawingml/2006/main">
              <a:ext uri="{FF2B5EF4-FFF2-40B4-BE49-F238E27FC236}">
                <a16:creationId xmlns:a16="http://schemas.microsoft.com/office/drawing/2014/main" id="{5B3F2D77-D697-4038-A2CC-357520324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"/>
            <a:ext cx="10858500" cy="2743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1">
                <a:solidFill>
                  <a:srgbClr val="8CD7D5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8CD7D5"/>
                </a:solidFill>
                <a:latin typeface="Arial"/>
                <a:ea typeface="Arial"/>
                <a:cs typeface="Arial"/>
              </a:rPr>
              <a:t>FIT3143 • Applied 2 • Task 2</a:t>
            </a:r>
          </a:p>
        </p:txBody>
      </p:sp>
      <p:sp>
        <p:nvSpPr>
          <p:cNvPr id="2" name="Responsible HPC for AI">
            <a:extLst xmlns:a="http://schemas.openxmlformats.org/drawingml/2006/main">
              <a:ext uri="{FF2B5EF4-FFF2-40B4-BE49-F238E27FC236}">
                <a16:creationId xmlns:a16="http://schemas.microsoft.com/office/drawing/2014/main" id="{9C56F356-4322-471A-A55F-B5252111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858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40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Responsible HPC for AI</a:t>
            </a:r>
          </a:p>
        </p:txBody>
      </p:sp>
      <p:sp>
        <p:nvSpPr>
          <p:cNvPr id="3" name="CUDA design and performance • Evidence, trade-offs and ">
            <a:extLst xmlns:a="http://schemas.openxmlformats.org/drawingml/2006/main">
              <a:ext uri="{FF2B5EF4-FFF2-40B4-BE49-F238E27FC236}">
                <a16:creationId xmlns:a16="http://schemas.microsoft.com/office/drawing/2014/main" id="{741C4657-781E-43D6-B4C7-2D4130DDD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099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CCDCE4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CCDCE4"/>
                </a:solidFill>
                <a:latin typeface="Arial"/>
                <a:ea typeface="Arial"/>
                <a:cs typeface="Arial"/>
              </a:rPr>
              <a:t>CUDA design and performance • Evidence, trade-offs and accountable use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EE3B2-0B5B-4A21-BAA3-2B622691A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577082"/>
            </a:solidFill>
            <a:prstDash val="solid"/>
          </a:ln>
        </p:spPr>
      </p:sp>
      <p:sp>
        <p:nvSpPr>
          <p:cNvPr id="5" name="Savin Vindiv De Alwis  ·  35221631">
            <a:extLst xmlns:a="http://schemas.openxmlformats.org/drawingml/2006/main">
              <a:ext uri="{FF2B5EF4-FFF2-40B4-BE49-F238E27FC236}">
                <a16:creationId xmlns:a16="http://schemas.microsoft.com/office/drawing/2014/main" id="{2C8B83C5-6FAD-4D64-8BD0-09E1D005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Savin Vindiv De Alwis · 35221631</a:t>
            </a:r>
          </a:p>
        </p:txBody>
      </p:sp>
      <p:sp>
        <p:nvSpPr>
          <p:cNvPr id="6" name="sdea0018@student.monash.edu">
            <a:extLst xmlns:a="http://schemas.openxmlformats.org/drawingml/2006/main">
              <a:ext uri="{FF2B5EF4-FFF2-40B4-BE49-F238E27FC236}">
                <a16:creationId xmlns:a16="http://schemas.microsoft.com/office/drawing/2014/main" id="{1038B0B6-D7E7-4FEC-86DD-FA0561175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sdea0018@student.monash.edu</a:t>
            </a:r>
          </a:p>
        </p:txBody>
      </p:sp>
      <p:sp>
        <p:nvSpPr>
          <p:cNvPr id="7" name="Shamle Thilaksiri  ·  35512075">
            <a:extLst xmlns:a="http://schemas.openxmlformats.org/drawingml/2006/main">
              <a:ext uri="{FF2B5EF4-FFF2-40B4-BE49-F238E27FC236}">
                <a16:creationId xmlns:a16="http://schemas.microsoft.com/office/drawing/2014/main" id="{9DA77ECC-923C-42BE-A1CF-3574F310C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0175"/>
            <a:ext cx="108585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Shamle Thilaksiri · 35512075</a:t>
            </a:r>
          </a:p>
        </p:txBody>
      </p:sp>
      <p:sp>
        <p:nvSpPr>
          <p:cNvPr id="8" name="wthi0003@student.monash.edu">
            <a:extLst xmlns:a="http://schemas.openxmlformats.org/drawingml/2006/main">
              <a:ext uri="{FF2B5EF4-FFF2-40B4-BE49-F238E27FC236}">
                <a16:creationId xmlns:a16="http://schemas.microsoft.com/office/drawing/2014/main" id="{0E18760C-4392-41E7-A2E4-D110CDC73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53075"/>
            <a:ext cx="108585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wthi0003@student.monash.edu</a:t>
            </a:r>
          </a:p>
        </p:txBody>
      </p:sp>
      <p:sp>
        <p:nvSpPr>
          <p:cNvPr id="9" name="8 October 2026  •  Detailed evidence, references and AI">
            <a:extLst xmlns:a="http://schemas.openxmlformats.org/drawingml/2006/main">
              <a:ext uri="{FF2B5EF4-FFF2-40B4-BE49-F238E27FC236}">
                <a16:creationId xmlns:a16="http://schemas.microsoft.com/office/drawing/2014/main" id="{74F760A0-61B7-446A-9080-FE8BC113E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91275"/>
            <a:ext cx="10858500" cy="2152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C8D9E3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C8D9E3"/>
                </a:solidFill>
                <a:latin typeface="Arial"/>
                <a:ea typeface="Arial"/>
                <a:cs typeface="Arial"/>
              </a:rPr>
              <a:t>8 October 2026 • Detailed evidence, references and AI records follow in the appendix</a:t>
            </a:r>
          </a:p>
        </p:txBody>
      </p:sp>
    </p:spTree>
    <p:extLst>
      <p:ext uri="{BB962C8B-B14F-4D97-AF65-F5344CB8AC3E}">
        <p14:creationId xmlns:p14="http://schemas.microsoft.com/office/powerpoint/2010/main" val="7356172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ask 2 • HPC and AI">
            <a:extLst xmlns:a="http://schemas.openxmlformats.org/drawingml/2006/main">
              <a:ext uri="{FF2B5EF4-FFF2-40B4-BE49-F238E27FC236}">
                <a16:creationId xmlns:a16="http://schemas.microsoft.com/office/drawing/2014/main" id="{943045C3-D26C-43B4-B8EE-2D22F4C8B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 • HPC and AI</a:t>
            </a:r>
          </a:p>
        </p:txBody>
      </p:sp>
      <p:sp>
        <p:nvSpPr>
          <p:cNvPr id="2" name="Parallel training across a compute cluster">
            <a:extLst xmlns:a="http://schemas.openxmlformats.org/drawingml/2006/main">
              <a:ext uri="{FF2B5EF4-FFF2-40B4-BE49-F238E27FC236}">
                <a16:creationId xmlns:a16="http://schemas.microsoft.com/office/drawing/2014/main" id="{65EA3906-E4A3-4D7C-BD72-71794B89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 training across a compute cluster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DAC773-F520-4CD5-888A-95E442D21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0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4FB261-3A55-4B60-AA46-80049DCA0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1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B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F40FF5-213B-436F-8F7A-5E350CB3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33550"/>
            <a:ext cx="2971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GPU 2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same model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partition 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259BA3-3809-4661-B93D-06AEB39F3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14750"/>
            <a:ext cx="109728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Gradient all-reduce: average + share → consistent update on every GPU</a:t>
            </a:r>
          </a:p>
        </p:txBody>
      </p: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7BF447-67B2-47E8-AB50-039701F4A750}"/>
              </a:ext>
            </a:extLst>
          </p:cNvPr>
          <p:cNvCxnSpPr/>
          <p:nvPr/>
        </p:nvCxnSpPr>
        <p:spPr>
          <a:xfrm xmlns:a="http://schemas.openxmlformats.org/drawingml/2006/main">
            <a:off x="2095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36CFE-6A89-4FB5-98FA-50C96DA0511B}"/>
              </a:ext>
            </a:extLst>
          </p:cNvPr>
          <p:cNvCxnSpPr/>
          <p:nvPr/>
        </p:nvCxnSpPr>
        <p:spPr>
          <a:xfrm xmlns:a="http://schemas.openxmlformats.org/drawingml/2006/main">
            <a:off x="60960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195D5-75ED-4488-95C9-0DFEA4A2F1E1}"/>
              </a:ext>
            </a:extLst>
          </p:cNvPr>
          <p:cNvCxnSpPr/>
          <p:nvPr/>
        </p:nvCxnSpPr>
        <p:spPr>
          <a:xfrm xmlns:a="http://schemas.openxmlformats.org/drawingml/2006/main">
            <a:off x="10096500" y="2857500"/>
            <a:ext cx="0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tailEnd type="arrow" w="med" len="med"/>
          </a:ln>
        </p:spPr>
      </p:cxnSp>
      <p:sp>
        <p:nvSpPr>
          <p:cNvPr id="10" name="Interconnect:&#10;latency and bandwidth">
            <a:extLst xmlns:a="http://schemas.openxmlformats.org/drawingml/2006/main">
              <a:ext uri="{FF2B5EF4-FFF2-40B4-BE49-F238E27FC236}">
                <a16:creationId xmlns:a16="http://schemas.microsoft.com/office/drawing/2014/main" id="{DFE2869C-7C2F-411B-9181-73110E29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3038475"/>
            <a:ext cx="2990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Interconnect: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latency and bandwidth</a:t>
            </a:r>
          </a:p>
        </p:txBody>
      </p:sp>
      <p:sp>
        <p:nvSpPr>
          <p:cNvPr id="11" name="Gradient synchronization&#10;before each update">
            <a:extLst xmlns:a="http://schemas.openxmlformats.org/drawingml/2006/main">
              <a:ext uri="{FF2B5EF4-FFF2-40B4-BE49-F238E27FC236}">
                <a16:creationId xmlns:a16="http://schemas.microsoft.com/office/drawing/2014/main" id="{C303EB0C-0C8A-4B02-A21A-68484931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38475"/>
            <a:ext cx="3048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Gradient synchronization</a:t>
            </a:r>
          </a:p>
          <a:p xmlns:a="http://schemas.openxmlformats.org/drawingml/2006/main">
            <a:pPr algn="l">
              <a:defRPr sz="16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before each update</a:t>
            </a:r>
          </a:p>
        </p:txBody>
      </p:sp>
      <p:sp>
        <p:nvSpPr>
          <p:cNvPr id="12" name="HPC combines processors, memory, networks and storage. ">
            <a:extLst xmlns:a="http://schemas.openxmlformats.org/drawingml/2006/main">
              <a:ext uri="{FF2B5EF4-FFF2-40B4-BE49-F238E27FC236}">
                <a16:creationId xmlns:a16="http://schemas.microsoft.com/office/drawing/2014/main" id="{4121BDA5-E32E-4603-8F20-AA240BB80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52975"/>
            <a:ext cx="521970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HPC combines processors, memory, networks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storage. Tensor/pipeline parallelism can also split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model.</a:t>
            </a:r>
          </a:p>
        </p:txBody>
      </p:sp>
      <p:sp>
        <p:nvSpPr>
          <p:cNvPr id="13" name="More GPUs enable larger work; communication, serial wor">
            <a:extLst xmlns:a="http://schemas.openxmlformats.org/drawingml/2006/main">
              <a:ext uri="{FF2B5EF4-FFF2-40B4-BE49-F238E27FC236}">
                <a16:creationId xmlns:a16="http://schemas.microsoft.com/office/drawing/2014/main" id="{77846D61-7D20-4C24-837D-B3BF2DF5B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52975"/>
            <a:ext cx="51625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GPUs enable larger work; communication,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serial work and imbalance limit speedup. Evaluate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useful output against resource cost.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5D1F64-9A3C-4479-BE8A-D691C4243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Scaling adds capacity and communication: ethical costs ">
            <a:extLst xmlns:a="http://schemas.openxmlformats.org/drawingml/2006/main">
              <a:ext uri="{FF2B5EF4-FFF2-40B4-BE49-F238E27FC236}">
                <a16:creationId xmlns:a16="http://schemas.microsoft.com/office/drawing/2014/main" id="{1C4BFCD1-82B9-4A01-900C-DED8E2072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adds capacity and communication: ethical costs depend on useful work.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33A549-48B3-4FA7-B5F3-27566E6F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A0071FC7-95A6-4F7A-8DBC-F41CED67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18" name="2 / 39">
            <a:extLst xmlns:a="http://schemas.openxmlformats.org/drawingml/2006/main">
              <a:ext uri="{FF2B5EF4-FFF2-40B4-BE49-F238E27FC236}">
                <a16:creationId xmlns:a16="http://schemas.microsoft.com/office/drawing/2014/main" id="{55E1ADB7-3617-4589-9EB3-D8FDE33C2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 / 39</a:t>
            </a:r>
          </a:p>
        </p:txBody>
      </p:sp>
    </p:spTree>
    <p:extLst>
      <p:ext uri="{BB962C8B-B14F-4D97-AF65-F5344CB8AC3E}">
        <p14:creationId xmlns:p14="http://schemas.microsoft.com/office/powerpoint/2010/main" val="68938680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a)">
            <a:extLst xmlns:a="http://schemas.openxmlformats.org/drawingml/2006/main">
              <a:ext uri="{FF2B5EF4-FFF2-40B4-BE49-F238E27FC236}">
                <a16:creationId xmlns:a16="http://schemas.microsoft.com/office/drawing/2014/main" id="{753D08ED-E4C4-4F5B-8FAB-88D92219D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2(a)</a:t>
            </a:r>
          </a:p>
        </p:txBody>
      </p:sp>
      <p:sp>
        <p:nvSpPr>
          <p:cNvPr id="2" name="Electricity demand and environmental costs">
            <a:extLst xmlns:a="http://schemas.openxmlformats.org/drawingml/2006/main">
              <a:ext uri="{FF2B5EF4-FFF2-40B4-BE49-F238E27FC236}">
                <a16:creationId xmlns:a16="http://schemas.microsoft.com/office/drawing/2014/main" id="{AE9E2D14-655F-4917-AC95-BB9F0680E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demand and environmental costs</a:t>
            </a:r>
          </a:p>
        </p:txBody>
      </p:sp>
      <p:sp>
        <p:nvSpPr>
          <p:cNvPr id="3" name="Global data-centre electricity (TWh/year)">
            <a:extLst xmlns:a="http://schemas.openxmlformats.org/drawingml/2006/main">
              <a:ext uri="{FF2B5EF4-FFF2-40B4-BE49-F238E27FC236}">
                <a16:creationId xmlns:a16="http://schemas.microsoft.com/office/drawing/2014/main" id="{911EC0D8-98DD-4A76-9454-F39F162E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Global data-centre electricity (TWh/year)</a:t>
            </a:r>
          </a:p>
        </p:txBody>
      </p:sp>
      <p:sp>
        <p:nvSpPr>
          <p:cNvPr id="4" name="Electricity growth during 2025">
            <a:extLst xmlns:a="http://schemas.openxmlformats.org/drawingml/2006/main">
              <a:ext uri="{FF2B5EF4-FFF2-40B4-BE49-F238E27FC236}">
                <a16:creationId xmlns:a16="http://schemas.microsoft.com/office/drawing/2014/main" id="{23D64244-AD6E-433A-AA0F-CE3241F6D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438275"/>
            <a:ext cx="5257800" cy="3097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Electricity growth during 2025</a:t>
            </a:r>
          </a:p>
        </p:txBody>
      </p:sp>
      <p:graphicFrame>
        <p:nvGraphicFramePr>
          <p:cNvPr id="5" name="Chart">
            <a:extLst xmlns:a="http://schemas.openxmlformats.org/drawingml/2006/main">
              <a:ext uri="{FF2B5EF4-FFF2-40B4-BE49-F238E27FC236}">
                <a16:creationId xmlns:a16="http://schemas.microsoft.com/office/drawing/2014/main" id="{7DA46290-6940-441B-A919-FEC10C628DF3}"/>
              </a:ext>
            </a:extLst>
          </p:cNvPr>
          <p:cNvGraphicFramePr/>
          <p:nvPr/>
        </p:nvGraphicFramePr>
        <p:xfrm>
          <a:off xmlns:a="http://schemas.openxmlformats.org/drawingml/2006/main" x="609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420f1da3f4c3407c"/>
          </a:graphicData>
        </a:graphic>
      </p:graphicFrame>
      <p:graphicFrame>
        <p:nvGraphicFramePr>
          <p:cNvPr id="6" name="Chart">
            <a:extLst xmlns:a="http://schemas.openxmlformats.org/drawingml/2006/main">
              <a:ext uri="{FF2B5EF4-FFF2-40B4-BE49-F238E27FC236}">
                <a16:creationId xmlns:a16="http://schemas.microsoft.com/office/drawing/2014/main" id="{3AEB04A0-9B80-4BA6-91C7-0F7A9AD1F11E}"/>
              </a:ext>
            </a:extLst>
          </p:cNvPr>
          <p:cNvGraphicFramePr/>
          <p:nvPr/>
        </p:nvGraphicFramePr>
        <p:xfrm>
          <a:off xmlns:a="http://schemas.openxmlformats.org/drawingml/2006/main" x="6324600" y="1876425"/>
          <a:ext xmlns:a="http://schemas.openxmlformats.org/drawingml/2006/main" cx="5257800" cy="284797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2736391ebef44a8"/>
          </a:graphicData>
        </a:graphic>
      </p:graphicFrame>
      <p:sp>
        <p:nvSpPr>
          <p:cNvPr id="7" name="IEA 2026: ≈96% increase to 2030. These cover the whole ">
            <a:extLst xmlns:a="http://schemas.openxmlformats.org/drawingml/2006/main">
              <a:ext uri="{FF2B5EF4-FFF2-40B4-BE49-F238E27FC236}">
                <a16:creationId xmlns:a16="http://schemas.microsoft.com/office/drawing/2014/main" id="{1BB7456A-F435-46E1-B2C5-EEA424FFA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6727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2026: ≈96% increase to 2030. These cover the whole sector, not AI training alone; growth categories overlap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cannot be added.</a:t>
            </a:r>
          </a:p>
        </p:txBody>
      </p:sp>
      <p:sp>
        <p:nvSpPr>
          <p:cNvPr id="8" name="Research comparison: Green AI [13] emphasizes efficienc">
            <a:extLst xmlns:a="http://schemas.openxmlformats.org/drawingml/2006/main">
              <a:ext uri="{FF2B5EF4-FFF2-40B4-BE49-F238E27FC236}">
                <a16:creationId xmlns:a16="http://schemas.microsoft.com/office/drawing/2014/main" id="{37F3DDF6-3955-4DE2-BF29-C28937027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81625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comparison: Green AI [13] emphasizes efficiency; water research [12] adds site/time constraints. Track energy,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 and local cooling impacts.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17CCE7-9F2F-49E9-B021-62CE5572D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3E188235-75C7-4CE7-92D6-72B350EFF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[12] Li et al. 2025 revision: water impacts; [13] Schwartz et al. 2019: efficiency reporting</a:t>
            </a:r>
          </a:p>
        </p:txBody>
      </p:sp>
      <p:sp>
        <p:nvSpPr>
          <p:cNvPr id="11" name="3 / 39">
            <a:extLst xmlns:a="http://schemas.openxmlformats.org/drawingml/2006/main">
              <a:ext uri="{FF2B5EF4-FFF2-40B4-BE49-F238E27FC236}">
                <a16:creationId xmlns:a16="http://schemas.microsoft.com/office/drawing/2014/main" id="{DCD45507-CB35-4BF6-A7A8-D8BAD42FA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 / 39</a:t>
            </a:r>
          </a:p>
        </p:txBody>
      </p:sp>
    </p:spTree>
    <p:extLst>
      <p:ext uri="{BB962C8B-B14F-4D97-AF65-F5344CB8AC3E}">
        <p14:creationId xmlns:p14="http://schemas.microsoft.com/office/powerpoint/2010/main" val="3998740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B14DF5-354C-4F9F-A0A8-96DB01B64132}"/>
              </a:ext>
            </a:extLst>
          </p:cNvPr>
          <p:cNvCxnSpPr>
            <a:stCxn xmlns:a="http://schemas.openxmlformats.org/drawingml/2006/main" id="8" idx="2"/>
            <a:endCxn xmlns:a="http://schemas.openxmlformats.org/drawingml/2006/main" id="9" idx="0"/>
          </p:cNvCxnSpPr>
          <p:nvPr/>
        </p:nvCxnSpPr>
        <p:spPr>
          <a:xfrm xmlns:a="http://schemas.openxmlformats.org/drawingml/2006/main">
            <a:off x="895350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A883A2E-B80B-4B68-92E5-C1AF1A2A1179}"/>
              </a:ext>
            </a:extLst>
          </p:cNvPr>
          <p:cNvCxnSpPr>
            <a:stCxn xmlns:a="http://schemas.openxmlformats.org/drawingml/2006/main" id="5" idx="2"/>
            <a:endCxn xmlns:a="http://schemas.openxmlformats.org/drawingml/2006/main" id="6" idx="0"/>
          </p:cNvCxnSpPr>
          <p:nvPr/>
        </p:nvCxnSpPr>
        <p:spPr>
          <a:xfrm xmlns:a="http://schemas.openxmlformats.org/drawingml/2006/main">
            <a:off x="3219450" y="2886075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9" name="Task 2(b)">
            <a:extLst xmlns:a="http://schemas.openxmlformats.org/drawingml/2006/main">
              <a:ext uri="{FF2B5EF4-FFF2-40B4-BE49-F238E27FC236}">
                <a16:creationId xmlns:a16="http://schemas.microsoft.com/office/drawing/2014/main" id="{C58456FD-F26E-4959-AE9F-DBB71D3E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2(b)</a:t>
            </a:r>
          </a:p>
        </p:txBody>
      </p:sp>
      <p:sp>
        <p:nvSpPr>
          <p:cNvPr id="2" name="Privacy, security and model fairness">
            <a:extLst xmlns:a="http://schemas.openxmlformats.org/drawingml/2006/main">
              <a:ext uri="{FF2B5EF4-FFF2-40B4-BE49-F238E27FC236}">
                <a16:creationId xmlns:a16="http://schemas.microsoft.com/office/drawing/2014/main" id="{51128822-E923-4094-997E-4F80773D2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Privacy, security and model fairness</a:t>
            </a:r>
          </a:p>
        </p:txBody>
      </p:sp>
      <p:sp>
        <p:nvSpPr>
          <p:cNvPr id="3" name="Security: protect distributed intermediates">
            <a:extLst xmlns:a="http://schemas.openxmlformats.org/drawingml/2006/main">
              <a:ext uri="{FF2B5EF4-FFF2-40B4-BE49-F238E27FC236}">
                <a16:creationId xmlns:a16="http://schemas.microsoft.com/office/drawing/2014/main" id="{C2BF676C-2CF5-4914-9435-BED98A278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23875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Security: protect distributed intermediates</a:t>
            </a:r>
          </a:p>
        </p:txBody>
      </p:sp>
      <p:sp>
        <p:nvSpPr>
          <p:cNvPr id="4" name="Fairness: evaluate affected groups">
            <a:extLst xmlns:a="http://schemas.openxmlformats.org/drawingml/2006/main">
              <a:ext uri="{FF2B5EF4-FFF2-40B4-BE49-F238E27FC236}">
                <a16:creationId xmlns:a16="http://schemas.microsoft.com/office/drawing/2014/main" id="{38F3988D-13FD-46DA-A9C3-D1699259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04950"/>
            <a:ext cx="5257800" cy="345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Fairness: evaluate affected groups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710070-A4FF-409D-BD86-593D6AFA2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9775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Workers exchange gradients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save checkpoints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96CFD5-19B9-4ABA-B153-C84601F2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29000"/>
            <a:ext cx="52197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Least privilege, isolation,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protected transport/storage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B6AB1EF-09D4-49F0-BC44-F0BF635CA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009775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Data coverage and model outputs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may differ across groups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14102D-57EB-4A74-9846-9294BE30C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52578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Disaggregated, harm-specific tests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mitigation and reevaluation</a:t>
            </a:r>
          </a:p>
        </p:txBody>
      </p:sp>
      <p:sp>
        <p:nvSpPr>
          <p:cNvPr id="11" name="Zhu et al. [14]: exposed gradients can reconstruct inpu">
            <a:extLst xmlns:a="http://schemas.openxmlformats.org/drawingml/2006/main">
              <a:ext uri="{FF2B5EF4-FFF2-40B4-BE49-F238E27FC236}">
                <a16:creationId xmlns:a16="http://schemas.microsoft.com/office/drawing/2014/main" id="{E3D628E1-0269-4DAA-8A73-6D4F805D7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2475"/>
            <a:ext cx="52197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Zhu et al. [14]: exposed gradients can reconstruct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inputs in studied settings. Not every production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collective leaks.</a:t>
            </a:r>
          </a:p>
        </p:txBody>
      </p:sp>
      <p:sp>
        <p:nvSpPr>
          <p:cNvPr id="12" name="Gallegos et al. [15]: metrics, datasets and mitigations">
            <a:extLst xmlns:a="http://schemas.openxmlformats.org/drawingml/2006/main">
              <a:ext uri="{FF2B5EF4-FFF2-40B4-BE49-F238E27FC236}">
                <a16:creationId xmlns:a16="http://schemas.microsoft.com/office/drawing/2014/main" id="{0F0B71C3-DC99-4D2E-A4DB-566AC045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514850"/>
            <a:ext cx="5257800" cy="8176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[15]: metrics, datasets and mitigations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differ. Apply these to cluster-trained models; scale alone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does not guarantee fairness.</a:t>
            </a:r>
          </a:p>
        </p:txBody>
      </p:sp>
      <p:sp>
        <p:nvSpPr>
          <p:cNvPr id="13" name="Provenance/permissions, replica access and dual-use rev">
            <a:extLst xmlns:a="http://schemas.openxmlformats.org/drawingml/2006/main">
              <a:ext uri="{FF2B5EF4-FFF2-40B4-BE49-F238E27FC236}">
                <a16:creationId xmlns:a16="http://schemas.microsoft.com/office/drawing/2014/main" id="{44E58500-40FB-4E59-874A-A190A74FE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102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Provenance/permissions, replica access and dual-use review need owners. Encryption alone cannot establish fair outputs.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ACF1F7-C911-42C7-AF9F-FD08D341D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5" name="Protect distributed data and evaluate harms; more compu">
            <a:extLst xmlns:a="http://schemas.openxmlformats.org/drawingml/2006/main">
              <a:ext uri="{FF2B5EF4-FFF2-40B4-BE49-F238E27FC236}">
                <a16:creationId xmlns:a16="http://schemas.microsoft.com/office/drawing/2014/main" id="{1FDD4F63-3E18-48F5-A32F-0F81410DA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Protect distributed data and evaluate harms; more compute is not a fairness guarantee.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FFAC32-E5FF-40F1-9EF7-F511368C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7" name="Sources: [14] Zhu et al. 2019: exposed gradients; [15] ">
            <a:extLst xmlns:a="http://schemas.openxmlformats.org/drawingml/2006/main">
              <a:ext uri="{FF2B5EF4-FFF2-40B4-BE49-F238E27FC236}">
                <a16:creationId xmlns:a16="http://schemas.microsoft.com/office/drawing/2014/main" id="{440226E2-C513-4DB9-BE28-C7FF7E64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[15] Gallegos et al. 2024: fairness evaluation; [18] OECD: rights, fairness and accountability; [19] NIST: Govern, Map, Measure,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</a:t>
            </a:r>
          </a:p>
        </p:txBody>
      </p:sp>
      <p:sp>
        <p:nvSpPr>
          <p:cNvPr id="18" name="4 / 39">
            <a:extLst xmlns:a="http://schemas.openxmlformats.org/drawingml/2006/main">
              <a:ext uri="{FF2B5EF4-FFF2-40B4-BE49-F238E27FC236}">
                <a16:creationId xmlns:a16="http://schemas.microsoft.com/office/drawing/2014/main" id="{AF712E86-D24D-4628-B4E2-D3323F5D9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4 / 39</a:t>
            </a:r>
          </a:p>
        </p:txBody>
      </p:sp>
    </p:spTree>
    <p:extLst>
      <p:ext uri="{BB962C8B-B14F-4D97-AF65-F5344CB8AC3E}">
        <p14:creationId xmlns:p14="http://schemas.microsoft.com/office/powerpoint/2010/main" val="2666550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ask 2(c)">
            <a:extLst xmlns:a="http://schemas.openxmlformats.org/drawingml/2006/main">
              <a:ext uri="{FF2B5EF4-FFF2-40B4-BE49-F238E27FC236}">
                <a16:creationId xmlns:a16="http://schemas.microsoft.com/office/drawing/2014/main" id="{96483029-8138-496E-B8CA-884A9A4F2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2(c)</a:t>
            </a:r>
          </a:p>
        </p:txBody>
      </p:sp>
      <p:sp>
        <p:nvSpPr>
          <p:cNvPr id="2" name="Unequal access to HPC resources">
            <a:extLst xmlns:a="http://schemas.openxmlformats.org/drawingml/2006/main">
              <a:ext uri="{FF2B5EF4-FFF2-40B4-BE49-F238E27FC236}">
                <a16:creationId xmlns:a16="http://schemas.microsoft.com/office/drawing/2014/main" id="{89FD7C52-334E-4159-9406-14410A90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access to HPC resources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9646D7-5437-4186-82E6-0B798EAF7235}"/>
              </a:ext>
            </a:extLst>
          </p:cNvPr>
          <p:cNvGraphicFramePr/>
          <p:nvPr/>
        </p:nvGraphicFramePr>
        <p:xfrm>
          <a:off xmlns:a="http://schemas.openxmlformats.org/drawingml/2006/main" x="609600" y="1571625"/>
          <a:ext xmlns:a="http://schemas.openxmlformats.org/drawingml/2006/main" cx="10972800" cy="2381250"/>
        </p:xfrm>
        <a:graphic xmlns:a="http://schemas.openxmlformats.org/drawingml/2006/main">
          <a:graphicData uri="http://schemas.openxmlformats.org/drawingml/2006/table">
            <a:tbl>
              <a:tblPr firstRow="1"/>
              <a:tblGrid>
                <a:gridCol w="2857500"/>
                <a:gridCol w="4095750"/>
                <a:gridCol w="4019550"/>
              </a:tblGrid>
              <a:tr h="533400"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shows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it cannot establish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Ahmed &amp; Wahed [16]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Historical research participation and compute concentration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Current worldwide access or a universal causal effect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923925"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Strubell et al.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Selected NLP workload costs and financial barriers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114300" tIns="114300" rIns="114300" bIns="114300"/>
                    <a:lstStyle/>
                    <a:p>
                      <a:r>
                        <a:rPr sz="1725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The cost of every current AI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Current response: NAIRR supported &gt;600 teams and &gt;6,000">
            <a:extLst xmlns:a="http://schemas.openxmlformats.org/drawingml/2006/main">
              <a:ext uri="{FF2B5EF4-FFF2-40B4-BE49-F238E27FC236}">
                <a16:creationId xmlns:a16="http://schemas.microsoft.com/office/drawing/2014/main" id="{DEDF1A06-9D8D-45C2-9F80-2DDA8A984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76725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Current response: NAIRR supported &gt;600 teams and &gt;6,000 students</a:t>
            </a:r>
          </a:p>
        </p:txBody>
      </p:sp>
      <p:sp>
        <p:nvSpPr>
          <p:cNvPr id="5" name="NSF, March 2026; US programme since 2024. Reach does no">
            <a:extLst xmlns:a="http://schemas.openxmlformats.org/drawingml/2006/main">
              <a:ext uri="{FF2B5EF4-FFF2-40B4-BE49-F238E27FC236}">
                <a16:creationId xmlns:a16="http://schemas.microsoft.com/office/drawing/2014/main" id="{26FE30B7-381C-4A66-92FE-3246C252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6775"/>
            <a:ext cx="10972800" cy="29794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NSF, March 2026; US programme since 2024. Reach does not prove global equality.</a:t>
            </a:r>
          </a:p>
        </p:txBody>
      </p:sp>
      <p:sp>
        <p:nvSpPr>
          <p:cNvPr id="6" name="Proposal: transparent GPU-hour allocation, smaller-inst">
            <a:extLst xmlns:a="http://schemas.openxmlformats.org/drawingml/2006/main">
              <a:ext uri="{FF2B5EF4-FFF2-40B4-BE49-F238E27FC236}">
                <a16:creationId xmlns:a16="http://schemas.microsoft.com/office/drawing/2014/main" id="{F695E734-04AC-47FA-93F6-B5B1BB1B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Proposal: transparent GPU-hour allocation, smaller-institution support and appeals. Trade-off: reserved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can reduce immediate utilization or delay urgent jobs.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9973AA-1CD2-4CCA-82E1-C5A73DC27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8" name="Shared capacity helps; allocation, expertise and reprod">
            <a:extLst xmlns:a="http://schemas.openxmlformats.org/drawingml/2006/main">
              <a:ext uri="{FF2B5EF4-FFF2-40B4-BE49-F238E27FC236}">
                <a16:creationId xmlns:a16="http://schemas.microsoft.com/office/drawing/2014/main" id="{FD3503E0-AD17-49B6-8B71-8E27F4591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Shared capacity helps; allocation, expertise and reproducibility still need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00BAF8-9F08-48BE-8A9C-DEBF97A0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FA508755-0FA7-4FDE-A23E-52268FB0C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</a:t>
            </a:r>
          </a:p>
        </p:txBody>
      </p:sp>
      <p:sp>
        <p:nvSpPr>
          <p:cNvPr id="11" name="5 / 39">
            <a:extLst xmlns:a="http://schemas.openxmlformats.org/drawingml/2006/main">
              <a:ext uri="{FF2B5EF4-FFF2-40B4-BE49-F238E27FC236}">
                <a16:creationId xmlns:a16="http://schemas.microsoft.com/office/drawing/2014/main" id="{42164FD0-B27E-4CEB-957D-B7A0BA3AD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5 / 39</a:t>
            </a:r>
          </a:p>
        </p:txBody>
      </p:sp>
    </p:spTree>
    <p:extLst>
      <p:ext uri="{BB962C8B-B14F-4D97-AF65-F5344CB8AC3E}">
        <p14:creationId xmlns:p14="http://schemas.microsoft.com/office/powerpoint/2010/main" val="181919869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23D2F7-4775-4CC7-A37B-221D4850C84F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5819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C647D12-F245-461E-A904-14B71BEC0EDC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581400" y="2266950"/>
            <a:ext cx="1028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7" name="Task 2(d)">
            <a:extLst xmlns:a="http://schemas.openxmlformats.org/drawingml/2006/main">
              <a:ext uri="{FF2B5EF4-FFF2-40B4-BE49-F238E27FC236}">
                <a16:creationId xmlns:a16="http://schemas.microsoft.com/office/drawing/2014/main" id="{817A289F-36C0-4F26-8B50-930B29A38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2(d)</a:t>
            </a:r>
          </a:p>
        </p:txBody>
      </p:sp>
      <p:sp>
        <p:nvSpPr>
          <p:cNvPr id="2" name="An accountable HPC approval process">
            <a:extLst xmlns:a="http://schemas.openxmlformats.org/drawingml/2006/main">
              <a:ext uri="{FF2B5EF4-FFF2-40B4-BE49-F238E27FC236}">
                <a16:creationId xmlns:a16="http://schemas.microsoft.com/office/drawing/2014/main" id="{81F70D6A-5E2E-4A6E-BE7B-26FE59CB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An accountable HPC approval process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33399-EED7-4BD8-B407-D13C37AB4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Define outcome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+ accountable owner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4B2EAD-F643-4DD1-8D72-96683B5A5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 quality,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and harms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D6A274-FCBF-493B-A792-A0910995F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1752600"/>
            <a:ext cx="297180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/ defer /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reduce scale / redesign</a:t>
            </a:r>
          </a:p>
        </p:txBody>
      </p:sp>
      <p:sp>
        <p:nvSpPr>
          <p:cNvPr id="8" name="Green AI: efficiency evidence [13]  •  Carbon-aware sch">
            <a:extLst xmlns:a="http://schemas.openxmlformats.org/drawingml/2006/main">
              <a:ext uri="{FF2B5EF4-FFF2-40B4-BE49-F238E27FC236}">
                <a16:creationId xmlns:a16="http://schemas.microsoft.com/office/drawing/2014/main" id="{FF9C9DFC-984B-4A6D-9343-2CE3CF8A0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7182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Green AI: efficiency evidence [13] • Carbon-aware scheduling: flexible work [17]</a:t>
            </a:r>
          </a:p>
        </p:txBody>
      </p:sp>
      <p:sp>
        <p:nvSpPr>
          <p:cNvPr id="9" name="OECD: values and rights [18]  •  NIST: Govern, Map, Mea">
            <a:extLst xmlns:a="http://schemas.openxmlformats.org/drawingml/2006/main">
              <a:ext uri="{FF2B5EF4-FFF2-40B4-BE49-F238E27FC236}">
                <a16:creationId xmlns:a16="http://schemas.microsoft.com/office/drawing/2014/main" id="{18342F99-E614-4232-9995-EE032DDC9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09975"/>
            <a:ext cx="10972800" cy="32156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OECD: values and rights [18] • NIST: Govern, Map, Measure, Manage [19]</a:t>
            </a:r>
          </a:p>
        </p:txBody>
      </p:sp>
      <p:sp>
        <p:nvSpPr>
          <p:cNvPr id="10" name="Use an energy budget, security/group evaluation and tra">
            <a:extLst xmlns:a="http://schemas.openxmlformats.org/drawingml/2006/main">
              <a:ext uri="{FF2B5EF4-FFF2-40B4-BE49-F238E27FC236}">
                <a16:creationId xmlns:a16="http://schemas.microsoft.com/office/drawing/2014/main" id="{4C472F8C-A9D4-43F0-9911-092A6762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86225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Use an energy budget, security/group evaluation and transparent access rules. Record owner, rationale,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exceptions and outcomes.</a:t>
            </a:r>
          </a:p>
        </p:txBody>
      </p:sp>
      <p:sp>
        <p:nvSpPr>
          <p:cNvPr id="11" name="Measurement informs action: shift flexible jobs to clea">
            <a:extLst xmlns:a="http://schemas.openxmlformats.org/drawingml/2006/main">
              <a:ext uri="{FF2B5EF4-FFF2-40B4-BE49-F238E27FC236}">
                <a16:creationId xmlns:a16="http://schemas.microsoft.com/office/drawing/2014/main" id="{7CD24906-5BE7-4EAD-8DA1-FF60200F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5078"/>
            <a:ext cx="10972800" cy="605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Measurement informs action: shift flexible jobs to cleaner periods within deadlines/capacity. Forecast</a:t>
            </a:r>
          </a:p>
          <a:p xmlns:a="http://schemas.openxmlformats.org/drawingml/2006/main">
            <a:pPr algn="l">
              <a:defRPr sz="180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uncertainty, water stress and urgent access can change the decision.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06BD2F6-324E-406E-BF15-CFB0EDD6B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3" name="Approve useful work with explicit budgets, safeguards a">
            <a:extLst xmlns:a="http://schemas.openxmlformats.org/drawingml/2006/main">
              <a:ext uri="{FF2B5EF4-FFF2-40B4-BE49-F238E27FC236}">
                <a16:creationId xmlns:a16="http://schemas.microsoft.com/office/drawing/2014/main" id="{6D3B6757-31A1-4028-8FCC-F4233BBB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Approve useful work with explicit budgets, safeguards and an accountable owner.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A1B5B7-7F00-4F4C-BEDC-29DA6BC8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5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6D0493A5-0969-405F-B16B-BA8BF6524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16" name="6 / 39">
            <a:extLst xmlns:a="http://schemas.openxmlformats.org/drawingml/2006/main">
              <a:ext uri="{FF2B5EF4-FFF2-40B4-BE49-F238E27FC236}">
                <a16:creationId xmlns:a16="http://schemas.microsoft.com/office/drawing/2014/main" id="{2A55742F-D5C5-47FE-823E-6D50A997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6 / 39</a:t>
            </a:r>
          </a:p>
        </p:txBody>
      </p:sp>
    </p:spTree>
    <p:extLst>
      <p:ext uri="{BB962C8B-B14F-4D97-AF65-F5344CB8AC3E}">
        <p14:creationId xmlns:p14="http://schemas.microsoft.com/office/powerpoint/2010/main" val="12098148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Reading guide">
            <a:extLst xmlns:a="http://schemas.openxmlformats.org/drawingml/2006/main">
              <a:ext uri="{FF2B5EF4-FFF2-40B4-BE49-F238E27FC236}">
                <a16:creationId xmlns:a16="http://schemas.microsoft.com/office/drawing/2014/main" id="{AECC45A8-D45D-4F4B-A48D-7BD5F8F9E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Reading guide</a:t>
            </a:r>
          </a:p>
        </p:txBody>
      </p:sp>
      <p:sp>
        <p:nvSpPr>
          <p:cNvPr id="2" name="Supporting detail and limitations">
            <a:extLst xmlns:a="http://schemas.openxmlformats.org/drawingml/2006/main">
              <a:ext uri="{FF2B5EF4-FFF2-40B4-BE49-F238E27FC236}">
                <a16:creationId xmlns:a16="http://schemas.microsoft.com/office/drawing/2014/main" id="{853E5B63-5A37-48F5-B0AA-BC1F846EC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Supporting detail and limitations</a:t>
            </a:r>
          </a:p>
        </p:txBody>
      </p:sp>
      <p:sp>
        <p:nvSpPr>
          <p:cNvPr id="3" name="Task 1: design evidence">
            <a:extLst xmlns:a="http://schemas.openxmlformats.org/drawingml/2006/main">
              <a:ext uri="{FF2B5EF4-FFF2-40B4-BE49-F238E27FC236}">
                <a16:creationId xmlns:a16="http://schemas.microsoft.com/office/drawing/2014/main" id="{CBC72352-EABD-43C9-BDE8-9F66395A5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1: design evidence</a:t>
            </a:r>
          </a:p>
        </p:txBody>
      </p:sp>
      <p:sp>
        <p:nvSpPr>
          <p:cNvPr id="4" name="Rotation assumptions, a worked example and full CUDA te">
            <a:extLst xmlns:a="http://schemas.openxmlformats.org/drawingml/2006/main">
              <a:ext uri="{FF2B5EF4-FFF2-40B4-BE49-F238E27FC236}">
                <a16:creationId xmlns:a16="http://schemas.microsoft.com/office/drawing/2014/main" id="{809C51BE-415A-4AD1-95E3-B62E90535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Rotation assumptions, a worked example and full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excerpts are included on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following slides.</a:t>
            </a:r>
          </a:p>
        </p:txBody>
      </p:sp>
      <p:sp>
        <p:nvSpPr>
          <p:cNvPr id="5" name="Performance explanations use a stated CPU baseline and ">
            <a:extLst xmlns:a="http://schemas.openxmlformats.org/drawingml/2006/main">
              <a:ext uri="{FF2B5EF4-FFF2-40B4-BE49-F238E27FC236}">
                <a16:creationId xmlns:a16="http://schemas.microsoft.com/office/drawing/2014/main" id="{43FDC32D-F600-4CF8-8B2D-C582124A4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explanations use a stated CPU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baseline and theoretical bounds. No measured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speedup or compiled CUDA result is claimed.</a:t>
            </a:r>
          </a:p>
        </p:txBody>
      </p:sp>
      <p:sp>
        <p:nvSpPr>
          <p:cNvPr id="6" name="GDS is evaluated for the actual CPU-decoded pipeline an">
            <a:extLst xmlns:a="http://schemas.openxmlformats.org/drawingml/2006/main">
              <a:ext uri="{FF2B5EF4-FFF2-40B4-BE49-F238E27FC236}">
                <a16:creationId xmlns:a16="http://schemas.microsoft.com/office/drawing/2014/main" id="{FC397EB2-941C-488F-9294-27103A7C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GDS is evaluated for the actual CPU-decoded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pipeline and a conditional storage-bound batch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alternative.</a:t>
            </a:r>
          </a:p>
        </p:txBody>
      </p:sp>
      <p:sp>
        <p:nvSpPr>
          <p:cNvPr id="7" name="Task 2: research and decisions">
            <a:extLst xmlns:a="http://schemas.openxmlformats.org/drawingml/2006/main">
              <a:ext uri="{FF2B5EF4-FFF2-40B4-BE49-F238E27FC236}">
                <a16:creationId xmlns:a16="http://schemas.microsoft.com/office/drawing/2014/main" id="{602BFBCD-F82E-45F9-BF43-C30A94A0A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Task 2: research and decisions</a:t>
            </a:r>
          </a:p>
        </p:txBody>
      </p:sp>
      <p:sp>
        <p:nvSpPr>
          <p:cNvPr id="8" name="Each required topic has evidence, a comparison, propose">
            <a:extLst xmlns:a="http://schemas.openxmlformats.org/drawingml/2006/main">
              <a:ext uri="{FF2B5EF4-FFF2-40B4-BE49-F238E27FC236}">
                <a16:creationId xmlns:a16="http://schemas.microsoft.com/office/drawing/2014/main" id="{EC06DA20-D4C2-434B-9599-4C96FCC4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Each required topic has evidence, a comparison,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measures and limitations. A cluster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scenario is illustrative, not an observed experiment.</a:t>
            </a:r>
          </a:p>
        </p:txBody>
      </p:sp>
      <p:sp>
        <p:nvSpPr>
          <p:cNvPr id="9" name="Sector electricity data do not establish a particular t">
            <a:extLst xmlns:a="http://schemas.openxmlformats.org/drawingml/2006/main">
              <a:ext uri="{FF2B5EF4-FFF2-40B4-BE49-F238E27FC236}">
                <a16:creationId xmlns:a16="http://schemas.microsoft.com/office/drawing/2014/main" id="{6F49AF00-945E-4C97-8135-6C8BBDCCB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Sector electricity data do not establish a particular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 job’s footprint. Historical research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distinguished from current programme reach.</a:t>
            </a:r>
          </a:p>
        </p:txBody>
      </p:sp>
      <p:sp>
        <p:nvSpPr>
          <p:cNvPr id="10" name="References and AI disclosure/prompt records are part of">
            <a:extLst xmlns:a="http://schemas.openxmlformats.org/drawingml/2006/main">
              <a:ext uri="{FF2B5EF4-FFF2-40B4-BE49-F238E27FC236}">
                <a16:creationId xmlns:a16="http://schemas.microsoft.com/office/drawing/2014/main" id="{D6F3D870-CE3E-4425-A2B1-DE34B7B86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020693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 and AI disclosure/prompt records 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of this presentation. There is no separate report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dependency.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86BE6E-BFAF-4015-AAC9-446AC531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A62DB1-8CEA-43B4-B0B7-488C375E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B2319879-F4BC-42D2-B41A-11B91863F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7 / 39">
            <a:extLst xmlns:a="http://schemas.openxmlformats.org/drawingml/2006/main">
              <a:ext uri="{FF2B5EF4-FFF2-40B4-BE49-F238E27FC236}">
                <a16:creationId xmlns:a16="http://schemas.microsoft.com/office/drawing/2014/main" id="{57B2BC28-8B86-4CEF-B656-DD1DD19E3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7 / 39</a:t>
            </a:r>
          </a:p>
        </p:txBody>
      </p:sp>
    </p:spTree>
    <p:extLst>
      <p:ext uri="{BB962C8B-B14F-4D97-AF65-F5344CB8AC3E}">
        <p14:creationId xmlns:p14="http://schemas.microsoft.com/office/powerpoint/2010/main" val="154827159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1">
            <a:extLst xmlns:a="http://schemas.openxmlformats.org/drawingml/2006/main">
              <a:ext uri="{FF2B5EF4-FFF2-40B4-BE49-F238E27FC236}">
                <a16:creationId xmlns:a16="http://schemas.microsoft.com/office/drawing/2014/main" id="{892BD370-4236-45EA-B060-0FDA8D928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B1</a:t>
            </a:r>
          </a:p>
        </p:txBody>
      </p:sp>
      <p:sp>
        <p:nvSpPr>
          <p:cNvPr id="2" name="Parallelism, dependencies and scaling limits">
            <a:extLst xmlns:a="http://schemas.openxmlformats.org/drawingml/2006/main">
              <a:ext uri="{FF2B5EF4-FFF2-40B4-BE49-F238E27FC236}">
                <a16:creationId xmlns:a16="http://schemas.microsoft.com/office/drawing/2014/main" id="{EFD8845B-2CE0-4ACD-97AB-691A6159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Parallelism, dependencies and scaling limits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9E7CDD-7F16-4DAB-8DFE-C326ACE239B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Partition and communication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Scaling limitation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Replicate model; partition batches; reduce/average gradients before a consistent update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Collective latency/bandwidth and stragglers.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Tensor parallel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Partition computations within a layer; exchange partial results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Frequent inter-device communication.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Pipeline parallel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layers to stages; pass activations/gradients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Stage imbalance and pipeline bubbles.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Fixed workload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More GPUs reduce only the parallelizable portion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Serial work and communication bound speedup.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66675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Larger workload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Scale capacity/model/data with added resources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different claim from halving a fixed job’s runtime.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All-reduce is a collective result-sharing concept, not ">
            <a:extLst xmlns:a="http://schemas.openxmlformats.org/drawingml/2006/main">
              <a:ext uri="{FF2B5EF4-FFF2-40B4-BE49-F238E27FC236}">
                <a16:creationId xmlns:a16="http://schemas.microsoft.com/office/drawing/2014/main" id="{21B17DCF-5DA7-4159-B478-474FE8BF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All-reduce is a collective result-sharing concept, not a claim that every AI framework uses the exact classroom MPI code.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EB07A2-6253-4A60-8171-F10D602C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2] Topic 7A: dependencies and Amdahl; [3] Top">
            <a:extLst xmlns:a="http://schemas.openxmlformats.org/drawingml/2006/main">
              <a:ext uri="{FF2B5EF4-FFF2-40B4-BE49-F238E27FC236}">
                <a16:creationId xmlns:a16="http://schemas.microsoft.com/office/drawing/2014/main" id="{E7660112-5C47-4E3B-BF77-7F4ED702F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[3] Topic 9A: synchronization; [8] NVIDIA Megatron parallelism; [21] Week 5: collective communication</a:t>
            </a:r>
          </a:p>
        </p:txBody>
      </p:sp>
      <p:sp>
        <p:nvSpPr>
          <p:cNvPr id="7" name="8 / 39">
            <a:extLst xmlns:a="http://schemas.openxmlformats.org/drawingml/2006/main">
              <a:ext uri="{FF2B5EF4-FFF2-40B4-BE49-F238E27FC236}">
                <a16:creationId xmlns:a16="http://schemas.microsoft.com/office/drawing/2014/main" id="{AFB43C39-91AF-4BB2-A27C-58A6354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8 / 39</a:t>
            </a:r>
          </a:p>
        </p:txBody>
      </p:sp>
    </p:spTree>
    <p:extLst>
      <p:ext uri="{BB962C8B-B14F-4D97-AF65-F5344CB8AC3E}">
        <p14:creationId xmlns:p14="http://schemas.microsoft.com/office/powerpoint/2010/main" val="139317313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ppendix B2 • Illustrative calculation">
            <a:extLst xmlns:a="http://schemas.openxmlformats.org/drawingml/2006/main">
              <a:ext uri="{FF2B5EF4-FFF2-40B4-BE49-F238E27FC236}">
                <a16:creationId xmlns:a16="http://schemas.microsoft.com/office/drawing/2014/main" id="{F6D1CC29-B80F-4EDF-BBEC-8EA9DEA8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B2 • Illustrative calculation</a:t>
            </a:r>
          </a:p>
        </p:txBody>
      </p:sp>
      <p:sp>
        <p:nvSpPr>
          <p:cNvPr id="2" name="A faster job can consume more energy">
            <a:extLst xmlns:a="http://schemas.openxmlformats.org/drawingml/2006/main">
              <a:ext uri="{FF2B5EF4-FFF2-40B4-BE49-F238E27FC236}">
                <a16:creationId xmlns:a16="http://schemas.microsoft.com/office/drawing/2014/main" id="{B2389DC6-35D5-4E41-B5E2-AA6D236F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 faster job can consume more energy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3708B9-5A38-4FB7-B4E6-5C57AC8A186B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Assumed configuration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Completed runtime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Whole-job energy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Lower parallel scale; 1 kW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2.0 hours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 × 2.0 = 2.0 kWh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1019175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Higher parallel scale; 2 kW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1.2 hours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2 × 1.2 = 2.4 kWh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Illustrative constant power assumptions, not measuremen">
            <a:extLst xmlns:a="http://schemas.openxmlformats.org/drawingml/2006/main">
              <a:ext uri="{FF2B5EF4-FFF2-40B4-BE49-F238E27FC236}">
                <a16:creationId xmlns:a16="http://schemas.microsoft.com/office/drawing/2014/main" id="{BC6E6B00-A9D8-4CA6-882A-FCBF9AD49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Illustrative constant power assumptions, not measurements. Same useful output is assumed; faster completion uses 20% more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energy here.</a:t>
            </a:r>
          </a:p>
        </p:txBody>
      </p:sp>
      <p:sp>
        <p:nvSpPr>
          <p:cNvPr id="5" name="E = ∫ P(t) dt     •     Carbon ≈ Σ Einterval × carbon i">
            <a:extLst xmlns:a="http://schemas.openxmlformats.org/drawingml/2006/main">
              <a:ext uri="{FF2B5EF4-FFF2-40B4-BE49-F238E27FC236}">
                <a16:creationId xmlns:a16="http://schemas.microsoft.com/office/drawing/2014/main" id="{2F70F8FA-03B4-491D-A9A7-7C0D9693D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0972800" cy="3688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 = ∫ P(t) dt • Carbon ≈ Σ Einterval × carbon intensity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B761A9D-94C2-450C-BEF7-34BA06DD8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7" name="Sources: [2] Topic 7A: dependencies and Amdahl; [11] St">
            <a:extLst xmlns:a="http://schemas.openxmlformats.org/drawingml/2006/main">
              <a:ext uri="{FF2B5EF4-FFF2-40B4-BE49-F238E27FC236}">
                <a16:creationId xmlns:a16="http://schemas.microsoft.com/office/drawing/2014/main" id="{06FA2BAC-B374-4224-AB62-41C3CFD2B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[11] Strubell et al. 2019: cost and equity; [13] Schwartz et al. 2019: efficiency reporting</a:t>
            </a:r>
          </a:p>
        </p:txBody>
      </p:sp>
      <p:sp>
        <p:nvSpPr>
          <p:cNvPr id="8" name="9 / 39">
            <a:extLst xmlns:a="http://schemas.openxmlformats.org/drawingml/2006/main">
              <a:ext uri="{FF2B5EF4-FFF2-40B4-BE49-F238E27FC236}">
                <a16:creationId xmlns:a16="http://schemas.microsoft.com/office/drawing/2014/main" id="{F208AE80-1701-43D4-AD23-8B01B9F9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9 / 39</a:t>
            </a:r>
          </a:p>
        </p:txBody>
      </p:sp>
    </p:spTree>
    <p:extLst>
      <p:ext uri="{BB962C8B-B14F-4D97-AF65-F5344CB8AC3E}">
        <p14:creationId xmlns:p14="http://schemas.microsoft.com/office/powerpoint/2010/main" val="316371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3">
            <a:extLst xmlns:a="http://schemas.openxmlformats.org/drawingml/2006/main">
              <a:ext uri="{FF2B5EF4-FFF2-40B4-BE49-F238E27FC236}">
                <a16:creationId xmlns:a16="http://schemas.microsoft.com/office/drawing/2014/main" id="{9B3DD421-3A97-4309-93E7-F2AD7381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B3</a:t>
            </a:r>
          </a:p>
        </p:txBody>
      </p:sp>
      <p:sp>
        <p:nvSpPr>
          <p:cNvPr id="2" name="Environmental accounting and evidence limits">
            <a:extLst xmlns:a="http://schemas.openxmlformats.org/drawingml/2006/main">
              <a:ext uri="{FF2B5EF4-FFF2-40B4-BE49-F238E27FC236}">
                <a16:creationId xmlns:a16="http://schemas.microsoft.com/office/drawing/2014/main" id="{2B61D2A8-451F-4ABE-AA5F-5168EEAA1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Environmental accounting and evidence limits</a:t>
            </a:r>
          </a:p>
        </p:txBody>
      </p:sp>
      <p:sp>
        <p:nvSpPr>
          <p:cNvPr id="3" name="Define what is counted">
            <a:extLst xmlns:a="http://schemas.openxmlformats.org/drawingml/2006/main">
              <a:ext uri="{FF2B5EF4-FFF2-40B4-BE49-F238E27FC236}">
                <a16:creationId xmlns:a16="http://schemas.microsoft.com/office/drawing/2014/main" id="{508CF48F-1B99-4397-8234-DE290B5B1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Define what is counted</a:t>
            </a:r>
          </a:p>
        </p:txBody>
      </p:sp>
      <p:sp>
        <p:nvSpPr>
          <p:cNvPr id="4" name="Energy (kWh) integrates power (kW) over hours. Operatio">
            <a:extLst xmlns:a="http://schemas.openxmlformats.org/drawingml/2006/main">
              <a:ext uri="{FF2B5EF4-FFF2-40B4-BE49-F238E27FC236}">
                <a16:creationId xmlns:a16="http://schemas.microsoft.com/office/drawing/2014/main" id="{2D1C3CF2-6267-4D1E-9692-43285EF2B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Energy (kWh) integrates power (kW) over hours.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Operational emissions ≈ Σ energy in each interval ×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that interval’s carbon intensity (kg CO₂e/kWh).</a:t>
            </a:r>
          </a:p>
        </p:txBody>
      </p:sp>
      <p:sp>
        <p:nvSpPr>
          <p:cNvPr id="5" name="Report accelerators, host CPUs, storage/networking and ">
            <a:extLst xmlns:a="http://schemas.openxmlformats.org/drawingml/2006/main">
              <a:ext uri="{FF2B5EF4-FFF2-40B4-BE49-F238E27FC236}">
                <a16:creationId xmlns:a16="http://schemas.microsoft.com/office/drawing/2014/main" id="{ACC010C8-463E-4187-B882-7039DBD65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Report accelerators, host CPUs, storage/networking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allocated cooling overhead; include failed runs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repeated tuning when evaluating a project.</a:t>
            </a:r>
          </a:p>
        </p:txBody>
      </p:sp>
      <p:sp>
        <p:nvSpPr>
          <p:cNvPr id="6" name="Hardware manufacture and disposal are embodied impacts ">
            <a:extLst xmlns:a="http://schemas.openxmlformats.org/drawingml/2006/main">
              <a:ext uri="{FF2B5EF4-FFF2-40B4-BE49-F238E27FC236}">
                <a16:creationId xmlns:a16="http://schemas.microsoft.com/office/drawing/2014/main" id="{0121840E-6E44-4817-9B4B-E981271E0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20693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Hardware manufacture and disposal are embodied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impacts beyond operational electricity.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withdrawal and water consumption are different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measures.</a:t>
            </a:r>
          </a:p>
        </p:txBody>
      </p:sp>
      <p:sp>
        <p:nvSpPr>
          <p:cNvPr id="7" name="Compare the evidence">
            <a:extLst xmlns:a="http://schemas.openxmlformats.org/drawingml/2006/main">
              <a:ext uri="{FF2B5EF4-FFF2-40B4-BE49-F238E27FC236}">
                <a16:creationId xmlns:a16="http://schemas.microsoft.com/office/drawing/2014/main" id="{5B8F4D67-D706-41ED-9A1A-82D6690D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Compare the evidence</a:t>
            </a:r>
          </a:p>
        </p:txBody>
      </p:sp>
      <p:sp>
        <p:nvSpPr>
          <p:cNvPr id="8" name="Strubell et al. quantify costs for selected historical ">
            <a:extLst xmlns:a="http://schemas.openxmlformats.org/drawingml/2006/main">
              <a:ext uri="{FF2B5EF4-FFF2-40B4-BE49-F238E27FC236}">
                <a16:creationId xmlns:a16="http://schemas.microsoft.com/office/drawing/2014/main" id="{0EB4C62E-CAAC-48C0-81E3-E85F09272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Strubell et al. quantify costs for selected historical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NLP training/development workloads; those values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not universal 2026 model footprints.</a:t>
            </a:r>
          </a:p>
        </p:txBody>
      </p:sp>
      <p:sp>
        <p:nvSpPr>
          <p:cNvPr id="9" name="Green AI motivates reporting efficiency alongside accur">
            <a:extLst xmlns:a="http://schemas.openxmlformats.org/drawingml/2006/main">
              <a:ext uri="{FF2B5EF4-FFF2-40B4-BE49-F238E27FC236}">
                <a16:creationId xmlns:a16="http://schemas.microsoft.com/office/drawing/2014/main" id="{474BDA38-C903-4C72-8EDE-BF1467AA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Green AI motivates reporting efficiency alongside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accuracy; Li et al. show why water varies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place/time. Carbon alone misses local water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pressures.</a:t>
            </a:r>
          </a:p>
        </p:txBody>
      </p:sp>
      <p:sp>
        <p:nvSpPr>
          <p:cNvPr id="10" name="IEA sector totals provide context, not causal attributi">
            <a:extLst xmlns:a="http://schemas.openxmlformats.org/drawingml/2006/main">
              <a:ext uri="{FF2B5EF4-FFF2-40B4-BE49-F238E27FC236}">
                <a16:creationId xmlns:a16="http://schemas.microsoft.com/office/drawing/2014/main" id="{A275A20F-139D-4879-96E9-BC25F9A5C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IEA sector totals provide context, not causal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attribution to one model. Forecasts depend 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 and infrastructure assumptions; local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grid/cooling effects differ by site.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AF6375-273A-4AE7-A1D6-6E097392A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218BE3-F470-4952-94A9-F79F9A2BF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9] IEA 2026: sector estimates and projection;">
            <a:extLst xmlns:a="http://schemas.openxmlformats.org/drawingml/2006/main">
              <a:ext uri="{FF2B5EF4-FFF2-40B4-BE49-F238E27FC236}">
                <a16:creationId xmlns:a16="http://schemas.microsoft.com/office/drawing/2014/main" id="{F4FF6220-DB49-4632-997A-241FA9BE6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[9] IEA 2026: sector estimates and projection; [11] Strubell et al. 2019: cost and equity; [12] Li et al. 2025 revision: water impacts;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</a:t>
            </a:r>
          </a:p>
        </p:txBody>
      </p:sp>
      <p:sp>
        <p:nvSpPr>
          <p:cNvPr id="14" name="10 / 39">
            <a:extLst xmlns:a="http://schemas.openxmlformats.org/drawingml/2006/main">
              <a:ext uri="{FF2B5EF4-FFF2-40B4-BE49-F238E27FC236}">
                <a16:creationId xmlns:a16="http://schemas.microsoft.com/office/drawing/2014/main" id="{9FDF825D-1465-42D0-8E71-2AA77808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10 / 39</a:t>
            </a:r>
          </a:p>
        </p:txBody>
      </p:sp>
    </p:spTree>
    <p:extLst>
      <p:ext uri="{BB962C8B-B14F-4D97-AF65-F5344CB8AC3E}">
        <p14:creationId xmlns:p14="http://schemas.microsoft.com/office/powerpoint/2010/main" val="2149561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4 • Proposed cluster policy">
            <a:extLst xmlns:a="http://schemas.openxmlformats.org/drawingml/2006/main">
              <a:ext uri="{FF2B5EF4-FFF2-40B4-BE49-F238E27FC236}">
                <a16:creationId xmlns:a16="http://schemas.microsoft.com/office/drawing/2014/main" id="{D3ECCCE7-46E0-43B6-A641-AF5FE47E5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B4 • Proposed cluster policy</a:t>
            </a:r>
          </a:p>
        </p:txBody>
      </p:sp>
      <p:sp>
        <p:nvSpPr>
          <p:cNvPr id="2" name="Governance controls and remaining risks">
            <a:extLst xmlns:a="http://schemas.openxmlformats.org/drawingml/2006/main">
              <a:ext uri="{FF2B5EF4-FFF2-40B4-BE49-F238E27FC236}">
                <a16:creationId xmlns:a16="http://schemas.microsoft.com/office/drawing/2014/main" id="{49C99B5D-B713-4C78-BE55-C3620E5F9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Governance controls and remaining risks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CF18C1-EB93-4C51-A862-3B4C74A98CEF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Risk / stakeholder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Proposed control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Residual limitation / owner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Dataset misuse / data subjects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Provenance, permission checks, retention limits and access logs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 licence alone may not justify every use; data steward reviews purpose.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Gradient/checkpoint exposure / participants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Least privilege, tenant isolation, protected transport and secure checkpoint storage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 endpoints can still see sensitive values; security owner models insider risk.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Unsafe dual use / affected public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Authorized-use review, restricted access where justified and review of deployment risks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Controls cannot prevent every misuse; accountable owner weighs benefits/restrictions.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Distributed replicas / operators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copies, deletion obligations and incident response across workers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Replication increases the number of assets to protect; operator audits recovery.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These are proposed mitigations informed by research/fra">
            <a:extLst xmlns:a="http://schemas.openxmlformats.org/drawingml/2006/main">
              <a:ext uri="{FF2B5EF4-FFF2-40B4-BE49-F238E27FC236}">
                <a16:creationId xmlns:a16="http://schemas.microsoft.com/office/drawing/2014/main" id="{D34440CB-6B25-4D44-B6C9-66DE26C04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These are proposed mitigations informed by research/frameworks, not a proof of privacy or a compliance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03524C-46FB-4058-8017-D09590177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4] Zhu et al. 2019: exposed gradients; [18] ">
            <a:extLst xmlns:a="http://schemas.openxmlformats.org/drawingml/2006/main">
              <a:ext uri="{FF2B5EF4-FFF2-40B4-BE49-F238E27FC236}">
                <a16:creationId xmlns:a16="http://schemas.microsoft.com/office/drawing/2014/main" id="{98DDC6EE-4C60-4806-B002-B148A65E8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[14] Zhu et al. 2019: exposed gradients; [18] OECD: rights, fairness and accountability; [19] NIST: Govern, Map, Measure, Manage</a:t>
            </a:r>
          </a:p>
        </p:txBody>
      </p:sp>
      <p:sp>
        <p:nvSpPr>
          <p:cNvPr id="7" name="11 / 39">
            <a:extLst xmlns:a="http://schemas.openxmlformats.org/drawingml/2006/main">
              <a:ext uri="{FF2B5EF4-FFF2-40B4-BE49-F238E27FC236}">
                <a16:creationId xmlns:a16="http://schemas.microsoft.com/office/drawing/2014/main" id="{9CF75CF9-9002-4ACE-9450-9F3D1AA43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11 / 39</a:t>
            </a:r>
          </a:p>
        </p:txBody>
      </p:sp>
    </p:spTree>
    <p:extLst>
      <p:ext uri="{BB962C8B-B14F-4D97-AF65-F5344CB8AC3E}">
        <p14:creationId xmlns:p14="http://schemas.microsoft.com/office/powerpoint/2010/main" val="14356194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5 • Proposed example">
            <a:extLst xmlns:a="http://schemas.openxmlformats.org/drawingml/2006/main">
              <a:ext uri="{FF2B5EF4-FFF2-40B4-BE49-F238E27FC236}">
                <a16:creationId xmlns:a16="http://schemas.microsoft.com/office/drawing/2014/main" id="{F3D0B564-7AF5-48B0-B702-3AAF6558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B5 • Proposed example</a:t>
            </a:r>
          </a:p>
        </p:txBody>
      </p:sp>
      <p:sp>
        <p:nvSpPr>
          <p:cNvPr id="2" name="Fairness evaluation with large-scale compute">
            <a:extLst xmlns:a="http://schemas.openxmlformats.org/drawingml/2006/main">
              <a:ext uri="{FF2B5EF4-FFF2-40B4-BE49-F238E27FC236}">
                <a16:creationId xmlns:a16="http://schemas.microsoft.com/office/drawing/2014/main" id="{9B003A0F-63C5-4107-B9CD-E6F87EC62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Fairness evaluation with large-scale compute</a:t>
            </a:r>
          </a:p>
        </p:txBody>
      </p:sp>
      <p:sp>
        <p:nvSpPr>
          <p:cNvPr id="3" name="Compute connection">
            <a:extLst xmlns:a="http://schemas.openxmlformats.org/drawingml/2006/main">
              <a:ext uri="{FF2B5EF4-FFF2-40B4-BE49-F238E27FC236}">
                <a16:creationId xmlns:a16="http://schemas.microsoft.com/office/drawing/2014/main" id="{737899F2-13C8-4B61-82F1-B54BA93E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Compute connection</a:t>
            </a:r>
          </a:p>
        </p:txBody>
      </p:sp>
      <p:sp>
        <p:nvSpPr>
          <p:cNvPr id="4" name="An illustrative multilingual LLM service may have unequ">
            <a:extLst xmlns:a="http://schemas.openxmlformats.org/drawingml/2006/main">
              <a:ext uri="{FF2B5EF4-FFF2-40B4-BE49-F238E27FC236}">
                <a16:creationId xmlns:a16="http://schemas.microsoft.com/office/drawing/2014/main" id="{A56C6656-6D3C-4053-9DD4-03F4CA06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 illustrative multilingual LLM service may have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unequal performance or stereotyped outputs across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language groups. Identify the actual harm before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choosing a metric.</a:t>
            </a:r>
          </a:p>
        </p:txBody>
      </p:sp>
      <p:sp>
        <p:nvSpPr>
          <p:cNvPr id="5" name="A cluster enables larger datasets and repeated training">
            <a:extLst xmlns:a="http://schemas.openxmlformats.org/drawingml/2006/main">
              <a:ext uri="{FF2B5EF4-FFF2-40B4-BE49-F238E27FC236}">
                <a16:creationId xmlns:a16="http://schemas.microsoft.com/office/drawing/2014/main" id="{0019AEAA-E2AF-4F1E-981E-1A80326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cluster enables larger datasets and repeated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training, but neither data volume nor GPU count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guarantees representative data or equitable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outcomes.</a:t>
            </a:r>
          </a:p>
        </p:txBody>
      </p:sp>
      <p:sp>
        <p:nvSpPr>
          <p:cNvPr id="6" name="Reserve evaluation compute for affected groups; documen">
            <a:extLst xmlns:a="http://schemas.openxmlformats.org/drawingml/2006/main">
              <a:ext uri="{FF2B5EF4-FFF2-40B4-BE49-F238E27FC236}">
                <a16:creationId xmlns:a16="http://schemas.microsoft.com/office/drawing/2014/main" id="{1AEBAA44-75D4-4C71-82C1-9443DEE97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Reserve evaluation compute for affected groups;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document dataset coverage and compare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disaggregated error or harmful-output rates using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task-appropriate test.</a:t>
            </a:r>
          </a:p>
        </p:txBody>
      </p:sp>
      <p:sp>
        <p:nvSpPr>
          <p:cNvPr id="7" name="Evidence and decision">
            <a:extLst xmlns:a="http://schemas.openxmlformats.org/drawingml/2006/main">
              <a:ext uri="{FF2B5EF4-FFF2-40B4-BE49-F238E27FC236}">
                <a16:creationId xmlns:a16="http://schemas.microsoft.com/office/drawing/2014/main" id="{9F08F684-12F0-49FA-AC7F-8BCC5A6C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Evidence and decision</a:t>
            </a:r>
          </a:p>
        </p:txBody>
      </p:sp>
      <p:sp>
        <p:nvSpPr>
          <p:cNvPr id="8" name="Gallegos et al. separate metrics, evaluation datasets a">
            <a:extLst xmlns:a="http://schemas.openxmlformats.org/drawingml/2006/main">
              <a:ext uri="{FF2B5EF4-FFF2-40B4-BE49-F238E27FC236}">
                <a16:creationId xmlns:a16="http://schemas.microsoft.com/office/drawing/2014/main" id="{1E915195-A2A0-4BA5-AF12-CD1C16454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Gallegos et al. separate metrics, evaluation datasets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mitigation stages. A single aggregate accuracy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score can hide a relevant subgroup harm.</a:t>
            </a:r>
          </a:p>
        </p:txBody>
      </p:sp>
      <p:sp>
        <p:nvSpPr>
          <p:cNvPr id="9" name="Specify justified acceptance criteria before training; ">
            <a:extLst xmlns:a="http://schemas.openxmlformats.org/drawingml/2006/main">
              <a:ext uri="{FF2B5EF4-FFF2-40B4-BE49-F238E27FC236}">
                <a16:creationId xmlns:a16="http://schemas.microsoft.com/office/drawing/2014/main" id="{CA5FE041-0939-485C-83FF-C7FF1A900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Specify justified acceptance criteria before training;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uncertainty and small-group sample limits.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Mitigate, reevaluate, and document unresolved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harms.</a:t>
            </a:r>
          </a:p>
        </p:txBody>
      </p:sp>
      <p:sp>
        <p:nvSpPr>
          <p:cNvPr id="10" name="Security and fairness have different objectives: encryp">
            <a:extLst xmlns:a="http://schemas.openxmlformats.org/drawingml/2006/main">
              <a:ext uri="{FF2B5EF4-FFF2-40B4-BE49-F238E27FC236}">
                <a16:creationId xmlns:a16="http://schemas.microsoft.com/office/drawing/2014/main" id="{9806264D-7D88-48BC-9EA8-614AE779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 and fairness have different objectives: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encrypted gradients do not establish fair outputs.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source supports model-bias analysis, not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claim that HPC itself causes bias.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8A6724-C100-47A7-B836-F6746D1C6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B552BC-0247-49FF-9EE6-DA9BDC5E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5] Gallegos et al. 2024: fairness evaluation">
            <a:extLst xmlns:a="http://schemas.openxmlformats.org/drawingml/2006/main">
              <a:ext uri="{FF2B5EF4-FFF2-40B4-BE49-F238E27FC236}">
                <a16:creationId xmlns:a16="http://schemas.microsoft.com/office/drawing/2014/main" id="{041EB9C3-0D83-4483-9FE6-41AC73409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[15] Gallegos et al. 2024: fairness evaluation; [18] OECD: rights, fairness and accountability; [19] NIST: Govern, Map, Measure, Manage</a:t>
            </a:r>
          </a:p>
        </p:txBody>
      </p:sp>
      <p:sp>
        <p:nvSpPr>
          <p:cNvPr id="14" name="12 / 39">
            <a:extLst xmlns:a="http://schemas.openxmlformats.org/drawingml/2006/main">
              <a:ext uri="{FF2B5EF4-FFF2-40B4-BE49-F238E27FC236}">
                <a16:creationId xmlns:a16="http://schemas.microsoft.com/office/drawing/2014/main" id="{2A436E19-D879-4D81-B0B9-7F8297A94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12 / 39</a:t>
            </a:r>
          </a:p>
        </p:txBody>
      </p:sp>
    </p:spTree>
    <p:extLst>
      <p:ext uri="{BB962C8B-B14F-4D97-AF65-F5344CB8AC3E}">
        <p14:creationId xmlns:p14="http://schemas.microsoft.com/office/powerpoint/2010/main" val="533761676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B6">
            <a:extLst xmlns:a="http://schemas.openxmlformats.org/drawingml/2006/main">
              <a:ext uri="{FF2B5EF4-FFF2-40B4-BE49-F238E27FC236}">
                <a16:creationId xmlns:a16="http://schemas.microsoft.com/office/drawing/2014/main" id="{BE3471F9-73EC-4BAC-B228-1A49D9D0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B6</a:t>
            </a:r>
          </a:p>
        </p:txBody>
      </p:sp>
      <p:sp>
        <p:nvSpPr>
          <p:cNvPr id="2" name="Access research and allocation choices">
            <a:extLst xmlns:a="http://schemas.openxmlformats.org/drawingml/2006/main">
              <a:ext uri="{FF2B5EF4-FFF2-40B4-BE49-F238E27FC236}">
                <a16:creationId xmlns:a16="http://schemas.microsoft.com/office/drawing/2014/main" id="{42690CDF-F1A1-4903-A6D9-EF63E64FE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Access research and allocation choices</a:t>
            </a:r>
          </a:p>
        </p:txBody>
      </p:sp>
      <p:sp>
        <p:nvSpPr>
          <p:cNvPr id="3" name="Research comparison">
            <a:extLst xmlns:a="http://schemas.openxmlformats.org/drawingml/2006/main">
              <a:ext uri="{FF2B5EF4-FFF2-40B4-BE49-F238E27FC236}">
                <a16:creationId xmlns:a16="http://schemas.microsoft.com/office/drawing/2014/main" id="{CDC06B7E-C0FE-45BE-B829-5137CB05D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Research comparison</a:t>
            </a:r>
          </a:p>
        </p:txBody>
      </p:sp>
      <p:sp>
        <p:nvSpPr>
          <p:cNvPr id="4" name="Ahmed and Wahed study historical conference participati">
            <a:extLst xmlns:a="http://schemas.openxmlformats.org/drawingml/2006/main">
              <a:ext uri="{FF2B5EF4-FFF2-40B4-BE49-F238E27FC236}">
                <a16:creationId xmlns:a16="http://schemas.microsoft.com/office/drawing/2014/main" id="{E08FEDAE-FA74-42D0-81F5-DC49309E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Ahmed and Wahed study historical conference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participation and a compute divide. Strubell et al.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examine financial/resource barriers in selected NLP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workloads.</a:t>
            </a:r>
          </a:p>
        </p:txBody>
      </p:sp>
      <p:sp>
        <p:nvSpPr>
          <p:cNvPr id="5" name="The first concerns institutional participation; the sec">
            <a:extLst xmlns:a="http://schemas.openxmlformats.org/drawingml/2006/main">
              <a:ext uri="{FF2B5EF4-FFF2-40B4-BE49-F238E27FC236}">
                <a16:creationId xmlns:a16="http://schemas.microsoft.com/office/drawing/2014/main" id="{5976060A-964D-4A8E-8C8B-43362C2E2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first concerns institutional participation;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second concerns workload cost. Together they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motivate access support, but neither is a current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worldwide access census.</a:t>
            </a:r>
          </a:p>
        </p:txBody>
      </p:sp>
      <p:sp>
        <p:nvSpPr>
          <p:cNvPr id="6" name="NSF’s March 2026 participation figures describe a US sh">
            <a:extLst xmlns:a="http://schemas.openxmlformats.org/drawingml/2006/main">
              <a:ext uri="{FF2B5EF4-FFF2-40B4-BE49-F238E27FC236}">
                <a16:creationId xmlns:a16="http://schemas.microsoft.com/office/drawing/2014/main" id="{5095BFF2-4B44-46D3-983A-9C56E3C0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NSF’s March 2026 participation figures describe 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 shared-resource response. Programme reach is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proof of equal allocation, global access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eliminated inequality.</a:t>
            </a:r>
          </a:p>
        </p:txBody>
      </p:sp>
      <p:sp>
        <p:nvSpPr>
          <p:cNvPr id="7" name="Proposed shared-cluster policy">
            <a:extLst xmlns:a="http://schemas.openxmlformats.org/drawingml/2006/main">
              <a:ext uri="{FF2B5EF4-FFF2-40B4-BE49-F238E27FC236}">
                <a16:creationId xmlns:a16="http://schemas.microsoft.com/office/drawing/2014/main" id="{82BBFC03-F417-49A5-BC84-02EE5946B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Proposed shared-cluster policy</a:t>
            </a:r>
          </a:p>
        </p:txBody>
      </p:sp>
      <p:sp>
        <p:nvSpPr>
          <p:cNvPr id="8" name="Publish eligibility, GPU-hour limits and allocation cri">
            <a:extLst xmlns:a="http://schemas.openxmlformats.org/drawingml/2006/main">
              <a:ext uri="{FF2B5EF4-FFF2-40B4-BE49-F238E27FC236}">
                <a16:creationId xmlns:a16="http://schemas.microsoft.com/office/drawing/2014/main" id="{788727E4-9D21-4914-BB81-7175F3EAC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Publish eligibility, GPU-hour limits and allocation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criteria; reserve some capacity for teaching, smaller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institutions and independent replication.</a:t>
            </a:r>
          </a:p>
        </p:txBody>
      </p:sp>
      <p:sp>
        <p:nvSpPr>
          <p:cNvPr id="9" name="Provide application support and training; allow appeals">
            <a:extLst xmlns:a="http://schemas.openxmlformats.org/drawingml/2006/main">
              <a:ext uri="{FF2B5EF4-FFF2-40B4-BE49-F238E27FC236}">
                <a16:creationId xmlns:a16="http://schemas.microsoft.com/office/drawing/2014/main" id="{68BB5A7A-6710-4C3F-85C0-10E5AA57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Provide application support and training; allow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appeals. Track applicant-to-award outcomes 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waiting times across institution groups with privacy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10" name="Trade-offs: reservations may reduce immediate utilizati">
            <a:extLst xmlns:a="http://schemas.openxmlformats.org/drawingml/2006/main">
              <a:ext uri="{FF2B5EF4-FFF2-40B4-BE49-F238E27FC236}">
                <a16:creationId xmlns:a16="http://schemas.microsoft.com/office/drawing/2014/main" id="{8C43995A-2A15-4749-BE45-6FD2FE6D0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139636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Trade-offs: reservations may reduce immediate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utilization; queueing can delay urgent work;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unrestricted access can conflict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security/budgets. Prevent repeated deferral or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resource starvation.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6652E-E0FD-4D3E-9F56-8C82473B4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BFF62-EDBF-4288-98C2-11A5E5A4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10] NSF 2026: US programme reach; [11] Strube">
            <a:extLst xmlns:a="http://schemas.openxmlformats.org/drawingml/2006/main">
              <a:ext uri="{FF2B5EF4-FFF2-40B4-BE49-F238E27FC236}">
                <a16:creationId xmlns:a16="http://schemas.microsoft.com/office/drawing/2014/main" id="{4F0341C0-7312-4654-A232-D866DA7D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[10] NSF 2026: US programme reach; [11] Strubell et al. 2019: cost and equity; [16] Ahmed and Wahed 2020: compute divide; [22] Topic 9B: mutual exclusion and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allocation</a:t>
            </a:r>
          </a:p>
        </p:txBody>
      </p:sp>
      <p:sp>
        <p:nvSpPr>
          <p:cNvPr id="14" name="13 / 39">
            <a:extLst xmlns:a="http://schemas.openxmlformats.org/drawingml/2006/main">
              <a:ext uri="{FF2B5EF4-FFF2-40B4-BE49-F238E27FC236}">
                <a16:creationId xmlns:a16="http://schemas.microsoft.com/office/drawing/2014/main" id="{147C9370-6337-42B6-A25A-FB919D5A0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13 / 39</a:t>
            </a:r>
          </a:p>
        </p:txBody>
      </p:sp>
    </p:spTree>
    <p:extLst>
      <p:ext uri="{BB962C8B-B14F-4D97-AF65-F5344CB8AC3E}">
        <p14:creationId xmlns:p14="http://schemas.microsoft.com/office/powerpoint/2010/main" val="35882463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7 • Proposed application">
            <a:extLst xmlns:a="http://schemas.openxmlformats.org/drawingml/2006/main">
              <a:ext uri="{FF2B5EF4-FFF2-40B4-BE49-F238E27FC236}">
                <a16:creationId xmlns:a16="http://schemas.microsoft.com/office/drawing/2014/main" id="{4043F695-858B-4706-BE67-C045948BA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B7 • Proposed application</a:t>
            </a:r>
          </a:p>
        </p:txBody>
      </p:sp>
      <p:sp>
        <p:nvSpPr>
          <p:cNvPr id="2" name="Framework roles and accountable decisions">
            <a:extLst xmlns:a="http://schemas.openxmlformats.org/drawingml/2006/main">
              <a:ext uri="{FF2B5EF4-FFF2-40B4-BE49-F238E27FC236}">
                <a16:creationId xmlns:a16="http://schemas.microsoft.com/office/drawing/2014/main" id="{953F6D59-C7D7-472E-A13C-E69C97EA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Framework roles and accountable decisions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801F24-80D2-4B0C-AB03-B389D2DFAB86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Function / evidence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Concrete action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Decision / responsible role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Govern / OECD values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Assign ownership, data rules, access policy and escalation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Accountable owner accepts obligations and review process.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Map /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Define use, stakeholders, misuse risks, deadline and alternatives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Data/risk stewards establish the application-specific scope.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 / Green AI + NIST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Track energy per useful outcome, model quality, group harms and scaling efficiency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Operator/evaluator provides evidence and uncertainty.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Manage / scheduling research + NIST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Approve, defer, reduce scale or redesign; enforce safeguards and review outcomes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Owner authorizes exceptions or rejects unresolved risks.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Our proposal combines measurement, scheduling and risk ">
            <a:extLst xmlns:a="http://schemas.openxmlformats.org/drawingml/2006/main">
              <a:ext uri="{FF2B5EF4-FFF2-40B4-BE49-F238E27FC236}">
                <a16:creationId xmlns:a16="http://schemas.microsoft.com/office/drawing/2014/main" id="{C54A3D5B-20A6-44D9-99DB-2D29C4C7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Our proposal combines measurement, scheduling and risk management. NIST Govern spans the other functions; risk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management is iterative, not a certification.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45A7A7-8973-4D42-A9BC-582B0842F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3] Schwartz et al. 2019: efficiency reportin">
            <a:extLst xmlns:a="http://schemas.openxmlformats.org/drawingml/2006/main">
              <a:ext uri="{FF2B5EF4-FFF2-40B4-BE49-F238E27FC236}">
                <a16:creationId xmlns:a16="http://schemas.microsoft.com/office/drawing/2014/main" id="{9D214B23-66FB-41FA-8DA7-10838D2DF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[13] Schwartz et al. 2019: efficiency reporting; [17] Radovanovic et al. 2021: flexible scheduling; [18] OECD: rights, fairness and accountability; [19] NIST: Govern, Map,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Measure, Manage</a:t>
            </a:r>
          </a:p>
        </p:txBody>
      </p:sp>
      <p:sp>
        <p:nvSpPr>
          <p:cNvPr id="7" name="14 / 39">
            <a:extLst xmlns:a="http://schemas.openxmlformats.org/drawingml/2006/main">
              <a:ext uri="{FF2B5EF4-FFF2-40B4-BE49-F238E27FC236}">
                <a16:creationId xmlns:a16="http://schemas.microsoft.com/office/drawing/2014/main" id="{58668982-C04E-43B5-9FB6-474D9457D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14 / 39</a:t>
            </a:r>
          </a:p>
        </p:txBody>
      </p:sp>
    </p:spTree>
    <p:extLst>
      <p:ext uri="{BB962C8B-B14F-4D97-AF65-F5344CB8AC3E}">
        <p14:creationId xmlns:p14="http://schemas.microsoft.com/office/powerpoint/2010/main" val="82508351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F86CFE-19D5-4406-BF95-E1DDEBEF8BB1}"/>
              </a:ext>
            </a:extLst>
          </p:cNvPr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448550" y="2314575"/>
            <a:ext cx="14478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cxnSp>
        <p:nvCxn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A0E29B-813B-4CE2-BECC-3FF2997281E7}"/>
              </a:ext>
            </a:extLst>
          </p:cNvPr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181350" y="2314575"/>
            <a:ext cx="13335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7B83"/>
            </a:solidFill>
            <a:prstDash val="solid"/>
            <a:tailEnd type="arrow" w="med" len="med"/>
          </a:ln>
        </p:spPr>
      </p:cxnSp>
      <p:sp>
        <p:nvSpPr>
          <p:cNvPr id="16" name="Appendix B8 • Illustrative policy">
            <a:extLst xmlns:a="http://schemas.openxmlformats.org/drawingml/2006/main">
              <a:ext uri="{FF2B5EF4-FFF2-40B4-BE49-F238E27FC236}">
                <a16:creationId xmlns:a16="http://schemas.microsoft.com/office/drawing/2014/main" id="{BAAD38F0-C539-45E2-A6E9-688B6F872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B8 • Illustrative policy</a:t>
            </a:r>
          </a:p>
        </p:txBody>
      </p:sp>
      <p:sp>
        <p:nvSpPr>
          <p:cNvPr id="2" name="Carbon-aware scheduling under constraints">
            <a:extLst xmlns:a="http://schemas.openxmlformats.org/drawingml/2006/main">
              <a:ext uri="{FF2B5EF4-FFF2-40B4-BE49-F238E27FC236}">
                <a16:creationId xmlns:a16="http://schemas.microsoft.com/office/drawing/2014/main" id="{B5839F6D-AC10-4C5B-9BF5-BF7EED0DE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Carbon-aware scheduling under constraints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433F3F1-738F-4F68-8830-5510425D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38325"/>
            <a:ext cx="25717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F71C2B-F793-418D-AF2C-7C8D37422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838325"/>
            <a:ext cx="293370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Lower-carbon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forecast window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7AC00D-614D-47E4-874A-7D8A9B47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838325"/>
            <a:ext cx="2686050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007B83"/>
            </a:solidFill>
            <a:prstDash val="solid"/>
          </a:ln>
        </p:spPr>
        <p:txBody>
          <a:bodyPr xmlns:a="http://schemas.openxmlformats.org/drawingml/2006/main" lIns="95250" tIns="95250" rIns="95250" bIns="95250" anchor="ctr">
            <a:noAutofit/>
          </a:bodyPr>
          <a:lstStyle xmlns:a="http://schemas.openxmlformats.org/drawingml/2006/main">
            <a:def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Complete before</a:t>
            </a:r>
          </a:p>
          <a:p xmlns:a="http://schemas.openxmlformats.org/drawingml/2006/main">
            <a:pPr algn="ctr">
              <a:defRPr sz="1725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>
                <a:solidFill>
                  <a:srgbClr val="142D45"/>
                </a:solidFill>
                <a:latin typeface="Arial"/>
                <a:ea typeface="Arial"/>
                <a:cs typeface="Arial"/>
              </a:rPr>
              <a:t>deadline</a:t>
            </a:r>
          </a:p>
        </p:txBody>
      </p:sp>
      <p:sp>
        <p:nvSpPr>
          <p:cNvPr id="8" name="Research [17] demonstrates shifting temporally flexible">
            <a:extLst xmlns:a="http://schemas.openxmlformats.org/drawingml/2006/main">
              <a:ext uri="{FF2B5EF4-FFF2-40B4-BE49-F238E27FC236}">
                <a16:creationId xmlns:a16="http://schemas.microsoft.com/office/drawing/2014/main" id="{C53997BB-CB6B-4913-9E54-851ABED4E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9090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[17] demonstrates shifting temporally flexible workloads using forecasts while preserving daily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capacity. It does not show every urgent GPU job can wait.</a:t>
            </a:r>
          </a:p>
        </p:txBody>
      </p:sp>
      <p:sp>
        <p:nvSpPr>
          <p:cNvPr id="9" name="Proposed rule: defer only if deadline, energy budget, w">
            <a:extLst xmlns:a="http://schemas.openxmlformats.org/drawingml/2006/main">
              <a:ext uri="{FF2B5EF4-FFF2-40B4-BE49-F238E27FC236}">
                <a16:creationId xmlns:a16="http://schemas.microsoft.com/office/drawing/2014/main" id="{9F562882-0176-4D55-B29E-2167EF1A3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00525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Proposed rule: defer only if deadline, energy budget, water/site limits and equitable waiting-time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commitments remain satisfied; record exceptions.</a:t>
            </a:r>
          </a:p>
        </p:txBody>
      </p:sp>
      <p:sp>
        <p:nvSpPr>
          <p:cNvPr id="10" name="No feasible window: reduce scale, redesign or approve a">
            <a:extLst xmlns:a="http://schemas.openxmlformats.org/drawingml/2006/main">
              <a:ext uri="{FF2B5EF4-FFF2-40B4-BE49-F238E27FC236}">
                <a16:creationId xmlns:a16="http://schemas.microsoft.com/office/drawing/2014/main" id="{5D4DD76E-0F60-454E-902B-99234384E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 feasible window: reduce scale, redesign or approve a justified urgent exception. Prevent indefinite</a:t>
            </a:r>
          </a:p>
          <a:p xmlns:a="http://schemas.openxmlformats.org/drawingml/2006/main">
            <a:pPr algn="l">
              <a:defRPr sz="18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deferral. Data residency and transfer costs constrain moving work between sites.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3A787C-38E6-4101-8EC4-EC11AE0DF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864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7B83"/>
            </a:solidFill>
            <a:prstDash val="solid"/>
          </a:ln>
        </p:spPr>
      </p:sp>
      <p:sp>
        <p:nvSpPr>
          <p:cNvPr id="12" name="Flexible jobs may move; urgent jobs, water constraints ">
            <a:extLst xmlns:a="http://schemas.openxmlformats.org/drawingml/2006/main">
              <a:ext uri="{FF2B5EF4-FFF2-40B4-BE49-F238E27FC236}">
                <a16:creationId xmlns:a16="http://schemas.microsoft.com/office/drawing/2014/main" id="{E158DD2A-587E-4BE4-B14D-D4E771FE6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Flexible jobs may move; urgent jobs, water constraints and access commitments can override deferral.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9864AC-4FB0-41ED-BD79-8F478DEE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4" name="Sources: [12] Li et al. 2025 revision: water impacts; [">
            <a:extLst xmlns:a="http://schemas.openxmlformats.org/drawingml/2006/main">
              <a:ext uri="{FF2B5EF4-FFF2-40B4-BE49-F238E27FC236}">
                <a16:creationId xmlns:a16="http://schemas.microsoft.com/office/drawing/2014/main" id="{37A619F1-9C5E-4ABE-B9CD-83BDBC08E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[12] Li et al. 2025 revision: water impacts; [17] Radovanovic et al. 2021: flexible scheduling; [19] NIST: Govern, Map, Measure, Manage</a:t>
            </a:r>
          </a:p>
        </p:txBody>
      </p:sp>
      <p:sp>
        <p:nvSpPr>
          <p:cNvPr id="15" name="15 / 39">
            <a:extLst xmlns:a="http://schemas.openxmlformats.org/drawingml/2006/main">
              <a:ext uri="{FF2B5EF4-FFF2-40B4-BE49-F238E27FC236}">
                <a16:creationId xmlns:a16="http://schemas.microsoft.com/office/drawing/2014/main" id="{A190860B-83F2-44C4-ABF2-68AFF60DF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15 / 39</a:t>
            </a:r>
          </a:p>
        </p:txBody>
      </p:sp>
    </p:spTree>
    <p:extLst>
      <p:ext uri="{BB962C8B-B14F-4D97-AF65-F5344CB8AC3E}">
        <p14:creationId xmlns:p14="http://schemas.microsoft.com/office/powerpoint/2010/main" val="929921061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ppendix B9">
            <a:extLst xmlns:a="http://schemas.openxmlformats.org/drawingml/2006/main">
              <a:ext uri="{FF2B5EF4-FFF2-40B4-BE49-F238E27FC236}">
                <a16:creationId xmlns:a16="http://schemas.microsoft.com/office/drawing/2014/main" id="{6F4B8C85-AFCF-4311-9E3F-D28DD0D4E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B9</a:t>
            </a:r>
          </a:p>
        </p:txBody>
      </p:sp>
      <p:sp>
        <p:nvSpPr>
          <p:cNvPr id="2" name="Research comparisons across all four topics">
            <a:extLst xmlns:a="http://schemas.openxmlformats.org/drawingml/2006/main">
              <a:ext uri="{FF2B5EF4-FFF2-40B4-BE49-F238E27FC236}">
                <a16:creationId xmlns:a16="http://schemas.microsoft.com/office/drawing/2014/main" id="{3682630E-0BCF-439B-AF15-793A0A41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 comparisons across all four topics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D10BACA-89B5-4023-8256-F359A18B5B0D}"/>
              </a:ext>
            </a:extLst>
          </p:cNvPr>
          <p:cNvGraphicFramePr/>
          <p:nvPr/>
        </p:nvGraphicFramePr>
        <p:xfrm>
          <a:off xmlns:a="http://schemas.openxmlformats.org/drawingml/2006/main" x="609600" y="1562100"/>
          <a:ext xmlns:a="http://schemas.openxmlformats.org/drawingml/2006/main" cx="10972800" cy="3867150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2238375"/>
                <a:gridCol w="4143375"/>
                <a:gridCol w="4591050"/>
              </a:tblGrid>
              <a:tr h="533400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Topic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Comparison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Interpretation / limit</a:t>
                      </a:r>
                    </a:p>
                  </a:txBody>
                  <a:tcPr marL="91440" marR="91440" marT="45720" marB="45720" anchor="ctr">
                    <a:solidFill>
                      <a:srgbClr val="142D45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(a) Environment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Cost/efficiency research [11,13] versus water-footprint research [12]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Useful-output efficiency and local resource pressure need different measures.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(b) Governance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Gradient reconstruction [14] versus fairness evaluation survey [15]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Data exposure and unequal outcomes are distinct failure mechanisms.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(c) Access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Institutional participation [16] versus workload cost/equity [11]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Concentration and financial barriers reinforce a concern; scopes differ.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833438"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(d) Frameworks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Efficiency-reporting argument [13] versus operational scheduling [17]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  <a:tc>
                  <a:txBody>
                    <a:bodyPr lIns="95250" tIns="95250" rIns="95250" bIns="95250">
                      <a:noAutofit/>
                    </a:bodyPr>
                    <a:lstStyle/>
                    <a:p>
                      <a:pPr algn="l"/>
                      <a:r>
                        <a:rPr sz="1500" b="0">
                          <a:solidFill>
                            <a:srgbClr val="142D45"/>
                          </a:solidFill>
                          <a:latin typeface="Arial"/>
                          <a:ea typeface="Arial"/>
                          <a:cs typeface="Arial"/>
                        </a:rPr>
                        <a:t>Measurement motivates action; scheduling depends on flexibility and forecasts.</a:t>
                      </a:r>
                    </a:p>
                  </a:txBody>
                  <a:tcPr marL="91440" marR="91440" marT="45720" marB="45720" anchor="ctr">
                    <a:solidFill>
                      <a:srgbClr val="F0F4F4"/>
                    </a:solidFill>
                  </a:tcPr>
                </a:tc>
              </a:tr>
            </a:tbl>
          </a:graphicData>
        </a:graphic>
      </p:graphicFrame>
      <p:sp>
        <p:nvSpPr>
          <p:cNvPr id="4" name="Current institutional evidence [9,10] and governance fr">
            <a:extLst xmlns:a="http://schemas.openxmlformats.org/drawingml/2006/main">
              <a:ext uri="{FF2B5EF4-FFF2-40B4-BE49-F238E27FC236}">
                <a16:creationId xmlns:a16="http://schemas.microsoft.com/office/drawing/2014/main" id="{32A4E56B-7CED-4A5B-8F48-E99527C0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24525"/>
            <a:ext cx="10972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Current institutional evidence [9,10] and governance frameworks [18,19] complement the research; they do not replace its</a:t>
            </a:r>
          </a:p>
          <a:p xmlns:a="http://schemas.openxmlformats.org/drawingml/2006/main">
            <a:pPr algn="l">
              <a:defRPr sz="150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methodological limits.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3F18D2-D8DE-4FCB-8ECF-B521BC67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6" name="Sources: [11] Strubell et al. 2019: cost and equity; [1">
            <a:extLst xmlns:a="http://schemas.openxmlformats.org/drawingml/2006/main">
              <a:ext uri="{FF2B5EF4-FFF2-40B4-BE49-F238E27FC236}">
                <a16:creationId xmlns:a16="http://schemas.microsoft.com/office/drawing/2014/main" id="{24BCFE7F-6089-466D-8D89-243B55579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[11] Strubell et al. 2019: cost and equity; [12] Li et al. 2025 revision: water impacts; [13] Schwartz et al. 2019: efficiency reporting; [14] Zhu et al. 2019: exposed gradients;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[15] Gallegos et al. 2024: fairness evaluation; [16] Ahmed and Wahed 2020: compute divide; [17] Radovanovic et al. 2021: flexible scheduling</a:t>
            </a:r>
          </a:p>
        </p:txBody>
      </p:sp>
      <p:sp>
        <p:nvSpPr>
          <p:cNvPr id="7" name="16 / 39">
            <a:extLst xmlns:a="http://schemas.openxmlformats.org/drawingml/2006/main">
              <a:ext uri="{FF2B5EF4-FFF2-40B4-BE49-F238E27FC236}">
                <a16:creationId xmlns:a16="http://schemas.microsoft.com/office/drawing/2014/main" id="{FC18E548-637F-4792-98F1-800ABBD19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16 / 39</a:t>
            </a:r>
          </a:p>
        </p:txBody>
      </p:sp>
    </p:spTree>
    <p:extLst>
      <p:ext uri="{BB962C8B-B14F-4D97-AF65-F5344CB8AC3E}">
        <p14:creationId xmlns:p14="http://schemas.microsoft.com/office/powerpoint/2010/main" val="1273793690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Synthesis">
            <a:extLst xmlns:a="http://schemas.openxmlformats.org/drawingml/2006/main">
              <a:ext uri="{FF2B5EF4-FFF2-40B4-BE49-F238E27FC236}">
                <a16:creationId xmlns:a16="http://schemas.microsoft.com/office/drawing/2014/main" id="{E010F1B1-56E8-4C25-80FC-24D2EBE0C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Synthesis</a:t>
            </a:r>
          </a:p>
        </p:txBody>
      </p:sp>
      <p:sp>
        <p:nvSpPr>
          <p:cNvPr id="2" name="Conclusions and next measurements">
            <a:extLst xmlns:a="http://schemas.openxmlformats.org/drawingml/2006/main">
              <a:ext uri="{FF2B5EF4-FFF2-40B4-BE49-F238E27FC236}">
                <a16:creationId xmlns:a16="http://schemas.microsoft.com/office/drawing/2014/main" id="{0E27C33A-7A62-4F9D-A852-1735A91C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Conclusions and next measurements</a:t>
            </a:r>
          </a:p>
        </p:txBody>
      </p:sp>
      <p:sp>
        <p:nvSpPr>
          <p:cNvPr id="3" name="GPU rotation">
            <a:extLst xmlns:a="http://schemas.openxmlformats.org/drawingml/2006/main">
              <a:ext uri="{FF2B5EF4-FFF2-40B4-BE49-F238E27FC236}">
                <a16:creationId xmlns:a16="http://schemas.microsoft.com/office/drawing/2014/main" id="{EBDE63D8-853B-48F6-A18A-33F83DD71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GPU rotation</a:t>
            </a:r>
          </a:p>
        </p:txBody>
      </p:sp>
      <p:sp>
        <p:nvSpPr>
          <p:cNvPr id="4" name="Inverse gathering exposes independent pixel work. SM sc">
            <a:extLst xmlns:a="http://schemas.openxmlformats.org/drawingml/2006/main">
              <a:ext uri="{FF2B5EF4-FFF2-40B4-BE49-F238E27FC236}">
                <a16:creationId xmlns:a16="http://schemas.microsoft.com/office/drawing/2014/main" id="{63D3BEC7-F928-44D8-ADD5-0910AC187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Inverse gathering exposes independent pixel work.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SM scheduling, memory locality and transfer costs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determine achieved performance.</a:t>
            </a:r>
          </a:p>
        </p:txBody>
      </p:sp>
      <p:sp>
        <p:nvSpPr>
          <p:cNvPr id="5" name="Choose a CPU baseline and compare completed equivalent ">
            <a:extLst xmlns:a="http://schemas.openxmlformats.org/drawingml/2006/main">
              <a:ext uri="{FF2B5EF4-FFF2-40B4-BE49-F238E27FC236}">
                <a16:creationId xmlns:a16="http://schemas.microsoft.com/office/drawing/2014/main" id="{708DAA49-37E2-479F-A55E-60C99BB39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96184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Choose a CPU baseline and compare completed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equivalent pipelines. GDS is conditional on storage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bottlenecks, a compatible data path and verified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support.</a:t>
            </a:r>
          </a:p>
        </p:txBody>
      </p:sp>
      <p:sp>
        <p:nvSpPr>
          <p:cNvPr id="6" name="Next: compile the teaching examples, check output again">
            <a:extLst xmlns:a="http://schemas.openxmlformats.org/drawingml/2006/main">
              <a:ext uri="{FF2B5EF4-FFF2-40B4-BE49-F238E27FC236}">
                <a16:creationId xmlns:a16="http://schemas.microsoft.com/office/drawing/2014/main" id="{6D7F97DF-72B4-4D2E-ABC0-CBA3D5A52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compile the teaching examples, check output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against a CPU reference and profile representative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sizes/angles/batches. No result is assumed.</a:t>
            </a:r>
          </a:p>
        </p:txBody>
      </p:sp>
      <p:sp>
        <p:nvSpPr>
          <p:cNvPr id="7" name="Responsible scaling">
            <a:extLst xmlns:a="http://schemas.openxmlformats.org/drawingml/2006/main">
              <a:ext uri="{FF2B5EF4-FFF2-40B4-BE49-F238E27FC236}">
                <a16:creationId xmlns:a16="http://schemas.microsoft.com/office/drawing/2014/main" id="{96BEB9AF-208D-4372-A35D-877A36821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Responsible scaling</a:t>
            </a:r>
          </a:p>
        </p:txBody>
      </p:sp>
      <p:sp>
        <p:nvSpPr>
          <p:cNvPr id="8" name="More compute can enable valuable research while concent">
            <a:extLst xmlns:a="http://schemas.openxmlformats.org/drawingml/2006/main">
              <a:ext uri="{FF2B5EF4-FFF2-40B4-BE49-F238E27FC236}">
                <a16:creationId xmlns:a16="http://schemas.microsoft.com/office/drawing/2014/main" id="{9CE33E8B-0649-4E13-8DEC-019DAA654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More compute can enable valuable research while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concentrating access and increasing resource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demand. Approve scale for useful outcomes, with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safeguards.</a:t>
            </a:r>
          </a:p>
        </p:txBody>
      </p:sp>
      <p:sp>
        <p:nvSpPr>
          <p:cNvPr id="9" name="Combine job-level energy/resource evidence, separate se">
            <a:extLst xmlns:a="http://schemas.openxmlformats.org/drawingml/2006/main">
              <a:ext uri="{FF2B5EF4-FFF2-40B4-BE49-F238E27FC236}">
                <a16:creationId xmlns:a16="http://schemas.microsoft.com/office/drawing/2014/main" id="{2624FC11-B9A0-4BE2-80E9-3C561357D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Combine job-level energy/resource evidence,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separate security/fairness evaluation, transparent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allocations and deadline-aware scheduling.</a:t>
            </a:r>
          </a:p>
        </p:txBody>
      </p:sp>
      <p:sp>
        <p:nvSpPr>
          <p:cNvPr id="10" name="Next: measure a real cluster job’s energy, quality, sca">
            <a:extLst xmlns:a="http://schemas.openxmlformats.org/drawingml/2006/main">
              <a:ext uri="{FF2B5EF4-FFF2-40B4-BE49-F238E27FC236}">
                <a16:creationId xmlns:a16="http://schemas.microsoft.com/office/drawing/2014/main" id="{E60EE259-30E8-4FA2-857A-3E1152491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Next: measure a real cluster job’s energy, quality,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scaling efficiency and allocation outcomes; revise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policy when evidence or conditions change.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BB16AE-D119-43C6-8DFD-B6F58047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D88705-837E-4277-BFFB-2F0E076ED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Sources: [2] Topic 7A: dependencies and Amdahl; [5] NVI">
            <a:extLst xmlns:a="http://schemas.openxmlformats.org/drawingml/2006/main">
              <a:ext uri="{FF2B5EF4-FFF2-40B4-BE49-F238E27FC236}">
                <a16:creationId xmlns:a16="http://schemas.microsoft.com/office/drawing/2014/main" id="{12D24347-C787-4862-AA26-82BDD23E3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Sources: [2] Topic 7A: dependencies and Amdahl; [5] NVIDIA CUDA Best Practices; [6] NVIDIA GDS overview; [7] NVIDIA GDS design; [13] Schwartz et al. 2019: efficiency</a:t>
            </a:r>
          </a:p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reporting; [17] Radovanovic et al. 2021: flexible scheduling; [19] NIST: Govern, Map, Measure, Manage</a:t>
            </a:r>
          </a:p>
        </p:txBody>
      </p:sp>
      <p:sp>
        <p:nvSpPr>
          <p:cNvPr id="14" name="17 / 39">
            <a:extLst xmlns:a="http://schemas.openxmlformats.org/drawingml/2006/main">
              <a:ext uri="{FF2B5EF4-FFF2-40B4-BE49-F238E27FC236}">
                <a16:creationId xmlns:a16="http://schemas.microsoft.com/office/drawing/2014/main" id="{0519B38B-D9C6-49EB-B46E-85FC96B35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17 / 39</a:t>
            </a:r>
          </a:p>
        </p:txBody>
      </p:sp>
    </p:spTree>
    <p:extLst>
      <p:ext uri="{BB962C8B-B14F-4D97-AF65-F5344CB8AC3E}">
        <p14:creationId xmlns:p14="http://schemas.microsoft.com/office/powerpoint/2010/main" val="86016195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1/5">
            <a:extLst xmlns:a="http://schemas.openxmlformats.org/drawingml/2006/main">
              <a:ext uri="{FF2B5EF4-FFF2-40B4-BE49-F238E27FC236}">
                <a16:creationId xmlns:a16="http://schemas.microsoft.com/office/drawing/2014/main" id="{BEAE4E1D-A9AF-4B9B-9E69-0434EAC1D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1/5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A84A424C-C6E9-4D62-9060-11C85AECB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2] Monash University, FIT3143 Topic 7A: Parallel perfo">
            <a:extLst xmlns:a="http://schemas.openxmlformats.org/drawingml/2006/main">
              <a:ext uri="{FF2B5EF4-FFF2-40B4-BE49-F238E27FC236}">
                <a16:creationId xmlns:a16="http://schemas.microsoft.com/office/drawing/2014/main" id="{FFBD1190-A06C-487D-A3B6-51CE39E38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[2] Monash University, FIT3143 Topic 7A: Parallel performance and Amdahl reasoning, course slides, 2024, pp. 6–15,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18–27.</a:t>
            </a:r>
          </a:p>
        </p:txBody>
      </p:sp>
      <p:sp>
        <p:nvSpPr>
          <p:cNvPr id="4" name="../../context/FIT3143-Topic-7A-2024.pdf">
            <a:extLst xmlns:a="http://schemas.openxmlformats.org/drawingml/2006/main">
              <a:ext uri="{FF2B5EF4-FFF2-40B4-BE49-F238E27FC236}">
                <a16:creationId xmlns:a16="http://schemas.microsoft.com/office/drawing/2014/main" id="{6E968987-ED83-4F5A-B757-019442309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../../context/FIT3143-Topic-7A-2024.pdf</a:t>
            </a:r>
          </a:p>
        </p:txBody>
      </p:sp>
      <p:sp>
        <p:nvSpPr>
          <p:cNvPr id="5" name="[3] Monash University, FIT3143 Topic 9A: Synchronizatio">
            <a:extLst xmlns:a="http://schemas.openxmlformats.org/drawingml/2006/main">
              <a:ext uri="{FF2B5EF4-FFF2-40B4-BE49-F238E27FC236}">
                <a16:creationId xmlns:a16="http://schemas.microsoft.com/office/drawing/2014/main" id="{4E72EA02-DD74-4103-8936-ABF7CE773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[3] Monash University, FIT3143 Topic 9A: Synchronization and dependencies, course slides, 2024, pp. 2–7.</a:t>
            </a:r>
          </a:p>
        </p:txBody>
      </p:sp>
      <p:sp>
        <p:nvSpPr>
          <p:cNvPr id="6" name="../../context/FIT3143-Topic-9A-2024.pdf">
            <a:extLst xmlns:a="http://schemas.openxmlformats.org/drawingml/2006/main">
              <a:ext uri="{FF2B5EF4-FFF2-40B4-BE49-F238E27FC236}">
                <a16:creationId xmlns:a16="http://schemas.microsoft.com/office/drawing/2014/main" id="{6F014ABF-DBB4-44F3-BEA0-E2022C2DE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9979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../../context/FIT3143-Topic-9A-2024.pdf</a:t>
            </a:r>
          </a:p>
        </p:txBody>
      </p:sp>
      <p:sp>
        <p:nvSpPr>
          <p:cNvPr id="7" name="[5] NVIDIA, CUDA C++ Best Practices Guide, online docum">
            <a:extLst xmlns:a="http://schemas.openxmlformats.org/drawingml/2006/main">
              <a:ext uri="{FF2B5EF4-FFF2-40B4-BE49-F238E27FC236}">
                <a16:creationId xmlns:a16="http://schemas.microsoft.com/office/drawing/2014/main" id="{FC57992D-E68B-4AC0-A39E-E754109B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4098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[5] NVIDIA, CUDA C++ Best Practices Guide, online documentation, accessed Oct. 8, 2026.</a:t>
            </a:r>
          </a:p>
        </p:txBody>
      </p:sp>
      <p:sp>
        <p:nvSpPr>
          <p:cNvPr id="8" name="https://docs.nvidia.com/cuda/cuda-c-best-practices-guid">
            <a:extLst xmlns:a="http://schemas.openxmlformats.org/drawingml/2006/main">
              <a:ext uri="{FF2B5EF4-FFF2-40B4-BE49-F238E27FC236}">
                <a16:creationId xmlns:a16="http://schemas.microsoft.com/office/drawing/2014/main" id="{9401C58E-B2BA-4908-A6B8-A0B36460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957ac7a4f48549a3"/>
              </a:rPr>
              <a:t>https://docs.nvidia.com/cuda/cuda-c-best-practices-guide/index.html</a:t>
            </a:r>
          </a:p>
        </p:txBody>
      </p:sp>
      <p:sp>
        <p:nvSpPr>
          <p:cNvPr id="9" name="[6] NVIDIA, GPUDirect Storage Overview Guide, online do">
            <a:extLst xmlns:a="http://schemas.openxmlformats.org/drawingml/2006/main">
              <a:ext uri="{FF2B5EF4-FFF2-40B4-BE49-F238E27FC236}">
                <a16:creationId xmlns:a16="http://schemas.microsoft.com/office/drawing/2014/main" id="{558BEE5A-BB32-4F4C-BBDB-DAB7B6DF4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[6] NVIDIA, GPUDirect Storage Overview Guide, online documentation, accessed Oct. 8, 2026.</a:t>
            </a:r>
          </a:p>
        </p:txBody>
      </p:sp>
      <p:sp>
        <p:nvSpPr>
          <p:cNvPr id="10" name="https://docs.nvidia.com/gpudirect-storage/overview-guid">
            <a:extLst xmlns:a="http://schemas.openxmlformats.org/drawingml/2006/main">
              <a:ext uri="{FF2B5EF4-FFF2-40B4-BE49-F238E27FC236}">
                <a16:creationId xmlns:a16="http://schemas.microsoft.com/office/drawing/2014/main" id="{BD3A4D57-EB3A-49FC-BFA1-07BBFC3A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3064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000d438c88c4536"/>
              </a:rPr>
              <a:t>https://docs.nvidia.com/gpudirect-storage/overview-guide/index.html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113446-34EE-4960-8B17-DAE4B7FD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1F9C5C71-B97B-4483-B134-36ABB3F36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8 / 39">
            <a:extLst xmlns:a="http://schemas.openxmlformats.org/drawingml/2006/main">
              <a:ext uri="{FF2B5EF4-FFF2-40B4-BE49-F238E27FC236}">
                <a16:creationId xmlns:a16="http://schemas.microsoft.com/office/drawing/2014/main" id="{A501AC61-9A68-484B-842C-CE438175A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18 / 39</a:t>
            </a:r>
          </a:p>
        </p:txBody>
      </p:sp>
    </p:spTree>
    <p:extLst>
      <p:ext uri="{BB962C8B-B14F-4D97-AF65-F5344CB8AC3E}">
        <p14:creationId xmlns:p14="http://schemas.microsoft.com/office/powerpoint/2010/main" val="214388634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2/5">
            <a:extLst xmlns:a="http://schemas.openxmlformats.org/drawingml/2006/main">
              <a:ext uri="{FF2B5EF4-FFF2-40B4-BE49-F238E27FC236}">
                <a16:creationId xmlns:a16="http://schemas.microsoft.com/office/drawing/2014/main" id="{B7DD12EB-FCE6-489F-80BB-913739602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2/5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DA3E783B-5217-4EBB-BAA2-1BF1436E2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7] NVIDIA, GPUDirect Storage Design Guide, online docu">
            <a:extLst xmlns:a="http://schemas.openxmlformats.org/drawingml/2006/main">
              <a:ext uri="{FF2B5EF4-FFF2-40B4-BE49-F238E27FC236}">
                <a16:creationId xmlns:a16="http://schemas.microsoft.com/office/drawing/2014/main" id="{32A94842-2073-41FD-9EFE-243DB382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[7] NVIDIA, GPUDirect Storage Design Guide, online documentation, accessed Oct. 8, 2026.</a:t>
            </a:r>
          </a:p>
        </p:txBody>
      </p:sp>
      <p:sp>
        <p:nvSpPr>
          <p:cNvPr id="4" name="https://docs.nvidia.com/gpudirect-storage/design-guide/">
            <a:extLst xmlns:a="http://schemas.openxmlformats.org/drawingml/2006/main">
              <a:ext uri="{FF2B5EF4-FFF2-40B4-BE49-F238E27FC236}">
                <a16:creationId xmlns:a16="http://schemas.microsoft.com/office/drawing/2014/main" id="{4F69BFE6-A265-434C-BD50-DB270D24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4e859e424bcb4a4f"/>
              </a:rPr>
              <a:t>https://docs.nvidia.com/gpudirect-storage/design-guide/index.html</a:t>
            </a:r>
          </a:p>
        </p:txBody>
      </p:sp>
      <p:sp>
        <p:nvSpPr>
          <p:cNvPr id="5" name="[8] NVIDIA, “Parallelism strategies guide,” Megatron Co">
            <a:extLst xmlns:a="http://schemas.openxmlformats.org/drawingml/2006/main">
              <a:ext uri="{FF2B5EF4-FFF2-40B4-BE49-F238E27FC236}">
                <a16:creationId xmlns:a16="http://schemas.microsoft.com/office/drawing/2014/main" id="{B10B4139-6469-4C7F-96C9-B84C346B1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[8] NVIDIA, “Parallelism strategies guide,” Megatron Core, online documentation, accessed Oct. 8, 2026.</a:t>
            </a:r>
          </a:p>
        </p:txBody>
      </p:sp>
      <p:sp>
        <p:nvSpPr>
          <p:cNvPr id="6" name="https://docs.nvidia.com/megatron-core/developer-guide/l">
            <a:extLst xmlns:a="http://schemas.openxmlformats.org/drawingml/2006/main">
              <a:ext uri="{FF2B5EF4-FFF2-40B4-BE49-F238E27FC236}">
                <a16:creationId xmlns:a16="http://schemas.microsoft.com/office/drawing/2014/main" id="{73AECF5A-6C1A-431C-AB7E-EC8B1EE04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e098987c46c4d89"/>
              </a:rPr>
              <a:t>https://docs.nvidia.com/megatron-core/developer-guide/latest/user-guide/parallelism-guide.html</a:t>
            </a:r>
          </a:p>
        </p:txBody>
      </p:sp>
      <p:sp>
        <p:nvSpPr>
          <p:cNvPr id="7" name="[9] International Energy Agency, Key Questions on Energ">
            <a:extLst xmlns:a="http://schemas.openxmlformats.org/drawingml/2006/main">
              <a:ext uri="{FF2B5EF4-FFF2-40B4-BE49-F238E27FC236}">
                <a16:creationId xmlns:a16="http://schemas.microsoft.com/office/drawing/2014/main" id="{ABDFFD51-ADCC-4B3B-A3AB-B6EC4AE3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[9] International Energy Agency, Key Questions on Energy and AI, executive summary, Apr. 16, 2026, CC BY 4.0, accessed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Oct. 8, 2026.</a:t>
            </a:r>
          </a:p>
        </p:txBody>
      </p:sp>
      <p:sp>
        <p:nvSpPr>
          <p:cNvPr id="8" name="https://www.iea.org/reports/key-questions-on-energy-and">
            <a:extLst xmlns:a="http://schemas.openxmlformats.org/drawingml/2006/main">
              <a:ext uri="{FF2B5EF4-FFF2-40B4-BE49-F238E27FC236}">
                <a16:creationId xmlns:a16="http://schemas.microsoft.com/office/drawing/2014/main" id="{F510E8BB-0525-42C5-9002-094E0668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6522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fbdc190e24b04476"/>
              </a:rPr>
              <a:t>https://www.iea.org/reports/key-questions-on-energy-and-ai/executive-summary</a:t>
            </a:r>
          </a:p>
        </p:txBody>
      </p:sp>
      <p:sp>
        <p:nvSpPr>
          <p:cNvPr id="9" name="[10] U.S. National Science Foundation, “NAIRR at 2 year">
            <a:extLst xmlns:a="http://schemas.openxmlformats.org/drawingml/2006/main">
              <a:ext uri="{FF2B5EF4-FFF2-40B4-BE49-F238E27FC236}">
                <a16:creationId xmlns:a16="http://schemas.microsoft.com/office/drawing/2014/main" id="{8EE9D3C4-567A-4DAE-BB80-46B4054EC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06418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[10] U.S. National Science Foundation, “NAIRR at 2 years: Advancing American artificial intelligence innovation and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leadership,” Mar. 19, 2026, accessed Oct. 8, 2026.</a:t>
            </a:r>
          </a:p>
        </p:txBody>
      </p:sp>
      <p:sp>
        <p:nvSpPr>
          <p:cNvPr id="10" name="https://www.nsf.gov/cise/updates/nairr-2-years-advancin">
            <a:extLst xmlns:a="http://schemas.openxmlformats.org/drawingml/2006/main">
              <a:ext uri="{FF2B5EF4-FFF2-40B4-BE49-F238E27FC236}">
                <a16:creationId xmlns:a16="http://schemas.microsoft.com/office/drawing/2014/main" id="{D3B014DB-6358-43E2-962E-BBFCA85EF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596ea314ea3d490a"/>
              </a:rPr>
              <a:t>https://www.nsf.gov/cise/updates/nairr-2-years-advancing-american-artificial-intelligence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1E864C-9BE8-4AA8-8706-9CF33346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6ABF302-2D0A-4C03-94AA-E9200B65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19 / 39">
            <a:extLst xmlns:a="http://schemas.openxmlformats.org/drawingml/2006/main">
              <a:ext uri="{FF2B5EF4-FFF2-40B4-BE49-F238E27FC236}">
                <a16:creationId xmlns:a16="http://schemas.microsoft.com/office/drawing/2014/main" id="{49B1A13B-09B0-4B68-823C-F5033320B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19 / 39</a:t>
            </a:r>
          </a:p>
        </p:txBody>
      </p:sp>
    </p:spTree>
    <p:extLst>
      <p:ext uri="{BB962C8B-B14F-4D97-AF65-F5344CB8AC3E}">
        <p14:creationId xmlns:p14="http://schemas.microsoft.com/office/powerpoint/2010/main" val="1844873794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3/5">
            <a:extLst xmlns:a="http://schemas.openxmlformats.org/drawingml/2006/main">
              <a:ext uri="{FF2B5EF4-FFF2-40B4-BE49-F238E27FC236}">
                <a16:creationId xmlns:a16="http://schemas.microsoft.com/office/drawing/2014/main" id="{39B3AFEC-0623-4E70-98B5-2CF88D221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3/5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7C019C92-B7A0-4E57-AA32-3135554B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1] E. Strubell, A. Ganesh, and A. McCallum, “Energy a">
            <a:extLst xmlns:a="http://schemas.openxmlformats.org/drawingml/2006/main">
              <a:ext uri="{FF2B5EF4-FFF2-40B4-BE49-F238E27FC236}">
                <a16:creationId xmlns:a16="http://schemas.microsoft.com/office/drawing/2014/main" id="{451B38EF-EFC6-487F-AD0D-F8612560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[11] E. Strubell, A. Ganesh, and A. McCallum, “Energy and policy considerations for deep learning in NLP,” in Proc. ACL,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2019, pp. 3645–3650, doi: 10.18653/v1/P19-1355.</a:t>
            </a:r>
          </a:p>
        </p:txBody>
      </p:sp>
      <p:sp>
        <p:nvSpPr>
          <p:cNvPr id="4" name="https://aclanthology.org/P19-1355/">
            <a:extLst xmlns:a="http://schemas.openxmlformats.org/drawingml/2006/main">
              <a:ext uri="{FF2B5EF4-FFF2-40B4-BE49-F238E27FC236}">
                <a16:creationId xmlns:a16="http://schemas.microsoft.com/office/drawing/2014/main" id="{60B7105E-A026-4BDE-9FB8-E993045F7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2ba8486d60449e5"/>
              </a:rPr>
              <a:t>https://aclanthology.org/P19-1355/</a:t>
            </a:r>
          </a:p>
        </p:txBody>
      </p:sp>
      <p:sp>
        <p:nvSpPr>
          <p:cNvPr id="5" name="[12] P. Li, J. Yang, M. A. Islam, and S. Ren, “Making A">
            <a:extLst xmlns:a="http://schemas.openxmlformats.org/drawingml/2006/main">
              <a:ext uri="{FF2B5EF4-FFF2-40B4-BE49-F238E27FC236}">
                <a16:creationId xmlns:a16="http://schemas.microsoft.com/office/drawing/2014/main" id="{1F84C442-01AF-49F6-8E24-F5548EB9D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[12] P. Li, J. Yang, M. A. Islam, and S. Ren, “Making AI less ‘thirsty’: Uncovering and addressing the secret water footprint of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models,” arXiv:2304.03271v5, Mar. 26, 2025; first submitted 2023.</a:t>
            </a:r>
          </a:p>
        </p:txBody>
      </p:sp>
      <p:sp>
        <p:nvSpPr>
          <p:cNvPr id="6" name="https://arxiv.org/abs/2304.03271v5">
            <a:extLst xmlns:a="http://schemas.openxmlformats.org/drawingml/2006/main">
              <a:ext uri="{FF2B5EF4-FFF2-40B4-BE49-F238E27FC236}">
                <a16:creationId xmlns:a16="http://schemas.microsoft.com/office/drawing/2014/main" id="{4BB58304-A8A4-4544-8D62-6696C2DEC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cc17cc373dd40fa"/>
              </a:rPr>
              <a:t>https://arxiv.org/abs/2304.03271v5</a:t>
            </a:r>
          </a:p>
        </p:txBody>
      </p:sp>
      <p:sp>
        <p:nvSpPr>
          <p:cNvPr id="7" name="[13] R. Schwartz, J. Dodge, N. A. Smith, and O. Etzioni">
            <a:extLst xmlns:a="http://schemas.openxmlformats.org/drawingml/2006/main">
              <a:ext uri="{FF2B5EF4-FFF2-40B4-BE49-F238E27FC236}">
                <a16:creationId xmlns:a16="http://schemas.microsoft.com/office/drawing/2014/main" id="{F50FC29F-983B-4605-8FDB-99F4A6F4F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[13] R. Schwartz, J. Dodge, N. A. Smith, and O. Etzioni, “Green AI,” arXiv:1907.10597, 2019.</a:t>
            </a:r>
          </a:p>
        </p:txBody>
      </p:sp>
      <p:sp>
        <p:nvSpPr>
          <p:cNvPr id="8" name="https://arxiv.org/abs/1907.10597">
            <a:extLst xmlns:a="http://schemas.openxmlformats.org/drawingml/2006/main">
              <a:ext uri="{FF2B5EF4-FFF2-40B4-BE49-F238E27FC236}">
                <a16:creationId xmlns:a16="http://schemas.microsoft.com/office/drawing/2014/main" id="{78D757B9-DE82-449D-ACD2-8345BAA19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5105f4a2ec5414e"/>
              </a:rPr>
              <a:t>https://arxiv.org/abs/1907.10597</a:t>
            </a:r>
          </a:p>
        </p:txBody>
      </p:sp>
      <p:sp>
        <p:nvSpPr>
          <p:cNvPr id="9" name="[14] L. Zhu, Z. Liu, and S. Han, “Deep leakage from gra">
            <a:extLst xmlns:a="http://schemas.openxmlformats.org/drawingml/2006/main">
              <a:ext uri="{FF2B5EF4-FFF2-40B4-BE49-F238E27FC236}">
                <a16:creationId xmlns:a16="http://schemas.microsoft.com/office/drawing/2014/main" id="{A5381197-92EC-4320-9EFD-351208ADB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[14] L. Zhu, Z. Liu, and S. Han, “Deep leakage from gradients,” arXiv:1906.08935v2, 2019.</a:t>
            </a:r>
          </a:p>
        </p:txBody>
      </p:sp>
      <p:sp>
        <p:nvSpPr>
          <p:cNvPr id="10" name="https://arxiv.org/abs/1906.08935v2">
            <a:extLst xmlns:a="http://schemas.openxmlformats.org/drawingml/2006/main">
              <a:ext uri="{FF2B5EF4-FFF2-40B4-BE49-F238E27FC236}">
                <a16:creationId xmlns:a16="http://schemas.microsoft.com/office/drawing/2014/main" id="{883E8106-DDC9-43E2-88FA-5AB91279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353e06339012403b"/>
              </a:rPr>
              <a:t>https://arxiv.org/abs/1906.08935v2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DA2AB3-8BC7-4620-B6BC-9C090E4E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1596B21-E170-489A-ABD6-4C7564C5E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0 / 39">
            <a:extLst xmlns:a="http://schemas.openxmlformats.org/drawingml/2006/main">
              <a:ext uri="{FF2B5EF4-FFF2-40B4-BE49-F238E27FC236}">
                <a16:creationId xmlns:a16="http://schemas.microsoft.com/office/drawing/2014/main" id="{8C99FD98-DD6B-4C66-B26C-480C96E8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20 / 39</a:t>
            </a:r>
          </a:p>
        </p:txBody>
      </p:sp>
    </p:spTree>
    <p:extLst>
      <p:ext uri="{BB962C8B-B14F-4D97-AF65-F5344CB8AC3E}">
        <p14:creationId xmlns:p14="http://schemas.microsoft.com/office/powerpoint/2010/main" val="185712664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Appendix • References 4/5">
            <a:extLst xmlns:a="http://schemas.openxmlformats.org/drawingml/2006/main">
              <a:ext uri="{FF2B5EF4-FFF2-40B4-BE49-F238E27FC236}">
                <a16:creationId xmlns:a16="http://schemas.microsoft.com/office/drawing/2014/main" id="{833E444D-67B4-4BB1-899A-B9FBA8151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4/5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E11663E1-2A57-4D59-94BA-B30D56314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5] I. O. Gallegos et al., “Bias and fairness in large">
            <a:extLst xmlns:a="http://schemas.openxmlformats.org/drawingml/2006/main">
              <a:ext uri="{FF2B5EF4-FFF2-40B4-BE49-F238E27FC236}">
                <a16:creationId xmlns:a16="http://schemas.microsoft.com/office/drawing/2014/main" id="{D6C3D1A8-3014-4735-B2E8-47447293B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[15] I. O. Gallegos et al., “Bias and fairness in large language models: A survey,” Computational Linguistics, vol. 50, no. 3,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pp. 1097–1179, 2024, doi: 10.1162/coli_a_00524.</a:t>
            </a:r>
          </a:p>
        </p:txBody>
      </p:sp>
      <p:sp>
        <p:nvSpPr>
          <p:cNvPr id="4" name="https://aclanthology.org/2024.cl-3.8/">
            <a:extLst xmlns:a="http://schemas.openxmlformats.org/drawingml/2006/main">
              <a:ext uri="{FF2B5EF4-FFF2-40B4-BE49-F238E27FC236}">
                <a16:creationId xmlns:a16="http://schemas.microsoft.com/office/drawing/2014/main" id="{8473CA07-6FBF-4248-A552-AED48D5AB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436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0b99bd03176e47ad"/>
              </a:rPr>
              <a:t>https://aclanthology.org/2024.cl-3.8/</a:t>
            </a:r>
          </a:p>
        </p:txBody>
      </p:sp>
      <p:sp>
        <p:nvSpPr>
          <p:cNvPr id="5" name="[16] N. Ahmed and M. Wahed, “The de-democratization of ">
            <a:extLst xmlns:a="http://schemas.openxmlformats.org/drawingml/2006/main">
              <a:ext uri="{FF2B5EF4-FFF2-40B4-BE49-F238E27FC236}">
                <a16:creationId xmlns:a16="http://schemas.microsoft.com/office/drawing/2014/main" id="{E1AB9AA0-48A7-40C6-93B5-D1479B054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5560"/>
            <a:ext cx="10972800" cy="5341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[16] N. Ahmed and M. Wahed, “The de-democratization of AI: Deep learning and the compute divide in artificial intelligence</a:t>
            </a:r>
          </a:p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research,” arXiv:2010.15581v1, 2020.</a:t>
            </a:r>
          </a:p>
        </p:txBody>
      </p:sp>
      <p:sp>
        <p:nvSpPr>
          <p:cNvPr id="6" name="https://arxiv.org/abs/2010.15581v1">
            <a:extLst xmlns:a="http://schemas.openxmlformats.org/drawingml/2006/main">
              <a:ext uri="{FF2B5EF4-FFF2-40B4-BE49-F238E27FC236}">
                <a16:creationId xmlns:a16="http://schemas.microsoft.com/office/drawing/2014/main" id="{F62F7FEE-0D1F-4537-BD8D-382115424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47822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1df02370fe62456f"/>
              </a:rPr>
              <a:t>https://arxiv.org/abs/2010.15581v1</a:t>
            </a:r>
          </a:p>
        </p:txBody>
      </p:sp>
      <p:sp>
        <p:nvSpPr>
          <p:cNvPr id="7" name="[17] A. Radovanovic et al., “Carbon-aware computing for">
            <a:extLst xmlns:a="http://schemas.openxmlformats.org/drawingml/2006/main">
              <a:ext uri="{FF2B5EF4-FFF2-40B4-BE49-F238E27FC236}">
                <a16:creationId xmlns:a16="http://schemas.microsoft.com/office/drawing/2014/main" id="{E345BB0C-B636-4A76-80DB-507A7F46C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8902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[17] A. Radovanovic et al., “Carbon-aware computing for datacenters,” arXiv:2106.11750v1, 2021.</a:t>
            </a:r>
          </a:p>
        </p:txBody>
      </p:sp>
      <p:sp>
        <p:nvSpPr>
          <p:cNvPr id="8" name="https://arxiv.org/abs/2106.11750v1">
            <a:extLst xmlns:a="http://schemas.openxmlformats.org/drawingml/2006/main">
              <a:ext uri="{FF2B5EF4-FFF2-40B4-BE49-F238E27FC236}">
                <a16:creationId xmlns:a16="http://schemas.microsoft.com/office/drawing/2014/main" id="{C4ED490B-3530-434B-8D94-6D6E142B9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325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7c9379829ab04a8f"/>
              </a:rPr>
              <a:t>https://arxiv.org/abs/2106.11750v1</a:t>
            </a:r>
          </a:p>
        </p:txBody>
      </p:sp>
      <p:sp>
        <p:nvSpPr>
          <p:cNvPr id="9" name="[18] OECD, “OECD AI Principles,” adopted 2019, updated ">
            <a:extLst xmlns:a="http://schemas.openxmlformats.org/drawingml/2006/main">
              <a:ext uri="{FF2B5EF4-FFF2-40B4-BE49-F238E27FC236}">
                <a16:creationId xmlns:a16="http://schemas.microsoft.com/office/drawing/2014/main" id="{6F4F4572-0ACF-4D22-A3A2-C69D6B8B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5444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[18] OECD, “OECD AI Principles,” adopted 2019, updated 2024, accessed Oct. 8, 2026.</a:t>
            </a:r>
          </a:p>
        </p:txBody>
      </p:sp>
      <p:sp>
        <p:nvSpPr>
          <p:cNvPr id="10" name="https://www.oecd.org/en/topics/ai-principles.html">
            <a:extLst xmlns:a="http://schemas.openxmlformats.org/drawingml/2006/main">
              <a:ext uri="{FF2B5EF4-FFF2-40B4-BE49-F238E27FC236}">
                <a16:creationId xmlns:a16="http://schemas.microsoft.com/office/drawing/2014/main" id="{DF97ABE1-0EA0-4B71-A959-5EE4272F1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7868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cc5a95f87ade4614"/>
              </a:rPr>
              <a:t>https://www.oecd.org/en/topics/ai-principles.html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C89E21-D62A-4351-96DE-B1F345CE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F4F7DB9-B2C0-4154-B7DD-8963F5905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3" name="21 / 39">
            <a:extLst xmlns:a="http://schemas.openxmlformats.org/drawingml/2006/main">
              <a:ext uri="{FF2B5EF4-FFF2-40B4-BE49-F238E27FC236}">
                <a16:creationId xmlns:a16="http://schemas.microsoft.com/office/drawing/2014/main" id="{2916A90A-0675-4F7F-AF7C-9FCC24E6F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21 / 39</a:t>
            </a:r>
          </a:p>
        </p:txBody>
      </p:sp>
    </p:spTree>
    <p:extLst>
      <p:ext uri="{BB962C8B-B14F-4D97-AF65-F5344CB8AC3E}">
        <p14:creationId xmlns:p14="http://schemas.microsoft.com/office/powerpoint/2010/main" val="1757754326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ppendix • References 5/5">
            <a:extLst xmlns:a="http://schemas.openxmlformats.org/drawingml/2006/main">
              <a:ext uri="{FF2B5EF4-FFF2-40B4-BE49-F238E27FC236}">
                <a16:creationId xmlns:a16="http://schemas.microsoft.com/office/drawing/2014/main" id="{B7CCDD2A-5260-4CE5-9DB6-5710294C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References 5/5</a:t>
            </a:r>
          </a:p>
        </p:txBody>
      </p:sp>
      <p:sp>
        <p:nvSpPr>
          <p:cNvPr id="2" name="References">
            <a:extLst xmlns:a="http://schemas.openxmlformats.org/drawingml/2006/main">
              <a:ext uri="{FF2B5EF4-FFF2-40B4-BE49-F238E27FC236}">
                <a16:creationId xmlns:a16="http://schemas.microsoft.com/office/drawing/2014/main" id="{87C4E811-1D83-4A9E-8079-87FD54F63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References</a:t>
            </a:r>
          </a:p>
        </p:txBody>
      </p:sp>
      <p:sp>
        <p:nvSpPr>
          <p:cNvPr id="3" name="[19] NIST, AI Risk Management Framework 1.0 Playbook, f">
            <a:extLst xmlns:a="http://schemas.openxmlformats.org/drawingml/2006/main">
              <a:ext uri="{FF2B5EF4-FFF2-40B4-BE49-F238E27FC236}">
                <a16:creationId xmlns:a16="http://schemas.microsoft.com/office/drawing/2014/main" id="{B4C5DB6B-91C0-4B33-ACEF-4BBF94D6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[19] NIST, AI Risk Management Framework 1.0 Playbook, framework 2023, current online resource, accessed Oct. 8, 2026.</a:t>
            </a:r>
          </a:p>
        </p:txBody>
      </p:sp>
      <p:sp>
        <p:nvSpPr>
          <p:cNvPr id="4" name="https://airc.nist.gov/airmf-resources/playbook/">
            <a:extLst xmlns:a="http://schemas.openxmlformats.org/drawingml/2006/main">
              <a:ext uri="{FF2B5EF4-FFF2-40B4-BE49-F238E27FC236}">
                <a16:creationId xmlns:a16="http://schemas.microsoft.com/office/drawing/2014/main" id="{E7A9A972-9EF2-49A1-9865-96C14A79D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6331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  <a:hlinkClick xmlns:r="http://schemas.openxmlformats.org/officeDocument/2006/relationships" r:id="Rb875e365d707419c"/>
              </a:rPr>
              <a:t>https://airc.nist.gov/airmf-resources/playbook/</a:t>
            </a:r>
          </a:p>
        </p:txBody>
      </p:sp>
      <p:sp>
        <p:nvSpPr>
          <p:cNvPr id="5" name="[21] Monash University, FIT3143 Week 5 combined course ">
            <a:extLst xmlns:a="http://schemas.openxmlformats.org/drawingml/2006/main">
              <a:ext uri="{FF2B5EF4-FFF2-40B4-BE49-F238E27FC236}">
                <a16:creationId xmlns:a16="http://schemas.microsoft.com/office/drawing/2014/main" id="{2D04CC5C-875C-49B7-91F1-78E6C447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7529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[21] Monash University, FIT3143 Week 5 combined course material, MPI collectives, pp. 148–155.</a:t>
            </a:r>
          </a:p>
        </p:txBody>
      </p:sp>
      <p:sp>
        <p:nvSpPr>
          <p:cNvPr id="6" name="../../context/FIT3143_Week_5_Combined.pdf">
            <a:extLst xmlns:a="http://schemas.openxmlformats.org/drawingml/2006/main">
              <a:ext uri="{FF2B5EF4-FFF2-40B4-BE49-F238E27FC236}">
                <a16:creationId xmlns:a16="http://schemas.microsoft.com/office/drawing/2014/main" id="{D94639B2-C274-46FC-AD4E-CE4EF4EE9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51760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../../context/FIT3143_Week_5_Combined.pdf</a:t>
            </a:r>
          </a:p>
        </p:txBody>
      </p:sp>
      <p:sp>
        <p:nvSpPr>
          <p:cNvPr id="7" name="[22] Monash University, FIT3143 Topic 9B: Mutual exclus">
            <a:extLst xmlns:a="http://schemas.openxmlformats.org/drawingml/2006/main">
              <a:ext uri="{FF2B5EF4-FFF2-40B4-BE49-F238E27FC236}">
                <a16:creationId xmlns:a16="http://schemas.microsoft.com/office/drawing/2014/main" id="{5EB98883-B60B-486C-BEFD-73307136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92958"/>
            <a:ext cx="10972800" cy="2861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[22] Monash University, FIT3143 Topic 9B: Mutual exclusion and resource allocation, course slides, 2024, pp. 4–16, 24–32.</a:t>
            </a:r>
          </a:p>
        </p:txBody>
      </p:sp>
      <p:sp>
        <p:nvSpPr>
          <p:cNvPr id="8" name="../../context/FIT3143-Topic-9B-2024.pdf">
            <a:extLst xmlns:a="http://schemas.openxmlformats.org/drawingml/2006/main">
              <a:ext uri="{FF2B5EF4-FFF2-40B4-BE49-F238E27FC236}">
                <a16:creationId xmlns:a16="http://schemas.microsoft.com/office/drawing/2014/main" id="{08F6C269-7121-4129-BDC4-BFBB3956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17189"/>
            <a:ext cx="10972800" cy="2506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350" b="0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007B83"/>
                </a:solidFill>
                <a:latin typeface="Arial"/>
                <a:ea typeface="Arial"/>
                <a:cs typeface="Arial"/>
              </a:rPr>
              <a:t>../../context/FIT3143-Topic-9B-2024.pdf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0D4623-BCE7-447E-B814-BAF0AAD7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0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7CB2635-709D-4456-86BA-9208E59EB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1" name="22 / 39">
            <a:extLst xmlns:a="http://schemas.openxmlformats.org/drawingml/2006/main">
              <a:ext uri="{FF2B5EF4-FFF2-40B4-BE49-F238E27FC236}">
                <a16:creationId xmlns:a16="http://schemas.microsoft.com/office/drawing/2014/main" id="{766D1742-704F-4E47-BA6E-9CE0B8586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22 / 39</a:t>
            </a:r>
          </a:p>
        </p:txBody>
      </p:sp>
    </p:spTree>
    <p:extLst>
      <p:ext uri="{BB962C8B-B14F-4D97-AF65-F5344CB8AC3E}">
        <p14:creationId xmlns:p14="http://schemas.microsoft.com/office/powerpoint/2010/main" val="1085518477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Appendix • AI declaration">
            <a:extLst xmlns:a="http://schemas.openxmlformats.org/drawingml/2006/main">
              <a:ext uri="{FF2B5EF4-FFF2-40B4-BE49-F238E27FC236}">
                <a16:creationId xmlns:a16="http://schemas.microsoft.com/office/drawing/2014/main" id="{AD81C7AF-C9DB-43F9-B7CD-5C554BE66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AI declaration</a:t>
            </a:r>
          </a:p>
        </p:txBody>
      </p:sp>
      <p:sp>
        <p:nvSpPr>
          <p:cNvPr id="2" name="AI assistance and prompt-record provenance">
            <a:extLst xmlns:a="http://schemas.openxmlformats.org/drawingml/2006/main">
              <a:ext uri="{FF2B5EF4-FFF2-40B4-BE49-F238E27FC236}">
                <a16:creationId xmlns:a16="http://schemas.microsoft.com/office/drawing/2014/main" id="{A95C42E1-4D85-4814-AC97-B101B02F2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AI assistance and prompt-record provenance</a:t>
            </a:r>
          </a:p>
        </p:txBody>
      </p:sp>
      <p:sp>
        <p:nvSpPr>
          <p:cNvPr id="3" name="Tools and assistance">
            <a:extLst xmlns:a="http://schemas.openxmlformats.org/drawingml/2006/main">
              <a:ext uri="{FF2B5EF4-FFF2-40B4-BE49-F238E27FC236}">
                <a16:creationId xmlns:a16="http://schemas.microsoft.com/office/drawing/2014/main" id="{A74ABED9-8F2C-4F0C-A80B-FE3874E4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Tools and assistance</a:t>
            </a:r>
          </a:p>
        </p:txBody>
      </p:sp>
      <p:sp>
        <p:nvSpPr>
          <p:cNvPr id="4" name="OpenAI Codex was used on 6 and 8 October 2026 for resea">
            <a:extLst xmlns:a="http://schemas.openxmlformats.org/drawingml/2006/main">
              <a:ext uri="{FF2B5EF4-FFF2-40B4-BE49-F238E27FC236}">
                <a16:creationId xmlns:a16="http://schemas.microsoft.com/office/drawing/2014/main" id="{8A849549-89BE-46C2-ACEE-03F01BFF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OpenAI Codex was used on 6 and 8 October 2026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research/source checks, drafting and revision,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CUDA teaching examples, editable slide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diagrams/charts and presentation assembly.</a:t>
            </a:r>
          </a:p>
        </p:txBody>
      </p:sp>
      <p:sp>
        <p:nvSpPr>
          <p:cNvPr id="5" name="AI supported preparation. Students must understand and ">
            <a:extLst xmlns:a="http://schemas.openxmlformats.org/drawingml/2006/main">
              <a:ext uri="{FF2B5EF4-FFF2-40B4-BE49-F238E27FC236}">
                <a16:creationId xmlns:a16="http://schemas.microsoft.com/office/drawing/2014/main" id="{D6BD4C27-4DF4-4F7C-994E-9BCD894C9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67837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AI supported preparation. Students must understand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validate submitted work; no AI use is permitted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during presentation/interview.</a:t>
            </a:r>
          </a:p>
        </p:txBody>
      </p:sp>
      <p:sp>
        <p:nvSpPr>
          <p:cNvPr id="6" name="Charts are cited sector evidence. Worked examples and p">
            <a:extLst xmlns:a="http://schemas.openxmlformats.org/drawingml/2006/main">
              <a:ext uri="{FF2B5EF4-FFF2-40B4-BE49-F238E27FC236}">
                <a16:creationId xmlns:a16="http://schemas.microsoft.com/office/drawing/2014/main" id="{3B3949A7-9790-4511-9E6F-84C093E8E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92346"/>
            <a:ext cx="5124450" cy="85305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Charts are cited sector evidence. Worked examples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and policy scenarios are labeled illustrative; CUDA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performance was not measured.</a:t>
            </a:r>
          </a:p>
        </p:txBody>
      </p:sp>
      <p:sp>
        <p:nvSpPr>
          <p:cNvPr id="7" name="Record included in this deck">
            <a:extLst xmlns:a="http://schemas.openxmlformats.org/drawingml/2006/main">
              <a:ext uri="{FF2B5EF4-FFF2-40B4-BE49-F238E27FC236}">
                <a16:creationId xmlns:a16="http://schemas.microsoft.com/office/drawing/2014/main" id="{69E80B48-052C-458E-8170-D23708203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543050"/>
            <a:ext cx="5124450" cy="35699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Record included in this deck</a:t>
            </a:r>
          </a:p>
        </p:txBody>
      </p:sp>
      <p:sp>
        <p:nvSpPr>
          <p:cNvPr id="8" name="Earlier preparation prompts are reproduced from the sav">
            <a:extLst xmlns:a="http://schemas.openxmlformats.org/drawingml/2006/main">
              <a:ext uri="{FF2B5EF4-FFF2-40B4-BE49-F238E27FC236}">
                <a16:creationId xmlns:a16="http://schemas.microsoft.com/office/drawing/2014/main" id="{57400D54-2B0A-4D59-8625-128A0D56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1971675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preparation prompts are reproduced from the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saved Task 1 and Task 2 records with original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spelling. The continuation records the available 8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October requests and supplied details.</a:t>
            </a:r>
          </a:p>
        </p:txBody>
      </p:sp>
      <p:sp>
        <p:nvSpPr>
          <p:cNvPr id="9" name="A recorded review goal is labeled as such, separate fro">
            <a:extLst xmlns:a="http://schemas.openxmlformats.org/drawingml/2006/main">
              <a:ext uri="{FF2B5EF4-FFF2-40B4-BE49-F238E27FC236}">
                <a16:creationId xmlns:a16="http://schemas.microsoft.com/office/drawing/2014/main" id="{12039E74-CBE5-420F-A3B3-5FB88E6DB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67837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 recorded review goal is labeled as such, separate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from direct user prompts. Environment/system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instructions and assistant/tool output are not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presented as student prompts.</a:t>
            </a:r>
          </a:p>
        </p:txBody>
      </p:sp>
      <p:sp>
        <p:nvSpPr>
          <p:cNvPr id="10" name="The accompanying PDF contains this same presentation, i">
            <a:extLst xmlns:a="http://schemas.openxmlformats.org/drawingml/2006/main">
              <a:ext uri="{FF2B5EF4-FFF2-40B4-BE49-F238E27FC236}">
                <a16:creationId xmlns:a16="http://schemas.microsoft.com/office/drawing/2014/main" id="{A24BF0E2-23F4-405E-97B6-95B78118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563999"/>
            <a:ext cx="5124450" cy="11247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accompanying PDF contains this same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presentation, including these records. Any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subsequent AI preparation must be appended</a:t>
            </a:r>
          </a:p>
          <a:p xmlns:a="http://schemas.openxmlformats.org/drawingml/2006/main">
            <a:pPr algn="l">
              <a:defRPr sz="1725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submission.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819783-F934-4920-B75D-15056E710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1543050"/>
            <a:ext cx="95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28E6D3-A71E-4EFE-9D9B-E5C75BE6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13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7D8D0893-6D81-463A-B34E-9715028BA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14" name="23 / 39">
            <a:extLst xmlns:a="http://schemas.openxmlformats.org/drawingml/2006/main">
              <a:ext uri="{FF2B5EF4-FFF2-40B4-BE49-F238E27FC236}">
                <a16:creationId xmlns:a16="http://schemas.microsoft.com/office/drawing/2014/main" id="{0B7F5753-683D-4674-A744-7373DFA7F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23 / 39</a:t>
            </a:r>
          </a:p>
        </p:txBody>
      </p:sp>
    </p:spTree>
    <p:extLst>
      <p:ext uri="{BB962C8B-B14F-4D97-AF65-F5344CB8AC3E}">
        <p14:creationId xmlns:p14="http://schemas.microsoft.com/office/powerpoint/2010/main" val="776045836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1">
            <a:extLst xmlns:a="http://schemas.openxmlformats.org/drawingml/2006/main">
              <a:ext uri="{FF2B5EF4-FFF2-40B4-BE49-F238E27FC236}">
                <a16:creationId xmlns:a16="http://schemas.microsoft.com/office/drawing/2014/main" id="{06AE4893-AD23-4AE6-9A19-F5A947DCA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1</a:t>
            </a:r>
          </a:p>
        </p:txBody>
      </p:sp>
      <p:sp>
        <p:nvSpPr>
          <p:cNvPr id="2" name="Earlier task1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F75E9B2A-1FE4-4647-897B-7AACA01F5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1</a:t>
            </a:r>
          </a:p>
        </p:txBody>
      </p:sp>
      <p:sp>
        <p:nvSpPr>
          <p:cNvPr id="3" name="# AGENTS.md instructions&#10;&#10;&lt;INSTRUCTIONS&gt;&#10;&quot;You are an ex">
            <a:extLst xmlns:a="http://schemas.openxmlformats.org/drawingml/2006/main">
              <a:ext uri="{FF2B5EF4-FFF2-40B4-BE49-F238E27FC236}">
                <a16:creationId xmlns:a16="http://schemas.microsoft.com/office/drawing/2014/main" id="{2C502AF2-B31A-4F6F-BF00-E1A606C39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"You are an expert computer science professor and senior software engineer acting as a student mentor.Core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Guidelines:Pedagogy First: When I ask for code, don't just provide the solution. Explain the logic, data structures,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algorithmic complexity (Big O) involved.Focus on Fundamentals: Prioritize standard libraries and fundamental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concepts taught in CS curriculum (e.g., Data Structures &amp; Algorithms, Operating Systems).Academic Integrity &amp; Best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Practices: Write clean, modular, and well-commented code that adheres to industry standards (e.g., PEP8 for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Python).Edge Case Analysis: Always prompt me to think about edge cases (null inputs, empty sets, large inputs)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before providing the final code.Debugging Approach: When I present code with a bug, help me trace the logic rather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than immediately providing the fix. Ask probing questions to guide me to the answer."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7F2156-20C9-43AA-A6C4-76CEC74EA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71D6B8F-12A2-4E91-95FA-83BA849A3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4 / 39">
            <a:extLst xmlns:a="http://schemas.openxmlformats.org/drawingml/2006/main">
              <a:ext uri="{FF2B5EF4-FFF2-40B4-BE49-F238E27FC236}">
                <a16:creationId xmlns:a16="http://schemas.microsoft.com/office/drawing/2014/main" id="{C520A0EB-9459-46A4-85B2-E0DA4A7F4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24 / 39</a:t>
            </a:r>
          </a:p>
        </p:txBody>
      </p:sp>
    </p:spTree>
    <p:extLst>
      <p:ext uri="{BB962C8B-B14F-4D97-AF65-F5344CB8AC3E}">
        <p14:creationId xmlns:p14="http://schemas.microsoft.com/office/powerpoint/2010/main" val="1454759535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2">
            <a:extLst xmlns:a="http://schemas.openxmlformats.org/drawingml/2006/main">
              <a:ext uri="{FF2B5EF4-FFF2-40B4-BE49-F238E27FC236}">
                <a16:creationId xmlns:a16="http://schemas.microsoft.com/office/drawing/2014/main" id="{238A054B-D795-4617-A5B8-6246B8561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2</a:t>
            </a:r>
          </a:p>
        </p:txBody>
      </p:sp>
      <p:sp>
        <p:nvSpPr>
          <p:cNvPr id="2" name="Earlier task1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11A4A250-654B-4154-858E-BA9860462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2</a:t>
            </a:r>
          </a:p>
        </p:txBody>
      </p:sp>
      <p:sp>
        <p:nvSpPr>
          <p:cNvPr id="3" name="in folder &quot;Applied 2&quot; you will have the content I want ">
            <a:extLst xmlns:a="http://schemas.openxmlformats.org/drawingml/2006/main">
              <a:ext uri="{FF2B5EF4-FFF2-40B4-BE49-F238E27FC236}">
                <a16:creationId xmlns:a16="http://schemas.microsoft.com/office/drawing/2014/main" id="{98F30AC0-E534-4403-8583-8C236E0C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folder "Applied 2" you will have the content I want you to work on, explain me what i need to do for task 1(since task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 is done by someboday else), create evrrythign later on if your creating in this folder, you can access all the content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this folder and help me do this applied correctly, fo rthe moment only tell me what I need to do for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D54BF4-9359-4A65-BAD3-59E000CC6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6CECCDD-0E2A-49DD-B704-06EBA368C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5 / 39">
            <a:extLst xmlns:a="http://schemas.openxmlformats.org/drawingml/2006/main">
              <a:ext uri="{FF2B5EF4-FFF2-40B4-BE49-F238E27FC236}">
                <a16:creationId xmlns:a16="http://schemas.microsoft.com/office/drawing/2014/main" id="{8392F72A-2137-4464-AC89-85710909A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25 / 39</a:t>
            </a:r>
          </a:p>
        </p:txBody>
      </p:sp>
    </p:spTree>
    <p:extLst>
      <p:ext uri="{BB962C8B-B14F-4D97-AF65-F5344CB8AC3E}">
        <p14:creationId xmlns:p14="http://schemas.microsoft.com/office/powerpoint/2010/main" val="110204668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1/3)">
            <a:extLst xmlns:a="http://schemas.openxmlformats.org/drawingml/2006/main">
              <a:ext uri="{FF2B5EF4-FFF2-40B4-BE49-F238E27FC236}">
                <a16:creationId xmlns:a16="http://schemas.microsoft.com/office/drawing/2014/main" id="{A0B1729F-2070-4DCD-B3D6-4487DD6D3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(1/3)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BCA7D67D-E53B-41CE-BBA0-3C849293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here is some more context as well which you can add on ">
            <a:extLst xmlns:a="http://schemas.openxmlformats.org/drawingml/2006/main">
              <a:ext uri="{FF2B5EF4-FFF2-40B4-BE49-F238E27FC236}">
                <a16:creationId xmlns:a16="http://schemas.microsoft.com/office/drawing/2014/main" id="{227F058D-EF01-4CD0-93AB-054F72E80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here is some more context as well which you can add on - Parallel Computer Applied 10 - Based on image rotations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Include diagrams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for task 1 - (4min)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focus on the Part D of the workshop from collab - 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Part D: Reflection Questions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Answer the following questions.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is the role of the host and device in CUDA?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are threads organised into blocks and grids?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is brightness adjustment considered a data-parallel problem?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Why does GPU acceleration generally improve as image size increases?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What overhead is introduced by CPU-GPU memory transfers?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9E03FC-0B46-42FC-B045-2569F771D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4BF9E2A-1F12-4133-9D00-799B22752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6 / 39">
            <a:extLst xmlns:a="http://schemas.openxmlformats.org/drawingml/2006/main">
              <a:ext uri="{FF2B5EF4-FFF2-40B4-BE49-F238E27FC236}">
                <a16:creationId xmlns:a16="http://schemas.microsoft.com/office/drawing/2014/main" id="{05EB6263-4834-4969-B943-2755B62FA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26 / 39</a:t>
            </a:r>
          </a:p>
        </p:txBody>
      </p:sp>
    </p:spTree>
    <p:extLst>
      <p:ext uri="{BB962C8B-B14F-4D97-AF65-F5344CB8AC3E}">
        <p14:creationId xmlns:p14="http://schemas.microsoft.com/office/powerpoint/2010/main" val="1009515223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2/3)">
            <a:extLst xmlns:a="http://schemas.openxmlformats.org/drawingml/2006/main">
              <a:ext uri="{FF2B5EF4-FFF2-40B4-BE49-F238E27FC236}">
                <a16:creationId xmlns:a16="http://schemas.microsoft.com/office/drawing/2014/main" id="{C52B0131-47A7-4817-AEF7-810235A1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(2/3)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C9C5E037-903D-4EE4-8745-B827A989F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How many threads are launched when using:&#10;&#10;      Image">
            <a:extLst xmlns:a="http://schemas.openxmlformats.org/drawingml/2006/main">
              <a:ext uri="{FF2B5EF4-FFF2-40B4-BE49-F238E27FC236}">
                <a16:creationId xmlns:a16="http://schemas.microsoft.com/office/drawing/2014/main" id="{A769A880-C718-4208-AA87-F8B70C1A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many threads are launched when using: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Image = 1024 x 1024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Block Size = 16 x 16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If the GPU contained thousands of CUDA cores, how can they process millions of image pixels?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Task 2 - (3min)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how HPC is related to parallel computing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how HPC relates to scaling and AI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to include statistics adn charts(make sure to get proper citation) and make sure you are able to properly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explain this and the trend.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make sure to cover a few points not all (out of a,b,c,d), but not all have to be in detail (since some of them overlap)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make sure atleast 1 point is explained in detail.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3EAD96-AF5D-461E-8918-4AF0C2B6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769BE80-9680-4C55-B18C-5AC5CD022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7 / 39">
            <a:extLst xmlns:a="http://schemas.openxmlformats.org/drawingml/2006/main">
              <a:ext uri="{FF2B5EF4-FFF2-40B4-BE49-F238E27FC236}">
                <a16:creationId xmlns:a16="http://schemas.microsoft.com/office/drawing/2014/main" id="{217705B6-98CF-42D6-BD40-0D3CE051A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27 / 39</a:t>
            </a:r>
          </a:p>
        </p:txBody>
      </p:sp>
    </p:spTree>
    <p:extLst>
      <p:ext uri="{BB962C8B-B14F-4D97-AF65-F5344CB8AC3E}">
        <p14:creationId xmlns:p14="http://schemas.microsoft.com/office/powerpoint/2010/main" val="61495506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3 (3/3)">
            <a:extLst xmlns:a="http://schemas.openxmlformats.org/drawingml/2006/main">
              <a:ext uri="{FF2B5EF4-FFF2-40B4-BE49-F238E27FC236}">
                <a16:creationId xmlns:a16="http://schemas.microsoft.com/office/drawing/2014/main" id="{A4042072-85FA-41F4-8D86-20F1D141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3 (3/3)</a:t>
            </a:r>
          </a:p>
        </p:txBody>
      </p:sp>
      <p:sp>
        <p:nvSpPr>
          <p:cNvPr id="2" name="Earlier task1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61FA3941-B041-45F1-9763-5029B0EF2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task1 preparation, record 3</a:t>
            </a:r>
          </a:p>
        </p:txBody>
      </p:sp>
      <p:sp>
        <p:nvSpPr>
          <p:cNvPr id="3" name="&#10;Ex: &#10;&#10;total time to present 7 mins&#10;&#10;&#10;can task 1 be don">
            <a:extLst xmlns:a="http://schemas.openxmlformats.org/drawingml/2006/main">
              <a:ext uri="{FF2B5EF4-FFF2-40B4-BE49-F238E27FC236}">
                <a16:creationId xmlns:a16="http://schemas.microsoft.com/office/drawing/2014/main" id="{92644213-1EBA-4627-8FF3-BE287410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Ex: 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total time to present 7 mins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can task 1 be done by you or does it reqrueis desgnig somethign ? if you can do it go ahead and do 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A1F3EE-8773-410A-AEF3-B473AFC23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F7F1242B-933D-4735-BC55-4A056BF57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8 / 39">
            <a:extLst xmlns:a="http://schemas.openxmlformats.org/drawingml/2006/main">
              <a:ext uri="{FF2B5EF4-FFF2-40B4-BE49-F238E27FC236}">
                <a16:creationId xmlns:a16="http://schemas.microsoft.com/office/drawing/2014/main" id="{39177485-72B7-4896-92FC-2E382898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28 / 39</a:t>
            </a:r>
          </a:p>
        </p:txBody>
      </p:sp>
    </p:spTree>
    <p:extLst>
      <p:ext uri="{BB962C8B-B14F-4D97-AF65-F5344CB8AC3E}">
        <p14:creationId xmlns:p14="http://schemas.microsoft.com/office/powerpoint/2010/main" val="55513713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4">
            <a:extLst xmlns:a="http://schemas.openxmlformats.org/drawingml/2006/main">
              <a:ext uri="{FF2B5EF4-FFF2-40B4-BE49-F238E27FC236}">
                <a16:creationId xmlns:a16="http://schemas.microsoft.com/office/drawing/2014/main" id="{1D93AC25-99C9-4877-B569-FCC4440D3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4</a:t>
            </a:r>
          </a:p>
        </p:txBody>
      </p:sp>
      <p:sp>
        <p:nvSpPr>
          <p:cNvPr id="2" name="Earlier task2 preparation, record 1">
            <a:extLst xmlns:a="http://schemas.openxmlformats.org/drawingml/2006/main">
              <a:ext uri="{FF2B5EF4-FFF2-40B4-BE49-F238E27FC236}">
                <a16:creationId xmlns:a16="http://schemas.microsoft.com/office/drawing/2014/main" id="{06670B98-E824-4CF2-B231-667F423C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1</a:t>
            </a:r>
          </a:p>
        </p:txBody>
      </p:sp>
      <p:sp>
        <p:nvSpPr>
          <p:cNvPr id="3" name="Are you able to push the changes to this git page and c">
            <a:extLst xmlns:a="http://schemas.openxmlformats.org/drawingml/2006/main">
              <a:ext uri="{FF2B5EF4-FFF2-40B4-BE49-F238E27FC236}">
                <a16:creationId xmlns:a16="http://schemas.microsoft.com/office/drawing/2014/main" id="{73500EF3-6F14-47DD-BCEC-A3C3B9AC7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Are you able to push the changes to this git page and create a new folder named applied2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https://github.com/Shamle-T/FIT3143-Parallel-Computing dont include any refernces of codex in the naming when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your creating a new folder. Let me know whether this is possible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4DE3D6-F223-4D7D-B185-E7054A64A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3AEDAA59-9CC2-46F3-919E-D34CC2A19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29 / 39">
            <a:extLst xmlns:a="http://schemas.openxmlformats.org/drawingml/2006/main">
              <a:ext uri="{FF2B5EF4-FFF2-40B4-BE49-F238E27FC236}">
                <a16:creationId xmlns:a16="http://schemas.microsoft.com/office/drawing/2014/main" id="{D5320604-5F82-44EF-8D35-4A089D416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29 / 39</a:t>
            </a:r>
          </a:p>
        </p:txBody>
      </p:sp>
    </p:spTree>
    <p:extLst>
      <p:ext uri="{BB962C8B-B14F-4D97-AF65-F5344CB8AC3E}">
        <p14:creationId xmlns:p14="http://schemas.microsoft.com/office/powerpoint/2010/main" val="1901440488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5">
            <a:extLst xmlns:a="http://schemas.openxmlformats.org/drawingml/2006/main">
              <a:ext uri="{FF2B5EF4-FFF2-40B4-BE49-F238E27FC236}">
                <a16:creationId xmlns:a16="http://schemas.microsoft.com/office/drawing/2014/main" id="{A7F85FA9-CD6F-4A79-91E9-64A17CED1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5</a:t>
            </a:r>
          </a:p>
        </p:txBody>
      </p:sp>
      <p:sp>
        <p:nvSpPr>
          <p:cNvPr id="2" name="Earlier task2 preparation, record 2">
            <a:extLst xmlns:a="http://schemas.openxmlformats.org/drawingml/2006/main">
              <a:ext uri="{FF2B5EF4-FFF2-40B4-BE49-F238E27FC236}">
                <a16:creationId xmlns:a16="http://schemas.microsoft.com/office/drawing/2014/main" id="{4D58B51A-E904-4970-916C-F07F1B8C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2</a:t>
            </a:r>
          </a:p>
        </p:txBody>
      </p:sp>
      <p:sp>
        <p:nvSpPr>
          <p:cNvPr id="3" name="using a detailed comit message push the current changes">
            <a:extLst xmlns:a="http://schemas.openxmlformats.org/drawingml/2006/main">
              <a:ext uri="{FF2B5EF4-FFF2-40B4-BE49-F238E27FC236}">
                <a16:creationId xmlns:a16="http://schemas.microsoft.com/office/drawing/2014/main" id="{46B03931-F6BC-4D30-BBAC-A2A9EB686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using a detailed comit message push the current changes to git and also do we need to do any code for task 1?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once pushed do task 2 as well, and push the task 2 to git are required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427C7B-4233-418A-BE6A-AF129539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D059318A-EDA2-4B48-8AE6-F308951C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0 / 39">
            <a:extLst xmlns:a="http://schemas.openxmlformats.org/drawingml/2006/main">
              <a:ext uri="{FF2B5EF4-FFF2-40B4-BE49-F238E27FC236}">
                <a16:creationId xmlns:a16="http://schemas.microsoft.com/office/drawing/2014/main" id="{43AA8297-5A3E-4F6A-9017-9CF1D1D2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30 / 39</a:t>
            </a:r>
          </a:p>
        </p:txBody>
      </p:sp>
    </p:spTree>
    <p:extLst>
      <p:ext uri="{BB962C8B-B14F-4D97-AF65-F5344CB8AC3E}">
        <p14:creationId xmlns:p14="http://schemas.microsoft.com/office/powerpoint/2010/main" val="1823185016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6">
            <a:extLst xmlns:a="http://schemas.openxmlformats.org/drawingml/2006/main">
              <a:ext uri="{FF2B5EF4-FFF2-40B4-BE49-F238E27FC236}">
                <a16:creationId xmlns:a16="http://schemas.microsoft.com/office/drawing/2014/main" id="{B8AF12E6-1565-4FE4-96C8-47B889E9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6</a:t>
            </a:r>
          </a:p>
        </p:txBody>
      </p:sp>
      <p:sp>
        <p:nvSpPr>
          <p:cNvPr id="2" name="Earlier task2 preparation, record 3">
            <a:extLst xmlns:a="http://schemas.openxmlformats.org/drawingml/2006/main">
              <a:ext uri="{FF2B5EF4-FFF2-40B4-BE49-F238E27FC236}">
                <a16:creationId xmlns:a16="http://schemas.microsoft.com/office/drawing/2014/main" id="{6AF4FDA4-094B-4885-8118-F7E78C6C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3</a:t>
            </a:r>
          </a:p>
        </p:txBody>
      </p:sp>
      <p:sp>
        <p:nvSpPr>
          <p:cNvPr id="3" name="1)once you have compelted task 2, make sure you have ai">
            <a:extLst xmlns:a="http://schemas.openxmlformats.org/drawingml/2006/main">
              <a:ext uri="{FF2B5EF4-FFF2-40B4-BE49-F238E27FC236}">
                <a16:creationId xmlns:a16="http://schemas.microsoft.com/office/drawing/2014/main" id="{298F7CCC-DD9E-447F-A6F1-30D1E51AF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1)once you have compelted task 2, make sure you have aimed for HD in rubric yeah? for both task 1 and task 2 - if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not update both tasks to cover HD level in the rubric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2) create a 6 minute script for both me (task1) and (task2) for my firend , make sure it doesnt sound overly robotic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since we will have to speak this out.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7A261-EA8E-4EDF-9864-513CBCA0E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E5B45EC8-E1E8-4BA8-BC16-EF20A7813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1 / 39">
            <a:extLst xmlns:a="http://schemas.openxmlformats.org/drawingml/2006/main">
              <a:ext uri="{FF2B5EF4-FFF2-40B4-BE49-F238E27FC236}">
                <a16:creationId xmlns:a16="http://schemas.microsoft.com/office/drawing/2014/main" id="{93FB53BF-219F-4571-B906-3458CEAC9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31 / 39</a:t>
            </a:r>
          </a:p>
        </p:txBody>
      </p:sp>
    </p:spTree>
    <p:extLst>
      <p:ext uri="{BB962C8B-B14F-4D97-AF65-F5344CB8AC3E}">
        <p14:creationId xmlns:p14="http://schemas.microsoft.com/office/powerpoint/2010/main" val="191152123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6 October 2026 • Prompt record 7">
            <a:extLst xmlns:a="http://schemas.openxmlformats.org/drawingml/2006/main">
              <a:ext uri="{FF2B5EF4-FFF2-40B4-BE49-F238E27FC236}">
                <a16:creationId xmlns:a16="http://schemas.microsoft.com/office/drawing/2014/main" id="{F79894F4-D75B-420B-AEDC-894E055F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6 October 2026 • Prompt record 7</a:t>
            </a:r>
          </a:p>
        </p:txBody>
      </p:sp>
      <p:sp>
        <p:nvSpPr>
          <p:cNvPr id="2" name="Earlier task2 preparation, record 4">
            <a:extLst xmlns:a="http://schemas.openxmlformats.org/drawingml/2006/main">
              <a:ext uri="{FF2B5EF4-FFF2-40B4-BE49-F238E27FC236}">
                <a16:creationId xmlns:a16="http://schemas.microsoft.com/office/drawing/2014/main" id="{DA15B5C6-4B23-4E88-BBFA-737FFE229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Earlier task2 preparation, record 4</a:t>
            </a:r>
          </a:p>
        </p:txBody>
      </p:sp>
      <p:sp>
        <p:nvSpPr>
          <p:cNvPr id="3" name="Six minutes total: 3 minutes each">
            <a:extLst xmlns:a="http://schemas.openxmlformats.org/drawingml/2006/main">
              <a:ext uri="{FF2B5EF4-FFF2-40B4-BE49-F238E27FC236}">
                <a16:creationId xmlns:a16="http://schemas.microsoft.com/office/drawing/2014/main" id="{7E09D268-F77F-4DBC-B0FB-85ECD743B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Six minutes total: 3 minutes each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BCB5E-4BEB-4468-A5F7-4A732042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00E47318-DA42-47D1-9C68-2F0B596B4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2 / 39">
            <a:extLst xmlns:a="http://schemas.openxmlformats.org/drawingml/2006/main">
              <a:ext uri="{FF2B5EF4-FFF2-40B4-BE49-F238E27FC236}">
                <a16:creationId xmlns:a16="http://schemas.microsoft.com/office/drawing/2014/main" id="{AED183FF-712D-4B86-B995-64E97DF4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32 / 39</a:t>
            </a:r>
          </a:p>
        </p:txBody>
      </p:sp>
    </p:spTree>
    <p:extLst>
      <p:ext uri="{BB962C8B-B14F-4D97-AF65-F5344CB8AC3E}">
        <p14:creationId xmlns:p14="http://schemas.microsoft.com/office/powerpoint/2010/main" val="702529640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8">
            <a:extLst xmlns:a="http://schemas.openxmlformats.org/drawingml/2006/main">
              <a:ext uri="{FF2B5EF4-FFF2-40B4-BE49-F238E27FC236}">
                <a16:creationId xmlns:a16="http://schemas.microsoft.com/office/drawing/2014/main" id="{50E2B5C0-966C-478A-9F52-A1593FFE6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8</a:t>
            </a:r>
          </a:p>
        </p:txBody>
      </p:sp>
      <p:sp>
        <p:nvSpPr>
          <p:cNvPr id="2" name="Repository synchronization">
            <a:extLst xmlns:a="http://schemas.openxmlformats.org/drawingml/2006/main">
              <a:ext uri="{FF2B5EF4-FFF2-40B4-BE49-F238E27FC236}">
                <a16:creationId xmlns:a16="http://schemas.microsoft.com/office/drawing/2014/main" id="{60905C33-132D-4117-80D1-E8696C00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Repository synchronization</a:t>
            </a:r>
          </a:p>
        </p:txBody>
      </p:sp>
      <p:sp>
        <p:nvSpPr>
          <p:cNvPr id="3" name="pull the latest from the remote repo, push any local ch">
            <a:extLst xmlns:a="http://schemas.openxmlformats.org/drawingml/2006/main">
              <a:ext uri="{FF2B5EF4-FFF2-40B4-BE49-F238E27FC236}">
                <a16:creationId xmlns:a16="http://schemas.microsoft.com/office/drawing/2014/main" id="{DA761688-5FC8-465F-9306-45C447656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pull the latest from the remote repo, push any local changes and merge, local changes arent important. main goal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to get the latest version of the "applied2" dir from the remote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270E20-F3C7-4BB6-9670-8FEF3F532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8B4FBFB0-8026-442A-8953-CBF7C7171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3 / 39">
            <a:extLst xmlns:a="http://schemas.openxmlformats.org/drawingml/2006/main">
              <a:ext uri="{FF2B5EF4-FFF2-40B4-BE49-F238E27FC236}">
                <a16:creationId xmlns:a16="http://schemas.microsoft.com/office/drawing/2014/main" id="{4C120206-8D26-4FB4-858E-36C5CCAA7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33 / 39</a:t>
            </a:r>
          </a:p>
        </p:txBody>
      </p:sp>
    </p:spTree>
    <p:extLst>
      <p:ext uri="{BB962C8B-B14F-4D97-AF65-F5344CB8AC3E}">
        <p14:creationId xmlns:p14="http://schemas.microsoft.com/office/powerpoint/2010/main" val="118132414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9">
            <a:extLst xmlns:a="http://schemas.openxmlformats.org/drawingml/2006/main">
              <a:ext uri="{FF2B5EF4-FFF2-40B4-BE49-F238E27FC236}">
                <a16:creationId xmlns:a16="http://schemas.microsoft.com/office/drawing/2014/main" id="{86EEC3AD-D254-4CCE-BCFF-AA195C176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9</a:t>
            </a:r>
          </a:p>
        </p:txBody>
      </p:sp>
      <p:sp>
        <p:nvSpPr>
          <p:cNvPr id="2" name="Review request">
            <a:extLst xmlns:a="http://schemas.openxmlformats.org/drawingml/2006/main">
              <a:ext uri="{FF2B5EF4-FFF2-40B4-BE49-F238E27FC236}">
                <a16:creationId xmlns:a16="http://schemas.microsoft.com/office/drawing/2014/main" id="{15B3BB4E-84F5-4526-B497-AABAD2C0D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request</a:t>
            </a:r>
          </a:p>
        </p:txBody>
      </p:sp>
      <p:sp>
        <p:nvSpPr>
          <p:cNvPr id="3" name="- review the content in the root level context folder (">
            <a:extLst xmlns:a="http://schemas.openxmlformats.org/drawingml/2006/main">
              <a:ext uri="{FF2B5EF4-FFF2-40B4-BE49-F238E27FC236}">
                <a16:creationId xmlns:a16="http://schemas.microsoft.com/office/drawing/2014/main" id="{10819478-C19C-463A-A59F-DFB42D11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content in the root level context folder (with an emphasis on week's 7-9).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Review the solutions to task 1 and task 2 in [applied2](applied2/) based on the specification [Applied #2 -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Assessment Specification.pdf](&lt;\&lt;applied2/assessment/Applied #2 - Assessment Specification.pdf\&gt;&gt;) . Identify any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key HD blockers in the solutions based on the rubric attached.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The solutions dont need to only use the theory in the context folder but where possible, they should.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3CDE2B-8AC8-49CD-8219-9B8E2E01F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0198F3F-59D7-4E9E-A4DD-9D3A35542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4 / 39">
            <a:extLst xmlns:a="http://schemas.openxmlformats.org/drawingml/2006/main">
              <a:ext uri="{FF2B5EF4-FFF2-40B4-BE49-F238E27FC236}">
                <a16:creationId xmlns:a16="http://schemas.microsoft.com/office/drawing/2014/main" id="{8F5F8507-20FD-491A-9C99-F485366C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34 / 39</a:t>
            </a:r>
          </a:p>
        </p:txBody>
      </p:sp>
    </p:spTree>
    <p:extLst>
      <p:ext uri="{BB962C8B-B14F-4D97-AF65-F5344CB8AC3E}">
        <p14:creationId xmlns:p14="http://schemas.microsoft.com/office/powerpoint/2010/main" val="728544011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0">
            <a:extLst xmlns:a="http://schemas.openxmlformats.org/drawingml/2006/main">
              <a:ext uri="{FF2B5EF4-FFF2-40B4-BE49-F238E27FC236}">
                <a16:creationId xmlns:a16="http://schemas.microsoft.com/office/drawing/2014/main" id="{6C4C8B7E-7D7A-489A-A4A5-F5FE882F6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10</a:t>
            </a:r>
          </a:p>
        </p:txBody>
      </p:sp>
      <p:sp>
        <p:nvSpPr>
          <p:cNvPr id="2" name="Current preparation instructions">
            <a:extLst xmlns:a="http://schemas.openxmlformats.org/drawingml/2006/main">
              <a:ext uri="{FF2B5EF4-FFF2-40B4-BE49-F238E27FC236}">
                <a16:creationId xmlns:a16="http://schemas.microsoft.com/office/drawing/2014/main" id="{A0E16691-FD98-4215-9556-BB4F27D44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Current preparation instructions</a:t>
            </a:r>
          </a:p>
        </p:txBody>
      </p:sp>
      <p:sp>
        <p:nvSpPr>
          <p:cNvPr id="3" name="# AGENTS.md instructions&#10;&#10;&lt;INSTRUCTIONS&gt;&#10;- Answer immed">
            <a:extLst xmlns:a="http://schemas.openxmlformats.org/drawingml/2006/main">
              <a:ext uri="{FF2B5EF4-FFF2-40B4-BE49-F238E27FC236}">
                <a16:creationId xmlns:a16="http://schemas.microsoft.com/office/drawing/2014/main" id="{1EDF521B-0069-4BCD-8BE6-796D39908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# AGENTS.md instructions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&lt;INSTRUCTIONS&gt;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Answer immediately without intro pleasantries, prompt repetitions, or polite filler.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Be concise. Avoid conversational fluff, over-explanation, and unsolicited summaries.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Rely strictly on verified facts. Never invent URLs, names, statistics, or quotes.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If an answer cannot be verified with absolute certainty, state "I do not know" instead of guessing.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- For complex logic, perform brief step-by-step reasoning before delivering the final answer.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&lt;/INSTRUCTIONS&gt;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7C77C8-498F-4153-9B30-D7CF24CD1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6ABCABA1-9144-4819-8A7D-3CF643F7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5 / 39">
            <a:extLst xmlns:a="http://schemas.openxmlformats.org/drawingml/2006/main">
              <a:ext uri="{FF2B5EF4-FFF2-40B4-BE49-F238E27FC236}">
                <a16:creationId xmlns:a16="http://schemas.microsoft.com/office/drawing/2014/main" id="{1146888C-BBC5-4F07-9ADE-6EA448DDC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35 / 39</a:t>
            </a:r>
          </a:p>
        </p:txBody>
      </p:sp>
    </p:spTree>
    <p:extLst>
      <p:ext uri="{BB962C8B-B14F-4D97-AF65-F5344CB8AC3E}">
        <p14:creationId xmlns:p14="http://schemas.microsoft.com/office/powerpoint/2010/main" val="378906997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Recorded goal 11">
            <a:extLst xmlns:a="http://schemas.openxmlformats.org/drawingml/2006/main">
              <a:ext uri="{FF2B5EF4-FFF2-40B4-BE49-F238E27FC236}">
                <a16:creationId xmlns:a16="http://schemas.microsoft.com/office/drawing/2014/main" id="{CE0794AD-04EB-45B4-81FE-CF6C64151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Recorded goal 11</a:t>
            </a:r>
          </a:p>
        </p:txBody>
      </p:sp>
      <p:sp>
        <p:nvSpPr>
          <p:cNvPr id="2" name="Recorded review goal">
            <a:extLst xmlns:a="http://schemas.openxmlformats.org/drawingml/2006/main">
              <a:ext uri="{FF2B5EF4-FFF2-40B4-BE49-F238E27FC236}">
                <a16:creationId xmlns:a16="http://schemas.microsoft.com/office/drawing/2014/main" id="{36952639-FEDC-4851-BD55-16DE400B8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Recorded review goal</a:t>
            </a:r>
          </a:p>
        </p:txBody>
      </p:sp>
      <p:sp>
        <p:nvSpPr>
          <p:cNvPr id="3" name="Review the solutions to task 1 and task 2 in [applied2]">
            <a:extLst xmlns:a="http://schemas.openxmlformats.org/drawingml/2006/main">
              <a:ext uri="{FF2B5EF4-FFF2-40B4-BE49-F238E27FC236}">
                <a16:creationId xmlns:a16="http://schemas.microsoft.com/office/drawing/2014/main" id="{3CFBBE80-8F61-43CA-AC39-AE646AB52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Review the solutions to task 1 and task 2 in [applied2](applied2/) based on the specification [Applied #2 - Assessment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Specification.pdf](&lt;applied2/assessment/Applied #2 - Assessment Specification.pdf&gt;) . Identify any key HD blockers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in the solutions based on the rubric attached. Dont stop until you are certain you have identified every HD blocker and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created an action plan which you can later execute to update the solutions to fix all problems.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AC53E7-727C-48C9-BD2A-B916E1B0D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C6396439-C7FE-41E0-82F5-3BBC3115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6 / 39">
            <a:extLst xmlns:a="http://schemas.openxmlformats.org/drawingml/2006/main">
              <a:ext uri="{FF2B5EF4-FFF2-40B4-BE49-F238E27FC236}">
                <a16:creationId xmlns:a16="http://schemas.microsoft.com/office/drawing/2014/main" id="{58699283-9FDA-495E-8B23-426D7FA1E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36 / 39</a:t>
            </a:r>
          </a:p>
        </p:txBody>
      </p:sp>
    </p:spTree>
    <p:extLst>
      <p:ext uri="{BB962C8B-B14F-4D97-AF65-F5344CB8AC3E}">
        <p14:creationId xmlns:p14="http://schemas.microsoft.com/office/powerpoint/2010/main" val="943282187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2">
            <a:extLst xmlns:a="http://schemas.openxmlformats.org/drawingml/2006/main">
              <a:ext uri="{FF2B5EF4-FFF2-40B4-BE49-F238E27FC236}">
                <a16:creationId xmlns:a16="http://schemas.microsoft.com/office/drawing/2014/main" id="{77524C6F-3C6F-4DCA-8E01-766E6C5F9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12</a:t>
            </a:r>
          </a:p>
        </p:txBody>
      </p:sp>
      <p:sp>
        <p:nvSpPr>
          <p:cNvPr id="2" name="Revision and presentation request">
            <a:extLst xmlns:a="http://schemas.openxmlformats.org/drawingml/2006/main">
              <a:ext uri="{FF2B5EF4-FFF2-40B4-BE49-F238E27FC236}">
                <a16:creationId xmlns:a16="http://schemas.microsoft.com/office/drawing/2014/main" id="{2B7F5BE6-3209-4D3A-9ABE-0CCB50CA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Revision and presentation request</a:t>
            </a:r>
          </a:p>
        </p:txBody>
      </p:sp>
      <p:sp>
        <p:nvSpPr>
          <p:cNvPr id="3" name="Now, fix all the identified problems and HD blockers. D">
            <a:extLst xmlns:a="http://schemas.openxmlformats.org/drawingml/2006/main">
              <a:ext uri="{FF2B5EF4-FFF2-40B4-BE49-F238E27FC236}">
                <a16:creationId xmlns:a16="http://schemas.microsoft.com/office/drawing/2014/main" id="{4C70386D-E6EA-4B3B-9700-93BCB740C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Now, fix all the identified problems and HD blockers. Don't stop until you're confident that task 1 and task 2 have a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high probability of achieving an HD as per the applied-to rubric. Also refer to teaching_team_guidance.md, which is in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the applied2 directory. Also ignore the Q&amp;A and "Presentation Quality" in the rubric as these will be done by me. You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need to create the presentation but dont worry about presenting it. Once you are confident with the task 1 and 2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solutions create a presentation as per task 3 (again dont worry about task 3 part c). Ensure the presentation is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professionally formatted and contains all key details as I will not be submitting any other report, all info must be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present in the presentation.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678EA2-B010-458B-8ED4-F592F623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0A8C0CB-B7DE-4ECA-A14C-A4F3DBF1F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7 / 39">
            <a:extLst xmlns:a="http://schemas.openxmlformats.org/drawingml/2006/main">
              <a:ext uri="{FF2B5EF4-FFF2-40B4-BE49-F238E27FC236}">
                <a16:creationId xmlns:a16="http://schemas.microsoft.com/office/drawing/2014/main" id="{461580C0-5368-437C-8D18-8A504F668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37 / 39</a:t>
            </a:r>
          </a:p>
        </p:txBody>
      </p:sp>
    </p:spTree>
    <p:extLst>
      <p:ext uri="{BB962C8B-B14F-4D97-AF65-F5344CB8AC3E}">
        <p14:creationId xmlns:p14="http://schemas.microsoft.com/office/powerpoint/2010/main" val="1153964756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3">
            <a:extLst xmlns:a="http://schemas.openxmlformats.org/drawingml/2006/main">
              <a:ext uri="{FF2B5EF4-FFF2-40B4-BE49-F238E27FC236}">
                <a16:creationId xmlns:a16="http://schemas.microsoft.com/office/drawing/2014/main" id="{36C42841-F5C8-4BB1-95C6-32A5743ED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13</a:t>
            </a:r>
          </a:p>
        </p:txBody>
      </p:sp>
      <p:sp>
        <p:nvSpPr>
          <p:cNvPr id="2" name="Identification details supplied">
            <a:extLst xmlns:a="http://schemas.openxmlformats.org/drawingml/2006/main">
              <a:ext uri="{FF2B5EF4-FFF2-40B4-BE49-F238E27FC236}">
                <a16:creationId xmlns:a16="http://schemas.microsoft.com/office/drawing/2014/main" id="{1D1E3669-934E-4EB0-B3FA-87D74898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Identification details supplied</a:t>
            </a:r>
          </a:p>
        </p:txBody>
      </p:sp>
      <p:sp>
        <p:nvSpPr>
          <p:cNvPr id="3" name="Savin Vindiv De Alwis (35221631) - sdea0018@student.mon">
            <a:extLst xmlns:a="http://schemas.openxmlformats.org/drawingml/2006/main">
              <a:ext uri="{FF2B5EF4-FFF2-40B4-BE49-F238E27FC236}">
                <a16:creationId xmlns:a16="http://schemas.microsoft.com/office/drawing/2014/main" id="{C26A7760-47DE-41EB-BBCB-8DDBA781F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Savin Vindiv De Alwis (35221631) - sdea0018@student.monash.edu</a:t>
            </a:r>
          </a:p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Shamle Thilaksiri (35512075) - wthi0003@student.monash.edu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67CF1D-837E-4D56-86F6-485DB4C7F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50DFD916-3D6E-4B32-A554-BAE77742C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8 / 39">
            <a:extLst xmlns:a="http://schemas.openxmlformats.org/drawingml/2006/main">
              <a:ext uri="{FF2B5EF4-FFF2-40B4-BE49-F238E27FC236}">
                <a16:creationId xmlns:a16="http://schemas.microsoft.com/office/drawing/2014/main" id="{6200EA1D-CF71-4164-B2FD-2D7062404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38 / 39</a:t>
            </a:r>
          </a:p>
        </p:txBody>
      </p:sp>
    </p:spTree>
    <p:extLst>
      <p:ext uri="{BB962C8B-B14F-4D97-AF65-F5344CB8AC3E}">
        <p14:creationId xmlns:p14="http://schemas.microsoft.com/office/powerpoint/2010/main" val="1829564963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CFC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Appendix • 8 October 2026 • Prompt record 14">
            <a:extLst xmlns:a="http://schemas.openxmlformats.org/drawingml/2006/main">
              <a:ext uri="{FF2B5EF4-FFF2-40B4-BE49-F238E27FC236}">
                <a16:creationId xmlns:a16="http://schemas.microsoft.com/office/drawing/2014/main" id="{525E03A8-2179-4331-98D4-9ED9C4060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5750"/>
            <a:ext cx="10972800" cy="22707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200" b="1">
                <a:solidFill>
                  <a:srgbClr val="007B8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007B83"/>
                </a:solidFill>
                <a:latin typeface="Arial"/>
                <a:ea typeface="Arial"/>
                <a:cs typeface="Arial"/>
              </a:rPr>
              <a:t>Appendix • 8 October 2026 • Prompt record 14</a:t>
            </a:r>
          </a:p>
        </p:txBody>
      </p:sp>
      <p:sp>
        <p:nvSpPr>
          <p:cNvPr id="2" name="Continuation request">
            <a:extLst xmlns:a="http://schemas.openxmlformats.org/drawingml/2006/main">
              <a:ext uri="{FF2B5EF4-FFF2-40B4-BE49-F238E27FC236}">
                <a16:creationId xmlns:a16="http://schemas.microsoft.com/office/drawing/2014/main" id="{F2DF869E-2659-4498-B7AB-B1C6FBA3B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1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42D45"/>
                </a:solidFill>
                <a:latin typeface="Arial"/>
                <a:ea typeface="Arial"/>
                <a:cs typeface="Arial"/>
              </a:rPr>
              <a:t>Continuation request</a:t>
            </a:r>
          </a:p>
        </p:txBody>
      </p:sp>
      <p:sp>
        <p:nvSpPr>
          <p:cNvPr id="3" name="continue where you left off">
            <a:extLst xmlns:a="http://schemas.openxmlformats.org/drawingml/2006/main">
              <a:ext uri="{FF2B5EF4-FFF2-40B4-BE49-F238E27FC236}">
                <a16:creationId xmlns:a16="http://schemas.microsoft.com/office/drawing/2014/main" id="{A98B5EC9-D435-4E94-82BA-D6DEAE52A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95425"/>
            <a:ext cx="10972800" cy="4695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1650" b="0">
                <a:solidFill>
                  <a:srgbClr val="142D45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42D45"/>
                </a:solidFill>
                <a:latin typeface="Arial"/>
                <a:ea typeface="Arial"/>
                <a:cs typeface="Arial"/>
              </a:rPr>
              <a:t>continue where you left off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10364C-C1D7-48A7-B289-AFCEA2595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BD5DC"/>
            </a:solidFill>
            <a:prstDash val="solid"/>
          </a:ln>
        </p:spPr>
      </p:sp>
      <p:sp>
        <p:nvSpPr>
          <p:cNvPr id="5" name="FIT3143 Applied 2">
            <a:extLst xmlns:a="http://schemas.openxmlformats.org/drawingml/2006/main">
              <a:ext uri="{FF2B5EF4-FFF2-40B4-BE49-F238E27FC236}">
                <a16:creationId xmlns:a16="http://schemas.microsoft.com/office/drawing/2014/main" id="{2D3A0382-581A-4990-B0EF-5B8F3B5C0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1009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FIT3143 Applied 2</a:t>
            </a:r>
          </a:p>
        </p:txBody>
      </p:sp>
      <p:sp>
        <p:nvSpPr>
          <p:cNvPr id="6" name="39 / 39">
            <a:extLst xmlns:a="http://schemas.openxmlformats.org/drawingml/2006/main">
              <a:ext uri="{FF2B5EF4-FFF2-40B4-BE49-F238E27FC236}">
                <a16:creationId xmlns:a16="http://schemas.microsoft.com/office/drawing/2014/main" id="{4C2B2EC7-428B-4DCA-B5E0-DFA3DA4B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438900"/>
            <a:ext cx="6286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r">
              <a:defRPr sz="990" b="0">
                <a:solidFill>
                  <a:srgbClr val="516170"/>
                </a:solidFill>
                <a:latin typeface="Arial"/>
                <a:ea typeface="Arial"/>
                <a:cs typeface="Arial"/>
              </a:defRPr>
            </a:pPr>
            <a:r>
              <a:rPr sz="990" b="0">
                <a:solidFill>
                  <a:srgbClr val="516170"/>
                </a:solidFill>
                <a:latin typeface="Arial"/>
                <a:ea typeface="Arial"/>
                <a:cs typeface="Arial"/>
              </a:rPr>
              <a:t>39 / 39</a:t>
            </a:r>
          </a:p>
        </p:txBody>
      </p:sp>
    </p:spTree>
    <p:extLst>
      <p:ext uri="{BB962C8B-B14F-4D97-AF65-F5344CB8AC3E}">
        <p14:creationId xmlns:p14="http://schemas.microsoft.com/office/powerpoint/2010/main" val="212977758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2026-10-08T11:31:44.5840000Z</dcterms:created>
  <dcterms:modified xsi:type="dcterms:W3CDTF">2026-10-08T11:31:44.5840000Z</dcterms:modified>
</coreProperties>
</file>