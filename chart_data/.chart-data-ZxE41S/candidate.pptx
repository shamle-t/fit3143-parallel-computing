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7df34d91ebf4b0b" /><Relationship Type="http://schemas.openxmlformats.org/officeDocument/2006/relationships/extended-properties" Target="/docProps/app.xml" Id="R04faa9cc43ea4f7b" /><Relationship Type="http://schemas.openxmlformats.org/officeDocument/2006/relationships/officeDocument" Target="/ppt/presentation.xml" Id="R3fe1fb7aaf47439c" /></Relationships>
</file>

<file path=ppt/presentation.xml><?xml version="1.0" encoding="utf-8"?>
<p:presentation xmlns:p="http://schemas.openxmlformats.org/presentationml/2006/main">
  <p:sldMasterIdLst>
    <p:sldMasterId xmlns:r="http://schemas.openxmlformats.org/officeDocument/2006/relationships" id="2147483648" r:id="R0b461bec5e084188"/>
  </p:sldMasterIdLst>
  <p:notesMasterIdLst>
    <p:notesMasterId xmlns:r="http://schemas.openxmlformats.org/officeDocument/2006/relationships" r:id="R55d889e7af574de4"/>
  </p:notesMasterIdLst>
  <p:sldIdLst>
    <p:sldId xmlns:r="http://schemas.openxmlformats.org/officeDocument/2006/relationships" id="256" r:id="R2f54adf6f891413e"/>
    <p:sldId xmlns:r="http://schemas.openxmlformats.org/officeDocument/2006/relationships" id="257" r:id="R265953ebfe694c24"/>
    <p:sldId xmlns:r="http://schemas.openxmlformats.org/officeDocument/2006/relationships" id="258" r:id="R6af8983002814202"/>
    <p:sldId xmlns:r="http://schemas.openxmlformats.org/officeDocument/2006/relationships" id="259" r:id="Rfa729b7eff864c50"/>
    <p:sldId xmlns:r="http://schemas.openxmlformats.org/officeDocument/2006/relationships" id="260" r:id="Rdb7a370a697746f3"/>
    <p:sldId xmlns:r="http://schemas.openxmlformats.org/officeDocument/2006/relationships" id="261" r:id="Rb328b277d06141be"/>
    <p:sldId xmlns:r="http://schemas.openxmlformats.org/officeDocument/2006/relationships" id="262" r:id="Rab6d3ad07c264c76"/>
    <p:sldId xmlns:r="http://schemas.openxmlformats.org/officeDocument/2006/relationships" id="263" r:id="Rdd795315e3e94fc4"/>
    <p:sldId xmlns:r="http://schemas.openxmlformats.org/officeDocument/2006/relationships" id="264" r:id="R50195888e8824602"/>
    <p:sldId xmlns:r="http://schemas.openxmlformats.org/officeDocument/2006/relationships" id="265" r:id="R19c1842011a14304"/>
    <p:sldId xmlns:r="http://schemas.openxmlformats.org/officeDocument/2006/relationships" id="266" r:id="R4354305ce6024cc1"/>
    <p:sldId xmlns:r="http://schemas.openxmlformats.org/officeDocument/2006/relationships" id="267" r:id="R1cc82a9c48cc430e"/>
    <p:sldId xmlns:r="http://schemas.openxmlformats.org/officeDocument/2006/relationships" id="268" r:id="R20191cc53c8a4ec9"/>
    <p:sldId xmlns:r="http://schemas.openxmlformats.org/officeDocument/2006/relationships" id="269" r:id="Re10861f8cc414b3c"/>
    <p:sldId xmlns:r="http://schemas.openxmlformats.org/officeDocument/2006/relationships" id="270" r:id="Rb625de05b5804513"/>
    <p:sldId xmlns:r="http://schemas.openxmlformats.org/officeDocument/2006/relationships" id="271" r:id="Ra34f449417314602"/>
    <p:sldId xmlns:r="http://schemas.openxmlformats.org/officeDocument/2006/relationships" id="272" r:id="R75ed9124927a4b7e"/>
    <p:sldId xmlns:r="http://schemas.openxmlformats.org/officeDocument/2006/relationships" id="273" r:id="Reb6d9a6e522546ce"/>
    <p:sldId xmlns:r="http://schemas.openxmlformats.org/officeDocument/2006/relationships" id="274" r:id="Rc834c8a489bb4673"/>
    <p:sldId xmlns:r="http://schemas.openxmlformats.org/officeDocument/2006/relationships" id="275" r:id="Rffcf35d001004c6a"/>
    <p:sldId xmlns:r="http://schemas.openxmlformats.org/officeDocument/2006/relationships" id="276" r:id="Ra19d8247f9a540cc"/>
    <p:sldId xmlns:r="http://schemas.openxmlformats.org/officeDocument/2006/relationships" id="277" r:id="Rc7d0317e69134861"/>
    <p:sldId xmlns:r="http://schemas.openxmlformats.org/officeDocument/2006/relationships" id="278" r:id="R24c447a783d345d2"/>
    <p:sldId xmlns:r="http://schemas.openxmlformats.org/officeDocument/2006/relationships" id="279" r:id="R51a15774c700428e"/>
    <p:sldId xmlns:r="http://schemas.openxmlformats.org/officeDocument/2006/relationships" id="280" r:id="R90b9328c0d244a28"/>
    <p:sldId xmlns:r="http://schemas.openxmlformats.org/officeDocument/2006/relationships" id="281" r:id="Rbc399d686ec446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5be1732aad4096" /><Relationship Type="http://schemas.openxmlformats.org/officeDocument/2006/relationships/slideMaster" Target="/ppt/slideMasters/slideMaster1.xml" Id="R0b461bec5e084188" /><Relationship Type="http://schemas.openxmlformats.org/officeDocument/2006/relationships/notesMaster" Target="/ppt/notesMasters/notesMaster1.xml" Id="R55d889e7af574de4" /><Relationship Type="http://schemas.openxmlformats.org/officeDocument/2006/relationships/presProps" Target="/ppt/presProps.xml" Id="R5e81afe3ad414d47" /><Relationship Type="http://schemas.openxmlformats.org/officeDocument/2006/relationships/tableStyles" Target="/ppt/tableStyles.xml" Id="R9b5deb2e7d254891" /><Relationship Type="http://schemas.openxmlformats.org/officeDocument/2006/relationships/slide" Target="/ppt/slides/slide1.xml" Id="R2f54adf6f891413e" /><Relationship Type="http://schemas.openxmlformats.org/officeDocument/2006/relationships/slide" Target="/ppt/slides/slide2.xml" Id="R265953ebfe694c24" /><Relationship Type="http://schemas.openxmlformats.org/officeDocument/2006/relationships/slide" Target="/ppt/slides/slide3.xml" Id="R6af8983002814202" /><Relationship Type="http://schemas.openxmlformats.org/officeDocument/2006/relationships/slide" Target="/ppt/slides/slide4.xml" Id="Rfa729b7eff864c50" /><Relationship Type="http://schemas.openxmlformats.org/officeDocument/2006/relationships/slide" Target="/ppt/slides/slide5.xml" Id="Rdb7a370a697746f3" /><Relationship Type="http://schemas.openxmlformats.org/officeDocument/2006/relationships/slide" Target="/ppt/slides/slide6.xml" Id="Rb328b277d06141be" /><Relationship Type="http://schemas.openxmlformats.org/officeDocument/2006/relationships/slide" Target="/ppt/slides/slide7.xml" Id="Rab6d3ad07c264c76" /><Relationship Type="http://schemas.openxmlformats.org/officeDocument/2006/relationships/slide" Target="/ppt/slides/slide8.xml" Id="Rdd795315e3e94fc4" /><Relationship Type="http://schemas.openxmlformats.org/officeDocument/2006/relationships/slide" Target="/ppt/slides/slide9.xml" Id="R50195888e8824602" /><Relationship Type="http://schemas.openxmlformats.org/officeDocument/2006/relationships/slide" Target="/ppt/slides/slide10.xml" Id="R19c1842011a14304" /><Relationship Type="http://schemas.openxmlformats.org/officeDocument/2006/relationships/slide" Target="/ppt/slides/slide11.xml" Id="R4354305ce6024cc1" /><Relationship Type="http://schemas.openxmlformats.org/officeDocument/2006/relationships/slide" Target="/ppt/slides/slide12.xml" Id="R1cc82a9c48cc430e" /><Relationship Type="http://schemas.openxmlformats.org/officeDocument/2006/relationships/slide" Target="/ppt/slides/slide13.xml" Id="R20191cc53c8a4ec9" /><Relationship Type="http://schemas.openxmlformats.org/officeDocument/2006/relationships/slide" Target="/ppt/slides/slide14.xml" Id="Re10861f8cc414b3c" /><Relationship Type="http://schemas.openxmlformats.org/officeDocument/2006/relationships/slide" Target="/ppt/slides/slide15.xml" Id="Rb625de05b5804513" /><Relationship Type="http://schemas.openxmlformats.org/officeDocument/2006/relationships/slide" Target="/ppt/slides/slide16.xml" Id="Ra34f449417314602" /><Relationship Type="http://schemas.openxmlformats.org/officeDocument/2006/relationships/slide" Target="/ppt/slides/slide17.xml" Id="R75ed9124927a4b7e" /><Relationship Type="http://schemas.openxmlformats.org/officeDocument/2006/relationships/slide" Target="/ppt/slides/slide18.xml" Id="Reb6d9a6e522546ce" /><Relationship Type="http://schemas.openxmlformats.org/officeDocument/2006/relationships/slide" Target="/ppt/slides/slide19.xml" Id="Rc834c8a489bb4673" /><Relationship Type="http://schemas.openxmlformats.org/officeDocument/2006/relationships/slide" Target="/ppt/slides/slide20.xml" Id="Rffcf35d001004c6a" /><Relationship Type="http://schemas.openxmlformats.org/officeDocument/2006/relationships/slide" Target="/ppt/slides/slide21.xml" Id="Ra19d8247f9a540cc" /><Relationship Type="http://schemas.openxmlformats.org/officeDocument/2006/relationships/slide" Target="/ppt/slides/slide22.xml" Id="Rc7d0317e69134861" /><Relationship Type="http://schemas.openxmlformats.org/officeDocument/2006/relationships/slide" Target="/ppt/slides/slide23.xml" Id="R24c447a783d345d2" /><Relationship Type="http://schemas.openxmlformats.org/officeDocument/2006/relationships/slide" Target="/ppt/slides/slide24.xml" Id="R51a15774c700428e" /><Relationship Type="http://schemas.openxmlformats.org/officeDocument/2006/relationships/slide" Target="/ppt/slides/slide25.xml" Id="R90b9328c0d244a28" /><Relationship Type="http://schemas.openxmlformats.org/officeDocument/2006/relationships/slide" Target="/ppt/slides/slide26.xml" Id="Rbc399d686ec446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7de29a22eb4b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29aec000674949" /><Relationship Type="http://schemas.openxmlformats.org/officeDocument/2006/relationships/notesMaster" Target="/ppt/notesMasters/notesMaster1.xml" Id="R335b4266865d45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425372e6d94e16" /><Relationship Type="http://schemas.openxmlformats.org/officeDocument/2006/relationships/notesMaster" Target="/ppt/notesMasters/notesMaster1.xml" Id="Rf33c2697bc4548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ad461529aa4c4c" /><Relationship Type="http://schemas.openxmlformats.org/officeDocument/2006/relationships/notesMaster" Target="/ppt/notesMasters/notesMaster1.xml" Id="Rf634931a387540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497d661207443d" /><Relationship Type="http://schemas.openxmlformats.org/officeDocument/2006/relationships/notesMaster" Target="/ppt/notesMasters/notesMaster1.xml" Id="R1a37daec0af745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13ea8e7b594a6d" /><Relationship Type="http://schemas.openxmlformats.org/officeDocument/2006/relationships/notesMaster" Target="/ppt/notesMasters/notesMaster1.xml" Id="Rc15224e5889e4e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347f5280c948db" /><Relationship Type="http://schemas.openxmlformats.org/officeDocument/2006/relationships/notesMaster" Target="/ppt/notesMasters/notesMaster1.xml" Id="R76b57ed77ec048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d584c74d9a47cd" /><Relationship Type="http://schemas.openxmlformats.org/officeDocument/2006/relationships/notesMaster" Target="/ppt/notesMasters/notesMaster1.xml" Id="R4e136d7d71c444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c5777208374ecf" /><Relationship Type="http://schemas.openxmlformats.org/officeDocument/2006/relationships/notesMaster" Target="/ppt/notesMasters/notesMaster1.xml" Id="Rd56013e72d6b48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ac0b0098ef4c5f" /><Relationship Type="http://schemas.openxmlformats.org/officeDocument/2006/relationships/notesMaster" Target="/ppt/notesMasters/notesMaster1.xml" Id="R55335a26d90f47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d5864222614e2a" /><Relationship Type="http://schemas.openxmlformats.org/officeDocument/2006/relationships/notesMaster" Target="/ppt/notesMasters/notesMaster1.xml" Id="Re293b7d2ea194e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de530e2e28406e" /><Relationship Type="http://schemas.openxmlformats.org/officeDocument/2006/relationships/notesMaster" Target="/ppt/notesMasters/notesMaster1.xml" Id="R084067c350a44f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ef7a92a99b4c87" /><Relationship Type="http://schemas.openxmlformats.org/officeDocument/2006/relationships/notesMaster" Target="/ppt/notesMasters/notesMaster1.xml" Id="Rbea3c3306a7d41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d9f1533aa349d2" /><Relationship Type="http://schemas.openxmlformats.org/officeDocument/2006/relationships/notesMaster" Target="/ppt/notesMasters/notesMaster1.xml" Id="R57da6ccbd70447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c0821571ef4459" /><Relationship Type="http://schemas.openxmlformats.org/officeDocument/2006/relationships/notesMaster" Target="/ppt/notesMasters/notesMaster1.xml" Id="R30ebf5b4ff2343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e3bd7f9c184253" /><Relationship Type="http://schemas.openxmlformats.org/officeDocument/2006/relationships/notesMaster" Target="/ppt/notesMasters/notesMaster1.xml" Id="R6d266e8213614c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99df39fd0754495" /><Relationship Type="http://schemas.openxmlformats.org/officeDocument/2006/relationships/notesMaster" Target="/ppt/notesMasters/notesMaster1.xml" Id="Re8dd7498fce746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a32cf366d84f88" /><Relationship Type="http://schemas.openxmlformats.org/officeDocument/2006/relationships/notesMaster" Target="/ppt/notesMasters/notesMaster1.xml" Id="R0dc0e84404c546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8f4f24a7b84fde" /><Relationship Type="http://schemas.openxmlformats.org/officeDocument/2006/relationships/notesMaster" Target="/ppt/notesMasters/notesMaster1.xml" Id="R0a1b2cb4b79d477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89f1f0d0bd4473a" /><Relationship Type="http://schemas.openxmlformats.org/officeDocument/2006/relationships/notesMaster" Target="/ppt/notesMasters/notesMaster1.xml" Id="R810438d0c4e4498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df33b5181f4bef" /><Relationship Type="http://schemas.openxmlformats.org/officeDocument/2006/relationships/notesMaster" Target="/ppt/notesMasters/notesMaster1.xml" Id="R7642a9d7686c4aa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1303306bc9e4cf4" /><Relationship Type="http://schemas.openxmlformats.org/officeDocument/2006/relationships/notesMaster" Target="/ppt/notesMasters/notesMaster1.xml" Id="R350d2c8254e74df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b4378f912b44c7d" /><Relationship Type="http://schemas.openxmlformats.org/officeDocument/2006/relationships/notesMaster" Target="/ppt/notesMasters/notesMaster1.xml" Id="R80c16f61bf974a1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5203411172a470f" /><Relationship Type="http://schemas.openxmlformats.org/officeDocument/2006/relationships/notesMaster" Target="/ppt/notesMasters/notesMaster1.xml" Id="R968d6fafd73b4b9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73ca69c92304c4a" /><Relationship Type="http://schemas.openxmlformats.org/officeDocument/2006/relationships/notesMaster" Target="/ppt/notesMasters/notesMaster1.xml" Id="R52b7bbd302ae4bd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d80dabd9b854d09" /><Relationship Type="http://schemas.openxmlformats.org/officeDocument/2006/relationships/notesMaster" Target="/ppt/notesMasters/notesMaster1.xml" Id="R2caebbcf3b1e4d7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89da2197cac4cba" /><Relationship Type="http://schemas.openxmlformats.org/officeDocument/2006/relationships/notesMaster" Target="/ppt/notesMasters/notesMaster1.xml" Id="R41b3c1aff1ff40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 seconds.</a:t>
            </a:r>
          </a:p>
          <a:p xmlns:a="http://schemas.openxmlformats.org/drawingml/2006/main">
            <a:r>
              <a:t/>
            </a:r>
          </a:p>
          <a:p xmlns:a="http://schemas.openxmlformats.org/drawingml/2006/main">
            <a:r>
              <a:t>We address GPU image rotation and responsible HPC scaling. The appendix retains our full implementation, research and calculations.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Scaling a cluster increases both compute capacity and communication costs. Faster completion need not mean lower energy. The IEA estimates four hundred and eighty-five terawatt-hours of data-centre electricity in twenty twenty-five and projects nine hundred and fifty in twenty thirty. These are whole-sector figures, not one model’s footprint. The growth categories overlap and must not be added. Green AI emphasizes efficiency per useful outcome; water-footprint research adds place and time constraints. We propose measuring whole-job energy, carbon intensity and local cooling impacts, including tuning and failed runs. Hardware manufacture adds embodied impacts. Job-level equations, a faster-but-higher-energy example and research limits are in the appendix.</a:t>
            </a:r>
          </a:p>
          <a:p xmlns:a="http://schemas.openxmlformats.org/drawingml/2006/main">
            <a:r>
              <a:t/>
            </a:r>
          </a:p>
          <a:p xmlns:a="http://schemas.openxmlformats.org/drawingml/2006/main">
            <a:r>
              <a:t>[6] International Energy Agency, Key Questions on Energy and AI, executive summary, Apr. 16, 2026, CC BY 4.0, accessed Oct. 8, 2026.</a:t>
            </a:r>
          </a:p>
          <a:p xmlns:a="http://schemas.openxmlformats.org/drawingml/2006/main">
            <a:r>
              <a:t>https://www.iea.org/reports/key-questions-on-energy-and-ai/executive-summary</a:t>
            </a:r>
          </a:p>
          <a:p xmlns:a="http://schemas.openxmlformats.org/drawingml/2006/main">
            <a:r>
              <a:t/>
            </a:r>
          </a:p>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Distributed training exchanges gradients and stores checkpoints across workers, increasing the assets and replicas to protect. Zhu and colleagues show input reconstruction from exposed gradients in studied settings; this is not proof that every production collective leaks. Use least privilege, isolation, protected transport and storage, plus provenance, permissions, deletion and dual-use review with named owners. Fairness is a separate concern. Gallegos and colleagues distinguish evaluation metrics, datasets and mitigation stages. Large compute enables evaluation but does not guarantee representative data or fair outputs. Reserve evaluation compute for affected groups, choose harm-specific criteria, test disaggregated outcomes and reevaluate after mitigation. Encryption does not establish fairness, and HPC itself is not claimed to cause bias.</a:t>
            </a:r>
          </a:p>
          <a:p xmlns:a="http://schemas.openxmlformats.org/drawingml/2006/main">
            <a:r>
              <a:t/>
            </a:r>
          </a:p>
          <a:p xmlns:a="http://schemas.openxmlformats.org/drawingml/2006/main">
            <a:r>
              <a:t>[11] L. Zhu, Z. Liu, and S. Han, “Deep leakage from gradients,” arXiv:1906.08935v2, 2019.</a:t>
            </a:r>
          </a:p>
          <a:p xmlns:a="http://schemas.openxmlformats.org/drawingml/2006/main">
            <a:r>
              <a:t>https://arxiv.org/abs/1906.08935v2</a:t>
            </a:r>
          </a:p>
          <a:p xmlns:a="http://schemas.openxmlformats.org/drawingml/2006/main">
            <a:r>
              <a:t/>
            </a:r>
          </a:p>
          <a:p xmlns:a="http://schemas.openxmlformats.org/drawingml/2006/main">
            <a:r>
              <a:t>[12] I. O. Gallegos et al., “Bias and fairness in large language models: A survey,” Computational Linguistics, vol. 50, no. 3, pp. 1097–1179, 2024, doi: 10.1162/coli_a_00524.</a:t>
            </a:r>
          </a:p>
          <a:p xmlns:a="http://schemas.openxmlformats.org/drawingml/2006/main">
            <a:r>
              <a:t>https://aclanthology.org/2024.cl-3.8/</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Compute concentration affects who can train models and reproduce findings. Ahmed and Wahed examine historical institutional participation, while Strubell and colleagues examine costs of selected workloads; their scopes differ. NAIRR is a current US shared-resource response, but participation numbers do not prove worldwide equality. We propose published GPU-hour allocation rules, smaller-institution and replication capacity, training and appeals. Track waiting times and awards. Reserved access can reduce immediate utilization, so prevent resource starvation while balancing urgent work.</a:t>
            </a:r>
          </a:p>
          <a:p xmlns:a="http://schemas.openxmlformats.org/drawingml/2006/main">
            <a:r>
              <a:t/>
            </a:r>
          </a:p>
          <a:p xmlns:a="http://schemas.openxmlformats.org/drawingml/2006/main">
            <a:r>
              <a:t>[7] U.S. National Science Foundation, “NAIRR at 2 years: Advancing American artificial intelligence innovation and leadership,” Mar. 19, 2026, accessed Oct. 8, 2026.</a:t>
            </a:r>
          </a:p>
          <a:p xmlns:a="http://schemas.openxmlformats.org/drawingml/2006/main">
            <a:r>
              <a:t>https://www.nsf.gov/cise/updates/nairr-2-years-advancing-american-artificial-intelligence</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Our proposal combines OECD rights and accountability, NIST risk management, Green AI measurement and carbon-aware scheduling. Govern assigns ownership throughout. Map defines the use, stakeholders and alternatives. Measure records quality, energy, security and group harms. Manage approves, defers, reduces scale or redesigns. Shift flexible jobs toward lower-carbon windows only when deadlines, water constraints and equitable waiting limits remain satisfied. An accountable owner records exceptions; forecast uncertainty and urgent work can override deferral. This is an iterative proposed policy, not a certification.</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20 seconds.</a:t>
            </a:r>
          </a:p>
          <a:p xmlns:a="http://schemas.openxmlformats.org/drawingml/2006/main">
            <a:r>
              <a:t/>
            </a:r>
          </a:p>
          <a:p xmlns:a="http://schemas.openxmlformats.org/drawingml/2006/main">
            <a:r>
              <a:t>CUDA is promising for independent pixels, but performance needs measurement. Responsible HPC requires useful outcomes, protected data and equitable access. Next, compile and validate the rotation, then measure a real cluster job and revise decisions using evidence.</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NVIDIA, “Parallelism strategies guide,” Megatron Core, online documentation, accessed Oct. 8, 2026.</a:t>
            </a:r>
          </a:p>
          <a:p xmlns:a="http://schemas.openxmlformats.org/drawingml/2006/main">
            <a:r>
              <a:t>https://docs.nvidia.com/megatron-core/developer-guide/latest/user-guide/parallelism-guide.html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International Energy Agency, Key Questions on Energy and AI, executive summary, Apr. 16, 2026, CC BY 4.0, accessed Oct. 8, 2026.</a:t>
            </a:r>
          </a:p>
          <a:p xmlns:a="http://schemas.openxmlformats.org/drawingml/2006/main">
            <a:r>
              <a:t>https://www.iea.org/reports/key-questions-on-energy-and-ai/executive-summary</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L. Zhu, Z. Liu, and S. Han, “Deep leakage from gradients,” arXiv:1906.08935v2, 2019.</a:t>
            </a:r>
          </a:p>
          <a:p xmlns:a="http://schemas.openxmlformats.org/drawingml/2006/main">
            <a:r>
              <a:t>https://arxiv.org/abs/1906.08935v2</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I. O. Gallegos et al., “Bias and fairness in large language models: A survey,” Computational Linguistics, vol. 50, no. 3, pp. 1097–1179, 2024, doi: 10.1162/coli_a_00524.</a:t>
            </a:r>
          </a:p>
          <a:p xmlns:a="http://schemas.openxmlformats.org/drawingml/2006/main">
            <a:r>
              <a:t>https://aclanthology.org/2024.cl-3.8/</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U.S. National Science Foundation, “NAIRR at 2 years: Advancing American artificial intelligence innovation and leadership,” Mar. 19, 2026, accessed Oct. 8, 2026.</a:t>
            </a:r>
          </a:p>
          <a:p xmlns:a="http://schemas.openxmlformats.org/drawingml/2006/main">
            <a:r>
              <a:t>https://www.nsf.gov/cise/updates/nairr-2-years-advancing-american-artificial-intelligence</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U.S. National Science Foundation, “NAIRR at 2 years: Advancing American artificial intelligence innovation and leadership,” Mar. 19, 2026, accessed Oct. 8, 2026.</a:t>
            </a:r>
          </a:p>
          <a:p xmlns:a="http://schemas.openxmlformats.org/drawingml/2006/main">
            <a:r>
              <a:t>https://www.nsf.gov/cise/updates/nairr-2-years-advancing-american-artificial-intelligence</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NVIDIA, “Parallelism strategies guide,” Megatron Core, online documentation, accessed Oct. 8, 2026.</a:t>
            </a:r>
          </a:p>
          <a:p xmlns:a="http://schemas.openxmlformats.org/drawingml/2006/main">
            <a:r>
              <a:t>https://docs.nvidia.com/megatron-core/developer-guide/latest/user-guide/parallelism-guide.html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[11] L. Zhu, Z. Liu, and S. Han, “Deep leakage from gradients,” arXiv:1906.08935v2, 2019.</a:t>
            </a:r>
          </a:p>
          <a:p xmlns:a="http://schemas.openxmlformats.org/drawingml/2006/main">
            <a:r>
              <a:t>https://arxiv.org/abs/1906.08935v2</a:t>
            </a:r>
          </a:p>
          <a:p xmlns:a="http://schemas.openxmlformats.org/drawingml/2006/main">
            <a:r>
              <a:t/>
            </a:r>
          </a:p>
          <a:p xmlns:a="http://schemas.openxmlformats.org/drawingml/2006/main">
            <a:r>
              <a:t>[12] I. O. Gallegos et al., “Bias and fairness in large language models: A survey,” Computational Linguistics, vol. 50, no. 3, pp. 1097–1179, 2024, doi: 10.1162/coli_a_00524.</a:t>
            </a:r>
          </a:p>
          <a:p xmlns:a="http://schemas.openxmlformats.org/drawingml/2006/main">
            <a:r>
              <a:t>https://aclanthology.org/2024.cl-3.8/</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def2082fe449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fa4d5f60cb4a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a30f7163ab40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d172c6bea948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19efe986f84f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9b86d62f554e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3B5D64-8FA0-40E6-B1E6-0E364DB38F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723964-8222-414A-BDD0-2FF03AE8E45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91C003-A955-4C2C-BE30-D554BC49F6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0BE49E-1AFC-4168-A6A2-F695ADD9A1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00E3BF-EAD1-48AB-B09A-757A67CF348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F8F823-8F3F-41A5-A417-C7F4BF88FA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765EFC-BF88-465F-BC17-D18BF174FF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8FADB0-F42B-453E-B00A-F5E19FE806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3F50E7-AFA4-45B5-8358-BB22505165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0A6A36-3737-40D6-9F40-47D84C0F0A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12ac6aab044ced" /><Relationship Type="http://schemas.openxmlformats.org/officeDocument/2006/relationships/slideLayout" Target="/ppt/slideLayouts/slideLayout1.xml" Id="R2a9da07c90de47cc" /><Relationship Type="http://schemas.openxmlformats.org/officeDocument/2006/relationships/slideLayout" Target="/ppt/slideLayouts/slideLayout2.xml" Id="R189bab1cc4114973" /><Relationship Type="http://schemas.openxmlformats.org/officeDocument/2006/relationships/slideLayout" Target="/ppt/slideLayouts/slideLayout3.xml" Id="Ra4ad5bf7cffd4b19" /><Relationship Type="http://schemas.openxmlformats.org/officeDocument/2006/relationships/slideLayout" Target="/ppt/slideLayouts/slideLayout4.xml" Id="R5ceadde09a384d66" /><Relationship Type="http://schemas.openxmlformats.org/officeDocument/2006/relationships/slideLayout" Target="/ppt/slideLayouts/slideLayout5.xml" Id="Rb8681557896a4fd9" /><Relationship Type="http://schemas.openxmlformats.org/officeDocument/2006/relationships/slideLayout" Target="/ppt/slideLayouts/slideLayout6.xml" Id="R7876ad8be6704c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9da07c90de47cc"/>
    <p:sldLayoutId xmlns:r="http://schemas.openxmlformats.org/officeDocument/2006/relationships" id="2147483650" r:id="R189bab1cc4114973"/>
    <p:sldLayoutId xmlns:r="http://schemas.openxmlformats.org/officeDocument/2006/relationships" id="2147483651" r:id="Ra4ad5bf7cffd4b19"/>
    <p:sldLayoutId xmlns:r="http://schemas.openxmlformats.org/officeDocument/2006/relationships" id="2147483652" r:id="R5ceadde09a384d66"/>
    <p:sldLayoutId xmlns:r="http://schemas.openxmlformats.org/officeDocument/2006/relationships" id="2147483653" r:id="Rb8681557896a4fd9"/>
    <p:sldLayoutId xmlns:r="http://schemas.openxmlformats.org/officeDocument/2006/relationships" id="2147483654" r:id="R7876ad8be6704c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4ae6e896348450a" /><Relationship Type="http://schemas.openxmlformats.org/officeDocument/2006/relationships/notesSlide" Target="/ppt/notesSlides/notesSlide1.xml" Id="R61cd104807804d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5f2254c5b54190" /><Relationship Type="http://schemas.openxmlformats.org/officeDocument/2006/relationships/chart" Target="/ppt/slides/charts/chart1.xml" Id="R913cb4ff3d6d4b4b" /><Relationship Type="http://schemas.openxmlformats.org/officeDocument/2006/relationships/chart" Target="/ppt/slides/charts/chart2.xml" Id="Rc91467adddf34aa5" /><Relationship Type="http://schemas.openxmlformats.org/officeDocument/2006/relationships/notesSlide" Target="/ppt/notesSlides/notesSlide2.xml" Id="R7f035bca19be44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599a40e73344e5" /><Relationship Type="http://schemas.openxmlformats.org/officeDocument/2006/relationships/notesSlide" Target="/ppt/notesSlides/notesSlide3.xml" Id="R99fe55024a2b46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c16f78ca2c4d9a" /><Relationship Type="http://schemas.openxmlformats.org/officeDocument/2006/relationships/notesSlide" Target="/ppt/notesSlides/notesSlide4.xml" Id="R428c7c7e4ba24e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36a08364264082" /><Relationship Type="http://schemas.openxmlformats.org/officeDocument/2006/relationships/notesSlide" Target="/ppt/notesSlides/notesSlide5.xml" Id="R1837440a1c6e44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7d48a3217444fc" /><Relationship Type="http://schemas.openxmlformats.org/officeDocument/2006/relationships/notesSlide" Target="/ppt/notesSlides/notesSlide6.xml" Id="Re8da5e567a264f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dd965019551462f" /><Relationship Type="http://schemas.openxmlformats.org/officeDocument/2006/relationships/notesSlide" Target="/ppt/notesSlides/notesSlide7.xml" Id="Rad633b227f3842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d9f570c3674413" /><Relationship Type="http://schemas.openxmlformats.org/officeDocument/2006/relationships/notesSlide" Target="/ppt/notesSlides/notesSlide8.xml" Id="Rc223b8cc1ed547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38caf5a6814a3a" /><Relationship Type="http://schemas.openxmlformats.org/officeDocument/2006/relationships/notesSlide" Target="/ppt/notesSlides/notesSlide9.xml" Id="R04a3f182177344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89b9106609d4228" /><Relationship Type="http://schemas.openxmlformats.org/officeDocument/2006/relationships/notesSlide" Target="/ppt/notesSlides/notesSlide10.xml" Id="R02f950471c534e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23a806493594b32" /><Relationship Type="http://schemas.openxmlformats.org/officeDocument/2006/relationships/notesSlide" Target="/ppt/notesSlides/notesSlide11.xml" Id="R8ca8828491ab42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548d9e325ec44b5" /><Relationship Type="http://schemas.openxmlformats.org/officeDocument/2006/relationships/notesSlide" Target="/ppt/notesSlides/notesSlide12.xml" Id="Rdb2e736f8b7b4d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7bf9d7638df4e8d" /><Relationship Type="http://schemas.openxmlformats.org/officeDocument/2006/relationships/notesSlide" Target="/ppt/notesSlides/notesSlide13.xml" Id="R4f95d1fc52d14e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9e9e4700e134502" /><Relationship Type="http://schemas.openxmlformats.org/officeDocument/2006/relationships/notesSlide" Target="/ppt/notesSlides/notesSlide14.xml" Id="Rbad2e03858634c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9654d01ba6e4e78" /><Relationship Type="http://schemas.openxmlformats.org/officeDocument/2006/relationships/notesSlide" Target="/ppt/notesSlides/notesSlide15.xml" Id="R9d72a8386a55412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e1ad3db50db4544" /><Relationship Type="http://schemas.openxmlformats.org/officeDocument/2006/relationships/notesSlide" Target="/ppt/notesSlides/notesSlide16.xml" Id="R4f0d90f969d549c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597bbd241684cce" /><Relationship Type="http://schemas.openxmlformats.org/officeDocument/2006/relationships/notesSlide" Target="/ppt/notesSlides/notesSlide17.xml" Id="Rf8ef082505a74c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7a00fcc92494332" /><Relationship Type="http://schemas.openxmlformats.org/officeDocument/2006/relationships/notesSlide" Target="/ppt/notesSlides/notesSlide18.xml" Id="R0268a59ed95949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3338dc785a4971" /><Relationship Type="http://schemas.openxmlformats.org/officeDocument/2006/relationships/notesSlide" Target="/ppt/notesSlides/notesSlide19.xml" Id="Ra8f9f1d579564c9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d3796ba546f4152" /><Relationship Type="http://schemas.openxmlformats.org/officeDocument/2006/relationships/notesSlide" Target="/ppt/notesSlides/notesSlide20.xml" Id="R06d02258c776469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b10520515ed48a9" /><Relationship Type="http://schemas.openxmlformats.org/officeDocument/2006/relationships/notesSlide" Target="/ppt/notesSlides/notesSlide21.xml" Id="R62cb64b2938e454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a5d87f8832d478f" /><Relationship Type="http://schemas.openxmlformats.org/officeDocument/2006/relationships/hyperlink" Target="https://docs.nvidia.com/cuda/cuda-c-best-practices-guide/index.html" TargetMode="External" Id="Re3c96b4e7f624111" /><Relationship Type="http://schemas.openxmlformats.org/officeDocument/2006/relationships/hyperlink" Target="https://docs.nvidia.com/gpudirect-storage/overview-guide/index.html" TargetMode="External" Id="R857aa2911e0a4d9c" /><Relationship Type="http://schemas.openxmlformats.org/officeDocument/2006/relationships/hyperlink" Target="https://docs.nvidia.com/gpudirect-storage/design-guide/index.html" TargetMode="External" Id="Rb9e2a319a6e544a2" /><Relationship Type="http://schemas.openxmlformats.org/officeDocument/2006/relationships/hyperlink" Target="https://docs.nvidia.com/megatron-core/developer-guide/latest/user-guide/parallelism-guide.html" TargetMode="External" Id="R90b6ed3b833b4efe" /><Relationship Type="http://schemas.openxmlformats.org/officeDocument/2006/relationships/notesSlide" Target="/ppt/notesSlides/notesSlide22.xml" Id="R5bdfad0f3288475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9670390fbc444b2" /><Relationship Type="http://schemas.openxmlformats.org/officeDocument/2006/relationships/hyperlink" Target="https://www.iea.org/reports/key-questions-on-energy-and-ai/executive-summary" TargetMode="External" Id="Raec1980051094898" /><Relationship Type="http://schemas.openxmlformats.org/officeDocument/2006/relationships/hyperlink" Target="https://www.nsf.gov/cise/updates/nairr-2-years-advancing-american-artificial-intelligence" TargetMode="External" Id="R814f0c049fbe4748" /><Relationship Type="http://schemas.openxmlformats.org/officeDocument/2006/relationships/hyperlink" Target="https://aclanthology.org/P19-1355/" TargetMode="External" Id="R290905895cce471c" /><Relationship Type="http://schemas.openxmlformats.org/officeDocument/2006/relationships/hyperlink" Target="https://arxiv.org/abs/2304.03271v5" TargetMode="External" Id="R924d81f9e0254fa0" /><Relationship Type="http://schemas.openxmlformats.org/officeDocument/2006/relationships/notesSlide" Target="/ppt/notesSlides/notesSlide23.xml" Id="Rfecea9d3cd82480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9bb9c436a9140f3" /><Relationship Type="http://schemas.openxmlformats.org/officeDocument/2006/relationships/hyperlink" Target="https://arxiv.org/abs/1907.10597" TargetMode="External" Id="Rae3ced1f23a442b5" /><Relationship Type="http://schemas.openxmlformats.org/officeDocument/2006/relationships/hyperlink" Target="https://arxiv.org/abs/1906.08935v2" TargetMode="External" Id="R772eec7b55ac49ba" /><Relationship Type="http://schemas.openxmlformats.org/officeDocument/2006/relationships/hyperlink" Target="https://aclanthology.org/2024.cl-3.8/" TargetMode="External" Id="R0cfa465bff564cdc" /><Relationship Type="http://schemas.openxmlformats.org/officeDocument/2006/relationships/hyperlink" Target="https://arxiv.org/abs/2010.15581v1" TargetMode="External" Id="Rda4a13cc3b634fad" /><Relationship Type="http://schemas.openxmlformats.org/officeDocument/2006/relationships/notesSlide" Target="/ppt/notesSlides/notesSlide24.xml" Id="R9edb2466adf2435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7ab358ab0754268" /><Relationship Type="http://schemas.openxmlformats.org/officeDocument/2006/relationships/hyperlink" Target="https://arxiv.org/abs/2106.11750v1" TargetMode="External" Id="R8f9e07c2de3246f8" /><Relationship Type="http://schemas.openxmlformats.org/officeDocument/2006/relationships/hyperlink" Target="https://www.oecd.org/en/topics/ai-principles.html" TargetMode="External" Id="Rb42de1061ffc48b2" /><Relationship Type="http://schemas.openxmlformats.org/officeDocument/2006/relationships/hyperlink" Target="https://airc.nist.gov/airmf-resources/playbook/" TargetMode="External" Id="R888c68918ffc4df6" /><Relationship Type="http://schemas.openxmlformats.org/officeDocument/2006/relationships/notesSlide" Target="/ppt/notesSlides/notesSlide25.xml" Id="R503b2aa73b0b460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d07fa4184f0494d" /><Relationship Type="http://schemas.openxmlformats.org/officeDocument/2006/relationships/notesSlide" Target="/ppt/notesSlides/notesSlide26.xml" Id="R62cb863b916e479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Electricity (TWh)</c:v>
          </c:tx>
          <c:spPr>
            <a:solidFill xmlns:a="http://schemas.openxmlformats.org/drawingml/2006/main">
              <a:srgbClr val="007B83"/>
            </a:solidFill>
          </c:spPr>
          <c:cat>
            <c:strRef>
              <c:f>'Chart Data'!$A$2:$A$3</c:f>
              <c:strCache>
                <c:ptCount val="2"/>
                <c:pt idx="0">
                  <c:v>2025 estimate</c:v>
                </c:pt>
                <c:pt idx="1">
                  <c:v>2030 projection</c:v>
                </c:pt>
              </c:strCache>
            </c:strRef>
          </c:cat>
          <c:val>
            <c:numRef>
              <c:f>'Chart Data'!$B$2:$B$3</c:f>
              <c:numCache>
                <c:formatCode>0</c:formatCode>
                <c:ptCount val="2"/>
                <c:pt idx="0">
                  <c:v>485</c:v>
                </c:pt>
                <c:pt idx="1">
                  <c:v>950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42D45"/>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a:solidFill>
              <a:srgbClr val="CBD5DC"/>
            </a:solidFill>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BD5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2025 growth</c:v>
          </c:tx>
          <c:spPr>
            <a:solidFill xmlns:a="http://schemas.openxmlformats.org/drawingml/2006/main">
              <a:srgbClr val="B55E24"/>
            </a:solidFill>
          </c:spPr>
          <c:cat>
            <c:strRef>
              <c:f>'Chart Data'!$A$2:$A$3</c:f>
              <c:strCache>
                <c:ptCount val="2"/>
                <c:pt idx="0">
                  <c:v>All data centres</c:v>
                </c:pt>
                <c:pt idx="1">
                  <c:v>AI-focused subset</c:v>
                </c:pt>
              </c:strCache>
            </c:strRef>
          </c:cat>
          <c:val>
            <c:numRef>
              <c:f>'Chart Data'!$B$2:$B$3</c:f>
              <c:numCache>
                <c:formatCode>0%</c:formatCode>
                <c:ptCount val="2"/>
                <c:pt idx="0">
                  <c:v>0.17</c:v>
                </c:pt>
                <c:pt idx="1">
                  <c:v>0.5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42D45"/>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a:solidFill>
              <a:srgbClr val="CBD5DC"/>
            </a:solidFill>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BD5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45"/>
        </a:solidFill>
      </p:bgPr>
    </p:bg>
    <p:spTree>
      <p:nvGrpSpPr>
        <p:cNvPr id="1" name=""/>
        <p:cNvGrpSpPr/>
        <p:nvPr/>
      </p:nvGrpSpPr>
      <p:grpSpPr>
        <a:xfrm xmlns:a="http://schemas.openxmlformats.org/drawingml/2006/main"/>
      </p:grpSpPr>
      <p:sp>
        <p:nvSpPr>
          <p:cNvPr id="10" name="FIT3143 • Applied 2 • Task 2">
            <a:extLst xmlns:a="http://schemas.openxmlformats.org/drawingml/2006/main">
              <a:ext uri="{FF2B5EF4-FFF2-40B4-BE49-F238E27FC236}">
                <a16:creationId xmlns:a16="http://schemas.microsoft.com/office/drawing/2014/main" id="{BF7F4E25-DC78-4986-8FAD-BE02BF1789D3}"/>
              </a:ext>
            </a:extLst>
          </p:cNvPr>
          <p:cNvSpPr>
            <a:spLocks xmlns:a="http://schemas.openxmlformats.org/drawingml/2006/main" noGrp="1"/>
          </p:cNvSpPr>
          <p:nvPr/>
        </p:nvSpPr>
        <p:spPr>
          <a:xfrm xmlns:a="http://schemas.openxmlformats.org/drawingml/2006/main">
            <a:off x="609600" y="619125"/>
            <a:ext cx="108585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8CD7D5"/>
                </a:solidFill>
                <a:latin typeface="Arial"/>
                <a:ea typeface="Arial"/>
                <a:cs typeface="Arial"/>
              </a:defRPr>
            </a:defPPr>
          </a:lstStyle>
          <a:p xmlns:a="http://schemas.openxmlformats.org/drawingml/2006/main">
            <a:pPr algn="l">
              <a:defRPr sz="1500" b="1">
                <a:solidFill>
                  <a:srgbClr val="8CD7D5"/>
                </a:solidFill>
                <a:latin typeface="Arial"/>
                <a:ea typeface="Arial"/>
                <a:cs typeface="Arial"/>
              </a:defRPr>
            </a:pPr>
            <a:r>
              <a:rPr sz="1500" b="1">
                <a:solidFill>
                  <a:srgbClr val="8CD7D5"/>
                </a:solidFill>
                <a:latin typeface="Arial"/>
                <a:ea typeface="Arial"/>
                <a:cs typeface="Arial"/>
              </a:rPr>
              <a:t>FIT3143 • Applied 2 • Task 2</a:t>
            </a:r>
          </a:p>
        </p:txBody>
      </p:sp>
      <p:sp>
        <p:nvSpPr>
          <p:cNvPr id="2" name="Responsible HPC for AI">
            <a:extLst xmlns:a="http://schemas.openxmlformats.org/drawingml/2006/main">
              <a:ext uri="{FF2B5EF4-FFF2-40B4-BE49-F238E27FC236}">
                <a16:creationId xmlns:a16="http://schemas.microsoft.com/office/drawing/2014/main" id="{E5E0B99F-345A-446D-8792-BC503EA2E43C}"/>
              </a:ext>
            </a:extLst>
          </p:cNvPr>
          <p:cNvSpPr>
            <a:spLocks xmlns:a="http://schemas.openxmlformats.org/drawingml/2006/main" noGrp="1"/>
          </p:cNvSpPr>
          <p:nvPr/>
        </p:nvSpPr>
        <p:spPr>
          <a:xfrm xmlns:a="http://schemas.openxmlformats.org/drawingml/2006/main">
            <a:off x="609600" y="1562100"/>
            <a:ext cx="1085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FFFFF"/>
                </a:solidFill>
                <a:latin typeface="Arial"/>
                <a:ea typeface="Arial"/>
                <a:cs typeface="Arial"/>
              </a:defRPr>
            </a:defPPr>
          </a:lstStyle>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Responsible HPC for AI</a:t>
            </a:r>
          </a:p>
        </p:txBody>
      </p:sp>
      <p:sp>
        <p:nvSpPr>
          <p:cNvPr id="3" name="CUDA design and performance • Evidence, trade-offs and ">
            <a:extLst xmlns:a="http://schemas.openxmlformats.org/drawingml/2006/main">
              <a:ext uri="{FF2B5EF4-FFF2-40B4-BE49-F238E27FC236}">
                <a16:creationId xmlns:a16="http://schemas.microsoft.com/office/drawing/2014/main" id="{094C8AC9-D75E-41BA-BA7B-EC77C5A67D0D}"/>
              </a:ext>
            </a:extLst>
          </p:cNvPr>
          <p:cNvSpPr>
            <a:spLocks xmlns:a="http://schemas.openxmlformats.org/drawingml/2006/main" noGrp="1"/>
          </p:cNvSpPr>
          <p:nvPr/>
        </p:nvSpPr>
        <p:spPr>
          <a:xfrm xmlns:a="http://schemas.openxmlformats.org/drawingml/2006/main">
            <a:off x="609600" y="320992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CDCE4"/>
                </a:solidFill>
                <a:latin typeface="Arial"/>
                <a:ea typeface="Arial"/>
                <a:cs typeface="Arial"/>
              </a:defRPr>
            </a:defPPr>
          </a:lstStyle>
          <a:p xmlns:a="http://schemas.openxmlformats.org/drawingml/2006/main">
            <a:pPr algn="l">
              <a:defRPr sz="1950" b="0">
                <a:solidFill>
                  <a:srgbClr val="CCDCE4"/>
                </a:solidFill>
                <a:latin typeface="Arial"/>
                <a:ea typeface="Arial"/>
                <a:cs typeface="Arial"/>
              </a:defRPr>
            </a:pPr>
            <a:r>
              <a:rPr sz="1950" b="0">
                <a:solidFill>
                  <a:srgbClr val="CCDCE4"/>
                </a:solidFill>
                <a:latin typeface="Arial"/>
                <a:ea typeface="Arial"/>
                <a:cs typeface="Arial"/>
              </a:rPr>
              <a:t>CUDA design and performance • Evidence, trade-offs and accountable use</a:t>
            </a:r>
          </a:p>
        </p:txBody>
      </p:sp>
      <p:sp>
        <p:nvSpPr>
          <p:cNvPr id="4" name="">
            <a:extLst xmlns:a="http://schemas.openxmlformats.org/drawingml/2006/main">
              <a:ext uri="{FF2B5EF4-FFF2-40B4-BE49-F238E27FC236}">
                <a16:creationId xmlns:a16="http://schemas.microsoft.com/office/drawing/2014/main" id="{A5EE0985-B0EA-4762-82F4-92C447CCB2A9}"/>
              </a:ext>
            </a:extLst>
          </p:cNvPr>
          <p:cNvSpPr>
            <a:spLocks xmlns:a="http://schemas.openxmlformats.org/drawingml/2006/main" noGrp="1"/>
          </p:cNvSpPr>
          <p:nvPr/>
        </p:nvSpPr>
        <p:spPr>
          <a:xfrm xmlns:a="http://schemas.openxmlformats.org/drawingml/2006/main">
            <a:off x="609600" y="4095750"/>
            <a:ext cx="10972800" cy="0"/>
          </a:xfrm>
          <a:prstGeom xmlns:a="http://schemas.openxmlformats.org/drawingml/2006/main" prst="line">
            <a:avLst/>
          </a:prstGeom>
          <a:noFill xmlns:a="http://schemas.openxmlformats.org/drawingml/2006/main"/>
          <a:ln xmlns:a="http://schemas.openxmlformats.org/drawingml/2006/main" w="9525">
            <a:solidFill>
              <a:srgbClr val="577082"/>
            </a:solidFill>
            <a:prstDash val="solid"/>
          </a:ln>
        </p:spPr>
      </p:sp>
      <p:sp>
        <p:nvSpPr>
          <p:cNvPr id="5" name="Savin Vindiv De Alwis  ·  35221631">
            <a:extLst xmlns:a="http://schemas.openxmlformats.org/drawingml/2006/main">
              <a:ext uri="{FF2B5EF4-FFF2-40B4-BE49-F238E27FC236}">
                <a16:creationId xmlns:a16="http://schemas.microsoft.com/office/drawing/2014/main" id="{3C197879-E4AD-4F50-ADA2-59AF5BA6F042}"/>
              </a:ext>
            </a:extLst>
          </p:cNvPr>
          <p:cNvSpPr>
            <a:spLocks xmlns:a="http://schemas.openxmlformats.org/drawingml/2006/main" noGrp="1"/>
          </p:cNvSpPr>
          <p:nvPr/>
        </p:nvSpPr>
        <p:spPr>
          <a:xfrm xmlns:a="http://schemas.openxmlformats.org/drawingml/2006/main">
            <a:off x="609600" y="442912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Savin Vindiv De Alwis · 35221631</a:t>
            </a:r>
          </a:p>
        </p:txBody>
      </p:sp>
      <p:sp>
        <p:nvSpPr>
          <p:cNvPr id="6" name="sdea0018@student.monash.edu">
            <a:extLst xmlns:a="http://schemas.openxmlformats.org/drawingml/2006/main">
              <a:ext uri="{FF2B5EF4-FFF2-40B4-BE49-F238E27FC236}">
                <a16:creationId xmlns:a16="http://schemas.microsoft.com/office/drawing/2014/main" id="{23002DD8-BB49-463E-8058-33A5893F4EE0}"/>
              </a:ext>
            </a:extLst>
          </p:cNvPr>
          <p:cNvSpPr>
            <a:spLocks xmlns:a="http://schemas.openxmlformats.org/drawingml/2006/main" noGrp="1"/>
          </p:cNvSpPr>
          <p:nvPr/>
        </p:nvSpPr>
        <p:spPr>
          <a:xfrm xmlns:a="http://schemas.openxmlformats.org/drawingml/2006/main">
            <a:off x="609600" y="4772025"/>
            <a:ext cx="108585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D9E3"/>
                </a:solidFill>
                <a:latin typeface="Arial"/>
                <a:ea typeface="Arial"/>
                <a:cs typeface="Arial"/>
              </a:defRPr>
            </a:defPPr>
          </a:lstStyle>
          <a:p xmlns:a="http://schemas.openxmlformats.org/drawingml/2006/main">
            <a:pPr algn="l">
              <a:defRPr sz="1650" b="0">
                <a:solidFill>
                  <a:srgbClr val="C8D9E3"/>
                </a:solidFill>
                <a:latin typeface="Arial"/>
                <a:ea typeface="Arial"/>
                <a:cs typeface="Arial"/>
              </a:defRPr>
            </a:pPr>
            <a:r>
              <a:rPr sz="1650" b="0">
                <a:solidFill>
                  <a:srgbClr val="C8D9E3"/>
                </a:solidFill>
                <a:latin typeface="Arial"/>
                <a:ea typeface="Arial"/>
                <a:cs typeface="Arial"/>
              </a:rPr>
              <a:t>sdea0018@student.monash.edu</a:t>
            </a:r>
          </a:p>
        </p:txBody>
      </p:sp>
      <p:sp>
        <p:nvSpPr>
          <p:cNvPr id="7" name="Shamle Thilaksiri  ·  35512075">
            <a:extLst xmlns:a="http://schemas.openxmlformats.org/drawingml/2006/main">
              <a:ext uri="{FF2B5EF4-FFF2-40B4-BE49-F238E27FC236}">
                <a16:creationId xmlns:a16="http://schemas.microsoft.com/office/drawing/2014/main" id="{9AB7D824-516F-4D3B-915A-34AAC541F8B9}"/>
              </a:ext>
            </a:extLst>
          </p:cNvPr>
          <p:cNvSpPr>
            <a:spLocks xmlns:a="http://schemas.openxmlformats.org/drawingml/2006/main" noGrp="1"/>
          </p:cNvSpPr>
          <p:nvPr/>
        </p:nvSpPr>
        <p:spPr>
          <a:xfrm xmlns:a="http://schemas.openxmlformats.org/drawingml/2006/main">
            <a:off x="609600" y="521017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Shamle Thilaksiri · 35512075</a:t>
            </a:r>
          </a:p>
        </p:txBody>
      </p:sp>
      <p:sp>
        <p:nvSpPr>
          <p:cNvPr id="8" name="wthi0003@student.monash.edu">
            <a:extLst xmlns:a="http://schemas.openxmlformats.org/drawingml/2006/main">
              <a:ext uri="{FF2B5EF4-FFF2-40B4-BE49-F238E27FC236}">
                <a16:creationId xmlns:a16="http://schemas.microsoft.com/office/drawing/2014/main" id="{5DBE180E-4882-4177-9AD8-163B9989EF7F}"/>
              </a:ext>
            </a:extLst>
          </p:cNvPr>
          <p:cNvSpPr>
            <a:spLocks xmlns:a="http://schemas.openxmlformats.org/drawingml/2006/main" noGrp="1"/>
          </p:cNvSpPr>
          <p:nvPr/>
        </p:nvSpPr>
        <p:spPr>
          <a:xfrm xmlns:a="http://schemas.openxmlformats.org/drawingml/2006/main">
            <a:off x="609600" y="5553075"/>
            <a:ext cx="108585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D9E3"/>
                </a:solidFill>
                <a:latin typeface="Arial"/>
                <a:ea typeface="Arial"/>
                <a:cs typeface="Arial"/>
              </a:defRPr>
            </a:defPPr>
          </a:lstStyle>
          <a:p xmlns:a="http://schemas.openxmlformats.org/drawingml/2006/main">
            <a:pPr algn="l">
              <a:defRPr sz="1650" b="0">
                <a:solidFill>
                  <a:srgbClr val="C8D9E3"/>
                </a:solidFill>
                <a:latin typeface="Arial"/>
                <a:ea typeface="Arial"/>
                <a:cs typeface="Arial"/>
              </a:defRPr>
            </a:pPr>
            <a:r>
              <a:rPr sz="1650" b="0">
                <a:solidFill>
                  <a:srgbClr val="C8D9E3"/>
                </a:solidFill>
                <a:latin typeface="Arial"/>
                <a:ea typeface="Arial"/>
                <a:cs typeface="Arial"/>
              </a:rPr>
              <a:t>wthi0003@student.monash.edu</a:t>
            </a:r>
          </a:p>
        </p:txBody>
      </p:sp>
      <p:sp>
        <p:nvSpPr>
          <p:cNvPr id="9" name="8 October 2026  •  Focused answers first; full implemen">
            <a:extLst xmlns:a="http://schemas.openxmlformats.org/drawingml/2006/main">
              <a:ext uri="{FF2B5EF4-FFF2-40B4-BE49-F238E27FC236}">
                <a16:creationId xmlns:a16="http://schemas.microsoft.com/office/drawing/2014/main" id="{DCFE7DDC-CFB6-4F67-A5AC-BC8350B5EC97}"/>
              </a:ext>
            </a:extLst>
          </p:cNvPr>
          <p:cNvSpPr>
            <a:spLocks xmlns:a="http://schemas.openxmlformats.org/drawingml/2006/main" noGrp="1"/>
          </p:cNvSpPr>
          <p:nvPr/>
        </p:nvSpPr>
        <p:spPr>
          <a:xfrm xmlns:a="http://schemas.openxmlformats.org/drawingml/2006/main">
            <a:off x="609600" y="6391275"/>
            <a:ext cx="10858500" cy="2152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C8D9E3"/>
                </a:solidFill>
                <a:latin typeface="Arial"/>
                <a:ea typeface="Arial"/>
                <a:cs typeface="Arial"/>
              </a:defRPr>
            </a:defPPr>
          </a:lstStyle>
          <a:p xmlns:a="http://schemas.openxmlformats.org/drawingml/2006/main">
            <a:pPr algn="l">
              <a:defRPr sz="1125" b="0">
                <a:solidFill>
                  <a:srgbClr val="C8D9E3"/>
                </a:solidFill>
                <a:latin typeface="Arial"/>
                <a:ea typeface="Arial"/>
                <a:cs typeface="Arial"/>
              </a:defRPr>
            </a:pPr>
            <a:r>
              <a:rPr sz="1125" b="0">
                <a:solidFill>
                  <a:srgbClr val="C8D9E3"/>
                </a:solidFill>
                <a:latin typeface="Arial"/>
                <a:ea typeface="Arial"/>
                <a:cs typeface="Arial"/>
              </a:rPr>
              <a:t>8 October 2026 • Focused answers first; full implementation and evidence in the appendix</a:t>
            </a:r>
          </a:p>
        </p:txBody>
      </p:sp>
    </p:spTree>
    <p:extLst>
      <p:ext uri="{BB962C8B-B14F-4D97-AF65-F5344CB8AC3E}">
        <p14:creationId xmlns:p14="http://schemas.microsoft.com/office/powerpoint/2010/main" val="478607587"/>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Task 2(a)">
            <a:extLst xmlns:a="http://schemas.openxmlformats.org/drawingml/2006/main">
              <a:ext uri="{FF2B5EF4-FFF2-40B4-BE49-F238E27FC236}">
                <a16:creationId xmlns:a16="http://schemas.microsoft.com/office/drawing/2014/main" id="{29543B77-330A-4FF9-8A5E-C3438E20CF0A}"/>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2(a)</a:t>
            </a:r>
          </a:p>
        </p:txBody>
      </p:sp>
      <p:sp>
        <p:nvSpPr>
          <p:cNvPr id="2" name="Electricity demand and environmental costs">
            <a:extLst xmlns:a="http://schemas.openxmlformats.org/drawingml/2006/main">
              <a:ext uri="{FF2B5EF4-FFF2-40B4-BE49-F238E27FC236}">
                <a16:creationId xmlns:a16="http://schemas.microsoft.com/office/drawing/2014/main" id="{D33F1334-6A20-493F-96D9-9D699A8F8805}"/>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Electricity demand and environmental costs</a:t>
            </a:r>
          </a:p>
        </p:txBody>
      </p:sp>
      <p:sp>
        <p:nvSpPr>
          <p:cNvPr id="3" name="Global data-centre electricity (TWh/year)">
            <a:extLst xmlns:a="http://schemas.openxmlformats.org/drawingml/2006/main">
              <a:ext uri="{FF2B5EF4-FFF2-40B4-BE49-F238E27FC236}">
                <a16:creationId xmlns:a16="http://schemas.microsoft.com/office/drawing/2014/main" id="{149F613A-2AA2-4463-AC6C-44ADDDF52C67}"/>
              </a:ext>
            </a:extLst>
          </p:cNvPr>
          <p:cNvSpPr>
            <a:spLocks xmlns:a="http://schemas.openxmlformats.org/drawingml/2006/main" noGrp="1"/>
          </p:cNvSpPr>
          <p:nvPr/>
        </p:nvSpPr>
        <p:spPr>
          <a:xfrm xmlns:a="http://schemas.openxmlformats.org/drawingml/2006/main">
            <a:off x="609600" y="1438275"/>
            <a:ext cx="5257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D45"/>
                </a:solidFill>
                <a:latin typeface="Arial"/>
                <a:ea typeface="Arial"/>
                <a:cs typeface="Arial"/>
              </a:defRPr>
            </a:defPPr>
          </a:lstStyle>
          <a:p xmlns:a="http://schemas.openxmlformats.org/drawingml/2006/main">
            <a:pPr algn="l">
              <a:defRPr sz="1725" b="1">
                <a:solidFill>
                  <a:srgbClr val="142D45"/>
                </a:solidFill>
                <a:latin typeface="Arial"/>
                <a:ea typeface="Arial"/>
                <a:cs typeface="Arial"/>
              </a:defRPr>
            </a:pPr>
            <a:r>
              <a:rPr sz="1725" b="1">
                <a:solidFill>
                  <a:srgbClr val="142D45"/>
                </a:solidFill>
                <a:latin typeface="Arial"/>
                <a:ea typeface="Arial"/>
                <a:cs typeface="Arial"/>
              </a:rPr>
              <a:t>Global data-centre electricity (TWh/year)</a:t>
            </a:r>
          </a:p>
        </p:txBody>
      </p:sp>
      <p:sp>
        <p:nvSpPr>
          <p:cNvPr id="4" name="Electricity growth during 2025">
            <a:extLst xmlns:a="http://schemas.openxmlformats.org/drawingml/2006/main">
              <a:ext uri="{FF2B5EF4-FFF2-40B4-BE49-F238E27FC236}">
                <a16:creationId xmlns:a16="http://schemas.microsoft.com/office/drawing/2014/main" id="{A382C5BC-DF33-445F-BBF2-8BA9ACE287E4}"/>
              </a:ext>
            </a:extLst>
          </p:cNvPr>
          <p:cNvSpPr>
            <a:spLocks xmlns:a="http://schemas.openxmlformats.org/drawingml/2006/main" noGrp="1"/>
          </p:cNvSpPr>
          <p:nvPr/>
        </p:nvSpPr>
        <p:spPr>
          <a:xfrm xmlns:a="http://schemas.openxmlformats.org/drawingml/2006/main">
            <a:off x="6324600" y="1438275"/>
            <a:ext cx="5257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D45"/>
                </a:solidFill>
                <a:latin typeface="Arial"/>
                <a:ea typeface="Arial"/>
                <a:cs typeface="Arial"/>
              </a:defRPr>
            </a:defPPr>
          </a:lstStyle>
          <a:p xmlns:a="http://schemas.openxmlformats.org/drawingml/2006/main">
            <a:pPr algn="l">
              <a:defRPr sz="1725" b="1">
                <a:solidFill>
                  <a:srgbClr val="142D45"/>
                </a:solidFill>
                <a:latin typeface="Arial"/>
                <a:ea typeface="Arial"/>
                <a:cs typeface="Arial"/>
              </a:defRPr>
            </a:pPr>
            <a:r>
              <a:rPr sz="1725" b="1">
                <a:solidFill>
                  <a:srgbClr val="142D45"/>
                </a:solidFill>
                <a:latin typeface="Arial"/>
                <a:ea typeface="Arial"/>
                <a:cs typeface="Arial"/>
              </a:rPr>
              <a:t>Electricity growth during 2025</a:t>
            </a:r>
          </a:p>
        </p:txBody>
      </p:sp>
      <p:graphicFrame>
        <p:nvGraphicFramePr>
          <p:cNvPr id="5" name="Chart">
            <a:extLst xmlns:a="http://schemas.openxmlformats.org/drawingml/2006/main">
              <a:ext uri="{FF2B5EF4-FFF2-40B4-BE49-F238E27FC236}">
                <a16:creationId xmlns:a16="http://schemas.microsoft.com/office/drawing/2014/main" id="{E5179D7C-A4F4-4A06-8ADD-DFF07D7E44C2}"/>
              </a:ext>
            </a:extLst>
          </p:cNvPr>
          <p:cNvGraphicFramePr/>
          <p:nvPr/>
        </p:nvGraphicFramePr>
        <p:xfrm>
          <a:off xmlns:a="http://schemas.openxmlformats.org/drawingml/2006/main" x="609600" y="1876425"/>
          <a:ext xmlns:a="http://schemas.openxmlformats.org/drawingml/2006/main" cx="5257800" cy="2847975"/>
        </p:xfrm>
        <a:graphic xmlns:a="http://schemas.openxmlformats.org/drawingml/2006/main">
          <a:graphicData uri="http://schemas.openxmlformats.org/drawingml/2006/chart">
            <c:chart xmlns:r="http://schemas.openxmlformats.org/officeDocument/2006/relationships" xmlns:c="http://schemas.openxmlformats.org/drawingml/2006/chart" r:id="R913cb4ff3d6d4b4b"/>
          </a:graphicData>
        </a:graphic>
      </p:graphicFrame>
      <p:graphicFrame>
        <p:nvGraphicFramePr>
          <p:cNvPr id="6" name="Chart">
            <a:extLst xmlns:a="http://schemas.openxmlformats.org/drawingml/2006/main">
              <a:ext uri="{FF2B5EF4-FFF2-40B4-BE49-F238E27FC236}">
                <a16:creationId xmlns:a16="http://schemas.microsoft.com/office/drawing/2014/main" id="{4EE0E3EA-DE60-47BD-8926-CB2468C8D3CE}"/>
              </a:ext>
            </a:extLst>
          </p:cNvPr>
          <p:cNvGraphicFramePr/>
          <p:nvPr/>
        </p:nvGraphicFramePr>
        <p:xfrm>
          <a:off xmlns:a="http://schemas.openxmlformats.org/drawingml/2006/main" x="6324600" y="1876425"/>
          <a:ext xmlns:a="http://schemas.openxmlformats.org/drawingml/2006/main" cx="5257800" cy="2847975"/>
        </p:xfrm>
        <a:graphic xmlns:a="http://schemas.openxmlformats.org/drawingml/2006/main">
          <a:graphicData uri="http://schemas.openxmlformats.org/drawingml/2006/chart">
            <c:chart xmlns:r="http://schemas.openxmlformats.org/officeDocument/2006/relationships" xmlns:c="http://schemas.openxmlformats.org/drawingml/2006/chart" r:id="Rc91467adddf34aa5"/>
          </a:graphicData>
        </a:graphic>
      </p:graphicFrame>
      <p:sp>
        <p:nvSpPr>
          <p:cNvPr id="7" name="IEA 2026: ≈96% increase to 2030. These cover the whole ">
            <a:extLst xmlns:a="http://schemas.openxmlformats.org/drawingml/2006/main">
              <a:ext uri="{FF2B5EF4-FFF2-40B4-BE49-F238E27FC236}">
                <a16:creationId xmlns:a16="http://schemas.microsoft.com/office/drawing/2014/main" id="{93D36DCB-A030-4A71-B158-0BA3C2C3F11B}"/>
              </a:ext>
            </a:extLst>
          </p:cNvPr>
          <p:cNvSpPr>
            <a:spLocks xmlns:a="http://schemas.openxmlformats.org/drawingml/2006/main" noGrp="1"/>
          </p:cNvSpPr>
          <p:nvPr/>
        </p:nvSpPr>
        <p:spPr>
          <a:xfrm xmlns:a="http://schemas.openxmlformats.org/drawingml/2006/main">
            <a:off x="609600" y="4867275"/>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IEA 2026: ≈96% increase to 2030. These cover the whole sector, not AI training alone; growth categories overlap and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cannot be added.</a:t>
            </a:r>
          </a:p>
        </p:txBody>
      </p:sp>
      <p:sp>
        <p:nvSpPr>
          <p:cNvPr id="8" name="Research comparison: Green AI [10] emphasizes efficienc">
            <a:extLst xmlns:a="http://schemas.openxmlformats.org/drawingml/2006/main">
              <a:ext uri="{FF2B5EF4-FFF2-40B4-BE49-F238E27FC236}">
                <a16:creationId xmlns:a16="http://schemas.microsoft.com/office/drawing/2014/main" id="{4D6E3B5C-8246-4DA6-B1C0-D835219BC0A7}"/>
              </a:ext>
            </a:extLst>
          </p:cNvPr>
          <p:cNvSpPr>
            <a:spLocks xmlns:a="http://schemas.openxmlformats.org/drawingml/2006/main" noGrp="1"/>
          </p:cNvSpPr>
          <p:nvPr/>
        </p:nvSpPr>
        <p:spPr>
          <a:xfrm xmlns:a="http://schemas.openxmlformats.org/drawingml/2006/main">
            <a:off x="609600" y="5381625"/>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Research comparison: Green AI [10] emphasizes efficiency; water research [9] adds site/time constraints. Track energy,</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carbon and local cooling impacts.</a:t>
            </a:r>
          </a:p>
        </p:txBody>
      </p:sp>
      <p:sp>
        <p:nvSpPr>
          <p:cNvPr id="9" name="">
            <a:extLst xmlns:a="http://schemas.openxmlformats.org/drawingml/2006/main">
              <a:ext uri="{FF2B5EF4-FFF2-40B4-BE49-F238E27FC236}">
                <a16:creationId xmlns:a16="http://schemas.microsoft.com/office/drawing/2014/main" id="{14B10771-1DE6-4EA4-A0CD-D49F47364AB8}"/>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6] IEA 2026: sector estimates and projection;">
            <a:extLst xmlns:a="http://schemas.openxmlformats.org/drawingml/2006/main">
              <a:ext uri="{FF2B5EF4-FFF2-40B4-BE49-F238E27FC236}">
                <a16:creationId xmlns:a16="http://schemas.microsoft.com/office/drawing/2014/main" id="{2AC25F41-946C-4C6A-AC64-C65B23F7000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[9] Li et al. 2025 revision: water impacts; [10] Schwartz et al. 2019: efficiency reporting</a:t>
            </a:r>
          </a:p>
        </p:txBody>
      </p:sp>
      <p:sp>
        <p:nvSpPr>
          <p:cNvPr id="11" name="2 / 26">
            <a:extLst xmlns:a="http://schemas.openxmlformats.org/drawingml/2006/main">
              <a:ext uri="{FF2B5EF4-FFF2-40B4-BE49-F238E27FC236}">
                <a16:creationId xmlns:a16="http://schemas.microsoft.com/office/drawing/2014/main" id="{85C680D9-A55E-46B2-938E-52238285E45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 / 26</a:t>
            </a:r>
          </a:p>
        </p:txBody>
      </p:sp>
    </p:spTree>
    <p:extLst>
      <p:ext uri="{BB962C8B-B14F-4D97-AF65-F5344CB8AC3E}">
        <p14:creationId xmlns:p14="http://schemas.microsoft.com/office/powerpoint/2010/main" val="1190938749"/>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203EB662-90A4-4599-9439-199222F4FC25}"/>
              </a:ext>
            </a:extLst>
          </p:cNvPr>
          <p:cNvCxnSpPr>
            <a:stCxn xmlns:a="http://schemas.openxmlformats.org/drawingml/2006/main" id="8" idx="2"/>
            <a:endCxn xmlns:a="http://schemas.openxmlformats.org/drawingml/2006/main" id="9" idx="0"/>
          </p:cNvCxnSpPr>
          <p:nvPr/>
        </p:nvCxnSpPr>
        <p:spPr>
          <a:xfrm xmlns:a="http://schemas.openxmlformats.org/drawingml/2006/main">
            <a:off x="8953500" y="2886075"/>
            <a:ext cx="0" cy="54292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017E397B-3AF9-48E5-9219-F7EEA2B439CB}"/>
              </a:ext>
            </a:extLst>
          </p:cNvPr>
          <p:cNvCxnSpPr>
            <a:stCxn xmlns:a="http://schemas.openxmlformats.org/drawingml/2006/main" id="5" idx="2"/>
            <a:endCxn xmlns:a="http://schemas.openxmlformats.org/drawingml/2006/main" id="6" idx="0"/>
          </p:cNvCxnSpPr>
          <p:nvPr/>
        </p:nvCxnSpPr>
        <p:spPr>
          <a:xfrm xmlns:a="http://schemas.openxmlformats.org/drawingml/2006/main">
            <a:off x="3219450" y="2886075"/>
            <a:ext cx="0" cy="54292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9" name="Task 2(b)">
            <a:extLst xmlns:a="http://schemas.openxmlformats.org/drawingml/2006/main">
              <a:ext uri="{FF2B5EF4-FFF2-40B4-BE49-F238E27FC236}">
                <a16:creationId xmlns:a16="http://schemas.microsoft.com/office/drawing/2014/main" id="{5B13F753-92D0-44D9-9AA4-DB7126F6FE9A}"/>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2(b)</a:t>
            </a:r>
          </a:p>
        </p:txBody>
      </p:sp>
      <p:sp>
        <p:nvSpPr>
          <p:cNvPr id="2" name="Privacy, security and model fairness">
            <a:extLst xmlns:a="http://schemas.openxmlformats.org/drawingml/2006/main">
              <a:ext uri="{FF2B5EF4-FFF2-40B4-BE49-F238E27FC236}">
                <a16:creationId xmlns:a16="http://schemas.microsoft.com/office/drawing/2014/main" id="{88F3D9DB-6A71-4B3B-9BBF-086A1566D20E}"/>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Privacy, security and model fairness</a:t>
            </a:r>
          </a:p>
        </p:txBody>
      </p:sp>
      <p:sp>
        <p:nvSpPr>
          <p:cNvPr id="3" name="Security: protect distributed intermediates">
            <a:extLst xmlns:a="http://schemas.openxmlformats.org/drawingml/2006/main">
              <a:ext uri="{FF2B5EF4-FFF2-40B4-BE49-F238E27FC236}">
                <a16:creationId xmlns:a16="http://schemas.microsoft.com/office/drawing/2014/main" id="{1711E48B-A957-4A1F-9005-704168F145D5}"/>
              </a:ext>
            </a:extLst>
          </p:cNvPr>
          <p:cNvSpPr>
            <a:spLocks xmlns:a="http://schemas.openxmlformats.org/drawingml/2006/main" noGrp="1"/>
          </p:cNvSpPr>
          <p:nvPr/>
        </p:nvSpPr>
        <p:spPr>
          <a:xfrm xmlns:a="http://schemas.openxmlformats.org/drawingml/2006/main">
            <a:off x="609600" y="1504950"/>
            <a:ext cx="523875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Security: protect distributed intermediates</a:t>
            </a:r>
          </a:p>
        </p:txBody>
      </p:sp>
      <p:sp>
        <p:nvSpPr>
          <p:cNvPr id="4" name="Fairness: evaluate affected groups">
            <a:extLst xmlns:a="http://schemas.openxmlformats.org/drawingml/2006/main">
              <a:ext uri="{FF2B5EF4-FFF2-40B4-BE49-F238E27FC236}">
                <a16:creationId xmlns:a16="http://schemas.microsoft.com/office/drawing/2014/main" id="{E206C8A0-66A1-4BAE-92E6-D605E7736CEC}"/>
              </a:ext>
            </a:extLst>
          </p:cNvPr>
          <p:cNvSpPr>
            <a:spLocks xmlns:a="http://schemas.openxmlformats.org/drawingml/2006/main" noGrp="1"/>
          </p:cNvSpPr>
          <p:nvPr/>
        </p:nvSpPr>
        <p:spPr>
          <a:xfrm xmlns:a="http://schemas.openxmlformats.org/drawingml/2006/main">
            <a:off x="6324600" y="1504950"/>
            <a:ext cx="52578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Fairness: evaluate affected groups</a:t>
            </a:r>
          </a:p>
        </p:txBody>
      </p:sp>
      <p:sp>
        <p:nvSpPr>
          <p:cNvPr id="5" name="">
            <a:extLst xmlns:a="http://schemas.openxmlformats.org/drawingml/2006/main">
              <a:ext uri="{FF2B5EF4-FFF2-40B4-BE49-F238E27FC236}">
                <a16:creationId xmlns:a16="http://schemas.microsoft.com/office/drawing/2014/main" id="{0D6435AF-4CF2-4077-85AC-E602AE38DEAB}"/>
              </a:ext>
            </a:extLst>
          </p:cNvPr>
          <p:cNvSpPr>
            <a:spLocks xmlns:a="http://schemas.openxmlformats.org/drawingml/2006/main" noGrp="1"/>
          </p:cNvSpPr>
          <p:nvPr/>
        </p:nvSpPr>
        <p:spPr>
          <a:xfrm xmlns:a="http://schemas.openxmlformats.org/drawingml/2006/main">
            <a:off x="609600" y="2009775"/>
            <a:ext cx="5219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Workers exchange gradients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and save checkpoints</a:t>
            </a:r>
          </a:p>
        </p:txBody>
      </p:sp>
      <p:sp>
        <p:nvSpPr>
          <p:cNvPr id="6" name="">
            <a:extLst xmlns:a="http://schemas.openxmlformats.org/drawingml/2006/main">
              <a:ext uri="{FF2B5EF4-FFF2-40B4-BE49-F238E27FC236}">
                <a16:creationId xmlns:a16="http://schemas.microsoft.com/office/drawing/2014/main" id="{B87B3071-C2C4-4B55-81B8-B7298FFB03CE}"/>
              </a:ext>
            </a:extLst>
          </p:cNvPr>
          <p:cNvSpPr>
            <a:spLocks xmlns:a="http://schemas.openxmlformats.org/drawingml/2006/main" noGrp="1"/>
          </p:cNvSpPr>
          <p:nvPr/>
        </p:nvSpPr>
        <p:spPr>
          <a:xfrm xmlns:a="http://schemas.openxmlformats.org/drawingml/2006/main">
            <a:off x="609600" y="3429000"/>
            <a:ext cx="5219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Least privilege, isolation,</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protected transport/storage</a:t>
            </a:r>
          </a:p>
        </p:txBody>
      </p:sp>
      <p:sp>
        <p:nvSpPr>
          <p:cNvPr id="8" name="">
            <a:extLst xmlns:a="http://schemas.openxmlformats.org/drawingml/2006/main">
              <a:ext uri="{FF2B5EF4-FFF2-40B4-BE49-F238E27FC236}">
                <a16:creationId xmlns:a16="http://schemas.microsoft.com/office/drawing/2014/main" id="{7F4B1871-8CE0-42C0-9E23-32C1D817775E}"/>
              </a:ext>
            </a:extLst>
          </p:cNvPr>
          <p:cNvSpPr>
            <a:spLocks xmlns:a="http://schemas.openxmlformats.org/drawingml/2006/main" noGrp="1"/>
          </p:cNvSpPr>
          <p:nvPr/>
        </p:nvSpPr>
        <p:spPr>
          <a:xfrm xmlns:a="http://schemas.openxmlformats.org/drawingml/2006/main">
            <a:off x="6324600" y="2009775"/>
            <a:ext cx="52578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coverage and model outputs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may differ across groups</a:t>
            </a:r>
          </a:p>
        </p:txBody>
      </p:sp>
      <p:sp>
        <p:nvSpPr>
          <p:cNvPr id="9" name="">
            <a:extLst xmlns:a="http://schemas.openxmlformats.org/drawingml/2006/main">
              <a:ext uri="{FF2B5EF4-FFF2-40B4-BE49-F238E27FC236}">
                <a16:creationId xmlns:a16="http://schemas.microsoft.com/office/drawing/2014/main" id="{E6DDFCE2-8327-4852-9EB2-0858AC9137AC}"/>
              </a:ext>
            </a:extLst>
          </p:cNvPr>
          <p:cNvSpPr>
            <a:spLocks xmlns:a="http://schemas.openxmlformats.org/drawingml/2006/main" noGrp="1"/>
          </p:cNvSpPr>
          <p:nvPr/>
        </p:nvSpPr>
        <p:spPr>
          <a:xfrm xmlns:a="http://schemas.openxmlformats.org/drawingml/2006/main">
            <a:off x="6324600" y="3429000"/>
            <a:ext cx="52578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Disaggregated, harm-specific tests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 mitigation and reevaluation</a:t>
            </a:r>
          </a:p>
        </p:txBody>
      </p:sp>
      <p:sp>
        <p:nvSpPr>
          <p:cNvPr id="11" name="Zhu et al. [11]: exposed gradients can reconstruct inpu">
            <a:extLst xmlns:a="http://schemas.openxmlformats.org/drawingml/2006/main">
              <a:ext uri="{FF2B5EF4-FFF2-40B4-BE49-F238E27FC236}">
                <a16:creationId xmlns:a16="http://schemas.microsoft.com/office/drawing/2014/main" id="{53CCE9A5-B38B-4C35-BCE2-EA75193F7CB9}"/>
              </a:ext>
            </a:extLst>
          </p:cNvPr>
          <p:cNvSpPr>
            <a:spLocks xmlns:a="http://schemas.openxmlformats.org/drawingml/2006/main" noGrp="1"/>
          </p:cNvSpPr>
          <p:nvPr/>
        </p:nvSpPr>
        <p:spPr>
          <a:xfrm xmlns:a="http://schemas.openxmlformats.org/drawingml/2006/main">
            <a:off x="609600" y="4562475"/>
            <a:ext cx="5219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Zhu et al. [11]: exposed gradients can reconstruct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inputs in studied settings. Not every production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collective leaks.</a:t>
            </a:r>
          </a:p>
        </p:txBody>
      </p:sp>
      <p:sp>
        <p:nvSpPr>
          <p:cNvPr id="12" name="Gallegos et al. [12]: metrics, datasets and mitigations">
            <a:extLst xmlns:a="http://schemas.openxmlformats.org/drawingml/2006/main">
              <a:ext uri="{FF2B5EF4-FFF2-40B4-BE49-F238E27FC236}">
                <a16:creationId xmlns:a16="http://schemas.microsoft.com/office/drawing/2014/main" id="{3118568D-676C-4441-ACA5-5D34F3451A3F}"/>
              </a:ext>
            </a:extLst>
          </p:cNvPr>
          <p:cNvSpPr>
            <a:spLocks xmlns:a="http://schemas.openxmlformats.org/drawingml/2006/main" noGrp="1"/>
          </p:cNvSpPr>
          <p:nvPr/>
        </p:nvSpPr>
        <p:spPr>
          <a:xfrm xmlns:a="http://schemas.openxmlformats.org/drawingml/2006/main">
            <a:off x="6324600" y="4514850"/>
            <a:ext cx="52578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Gallegos et al. [12]: metrics, datasets and mitigations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differ. Apply these to cluster-trained models; scale alone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does not guarantee fairness.</a:t>
            </a:r>
          </a:p>
        </p:txBody>
      </p:sp>
      <p:sp>
        <p:nvSpPr>
          <p:cNvPr id="13" name="Provenance/permissions, replica access and dual-use rev">
            <a:extLst xmlns:a="http://schemas.openxmlformats.org/drawingml/2006/main">
              <a:ext uri="{FF2B5EF4-FFF2-40B4-BE49-F238E27FC236}">
                <a16:creationId xmlns:a16="http://schemas.microsoft.com/office/drawing/2014/main" id="{509DE00D-5E4D-43A2-851C-E70CDB949C91}"/>
              </a:ext>
            </a:extLst>
          </p:cNvPr>
          <p:cNvSpPr>
            <a:spLocks xmlns:a="http://schemas.openxmlformats.org/drawingml/2006/main" noGrp="1"/>
          </p:cNvSpPr>
          <p:nvPr/>
        </p:nvSpPr>
        <p:spPr>
          <a:xfrm xmlns:a="http://schemas.openxmlformats.org/drawingml/2006/main">
            <a:off x="609600" y="54102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Provenance/permissions, replica access and dual-use review need owners. Encryption alone cannot establish fair outputs.</a:t>
            </a:r>
          </a:p>
        </p:txBody>
      </p:sp>
      <p:sp>
        <p:nvSpPr>
          <p:cNvPr id="14" name="">
            <a:extLst xmlns:a="http://schemas.openxmlformats.org/drawingml/2006/main">
              <a:ext uri="{FF2B5EF4-FFF2-40B4-BE49-F238E27FC236}">
                <a16:creationId xmlns:a16="http://schemas.microsoft.com/office/drawing/2014/main" id="{756A210B-122B-49D3-AF24-DEC04744F0B4}"/>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5" name="Protect distributed data and evaluate harms; more compu">
            <a:extLst xmlns:a="http://schemas.openxmlformats.org/drawingml/2006/main">
              <a:ext uri="{FF2B5EF4-FFF2-40B4-BE49-F238E27FC236}">
                <a16:creationId xmlns:a16="http://schemas.microsoft.com/office/drawing/2014/main" id="{E35915A4-9D48-4D04-A78E-9436CBC5C87E}"/>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Protect distributed data and evaluate harms; more compute is not a fairness guarantee.</a:t>
            </a:r>
          </a:p>
        </p:txBody>
      </p:sp>
      <p:sp>
        <p:nvSpPr>
          <p:cNvPr id="16" name="">
            <a:extLst xmlns:a="http://schemas.openxmlformats.org/drawingml/2006/main">
              <a:ext uri="{FF2B5EF4-FFF2-40B4-BE49-F238E27FC236}">
                <a16:creationId xmlns:a16="http://schemas.microsoft.com/office/drawing/2014/main" id="{4F293EAE-2C0F-49D6-91A1-B266A38A36F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7" name="Sources: [11] Zhu et al. 2019: exposed gradients; [12] ">
            <a:extLst xmlns:a="http://schemas.openxmlformats.org/drawingml/2006/main">
              <a:ext uri="{FF2B5EF4-FFF2-40B4-BE49-F238E27FC236}">
                <a16:creationId xmlns:a16="http://schemas.microsoft.com/office/drawing/2014/main" id="{1ED8D2D3-643F-450E-876A-22F6B46F6D45}"/>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[11] Zhu et al. 2019: exposed gradients; [12] Gallegos et al. 2024: fairness evaluation; [15] OECD: rights, fairness and accountability; [16] NIST: Govern, Map, Measure,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8" name="3 / 26">
            <a:extLst xmlns:a="http://schemas.openxmlformats.org/drawingml/2006/main">
              <a:ext uri="{FF2B5EF4-FFF2-40B4-BE49-F238E27FC236}">
                <a16:creationId xmlns:a16="http://schemas.microsoft.com/office/drawing/2014/main" id="{9E077FF2-FBD2-48E6-A81B-53091C43313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 / 26</a:t>
            </a:r>
          </a:p>
        </p:txBody>
      </p:sp>
    </p:spTree>
    <p:extLst>
      <p:ext uri="{BB962C8B-B14F-4D97-AF65-F5344CB8AC3E}">
        <p14:creationId xmlns:p14="http://schemas.microsoft.com/office/powerpoint/2010/main" val="2143844426"/>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Task 2(c) • Access and socioeconomic impact">
            <a:extLst xmlns:a="http://schemas.openxmlformats.org/drawingml/2006/main">
              <a:ext uri="{FF2B5EF4-FFF2-40B4-BE49-F238E27FC236}">
                <a16:creationId xmlns:a16="http://schemas.microsoft.com/office/drawing/2014/main" id="{88732640-19EE-4931-B0CD-265AE0FCB389}"/>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2(c) • Access and socioeconomic impact</a:t>
            </a:r>
          </a:p>
        </p:txBody>
      </p:sp>
      <p:sp>
        <p:nvSpPr>
          <p:cNvPr id="2" name="Compute concentration limits participation">
            <a:extLst xmlns:a="http://schemas.openxmlformats.org/drawingml/2006/main">
              <a:ext uri="{FF2B5EF4-FFF2-40B4-BE49-F238E27FC236}">
                <a16:creationId xmlns:a16="http://schemas.microsoft.com/office/drawing/2014/main" id="{0F182020-0E7D-4CB7-A9A3-D88FDE02CD3D}"/>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Compute concentration limits participation</a:t>
            </a:r>
          </a:p>
        </p:txBody>
      </p:sp>
      <p:sp>
        <p:nvSpPr>
          <p:cNvPr id="3" name="Evidence and consequences">
            <a:extLst xmlns:a="http://schemas.openxmlformats.org/drawingml/2006/main">
              <a:ext uri="{FF2B5EF4-FFF2-40B4-BE49-F238E27FC236}">
                <a16:creationId xmlns:a16="http://schemas.microsoft.com/office/drawing/2014/main" id="{3A2F2AC8-DC84-491D-B9C4-5ACDEEEE7EED}"/>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Evidence and consequences</a:t>
            </a:r>
          </a:p>
        </p:txBody>
      </p:sp>
      <p:sp>
        <p:nvSpPr>
          <p:cNvPr id="4" name="Ahmed &amp; Wahed [13]: institutional participation. Strube">
            <a:extLst xmlns:a="http://schemas.openxmlformats.org/drawingml/2006/main">
              <a:ext uri="{FF2B5EF4-FFF2-40B4-BE49-F238E27FC236}">
                <a16:creationId xmlns:a16="http://schemas.microsoft.com/office/drawing/2014/main" id="{075BFF02-0EAF-48BE-B5DC-E232A949EEEC}"/>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Ahmed &amp; Wahed [13]: institutional participation.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Strubell et al. [8]: workload cost. Different scopes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reveal barriers to training and replication.</a:t>
            </a:r>
          </a:p>
        </p:txBody>
      </p:sp>
      <p:sp>
        <p:nvSpPr>
          <p:cNvPr id="5" name="Historical studies do not establish current global acce">
            <a:extLst xmlns:a="http://schemas.openxmlformats.org/drawingml/2006/main">
              <a:ext uri="{FF2B5EF4-FFF2-40B4-BE49-F238E27FC236}">
                <a16:creationId xmlns:a16="http://schemas.microsoft.com/office/drawing/2014/main" id="{37ACD5CD-1525-4FDE-A379-6CD454389967}"/>
              </a:ext>
            </a:extLst>
          </p:cNvPr>
          <p:cNvSpPr>
            <a:spLocks xmlns:a="http://schemas.openxmlformats.org/drawingml/2006/main" noGrp="1"/>
          </p:cNvSpPr>
          <p:nvPr/>
        </p:nvSpPr>
        <p:spPr>
          <a:xfrm xmlns:a="http://schemas.openxmlformats.org/drawingml/2006/main">
            <a:off x="609600" y="2996184"/>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Historical studies do not establish current global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access.</a:t>
            </a:r>
          </a:p>
        </p:txBody>
      </p:sp>
      <p:sp>
        <p:nvSpPr>
          <p:cNvPr id="6" name="NAIRR: &gt;600 teams and &gt;6,000 students [7]; US reach doe">
            <a:extLst xmlns:a="http://schemas.openxmlformats.org/drawingml/2006/main">
              <a:ext uri="{FF2B5EF4-FFF2-40B4-BE49-F238E27FC236}">
                <a16:creationId xmlns:a16="http://schemas.microsoft.com/office/drawing/2014/main" id="{864F18FD-B579-4C48-9D9B-7BC7B27EACA9}"/>
              </a:ext>
            </a:extLst>
          </p:cNvPr>
          <p:cNvSpPr>
            <a:spLocks xmlns:a="http://schemas.openxmlformats.org/drawingml/2006/main" noGrp="1"/>
          </p:cNvSpPr>
          <p:nvPr/>
        </p:nvSpPr>
        <p:spPr>
          <a:xfrm xmlns:a="http://schemas.openxmlformats.org/drawingml/2006/main">
            <a:off x="609600" y="3749040"/>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NAIRR: &gt;600 teams and &gt;6,000 students [7]; US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reach does not establish worldwide equality.</a:t>
            </a:r>
          </a:p>
        </p:txBody>
      </p:sp>
      <p:sp>
        <p:nvSpPr>
          <p:cNvPr id="7" name="An equitable shared-cluster policy">
            <a:extLst xmlns:a="http://schemas.openxmlformats.org/drawingml/2006/main">
              <a:ext uri="{FF2B5EF4-FFF2-40B4-BE49-F238E27FC236}">
                <a16:creationId xmlns:a16="http://schemas.microsoft.com/office/drawing/2014/main" id="{0DF2E230-6708-44CC-8962-DACE04431019}"/>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An equitable shared-cluster policy</a:t>
            </a:r>
          </a:p>
        </p:txBody>
      </p:sp>
      <p:sp>
        <p:nvSpPr>
          <p:cNvPr id="8" name="Publish GPU-hour rules; reserve capacity for smaller in">
            <a:extLst xmlns:a="http://schemas.openxmlformats.org/drawingml/2006/main">
              <a:ext uri="{FF2B5EF4-FFF2-40B4-BE49-F238E27FC236}">
                <a16:creationId xmlns:a16="http://schemas.microsoft.com/office/drawing/2014/main" id="{B7A1DDA9-81A3-48F1-AA62-1F4ABDC80F84}"/>
              </a:ext>
            </a:extLst>
          </p:cNvPr>
          <p:cNvSpPr>
            <a:spLocks xmlns:a="http://schemas.openxmlformats.org/drawingml/2006/main" noGrp="1"/>
          </p:cNvSpPr>
          <p:nvPr/>
        </p:nvSpPr>
        <p:spPr>
          <a:xfrm xmlns:a="http://schemas.openxmlformats.org/drawingml/2006/main">
            <a:off x="6419850" y="1971675"/>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Publish GPU-hour rules; reserve capacity for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smaller institutions and replication.</a:t>
            </a:r>
          </a:p>
        </p:txBody>
      </p:sp>
      <p:sp>
        <p:nvSpPr>
          <p:cNvPr id="9" name="Offer training and appeals; audit waiting times and awa">
            <a:extLst xmlns:a="http://schemas.openxmlformats.org/drawingml/2006/main">
              <a:ext uri="{FF2B5EF4-FFF2-40B4-BE49-F238E27FC236}">
                <a16:creationId xmlns:a16="http://schemas.microsoft.com/office/drawing/2014/main" id="{D64AC005-237A-4653-971D-BB3CBE6AD23A}"/>
              </a:ext>
            </a:extLst>
          </p:cNvPr>
          <p:cNvSpPr>
            <a:spLocks xmlns:a="http://schemas.openxmlformats.org/drawingml/2006/main" noGrp="1"/>
          </p:cNvSpPr>
          <p:nvPr/>
        </p:nvSpPr>
        <p:spPr>
          <a:xfrm xmlns:a="http://schemas.openxmlformats.org/drawingml/2006/main">
            <a:off x="6419850" y="2724531"/>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Offer training and appeals; audit waiting times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awards with privacy safeguards.</a:t>
            </a:r>
          </a:p>
        </p:txBody>
      </p:sp>
      <p:sp>
        <p:nvSpPr>
          <p:cNvPr id="10" name="Trade-off: reservations can lower utilization or delay ">
            <a:extLst xmlns:a="http://schemas.openxmlformats.org/drawingml/2006/main">
              <a:ext uri="{FF2B5EF4-FFF2-40B4-BE49-F238E27FC236}">
                <a16:creationId xmlns:a16="http://schemas.microsoft.com/office/drawing/2014/main" id="{41FCA12B-4FAB-4A50-B870-2121FFB4C38B}"/>
              </a:ext>
            </a:extLst>
          </p:cNvPr>
          <p:cNvSpPr>
            <a:spLocks xmlns:a="http://schemas.openxmlformats.org/drawingml/2006/main" noGrp="1"/>
          </p:cNvSpPr>
          <p:nvPr/>
        </p:nvSpPr>
        <p:spPr>
          <a:xfrm xmlns:a="http://schemas.openxmlformats.org/drawingml/2006/main">
            <a:off x="6419850" y="3477387"/>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Trade-off: reservations can lower utilization or delay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urgent jobs. Prevent starvation.</a:t>
            </a:r>
          </a:p>
        </p:txBody>
      </p:sp>
      <p:sp>
        <p:nvSpPr>
          <p:cNvPr id="11" name="">
            <a:extLst xmlns:a="http://schemas.openxmlformats.org/drawingml/2006/main">
              <a:ext uri="{FF2B5EF4-FFF2-40B4-BE49-F238E27FC236}">
                <a16:creationId xmlns:a16="http://schemas.microsoft.com/office/drawing/2014/main" id="{646F3E5E-18EE-4C0A-A239-BA53154B282E}"/>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0DC31A7B-AEF0-4F19-9066-0D10CBBA959F}"/>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7] NSF 2026: US programme reach; [8] Strubell">
            <a:extLst xmlns:a="http://schemas.openxmlformats.org/drawingml/2006/main">
              <a:ext uri="{FF2B5EF4-FFF2-40B4-BE49-F238E27FC236}">
                <a16:creationId xmlns:a16="http://schemas.microsoft.com/office/drawing/2014/main" id="{E1AD6158-D98F-49B4-B410-3323427701A9}"/>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4" name="4 / 26">
            <a:extLst xmlns:a="http://schemas.openxmlformats.org/drawingml/2006/main">
              <a:ext uri="{FF2B5EF4-FFF2-40B4-BE49-F238E27FC236}">
                <a16:creationId xmlns:a16="http://schemas.microsoft.com/office/drawing/2014/main" id="{353D5C8D-D350-4B69-8469-9B3CC22AC00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 / 26</a:t>
            </a:r>
          </a:p>
        </p:txBody>
      </p:sp>
    </p:spTree>
    <p:extLst>
      <p:ext uri="{BB962C8B-B14F-4D97-AF65-F5344CB8AC3E}">
        <p14:creationId xmlns:p14="http://schemas.microsoft.com/office/powerpoint/2010/main" val="1795145894"/>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2AB013B1-3A4D-4D91-A745-78A14B4955DE}"/>
              </a:ext>
            </a:extLst>
          </p:cNvPr>
          <p:cNvCxnSpPr>
            <a:stCxn xmlns:a="http://schemas.openxmlformats.org/drawingml/2006/main" id="4" idx="3"/>
            <a:endCxn xmlns:a="http://schemas.openxmlformats.org/drawingml/2006/main" id="5" idx="1"/>
          </p:cNvCxnSpPr>
          <p:nvPr/>
        </p:nvCxnSpPr>
        <p:spPr>
          <a:xfrm xmlns:a="http://schemas.openxmlformats.org/drawingml/2006/main">
            <a:off x="7581900" y="2181225"/>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D03B1277-15EF-4FCA-98FE-77E2EF64E9D8}"/>
              </a:ext>
            </a:extLst>
          </p:cNvPr>
          <p:cNvCxnSpPr>
            <a:stCxn xmlns:a="http://schemas.openxmlformats.org/drawingml/2006/main" id="3" idx="3"/>
            <a:endCxn xmlns:a="http://schemas.openxmlformats.org/drawingml/2006/main" id="4" idx="1"/>
          </p:cNvCxnSpPr>
          <p:nvPr/>
        </p:nvCxnSpPr>
        <p:spPr>
          <a:xfrm xmlns:a="http://schemas.openxmlformats.org/drawingml/2006/main">
            <a:off x="3581400" y="2181225"/>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7" name="Task 2(d) • Responsible HPC framework">
            <a:extLst xmlns:a="http://schemas.openxmlformats.org/drawingml/2006/main">
              <a:ext uri="{FF2B5EF4-FFF2-40B4-BE49-F238E27FC236}">
                <a16:creationId xmlns:a16="http://schemas.microsoft.com/office/drawing/2014/main" id="{CF915421-53D0-4463-869A-E09C88CA429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2(d) • Responsible HPC framework</a:t>
            </a:r>
          </a:p>
        </p:txBody>
      </p:sp>
      <p:sp>
        <p:nvSpPr>
          <p:cNvPr id="2" name="Approve scale with evidence and ownership">
            <a:extLst xmlns:a="http://schemas.openxmlformats.org/drawingml/2006/main">
              <a:ext uri="{FF2B5EF4-FFF2-40B4-BE49-F238E27FC236}">
                <a16:creationId xmlns:a16="http://schemas.microsoft.com/office/drawing/2014/main" id="{2D1733F0-D675-4ADA-8BAC-E14698B2DC43}"/>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Approve scale with evidence and ownership</a:t>
            </a:r>
          </a:p>
        </p:txBody>
      </p:sp>
      <p:sp>
        <p:nvSpPr>
          <p:cNvPr id="3" name="">
            <a:extLst xmlns:a="http://schemas.openxmlformats.org/drawingml/2006/main">
              <a:ext uri="{FF2B5EF4-FFF2-40B4-BE49-F238E27FC236}">
                <a16:creationId xmlns:a16="http://schemas.microsoft.com/office/drawing/2014/main" id="{7C9BFDB0-FCF0-4BDE-B2AA-C65DA403252E}"/>
              </a:ext>
            </a:extLst>
          </p:cNvPr>
          <p:cNvSpPr>
            <a:spLocks xmlns:a="http://schemas.openxmlformats.org/drawingml/2006/main" noGrp="1"/>
          </p:cNvSpPr>
          <p:nvPr/>
        </p:nvSpPr>
        <p:spPr>
          <a:xfrm xmlns:a="http://schemas.openxmlformats.org/drawingml/2006/main">
            <a:off x="609600" y="1695450"/>
            <a:ext cx="297180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Map</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Use, stakeholders,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alternatives</a:t>
            </a:r>
          </a:p>
        </p:txBody>
      </p:sp>
      <p:sp>
        <p:nvSpPr>
          <p:cNvPr id="4" name="">
            <a:extLst xmlns:a="http://schemas.openxmlformats.org/drawingml/2006/main">
              <a:ext uri="{FF2B5EF4-FFF2-40B4-BE49-F238E27FC236}">
                <a16:creationId xmlns:a16="http://schemas.microsoft.com/office/drawing/2014/main" id="{0BF6C65F-58FC-4CD7-9DB5-EF2D974C3E9C}"/>
              </a:ext>
            </a:extLst>
          </p:cNvPr>
          <p:cNvSpPr>
            <a:spLocks xmlns:a="http://schemas.openxmlformats.org/drawingml/2006/main" noGrp="1"/>
          </p:cNvSpPr>
          <p:nvPr/>
        </p:nvSpPr>
        <p:spPr>
          <a:xfrm xmlns:a="http://schemas.openxmlformats.org/drawingml/2006/main">
            <a:off x="4610100" y="1695450"/>
            <a:ext cx="297180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Measure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Quality, energy, security,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harms</a:t>
            </a:r>
          </a:p>
        </p:txBody>
      </p:sp>
      <p:sp>
        <p:nvSpPr>
          <p:cNvPr id="5" name="">
            <a:extLst xmlns:a="http://schemas.openxmlformats.org/drawingml/2006/main">
              <a:ext uri="{FF2B5EF4-FFF2-40B4-BE49-F238E27FC236}">
                <a16:creationId xmlns:a16="http://schemas.microsoft.com/office/drawing/2014/main" id="{5ADAFE65-A640-4C71-BCD6-AE5FDC8481C8}"/>
              </a:ext>
            </a:extLst>
          </p:cNvPr>
          <p:cNvSpPr>
            <a:spLocks xmlns:a="http://schemas.openxmlformats.org/drawingml/2006/main" noGrp="1"/>
          </p:cNvSpPr>
          <p:nvPr/>
        </p:nvSpPr>
        <p:spPr>
          <a:xfrm xmlns:a="http://schemas.openxmlformats.org/drawingml/2006/main">
            <a:off x="8610600" y="1695450"/>
            <a:ext cx="297180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Manage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Approve / defer / redesign</a:t>
            </a:r>
          </a:p>
        </p:txBody>
      </p:sp>
      <p:sp>
        <p:nvSpPr>
          <p:cNvPr id="8" name="Govern throughout: accountable owner, rights, data rule">
            <a:extLst xmlns:a="http://schemas.openxmlformats.org/drawingml/2006/main">
              <a:ext uri="{FF2B5EF4-FFF2-40B4-BE49-F238E27FC236}">
                <a16:creationId xmlns:a16="http://schemas.microsoft.com/office/drawing/2014/main" id="{1A65630A-CF0C-4735-B691-AC6E8E94BE87}"/>
              </a:ext>
            </a:extLst>
          </p:cNvPr>
          <p:cNvSpPr>
            <a:spLocks xmlns:a="http://schemas.openxmlformats.org/drawingml/2006/main" noGrp="1"/>
          </p:cNvSpPr>
          <p:nvPr/>
        </p:nvSpPr>
        <p:spPr>
          <a:xfrm xmlns:a="http://schemas.openxmlformats.org/drawingml/2006/main">
            <a:off x="609600" y="3057525"/>
            <a:ext cx="10972800" cy="675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Govern throughout: accountable owner, rights, data rules and equitable GPU-hour</a:t>
            </a:r>
          </a:p>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access</a:t>
            </a:r>
          </a:p>
        </p:txBody>
      </p:sp>
      <p:sp>
        <p:nvSpPr>
          <p:cNvPr id="9" name="Green AI [10]: efficiency per useful outcome. OECD [15]">
            <a:extLst xmlns:a="http://schemas.openxmlformats.org/drawingml/2006/main">
              <a:ext uri="{FF2B5EF4-FFF2-40B4-BE49-F238E27FC236}">
                <a16:creationId xmlns:a16="http://schemas.microsoft.com/office/drawing/2014/main" id="{FE31A9AD-6B84-4526-8B08-805F9F2FC12F}"/>
              </a:ext>
            </a:extLst>
          </p:cNvPr>
          <p:cNvSpPr>
            <a:spLocks xmlns:a="http://schemas.openxmlformats.org/drawingml/2006/main" noGrp="1"/>
          </p:cNvSpPr>
          <p:nvPr/>
        </p:nvSpPr>
        <p:spPr>
          <a:xfrm xmlns:a="http://schemas.openxmlformats.org/drawingml/2006/main">
            <a:off x="609600" y="3667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Green AI [10]: efficiency per useful outcome. OECD [15] and NIST [16]: rights, safeguards, ownership</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and review.</a:t>
            </a:r>
          </a:p>
        </p:txBody>
      </p:sp>
      <p:sp>
        <p:nvSpPr>
          <p:cNvPr id="10" name="Carbon-aware scheduling [14]: shift flexible jobs only ">
            <a:extLst xmlns:a="http://schemas.openxmlformats.org/drawingml/2006/main">
              <a:ext uri="{FF2B5EF4-FFF2-40B4-BE49-F238E27FC236}">
                <a16:creationId xmlns:a16="http://schemas.microsoft.com/office/drawing/2014/main" id="{9EE9541F-3790-4BA8-9434-AFC8E6455FAD}"/>
              </a:ext>
            </a:extLst>
          </p:cNvPr>
          <p:cNvSpPr>
            <a:spLocks xmlns:a="http://schemas.openxmlformats.org/drawingml/2006/main" noGrp="1"/>
          </p:cNvSpPr>
          <p:nvPr/>
        </p:nvSpPr>
        <p:spPr>
          <a:xfrm xmlns:a="http://schemas.openxmlformats.org/drawingml/2006/main">
            <a:off x="609600" y="4448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Carbon-aware scheduling [14]: shift flexible jobs only within deadlines, water/site limits and equitable</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waiting commitments.</a:t>
            </a:r>
          </a:p>
        </p:txBody>
      </p:sp>
      <p:sp>
        <p:nvSpPr>
          <p:cNvPr id="11" name="Record exceptions and outcomes. Urgent work and forecas">
            <a:extLst xmlns:a="http://schemas.openxmlformats.org/drawingml/2006/main">
              <a:ext uri="{FF2B5EF4-FFF2-40B4-BE49-F238E27FC236}">
                <a16:creationId xmlns:a16="http://schemas.microsoft.com/office/drawing/2014/main" id="{F4976D99-C68F-4F0F-B307-FAC4B2E64DCB}"/>
              </a:ext>
            </a:extLst>
          </p:cNvPr>
          <p:cNvSpPr>
            <a:spLocks xmlns:a="http://schemas.openxmlformats.org/drawingml/2006/main" noGrp="1"/>
          </p:cNvSpPr>
          <p:nvPr/>
        </p:nvSpPr>
        <p:spPr>
          <a:xfrm xmlns:a="http://schemas.openxmlformats.org/drawingml/2006/main">
            <a:off x="609600" y="52292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Record exceptions and outcomes. Urgent work and forecast uncertainty can override deferral; prevent</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indefinite waiting.</a:t>
            </a:r>
          </a:p>
        </p:txBody>
      </p:sp>
      <p:sp>
        <p:nvSpPr>
          <p:cNvPr id="12" name="">
            <a:extLst xmlns:a="http://schemas.openxmlformats.org/drawingml/2006/main">
              <a:ext uri="{FF2B5EF4-FFF2-40B4-BE49-F238E27FC236}">
                <a16:creationId xmlns:a16="http://schemas.microsoft.com/office/drawing/2014/main" id="{10ED3337-E3D6-4004-94AD-D3858BA0E89A}"/>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3" name="NIST Govern spans an iterative process; unresolved risk">
            <a:extLst xmlns:a="http://schemas.openxmlformats.org/drawingml/2006/main">
              <a:ext uri="{FF2B5EF4-FFF2-40B4-BE49-F238E27FC236}">
                <a16:creationId xmlns:a16="http://schemas.microsoft.com/office/drawing/2014/main" id="{97F0252F-C44D-49F5-8148-2A5280EDEA1D}"/>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NIST Govern spans an iterative process; unresolved risks require redesign or rejection.</a:t>
            </a:r>
          </a:p>
        </p:txBody>
      </p:sp>
      <p:sp>
        <p:nvSpPr>
          <p:cNvPr id="14" name="">
            <a:extLst xmlns:a="http://schemas.openxmlformats.org/drawingml/2006/main">
              <a:ext uri="{FF2B5EF4-FFF2-40B4-BE49-F238E27FC236}">
                <a16:creationId xmlns:a16="http://schemas.microsoft.com/office/drawing/2014/main" id="{4E1FCA81-A176-4685-8CA2-E88147F377B4}"/>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5" name="Sources: [10] Schwartz et al. 2019: efficiency reportin">
            <a:extLst xmlns:a="http://schemas.openxmlformats.org/drawingml/2006/main">
              <a:ext uri="{FF2B5EF4-FFF2-40B4-BE49-F238E27FC236}">
                <a16:creationId xmlns:a16="http://schemas.microsoft.com/office/drawing/2014/main" id="{23830C41-0FBE-4390-AB95-3B4ADDDE9F6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16" name="5 / 26">
            <a:extLst xmlns:a="http://schemas.openxmlformats.org/drawingml/2006/main">
              <a:ext uri="{FF2B5EF4-FFF2-40B4-BE49-F238E27FC236}">
                <a16:creationId xmlns:a16="http://schemas.microsoft.com/office/drawing/2014/main" id="{1FF939F2-21C3-4B03-B6CC-80B312F81A9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5 / 26</a:t>
            </a:r>
          </a:p>
        </p:txBody>
      </p:sp>
    </p:spTree>
    <p:extLst>
      <p:ext uri="{BB962C8B-B14F-4D97-AF65-F5344CB8AC3E}">
        <p14:creationId xmlns:p14="http://schemas.microsoft.com/office/powerpoint/2010/main" val="1843820784"/>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Tasks 1 and 2 • Conclusions">
            <a:extLst xmlns:a="http://schemas.openxmlformats.org/drawingml/2006/main">
              <a:ext uri="{FF2B5EF4-FFF2-40B4-BE49-F238E27FC236}">
                <a16:creationId xmlns:a16="http://schemas.microsoft.com/office/drawing/2014/main" id="{64E0CA81-B046-49DF-A57A-26B6A4476DA9}"/>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Tasks 1 and 2 • Conclusions</a:t>
            </a:r>
          </a:p>
        </p:txBody>
      </p:sp>
      <p:sp>
        <p:nvSpPr>
          <p:cNvPr id="2" name="Scale useful work, then verify the outcome">
            <a:extLst xmlns:a="http://schemas.openxmlformats.org/drawingml/2006/main">
              <a:ext uri="{FF2B5EF4-FFF2-40B4-BE49-F238E27FC236}">
                <a16:creationId xmlns:a16="http://schemas.microsoft.com/office/drawing/2014/main" id="{A1CE8EEB-E61E-4BEA-83BF-29B4EF782F2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Scale useful work, then verify the outcome</a:t>
            </a:r>
          </a:p>
        </p:txBody>
      </p:sp>
      <p:sp>
        <p:nvSpPr>
          <p:cNvPr id="3" name="Task 1: conditional performance">
            <a:extLst xmlns:a="http://schemas.openxmlformats.org/drawingml/2006/main">
              <a:ext uri="{FF2B5EF4-FFF2-40B4-BE49-F238E27FC236}">
                <a16:creationId xmlns:a16="http://schemas.microsoft.com/office/drawing/2014/main" id="{FB7B45B5-36BC-4962-9D13-0507889CC813}"/>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conditional performance</a:t>
            </a:r>
          </a:p>
        </p:txBody>
      </p:sp>
      <p:sp>
        <p:nvSpPr>
          <p:cNvPr id="4" name="Independent inverse-gather pixels suit CUDA; locality, ">
            <a:extLst xmlns:a="http://schemas.openxmlformats.org/drawingml/2006/main">
              <a:ext uri="{FF2B5EF4-FFF2-40B4-BE49-F238E27FC236}">
                <a16:creationId xmlns:a16="http://schemas.microsoft.com/office/drawing/2014/main" id="{46FAEC98-022C-4D52-A722-5B64229ACF47}"/>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Independent inverse-gather pixels suit CUDA;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locality, transfers and SM scheduling determine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speedup.</a:t>
            </a:r>
          </a:p>
        </p:txBody>
      </p:sp>
      <p:sp>
        <p:nvSpPr>
          <p:cNvPr id="5" name="GDS helps only a compatible storage-bound path. Next: c">
            <a:extLst xmlns:a="http://schemas.openxmlformats.org/drawingml/2006/main">
              <a:ext uri="{FF2B5EF4-FFF2-40B4-BE49-F238E27FC236}">
                <a16:creationId xmlns:a16="http://schemas.microsoft.com/office/drawing/2014/main" id="{A28E9949-1177-4F1D-B2B3-008D1E92AADC}"/>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GDS helps only a compatible storage-bound path.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compile, compare CPU/GPU output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 completed workloads.</a:t>
            </a:r>
          </a:p>
        </p:txBody>
      </p:sp>
      <p:sp>
        <p:nvSpPr>
          <p:cNvPr id="6" name="Task 2: accountable scaling">
            <a:extLst xmlns:a="http://schemas.openxmlformats.org/drawingml/2006/main">
              <a:ext uri="{FF2B5EF4-FFF2-40B4-BE49-F238E27FC236}">
                <a16:creationId xmlns:a16="http://schemas.microsoft.com/office/drawing/2014/main" id="{8C0BD0E8-736C-4CB1-9B81-B56A045C50C4}"/>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accountable scaling</a:t>
            </a:r>
          </a:p>
        </p:txBody>
      </p:sp>
      <p:sp>
        <p:nvSpPr>
          <p:cNvPr id="7" name="Measure energy and useful output; protect data, evaluat">
            <a:extLst xmlns:a="http://schemas.openxmlformats.org/drawingml/2006/main">
              <a:ext uri="{FF2B5EF4-FFF2-40B4-BE49-F238E27FC236}">
                <a16:creationId xmlns:a16="http://schemas.microsoft.com/office/drawing/2014/main" id="{FAA94580-E7A5-4478-B4EE-55DDB1B64729}"/>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 energy and useful output; protect data,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evaluate group harms and allocate access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transparently.</a:t>
            </a:r>
          </a:p>
        </p:txBody>
      </p:sp>
      <p:sp>
        <p:nvSpPr>
          <p:cNvPr id="8" name="Next: test a real cluster job and review outcomes. Sect">
            <a:extLst xmlns:a="http://schemas.openxmlformats.org/drawingml/2006/main">
              <a:ext uri="{FF2B5EF4-FFF2-40B4-BE49-F238E27FC236}">
                <a16:creationId xmlns:a16="http://schemas.microsoft.com/office/drawing/2014/main" id="{223DACE6-0810-4270-8EF8-F47BF22F5255}"/>
              </a:ext>
            </a:extLst>
          </p:cNvPr>
          <p:cNvSpPr>
            <a:spLocks xmlns:a="http://schemas.openxmlformats.org/drawingml/2006/main" noGrp="1"/>
          </p:cNvSpPr>
          <p:nvPr/>
        </p:nvSpPr>
        <p:spPr>
          <a:xfrm xmlns:a="http://schemas.openxmlformats.org/drawingml/2006/main">
            <a:off x="641985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test a real cluster job and review outcomes.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Sector projections and proposed policies are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evidence limits, not measured results.</a:t>
            </a:r>
          </a:p>
        </p:txBody>
      </p:sp>
      <p:sp>
        <p:nvSpPr>
          <p:cNvPr id="9" name="">
            <a:extLst xmlns:a="http://schemas.openxmlformats.org/drawingml/2006/main">
              <a:ext uri="{FF2B5EF4-FFF2-40B4-BE49-F238E27FC236}">
                <a16:creationId xmlns:a16="http://schemas.microsoft.com/office/drawing/2014/main" id="{BAF962ED-C9E0-46D0-B70B-853988298B23}"/>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5EE5B809-DE11-4EBE-B29A-6C9C0A1FD13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Sources: [2] NVIDIA CUDA Best Practices; [3] NVIDIA GDS">
            <a:extLst xmlns:a="http://schemas.openxmlformats.org/drawingml/2006/main">
              <a:ext uri="{FF2B5EF4-FFF2-40B4-BE49-F238E27FC236}">
                <a16:creationId xmlns:a16="http://schemas.microsoft.com/office/drawing/2014/main" id="{692DBA52-16C6-4312-860F-B207F1A50210}"/>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[16] NIST: Govern, Map, Measure,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2" name="6 / 26">
            <a:extLst xmlns:a="http://schemas.openxmlformats.org/drawingml/2006/main">
              <a:ext uri="{FF2B5EF4-FFF2-40B4-BE49-F238E27FC236}">
                <a16:creationId xmlns:a16="http://schemas.microsoft.com/office/drawing/2014/main" id="{D6F7133C-44C9-4E76-95CA-1F5B0CC4C46E}"/>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6 / 26</a:t>
            </a:r>
          </a:p>
        </p:txBody>
      </p:sp>
    </p:spTree>
    <p:extLst>
      <p:ext uri="{BB962C8B-B14F-4D97-AF65-F5344CB8AC3E}">
        <p14:creationId xmlns:p14="http://schemas.microsoft.com/office/powerpoint/2010/main" val="1918204215"/>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Not part of the seven-minute presentation">
            <a:extLst xmlns:a="http://schemas.openxmlformats.org/drawingml/2006/main">
              <a:ext uri="{FF2B5EF4-FFF2-40B4-BE49-F238E27FC236}">
                <a16:creationId xmlns:a16="http://schemas.microsoft.com/office/drawing/2014/main" id="{42895A0B-25F9-423D-92E4-0F9A933C4E3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Not part of the seven-minute presentation</a:t>
            </a:r>
          </a:p>
        </p:txBody>
      </p:sp>
      <p:sp>
        <p:nvSpPr>
          <p:cNvPr id="2" name="Detailed answers and supporting evidence">
            <a:extLst xmlns:a="http://schemas.openxmlformats.org/drawingml/2006/main">
              <a:ext uri="{FF2B5EF4-FFF2-40B4-BE49-F238E27FC236}">
                <a16:creationId xmlns:a16="http://schemas.microsoft.com/office/drawing/2014/main" id="{2299BA07-464F-45CD-B8DB-2DC330B08AF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Detailed answers and supporting evidence</a:t>
            </a:r>
          </a:p>
        </p:txBody>
      </p:sp>
      <p:sp>
        <p:nvSpPr>
          <p:cNvPr id="3" name="Task 1: implementation and analysis">
            <a:extLst xmlns:a="http://schemas.openxmlformats.org/drawingml/2006/main">
              <a:ext uri="{FF2B5EF4-FFF2-40B4-BE49-F238E27FC236}">
                <a16:creationId xmlns:a16="http://schemas.microsoft.com/office/drawing/2014/main" id="{434E6F24-F2C8-425E-B144-B8B1D7CC3402}"/>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and analysis</a:t>
            </a:r>
          </a:p>
        </p:txBody>
      </p:sp>
      <p:sp>
        <p:nvSpPr>
          <p:cNvPr id="4" name="Complete rotation and brightness examples, thread/grid ">
            <a:extLst xmlns:a="http://schemas.openxmlformats.org/drawingml/2006/main">
              <a:ext uri="{FF2B5EF4-FFF2-40B4-BE49-F238E27FC236}">
                <a16:creationId xmlns:a16="http://schemas.microsoft.com/office/drawing/2014/main" id="{CF04679C-4EF4-48D3-B435-317991201F7A}"/>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Complete rotation and brightness examples,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thread/grid calculations, host launch and stream</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completion.</a:t>
            </a:r>
          </a:p>
        </p:txBody>
      </p:sp>
      <p:sp>
        <p:nvSpPr>
          <p:cNvPr id="5" name="Worked rotation, coordinate assumptions, launch-shape t">
            <a:extLst xmlns:a="http://schemas.openxmlformats.org/drawingml/2006/main">
              <a:ext uri="{FF2B5EF4-FFF2-40B4-BE49-F238E27FC236}">
                <a16:creationId xmlns:a16="http://schemas.microsoft.com/office/drawing/2014/main" id="{9BB445DF-7030-491F-B609-4320A6BBCB43}"/>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Worked rotation, coordinate assumptions,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launch-shape trade-offs, Amdahl bound, profiling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GPUDirect Storage decision.</a:t>
            </a:r>
          </a:p>
        </p:txBody>
      </p:sp>
      <p:sp>
        <p:nvSpPr>
          <p:cNvPr id="6" name="Task 2: research and policy">
            <a:extLst xmlns:a="http://schemas.openxmlformats.org/drawingml/2006/main">
              <a:ext uri="{FF2B5EF4-FFF2-40B4-BE49-F238E27FC236}">
                <a16:creationId xmlns:a16="http://schemas.microsoft.com/office/drawing/2014/main" id="{AD352F8C-3C2F-4539-838F-13D6A3DA75CD}"/>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research and policy</a:t>
            </a:r>
          </a:p>
        </p:txBody>
      </p:sp>
      <p:sp>
        <p:nvSpPr>
          <p:cNvPr id="7" name="Parallel training, energy/carbon calculations, environm">
            <a:extLst xmlns:a="http://schemas.openxmlformats.org/drawingml/2006/main">
              <a:ext uri="{FF2B5EF4-FFF2-40B4-BE49-F238E27FC236}">
                <a16:creationId xmlns:a16="http://schemas.microsoft.com/office/drawing/2014/main" id="{E21C3FA6-9731-4B97-A778-5B135D908BD6}"/>
              </a:ext>
            </a:extLst>
          </p:cNvPr>
          <p:cNvSpPr>
            <a:spLocks xmlns:a="http://schemas.openxmlformats.org/drawingml/2006/main" noGrp="1"/>
          </p:cNvSpPr>
          <p:nvPr/>
        </p:nvSpPr>
        <p:spPr>
          <a:xfrm xmlns:a="http://schemas.openxmlformats.org/drawingml/2006/main">
            <a:off x="6419850" y="1971675"/>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Parallel training, energy/carbon calculations,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environmental accounting and research limitations.</a:t>
            </a:r>
          </a:p>
        </p:txBody>
      </p:sp>
      <p:sp>
        <p:nvSpPr>
          <p:cNvPr id="8" name="Risk owners, fairness example, allocation policy, frame">
            <a:extLst xmlns:a="http://schemas.openxmlformats.org/drawingml/2006/main">
              <a:ext uri="{FF2B5EF4-FFF2-40B4-BE49-F238E27FC236}">
                <a16:creationId xmlns:a16="http://schemas.microsoft.com/office/drawing/2014/main" id="{0CD9E5A3-FF7F-4D3A-ABA9-2DA2164B1514}"/>
              </a:ext>
            </a:extLst>
          </p:cNvPr>
          <p:cNvSpPr>
            <a:spLocks xmlns:a="http://schemas.openxmlformats.org/drawingml/2006/main" noGrp="1"/>
          </p:cNvSpPr>
          <p:nvPr/>
        </p:nvSpPr>
        <p:spPr>
          <a:xfrm xmlns:a="http://schemas.openxmlformats.org/drawingml/2006/main">
            <a:off x="6419850" y="2724531"/>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Risk owners, fairness example, allocation policy,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framework roles, carbon-aware scheduling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cross-topic comparisons.</a:t>
            </a:r>
          </a:p>
        </p:txBody>
      </p:sp>
      <p:sp>
        <p:nvSpPr>
          <p:cNvPr id="9" name="">
            <a:extLst xmlns:a="http://schemas.openxmlformats.org/drawingml/2006/main">
              <a:ext uri="{FF2B5EF4-FFF2-40B4-BE49-F238E27FC236}">
                <a16:creationId xmlns:a16="http://schemas.microsoft.com/office/drawing/2014/main" id="{9B88CA15-6458-40E1-AA25-E405E8DC1397}"/>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B274EE4C-B23D-4BE6-93FE-4E7F651778A4}"/>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3A103471-7CE7-41D0-B063-1132A13E112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7 / 26">
            <a:extLst xmlns:a="http://schemas.openxmlformats.org/drawingml/2006/main">
              <a:ext uri="{FF2B5EF4-FFF2-40B4-BE49-F238E27FC236}">
                <a16:creationId xmlns:a16="http://schemas.microsoft.com/office/drawing/2014/main" id="{678858D5-7509-42AC-B67C-52A3EEC5BA1E}"/>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7 / 26</a:t>
            </a:r>
          </a:p>
        </p:txBody>
      </p:sp>
    </p:spTree>
    <p:extLst>
      <p:ext uri="{BB962C8B-B14F-4D97-AF65-F5344CB8AC3E}">
        <p14:creationId xmlns:p14="http://schemas.microsoft.com/office/powerpoint/2010/main" val="1900389984"/>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9" name="Appendix • Task 2 • Task 2 • HPC and AI">
            <a:extLst xmlns:a="http://schemas.openxmlformats.org/drawingml/2006/main">
              <a:ext uri="{FF2B5EF4-FFF2-40B4-BE49-F238E27FC236}">
                <a16:creationId xmlns:a16="http://schemas.microsoft.com/office/drawing/2014/main" id="{2AD96BF7-28C8-4C57-877B-5B29451D262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 • HPC and AI</a:t>
            </a:r>
          </a:p>
        </p:txBody>
      </p:sp>
      <p:sp>
        <p:nvSpPr>
          <p:cNvPr id="2" name="Parallel training across a compute cluster">
            <a:extLst xmlns:a="http://schemas.openxmlformats.org/drawingml/2006/main">
              <a:ext uri="{FF2B5EF4-FFF2-40B4-BE49-F238E27FC236}">
                <a16:creationId xmlns:a16="http://schemas.microsoft.com/office/drawing/2014/main" id="{BE0CDBFF-C181-4343-9733-DE0FDA0F51F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Parallel training across a compute cluster</a:t>
            </a:r>
          </a:p>
        </p:txBody>
      </p:sp>
      <p:sp>
        <p:nvSpPr>
          <p:cNvPr id="3" name="">
            <a:extLst xmlns:a="http://schemas.openxmlformats.org/drawingml/2006/main">
              <a:ext uri="{FF2B5EF4-FFF2-40B4-BE49-F238E27FC236}">
                <a16:creationId xmlns:a16="http://schemas.microsoft.com/office/drawing/2014/main" id="{CA2F9AA0-A155-42F0-82DF-7B903D389E5B}"/>
              </a:ext>
            </a:extLst>
          </p:cNvPr>
          <p:cNvSpPr>
            <a:spLocks xmlns:a="http://schemas.openxmlformats.org/drawingml/2006/main" noGrp="1"/>
          </p:cNvSpPr>
          <p:nvPr/>
        </p:nvSpPr>
        <p:spPr>
          <a:xfrm xmlns:a="http://schemas.openxmlformats.org/drawingml/2006/main">
            <a:off x="609600" y="1733550"/>
            <a:ext cx="297180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0</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partition A</a:t>
            </a:r>
          </a:p>
        </p:txBody>
      </p:sp>
      <p:sp>
        <p:nvSpPr>
          <p:cNvPr id="4" name="">
            <a:extLst xmlns:a="http://schemas.openxmlformats.org/drawingml/2006/main">
              <a:ext uri="{FF2B5EF4-FFF2-40B4-BE49-F238E27FC236}">
                <a16:creationId xmlns:a16="http://schemas.microsoft.com/office/drawing/2014/main" id="{090CE270-FDC6-40D5-BB90-7E64A88C5FCB}"/>
              </a:ext>
            </a:extLst>
          </p:cNvPr>
          <p:cNvSpPr>
            <a:spLocks xmlns:a="http://schemas.openxmlformats.org/drawingml/2006/main" noGrp="1"/>
          </p:cNvSpPr>
          <p:nvPr/>
        </p:nvSpPr>
        <p:spPr>
          <a:xfrm xmlns:a="http://schemas.openxmlformats.org/drawingml/2006/main">
            <a:off x="4610100" y="1733550"/>
            <a:ext cx="297180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1</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partition B</a:t>
            </a:r>
          </a:p>
        </p:txBody>
      </p:sp>
      <p:sp>
        <p:nvSpPr>
          <p:cNvPr id="5" name="">
            <a:extLst xmlns:a="http://schemas.openxmlformats.org/drawingml/2006/main">
              <a:ext uri="{FF2B5EF4-FFF2-40B4-BE49-F238E27FC236}">
                <a16:creationId xmlns:a16="http://schemas.microsoft.com/office/drawing/2014/main" id="{69BF7607-1783-4524-9398-69F001EE0ABB}"/>
              </a:ext>
            </a:extLst>
          </p:cNvPr>
          <p:cNvSpPr>
            <a:spLocks xmlns:a="http://schemas.openxmlformats.org/drawingml/2006/main" noGrp="1"/>
          </p:cNvSpPr>
          <p:nvPr/>
        </p:nvSpPr>
        <p:spPr>
          <a:xfrm xmlns:a="http://schemas.openxmlformats.org/drawingml/2006/main">
            <a:off x="8610600" y="1733550"/>
            <a:ext cx="297180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2</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partition C</a:t>
            </a:r>
          </a:p>
        </p:txBody>
      </p:sp>
      <p:sp>
        <p:nvSpPr>
          <p:cNvPr id="6" name="">
            <a:extLst xmlns:a="http://schemas.openxmlformats.org/drawingml/2006/main">
              <a:ext uri="{FF2B5EF4-FFF2-40B4-BE49-F238E27FC236}">
                <a16:creationId xmlns:a16="http://schemas.microsoft.com/office/drawing/2014/main" id="{E2C8D09E-AB29-48E3-A6C1-2AD47AEEB658}"/>
              </a:ext>
            </a:extLst>
          </p:cNvPr>
          <p:cNvSpPr>
            <a:spLocks xmlns:a="http://schemas.openxmlformats.org/drawingml/2006/main" noGrp="1"/>
          </p:cNvSpPr>
          <p:nvPr/>
        </p:nvSpPr>
        <p:spPr>
          <a:xfrm xmlns:a="http://schemas.openxmlformats.org/drawingml/2006/main">
            <a:off x="609600" y="3714750"/>
            <a:ext cx="109728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Gradient all-reduce: average + share → consistent update on every GPU</a:t>
            </a:r>
          </a:p>
        </p:txBody>
      </p:sp>
      <p:cxnSp>
        <p:nvCxnSpPr>
          <p:cNvPr id="7" name="">
            <a:extLst xmlns:a="http://schemas.openxmlformats.org/drawingml/2006/main">
              <a:ext uri="{FF2B5EF4-FFF2-40B4-BE49-F238E27FC236}">
                <a16:creationId xmlns:a16="http://schemas.microsoft.com/office/drawing/2014/main" id="{0E616EE4-9038-4404-B8BA-271BA3180FC5}"/>
              </a:ext>
            </a:extLst>
          </p:cNvPr>
          <p:cNvCxnSpPr/>
          <p:nvPr/>
        </p:nvCxnSpPr>
        <p:spPr>
          <a:xfrm xmlns:a="http://schemas.openxmlformats.org/drawingml/2006/main">
            <a:off x="2095500" y="2857500"/>
            <a:ext cx="0" cy="857250"/>
          </a:xfrm>
          <a:prstGeom xmlns:a="http://schemas.openxmlformats.org/drawingml/2006/main" prst="straightConnector1">
            <a:avLst/>
          </a:prstGeom>
          <a:ln xmlns:a="http://schemas.openxmlformats.org/drawingml/2006/main" w="19050">
            <a:solidFill>
              <a:srgbClr val="007B83"/>
            </a:solidFill>
            <a:tailEnd type="arrow" w="med" len="med"/>
          </a:ln>
        </p:spPr>
      </p:cxnSp>
      <p:cxnSp>
        <p:nvCxnSpPr>
          <p:cNvPr id="8" name="">
            <a:extLst xmlns:a="http://schemas.openxmlformats.org/drawingml/2006/main">
              <a:ext uri="{FF2B5EF4-FFF2-40B4-BE49-F238E27FC236}">
                <a16:creationId xmlns:a16="http://schemas.microsoft.com/office/drawing/2014/main" id="{7DD95EC6-8759-4402-951E-C570A8C3818A}"/>
              </a:ext>
            </a:extLst>
          </p:cNvPr>
          <p:cNvCxnSpPr/>
          <p:nvPr/>
        </p:nvCxnSpPr>
        <p:spPr>
          <a:xfrm xmlns:a="http://schemas.openxmlformats.org/drawingml/2006/main">
            <a:off x="6096000" y="2857500"/>
            <a:ext cx="0" cy="857250"/>
          </a:xfrm>
          <a:prstGeom xmlns:a="http://schemas.openxmlformats.org/drawingml/2006/main" prst="straightConnector1">
            <a:avLst/>
          </a:prstGeom>
          <a:ln xmlns:a="http://schemas.openxmlformats.org/drawingml/2006/main" w="19050">
            <a:solidFill>
              <a:srgbClr val="007B83"/>
            </a:solidFill>
            <a:tailEnd type="arrow" w="med" len="med"/>
          </a:ln>
        </p:spPr>
      </p:cxnSp>
      <p:cxnSp>
        <p:nvCxnSpPr>
          <p:cNvPr id="9" name="">
            <a:extLst xmlns:a="http://schemas.openxmlformats.org/drawingml/2006/main">
              <a:ext uri="{FF2B5EF4-FFF2-40B4-BE49-F238E27FC236}">
                <a16:creationId xmlns:a16="http://schemas.microsoft.com/office/drawing/2014/main" id="{281C3DC1-3816-48EB-9F20-F596BAE4A404}"/>
              </a:ext>
            </a:extLst>
          </p:cNvPr>
          <p:cNvCxnSpPr/>
          <p:nvPr/>
        </p:nvCxnSpPr>
        <p:spPr>
          <a:xfrm xmlns:a="http://schemas.openxmlformats.org/drawingml/2006/main">
            <a:off x="10096500" y="2857500"/>
            <a:ext cx="0" cy="857250"/>
          </a:xfrm>
          <a:prstGeom xmlns:a="http://schemas.openxmlformats.org/drawingml/2006/main" prst="straightConnector1">
            <a:avLst/>
          </a:prstGeom>
          <a:ln xmlns:a="http://schemas.openxmlformats.org/drawingml/2006/main" w="19050">
            <a:solidFill>
              <a:srgbClr val="007B83"/>
            </a:solidFill>
            <a:tailEnd type="arrow" w="med" len="med"/>
          </a:ln>
        </p:spPr>
      </p:cxnSp>
      <p:sp>
        <p:nvSpPr>
          <p:cNvPr id="10" name="Interconnect:&#10;latency and bandwidth">
            <a:extLst xmlns:a="http://schemas.openxmlformats.org/drawingml/2006/main">
              <a:ext uri="{FF2B5EF4-FFF2-40B4-BE49-F238E27FC236}">
                <a16:creationId xmlns:a16="http://schemas.microsoft.com/office/drawing/2014/main" id="{A496EEBE-8BCF-4DDE-A0BE-50835FA83938}"/>
              </a:ext>
            </a:extLst>
          </p:cNvPr>
          <p:cNvSpPr>
            <a:spLocks xmlns:a="http://schemas.openxmlformats.org/drawingml/2006/main" noGrp="1"/>
          </p:cNvSpPr>
          <p:nvPr/>
        </p:nvSpPr>
        <p:spPr>
          <a:xfrm xmlns:a="http://schemas.openxmlformats.org/drawingml/2006/main">
            <a:off x="2619375" y="3038475"/>
            <a:ext cx="2990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07B83"/>
                </a:solidFill>
                <a:latin typeface="Arial"/>
                <a:ea typeface="Arial"/>
                <a:cs typeface="Arial"/>
              </a:defRPr>
            </a:defPPr>
          </a:lstStyle>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Interconnect:</a:t>
            </a:r>
          </a:p>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latency and bandwidth</a:t>
            </a:r>
          </a:p>
        </p:txBody>
      </p:sp>
      <p:sp>
        <p:nvSpPr>
          <p:cNvPr id="11" name="Gradient synchronization&#10;before each update">
            <a:extLst xmlns:a="http://schemas.openxmlformats.org/drawingml/2006/main">
              <a:ext uri="{FF2B5EF4-FFF2-40B4-BE49-F238E27FC236}">
                <a16:creationId xmlns:a16="http://schemas.microsoft.com/office/drawing/2014/main" id="{E4C495A5-315C-4586-8E54-8993D9622F0B}"/>
              </a:ext>
            </a:extLst>
          </p:cNvPr>
          <p:cNvSpPr>
            <a:spLocks xmlns:a="http://schemas.openxmlformats.org/drawingml/2006/main" noGrp="1"/>
          </p:cNvSpPr>
          <p:nvPr/>
        </p:nvSpPr>
        <p:spPr>
          <a:xfrm xmlns:a="http://schemas.openxmlformats.org/drawingml/2006/main">
            <a:off x="6629400" y="3038475"/>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07B83"/>
                </a:solidFill>
                <a:latin typeface="Arial"/>
                <a:ea typeface="Arial"/>
                <a:cs typeface="Arial"/>
              </a:defRPr>
            </a:defPPr>
          </a:lstStyle>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Gradient synchronization</a:t>
            </a:r>
          </a:p>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before each update</a:t>
            </a:r>
          </a:p>
        </p:txBody>
      </p:sp>
      <p:sp>
        <p:nvSpPr>
          <p:cNvPr id="12" name="HPC combines processors, memory, networks and storage. ">
            <a:extLst xmlns:a="http://schemas.openxmlformats.org/drawingml/2006/main">
              <a:ext uri="{FF2B5EF4-FFF2-40B4-BE49-F238E27FC236}">
                <a16:creationId xmlns:a16="http://schemas.microsoft.com/office/drawing/2014/main" id="{8DCF1C46-0EEC-4BD7-81C3-FC4042D38394}"/>
              </a:ext>
            </a:extLst>
          </p:cNvPr>
          <p:cNvSpPr>
            <a:spLocks xmlns:a="http://schemas.openxmlformats.org/drawingml/2006/main" noGrp="1"/>
          </p:cNvSpPr>
          <p:nvPr/>
        </p:nvSpPr>
        <p:spPr>
          <a:xfrm xmlns:a="http://schemas.openxmlformats.org/drawingml/2006/main">
            <a:off x="609600" y="4752975"/>
            <a:ext cx="521970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HPC combines processors, memory, networks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storage. Tensor/pipeline parallelism can also split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model.</a:t>
            </a:r>
          </a:p>
        </p:txBody>
      </p:sp>
      <p:sp>
        <p:nvSpPr>
          <p:cNvPr id="13" name="More GPUs enable larger work; communication, serial wor">
            <a:extLst xmlns:a="http://schemas.openxmlformats.org/drawingml/2006/main">
              <a:ext uri="{FF2B5EF4-FFF2-40B4-BE49-F238E27FC236}">
                <a16:creationId xmlns:a16="http://schemas.microsoft.com/office/drawing/2014/main" id="{C56C8FE7-F929-45F1-929C-D3A7B5C59D9B}"/>
              </a:ext>
            </a:extLst>
          </p:cNvPr>
          <p:cNvSpPr>
            <a:spLocks xmlns:a="http://schemas.openxmlformats.org/drawingml/2006/main" noGrp="1"/>
          </p:cNvSpPr>
          <p:nvPr/>
        </p:nvSpPr>
        <p:spPr>
          <a:xfrm xmlns:a="http://schemas.openxmlformats.org/drawingml/2006/main">
            <a:off x="6419850" y="4752975"/>
            <a:ext cx="51625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More GPUs enable larger work; communication,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serial work and imbalance limit speedup. Evaluate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useful output against resource cost.</a:t>
            </a:r>
          </a:p>
        </p:txBody>
      </p:sp>
      <p:sp>
        <p:nvSpPr>
          <p:cNvPr id="14" name="">
            <a:extLst xmlns:a="http://schemas.openxmlformats.org/drawingml/2006/main">
              <a:ext uri="{FF2B5EF4-FFF2-40B4-BE49-F238E27FC236}">
                <a16:creationId xmlns:a16="http://schemas.microsoft.com/office/drawing/2014/main" id="{C4524368-CE91-43B3-B902-C19AE93B9CFD}"/>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5" name="Scaling adds capacity and communication: ethical costs ">
            <a:extLst xmlns:a="http://schemas.openxmlformats.org/drawingml/2006/main">
              <a:ext uri="{FF2B5EF4-FFF2-40B4-BE49-F238E27FC236}">
                <a16:creationId xmlns:a16="http://schemas.microsoft.com/office/drawing/2014/main" id="{7A3C17FF-9086-428D-8757-AC1A78571A09}"/>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Scaling adds capacity and communication: ethical costs depend on useful work.</a:t>
            </a:r>
          </a:p>
        </p:txBody>
      </p:sp>
      <p:sp>
        <p:nvSpPr>
          <p:cNvPr id="16" name="">
            <a:extLst xmlns:a="http://schemas.openxmlformats.org/drawingml/2006/main">
              <a:ext uri="{FF2B5EF4-FFF2-40B4-BE49-F238E27FC236}">
                <a16:creationId xmlns:a16="http://schemas.microsoft.com/office/drawing/2014/main" id="{CAEA01C7-FE10-4FBD-A420-1AC5D8995AD8}"/>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7" name="Sources: [5] NVIDIA Megatron parallelism; [2] NVIDIA CU">
            <a:extLst xmlns:a="http://schemas.openxmlformats.org/drawingml/2006/main">
              <a:ext uri="{FF2B5EF4-FFF2-40B4-BE49-F238E27FC236}">
                <a16:creationId xmlns:a16="http://schemas.microsoft.com/office/drawing/2014/main" id="{501F5D6C-7AC7-4977-AFEF-EEBED3B55211}"/>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[5] NVIDIA Megatron parallelism; [2] NVIDIA CUDA Best Practices</a:t>
            </a:r>
          </a:p>
        </p:txBody>
      </p:sp>
      <p:sp>
        <p:nvSpPr>
          <p:cNvPr id="18" name="8 / 26">
            <a:extLst xmlns:a="http://schemas.openxmlformats.org/drawingml/2006/main">
              <a:ext uri="{FF2B5EF4-FFF2-40B4-BE49-F238E27FC236}">
                <a16:creationId xmlns:a16="http://schemas.microsoft.com/office/drawing/2014/main" id="{D2AE4846-E740-4D5F-A8D9-0BA17368262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8 / 26</a:t>
            </a:r>
          </a:p>
        </p:txBody>
      </p:sp>
    </p:spTree>
    <p:extLst>
      <p:ext uri="{BB962C8B-B14F-4D97-AF65-F5344CB8AC3E}">
        <p14:creationId xmlns:p14="http://schemas.microsoft.com/office/powerpoint/2010/main" val="1952722670"/>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Appendix • Task 2 • Task 2(a) • Illustrative energy cal">
            <a:extLst xmlns:a="http://schemas.openxmlformats.org/drawingml/2006/main">
              <a:ext uri="{FF2B5EF4-FFF2-40B4-BE49-F238E27FC236}">
                <a16:creationId xmlns:a16="http://schemas.microsoft.com/office/drawing/2014/main" id="{BAB0A8EF-902B-4C72-9736-D7C832F73024}"/>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2(a) • Illustrative energy calculation</a:t>
            </a:r>
          </a:p>
        </p:txBody>
      </p:sp>
      <p:sp>
        <p:nvSpPr>
          <p:cNvPr id="2" name="A faster job can consume more energy">
            <a:extLst xmlns:a="http://schemas.openxmlformats.org/drawingml/2006/main">
              <a:ext uri="{FF2B5EF4-FFF2-40B4-BE49-F238E27FC236}">
                <a16:creationId xmlns:a16="http://schemas.microsoft.com/office/drawing/2014/main" id="{B59C29FB-CA30-48EA-A2B8-2EF74DFF67E4}"/>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 faster job can consume more energy</a:t>
            </a:r>
          </a:p>
        </p:txBody>
      </p:sp>
      <p:graphicFrame>
        <p:nvGraphicFramePr>
          <p:cNvPr id="3" name="">
            <a:extLst xmlns:a="http://schemas.openxmlformats.org/drawingml/2006/main">
              <a:ext uri="{FF2B5EF4-FFF2-40B4-BE49-F238E27FC236}">
                <a16:creationId xmlns:a16="http://schemas.microsoft.com/office/drawing/2014/main" id="{B34B296E-03FE-4E63-A82B-E2DA525EEF0A}"/>
              </a:ext>
            </a:extLst>
          </p:cNvPr>
          <p:cNvGraphicFramePr/>
          <p:nvPr/>
        </p:nvGraphicFramePr>
        <p:xfrm>
          <a:off xmlns:a="http://schemas.openxmlformats.org/drawingml/2006/main" x="609600" y="1562100"/>
          <a:ext xmlns:a="http://schemas.openxmlformats.org/drawingml/2006/main" cx="10972800" cy="25717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Assumed configuration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Completed runtime</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Whole-job energy</a:t>
                      </a:r>
                    </a:p>
                  </a:txBody>
                  <a:tcPr marL="91440" marR="91440" marT="45720" marB="45720" anchor="ctr">
                    <a:solidFill>
                      <a:srgbClr val="142D45"/>
                    </a:solidFill>
                  </a:tcPr>
                </a:tc>
              </a:tr>
              <a:tr h="1019175">
                <a:tc>
                  <a:txBody>
                    <a:bodyPr lIns="95250" tIns="95250" rIns="95250" bIns="95250">
                      <a:noAutofit/>
                    </a:bodyPr>
                    <a:lstStyle/>
                    <a:p>
                      <a:pPr algn="l"/>
                      <a:r>
                        <a:rPr sz="1500" b="0">
                          <a:solidFill>
                            <a:srgbClr val="142D45"/>
                          </a:solidFill>
                          <a:latin typeface="Arial"/>
                          <a:ea typeface="Arial"/>
                          <a:cs typeface="Arial"/>
                        </a:rPr>
                        <a:t>Lower parallel scale; 1 kW</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2.0 hours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1 × 2.0 = 2.0 kWh</a:t>
                      </a:r>
                    </a:p>
                  </a:txBody>
                  <a:tcPr marL="91440" marR="91440" marT="45720" marB="45720" anchor="ctr">
                    <a:solidFill>
                      <a:srgbClr val="FFFFFF"/>
                    </a:solidFill>
                  </a:tcPr>
                </a:tc>
              </a:tr>
              <a:tr h="1019175">
                <a:tc>
                  <a:txBody>
                    <a:bodyPr lIns="95250" tIns="95250" rIns="95250" bIns="95250">
                      <a:noAutofit/>
                    </a:bodyPr>
                    <a:lstStyle/>
                    <a:p>
                      <a:pPr algn="l"/>
                      <a:r>
                        <a:rPr sz="1500" b="0">
                          <a:solidFill>
                            <a:srgbClr val="142D45"/>
                          </a:solidFill>
                          <a:latin typeface="Arial"/>
                          <a:ea typeface="Arial"/>
                          <a:cs typeface="Arial"/>
                        </a:rPr>
                        <a:t>Higher parallel scale; 2 kW</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1.2 hours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2 × 1.2 = 2.4 kWh</a:t>
                      </a:r>
                    </a:p>
                  </a:txBody>
                  <a:tcPr marL="91440" marR="91440" marT="45720" marB="45720" anchor="ctr">
                    <a:solidFill>
                      <a:srgbClr val="F0F4F4"/>
                    </a:solidFill>
                  </a:tcPr>
                </a:tc>
              </a:tr>
            </a:tbl>
          </a:graphicData>
        </a:graphic>
      </p:graphicFrame>
      <p:sp>
        <p:nvSpPr>
          <p:cNvPr id="4" name="Illustrative constant power assumptions, not measuremen">
            <a:extLst xmlns:a="http://schemas.openxmlformats.org/drawingml/2006/main">
              <a:ext uri="{FF2B5EF4-FFF2-40B4-BE49-F238E27FC236}">
                <a16:creationId xmlns:a16="http://schemas.microsoft.com/office/drawing/2014/main" id="{F9A18435-474B-4969-8BB9-133249732B27}"/>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Illustrative constant power assumptions, not measurements. Same useful output is assumed; faster completion uses 20% more</a:t>
            </a:r>
          </a:p>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energy here.</a:t>
            </a:r>
          </a:p>
        </p:txBody>
      </p:sp>
      <p:sp>
        <p:nvSpPr>
          <p:cNvPr id="5" name="E = ∫ P(t) dt     •     Carbon ≈ Σ Einterval × carbon i">
            <a:extLst xmlns:a="http://schemas.openxmlformats.org/drawingml/2006/main">
              <a:ext uri="{FF2B5EF4-FFF2-40B4-BE49-F238E27FC236}">
                <a16:creationId xmlns:a16="http://schemas.microsoft.com/office/drawing/2014/main" id="{BBB860A3-F45F-4F11-8BF9-44026A846210}"/>
              </a:ext>
            </a:extLst>
          </p:cNvPr>
          <p:cNvSpPr>
            <a:spLocks xmlns:a="http://schemas.openxmlformats.org/drawingml/2006/main" noGrp="1"/>
          </p:cNvSpPr>
          <p:nvPr/>
        </p:nvSpPr>
        <p:spPr>
          <a:xfrm xmlns:a="http://schemas.openxmlformats.org/drawingml/2006/main">
            <a:off x="609600" y="4552950"/>
            <a:ext cx="10972800" cy="368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B83"/>
                </a:solidFill>
                <a:latin typeface="Arial"/>
                <a:ea typeface="Arial"/>
                <a:cs typeface="Arial"/>
              </a:defRPr>
            </a:defPPr>
          </a:lstStyle>
          <a:p xmlns:a="http://schemas.openxmlformats.org/drawingml/2006/main">
            <a:pPr algn="l">
              <a:defRPr sz="2100" b="1">
                <a:solidFill>
                  <a:srgbClr val="007B83"/>
                </a:solidFill>
                <a:latin typeface="Arial"/>
                <a:ea typeface="Arial"/>
                <a:cs typeface="Arial"/>
              </a:defRPr>
            </a:pPr>
            <a:r>
              <a:rPr sz="2100" b="1">
                <a:solidFill>
                  <a:srgbClr val="007B83"/>
                </a:solidFill>
                <a:latin typeface="Arial"/>
                <a:ea typeface="Arial"/>
                <a:cs typeface="Arial"/>
              </a:rPr>
              <a:t>E = ∫ P(t) dt • Carbon ≈ Σ Einterval × carbon intensity</a:t>
            </a:r>
          </a:p>
        </p:txBody>
      </p:sp>
      <p:sp>
        <p:nvSpPr>
          <p:cNvPr id="6" name="">
            <a:extLst xmlns:a="http://schemas.openxmlformats.org/drawingml/2006/main">
              <a:ext uri="{FF2B5EF4-FFF2-40B4-BE49-F238E27FC236}">
                <a16:creationId xmlns:a16="http://schemas.microsoft.com/office/drawing/2014/main" id="{2080F921-8F27-43B2-BD4D-EA3DF379A82D}"/>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7" name="Sources: [8] Strubell et al. 2019: cost and equity; [10">
            <a:extLst xmlns:a="http://schemas.openxmlformats.org/drawingml/2006/main">
              <a:ext uri="{FF2B5EF4-FFF2-40B4-BE49-F238E27FC236}">
                <a16:creationId xmlns:a16="http://schemas.microsoft.com/office/drawing/2014/main" id="{20C36F26-D843-48A8-A079-4AFB7AB13AAF}"/>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[8] Strubell et al. 2019: cost and equity; [10] Schwartz et al. 2019: efficiency reporting; [2] NVIDIA CUDA Best Practices</a:t>
            </a:r>
          </a:p>
        </p:txBody>
      </p:sp>
      <p:sp>
        <p:nvSpPr>
          <p:cNvPr id="8" name="9 / 26">
            <a:extLst xmlns:a="http://schemas.openxmlformats.org/drawingml/2006/main">
              <a:ext uri="{FF2B5EF4-FFF2-40B4-BE49-F238E27FC236}">
                <a16:creationId xmlns:a16="http://schemas.microsoft.com/office/drawing/2014/main" id="{CE02B7BE-7C98-47B3-B12B-F73778775DBC}"/>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9 / 26</a:t>
            </a:r>
          </a:p>
        </p:txBody>
      </p:sp>
    </p:spTree>
    <p:extLst>
      <p:ext uri="{BB962C8B-B14F-4D97-AF65-F5344CB8AC3E}">
        <p14:creationId xmlns:p14="http://schemas.microsoft.com/office/powerpoint/2010/main" val="510264118"/>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2 • Task 2(a) • Environmental accountin">
            <a:extLst xmlns:a="http://schemas.openxmlformats.org/drawingml/2006/main">
              <a:ext uri="{FF2B5EF4-FFF2-40B4-BE49-F238E27FC236}">
                <a16:creationId xmlns:a16="http://schemas.microsoft.com/office/drawing/2014/main" id="{73DCA2FC-6421-4E69-ADA2-85019D443C54}"/>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2(a) • Environmental accounting</a:t>
            </a:r>
          </a:p>
        </p:txBody>
      </p:sp>
      <p:sp>
        <p:nvSpPr>
          <p:cNvPr id="2" name="Environmental accounting and evidence limits">
            <a:extLst xmlns:a="http://schemas.openxmlformats.org/drawingml/2006/main">
              <a:ext uri="{FF2B5EF4-FFF2-40B4-BE49-F238E27FC236}">
                <a16:creationId xmlns:a16="http://schemas.microsoft.com/office/drawing/2014/main" id="{AD18D9B0-C6AF-4B3E-91AF-317B6F05587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Environmental accounting and evidence limits</a:t>
            </a:r>
          </a:p>
        </p:txBody>
      </p:sp>
      <p:sp>
        <p:nvSpPr>
          <p:cNvPr id="3" name="Define what is counted">
            <a:extLst xmlns:a="http://schemas.openxmlformats.org/drawingml/2006/main">
              <a:ext uri="{FF2B5EF4-FFF2-40B4-BE49-F238E27FC236}">
                <a16:creationId xmlns:a16="http://schemas.microsoft.com/office/drawing/2014/main" id="{43DD34CF-5E78-4186-B02A-BAB448F1EC20}"/>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Define what is counted</a:t>
            </a:r>
          </a:p>
        </p:txBody>
      </p:sp>
      <p:sp>
        <p:nvSpPr>
          <p:cNvPr id="4" name="Energy (kWh) integrates power (kW) over hours. Operatio">
            <a:extLst xmlns:a="http://schemas.openxmlformats.org/drawingml/2006/main">
              <a:ext uri="{FF2B5EF4-FFF2-40B4-BE49-F238E27FC236}">
                <a16:creationId xmlns:a16="http://schemas.microsoft.com/office/drawing/2014/main" id="{B89FF061-F434-42FA-96B8-C1F83F4548A2}"/>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Energy (kWh) integrates power (kW) over hours.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Operational emissions ≈ Σ energy in each interval ×</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that interval’s carbon intensity (kg CO₂e/kWh).</a:t>
            </a:r>
          </a:p>
        </p:txBody>
      </p:sp>
      <p:sp>
        <p:nvSpPr>
          <p:cNvPr id="5" name="Report accelerators, host CPUs, storage/networking and ">
            <a:extLst xmlns:a="http://schemas.openxmlformats.org/drawingml/2006/main">
              <a:ext uri="{FF2B5EF4-FFF2-40B4-BE49-F238E27FC236}">
                <a16:creationId xmlns:a16="http://schemas.microsoft.com/office/drawing/2014/main" id="{26743CA7-76F7-44D4-999B-F9535788A10D}"/>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Report accelerators, host CPUs, storage/networking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allocated cooling overhead; include failed runs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repeated tuning when evaluating a project.</a:t>
            </a:r>
          </a:p>
        </p:txBody>
      </p:sp>
      <p:sp>
        <p:nvSpPr>
          <p:cNvPr id="6" name="Hardware manufacture and disposal are embodied impacts ">
            <a:extLst xmlns:a="http://schemas.openxmlformats.org/drawingml/2006/main">
              <a:ext uri="{FF2B5EF4-FFF2-40B4-BE49-F238E27FC236}">
                <a16:creationId xmlns:a16="http://schemas.microsoft.com/office/drawing/2014/main" id="{52312812-994C-4E79-8B9C-5FFEA3962B24}"/>
              </a:ext>
            </a:extLst>
          </p:cNvPr>
          <p:cNvSpPr>
            <a:spLocks xmlns:a="http://schemas.openxmlformats.org/drawingml/2006/main" noGrp="1"/>
          </p:cNvSpPr>
          <p:nvPr/>
        </p:nvSpPr>
        <p:spPr>
          <a:xfrm xmlns:a="http://schemas.openxmlformats.org/drawingml/2006/main">
            <a:off x="609600" y="4020693"/>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Hardware manufacture and disposal are embodied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impacts beyond operational electricity. Water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withdrawal and water consumption are different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measures.</a:t>
            </a:r>
          </a:p>
        </p:txBody>
      </p:sp>
      <p:sp>
        <p:nvSpPr>
          <p:cNvPr id="7" name="Compare the evidence">
            <a:extLst xmlns:a="http://schemas.openxmlformats.org/drawingml/2006/main">
              <a:ext uri="{FF2B5EF4-FFF2-40B4-BE49-F238E27FC236}">
                <a16:creationId xmlns:a16="http://schemas.microsoft.com/office/drawing/2014/main" id="{A808F755-0FB5-473B-87CC-73DD3FD72FA0}"/>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Compare the evidence</a:t>
            </a:r>
          </a:p>
        </p:txBody>
      </p:sp>
      <p:sp>
        <p:nvSpPr>
          <p:cNvPr id="8" name="Strubell et al. quantify costs for selected historical ">
            <a:extLst xmlns:a="http://schemas.openxmlformats.org/drawingml/2006/main">
              <a:ext uri="{FF2B5EF4-FFF2-40B4-BE49-F238E27FC236}">
                <a16:creationId xmlns:a16="http://schemas.microsoft.com/office/drawing/2014/main" id="{9391CA8B-93B3-4D31-A3F7-5FF752EFCDB5}"/>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Strubell et al. quantify costs for selected historical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NLP training/development workloads; those values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are not universal 2026 model footprints.</a:t>
            </a:r>
          </a:p>
        </p:txBody>
      </p:sp>
      <p:sp>
        <p:nvSpPr>
          <p:cNvPr id="9" name="Green AI motivates reporting efficiency alongside accur">
            <a:extLst xmlns:a="http://schemas.openxmlformats.org/drawingml/2006/main">
              <a:ext uri="{FF2B5EF4-FFF2-40B4-BE49-F238E27FC236}">
                <a16:creationId xmlns:a16="http://schemas.microsoft.com/office/drawing/2014/main" id="{5B3412E2-33B5-460B-AD9E-599504E0D736}"/>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Green AI motivates reporting efficiency alongside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accuracy; Li et al. show why water varies with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place/time. Carbon alone misses local water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pressures.</a:t>
            </a:r>
          </a:p>
        </p:txBody>
      </p:sp>
      <p:sp>
        <p:nvSpPr>
          <p:cNvPr id="10" name="IEA sector totals provide context, not causal attributi">
            <a:extLst xmlns:a="http://schemas.openxmlformats.org/drawingml/2006/main">
              <a:ext uri="{FF2B5EF4-FFF2-40B4-BE49-F238E27FC236}">
                <a16:creationId xmlns:a16="http://schemas.microsoft.com/office/drawing/2014/main" id="{ACFF9986-E794-424F-82A3-E26A20A7268E}"/>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IEA sector totals provide context, not causal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attribution to one model. Forecasts depend 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demand and infrastructure assumptions; local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grid/cooling effects differ by site.</a:t>
            </a:r>
          </a:p>
        </p:txBody>
      </p:sp>
      <p:sp>
        <p:nvSpPr>
          <p:cNvPr id="11" name="">
            <a:extLst xmlns:a="http://schemas.openxmlformats.org/drawingml/2006/main">
              <a:ext uri="{FF2B5EF4-FFF2-40B4-BE49-F238E27FC236}">
                <a16:creationId xmlns:a16="http://schemas.microsoft.com/office/drawing/2014/main" id="{CE3AEF2F-B2EB-4244-96FD-3899147C2197}"/>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A51A0B64-056B-4D1B-AAB7-0D0245D5183E}"/>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6] IEA 2026: sector estimates and projection;">
            <a:extLst xmlns:a="http://schemas.openxmlformats.org/drawingml/2006/main">
              <a:ext uri="{FF2B5EF4-FFF2-40B4-BE49-F238E27FC236}">
                <a16:creationId xmlns:a16="http://schemas.microsoft.com/office/drawing/2014/main" id="{CFCD3F6E-B8CD-4B4B-AEE0-6E09168C520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[8] Strubell et al. 2019: cost and equity; [9] Li et al. 2025 revision: water impacts; [10] Schwartz et al. 2019: efficiency</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reporting</a:t>
            </a:r>
          </a:p>
        </p:txBody>
      </p:sp>
      <p:sp>
        <p:nvSpPr>
          <p:cNvPr id="14" name="10 / 26">
            <a:extLst xmlns:a="http://schemas.openxmlformats.org/drawingml/2006/main">
              <a:ext uri="{FF2B5EF4-FFF2-40B4-BE49-F238E27FC236}">
                <a16:creationId xmlns:a16="http://schemas.microsoft.com/office/drawing/2014/main" id="{92885647-FAE7-4C4E-888E-547400F7350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10 / 26</a:t>
            </a:r>
          </a:p>
        </p:txBody>
      </p:sp>
    </p:spTree>
    <p:extLst>
      <p:ext uri="{BB962C8B-B14F-4D97-AF65-F5344CB8AC3E}">
        <p14:creationId xmlns:p14="http://schemas.microsoft.com/office/powerpoint/2010/main" val="610170780"/>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Task 2(b) • Proposed governance con">
            <a:extLst xmlns:a="http://schemas.openxmlformats.org/drawingml/2006/main">
              <a:ext uri="{FF2B5EF4-FFF2-40B4-BE49-F238E27FC236}">
                <a16:creationId xmlns:a16="http://schemas.microsoft.com/office/drawing/2014/main" id="{3E1C06F8-7F77-4721-8245-A9392AFB16F0}"/>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2(b) • Proposed governance controls</a:t>
            </a:r>
          </a:p>
        </p:txBody>
      </p:sp>
      <p:sp>
        <p:nvSpPr>
          <p:cNvPr id="2" name="Governance controls and remaining risks">
            <a:extLst xmlns:a="http://schemas.openxmlformats.org/drawingml/2006/main">
              <a:ext uri="{FF2B5EF4-FFF2-40B4-BE49-F238E27FC236}">
                <a16:creationId xmlns:a16="http://schemas.microsoft.com/office/drawing/2014/main" id="{15AA9386-471B-4B8B-B2EC-0E3D8B166FDA}"/>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Governance controls and remaining risks</a:t>
            </a:r>
          </a:p>
        </p:txBody>
      </p:sp>
      <p:graphicFrame>
        <p:nvGraphicFramePr>
          <p:cNvPr id="3" name="">
            <a:extLst xmlns:a="http://schemas.openxmlformats.org/drawingml/2006/main">
              <a:ext uri="{FF2B5EF4-FFF2-40B4-BE49-F238E27FC236}">
                <a16:creationId xmlns:a16="http://schemas.microsoft.com/office/drawing/2014/main" id="{948757AC-66DC-4D62-98B4-95A797711E39}"/>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Risk / stakeholder</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Proposed control</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Residual limitation / owner</a:t>
                      </a:r>
                    </a:p>
                  </a:txBody>
                  <a:tcPr marL="91440" marR="91440" marT="45720" marB="45720" anchor="ctr">
                    <a:solidFill>
                      <a:srgbClr val="142D45"/>
                    </a:solidFill>
                  </a:tcPr>
                </a:tc>
              </a:tr>
              <a:tr h="833438">
                <a:tc>
                  <a:txBody>
                    <a:bodyPr lIns="95250" tIns="95250" rIns="95250" bIns="95250">
                      <a:noAutofit/>
                    </a:bodyPr>
                    <a:lstStyle/>
                    <a:p>
                      <a:pPr algn="l"/>
                      <a:r>
                        <a:rPr sz="1500" b="0">
                          <a:solidFill>
                            <a:srgbClr val="142D45"/>
                          </a:solidFill>
                          <a:latin typeface="Arial"/>
                          <a:ea typeface="Arial"/>
                          <a:cs typeface="Arial"/>
                        </a:rPr>
                        <a:t>Dataset misuse / data subjects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Provenance, permission checks, retention limits and access logs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 licence alone may not justify every use; data steward reviews purpose.</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Gradient/checkpoint exposure / participants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Least privilege, tenant isolation, protected transport and secure checkpoint storage</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Authorized endpoints can still see sensitive values; security owner models insider risk.</a:t>
                      </a:r>
                    </a:p>
                  </a:txBody>
                  <a:tcPr marL="91440" marR="91440" marT="45720" marB="45720" anchor="ctr">
                    <a:solidFill>
                      <a:srgbClr val="F0F4F4"/>
                    </a:solidFill>
                  </a:tcPr>
                </a:tc>
              </a:tr>
              <a:tr h="833438">
                <a:tc>
                  <a:txBody>
                    <a:bodyPr lIns="95250" tIns="95250" rIns="95250" bIns="95250">
                      <a:noAutofit/>
                    </a:bodyPr>
                    <a:lstStyle/>
                    <a:p>
                      <a:pPr algn="l"/>
                      <a:r>
                        <a:rPr sz="1500" b="0">
                          <a:solidFill>
                            <a:srgbClr val="142D45"/>
                          </a:solidFill>
                          <a:latin typeface="Arial"/>
                          <a:ea typeface="Arial"/>
                          <a:cs typeface="Arial"/>
                        </a:rPr>
                        <a:t>Unsafe dual use / affected public</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Authorized-use review, restricted access where justified and review of deployment risks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Controls cannot prevent every misuse; accountable owner weighs benefits/restrictions.</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Distributed replicas / operators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Track copies, deletion obligations and incident response across workers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Replication increases the number of assets to protect; operator audits recovery.</a:t>
                      </a:r>
                    </a:p>
                  </a:txBody>
                  <a:tcPr marL="91440" marR="91440" marT="45720" marB="45720" anchor="ctr">
                    <a:solidFill>
                      <a:srgbClr val="F0F4F4"/>
                    </a:solidFill>
                  </a:tcPr>
                </a:tc>
              </a:tr>
            </a:tbl>
          </a:graphicData>
        </a:graphic>
      </p:graphicFrame>
      <p:sp>
        <p:nvSpPr>
          <p:cNvPr id="4" name="These are proposed mitigations informed by research/fra">
            <a:extLst xmlns:a="http://schemas.openxmlformats.org/drawingml/2006/main">
              <a:ext uri="{FF2B5EF4-FFF2-40B4-BE49-F238E27FC236}">
                <a16:creationId xmlns:a16="http://schemas.microsoft.com/office/drawing/2014/main" id="{66A7CD73-064C-4156-AA35-78C511CF625E}"/>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These are proposed mitigations informed by research/frameworks, not a proof of privacy or a compliance certification.</a:t>
            </a:r>
          </a:p>
        </p:txBody>
      </p:sp>
      <p:sp>
        <p:nvSpPr>
          <p:cNvPr id="5" name="">
            <a:extLst xmlns:a="http://schemas.openxmlformats.org/drawingml/2006/main">
              <a:ext uri="{FF2B5EF4-FFF2-40B4-BE49-F238E27FC236}">
                <a16:creationId xmlns:a16="http://schemas.microsoft.com/office/drawing/2014/main" id="{2790D8C0-3DAF-4AAC-AF6D-3538C72EA355}"/>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11] Zhu et al. 2019: exposed gradients; [15] ">
            <a:extLst xmlns:a="http://schemas.openxmlformats.org/drawingml/2006/main">
              <a:ext uri="{FF2B5EF4-FFF2-40B4-BE49-F238E27FC236}">
                <a16:creationId xmlns:a16="http://schemas.microsoft.com/office/drawing/2014/main" id="{6E697315-8841-45A9-A586-51BB6431ABD4}"/>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[11] Zhu et al. 2019: exposed gradients; [15] OECD: rights, fairness and accountability; [16] NIST: Govern, Map, Measure, Manage</a:t>
            </a:r>
          </a:p>
        </p:txBody>
      </p:sp>
      <p:sp>
        <p:nvSpPr>
          <p:cNvPr id="7" name="11 / 26">
            <a:extLst xmlns:a="http://schemas.openxmlformats.org/drawingml/2006/main">
              <a:ext uri="{FF2B5EF4-FFF2-40B4-BE49-F238E27FC236}">
                <a16:creationId xmlns:a16="http://schemas.microsoft.com/office/drawing/2014/main" id="{17101489-1124-43D1-B25A-B3E79285773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11 / 26</a:t>
            </a:r>
          </a:p>
        </p:txBody>
      </p:sp>
    </p:spTree>
    <p:extLst>
      <p:ext uri="{BB962C8B-B14F-4D97-AF65-F5344CB8AC3E}">
        <p14:creationId xmlns:p14="http://schemas.microsoft.com/office/powerpoint/2010/main" val="93065087"/>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2 • Task 2(b) • Fairness with large-sca">
            <a:extLst xmlns:a="http://schemas.openxmlformats.org/drawingml/2006/main">
              <a:ext uri="{FF2B5EF4-FFF2-40B4-BE49-F238E27FC236}">
                <a16:creationId xmlns:a16="http://schemas.microsoft.com/office/drawing/2014/main" id="{3296ED84-212D-4B00-8976-5565BFADB31D}"/>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2(b) • Fairness with large-scale compute</a:t>
            </a:r>
          </a:p>
        </p:txBody>
      </p:sp>
      <p:sp>
        <p:nvSpPr>
          <p:cNvPr id="2" name="Fairness evaluation with large-scale compute">
            <a:extLst xmlns:a="http://schemas.openxmlformats.org/drawingml/2006/main">
              <a:ext uri="{FF2B5EF4-FFF2-40B4-BE49-F238E27FC236}">
                <a16:creationId xmlns:a16="http://schemas.microsoft.com/office/drawing/2014/main" id="{2E0F9754-C030-46AC-87E4-27B62E41DC71}"/>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Fairness evaluation with large-scale compute</a:t>
            </a:r>
          </a:p>
        </p:txBody>
      </p:sp>
      <p:sp>
        <p:nvSpPr>
          <p:cNvPr id="3" name="Compute connection">
            <a:extLst xmlns:a="http://schemas.openxmlformats.org/drawingml/2006/main">
              <a:ext uri="{FF2B5EF4-FFF2-40B4-BE49-F238E27FC236}">
                <a16:creationId xmlns:a16="http://schemas.microsoft.com/office/drawing/2014/main" id="{7F98392B-8D83-40CC-8906-4299FCE073E2}"/>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Compute connection</a:t>
            </a:r>
          </a:p>
        </p:txBody>
      </p:sp>
      <p:sp>
        <p:nvSpPr>
          <p:cNvPr id="4" name="An illustrative multilingual LLM service may have unequ">
            <a:extLst xmlns:a="http://schemas.openxmlformats.org/drawingml/2006/main">
              <a:ext uri="{FF2B5EF4-FFF2-40B4-BE49-F238E27FC236}">
                <a16:creationId xmlns:a16="http://schemas.microsoft.com/office/drawing/2014/main" id="{084B8F91-3356-4244-91FE-D01087DAB511}"/>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 illustrative multilingual LLM service may have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unequal performance or stereotyped outputs across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language groups. Identify the actual harm before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choosing a metric.</a:t>
            </a:r>
          </a:p>
        </p:txBody>
      </p:sp>
      <p:sp>
        <p:nvSpPr>
          <p:cNvPr id="5" name="A cluster enables larger datasets and repeated training">
            <a:extLst xmlns:a="http://schemas.openxmlformats.org/drawingml/2006/main">
              <a:ext uri="{FF2B5EF4-FFF2-40B4-BE49-F238E27FC236}">
                <a16:creationId xmlns:a16="http://schemas.microsoft.com/office/drawing/2014/main" id="{6FB0DDCB-918E-453D-9700-E5884F9ADCA4}"/>
              </a:ext>
            </a:extLst>
          </p:cNvPr>
          <p:cNvSpPr>
            <a:spLocks xmlns:a="http://schemas.openxmlformats.org/drawingml/2006/main" noGrp="1"/>
          </p:cNvSpPr>
          <p:nvPr/>
        </p:nvSpPr>
        <p:spPr>
          <a:xfrm xmlns:a="http://schemas.openxmlformats.org/drawingml/2006/main">
            <a:off x="609600" y="3267837"/>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 cluster enables larger datasets and repeated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training, but neither data volume nor GPU count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guarantees representative data or equitable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outcomes.</a:t>
            </a:r>
          </a:p>
        </p:txBody>
      </p:sp>
      <p:sp>
        <p:nvSpPr>
          <p:cNvPr id="6" name="Reserve evaluation compute for affected groups; documen">
            <a:extLst xmlns:a="http://schemas.openxmlformats.org/drawingml/2006/main">
              <a:ext uri="{FF2B5EF4-FFF2-40B4-BE49-F238E27FC236}">
                <a16:creationId xmlns:a16="http://schemas.microsoft.com/office/drawing/2014/main" id="{A761E8AD-61C5-4497-B52A-BC012E88B678}"/>
              </a:ext>
            </a:extLst>
          </p:cNvPr>
          <p:cNvSpPr>
            <a:spLocks xmlns:a="http://schemas.openxmlformats.org/drawingml/2006/main" noGrp="1"/>
          </p:cNvSpPr>
          <p:nvPr/>
        </p:nvSpPr>
        <p:spPr>
          <a:xfrm xmlns:a="http://schemas.openxmlformats.org/drawingml/2006/main">
            <a:off x="609600" y="4563999"/>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Reserve evaluation compute for affected groups;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document dataset coverage and compare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disaggregated error or harmful-output rates using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task-appropriate test.</a:t>
            </a:r>
          </a:p>
        </p:txBody>
      </p:sp>
      <p:sp>
        <p:nvSpPr>
          <p:cNvPr id="7" name="Evidence and decision">
            <a:extLst xmlns:a="http://schemas.openxmlformats.org/drawingml/2006/main">
              <a:ext uri="{FF2B5EF4-FFF2-40B4-BE49-F238E27FC236}">
                <a16:creationId xmlns:a16="http://schemas.microsoft.com/office/drawing/2014/main" id="{5352ED37-A23A-446D-A89C-EC2EF876A4CA}"/>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Evidence and decision</a:t>
            </a:r>
          </a:p>
        </p:txBody>
      </p:sp>
      <p:sp>
        <p:nvSpPr>
          <p:cNvPr id="8" name="Gallegos et al. separate metrics, evaluation datasets a">
            <a:extLst xmlns:a="http://schemas.openxmlformats.org/drawingml/2006/main">
              <a:ext uri="{FF2B5EF4-FFF2-40B4-BE49-F238E27FC236}">
                <a16:creationId xmlns:a16="http://schemas.microsoft.com/office/drawing/2014/main" id="{61A418B4-919B-47FE-A80C-417B4C0185AF}"/>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Gallegos et al. separate metrics, evaluation datasets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mitigation stages. A single aggregate accuracy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score can hide a relevant subgroup harm.</a:t>
            </a:r>
          </a:p>
        </p:txBody>
      </p:sp>
      <p:sp>
        <p:nvSpPr>
          <p:cNvPr id="9" name="Specify justified acceptance criteria before training; ">
            <a:extLst xmlns:a="http://schemas.openxmlformats.org/drawingml/2006/main">
              <a:ext uri="{FF2B5EF4-FFF2-40B4-BE49-F238E27FC236}">
                <a16:creationId xmlns:a16="http://schemas.microsoft.com/office/drawing/2014/main" id="{F8594568-CCC3-4551-A82B-1D4D739F318E}"/>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Specify justified acceptance criteria before training;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examine uncertainty and small-group sample limits.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Mitigate, reevaluate, and document unresolved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harms.</a:t>
            </a:r>
          </a:p>
        </p:txBody>
      </p:sp>
      <p:sp>
        <p:nvSpPr>
          <p:cNvPr id="10" name="Security and fairness have different objectives: encryp">
            <a:extLst xmlns:a="http://schemas.openxmlformats.org/drawingml/2006/main">
              <a:ext uri="{FF2B5EF4-FFF2-40B4-BE49-F238E27FC236}">
                <a16:creationId xmlns:a16="http://schemas.microsoft.com/office/drawing/2014/main" id="{A6D2CF86-49DA-41EC-B303-32B5E4480707}"/>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Security and fairness have different objectives: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encrypted gradients do not establish fair outputs.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source supports model-bias analysis, not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claim that HPC itself causes bias.</a:t>
            </a:r>
          </a:p>
        </p:txBody>
      </p:sp>
      <p:sp>
        <p:nvSpPr>
          <p:cNvPr id="11" name="">
            <a:extLst xmlns:a="http://schemas.openxmlformats.org/drawingml/2006/main">
              <a:ext uri="{FF2B5EF4-FFF2-40B4-BE49-F238E27FC236}">
                <a16:creationId xmlns:a16="http://schemas.microsoft.com/office/drawing/2014/main" id="{F606915F-2775-407C-8C89-CE187082C72E}"/>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EEC1B0C1-87AC-4256-BA38-17B8ED47592A}"/>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12] Gallegos et al. 2024: fairness evaluation">
            <a:extLst xmlns:a="http://schemas.openxmlformats.org/drawingml/2006/main">
              <a:ext uri="{FF2B5EF4-FFF2-40B4-BE49-F238E27FC236}">
                <a16:creationId xmlns:a16="http://schemas.microsoft.com/office/drawing/2014/main" id="{6006D561-6D4D-4D8A-9EA9-60BAB3DE3F2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[12] Gallegos et al. 2024: fairness evaluation; [15] OECD: rights, fairness and accountability; [16] NIST: Govern, Map, Measure, Manage</a:t>
            </a:r>
          </a:p>
        </p:txBody>
      </p:sp>
      <p:sp>
        <p:nvSpPr>
          <p:cNvPr id="14" name="12 / 26">
            <a:extLst xmlns:a="http://schemas.openxmlformats.org/drawingml/2006/main">
              <a:ext uri="{FF2B5EF4-FFF2-40B4-BE49-F238E27FC236}">
                <a16:creationId xmlns:a16="http://schemas.microsoft.com/office/drawing/2014/main" id="{07180AAC-ADB8-4E3C-B20A-9AD5B83F193E}"/>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12 / 26</a:t>
            </a:r>
          </a:p>
        </p:txBody>
      </p:sp>
    </p:spTree>
    <p:extLst>
      <p:ext uri="{BB962C8B-B14F-4D97-AF65-F5344CB8AC3E}">
        <p14:creationId xmlns:p14="http://schemas.microsoft.com/office/powerpoint/2010/main" val="1645347462"/>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2 • Task 2(c)">
            <a:extLst xmlns:a="http://schemas.openxmlformats.org/drawingml/2006/main">
              <a:ext uri="{FF2B5EF4-FFF2-40B4-BE49-F238E27FC236}">
                <a16:creationId xmlns:a16="http://schemas.microsoft.com/office/drawing/2014/main" id="{24EF7FF4-D657-4D71-8F1D-E540A61768E1}"/>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2(c)</a:t>
            </a:r>
          </a:p>
        </p:txBody>
      </p:sp>
      <p:sp>
        <p:nvSpPr>
          <p:cNvPr id="2" name="Unequal access to HPC resources">
            <a:extLst xmlns:a="http://schemas.openxmlformats.org/drawingml/2006/main">
              <a:ext uri="{FF2B5EF4-FFF2-40B4-BE49-F238E27FC236}">
                <a16:creationId xmlns:a16="http://schemas.microsoft.com/office/drawing/2014/main" id="{FD06FE5F-4BB8-4985-B01A-F9865A5D5C2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Unequal access to HPC resources</a:t>
            </a:r>
          </a:p>
        </p:txBody>
      </p:sp>
      <p:graphicFrame>
        <p:nvGraphicFramePr>
          <p:cNvPr id="3" name="">
            <a:extLst xmlns:a="http://schemas.openxmlformats.org/drawingml/2006/main">
              <a:ext uri="{FF2B5EF4-FFF2-40B4-BE49-F238E27FC236}">
                <a16:creationId xmlns:a16="http://schemas.microsoft.com/office/drawing/2014/main" id="{DF226DDD-E603-4A57-BFC1-E48FBF498C38}"/>
              </a:ext>
            </a:extLst>
          </p:cNvPr>
          <p:cNvGraphicFramePr/>
          <p:nvPr/>
        </p:nvGraphicFramePr>
        <p:xfrm>
          <a:off xmlns:a="http://schemas.openxmlformats.org/drawingml/2006/main" x="609600" y="1571625"/>
          <a:ext xmlns:a="http://schemas.openxmlformats.org/drawingml/2006/main" cx="10972800" cy="2381250"/>
        </p:xfrm>
        <a:graphic xmlns:a="http://schemas.openxmlformats.org/drawingml/2006/main">
          <a:graphicData uri="http://schemas.openxmlformats.org/drawingml/2006/table">
            <a:tbl>
              <a:tblPr firstRow="1"/>
              <a:tblGrid>
                <a:gridCol w="2857500"/>
                <a:gridCol w="4095750"/>
                <a:gridCol w="4019550"/>
              </a:tblGrid>
              <a:tr h="533400">
                <a:tc>
                  <a:txBody>
                    <a:bodyPr lIns="114300" tIns="114300" rIns="114300" bIns="114300"/>
                    <a:lstStyle/>
                    <a:p>
                      <a:r>
                        <a:rPr sz="1725" b="1">
                          <a:solidFill>
                            <a:srgbClr val="FFFFFF"/>
                          </a:solidFill>
                          <a:latin typeface="Arial"/>
                          <a:ea typeface="Arial"/>
                          <a:cs typeface="Arial"/>
                        </a:rPr>
                        <a:t>Evidence</a:t>
                      </a:r>
                    </a:p>
                  </a:txBody>
                  <a:tcPr marL="91440" marR="91440" marT="45720" marB="45720" anchor="ctr">
                    <a:solidFill>
                      <a:srgbClr val="142D45"/>
                    </a:solidFill>
                  </a:tcPr>
                </a:tc>
                <a:tc>
                  <a:txBody>
                    <a:bodyPr lIns="114300" tIns="114300" rIns="114300" bIns="114300"/>
                    <a:lstStyle/>
                    <a:p>
                      <a:r>
                        <a:rPr sz="1725" b="1">
                          <a:solidFill>
                            <a:srgbClr val="FFFFFF"/>
                          </a:solidFill>
                          <a:latin typeface="Arial"/>
                          <a:ea typeface="Arial"/>
                          <a:cs typeface="Arial"/>
                        </a:rPr>
                        <a:t>What it shows</a:t>
                      </a:r>
                    </a:p>
                  </a:txBody>
                  <a:tcPr marL="91440" marR="91440" marT="45720" marB="45720" anchor="ctr">
                    <a:solidFill>
                      <a:srgbClr val="142D45"/>
                    </a:solidFill>
                  </a:tcPr>
                </a:tc>
                <a:tc>
                  <a:txBody>
                    <a:bodyPr lIns="114300" tIns="114300" rIns="114300" bIns="114300"/>
                    <a:lstStyle/>
                    <a:p>
                      <a:r>
                        <a:rPr sz="1725" b="1">
                          <a:solidFill>
                            <a:srgbClr val="FFFFFF"/>
                          </a:solidFill>
                          <a:latin typeface="Arial"/>
                          <a:ea typeface="Arial"/>
                          <a:cs typeface="Arial"/>
                        </a:rPr>
                        <a:t>What it cannot establish</a:t>
                      </a:r>
                    </a:p>
                  </a:txBody>
                  <a:tcPr marL="91440" marR="91440" marT="45720" marB="45720" anchor="ctr">
                    <a:solidFill>
                      <a:srgbClr val="142D45"/>
                    </a:solidFill>
                  </a:tcPr>
                </a:tc>
              </a:tr>
              <a:tr h="923925">
                <a:tc>
                  <a:txBody>
                    <a:bodyPr lIns="114300" tIns="114300" rIns="114300" bIns="114300"/>
                    <a:lstStyle/>
                    <a:p>
                      <a:r>
                        <a:rPr sz="1725" b="0">
                          <a:solidFill>
                            <a:srgbClr val="142D45"/>
                          </a:solidFill>
                          <a:latin typeface="Arial"/>
                          <a:ea typeface="Arial"/>
                          <a:cs typeface="Arial"/>
                        </a:rPr>
                        <a:t>Ahmed &amp; Wahed [13]</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Historical research participation and compute concentration</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Current worldwide access or a universal causal effect</a:t>
                      </a:r>
                    </a:p>
                  </a:txBody>
                  <a:tcPr marL="91440" marR="91440" marT="45720" marB="45720" anchor="ctr">
                    <a:solidFill>
                      <a:srgbClr val="FFFFFF"/>
                    </a:solidFill>
                  </a:tcPr>
                </a:tc>
              </a:tr>
              <a:tr h="923925">
                <a:tc>
                  <a:txBody>
                    <a:bodyPr lIns="114300" tIns="114300" rIns="114300" bIns="114300"/>
                    <a:lstStyle/>
                    <a:p>
                      <a:r>
                        <a:rPr sz="1725" b="0">
                          <a:solidFill>
                            <a:srgbClr val="142D45"/>
                          </a:solidFill>
                          <a:latin typeface="Arial"/>
                          <a:ea typeface="Arial"/>
                          <a:cs typeface="Arial"/>
                        </a:rPr>
                        <a:t>Strubell et al. [8]</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Selected NLP workload costs and financial barriers</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The cost of every current AI workload</a:t>
                      </a:r>
                    </a:p>
                  </a:txBody>
                  <a:tcPr marL="91440" marR="91440" marT="45720" marB="45720" anchor="ctr">
                    <a:solidFill>
                      <a:srgbClr val="FFFFFF"/>
                    </a:solidFill>
                  </a:tcPr>
                </a:tc>
              </a:tr>
            </a:tbl>
          </a:graphicData>
        </a:graphic>
      </p:graphicFrame>
      <p:sp>
        <p:nvSpPr>
          <p:cNvPr id="4" name="Current response: NAIRR supported &gt;600 teams and &gt;6,000">
            <a:extLst xmlns:a="http://schemas.openxmlformats.org/drawingml/2006/main">
              <a:ext uri="{FF2B5EF4-FFF2-40B4-BE49-F238E27FC236}">
                <a16:creationId xmlns:a16="http://schemas.microsoft.com/office/drawing/2014/main" id="{1CF171F4-8B4A-4F6E-B665-8F2918B2E01E}"/>
              </a:ext>
            </a:extLst>
          </p:cNvPr>
          <p:cNvSpPr>
            <a:spLocks xmlns:a="http://schemas.openxmlformats.org/drawingml/2006/main" noGrp="1"/>
          </p:cNvSpPr>
          <p:nvPr/>
        </p:nvSpPr>
        <p:spPr>
          <a:xfrm xmlns:a="http://schemas.openxmlformats.org/drawingml/2006/main">
            <a:off x="609600" y="4276725"/>
            <a:ext cx="10972800" cy="368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B83"/>
                </a:solidFill>
                <a:latin typeface="Arial"/>
                <a:ea typeface="Arial"/>
                <a:cs typeface="Arial"/>
              </a:defRPr>
            </a:defPPr>
          </a:lstStyle>
          <a:p xmlns:a="http://schemas.openxmlformats.org/drawingml/2006/main">
            <a:pPr algn="l">
              <a:defRPr sz="2100" b="1">
                <a:solidFill>
                  <a:srgbClr val="007B83"/>
                </a:solidFill>
                <a:latin typeface="Arial"/>
                <a:ea typeface="Arial"/>
                <a:cs typeface="Arial"/>
              </a:defRPr>
            </a:pPr>
            <a:r>
              <a:rPr sz="2100" b="1">
                <a:solidFill>
                  <a:srgbClr val="007B83"/>
                </a:solidFill>
                <a:latin typeface="Arial"/>
                <a:ea typeface="Arial"/>
                <a:cs typeface="Arial"/>
              </a:rPr>
              <a:t>Current response: NAIRR supported &gt;600 teams and &gt;6,000 students</a:t>
            </a:r>
          </a:p>
        </p:txBody>
      </p:sp>
      <p:sp>
        <p:nvSpPr>
          <p:cNvPr id="5" name="NSF, March 2026; US programme since 2024. Reach does no">
            <a:extLst xmlns:a="http://schemas.openxmlformats.org/drawingml/2006/main">
              <a:ext uri="{FF2B5EF4-FFF2-40B4-BE49-F238E27FC236}">
                <a16:creationId xmlns:a16="http://schemas.microsoft.com/office/drawing/2014/main" id="{096AC1FD-94FF-479B-B07C-C53177BA0A10}"/>
              </a:ext>
            </a:extLst>
          </p:cNvPr>
          <p:cNvSpPr>
            <a:spLocks xmlns:a="http://schemas.openxmlformats.org/drawingml/2006/main" noGrp="1"/>
          </p:cNvSpPr>
          <p:nvPr/>
        </p:nvSpPr>
        <p:spPr>
          <a:xfrm xmlns:a="http://schemas.openxmlformats.org/drawingml/2006/main">
            <a:off x="609600" y="4676775"/>
            <a:ext cx="109728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NSF, March 2026; US programme since 2024. Reach does not prove global equality.</a:t>
            </a:r>
          </a:p>
        </p:txBody>
      </p:sp>
      <p:sp>
        <p:nvSpPr>
          <p:cNvPr id="6" name="Proposal: transparent GPU-hour allocation, smaller-inst">
            <a:extLst xmlns:a="http://schemas.openxmlformats.org/drawingml/2006/main">
              <a:ext uri="{FF2B5EF4-FFF2-40B4-BE49-F238E27FC236}">
                <a16:creationId xmlns:a16="http://schemas.microsoft.com/office/drawing/2014/main" id="{93A3DE82-B3A0-4856-8866-34B63CF90F3B}"/>
              </a:ext>
            </a:extLst>
          </p:cNvPr>
          <p:cNvSpPr>
            <a:spLocks xmlns:a="http://schemas.openxmlformats.org/drawingml/2006/main" noGrp="1"/>
          </p:cNvSpPr>
          <p:nvPr/>
        </p:nvSpPr>
        <p:spPr>
          <a:xfrm xmlns:a="http://schemas.openxmlformats.org/drawingml/2006/main">
            <a:off x="609600" y="5124450"/>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Proposal: transparent GPU-hour allocation, smaller-institution support and appeals. Trade-off: reserved</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access can reduce immediate utilization or delay urgent jobs.</a:t>
            </a:r>
          </a:p>
        </p:txBody>
      </p:sp>
      <p:sp>
        <p:nvSpPr>
          <p:cNvPr id="7" name="">
            <a:extLst xmlns:a="http://schemas.openxmlformats.org/drawingml/2006/main">
              <a:ext uri="{FF2B5EF4-FFF2-40B4-BE49-F238E27FC236}">
                <a16:creationId xmlns:a16="http://schemas.microsoft.com/office/drawing/2014/main" id="{CE1227B8-9068-4E46-BEF6-B2C6399FD6FE}"/>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8" name="Shared capacity helps; allocation, expertise and reprod">
            <a:extLst xmlns:a="http://schemas.openxmlformats.org/drawingml/2006/main">
              <a:ext uri="{FF2B5EF4-FFF2-40B4-BE49-F238E27FC236}">
                <a16:creationId xmlns:a16="http://schemas.microsoft.com/office/drawing/2014/main" id="{F1B1C540-B318-4884-B73A-B3CA0219CDFD}"/>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Shared capacity helps; allocation, expertise and reproducibility still need support.</a:t>
            </a:r>
          </a:p>
        </p:txBody>
      </p:sp>
      <p:sp>
        <p:nvSpPr>
          <p:cNvPr id="9" name="">
            <a:extLst xmlns:a="http://schemas.openxmlformats.org/drawingml/2006/main">
              <a:ext uri="{FF2B5EF4-FFF2-40B4-BE49-F238E27FC236}">
                <a16:creationId xmlns:a16="http://schemas.microsoft.com/office/drawing/2014/main" id="{B25D76D3-0D74-4192-BA69-EC56D35D3C88}"/>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7] NSF 2026: US programme reach; [8] Strubell">
            <a:extLst xmlns:a="http://schemas.openxmlformats.org/drawingml/2006/main">
              <a:ext uri="{FF2B5EF4-FFF2-40B4-BE49-F238E27FC236}">
                <a16:creationId xmlns:a16="http://schemas.microsoft.com/office/drawing/2014/main" id="{150E3DFF-C8AB-4D44-9330-161D4C5AE4C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1" name="13 / 26">
            <a:extLst xmlns:a="http://schemas.openxmlformats.org/drawingml/2006/main">
              <a:ext uri="{FF2B5EF4-FFF2-40B4-BE49-F238E27FC236}">
                <a16:creationId xmlns:a16="http://schemas.microsoft.com/office/drawing/2014/main" id="{77385B2B-F36F-4270-A3F2-1E2D434AC4F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13 / 26</a:t>
            </a:r>
          </a:p>
        </p:txBody>
      </p:sp>
    </p:spTree>
    <p:extLst>
      <p:ext uri="{BB962C8B-B14F-4D97-AF65-F5344CB8AC3E}">
        <p14:creationId xmlns:p14="http://schemas.microsoft.com/office/powerpoint/2010/main" val="269736430"/>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2 • Task 2(c) • Research and allocation">
            <a:extLst xmlns:a="http://schemas.openxmlformats.org/drawingml/2006/main">
              <a:ext uri="{FF2B5EF4-FFF2-40B4-BE49-F238E27FC236}">
                <a16:creationId xmlns:a16="http://schemas.microsoft.com/office/drawing/2014/main" id="{17B58AEF-E43D-473B-A36F-0CEA4EBE4D00}"/>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2(c) • Research and allocation decisions</a:t>
            </a:r>
          </a:p>
        </p:txBody>
      </p:sp>
      <p:sp>
        <p:nvSpPr>
          <p:cNvPr id="2" name="Access research and allocation choices">
            <a:extLst xmlns:a="http://schemas.openxmlformats.org/drawingml/2006/main">
              <a:ext uri="{FF2B5EF4-FFF2-40B4-BE49-F238E27FC236}">
                <a16:creationId xmlns:a16="http://schemas.microsoft.com/office/drawing/2014/main" id="{A439E7BB-65D8-4F42-B2A6-150C1CE49F3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Access research and allocation choices</a:t>
            </a:r>
          </a:p>
        </p:txBody>
      </p:sp>
      <p:sp>
        <p:nvSpPr>
          <p:cNvPr id="3" name="Research comparison">
            <a:extLst xmlns:a="http://schemas.openxmlformats.org/drawingml/2006/main">
              <a:ext uri="{FF2B5EF4-FFF2-40B4-BE49-F238E27FC236}">
                <a16:creationId xmlns:a16="http://schemas.microsoft.com/office/drawing/2014/main" id="{2570AA82-67A4-42DB-A235-1864B16AFFEB}"/>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Research comparison</a:t>
            </a:r>
          </a:p>
        </p:txBody>
      </p:sp>
      <p:sp>
        <p:nvSpPr>
          <p:cNvPr id="4" name="Ahmed and Wahed study historical conference participati">
            <a:extLst xmlns:a="http://schemas.openxmlformats.org/drawingml/2006/main">
              <a:ext uri="{FF2B5EF4-FFF2-40B4-BE49-F238E27FC236}">
                <a16:creationId xmlns:a16="http://schemas.microsoft.com/office/drawing/2014/main" id="{ED45A8E0-6943-4546-88C4-BF43A823409B}"/>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Ahmed and Wahed study historical conference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participation and a compute divide. Strubell et 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examine financial/resource barriers in selected NLP</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workloads.</a:t>
            </a:r>
          </a:p>
        </p:txBody>
      </p:sp>
      <p:sp>
        <p:nvSpPr>
          <p:cNvPr id="5" name="The first concerns institutional participation; the sec">
            <a:extLst xmlns:a="http://schemas.openxmlformats.org/drawingml/2006/main">
              <a:ext uri="{FF2B5EF4-FFF2-40B4-BE49-F238E27FC236}">
                <a16:creationId xmlns:a16="http://schemas.microsoft.com/office/drawing/2014/main" id="{E02A48BC-88D6-4DA4-A812-3674DAF14C71}"/>
              </a:ext>
            </a:extLst>
          </p:cNvPr>
          <p:cNvSpPr>
            <a:spLocks xmlns:a="http://schemas.openxmlformats.org/drawingml/2006/main" noGrp="1"/>
          </p:cNvSpPr>
          <p:nvPr/>
        </p:nvSpPr>
        <p:spPr>
          <a:xfrm xmlns:a="http://schemas.openxmlformats.org/drawingml/2006/main">
            <a:off x="609600" y="3267837"/>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first concerns institutional participation; the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second concerns workload cost. Together they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motivate access support, but neither is a current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worldwide access census.</a:t>
            </a:r>
          </a:p>
        </p:txBody>
      </p:sp>
      <p:sp>
        <p:nvSpPr>
          <p:cNvPr id="6" name="NSF’s March 2026 participation figures describe a US sh">
            <a:extLst xmlns:a="http://schemas.openxmlformats.org/drawingml/2006/main">
              <a:ext uri="{FF2B5EF4-FFF2-40B4-BE49-F238E27FC236}">
                <a16:creationId xmlns:a16="http://schemas.microsoft.com/office/drawing/2014/main" id="{734994BD-54A5-4AA6-BBD2-CEBE3A64B465}"/>
              </a:ext>
            </a:extLst>
          </p:cNvPr>
          <p:cNvSpPr>
            <a:spLocks xmlns:a="http://schemas.openxmlformats.org/drawingml/2006/main" noGrp="1"/>
          </p:cNvSpPr>
          <p:nvPr/>
        </p:nvSpPr>
        <p:spPr>
          <a:xfrm xmlns:a="http://schemas.openxmlformats.org/drawingml/2006/main">
            <a:off x="609600" y="4563999"/>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NSF’s March 2026 participation figures describe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US shared-resource response. Programme reach is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not proof of equal allocation, global access 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eliminated inequality.</a:t>
            </a:r>
          </a:p>
        </p:txBody>
      </p:sp>
      <p:sp>
        <p:nvSpPr>
          <p:cNvPr id="7" name="Proposed shared-cluster policy">
            <a:extLst xmlns:a="http://schemas.openxmlformats.org/drawingml/2006/main">
              <a:ext uri="{FF2B5EF4-FFF2-40B4-BE49-F238E27FC236}">
                <a16:creationId xmlns:a16="http://schemas.microsoft.com/office/drawing/2014/main" id="{8E09109C-37ED-4B48-9746-13103152EF9F}"/>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Proposed shared-cluster policy</a:t>
            </a:r>
          </a:p>
        </p:txBody>
      </p:sp>
      <p:sp>
        <p:nvSpPr>
          <p:cNvPr id="8" name="Publish eligibility, GPU-hour limits and allocation cri">
            <a:extLst xmlns:a="http://schemas.openxmlformats.org/drawingml/2006/main">
              <a:ext uri="{FF2B5EF4-FFF2-40B4-BE49-F238E27FC236}">
                <a16:creationId xmlns:a16="http://schemas.microsoft.com/office/drawing/2014/main" id="{C7C4239B-F155-4B15-A0EE-40973C8928D9}"/>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Publish eligibility, GPU-hour limits and allocation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criteria; reserve some capacity for teaching, smaller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institutions and independent replication.</a:t>
            </a:r>
          </a:p>
        </p:txBody>
      </p:sp>
      <p:sp>
        <p:nvSpPr>
          <p:cNvPr id="9" name="Provide application support and training; allow appeals">
            <a:extLst xmlns:a="http://schemas.openxmlformats.org/drawingml/2006/main">
              <a:ext uri="{FF2B5EF4-FFF2-40B4-BE49-F238E27FC236}">
                <a16:creationId xmlns:a16="http://schemas.microsoft.com/office/drawing/2014/main" id="{85EC5D27-137D-41BB-8600-C2D51C9338DD}"/>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Provide application support and training; allow</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appeals. Track applicant-to-award outcomes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waiting times across institution groups with privacy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10" name="Trade-offs: reservations may reduce immediate utilizati">
            <a:extLst xmlns:a="http://schemas.openxmlformats.org/drawingml/2006/main">
              <a:ext uri="{FF2B5EF4-FFF2-40B4-BE49-F238E27FC236}">
                <a16:creationId xmlns:a16="http://schemas.microsoft.com/office/drawing/2014/main" id="{E3E36C7B-1C11-4070-9307-A77CA814CC2F}"/>
              </a:ext>
            </a:extLst>
          </p:cNvPr>
          <p:cNvSpPr>
            <a:spLocks xmlns:a="http://schemas.openxmlformats.org/drawingml/2006/main" noGrp="1"/>
          </p:cNvSpPr>
          <p:nvPr/>
        </p:nvSpPr>
        <p:spPr>
          <a:xfrm xmlns:a="http://schemas.openxmlformats.org/drawingml/2006/main">
            <a:off x="6419850" y="4292346"/>
            <a:ext cx="5124450" cy="1396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Trade-offs: reservations may reduce immediate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utilization; queueing can delay urgent work;</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unrestricted access can conflict with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security/budgets. Prevent repeated deferral 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resource starvation.</a:t>
            </a:r>
          </a:p>
        </p:txBody>
      </p:sp>
      <p:sp>
        <p:nvSpPr>
          <p:cNvPr id="11" name="">
            <a:extLst xmlns:a="http://schemas.openxmlformats.org/drawingml/2006/main">
              <a:ext uri="{FF2B5EF4-FFF2-40B4-BE49-F238E27FC236}">
                <a16:creationId xmlns:a16="http://schemas.microsoft.com/office/drawing/2014/main" id="{7AB36FA4-139F-4E0F-90BB-36640D2A5566}"/>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9706105F-DCB4-4BE0-A98B-8B7189F74228}"/>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7] NSF 2026: US programme reach; [8] Strubell">
            <a:extLst xmlns:a="http://schemas.openxmlformats.org/drawingml/2006/main">
              <a:ext uri="{FF2B5EF4-FFF2-40B4-BE49-F238E27FC236}">
                <a16:creationId xmlns:a16="http://schemas.microsoft.com/office/drawing/2014/main" id="{1B04CED1-CE8A-4486-A825-8F700C9448F0}"/>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4" name="14 / 26">
            <a:extLst xmlns:a="http://schemas.openxmlformats.org/drawingml/2006/main">
              <a:ext uri="{FF2B5EF4-FFF2-40B4-BE49-F238E27FC236}">
                <a16:creationId xmlns:a16="http://schemas.microsoft.com/office/drawing/2014/main" id="{27E02D99-11E9-4261-A470-9FBCB2E66B3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14 / 26</a:t>
            </a:r>
          </a:p>
        </p:txBody>
      </p:sp>
    </p:spTree>
    <p:extLst>
      <p:ext uri="{BB962C8B-B14F-4D97-AF65-F5344CB8AC3E}">
        <p14:creationId xmlns:p14="http://schemas.microsoft.com/office/powerpoint/2010/main" val="1898426117"/>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F64CE37B-2399-46A7-80EF-4174FC876BF5}"/>
              </a:ext>
            </a:extLst>
          </p:cNvPr>
          <p:cNvCxnSpPr>
            <a:stCxn xmlns:a="http://schemas.openxmlformats.org/drawingml/2006/main" id="4" idx="3"/>
            <a:endCxn xmlns:a="http://schemas.openxmlformats.org/drawingml/2006/main" id="5" idx="1"/>
          </p:cNvCxnSpPr>
          <p:nvPr/>
        </p:nvCxnSpPr>
        <p:spPr>
          <a:xfrm xmlns:a="http://schemas.openxmlformats.org/drawingml/2006/main">
            <a:off x="7581900" y="2266950"/>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23E3A298-F8DD-409B-8B7D-2612136516AF}"/>
              </a:ext>
            </a:extLst>
          </p:cNvPr>
          <p:cNvCxnSpPr>
            <a:stCxn xmlns:a="http://schemas.openxmlformats.org/drawingml/2006/main" id="3" idx="3"/>
            <a:endCxn xmlns:a="http://schemas.openxmlformats.org/drawingml/2006/main" id="4" idx="1"/>
          </p:cNvCxnSpPr>
          <p:nvPr/>
        </p:nvCxnSpPr>
        <p:spPr>
          <a:xfrm xmlns:a="http://schemas.openxmlformats.org/drawingml/2006/main">
            <a:off x="3581400" y="2266950"/>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7" name="Appendix • Task 2 • Task 2(d)">
            <a:extLst xmlns:a="http://schemas.openxmlformats.org/drawingml/2006/main">
              <a:ext uri="{FF2B5EF4-FFF2-40B4-BE49-F238E27FC236}">
                <a16:creationId xmlns:a16="http://schemas.microsoft.com/office/drawing/2014/main" id="{D2EB28D8-6F52-46A4-950B-D23CA362538E}"/>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a:t>
            </a:r>
          </a:p>
        </p:txBody>
      </p:sp>
      <p:sp>
        <p:nvSpPr>
          <p:cNvPr id="2" name="An accountable HPC approval process">
            <a:extLst xmlns:a="http://schemas.openxmlformats.org/drawingml/2006/main">
              <a:ext uri="{FF2B5EF4-FFF2-40B4-BE49-F238E27FC236}">
                <a16:creationId xmlns:a16="http://schemas.microsoft.com/office/drawing/2014/main" id="{A4B11BEC-E4C2-4160-80B8-0F9DAA2CDE78}"/>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An accountable HPC approval process</a:t>
            </a:r>
          </a:p>
        </p:txBody>
      </p:sp>
      <p:sp>
        <p:nvSpPr>
          <p:cNvPr id="3" name="">
            <a:extLst xmlns:a="http://schemas.openxmlformats.org/drawingml/2006/main">
              <a:ext uri="{FF2B5EF4-FFF2-40B4-BE49-F238E27FC236}">
                <a16:creationId xmlns:a16="http://schemas.microsoft.com/office/drawing/2014/main" id="{541F5F2B-C4D6-4F1E-9CDE-F0B10F87901B}"/>
              </a:ext>
            </a:extLst>
          </p:cNvPr>
          <p:cNvSpPr>
            <a:spLocks xmlns:a="http://schemas.openxmlformats.org/drawingml/2006/main" noGrp="1"/>
          </p:cNvSpPr>
          <p:nvPr/>
        </p:nvSpPr>
        <p:spPr>
          <a:xfrm xmlns:a="http://schemas.openxmlformats.org/drawingml/2006/main">
            <a:off x="609600" y="1752600"/>
            <a:ext cx="29718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Define outcome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 accountable owner</a:t>
            </a:r>
          </a:p>
        </p:txBody>
      </p:sp>
      <p:sp>
        <p:nvSpPr>
          <p:cNvPr id="4" name="">
            <a:extLst xmlns:a="http://schemas.openxmlformats.org/drawingml/2006/main">
              <a:ext uri="{FF2B5EF4-FFF2-40B4-BE49-F238E27FC236}">
                <a16:creationId xmlns:a16="http://schemas.microsoft.com/office/drawing/2014/main" id="{41C299BF-15F3-42A1-B16A-ED9BF4F6679D}"/>
              </a:ext>
            </a:extLst>
          </p:cNvPr>
          <p:cNvSpPr>
            <a:spLocks xmlns:a="http://schemas.openxmlformats.org/drawingml/2006/main" noGrp="1"/>
          </p:cNvSpPr>
          <p:nvPr/>
        </p:nvSpPr>
        <p:spPr>
          <a:xfrm xmlns:a="http://schemas.openxmlformats.org/drawingml/2006/main">
            <a:off x="4610100" y="1752600"/>
            <a:ext cx="29718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Measure quality,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energy and harms</a:t>
            </a:r>
          </a:p>
        </p:txBody>
      </p:sp>
      <p:sp>
        <p:nvSpPr>
          <p:cNvPr id="5" name="">
            <a:extLst xmlns:a="http://schemas.openxmlformats.org/drawingml/2006/main">
              <a:ext uri="{FF2B5EF4-FFF2-40B4-BE49-F238E27FC236}">
                <a16:creationId xmlns:a16="http://schemas.microsoft.com/office/drawing/2014/main" id="{4E4590FF-9D5C-4159-9D1C-99C9DA112E4D}"/>
              </a:ext>
            </a:extLst>
          </p:cNvPr>
          <p:cNvSpPr>
            <a:spLocks xmlns:a="http://schemas.openxmlformats.org/drawingml/2006/main" noGrp="1"/>
          </p:cNvSpPr>
          <p:nvPr/>
        </p:nvSpPr>
        <p:spPr>
          <a:xfrm xmlns:a="http://schemas.openxmlformats.org/drawingml/2006/main">
            <a:off x="8610600" y="1752600"/>
            <a:ext cx="29718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Approve / defer /</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reduce scale / redesign</a:t>
            </a:r>
          </a:p>
        </p:txBody>
      </p:sp>
      <p:sp>
        <p:nvSpPr>
          <p:cNvPr id="8" name="Green AI: efficiency evidence [10]  •  Carbon-aware sch">
            <a:extLst xmlns:a="http://schemas.openxmlformats.org/drawingml/2006/main">
              <a:ext uri="{FF2B5EF4-FFF2-40B4-BE49-F238E27FC236}">
                <a16:creationId xmlns:a16="http://schemas.microsoft.com/office/drawing/2014/main" id="{AF2E43E4-10DB-4C03-B724-2A1A97D82FE9}"/>
              </a:ext>
            </a:extLst>
          </p:cNvPr>
          <p:cNvSpPr>
            <a:spLocks xmlns:a="http://schemas.openxmlformats.org/drawingml/2006/main" noGrp="1"/>
          </p:cNvSpPr>
          <p:nvPr/>
        </p:nvSpPr>
        <p:spPr>
          <a:xfrm xmlns:a="http://schemas.openxmlformats.org/drawingml/2006/main">
            <a:off x="609600" y="3171825"/>
            <a:ext cx="10972800" cy="321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B83"/>
                </a:solidFill>
                <a:latin typeface="Arial"/>
                <a:ea typeface="Arial"/>
                <a:cs typeface="Arial"/>
              </a:defRPr>
            </a:defPPr>
          </a:lstStyle>
          <a:p xmlns:a="http://schemas.openxmlformats.org/drawingml/2006/main">
            <a:pPr algn="l">
              <a:defRPr sz="1800" b="1">
                <a:solidFill>
                  <a:srgbClr val="007B83"/>
                </a:solidFill>
                <a:latin typeface="Arial"/>
                <a:ea typeface="Arial"/>
                <a:cs typeface="Arial"/>
              </a:defRPr>
            </a:pPr>
            <a:r>
              <a:rPr sz="1800" b="1">
                <a:solidFill>
                  <a:srgbClr val="007B83"/>
                </a:solidFill>
                <a:latin typeface="Arial"/>
                <a:ea typeface="Arial"/>
                <a:cs typeface="Arial"/>
              </a:rPr>
              <a:t>Green AI: efficiency evidence [10] • Carbon-aware scheduling: flexible work [14]</a:t>
            </a:r>
          </a:p>
        </p:txBody>
      </p:sp>
      <p:sp>
        <p:nvSpPr>
          <p:cNvPr id="9" name="OECD: values and rights [15]  •  NIST: Govern, Map, Mea">
            <a:extLst xmlns:a="http://schemas.openxmlformats.org/drawingml/2006/main">
              <a:ext uri="{FF2B5EF4-FFF2-40B4-BE49-F238E27FC236}">
                <a16:creationId xmlns:a16="http://schemas.microsoft.com/office/drawing/2014/main" id="{50DA24E6-55F6-4275-81A4-0485A7CA1BB4}"/>
              </a:ext>
            </a:extLst>
          </p:cNvPr>
          <p:cNvSpPr>
            <a:spLocks xmlns:a="http://schemas.openxmlformats.org/drawingml/2006/main" noGrp="1"/>
          </p:cNvSpPr>
          <p:nvPr/>
        </p:nvSpPr>
        <p:spPr>
          <a:xfrm xmlns:a="http://schemas.openxmlformats.org/drawingml/2006/main">
            <a:off x="609600" y="3609975"/>
            <a:ext cx="10972800" cy="321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OECD: values and rights [15] • NIST: Govern, Map, Measure, Manage [16]</a:t>
            </a:r>
          </a:p>
        </p:txBody>
      </p:sp>
      <p:sp>
        <p:nvSpPr>
          <p:cNvPr id="10" name="Use an energy budget, security/group evaluation and tra">
            <a:extLst xmlns:a="http://schemas.openxmlformats.org/drawingml/2006/main">
              <a:ext uri="{FF2B5EF4-FFF2-40B4-BE49-F238E27FC236}">
                <a16:creationId xmlns:a16="http://schemas.microsoft.com/office/drawing/2014/main" id="{B0FE8228-B303-4392-85C9-DB5DEEBA8CBC}"/>
              </a:ext>
            </a:extLst>
          </p:cNvPr>
          <p:cNvSpPr>
            <a:spLocks xmlns:a="http://schemas.openxmlformats.org/drawingml/2006/main" noGrp="1"/>
          </p:cNvSpPr>
          <p:nvPr/>
        </p:nvSpPr>
        <p:spPr>
          <a:xfrm xmlns:a="http://schemas.openxmlformats.org/drawingml/2006/main">
            <a:off x="609600" y="4086225"/>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Use an energy budget, security/group evaluation and transparent access rules. Record owner, rationale,</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exceptions and outcomes.</a:t>
            </a:r>
          </a:p>
        </p:txBody>
      </p:sp>
      <p:sp>
        <p:nvSpPr>
          <p:cNvPr id="11" name="Measurement informs action: shift flexible jobs to clea">
            <a:extLst xmlns:a="http://schemas.openxmlformats.org/drawingml/2006/main">
              <a:ext uri="{FF2B5EF4-FFF2-40B4-BE49-F238E27FC236}">
                <a16:creationId xmlns:a16="http://schemas.microsoft.com/office/drawing/2014/main" id="{EA08BEEC-EDDC-4BF9-88EE-194E5F393E0F}"/>
              </a:ext>
            </a:extLst>
          </p:cNvPr>
          <p:cNvSpPr>
            <a:spLocks xmlns:a="http://schemas.openxmlformats.org/drawingml/2006/main" noGrp="1"/>
          </p:cNvSpPr>
          <p:nvPr/>
        </p:nvSpPr>
        <p:spPr>
          <a:xfrm xmlns:a="http://schemas.openxmlformats.org/drawingml/2006/main">
            <a:off x="609600" y="4815078"/>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Measurement informs action: shift flexible jobs to cleaner periods within deadlines/capacity. Forecast</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uncertainty, water stress and urgent access can change the decision.</a:t>
            </a:r>
          </a:p>
        </p:txBody>
      </p:sp>
      <p:sp>
        <p:nvSpPr>
          <p:cNvPr id="12" name="">
            <a:extLst xmlns:a="http://schemas.openxmlformats.org/drawingml/2006/main">
              <a:ext uri="{FF2B5EF4-FFF2-40B4-BE49-F238E27FC236}">
                <a16:creationId xmlns:a16="http://schemas.microsoft.com/office/drawing/2014/main" id="{78C7AC13-90C5-4A83-8119-66605635A0DE}"/>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3" name="Approve useful work with explicit budgets, safeguards a">
            <a:extLst xmlns:a="http://schemas.openxmlformats.org/drawingml/2006/main">
              <a:ext uri="{FF2B5EF4-FFF2-40B4-BE49-F238E27FC236}">
                <a16:creationId xmlns:a16="http://schemas.microsoft.com/office/drawing/2014/main" id="{9DF653D3-2121-4ED8-9DE3-C0A8C6BF0D04}"/>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Approve useful work with explicit budgets, safeguards and an accountable owner.</a:t>
            </a:r>
          </a:p>
        </p:txBody>
      </p:sp>
      <p:sp>
        <p:nvSpPr>
          <p:cNvPr id="14" name="">
            <a:extLst xmlns:a="http://schemas.openxmlformats.org/drawingml/2006/main">
              <a:ext uri="{FF2B5EF4-FFF2-40B4-BE49-F238E27FC236}">
                <a16:creationId xmlns:a16="http://schemas.microsoft.com/office/drawing/2014/main" id="{FC6EDE04-E8E2-46F6-ACB7-B0EB4DAF990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5" name="Sources: [10] Schwartz et al. 2019: efficiency reportin">
            <a:extLst xmlns:a="http://schemas.openxmlformats.org/drawingml/2006/main">
              <a:ext uri="{FF2B5EF4-FFF2-40B4-BE49-F238E27FC236}">
                <a16:creationId xmlns:a16="http://schemas.microsoft.com/office/drawing/2014/main" id="{70543AA4-29FB-4AF0-BDAC-96792F0FE6DF}"/>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16" name="15 / 26">
            <a:extLst xmlns:a="http://schemas.openxmlformats.org/drawingml/2006/main">
              <a:ext uri="{FF2B5EF4-FFF2-40B4-BE49-F238E27FC236}">
                <a16:creationId xmlns:a16="http://schemas.microsoft.com/office/drawing/2014/main" id="{2BF4D385-373A-40B7-9FC5-58215B60BD1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15 / 26</a:t>
            </a:r>
          </a:p>
        </p:txBody>
      </p:sp>
    </p:spTree>
    <p:extLst>
      <p:ext uri="{BB962C8B-B14F-4D97-AF65-F5344CB8AC3E}">
        <p14:creationId xmlns:p14="http://schemas.microsoft.com/office/powerpoint/2010/main" val="341205738"/>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Task 2(d) • Framework actions and o">
            <a:extLst xmlns:a="http://schemas.openxmlformats.org/drawingml/2006/main">
              <a:ext uri="{FF2B5EF4-FFF2-40B4-BE49-F238E27FC236}">
                <a16:creationId xmlns:a16="http://schemas.microsoft.com/office/drawing/2014/main" id="{FA26CD02-1B4A-47EF-8BB0-25785332387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 • Framework actions and owners</a:t>
            </a:r>
          </a:p>
        </p:txBody>
      </p:sp>
      <p:sp>
        <p:nvSpPr>
          <p:cNvPr id="2" name="Framework roles and accountable decisions">
            <a:extLst xmlns:a="http://schemas.openxmlformats.org/drawingml/2006/main">
              <a:ext uri="{FF2B5EF4-FFF2-40B4-BE49-F238E27FC236}">
                <a16:creationId xmlns:a16="http://schemas.microsoft.com/office/drawing/2014/main" id="{30507E91-7F2C-46D7-B38D-809055B33CA4}"/>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Framework roles and accountable decisions</a:t>
            </a:r>
          </a:p>
        </p:txBody>
      </p:sp>
      <p:graphicFrame>
        <p:nvGraphicFramePr>
          <p:cNvPr id="3" name="">
            <a:extLst xmlns:a="http://schemas.openxmlformats.org/drawingml/2006/main">
              <a:ext uri="{FF2B5EF4-FFF2-40B4-BE49-F238E27FC236}">
                <a16:creationId xmlns:a16="http://schemas.microsoft.com/office/drawing/2014/main" id="{DC7D39DE-DD3C-46EF-BBC8-CCF22CFF3671}"/>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Function / evidence</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Concrete action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Decision / responsible role</a:t>
                      </a:r>
                    </a:p>
                  </a:txBody>
                  <a:tcPr marL="91440" marR="91440" marT="45720" marB="45720" anchor="ctr">
                    <a:solidFill>
                      <a:srgbClr val="142D45"/>
                    </a:solidFill>
                  </a:tcPr>
                </a:tc>
              </a:tr>
              <a:tr h="833438">
                <a:tc>
                  <a:txBody>
                    <a:bodyPr lIns="95250" tIns="95250" rIns="95250" bIns="95250">
                      <a:noAutofit/>
                    </a:bodyPr>
                    <a:lstStyle/>
                    <a:p>
                      <a:pPr algn="l"/>
                      <a:r>
                        <a:rPr sz="1500" b="0">
                          <a:solidFill>
                            <a:srgbClr val="142D45"/>
                          </a:solidFill>
                          <a:latin typeface="Arial"/>
                          <a:ea typeface="Arial"/>
                          <a:cs typeface="Arial"/>
                        </a:rPr>
                        <a:t>Govern / OECD values + NIST</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Assign ownership, data rules, access policy and escalation</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Accountable owner accepts obligations and review process.</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Map / NIST</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Define use, stakeholders, misuse risks, deadline and alternatives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Data/risk stewards establish the application-specific scope.</a:t>
                      </a:r>
                    </a:p>
                  </a:txBody>
                  <a:tcPr marL="91440" marR="91440" marT="45720" marB="45720" anchor="ctr">
                    <a:solidFill>
                      <a:srgbClr val="F0F4F4"/>
                    </a:solidFill>
                  </a:tcPr>
                </a:tc>
              </a:tr>
              <a:tr h="833438">
                <a:tc>
                  <a:txBody>
                    <a:bodyPr lIns="95250" tIns="95250" rIns="95250" bIns="95250">
                      <a:noAutofit/>
                    </a:bodyPr>
                    <a:lstStyle/>
                    <a:p>
                      <a:pPr algn="l"/>
                      <a:r>
                        <a:rPr sz="1500" b="0">
                          <a:solidFill>
                            <a:srgbClr val="142D45"/>
                          </a:solidFill>
                          <a:latin typeface="Arial"/>
                          <a:ea typeface="Arial"/>
                          <a:cs typeface="Arial"/>
                        </a:rPr>
                        <a:t>Measure / Green AI + NIST</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Track energy per useful outcome, model quality, group harms and scaling efficiency</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Operator/evaluator provides evidence and uncertainty.</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Manage / scheduling research + NIST</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Approve, defer, reduce scale or redesign; enforce safeguards and review outcomes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Owner authorizes exceptions or rejects unresolved risks.</a:t>
                      </a:r>
                    </a:p>
                  </a:txBody>
                  <a:tcPr marL="91440" marR="91440" marT="45720" marB="45720" anchor="ctr">
                    <a:solidFill>
                      <a:srgbClr val="F0F4F4"/>
                    </a:solidFill>
                  </a:tcPr>
                </a:tc>
              </a:tr>
            </a:tbl>
          </a:graphicData>
        </a:graphic>
      </p:graphicFrame>
      <p:sp>
        <p:nvSpPr>
          <p:cNvPr id="4" name="Our proposal combines measurement, scheduling and risk ">
            <a:extLst xmlns:a="http://schemas.openxmlformats.org/drawingml/2006/main">
              <a:ext uri="{FF2B5EF4-FFF2-40B4-BE49-F238E27FC236}">
                <a16:creationId xmlns:a16="http://schemas.microsoft.com/office/drawing/2014/main" id="{B5931100-3FB6-4E7E-95E4-A2DD0D119B95}"/>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Our proposal combines measurement, scheduling and risk management. NIST Govern spans the other functions; risk</a:t>
            </a:r>
          </a:p>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management is iterative, not a certification.</a:t>
            </a:r>
          </a:p>
        </p:txBody>
      </p:sp>
      <p:sp>
        <p:nvSpPr>
          <p:cNvPr id="5" name="">
            <a:extLst xmlns:a="http://schemas.openxmlformats.org/drawingml/2006/main">
              <a:ext uri="{FF2B5EF4-FFF2-40B4-BE49-F238E27FC236}">
                <a16:creationId xmlns:a16="http://schemas.microsoft.com/office/drawing/2014/main" id="{C923704D-DE60-4A1D-8E48-EBDB7ED6C81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10] Schwartz et al. 2019: efficiency reportin">
            <a:extLst xmlns:a="http://schemas.openxmlformats.org/drawingml/2006/main">
              <a:ext uri="{FF2B5EF4-FFF2-40B4-BE49-F238E27FC236}">
                <a16:creationId xmlns:a16="http://schemas.microsoft.com/office/drawing/2014/main" id="{F3BBF81E-4F2B-4645-B002-94249E80B95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7" name="16 / 26">
            <a:extLst xmlns:a="http://schemas.openxmlformats.org/drawingml/2006/main">
              <a:ext uri="{FF2B5EF4-FFF2-40B4-BE49-F238E27FC236}">
                <a16:creationId xmlns:a16="http://schemas.microsoft.com/office/drawing/2014/main" id="{787BFF8F-E50E-430A-8ABA-FBBD39AAA75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16 / 26</a:t>
            </a:r>
          </a:p>
        </p:txBody>
      </p:sp>
    </p:spTree>
    <p:extLst>
      <p:ext uri="{BB962C8B-B14F-4D97-AF65-F5344CB8AC3E}">
        <p14:creationId xmlns:p14="http://schemas.microsoft.com/office/powerpoint/2010/main" val="954035898"/>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986E96A2-42FF-4C02-9610-6E1D9F076DA2}"/>
              </a:ext>
            </a:extLst>
          </p:cNvPr>
          <p:cNvCxnSpPr>
            <a:stCxn xmlns:a="http://schemas.openxmlformats.org/drawingml/2006/main" id="4" idx="3"/>
            <a:endCxn xmlns:a="http://schemas.openxmlformats.org/drawingml/2006/main" id="5" idx="1"/>
          </p:cNvCxnSpPr>
          <p:nvPr/>
        </p:nvCxnSpPr>
        <p:spPr>
          <a:xfrm xmlns:a="http://schemas.openxmlformats.org/drawingml/2006/main">
            <a:off x="7448550" y="2314575"/>
            <a:ext cx="14478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E11754D9-E291-47B1-B933-16DEB2A4247C}"/>
              </a:ext>
            </a:extLst>
          </p:cNvPr>
          <p:cNvCxnSpPr>
            <a:stCxn xmlns:a="http://schemas.openxmlformats.org/drawingml/2006/main" id="3" idx="3"/>
            <a:endCxn xmlns:a="http://schemas.openxmlformats.org/drawingml/2006/main" id="4" idx="1"/>
          </p:cNvCxnSpPr>
          <p:nvPr/>
        </p:nvCxnSpPr>
        <p:spPr>
          <a:xfrm xmlns:a="http://schemas.openxmlformats.org/drawingml/2006/main">
            <a:off x="3181350" y="2314575"/>
            <a:ext cx="13335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6" name="Appendix • Task 2 • Task 2(d) • Carbon-aware scheduling">
            <a:extLst xmlns:a="http://schemas.openxmlformats.org/drawingml/2006/main">
              <a:ext uri="{FF2B5EF4-FFF2-40B4-BE49-F238E27FC236}">
                <a16:creationId xmlns:a16="http://schemas.microsoft.com/office/drawing/2014/main" id="{1A5215C7-4BD3-4535-BF7D-5A33AFCAC631}"/>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 • Carbon-aware scheduling</a:t>
            </a:r>
          </a:p>
        </p:txBody>
      </p:sp>
      <p:sp>
        <p:nvSpPr>
          <p:cNvPr id="2" name="Carbon-aware scheduling under constraints">
            <a:extLst xmlns:a="http://schemas.openxmlformats.org/drawingml/2006/main">
              <a:ext uri="{FF2B5EF4-FFF2-40B4-BE49-F238E27FC236}">
                <a16:creationId xmlns:a16="http://schemas.microsoft.com/office/drawing/2014/main" id="{46CDFAF3-C4D9-42D0-ABE6-F01AFF4B97A5}"/>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Carbon-aware scheduling under constraints</a:t>
            </a:r>
          </a:p>
        </p:txBody>
      </p:sp>
      <p:sp>
        <p:nvSpPr>
          <p:cNvPr id="3" name="">
            <a:extLst xmlns:a="http://schemas.openxmlformats.org/drawingml/2006/main">
              <a:ext uri="{FF2B5EF4-FFF2-40B4-BE49-F238E27FC236}">
                <a16:creationId xmlns:a16="http://schemas.microsoft.com/office/drawing/2014/main" id="{D0EA9686-2698-4194-9EA8-74F6D7942BEB}"/>
              </a:ext>
            </a:extLst>
          </p:cNvPr>
          <p:cNvSpPr>
            <a:spLocks xmlns:a="http://schemas.openxmlformats.org/drawingml/2006/main" noGrp="1"/>
          </p:cNvSpPr>
          <p:nvPr/>
        </p:nvSpPr>
        <p:spPr>
          <a:xfrm xmlns:a="http://schemas.openxmlformats.org/drawingml/2006/main">
            <a:off x="609600" y="1838325"/>
            <a:ext cx="2571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Flexible job</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ready</a:t>
            </a:r>
          </a:p>
        </p:txBody>
      </p:sp>
      <p:sp>
        <p:nvSpPr>
          <p:cNvPr id="4" name="">
            <a:extLst xmlns:a="http://schemas.openxmlformats.org/drawingml/2006/main">
              <a:ext uri="{FF2B5EF4-FFF2-40B4-BE49-F238E27FC236}">
                <a16:creationId xmlns:a16="http://schemas.microsoft.com/office/drawing/2014/main" id="{A395F07B-C9D8-4921-891B-B00119D87DEA}"/>
              </a:ext>
            </a:extLst>
          </p:cNvPr>
          <p:cNvSpPr>
            <a:spLocks xmlns:a="http://schemas.openxmlformats.org/drawingml/2006/main" noGrp="1"/>
          </p:cNvSpPr>
          <p:nvPr/>
        </p:nvSpPr>
        <p:spPr>
          <a:xfrm xmlns:a="http://schemas.openxmlformats.org/drawingml/2006/main">
            <a:off x="4514850" y="1838325"/>
            <a:ext cx="29337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Lower-carbon</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forecast window</a:t>
            </a:r>
          </a:p>
        </p:txBody>
      </p:sp>
      <p:sp>
        <p:nvSpPr>
          <p:cNvPr id="5" name="">
            <a:extLst xmlns:a="http://schemas.openxmlformats.org/drawingml/2006/main">
              <a:ext uri="{FF2B5EF4-FFF2-40B4-BE49-F238E27FC236}">
                <a16:creationId xmlns:a16="http://schemas.microsoft.com/office/drawing/2014/main" id="{9FF2F09A-5D66-4A34-BD1D-E0BFB162B7EA}"/>
              </a:ext>
            </a:extLst>
          </p:cNvPr>
          <p:cNvSpPr>
            <a:spLocks xmlns:a="http://schemas.openxmlformats.org/drawingml/2006/main" noGrp="1"/>
          </p:cNvSpPr>
          <p:nvPr/>
        </p:nvSpPr>
        <p:spPr>
          <a:xfrm xmlns:a="http://schemas.openxmlformats.org/drawingml/2006/main">
            <a:off x="8896350" y="1838325"/>
            <a:ext cx="26860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Complete before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deadline</a:t>
            </a:r>
          </a:p>
        </p:txBody>
      </p:sp>
      <p:sp>
        <p:nvSpPr>
          <p:cNvPr id="8" name="Research [14] demonstrates shifting temporally flexible">
            <a:extLst xmlns:a="http://schemas.openxmlformats.org/drawingml/2006/main">
              <a:ext uri="{FF2B5EF4-FFF2-40B4-BE49-F238E27FC236}">
                <a16:creationId xmlns:a16="http://schemas.microsoft.com/office/drawing/2014/main" id="{52998232-9DAA-4DE8-9240-A7B381EE3723}"/>
              </a:ext>
            </a:extLst>
          </p:cNvPr>
          <p:cNvSpPr>
            <a:spLocks xmlns:a="http://schemas.openxmlformats.org/drawingml/2006/main" noGrp="1"/>
          </p:cNvSpPr>
          <p:nvPr/>
        </p:nvSpPr>
        <p:spPr>
          <a:xfrm xmlns:a="http://schemas.openxmlformats.org/drawingml/2006/main">
            <a:off x="609600" y="33909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Research [14] demonstrates shifting temporally flexible workloads using forecasts while preserving daily</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capacity. It does not show every urgent GPU job can wait.</a:t>
            </a:r>
          </a:p>
        </p:txBody>
      </p:sp>
      <p:sp>
        <p:nvSpPr>
          <p:cNvPr id="9" name="Proposed rule: defer only if deadline, energy budget, w">
            <a:extLst xmlns:a="http://schemas.openxmlformats.org/drawingml/2006/main">
              <a:ext uri="{FF2B5EF4-FFF2-40B4-BE49-F238E27FC236}">
                <a16:creationId xmlns:a16="http://schemas.microsoft.com/office/drawing/2014/main" id="{E363AB5D-096D-49EF-98CE-C4734990137A}"/>
              </a:ext>
            </a:extLst>
          </p:cNvPr>
          <p:cNvSpPr>
            <a:spLocks xmlns:a="http://schemas.openxmlformats.org/drawingml/2006/main" noGrp="1"/>
          </p:cNvSpPr>
          <p:nvPr/>
        </p:nvSpPr>
        <p:spPr>
          <a:xfrm xmlns:a="http://schemas.openxmlformats.org/drawingml/2006/main">
            <a:off x="609600" y="4200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Proposed rule: defer only if deadline, energy budget, water/site limits and equitable waiting-time</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commitments remain satisfied; record exceptions.</a:t>
            </a:r>
          </a:p>
        </p:txBody>
      </p:sp>
      <p:sp>
        <p:nvSpPr>
          <p:cNvPr id="10" name="No feasible window: reduce scale, redesign or approve a">
            <a:extLst xmlns:a="http://schemas.openxmlformats.org/drawingml/2006/main">
              <a:ext uri="{FF2B5EF4-FFF2-40B4-BE49-F238E27FC236}">
                <a16:creationId xmlns:a16="http://schemas.microsoft.com/office/drawing/2014/main" id="{FF8DF660-FF90-4B4F-BA03-9E4AC5D6A242}"/>
              </a:ext>
            </a:extLst>
          </p:cNvPr>
          <p:cNvSpPr>
            <a:spLocks xmlns:a="http://schemas.openxmlformats.org/drawingml/2006/main" noGrp="1"/>
          </p:cNvSpPr>
          <p:nvPr/>
        </p:nvSpPr>
        <p:spPr>
          <a:xfrm xmlns:a="http://schemas.openxmlformats.org/drawingml/2006/main">
            <a:off x="609600" y="50101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No feasible window: reduce scale, redesign or approve a justified urgent exception. Prevent indefinite</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deferral. Data residency and transfer costs constrain moving work between sites.</a:t>
            </a:r>
          </a:p>
        </p:txBody>
      </p:sp>
      <p:sp>
        <p:nvSpPr>
          <p:cNvPr id="11" name="">
            <a:extLst xmlns:a="http://schemas.openxmlformats.org/drawingml/2006/main">
              <a:ext uri="{FF2B5EF4-FFF2-40B4-BE49-F238E27FC236}">
                <a16:creationId xmlns:a16="http://schemas.microsoft.com/office/drawing/2014/main" id="{B59AB042-12DD-4157-94A7-E03F97E4B3BE}"/>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2" name="Flexible jobs may move; urgent jobs, water constraints ">
            <a:extLst xmlns:a="http://schemas.openxmlformats.org/drawingml/2006/main">
              <a:ext uri="{FF2B5EF4-FFF2-40B4-BE49-F238E27FC236}">
                <a16:creationId xmlns:a16="http://schemas.microsoft.com/office/drawing/2014/main" id="{367191C1-668A-4C02-887E-2FAF7D0D38F6}"/>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Flexible jobs may move; urgent jobs, water constraints and access commitments can override deferral.</a:t>
            </a:r>
          </a:p>
        </p:txBody>
      </p:sp>
      <p:sp>
        <p:nvSpPr>
          <p:cNvPr id="13" name="">
            <a:extLst xmlns:a="http://schemas.openxmlformats.org/drawingml/2006/main">
              <a:ext uri="{FF2B5EF4-FFF2-40B4-BE49-F238E27FC236}">
                <a16:creationId xmlns:a16="http://schemas.microsoft.com/office/drawing/2014/main" id="{E7704204-400C-472F-A415-586CCC15B15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4" name="Sources: [9] Li et al. 2025 revision: water impacts; [1">
            <a:extLst xmlns:a="http://schemas.openxmlformats.org/drawingml/2006/main">
              <a:ext uri="{FF2B5EF4-FFF2-40B4-BE49-F238E27FC236}">
                <a16:creationId xmlns:a16="http://schemas.microsoft.com/office/drawing/2014/main" id="{3E4E7CB7-0892-4616-9435-C29040DCEAC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[9] Li et al. 2025 revision: water impacts; [14] Radovanovic et al. 2021: flexible scheduling; [16] NIST: Govern, Map, Measure, Manage</a:t>
            </a:r>
          </a:p>
        </p:txBody>
      </p:sp>
      <p:sp>
        <p:nvSpPr>
          <p:cNvPr id="15" name="17 / 26">
            <a:extLst xmlns:a="http://schemas.openxmlformats.org/drawingml/2006/main">
              <a:ext uri="{FF2B5EF4-FFF2-40B4-BE49-F238E27FC236}">
                <a16:creationId xmlns:a16="http://schemas.microsoft.com/office/drawing/2014/main" id="{542EE6C6-DFD0-44BD-93F8-E3EA7C87EA5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17 / 26</a:t>
            </a:r>
          </a:p>
        </p:txBody>
      </p:sp>
    </p:spTree>
    <p:extLst>
      <p:ext uri="{BB962C8B-B14F-4D97-AF65-F5344CB8AC3E}">
        <p14:creationId xmlns:p14="http://schemas.microsoft.com/office/powerpoint/2010/main" val="959153194"/>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Supporting material • Tasks 1 and 2 • Conclu">
            <a:extLst xmlns:a="http://schemas.openxmlformats.org/drawingml/2006/main">
              <a:ext uri="{FF2B5EF4-FFF2-40B4-BE49-F238E27FC236}">
                <a16:creationId xmlns:a16="http://schemas.microsoft.com/office/drawing/2014/main" id="{6094A422-8193-4FC7-92C1-5558CF9E02A1}"/>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Tasks 1 and 2 • Conclusions and limitations</a:t>
            </a:r>
          </a:p>
        </p:txBody>
      </p:sp>
      <p:sp>
        <p:nvSpPr>
          <p:cNvPr id="2" name="Conclusions and next measurements">
            <a:extLst xmlns:a="http://schemas.openxmlformats.org/drawingml/2006/main">
              <a:ext uri="{FF2B5EF4-FFF2-40B4-BE49-F238E27FC236}">
                <a16:creationId xmlns:a16="http://schemas.microsoft.com/office/drawing/2014/main" id="{72D35B39-718C-43C6-B12C-7FA798CF180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Conclusions and next measurements</a:t>
            </a:r>
          </a:p>
        </p:txBody>
      </p:sp>
      <p:sp>
        <p:nvSpPr>
          <p:cNvPr id="3" name="GPU rotation">
            <a:extLst xmlns:a="http://schemas.openxmlformats.org/drawingml/2006/main">
              <a:ext uri="{FF2B5EF4-FFF2-40B4-BE49-F238E27FC236}">
                <a16:creationId xmlns:a16="http://schemas.microsoft.com/office/drawing/2014/main" id="{CFCEF266-909E-4E7F-944D-145745F81C08}"/>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GPU rotation</a:t>
            </a:r>
          </a:p>
        </p:txBody>
      </p:sp>
      <p:sp>
        <p:nvSpPr>
          <p:cNvPr id="4" name="Inverse gathering exposes independent pixel work. SM sc">
            <a:extLst xmlns:a="http://schemas.openxmlformats.org/drawingml/2006/main">
              <a:ext uri="{FF2B5EF4-FFF2-40B4-BE49-F238E27FC236}">
                <a16:creationId xmlns:a16="http://schemas.microsoft.com/office/drawing/2014/main" id="{3927C938-D835-4580-A370-FC3B0641C8C2}"/>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Inverse gathering exposes independent pixel work.</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SM scheduling, memory locality and transfer costs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determine achieved performance.</a:t>
            </a:r>
          </a:p>
        </p:txBody>
      </p:sp>
      <p:sp>
        <p:nvSpPr>
          <p:cNvPr id="5" name="Choose a CPU baseline and compare completed equivalent ">
            <a:extLst xmlns:a="http://schemas.openxmlformats.org/drawingml/2006/main">
              <a:ext uri="{FF2B5EF4-FFF2-40B4-BE49-F238E27FC236}">
                <a16:creationId xmlns:a16="http://schemas.microsoft.com/office/drawing/2014/main" id="{7E361FA6-26CB-4AE9-9156-F761480CC947}"/>
              </a:ext>
            </a:extLst>
          </p:cNvPr>
          <p:cNvSpPr>
            <a:spLocks xmlns:a="http://schemas.openxmlformats.org/drawingml/2006/main" noGrp="1"/>
          </p:cNvSpPr>
          <p:nvPr/>
        </p:nvSpPr>
        <p:spPr>
          <a:xfrm xmlns:a="http://schemas.openxmlformats.org/drawingml/2006/main">
            <a:off x="60960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Choose a CPU baseline and compare completed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equivalent pipelines. GDS is conditional on storage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bottlenecks, a compatible data path and verified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support.</a:t>
            </a:r>
          </a:p>
        </p:txBody>
      </p:sp>
      <p:sp>
        <p:nvSpPr>
          <p:cNvPr id="6" name="Next: compile the teaching examples, check output again">
            <a:extLst xmlns:a="http://schemas.openxmlformats.org/drawingml/2006/main">
              <a:ext uri="{FF2B5EF4-FFF2-40B4-BE49-F238E27FC236}">
                <a16:creationId xmlns:a16="http://schemas.microsoft.com/office/drawing/2014/main" id="{97867735-2C46-4B9D-B07E-99331EFE5975}"/>
              </a:ext>
            </a:extLst>
          </p:cNvPr>
          <p:cNvSpPr>
            <a:spLocks xmlns:a="http://schemas.openxmlformats.org/drawingml/2006/main" noGrp="1"/>
          </p:cNvSpPr>
          <p:nvPr/>
        </p:nvSpPr>
        <p:spPr>
          <a:xfrm xmlns:a="http://schemas.openxmlformats.org/drawingml/2006/main">
            <a:off x="609600" y="4292346"/>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compile the teaching examples, check output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against a CPU reference and profile representative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image sizes/angles/batches. No result is assumed.</a:t>
            </a:r>
          </a:p>
        </p:txBody>
      </p:sp>
      <p:sp>
        <p:nvSpPr>
          <p:cNvPr id="7" name="Responsible scaling">
            <a:extLst xmlns:a="http://schemas.openxmlformats.org/drawingml/2006/main">
              <a:ext uri="{FF2B5EF4-FFF2-40B4-BE49-F238E27FC236}">
                <a16:creationId xmlns:a16="http://schemas.microsoft.com/office/drawing/2014/main" id="{D20266DE-12C0-48B1-BD5F-DC018B78F5FC}"/>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Responsible scaling</a:t>
            </a:r>
          </a:p>
        </p:txBody>
      </p:sp>
      <p:sp>
        <p:nvSpPr>
          <p:cNvPr id="8" name="More compute can enable valuable research while concent">
            <a:extLst xmlns:a="http://schemas.openxmlformats.org/drawingml/2006/main">
              <a:ext uri="{FF2B5EF4-FFF2-40B4-BE49-F238E27FC236}">
                <a16:creationId xmlns:a16="http://schemas.microsoft.com/office/drawing/2014/main" id="{280FAE1C-CA44-48E3-8ABC-9CDDDBE0ABA5}"/>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More compute can enable valuable research while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concentrating access and increasing resource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demand. Approve scale for useful outcomes, with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9" name="Combine job-level energy/resource evidence, separate se">
            <a:extLst xmlns:a="http://schemas.openxmlformats.org/drawingml/2006/main">
              <a:ext uri="{FF2B5EF4-FFF2-40B4-BE49-F238E27FC236}">
                <a16:creationId xmlns:a16="http://schemas.microsoft.com/office/drawing/2014/main" id="{DF391E50-E41A-4606-8A08-D86351BDC270}"/>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Combine job-level energy/resource evidence,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separate security/fairness evaluation, transparent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allocations and deadline-aware scheduling.</a:t>
            </a:r>
          </a:p>
        </p:txBody>
      </p:sp>
      <p:sp>
        <p:nvSpPr>
          <p:cNvPr id="10" name="Next: measure a real cluster job’s energy, quality, sca">
            <a:extLst xmlns:a="http://schemas.openxmlformats.org/drawingml/2006/main">
              <a:ext uri="{FF2B5EF4-FFF2-40B4-BE49-F238E27FC236}">
                <a16:creationId xmlns:a16="http://schemas.microsoft.com/office/drawing/2014/main" id="{1E5D96CE-AE51-4DF8-B4B5-C97BAEB71B54}"/>
              </a:ext>
            </a:extLst>
          </p:cNvPr>
          <p:cNvSpPr>
            <a:spLocks xmlns:a="http://schemas.openxmlformats.org/drawingml/2006/main" noGrp="1"/>
          </p:cNvSpPr>
          <p:nvPr/>
        </p:nvSpPr>
        <p:spPr>
          <a:xfrm xmlns:a="http://schemas.openxmlformats.org/drawingml/2006/main">
            <a:off x="6419850" y="4292346"/>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measure a real cluster job’s energy, quality,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scaling efficiency and allocation outcomes; revise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policy when evidence or conditions change.</a:t>
            </a:r>
          </a:p>
        </p:txBody>
      </p:sp>
      <p:sp>
        <p:nvSpPr>
          <p:cNvPr id="11" name="">
            <a:extLst xmlns:a="http://schemas.openxmlformats.org/drawingml/2006/main">
              <a:ext uri="{FF2B5EF4-FFF2-40B4-BE49-F238E27FC236}">
                <a16:creationId xmlns:a16="http://schemas.microsoft.com/office/drawing/2014/main" id="{30777E96-4D0A-47C6-BB27-1088F7B8B401}"/>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1EE597EE-FF19-4E82-9D8E-53730DFB78A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2] NVIDIA CUDA Best Practices; [3] NVIDIA GDS">
            <a:extLst xmlns:a="http://schemas.openxmlformats.org/drawingml/2006/main">
              <a:ext uri="{FF2B5EF4-FFF2-40B4-BE49-F238E27FC236}">
                <a16:creationId xmlns:a16="http://schemas.microsoft.com/office/drawing/2014/main" id="{79B66CFD-207D-4E4B-8314-A10F1C4F6AC2}"/>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[14] Radovanovic et al. 2021: flexible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scheduling; [16] NIST: Govern, Map, Measure, Manage</a:t>
            </a:r>
          </a:p>
        </p:txBody>
      </p:sp>
      <p:sp>
        <p:nvSpPr>
          <p:cNvPr id="14" name="18 / 26">
            <a:extLst xmlns:a="http://schemas.openxmlformats.org/drawingml/2006/main">
              <a:ext uri="{FF2B5EF4-FFF2-40B4-BE49-F238E27FC236}">
                <a16:creationId xmlns:a16="http://schemas.microsoft.com/office/drawing/2014/main" id="{A2A9DBA5-E096-43C8-899F-01EBCBB159B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18 / 26</a:t>
            </a:r>
          </a:p>
        </p:txBody>
      </p:sp>
    </p:spTree>
    <p:extLst>
      <p:ext uri="{BB962C8B-B14F-4D97-AF65-F5344CB8AC3E}">
        <p14:creationId xmlns:p14="http://schemas.microsoft.com/office/powerpoint/2010/main" val="948333682"/>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Supporting material • Appendix • Reading gui">
            <a:extLst xmlns:a="http://schemas.openxmlformats.org/drawingml/2006/main">
              <a:ext uri="{FF2B5EF4-FFF2-40B4-BE49-F238E27FC236}">
                <a16:creationId xmlns:a16="http://schemas.microsoft.com/office/drawing/2014/main" id="{635FBB2E-3D33-4C30-A54C-7DF23DAA3D0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Appendix • Reading guide</a:t>
            </a:r>
          </a:p>
        </p:txBody>
      </p:sp>
      <p:sp>
        <p:nvSpPr>
          <p:cNvPr id="2" name="Optional supporting material">
            <a:extLst xmlns:a="http://schemas.openxmlformats.org/drawingml/2006/main">
              <a:ext uri="{FF2B5EF4-FFF2-40B4-BE49-F238E27FC236}">
                <a16:creationId xmlns:a16="http://schemas.microsoft.com/office/drawing/2014/main" id="{1BB2B9BE-F5B2-46E9-8F73-2211D8471ED0}"/>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Optional supporting material</a:t>
            </a:r>
          </a:p>
        </p:txBody>
      </p:sp>
      <p:sp>
        <p:nvSpPr>
          <p:cNvPr id="3" name="Task 1: implementation expansions">
            <a:extLst xmlns:a="http://schemas.openxmlformats.org/drawingml/2006/main">
              <a:ext uri="{FF2B5EF4-FFF2-40B4-BE49-F238E27FC236}">
                <a16:creationId xmlns:a16="http://schemas.microsoft.com/office/drawing/2014/main" id="{A603850C-EC48-49D6-8B13-4DDD2CC37126}"/>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expansions</a:t>
            </a:r>
          </a:p>
        </p:txBody>
      </p:sp>
      <p:sp>
        <p:nvSpPr>
          <p:cNvPr id="4" name="The Task 1 answers already contain the rotation formula">
            <a:extLst xmlns:a="http://schemas.openxmlformats.org/drawingml/2006/main">
              <a:ext uri="{FF2B5EF4-FFF2-40B4-BE49-F238E27FC236}">
                <a16:creationId xmlns:a16="http://schemas.microsoft.com/office/drawing/2014/main" id="{D0D7F07F-482E-40BA-9B81-35B64B998697}"/>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Task 1 answers already contain the rotation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formula, worked calculation, kernel, host launch,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launch-shape comparison and stream/overlap</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example.</a:t>
            </a:r>
          </a:p>
        </p:txBody>
      </p:sp>
      <p:sp>
        <p:nvSpPr>
          <p:cNvPr id="5" name="The following slides expand coordinate conventions and ">
            <a:extLst xmlns:a="http://schemas.openxmlformats.org/drawingml/2006/main">
              <a:ext uri="{FF2B5EF4-FFF2-40B4-BE49-F238E27FC236}">
                <a16:creationId xmlns:a16="http://schemas.microsoft.com/office/drawing/2014/main" id="{6BB963E2-C09A-4AC8-A5CD-BBF4F66AC87D}"/>
              </a:ext>
            </a:extLst>
          </p:cNvPr>
          <p:cNvSpPr>
            <a:spLocks xmlns:a="http://schemas.openxmlformats.org/drawingml/2006/main" noGrp="1"/>
          </p:cNvSpPr>
          <p:nvPr/>
        </p:nvSpPr>
        <p:spPr>
          <a:xfrm xmlns:a="http://schemas.openxmlformats.org/drawingml/2006/main">
            <a:off x="60960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following slides expand coordinate conventions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complete source examples, then give an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optional profiling plan and GDS background.</a:t>
            </a:r>
          </a:p>
        </p:txBody>
      </p:sp>
      <p:sp>
        <p:nvSpPr>
          <p:cNvPr id="6" name="Task 2: supplementary comparisons">
            <a:extLst xmlns:a="http://schemas.openxmlformats.org/drawingml/2006/main">
              <a:ext uri="{FF2B5EF4-FFF2-40B4-BE49-F238E27FC236}">
                <a16:creationId xmlns:a16="http://schemas.microsoft.com/office/drawing/2014/main" id="{8B735C95-0910-4BE0-A71B-741797C64A7F}"/>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supplementary comparisons</a:t>
            </a:r>
          </a:p>
        </p:txBody>
      </p:sp>
      <p:sp>
        <p:nvSpPr>
          <p:cNvPr id="7" name="The Task 2 answers already contain energy/carbon calcul">
            <a:extLst xmlns:a="http://schemas.openxmlformats.org/drawingml/2006/main">
              <a:ext uri="{FF2B5EF4-FFF2-40B4-BE49-F238E27FC236}">
                <a16:creationId xmlns:a16="http://schemas.microsoft.com/office/drawing/2014/main" id="{15F82625-58A3-4C0C-B371-108E09605DF3}"/>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Task 2 answers already contain energy/carbon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calculations, research comparisons, governance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fairness decisions, access policy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accountable scheduling.</a:t>
            </a:r>
          </a:p>
        </p:txBody>
      </p:sp>
      <p:sp>
        <p:nvSpPr>
          <p:cNvPr id="8" name="Additional parallelism and cross-topic comparison table">
            <a:extLst xmlns:a="http://schemas.openxmlformats.org/drawingml/2006/main">
              <a:ext uri="{FF2B5EF4-FFF2-40B4-BE49-F238E27FC236}">
                <a16:creationId xmlns:a16="http://schemas.microsoft.com/office/drawing/2014/main" id="{2E8CAC11-078E-4C30-89D8-F075796DBE67}"/>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Additional parallelism and cross-topic comparison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tables follow. Website references and one brief</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AI-use declaration complete the deck.</a:t>
            </a:r>
          </a:p>
        </p:txBody>
      </p:sp>
      <p:sp>
        <p:nvSpPr>
          <p:cNvPr id="9" name="">
            <a:extLst xmlns:a="http://schemas.openxmlformats.org/drawingml/2006/main">
              <a:ext uri="{FF2B5EF4-FFF2-40B4-BE49-F238E27FC236}">
                <a16:creationId xmlns:a16="http://schemas.microsoft.com/office/drawing/2014/main" id="{D135A371-BB7F-4009-9F68-5E754C8DEF58}"/>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6348F517-A063-4FEB-8907-1AA60D33014F}"/>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1B559851-65CF-4DEB-8445-4C9A96CEBF96}"/>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19 / 26">
            <a:extLst xmlns:a="http://schemas.openxmlformats.org/drawingml/2006/main">
              <a:ext uri="{FF2B5EF4-FFF2-40B4-BE49-F238E27FC236}">
                <a16:creationId xmlns:a16="http://schemas.microsoft.com/office/drawing/2014/main" id="{D44419EB-9A2B-433B-BB90-6152E146999E}"/>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19 / 26</a:t>
            </a:r>
          </a:p>
        </p:txBody>
      </p:sp>
    </p:spTree>
    <p:extLst>
      <p:ext uri="{BB962C8B-B14F-4D97-AF65-F5344CB8AC3E}">
        <p14:creationId xmlns:p14="http://schemas.microsoft.com/office/powerpoint/2010/main" val="1003756916"/>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Appendix B1">
            <a:extLst xmlns:a="http://schemas.openxmlformats.org/drawingml/2006/main">
              <a:ext uri="{FF2B5EF4-FFF2-40B4-BE49-F238E27FC236}">
                <a16:creationId xmlns:a16="http://schemas.microsoft.com/office/drawing/2014/main" id="{95C07CE2-3FCB-4506-A623-DF62A451FB67}"/>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Appendix B1</a:t>
            </a:r>
          </a:p>
        </p:txBody>
      </p:sp>
      <p:sp>
        <p:nvSpPr>
          <p:cNvPr id="2" name="Parallelism, dependencies and scaling limits">
            <a:extLst xmlns:a="http://schemas.openxmlformats.org/drawingml/2006/main">
              <a:ext uri="{FF2B5EF4-FFF2-40B4-BE49-F238E27FC236}">
                <a16:creationId xmlns:a16="http://schemas.microsoft.com/office/drawing/2014/main" id="{E4CE1D75-77FE-4740-ABC7-8692E1EE7FE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Parallelism, dependencies and scaling limits</a:t>
            </a:r>
          </a:p>
        </p:txBody>
      </p:sp>
      <p:graphicFrame>
        <p:nvGraphicFramePr>
          <p:cNvPr id="3" name="">
            <a:extLst xmlns:a="http://schemas.openxmlformats.org/drawingml/2006/main">
              <a:ext uri="{FF2B5EF4-FFF2-40B4-BE49-F238E27FC236}">
                <a16:creationId xmlns:a16="http://schemas.microsoft.com/office/drawing/2014/main" id="{F6D9E5A2-A124-42C7-8D7E-0A996FC01724}"/>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Model</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Partition and communication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Scaling limitation</a:t>
                      </a:r>
                    </a:p>
                  </a:txBody>
                  <a:tcPr marL="91440" marR="91440" marT="45720" marB="45720" anchor="ctr">
                    <a:solidFill>
                      <a:srgbClr val="142D45"/>
                    </a:solidFill>
                  </a:tcPr>
                </a:tc>
              </a:tr>
              <a:tr h="666750">
                <a:tc>
                  <a:txBody>
                    <a:bodyPr lIns="95250" tIns="95250" rIns="95250" bIns="95250">
                      <a:noAutofit/>
                    </a:bodyPr>
                    <a:lstStyle/>
                    <a:p>
                      <a:pPr algn="l"/>
                      <a:r>
                        <a:rPr sz="1500" b="0">
                          <a:solidFill>
                            <a:srgbClr val="142D45"/>
                          </a:solidFill>
                          <a:latin typeface="Arial"/>
                          <a:ea typeface="Arial"/>
                          <a:cs typeface="Arial"/>
                        </a:rPr>
                        <a:t>Data parallel</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Replicate model; partition batches; reduce/average gradients before a consistent update</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Collective latency/bandwidth and stragglers.</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Tensor parallel</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Partition computations within a layer; exchange partial results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Frequent inter-device communication.</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Pipeline parallel</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Assign layers to stages; pass activations/gradients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Stage imbalance and pipeline bubbles.</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Fixed workload</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More GPUs reduce only the parallelizable portion</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Serial work and communication bound speedup.</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Larger workload</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Scale capacity/model/data with added resources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 different claim from halving a fixed job’s runtime.</a:t>
                      </a:r>
                    </a:p>
                  </a:txBody>
                  <a:tcPr marL="91440" marR="91440" marT="45720" marB="45720" anchor="ctr">
                    <a:solidFill>
                      <a:srgbClr val="FFFFFF"/>
                    </a:solidFill>
                  </a:tcPr>
                </a:tc>
              </a:tr>
            </a:tbl>
          </a:graphicData>
        </a:graphic>
      </p:graphicFrame>
      <p:sp>
        <p:nvSpPr>
          <p:cNvPr id="4" name="All-reduce is a collective result-sharing concept, not ">
            <a:extLst xmlns:a="http://schemas.openxmlformats.org/drawingml/2006/main">
              <a:ext uri="{FF2B5EF4-FFF2-40B4-BE49-F238E27FC236}">
                <a16:creationId xmlns:a16="http://schemas.microsoft.com/office/drawing/2014/main" id="{BFFF0BAC-FFC6-4DA8-A17A-0609D6D50B3C}"/>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All-reduce is a collective result-sharing concept, not a claim that every AI framework uses the exact classroom MPI code.</a:t>
            </a:r>
          </a:p>
        </p:txBody>
      </p:sp>
      <p:sp>
        <p:nvSpPr>
          <p:cNvPr id="5" name="">
            <a:extLst xmlns:a="http://schemas.openxmlformats.org/drawingml/2006/main">
              <a:ext uri="{FF2B5EF4-FFF2-40B4-BE49-F238E27FC236}">
                <a16:creationId xmlns:a16="http://schemas.microsoft.com/office/drawing/2014/main" id="{AFC7695B-F757-485E-8F54-1D1DFC514E7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5] NVIDIA Megatron parallelism; [2] NVIDIA CU">
            <a:extLst xmlns:a="http://schemas.openxmlformats.org/drawingml/2006/main">
              <a:ext uri="{FF2B5EF4-FFF2-40B4-BE49-F238E27FC236}">
                <a16:creationId xmlns:a16="http://schemas.microsoft.com/office/drawing/2014/main" id="{4B94FBE5-E9E7-4AB7-9F5B-F96C330D7856}"/>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[5] NVIDIA Megatron parallelism; [2] NVIDIA CUDA Best Practices</a:t>
            </a:r>
          </a:p>
        </p:txBody>
      </p:sp>
      <p:sp>
        <p:nvSpPr>
          <p:cNvPr id="7" name="20 / 26">
            <a:extLst xmlns:a="http://schemas.openxmlformats.org/drawingml/2006/main">
              <a:ext uri="{FF2B5EF4-FFF2-40B4-BE49-F238E27FC236}">
                <a16:creationId xmlns:a16="http://schemas.microsoft.com/office/drawing/2014/main" id="{C63CC79C-346C-455E-93FC-8F35DE930731}"/>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20 / 26</a:t>
            </a:r>
          </a:p>
        </p:txBody>
      </p:sp>
    </p:spTree>
    <p:extLst>
      <p:ext uri="{BB962C8B-B14F-4D97-AF65-F5344CB8AC3E}">
        <p14:creationId xmlns:p14="http://schemas.microsoft.com/office/powerpoint/2010/main" val="1311041690"/>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Appendix B2">
            <a:extLst xmlns:a="http://schemas.openxmlformats.org/drawingml/2006/main">
              <a:ext uri="{FF2B5EF4-FFF2-40B4-BE49-F238E27FC236}">
                <a16:creationId xmlns:a16="http://schemas.microsoft.com/office/drawing/2014/main" id="{A68A67F1-05AB-4777-8375-CD28CEBA98B4}"/>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Appendix B2</a:t>
            </a:r>
          </a:p>
        </p:txBody>
      </p:sp>
      <p:sp>
        <p:nvSpPr>
          <p:cNvPr id="2" name="Research comparisons across all four topics">
            <a:extLst xmlns:a="http://schemas.openxmlformats.org/drawingml/2006/main">
              <a:ext uri="{FF2B5EF4-FFF2-40B4-BE49-F238E27FC236}">
                <a16:creationId xmlns:a16="http://schemas.microsoft.com/office/drawing/2014/main" id="{75660195-83B6-4701-BC39-E755F4E16DFF}"/>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Research comparisons across all four topics</a:t>
            </a:r>
          </a:p>
        </p:txBody>
      </p:sp>
      <p:graphicFrame>
        <p:nvGraphicFramePr>
          <p:cNvPr id="3" name="">
            <a:extLst xmlns:a="http://schemas.openxmlformats.org/drawingml/2006/main">
              <a:ext uri="{FF2B5EF4-FFF2-40B4-BE49-F238E27FC236}">
                <a16:creationId xmlns:a16="http://schemas.microsoft.com/office/drawing/2014/main" id="{1C917542-D78B-4592-BD38-F4F3F61B51F4}"/>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Topic</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Comparison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Interpretation / limit</a:t>
                      </a:r>
                    </a:p>
                  </a:txBody>
                  <a:tcPr marL="91440" marR="91440" marT="45720" marB="45720" anchor="ctr">
                    <a:solidFill>
                      <a:srgbClr val="142D45"/>
                    </a:solidFill>
                  </a:tcPr>
                </a:tc>
              </a:tr>
              <a:tr h="833438">
                <a:tc>
                  <a:txBody>
                    <a:bodyPr lIns="95250" tIns="95250" rIns="95250" bIns="95250">
                      <a:noAutofit/>
                    </a:bodyPr>
                    <a:lstStyle/>
                    <a:p>
                      <a:pPr algn="l"/>
                      <a:r>
                        <a:rPr sz="1500" b="0">
                          <a:solidFill>
                            <a:srgbClr val="142D45"/>
                          </a:solidFill>
                          <a:latin typeface="Arial"/>
                          <a:ea typeface="Arial"/>
                          <a:cs typeface="Arial"/>
                        </a:rPr>
                        <a:t>(a) Environment</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Cost/efficiency research [8,10] versus water-footprint research [9]</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Useful-output efficiency and local resource pressure need different measures.</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(b) Governance</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Gradient reconstruction [11] versus fairness evaluation survey [12]</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Data exposure and unequal outcomes are distinct failure mechanisms.</a:t>
                      </a:r>
                    </a:p>
                  </a:txBody>
                  <a:tcPr marL="91440" marR="91440" marT="45720" marB="45720" anchor="ctr">
                    <a:solidFill>
                      <a:srgbClr val="F0F4F4"/>
                    </a:solidFill>
                  </a:tcPr>
                </a:tc>
              </a:tr>
              <a:tr h="833438">
                <a:tc>
                  <a:txBody>
                    <a:bodyPr lIns="95250" tIns="95250" rIns="95250" bIns="95250">
                      <a:noAutofit/>
                    </a:bodyPr>
                    <a:lstStyle/>
                    <a:p>
                      <a:pPr algn="l"/>
                      <a:r>
                        <a:rPr sz="1500" b="0">
                          <a:solidFill>
                            <a:srgbClr val="142D45"/>
                          </a:solidFill>
                          <a:latin typeface="Arial"/>
                          <a:ea typeface="Arial"/>
                          <a:cs typeface="Arial"/>
                        </a:rPr>
                        <a:t>(c) Access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Institutional participation [13] versus workload cost/equity [8]</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Concentration and financial barriers reinforce a concern; scopes differ.</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(d) Frameworks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Efficiency-reporting argument [10] versus operational scheduling [14]</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Measurement motivates action; scheduling depends on flexibility and forecasts.</a:t>
                      </a:r>
                    </a:p>
                  </a:txBody>
                  <a:tcPr marL="91440" marR="91440" marT="45720" marB="45720" anchor="ctr">
                    <a:solidFill>
                      <a:srgbClr val="F0F4F4"/>
                    </a:solidFill>
                  </a:tcPr>
                </a:tc>
              </a:tr>
            </a:tbl>
          </a:graphicData>
        </a:graphic>
      </p:graphicFrame>
      <p:sp>
        <p:nvSpPr>
          <p:cNvPr id="4" name="Current institutional evidence [6,7] and governance fra">
            <a:extLst xmlns:a="http://schemas.openxmlformats.org/drawingml/2006/main">
              <a:ext uri="{FF2B5EF4-FFF2-40B4-BE49-F238E27FC236}">
                <a16:creationId xmlns:a16="http://schemas.microsoft.com/office/drawing/2014/main" id="{64619C72-9A10-4D4C-8AF1-953D0AA0C96F}"/>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Current institutional evidence [6,7] and governance frameworks [15,16] complement the research; they do not replace its</a:t>
            </a:r>
          </a:p>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methodological limits.</a:t>
            </a:r>
          </a:p>
        </p:txBody>
      </p:sp>
      <p:sp>
        <p:nvSpPr>
          <p:cNvPr id="5" name="">
            <a:extLst xmlns:a="http://schemas.openxmlformats.org/drawingml/2006/main">
              <a:ext uri="{FF2B5EF4-FFF2-40B4-BE49-F238E27FC236}">
                <a16:creationId xmlns:a16="http://schemas.microsoft.com/office/drawing/2014/main" id="{A6C92046-76EC-46B7-B54D-E08CAC98267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8] Strubell et al. 2019: cost and equity; [9]">
            <a:extLst xmlns:a="http://schemas.openxmlformats.org/drawingml/2006/main">
              <a:ext uri="{FF2B5EF4-FFF2-40B4-BE49-F238E27FC236}">
                <a16:creationId xmlns:a16="http://schemas.microsoft.com/office/drawing/2014/main" id="{09458C44-C310-4745-87E1-D0C1917EB1A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[8] Strubell et al. 2019: cost and equity; [9] Li et al. 2025 revision: water impacts; [10] Schwartz et al. 2019: efficiency reporting; [11] Zhu et al. 2019: exposed gradients; [12]</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Gallegos et al. 2024: fairness evaluation; [13] Ahmed and Wahed 2020: compute divide; [14] Radovanovic et al. 2021: flexible scheduling</a:t>
            </a:r>
          </a:p>
        </p:txBody>
      </p:sp>
      <p:sp>
        <p:nvSpPr>
          <p:cNvPr id="7" name="21 / 26">
            <a:extLst xmlns:a="http://schemas.openxmlformats.org/drawingml/2006/main">
              <a:ext uri="{FF2B5EF4-FFF2-40B4-BE49-F238E27FC236}">
                <a16:creationId xmlns:a16="http://schemas.microsoft.com/office/drawing/2014/main" id="{316BAACD-1525-4842-9914-4F532A42E94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21 / 26</a:t>
            </a:r>
          </a:p>
        </p:txBody>
      </p:sp>
    </p:spTree>
    <p:extLst>
      <p:ext uri="{BB962C8B-B14F-4D97-AF65-F5344CB8AC3E}">
        <p14:creationId xmlns:p14="http://schemas.microsoft.com/office/powerpoint/2010/main" val="670047907"/>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1/4">
            <a:extLst xmlns:a="http://schemas.openxmlformats.org/drawingml/2006/main">
              <a:ext uri="{FF2B5EF4-FFF2-40B4-BE49-F238E27FC236}">
                <a16:creationId xmlns:a16="http://schemas.microsoft.com/office/drawing/2014/main" id="{07A68A1C-AE6E-4341-939B-A9A8272CBA01}"/>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1/4</a:t>
            </a:r>
          </a:p>
        </p:txBody>
      </p:sp>
      <p:sp>
        <p:nvSpPr>
          <p:cNvPr id="2" name="References">
            <a:extLst xmlns:a="http://schemas.openxmlformats.org/drawingml/2006/main">
              <a:ext uri="{FF2B5EF4-FFF2-40B4-BE49-F238E27FC236}">
                <a16:creationId xmlns:a16="http://schemas.microsoft.com/office/drawing/2014/main" id="{1D351005-06ED-4BC8-B68E-0FA4DAE001AD}"/>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2] NVIDIA, CUDA C++ Best Practices Guide, online docum">
            <a:extLst xmlns:a="http://schemas.openxmlformats.org/drawingml/2006/main">
              <a:ext uri="{FF2B5EF4-FFF2-40B4-BE49-F238E27FC236}">
                <a16:creationId xmlns:a16="http://schemas.microsoft.com/office/drawing/2014/main" id="{4B1D7411-56FA-4F8E-93E0-9A597048A23A}"/>
              </a:ext>
            </a:extLst>
          </p:cNvPr>
          <p:cNvSpPr>
            <a:spLocks xmlns:a="http://schemas.openxmlformats.org/drawingml/2006/main" noGrp="1"/>
          </p:cNvSpPr>
          <p:nvPr/>
        </p:nvSpPr>
        <p:spPr>
          <a:xfrm xmlns:a="http://schemas.openxmlformats.org/drawingml/2006/main">
            <a:off x="609600" y="15621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[2] NVIDIA, CUDA C++ Best Practices Guide, online documentation, accessed Oct. 8, 2026.</a:t>
            </a:r>
          </a:p>
        </p:txBody>
      </p:sp>
      <p:sp>
        <p:nvSpPr>
          <p:cNvPr id="4" name="https://docs.nvidia.com/cuda/cuda-c-best-practices-guid">
            <a:extLst xmlns:a="http://schemas.openxmlformats.org/drawingml/2006/main">
              <a:ext uri="{FF2B5EF4-FFF2-40B4-BE49-F238E27FC236}">
                <a16:creationId xmlns:a16="http://schemas.microsoft.com/office/drawing/2014/main" id="{CB9AC4CF-39C5-4BAA-8B8C-D16BE32C9B31}"/>
              </a:ext>
            </a:extLst>
          </p:cNvPr>
          <p:cNvSpPr>
            <a:spLocks xmlns:a="http://schemas.openxmlformats.org/drawingml/2006/main" noGrp="1"/>
          </p:cNvSpPr>
          <p:nvPr/>
        </p:nvSpPr>
        <p:spPr>
          <a:xfrm xmlns:a="http://schemas.openxmlformats.org/drawingml/2006/main">
            <a:off x="609600" y="188633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e3c96b4e7f624111"/>
              </a:rPr>
              <a:t>https://docs.nvidia.com/cuda/cuda-c-best-practices-guide/index.html</a:t>
            </a:r>
          </a:p>
        </p:txBody>
      </p:sp>
      <p:sp>
        <p:nvSpPr>
          <p:cNvPr id="5" name="[3] NVIDIA, GPUDirect Storage Overview Guide, online do">
            <a:extLst xmlns:a="http://schemas.openxmlformats.org/drawingml/2006/main">
              <a:ext uri="{FF2B5EF4-FFF2-40B4-BE49-F238E27FC236}">
                <a16:creationId xmlns:a16="http://schemas.microsoft.com/office/drawing/2014/main" id="{E425D15E-0C0C-45A0-B8AB-A6F2FA9D4DAE}"/>
              </a:ext>
            </a:extLst>
          </p:cNvPr>
          <p:cNvSpPr>
            <a:spLocks xmlns:a="http://schemas.openxmlformats.org/drawingml/2006/main" noGrp="1"/>
          </p:cNvSpPr>
          <p:nvPr/>
        </p:nvSpPr>
        <p:spPr>
          <a:xfrm xmlns:a="http://schemas.openxmlformats.org/drawingml/2006/main">
            <a:off x="609600" y="232752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[3] NVIDIA, GPUDirect Storage Overview Guide, online documentation, accessed Oct. 8, 2026.</a:t>
            </a:r>
          </a:p>
        </p:txBody>
      </p:sp>
      <p:sp>
        <p:nvSpPr>
          <p:cNvPr id="6" name="https://docs.nvidia.com/gpudirect-storage/overview-guid">
            <a:extLst xmlns:a="http://schemas.openxmlformats.org/drawingml/2006/main">
              <a:ext uri="{FF2B5EF4-FFF2-40B4-BE49-F238E27FC236}">
                <a16:creationId xmlns:a16="http://schemas.microsoft.com/office/drawing/2014/main" id="{BD888526-1B92-4941-BD60-9B83A4424DC5}"/>
              </a:ext>
            </a:extLst>
          </p:cNvPr>
          <p:cNvSpPr>
            <a:spLocks xmlns:a="http://schemas.openxmlformats.org/drawingml/2006/main" noGrp="1"/>
          </p:cNvSpPr>
          <p:nvPr/>
        </p:nvSpPr>
        <p:spPr>
          <a:xfrm xmlns:a="http://schemas.openxmlformats.org/drawingml/2006/main">
            <a:off x="609600" y="265176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857aa2911e0a4d9c"/>
              </a:rPr>
              <a:t>https://docs.nvidia.com/gpudirect-storage/overview-guide/index.html</a:t>
            </a:r>
          </a:p>
        </p:txBody>
      </p:sp>
      <p:sp>
        <p:nvSpPr>
          <p:cNvPr id="7" name="[4] NVIDIA, GPUDirect Storage Design Guide, online docu">
            <a:extLst xmlns:a="http://schemas.openxmlformats.org/drawingml/2006/main">
              <a:ext uri="{FF2B5EF4-FFF2-40B4-BE49-F238E27FC236}">
                <a16:creationId xmlns:a16="http://schemas.microsoft.com/office/drawing/2014/main" id="{A82D4FB4-0D47-4457-B599-AF8867D9DB96}"/>
              </a:ext>
            </a:extLst>
          </p:cNvPr>
          <p:cNvSpPr>
            <a:spLocks xmlns:a="http://schemas.openxmlformats.org/drawingml/2006/main" noGrp="1"/>
          </p:cNvSpPr>
          <p:nvPr/>
        </p:nvSpPr>
        <p:spPr>
          <a:xfrm xmlns:a="http://schemas.openxmlformats.org/drawingml/2006/main">
            <a:off x="609600" y="3092958"/>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[4] NVIDIA, GPUDirect Storage Design Guide, online documentation, accessed Oct. 8, 2026.</a:t>
            </a:r>
          </a:p>
        </p:txBody>
      </p:sp>
      <p:sp>
        <p:nvSpPr>
          <p:cNvPr id="8" name="https://docs.nvidia.com/gpudirect-storage/design-guide/">
            <a:extLst xmlns:a="http://schemas.openxmlformats.org/drawingml/2006/main">
              <a:ext uri="{FF2B5EF4-FFF2-40B4-BE49-F238E27FC236}">
                <a16:creationId xmlns:a16="http://schemas.microsoft.com/office/drawing/2014/main" id="{510F23B7-5638-418E-9AA0-FBE93C678FB1}"/>
              </a:ext>
            </a:extLst>
          </p:cNvPr>
          <p:cNvSpPr>
            <a:spLocks xmlns:a="http://schemas.openxmlformats.org/drawingml/2006/main" noGrp="1"/>
          </p:cNvSpPr>
          <p:nvPr/>
        </p:nvSpPr>
        <p:spPr>
          <a:xfrm xmlns:a="http://schemas.openxmlformats.org/drawingml/2006/main">
            <a:off x="609600" y="3417189"/>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b9e2a319a6e544a2"/>
              </a:rPr>
              <a:t>https://docs.nvidia.com/gpudirect-storage/design-guide/index.html</a:t>
            </a:r>
          </a:p>
        </p:txBody>
      </p:sp>
      <p:sp>
        <p:nvSpPr>
          <p:cNvPr id="9" name="[5] NVIDIA, “Parallelism strategies guide,” Megatron Co">
            <a:extLst xmlns:a="http://schemas.openxmlformats.org/drawingml/2006/main">
              <a:ext uri="{FF2B5EF4-FFF2-40B4-BE49-F238E27FC236}">
                <a16:creationId xmlns:a16="http://schemas.microsoft.com/office/drawing/2014/main" id="{6313CB39-C4D3-4B06-B26B-2B6D9DEF6D1B}"/>
              </a:ext>
            </a:extLst>
          </p:cNvPr>
          <p:cNvSpPr>
            <a:spLocks xmlns:a="http://schemas.openxmlformats.org/drawingml/2006/main" noGrp="1"/>
          </p:cNvSpPr>
          <p:nvPr/>
        </p:nvSpPr>
        <p:spPr>
          <a:xfrm xmlns:a="http://schemas.openxmlformats.org/drawingml/2006/main">
            <a:off x="609600" y="3858387"/>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[5] NVIDIA, “Parallelism strategies guide,” Megatron Core, online documentation, accessed Oct. 8, 2026.</a:t>
            </a:r>
          </a:p>
        </p:txBody>
      </p:sp>
      <p:sp>
        <p:nvSpPr>
          <p:cNvPr id="10" name="https://docs.nvidia.com/megatron-core/developer-guide/l">
            <a:extLst xmlns:a="http://schemas.openxmlformats.org/drawingml/2006/main">
              <a:ext uri="{FF2B5EF4-FFF2-40B4-BE49-F238E27FC236}">
                <a16:creationId xmlns:a16="http://schemas.microsoft.com/office/drawing/2014/main" id="{226004E7-D9C1-41B2-9D49-1347032B91C7}"/>
              </a:ext>
            </a:extLst>
          </p:cNvPr>
          <p:cNvSpPr>
            <a:spLocks xmlns:a="http://schemas.openxmlformats.org/drawingml/2006/main" noGrp="1"/>
          </p:cNvSpPr>
          <p:nvPr/>
        </p:nvSpPr>
        <p:spPr>
          <a:xfrm xmlns:a="http://schemas.openxmlformats.org/drawingml/2006/main">
            <a:off x="609600" y="4182618"/>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90b6ed3b833b4efe"/>
              </a:rPr>
              <a:t>https://docs.nvidia.com/megatron-core/developer-guide/latest/user-guide/parallelism-guide.html</a:t>
            </a:r>
          </a:p>
        </p:txBody>
      </p:sp>
      <p:sp>
        <p:nvSpPr>
          <p:cNvPr id="11" name="">
            <a:extLst xmlns:a="http://schemas.openxmlformats.org/drawingml/2006/main">
              <a:ext uri="{FF2B5EF4-FFF2-40B4-BE49-F238E27FC236}">
                <a16:creationId xmlns:a16="http://schemas.microsoft.com/office/drawing/2014/main" id="{7360593A-E9D3-4A15-AD44-A11F8385C26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2C8DCAB4-C796-47E7-BEB6-3C35D64B5A76}"/>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22 / 26">
            <a:extLst xmlns:a="http://schemas.openxmlformats.org/drawingml/2006/main">
              <a:ext uri="{FF2B5EF4-FFF2-40B4-BE49-F238E27FC236}">
                <a16:creationId xmlns:a16="http://schemas.microsoft.com/office/drawing/2014/main" id="{D63432AE-75F4-4ECD-BE6F-F38E1AC946E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22 / 26</a:t>
            </a:r>
          </a:p>
        </p:txBody>
      </p:sp>
    </p:spTree>
    <p:extLst>
      <p:ext uri="{BB962C8B-B14F-4D97-AF65-F5344CB8AC3E}">
        <p14:creationId xmlns:p14="http://schemas.microsoft.com/office/powerpoint/2010/main" val="242409423"/>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2/4">
            <a:extLst xmlns:a="http://schemas.openxmlformats.org/drawingml/2006/main">
              <a:ext uri="{FF2B5EF4-FFF2-40B4-BE49-F238E27FC236}">
                <a16:creationId xmlns:a16="http://schemas.microsoft.com/office/drawing/2014/main" id="{D6DCCA70-C4F3-4A63-B794-A32C39C4E117}"/>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2/4</a:t>
            </a:r>
          </a:p>
        </p:txBody>
      </p:sp>
      <p:sp>
        <p:nvSpPr>
          <p:cNvPr id="2" name="References">
            <a:extLst xmlns:a="http://schemas.openxmlformats.org/drawingml/2006/main">
              <a:ext uri="{FF2B5EF4-FFF2-40B4-BE49-F238E27FC236}">
                <a16:creationId xmlns:a16="http://schemas.microsoft.com/office/drawing/2014/main" id="{D592D93E-EE2A-44AC-82B5-09860CDC3E3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6] International Energy Agency, Key Questions on Energ">
            <a:extLst xmlns:a="http://schemas.openxmlformats.org/drawingml/2006/main">
              <a:ext uri="{FF2B5EF4-FFF2-40B4-BE49-F238E27FC236}">
                <a16:creationId xmlns:a16="http://schemas.microsoft.com/office/drawing/2014/main" id="{7EB9BEAB-3F27-4B5D-8EBB-4BD7C153265E}"/>
              </a:ext>
            </a:extLst>
          </p:cNvPr>
          <p:cNvSpPr>
            <a:spLocks xmlns:a="http://schemas.openxmlformats.org/drawingml/2006/main" noGrp="1"/>
          </p:cNvSpPr>
          <p:nvPr/>
        </p:nvSpPr>
        <p:spPr>
          <a:xfrm xmlns:a="http://schemas.openxmlformats.org/drawingml/2006/main">
            <a:off x="609600" y="1562100"/>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[6] International Energy Agency, Key Questions on Energy and AI, executive summary, Apr. 16, 2026, CC BY 4.0, accessed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Oct. 8, 2026.</a:t>
            </a:r>
          </a:p>
        </p:txBody>
      </p:sp>
      <p:sp>
        <p:nvSpPr>
          <p:cNvPr id="4" name="https://www.iea.org/reports/key-questions-on-energy-and">
            <a:extLst xmlns:a="http://schemas.openxmlformats.org/drawingml/2006/main">
              <a:ext uri="{FF2B5EF4-FFF2-40B4-BE49-F238E27FC236}">
                <a16:creationId xmlns:a16="http://schemas.microsoft.com/office/drawing/2014/main" id="{8A72EC16-4463-40C1-94E2-2D5C9AB7B763}"/>
              </a:ext>
            </a:extLst>
          </p:cNvPr>
          <p:cNvSpPr>
            <a:spLocks xmlns:a="http://schemas.openxmlformats.org/drawingml/2006/main" noGrp="1"/>
          </p:cNvSpPr>
          <p:nvPr/>
        </p:nvSpPr>
        <p:spPr>
          <a:xfrm xmlns:a="http://schemas.openxmlformats.org/drawingml/2006/main">
            <a:off x="609600" y="2134362"/>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aec1980051094898"/>
              </a:rPr>
              <a:t>https://www.iea.org/reports/key-questions-on-energy-and-ai/executive-summary</a:t>
            </a:r>
          </a:p>
        </p:txBody>
      </p:sp>
      <p:sp>
        <p:nvSpPr>
          <p:cNvPr id="5" name="[7] U.S. National Science Foundation, “NAIRR at 2 years">
            <a:extLst xmlns:a="http://schemas.openxmlformats.org/drawingml/2006/main">
              <a:ext uri="{FF2B5EF4-FFF2-40B4-BE49-F238E27FC236}">
                <a16:creationId xmlns:a16="http://schemas.microsoft.com/office/drawing/2014/main" id="{9367F15C-2A71-45DD-8887-D100671ADED9}"/>
              </a:ext>
            </a:extLst>
          </p:cNvPr>
          <p:cNvSpPr>
            <a:spLocks xmlns:a="http://schemas.openxmlformats.org/drawingml/2006/main" noGrp="1"/>
          </p:cNvSpPr>
          <p:nvPr/>
        </p:nvSpPr>
        <p:spPr>
          <a:xfrm xmlns:a="http://schemas.openxmlformats.org/drawingml/2006/main">
            <a:off x="609600" y="2575560"/>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[7] U.S. National Science Foundation, “NAIRR at 2 years: Advancing American artificial intelligence innovation and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leadership,” Mar. 19, 2026, accessed Oct. 8, 2026.</a:t>
            </a:r>
          </a:p>
        </p:txBody>
      </p:sp>
      <p:sp>
        <p:nvSpPr>
          <p:cNvPr id="6" name="https://www.nsf.gov/cise/updates/nairr-2-years-advancin">
            <a:extLst xmlns:a="http://schemas.openxmlformats.org/drawingml/2006/main">
              <a:ext uri="{FF2B5EF4-FFF2-40B4-BE49-F238E27FC236}">
                <a16:creationId xmlns:a16="http://schemas.microsoft.com/office/drawing/2014/main" id="{2195C7AF-AFC0-44B8-B0E8-F01CCD89F224}"/>
              </a:ext>
            </a:extLst>
          </p:cNvPr>
          <p:cNvSpPr>
            <a:spLocks xmlns:a="http://schemas.openxmlformats.org/drawingml/2006/main" noGrp="1"/>
          </p:cNvSpPr>
          <p:nvPr/>
        </p:nvSpPr>
        <p:spPr>
          <a:xfrm xmlns:a="http://schemas.openxmlformats.org/drawingml/2006/main">
            <a:off x="609600" y="3147822"/>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814f0c049fbe4748"/>
              </a:rPr>
              <a:t>https://www.nsf.gov/cise/updates/nairr-2-years-advancing-american-artificial-intelligence</a:t>
            </a:r>
          </a:p>
        </p:txBody>
      </p:sp>
      <p:sp>
        <p:nvSpPr>
          <p:cNvPr id="7" name="[8] E. Strubell, A. Ganesh, and A. McCallum, “Energy an">
            <a:extLst xmlns:a="http://schemas.openxmlformats.org/drawingml/2006/main">
              <a:ext uri="{FF2B5EF4-FFF2-40B4-BE49-F238E27FC236}">
                <a16:creationId xmlns:a16="http://schemas.microsoft.com/office/drawing/2014/main" id="{49E3E3D7-5949-40E3-9D7C-FE4D33615143}"/>
              </a:ext>
            </a:extLst>
          </p:cNvPr>
          <p:cNvSpPr>
            <a:spLocks xmlns:a="http://schemas.openxmlformats.org/drawingml/2006/main" noGrp="1"/>
          </p:cNvSpPr>
          <p:nvPr/>
        </p:nvSpPr>
        <p:spPr>
          <a:xfrm xmlns:a="http://schemas.openxmlformats.org/drawingml/2006/main">
            <a:off x="609600" y="3589020"/>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[8] E. Strubell, A. Ganesh, and A. McCallum, “Energy and policy considerations for deep learning in NLP,” in Proc. ACL,</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2019, pp. 3645–3650, doi: 10.18653/v1/P19-1355.</a:t>
            </a:r>
          </a:p>
        </p:txBody>
      </p:sp>
      <p:sp>
        <p:nvSpPr>
          <p:cNvPr id="8" name="https://aclanthology.org/P19-1355/">
            <a:extLst xmlns:a="http://schemas.openxmlformats.org/drawingml/2006/main">
              <a:ext uri="{FF2B5EF4-FFF2-40B4-BE49-F238E27FC236}">
                <a16:creationId xmlns:a16="http://schemas.microsoft.com/office/drawing/2014/main" id="{830BD4D1-AFE1-4F99-8D9C-A615E2A06B4C}"/>
              </a:ext>
            </a:extLst>
          </p:cNvPr>
          <p:cNvSpPr>
            <a:spLocks xmlns:a="http://schemas.openxmlformats.org/drawingml/2006/main" noGrp="1"/>
          </p:cNvSpPr>
          <p:nvPr/>
        </p:nvSpPr>
        <p:spPr>
          <a:xfrm xmlns:a="http://schemas.openxmlformats.org/drawingml/2006/main">
            <a:off x="609600" y="4161282"/>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290905895cce471c"/>
              </a:rPr>
              <a:t>https://aclanthology.org/P19-1355/</a:t>
            </a:r>
          </a:p>
        </p:txBody>
      </p:sp>
      <p:sp>
        <p:nvSpPr>
          <p:cNvPr id="9" name="[9] P. Li, J. Yang, M. A. Islam, and S. Ren, “Making AI">
            <a:extLst xmlns:a="http://schemas.openxmlformats.org/drawingml/2006/main">
              <a:ext uri="{FF2B5EF4-FFF2-40B4-BE49-F238E27FC236}">
                <a16:creationId xmlns:a16="http://schemas.microsoft.com/office/drawing/2014/main" id="{400302A3-7A11-4158-9A14-C70E97F987CE}"/>
              </a:ext>
            </a:extLst>
          </p:cNvPr>
          <p:cNvSpPr>
            <a:spLocks xmlns:a="http://schemas.openxmlformats.org/drawingml/2006/main" noGrp="1"/>
          </p:cNvSpPr>
          <p:nvPr/>
        </p:nvSpPr>
        <p:spPr>
          <a:xfrm xmlns:a="http://schemas.openxmlformats.org/drawingml/2006/main">
            <a:off x="609600" y="4602480"/>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[9] P. Li, J. Yang, M. A. Islam, and S. Ren, “Making AI less ‘thirsty’: Uncovering and addressing the secret water footprint of</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AI models,” arXiv:2304.03271v5, Mar. 26, 2025; first submitted 2023.</a:t>
            </a:r>
          </a:p>
        </p:txBody>
      </p:sp>
      <p:sp>
        <p:nvSpPr>
          <p:cNvPr id="10" name="https://arxiv.org/abs/2304.03271v5">
            <a:extLst xmlns:a="http://schemas.openxmlformats.org/drawingml/2006/main">
              <a:ext uri="{FF2B5EF4-FFF2-40B4-BE49-F238E27FC236}">
                <a16:creationId xmlns:a16="http://schemas.microsoft.com/office/drawing/2014/main" id="{4D35C71E-5758-4663-873D-9E024F7FAF31}"/>
              </a:ext>
            </a:extLst>
          </p:cNvPr>
          <p:cNvSpPr>
            <a:spLocks xmlns:a="http://schemas.openxmlformats.org/drawingml/2006/main" noGrp="1"/>
          </p:cNvSpPr>
          <p:nvPr/>
        </p:nvSpPr>
        <p:spPr>
          <a:xfrm xmlns:a="http://schemas.openxmlformats.org/drawingml/2006/main">
            <a:off x="609600" y="5174742"/>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924d81f9e0254fa0"/>
              </a:rPr>
              <a:t>https://arxiv.org/abs/2304.03271v5</a:t>
            </a:r>
          </a:p>
        </p:txBody>
      </p:sp>
      <p:sp>
        <p:nvSpPr>
          <p:cNvPr id="11" name="">
            <a:extLst xmlns:a="http://schemas.openxmlformats.org/drawingml/2006/main">
              <a:ext uri="{FF2B5EF4-FFF2-40B4-BE49-F238E27FC236}">
                <a16:creationId xmlns:a16="http://schemas.microsoft.com/office/drawing/2014/main" id="{5746F3B8-B97A-4C53-9A70-0DA95D08B0AA}"/>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B0B0604A-6295-4CF9-8B8C-F109D83EAC50}"/>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23 / 26">
            <a:extLst xmlns:a="http://schemas.openxmlformats.org/drawingml/2006/main">
              <a:ext uri="{FF2B5EF4-FFF2-40B4-BE49-F238E27FC236}">
                <a16:creationId xmlns:a16="http://schemas.microsoft.com/office/drawing/2014/main" id="{8659A9B3-5262-422F-96C3-01A80EA5EB8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23 / 26</a:t>
            </a:r>
          </a:p>
        </p:txBody>
      </p:sp>
    </p:spTree>
    <p:extLst>
      <p:ext uri="{BB962C8B-B14F-4D97-AF65-F5344CB8AC3E}">
        <p14:creationId xmlns:p14="http://schemas.microsoft.com/office/powerpoint/2010/main" val="1865590924"/>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3/4">
            <a:extLst xmlns:a="http://schemas.openxmlformats.org/drawingml/2006/main">
              <a:ext uri="{FF2B5EF4-FFF2-40B4-BE49-F238E27FC236}">
                <a16:creationId xmlns:a16="http://schemas.microsoft.com/office/drawing/2014/main" id="{09C2A0F9-20F4-457C-91F5-695B5EB33C0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3/4</a:t>
            </a:r>
          </a:p>
        </p:txBody>
      </p:sp>
      <p:sp>
        <p:nvSpPr>
          <p:cNvPr id="2" name="References">
            <a:extLst xmlns:a="http://schemas.openxmlformats.org/drawingml/2006/main">
              <a:ext uri="{FF2B5EF4-FFF2-40B4-BE49-F238E27FC236}">
                <a16:creationId xmlns:a16="http://schemas.microsoft.com/office/drawing/2014/main" id="{36393A98-8456-430F-8382-30969785FCBF}"/>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0] R. Schwartz, J. Dodge, N. A. Smith, and O. Etzioni">
            <a:extLst xmlns:a="http://schemas.openxmlformats.org/drawingml/2006/main">
              <a:ext uri="{FF2B5EF4-FFF2-40B4-BE49-F238E27FC236}">
                <a16:creationId xmlns:a16="http://schemas.microsoft.com/office/drawing/2014/main" id="{17074662-57BF-491F-922A-0DE01BC55B25}"/>
              </a:ext>
            </a:extLst>
          </p:cNvPr>
          <p:cNvSpPr>
            <a:spLocks xmlns:a="http://schemas.openxmlformats.org/drawingml/2006/main" noGrp="1"/>
          </p:cNvSpPr>
          <p:nvPr/>
        </p:nvSpPr>
        <p:spPr>
          <a:xfrm xmlns:a="http://schemas.openxmlformats.org/drawingml/2006/main">
            <a:off x="609600" y="15621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[10] R. Schwartz, J. Dodge, N. A. Smith, and O. Etzioni, “Green AI,” arXiv:1907.10597, 2019.</a:t>
            </a:r>
          </a:p>
        </p:txBody>
      </p:sp>
      <p:sp>
        <p:nvSpPr>
          <p:cNvPr id="4" name="https://arxiv.org/abs/1907.10597">
            <a:extLst xmlns:a="http://schemas.openxmlformats.org/drawingml/2006/main">
              <a:ext uri="{FF2B5EF4-FFF2-40B4-BE49-F238E27FC236}">
                <a16:creationId xmlns:a16="http://schemas.microsoft.com/office/drawing/2014/main" id="{64632606-0378-45E8-8CFC-80764DA09953}"/>
              </a:ext>
            </a:extLst>
          </p:cNvPr>
          <p:cNvSpPr>
            <a:spLocks xmlns:a="http://schemas.openxmlformats.org/drawingml/2006/main" noGrp="1"/>
          </p:cNvSpPr>
          <p:nvPr/>
        </p:nvSpPr>
        <p:spPr>
          <a:xfrm xmlns:a="http://schemas.openxmlformats.org/drawingml/2006/main">
            <a:off x="609600" y="188633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ae3ced1f23a442b5"/>
              </a:rPr>
              <a:t>https://arxiv.org/abs/1907.10597</a:t>
            </a:r>
          </a:p>
        </p:txBody>
      </p:sp>
      <p:sp>
        <p:nvSpPr>
          <p:cNvPr id="5" name="[11] L. Zhu, Z. Liu, and S. Han, “Deep leakage from gra">
            <a:extLst xmlns:a="http://schemas.openxmlformats.org/drawingml/2006/main">
              <a:ext uri="{FF2B5EF4-FFF2-40B4-BE49-F238E27FC236}">
                <a16:creationId xmlns:a16="http://schemas.microsoft.com/office/drawing/2014/main" id="{0A44C669-4FA9-464B-AC3F-668062E916FF}"/>
              </a:ext>
            </a:extLst>
          </p:cNvPr>
          <p:cNvSpPr>
            <a:spLocks xmlns:a="http://schemas.openxmlformats.org/drawingml/2006/main" noGrp="1"/>
          </p:cNvSpPr>
          <p:nvPr/>
        </p:nvSpPr>
        <p:spPr>
          <a:xfrm xmlns:a="http://schemas.openxmlformats.org/drawingml/2006/main">
            <a:off x="609600" y="232752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[11] L. Zhu, Z. Liu, and S. Han, “Deep leakage from gradients,” arXiv:1906.08935v2, 2019.</a:t>
            </a:r>
          </a:p>
        </p:txBody>
      </p:sp>
      <p:sp>
        <p:nvSpPr>
          <p:cNvPr id="6" name="https://arxiv.org/abs/1906.08935v2">
            <a:extLst xmlns:a="http://schemas.openxmlformats.org/drawingml/2006/main">
              <a:ext uri="{FF2B5EF4-FFF2-40B4-BE49-F238E27FC236}">
                <a16:creationId xmlns:a16="http://schemas.microsoft.com/office/drawing/2014/main" id="{9C139557-7DD4-4727-8000-FFF56205D99C}"/>
              </a:ext>
            </a:extLst>
          </p:cNvPr>
          <p:cNvSpPr>
            <a:spLocks xmlns:a="http://schemas.openxmlformats.org/drawingml/2006/main" noGrp="1"/>
          </p:cNvSpPr>
          <p:nvPr/>
        </p:nvSpPr>
        <p:spPr>
          <a:xfrm xmlns:a="http://schemas.openxmlformats.org/drawingml/2006/main">
            <a:off x="609600" y="265176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772eec7b55ac49ba"/>
              </a:rPr>
              <a:t>https://arxiv.org/abs/1906.08935v2</a:t>
            </a:r>
          </a:p>
        </p:txBody>
      </p:sp>
      <p:sp>
        <p:nvSpPr>
          <p:cNvPr id="7" name="[12] I. O. Gallegos et al., “Bias and fairness in large">
            <a:extLst xmlns:a="http://schemas.openxmlformats.org/drawingml/2006/main">
              <a:ext uri="{FF2B5EF4-FFF2-40B4-BE49-F238E27FC236}">
                <a16:creationId xmlns:a16="http://schemas.microsoft.com/office/drawing/2014/main" id="{CCD8DF4C-B6AE-4B8A-A1B5-11D9C11E3C30}"/>
              </a:ext>
            </a:extLst>
          </p:cNvPr>
          <p:cNvSpPr>
            <a:spLocks xmlns:a="http://schemas.openxmlformats.org/drawingml/2006/main" noGrp="1"/>
          </p:cNvSpPr>
          <p:nvPr/>
        </p:nvSpPr>
        <p:spPr>
          <a:xfrm xmlns:a="http://schemas.openxmlformats.org/drawingml/2006/main">
            <a:off x="609600" y="3092958"/>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[12] I. O. Gallegos et al., “Bias and fairness in large language models: A survey,” Computational Linguistics, vol. 50, no. 3,</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pp. 1097–1179, 2024, doi: 10.1162/coli_a_00524.</a:t>
            </a:r>
          </a:p>
        </p:txBody>
      </p:sp>
      <p:sp>
        <p:nvSpPr>
          <p:cNvPr id="8" name="https://aclanthology.org/2024.cl-3.8/">
            <a:extLst xmlns:a="http://schemas.openxmlformats.org/drawingml/2006/main">
              <a:ext uri="{FF2B5EF4-FFF2-40B4-BE49-F238E27FC236}">
                <a16:creationId xmlns:a16="http://schemas.microsoft.com/office/drawing/2014/main" id="{C5AD2C3A-5774-4D4A-914A-795A453578AC}"/>
              </a:ext>
            </a:extLst>
          </p:cNvPr>
          <p:cNvSpPr>
            <a:spLocks xmlns:a="http://schemas.openxmlformats.org/drawingml/2006/main" noGrp="1"/>
          </p:cNvSpPr>
          <p:nvPr/>
        </p:nvSpPr>
        <p:spPr>
          <a:xfrm xmlns:a="http://schemas.openxmlformats.org/drawingml/2006/main">
            <a:off x="609600" y="366522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0cfa465bff564cdc"/>
              </a:rPr>
              <a:t>https://aclanthology.org/2024.cl-3.8/</a:t>
            </a:r>
          </a:p>
        </p:txBody>
      </p:sp>
      <p:sp>
        <p:nvSpPr>
          <p:cNvPr id="9" name="[13] N. Ahmed and M. Wahed, “The de-democratization of ">
            <a:extLst xmlns:a="http://schemas.openxmlformats.org/drawingml/2006/main">
              <a:ext uri="{FF2B5EF4-FFF2-40B4-BE49-F238E27FC236}">
                <a16:creationId xmlns:a16="http://schemas.microsoft.com/office/drawing/2014/main" id="{F2886E26-5DB9-46E9-9737-87A33B92A7A0}"/>
              </a:ext>
            </a:extLst>
          </p:cNvPr>
          <p:cNvSpPr>
            <a:spLocks xmlns:a="http://schemas.openxmlformats.org/drawingml/2006/main" noGrp="1"/>
          </p:cNvSpPr>
          <p:nvPr/>
        </p:nvSpPr>
        <p:spPr>
          <a:xfrm xmlns:a="http://schemas.openxmlformats.org/drawingml/2006/main">
            <a:off x="609600" y="4106418"/>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[13] N. Ahmed and M. Wahed, “The de-democratization of AI: Deep learning and the compute divide in artificial intelligence</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research,” arXiv:2010.15581v1, 2020.</a:t>
            </a:r>
          </a:p>
        </p:txBody>
      </p:sp>
      <p:sp>
        <p:nvSpPr>
          <p:cNvPr id="10" name="https://arxiv.org/abs/2010.15581v1">
            <a:extLst xmlns:a="http://schemas.openxmlformats.org/drawingml/2006/main">
              <a:ext uri="{FF2B5EF4-FFF2-40B4-BE49-F238E27FC236}">
                <a16:creationId xmlns:a16="http://schemas.microsoft.com/office/drawing/2014/main" id="{DDC2ABB8-BFE2-4048-8E93-F80E826F5773}"/>
              </a:ext>
            </a:extLst>
          </p:cNvPr>
          <p:cNvSpPr>
            <a:spLocks xmlns:a="http://schemas.openxmlformats.org/drawingml/2006/main" noGrp="1"/>
          </p:cNvSpPr>
          <p:nvPr/>
        </p:nvSpPr>
        <p:spPr>
          <a:xfrm xmlns:a="http://schemas.openxmlformats.org/drawingml/2006/main">
            <a:off x="609600" y="467868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da4a13cc3b634fad"/>
              </a:rPr>
              <a:t>https://arxiv.org/abs/2010.15581v1</a:t>
            </a:r>
          </a:p>
        </p:txBody>
      </p:sp>
      <p:sp>
        <p:nvSpPr>
          <p:cNvPr id="11" name="">
            <a:extLst xmlns:a="http://schemas.openxmlformats.org/drawingml/2006/main">
              <a:ext uri="{FF2B5EF4-FFF2-40B4-BE49-F238E27FC236}">
                <a16:creationId xmlns:a16="http://schemas.microsoft.com/office/drawing/2014/main" id="{29BDABCF-3502-4208-9472-A5DF96DD065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E54B5588-7642-4D2E-9376-F760CC39146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24 / 26">
            <a:extLst xmlns:a="http://schemas.openxmlformats.org/drawingml/2006/main">
              <a:ext uri="{FF2B5EF4-FFF2-40B4-BE49-F238E27FC236}">
                <a16:creationId xmlns:a16="http://schemas.microsoft.com/office/drawing/2014/main" id="{11A63072-AA7E-489B-859F-F9556A66B50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24 / 26</a:t>
            </a:r>
          </a:p>
        </p:txBody>
      </p:sp>
    </p:spTree>
    <p:extLst>
      <p:ext uri="{BB962C8B-B14F-4D97-AF65-F5344CB8AC3E}">
        <p14:creationId xmlns:p14="http://schemas.microsoft.com/office/powerpoint/2010/main" val="913714349"/>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References 4/4">
            <a:extLst xmlns:a="http://schemas.openxmlformats.org/drawingml/2006/main">
              <a:ext uri="{FF2B5EF4-FFF2-40B4-BE49-F238E27FC236}">
                <a16:creationId xmlns:a16="http://schemas.microsoft.com/office/drawing/2014/main" id="{10BD9A05-53B4-4113-93AF-5F98532828F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4/4</a:t>
            </a:r>
          </a:p>
        </p:txBody>
      </p:sp>
      <p:sp>
        <p:nvSpPr>
          <p:cNvPr id="2" name="References">
            <a:extLst xmlns:a="http://schemas.openxmlformats.org/drawingml/2006/main">
              <a:ext uri="{FF2B5EF4-FFF2-40B4-BE49-F238E27FC236}">
                <a16:creationId xmlns:a16="http://schemas.microsoft.com/office/drawing/2014/main" id="{B36DB6F4-C931-48AF-ABF1-C51B45AF7403}"/>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4] A. Radovanovic et al., “Carbon-aware computing for">
            <a:extLst xmlns:a="http://schemas.openxmlformats.org/drawingml/2006/main">
              <a:ext uri="{FF2B5EF4-FFF2-40B4-BE49-F238E27FC236}">
                <a16:creationId xmlns:a16="http://schemas.microsoft.com/office/drawing/2014/main" id="{40213AE7-390C-490F-8341-48C366ADF1CF}"/>
              </a:ext>
            </a:extLst>
          </p:cNvPr>
          <p:cNvSpPr>
            <a:spLocks xmlns:a="http://schemas.openxmlformats.org/drawingml/2006/main" noGrp="1"/>
          </p:cNvSpPr>
          <p:nvPr/>
        </p:nvSpPr>
        <p:spPr>
          <a:xfrm xmlns:a="http://schemas.openxmlformats.org/drawingml/2006/main">
            <a:off x="609600" y="15621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[14] A. Radovanovic et al., “Carbon-aware computing for datacenters,” arXiv:2106.11750v1, 2021.</a:t>
            </a:r>
          </a:p>
        </p:txBody>
      </p:sp>
      <p:sp>
        <p:nvSpPr>
          <p:cNvPr id="4" name="https://arxiv.org/abs/2106.11750v1">
            <a:extLst xmlns:a="http://schemas.openxmlformats.org/drawingml/2006/main">
              <a:ext uri="{FF2B5EF4-FFF2-40B4-BE49-F238E27FC236}">
                <a16:creationId xmlns:a16="http://schemas.microsoft.com/office/drawing/2014/main" id="{253F53B3-CD6B-429D-B040-FCD999E41F70}"/>
              </a:ext>
            </a:extLst>
          </p:cNvPr>
          <p:cNvSpPr>
            <a:spLocks xmlns:a="http://schemas.openxmlformats.org/drawingml/2006/main" noGrp="1"/>
          </p:cNvSpPr>
          <p:nvPr/>
        </p:nvSpPr>
        <p:spPr>
          <a:xfrm xmlns:a="http://schemas.openxmlformats.org/drawingml/2006/main">
            <a:off x="609600" y="188633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8f9e07c2de3246f8"/>
              </a:rPr>
              <a:t>https://arxiv.org/abs/2106.11750v1</a:t>
            </a:r>
          </a:p>
        </p:txBody>
      </p:sp>
      <p:sp>
        <p:nvSpPr>
          <p:cNvPr id="5" name="[15] OECD, “OECD AI Principles,” adopted 2019, updated ">
            <a:extLst xmlns:a="http://schemas.openxmlformats.org/drawingml/2006/main">
              <a:ext uri="{FF2B5EF4-FFF2-40B4-BE49-F238E27FC236}">
                <a16:creationId xmlns:a16="http://schemas.microsoft.com/office/drawing/2014/main" id="{2FECBFCC-B3C0-4CF2-A136-73E9BB6FDA6B}"/>
              </a:ext>
            </a:extLst>
          </p:cNvPr>
          <p:cNvSpPr>
            <a:spLocks xmlns:a="http://schemas.openxmlformats.org/drawingml/2006/main" noGrp="1"/>
          </p:cNvSpPr>
          <p:nvPr/>
        </p:nvSpPr>
        <p:spPr>
          <a:xfrm xmlns:a="http://schemas.openxmlformats.org/drawingml/2006/main">
            <a:off x="609600" y="232752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[15] OECD, “OECD AI Principles,” adopted 2019, updated 2024, accessed Oct. 8, 2026.</a:t>
            </a:r>
          </a:p>
        </p:txBody>
      </p:sp>
      <p:sp>
        <p:nvSpPr>
          <p:cNvPr id="6" name="https://www.oecd.org/en/topics/ai-principles.html">
            <a:extLst xmlns:a="http://schemas.openxmlformats.org/drawingml/2006/main">
              <a:ext uri="{FF2B5EF4-FFF2-40B4-BE49-F238E27FC236}">
                <a16:creationId xmlns:a16="http://schemas.microsoft.com/office/drawing/2014/main" id="{8336C481-E263-4698-8016-F24F0E6C3EE6}"/>
              </a:ext>
            </a:extLst>
          </p:cNvPr>
          <p:cNvSpPr>
            <a:spLocks xmlns:a="http://schemas.openxmlformats.org/drawingml/2006/main" noGrp="1"/>
          </p:cNvSpPr>
          <p:nvPr/>
        </p:nvSpPr>
        <p:spPr>
          <a:xfrm xmlns:a="http://schemas.openxmlformats.org/drawingml/2006/main">
            <a:off x="609600" y="265176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b42de1061ffc48b2"/>
              </a:rPr>
              <a:t>https://www.oecd.org/en/topics/ai-principles.html</a:t>
            </a:r>
          </a:p>
        </p:txBody>
      </p:sp>
      <p:sp>
        <p:nvSpPr>
          <p:cNvPr id="7" name="[16] NIST, AI Risk Management Framework 1.0 Playbook, f">
            <a:extLst xmlns:a="http://schemas.openxmlformats.org/drawingml/2006/main">
              <a:ext uri="{FF2B5EF4-FFF2-40B4-BE49-F238E27FC236}">
                <a16:creationId xmlns:a16="http://schemas.microsoft.com/office/drawing/2014/main" id="{73885CEC-2B81-4B88-A7C1-41C8695CD535}"/>
              </a:ext>
            </a:extLst>
          </p:cNvPr>
          <p:cNvSpPr>
            <a:spLocks xmlns:a="http://schemas.openxmlformats.org/drawingml/2006/main" noGrp="1"/>
          </p:cNvSpPr>
          <p:nvPr/>
        </p:nvSpPr>
        <p:spPr>
          <a:xfrm xmlns:a="http://schemas.openxmlformats.org/drawingml/2006/main">
            <a:off x="609600" y="3092958"/>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[16] NIST, AI Risk Management Framework 1.0 Playbook, framework 2023, current online resource, accessed Oct. 8, 2026.</a:t>
            </a:r>
          </a:p>
        </p:txBody>
      </p:sp>
      <p:sp>
        <p:nvSpPr>
          <p:cNvPr id="8" name="https://airc.nist.gov/airmf-resources/playbook/">
            <a:extLst xmlns:a="http://schemas.openxmlformats.org/drawingml/2006/main">
              <a:ext uri="{FF2B5EF4-FFF2-40B4-BE49-F238E27FC236}">
                <a16:creationId xmlns:a16="http://schemas.microsoft.com/office/drawing/2014/main" id="{8EF27A25-9F4F-4A63-9B36-323817D545F8}"/>
              </a:ext>
            </a:extLst>
          </p:cNvPr>
          <p:cNvSpPr>
            <a:spLocks xmlns:a="http://schemas.openxmlformats.org/drawingml/2006/main" noGrp="1"/>
          </p:cNvSpPr>
          <p:nvPr/>
        </p:nvSpPr>
        <p:spPr>
          <a:xfrm xmlns:a="http://schemas.openxmlformats.org/drawingml/2006/main">
            <a:off x="609600" y="3417189"/>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888c68918ffc4df6"/>
              </a:rPr>
              <a:t>https://airc.nist.gov/airmf-resources/playbook/</a:t>
            </a:r>
          </a:p>
        </p:txBody>
      </p:sp>
      <p:sp>
        <p:nvSpPr>
          <p:cNvPr id="9" name="">
            <a:extLst xmlns:a="http://schemas.openxmlformats.org/drawingml/2006/main">
              <a:ext uri="{FF2B5EF4-FFF2-40B4-BE49-F238E27FC236}">
                <a16:creationId xmlns:a16="http://schemas.microsoft.com/office/drawing/2014/main" id="{A3EF78CA-8A66-43A7-ACBA-BE77BA53764B}"/>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FIT3143 Applied 2">
            <a:extLst xmlns:a="http://schemas.openxmlformats.org/drawingml/2006/main">
              <a:ext uri="{FF2B5EF4-FFF2-40B4-BE49-F238E27FC236}">
                <a16:creationId xmlns:a16="http://schemas.microsoft.com/office/drawing/2014/main" id="{05B0417B-0CC4-44C8-AE06-4AB81EB575C5}"/>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1" name="25 / 26">
            <a:extLst xmlns:a="http://schemas.openxmlformats.org/drawingml/2006/main">
              <a:ext uri="{FF2B5EF4-FFF2-40B4-BE49-F238E27FC236}">
                <a16:creationId xmlns:a16="http://schemas.microsoft.com/office/drawing/2014/main" id="{DE7BA5A9-3156-4F1E-986E-182E2902CEF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25 / 26</a:t>
            </a:r>
          </a:p>
        </p:txBody>
      </p:sp>
    </p:spTree>
    <p:extLst>
      <p:ext uri="{BB962C8B-B14F-4D97-AF65-F5344CB8AC3E}">
        <p14:creationId xmlns:p14="http://schemas.microsoft.com/office/powerpoint/2010/main" val="1959172186"/>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Appendix • AI declaration">
            <a:extLst xmlns:a="http://schemas.openxmlformats.org/drawingml/2006/main">
              <a:ext uri="{FF2B5EF4-FFF2-40B4-BE49-F238E27FC236}">
                <a16:creationId xmlns:a16="http://schemas.microsoft.com/office/drawing/2014/main" id="{386E406B-7030-4208-A068-7F218E01AB51}"/>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AI declaration</a:t>
            </a:r>
          </a:p>
        </p:txBody>
      </p:sp>
      <p:sp>
        <p:nvSpPr>
          <p:cNvPr id="2" name="AI use declaration">
            <a:extLst xmlns:a="http://schemas.openxmlformats.org/drawingml/2006/main">
              <a:ext uri="{FF2B5EF4-FFF2-40B4-BE49-F238E27FC236}">
                <a16:creationId xmlns:a16="http://schemas.microsoft.com/office/drawing/2014/main" id="{FA4F2CCA-15B8-4E0D-A8EC-AF965F541AE9}"/>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AI use declaration</a:t>
            </a:r>
          </a:p>
        </p:txBody>
      </p:sp>
      <p:sp>
        <p:nvSpPr>
          <p:cNvPr id="3" name="AI model and tool">
            <a:extLst xmlns:a="http://schemas.openxmlformats.org/drawingml/2006/main">
              <a:ext uri="{FF2B5EF4-FFF2-40B4-BE49-F238E27FC236}">
                <a16:creationId xmlns:a16="http://schemas.microsoft.com/office/drawing/2014/main" id="{9BD32CA4-1789-4945-8AD4-1048620D9E80}"/>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AI model and tool</a:t>
            </a:r>
          </a:p>
        </p:txBody>
      </p:sp>
      <p:sp>
        <p:nvSpPr>
          <p:cNvPr id="4" name="OpenAI GPT-6, accessed through Codex.">
            <a:extLst xmlns:a="http://schemas.openxmlformats.org/drawingml/2006/main">
              <a:ext uri="{FF2B5EF4-FFF2-40B4-BE49-F238E27FC236}">
                <a16:creationId xmlns:a16="http://schemas.microsoft.com/office/drawing/2014/main" id="{F0D6A7BD-5BC6-4A7C-8D7C-57B30EA16683}"/>
              </a:ext>
            </a:extLst>
          </p:cNvPr>
          <p:cNvSpPr>
            <a:spLocks xmlns:a="http://schemas.openxmlformats.org/drawingml/2006/main" noGrp="1"/>
          </p:cNvSpPr>
          <p:nvPr/>
        </p:nvSpPr>
        <p:spPr>
          <a:xfrm xmlns:a="http://schemas.openxmlformats.org/drawingml/2006/main">
            <a:off x="609600" y="1971675"/>
            <a:ext cx="512445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OpenAI GPT-6, accessed through Codex.</a:t>
            </a:r>
          </a:p>
        </p:txBody>
      </p:sp>
      <p:sp>
        <p:nvSpPr>
          <p:cNvPr id="5" name="How AI was used">
            <a:extLst xmlns:a="http://schemas.openxmlformats.org/drawingml/2006/main">
              <a:ext uri="{FF2B5EF4-FFF2-40B4-BE49-F238E27FC236}">
                <a16:creationId xmlns:a16="http://schemas.microsoft.com/office/drawing/2014/main" id="{F4A642AE-E95A-4D5E-AD4A-D74EBCD7B4D6}"/>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How AI was used</a:t>
            </a:r>
          </a:p>
        </p:txBody>
      </p:sp>
      <p:sp>
        <p:nvSpPr>
          <p:cNvPr id="6" name="Research and source checks; drafting and revision of ex">
            <a:extLst xmlns:a="http://schemas.openxmlformats.org/drawingml/2006/main">
              <a:ext uri="{FF2B5EF4-FFF2-40B4-BE49-F238E27FC236}">
                <a16:creationId xmlns:a16="http://schemas.microsoft.com/office/drawing/2014/main" id="{517E1DCA-0678-47FF-9E08-E19B429C40B0}"/>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Research and source checks; drafting and revision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of explanations and CUDA teaching examples;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creation of diagrams and charts; presentation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formatting and assembly.</a:t>
            </a:r>
          </a:p>
        </p:txBody>
      </p:sp>
      <p:sp>
        <p:nvSpPr>
          <p:cNvPr id="7" name="">
            <a:extLst xmlns:a="http://schemas.openxmlformats.org/drawingml/2006/main">
              <a:ext uri="{FF2B5EF4-FFF2-40B4-BE49-F238E27FC236}">
                <a16:creationId xmlns:a16="http://schemas.microsoft.com/office/drawing/2014/main" id="{0102D4FF-718B-4DA9-80EA-DF9C5DB3355E}"/>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8" name="">
            <a:extLst xmlns:a="http://schemas.openxmlformats.org/drawingml/2006/main">
              <a:ext uri="{FF2B5EF4-FFF2-40B4-BE49-F238E27FC236}">
                <a16:creationId xmlns:a16="http://schemas.microsoft.com/office/drawing/2014/main" id="{6B482A7E-F618-4688-8B8A-55F5C9FEE5A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9" name="FIT3143 Applied 2">
            <a:extLst xmlns:a="http://schemas.openxmlformats.org/drawingml/2006/main">
              <a:ext uri="{FF2B5EF4-FFF2-40B4-BE49-F238E27FC236}">
                <a16:creationId xmlns:a16="http://schemas.microsoft.com/office/drawing/2014/main" id="{1F4A5462-175D-41EE-845C-1F1714DD322E}"/>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0" name="26 / 26">
            <a:extLst xmlns:a="http://schemas.openxmlformats.org/drawingml/2006/main">
              <a:ext uri="{FF2B5EF4-FFF2-40B4-BE49-F238E27FC236}">
                <a16:creationId xmlns:a16="http://schemas.microsoft.com/office/drawing/2014/main" id="{59E03E62-FF70-4ECF-BD5C-40E167848DA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26 / 26</a:t>
            </a:r>
          </a:p>
        </p:txBody>
      </p:sp>
    </p:spTree>
    <p:extLst>
      <p:ext uri="{BB962C8B-B14F-4D97-AF65-F5344CB8AC3E}">
        <p14:creationId xmlns:p14="http://schemas.microsoft.com/office/powerpoint/2010/main" val="15649631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2026-10-08T14:28:08.9490000Z</dcterms:created>
  <dcterms:modified xsi:type="dcterms:W3CDTF">2026-10-08T14:28:08.9490000Z</dcterms:modified>
</coreProperties>
</file>