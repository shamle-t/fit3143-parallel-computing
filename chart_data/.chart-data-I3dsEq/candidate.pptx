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2a55a04254275" /><Relationship Type="http://schemas.openxmlformats.org/officeDocument/2006/relationships/extended-properties" Target="/docProps/app.xml" Id="R3aee7ef50d704c3f" /><Relationship Type="http://schemas.openxmlformats.org/officeDocument/2006/relationships/officeDocument" Target="/ppt/presentation.xml" Id="R682a718971e641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7d31e385e84560"/>
  </p:sldMasterIdLst>
  <p:notesMasterIdLst>
    <p:notesMasterId xmlns:r="http://schemas.openxmlformats.org/officeDocument/2006/relationships" r:id="Re4c7c19cf0bf44f4"/>
  </p:notesMasterIdLst>
  <p:sldIdLst>
    <p:sldId xmlns:r="http://schemas.openxmlformats.org/officeDocument/2006/relationships" id="256" r:id="R3654e8a7db74443c"/>
    <p:sldId xmlns:r="http://schemas.openxmlformats.org/officeDocument/2006/relationships" id="257" r:id="R994371fa3f2e4074"/>
    <p:sldId xmlns:r="http://schemas.openxmlformats.org/officeDocument/2006/relationships" id="258" r:id="R0024452b849d46db"/>
    <p:sldId xmlns:r="http://schemas.openxmlformats.org/officeDocument/2006/relationships" id="259" r:id="Rcc1536c2544b4d92"/>
    <p:sldId xmlns:r="http://schemas.openxmlformats.org/officeDocument/2006/relationships" id="260" r:id="Rf1b0e43eab2c4904"/>
    <p:sldId xmlns:r="http://schemas.openxmlformats.org/officeDocument/2006/relationships" id="261" r:id="Rc4311735a1da4a1f"/>
    <p:sldId xmlns:r="http://schemas.openxmlformats.org/officeDocument/2006/relationships" id="262" r:id="R9599cce7cb3f4f38"/>
    <p:sldId xmlns:r="http://schemas.openxmlformats.org/officeDocument/2006/relationships" id="263" r:id="R96841195b8404cc1"/>
    <p:sldId xmlns:r="http://schemas.openxmlformats.org/officeDocument/2006/relationships" id="264" r:id="R3b81cc5284fd40b0"/>
    <p:sldId xmlns:r="http://schemas.openxmlformats.org/officeDocument/2006/relationships" id="265" r:id="Ra4fb71dd701a4752"/>
    <p:sldId xmlns:r="http://schemas.openxmlformats.org/officeDocument/2006/relationships" id="266" r:id="R8f879e97b6034f86"/>
    <p:sldId xmlns:r="http://schemas.openxmlformats.org/officeDocument/2006/relationships" id="267" r:id="Ra82c0e1d9b894d36"/>
    <p:sldId xmlns:r="http://schemas.openxmlformats.org/officeDocument/2006/relationships" id="268" r:id="Rfe14314521664095"/>
    <p:sldId xmlns:r="http://schemas.openxmlformats.org/officeDocument/2006/relationships" id="269" r:id="R203e7267d4d94d0f"/>
    <p:sldId xmlns:r="http://schemas.openxmlformats.org/officeDocument/2006/relationships" id="270" r:id="Rf213a2df97a4401f"/>
    <p:sldId xmlns:r="http://schemas.openxmlformats.org/officeDocument/2006/relationships" id="271" r:id="Rbaf0c09e58384188"/>
    <p:sldId xmlns:r="http://schemas.openxmlformats.org/officeDocument/2006/relationships" id="272" r:id="Re19cd330306d47e7"/>
    <p:sldId xmlns:r="http://schemas.openxmlformats.org/officeDocument/2006/relationships" id="273" r:id="R340c27bb9f7c4fff"/>
    <p:sldId xmlns:r="http://schemas.openxmlformats.org/officeDocument/2006/relationships" id="274" r:id="R5d56b2c9916643f5"/>
    <p:sldId xmlns:r="http://schemas.openxmlformats.org/officeDocument/2006/relationships" id="275" r:id="Rde7060a2e9f741d5"/>
    <p:sldId xmlns:r="http://schemas.openxmlformats.org/officeDocument/2006/relationships" id="276" r:id="R497b1d9bc387496d"/>
    <p:sldId xmlns:r="http://schemas.openxmlformats.org/officeDocument/2006/relationships" id="277" r:id="R8a943588a56b476a"/>
    <p:sldId xmlns:r="http://schemas.openxmlformats.org/officeDocument/2006/relationships" id="278" r:id="Rcfaef44422b9483b"/>
    <p:sldId xmlns:r="http://schemas.openxmlformats.org/officeDocument/2006/relationships" id="279" r:id="Ra14d79b5644d4c44"/>
    <p:sldId xmlns:r="http://schemas.openxmlformats.org/officeDocument/2006/relationships" id="280" r:id="Rd520bdce749342d7"/>
    <p:sldId xmlns:r="http://schemas.openxmlformats.org/officeDocument/2006/relationships" id="281" r:id="R6043070f003641ad"/>
    <p:sldId xmlns:r="http://schemas.openxmlformats.org/officeDocument/2006/relationships" id="282" r:id="R6ea96b76cc554479"/>
    <p:sldId xmlns:r="http://schemas.openxmlformats.org/officeDocument/2006/relationships" id="283" r:id="R02ef3f63fbc84e6a"/>
    <p:sldId xmlns:r="http://schemas.openxmlformats.org/officeDocument/2006/relationships" id="284" r:id="R375dc94a5e394861"/>
    <p:sldId xmlns:r="http://schemas.openxmlformats.org/officeDocument/2006/relationships" id="285" r:id="R9c50bd0bac344c1c"/>
    <p:sldId xmlns:r="http://schemas.openxmlformats.org/officeDocument/2006/relationships" id="286" r:id="R675d4b787fce4067"/>
    <p:sldId xmlns:r="http://schemas.openxmlformats.org/officeDocument/2006/relationships" id="287" r:id="Rf859ebd312ee4152"/>
    <p:sldId xmlns:r="http://schemas.openxmlformats.org/officeDocument/2006/relationships" id="288" r:id="Rc02fbe9f49364509"/>
    <p:sldId xmlns:r="http://schemas.openxmlformats.org/officeDocument/2006/relationships" id="289" r:id="R0db7769d1f9144e2"/>
    <p:sldId xmlns:r="http://schemas.openxmlformats.org/officeDocument/2006/relationships" id="290" r:id="R04e93da56a3d439a"/>
    <p:sldId xmlns:r="http://schemas.openxmlformats.org/officeDocument/2006/relationships" id="291" r:id="R750dde3df7a54de8"/>
    <p:sldId xmlns:r="http://schemas.openxmlformats.org/officeDocument/2006/relationships" id="292" r:id="Ra9e85d354d6748cf"/>
    <p:sldId xmlns:r="http://schemas.openxmlformats.org/officeDocument/2006/relationships" id="293" r:id="Rf5e629b1897e492a"/>
    <p:sldId xmlns:r="http://schemas.openxmlformats.org/officeDocument/2006/relationships" id="294" r:id="Rec7d91a752ad47ff"/>
    <p:sldId xmlns:r="http://schemas.openxmlformats.org/officeDocument/2006/relationships" id="295" r:id="R56d8e00656b14f1a"/>
    <p:sldId xmlns:r="http://schemas.openxmlformats.org/officeDocument/2006/relationships" id="296" r:id="R50df15fcaaf844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81d22f0414bbd" /><Relationship Type="http://schemas.openxmlformats.org/officeDocument/2006/relationships/slideMaster" Target="/ppt/slideMasters/slideMaster1.xml" Id="Ra07d31e385e84560" /><Relationship Type="http://schemas.openxmlformats.org/officeDocument/2006/relationships/notesMaster" Target="/ppt/notesMasters/notesMaster1.xml" Id="Re4c7c19cf0bf44f4" /><Relationship Type="http://schemas.openxmlformats.org/officeDocument/2006/relationships/presProps" Target="/ppt/presProps.xml" Id="R1dda3e66a7824c1c" /><Relationship Type="http://schemas.openxmlformats.org/officeDocument/2006/relationships/tableStyles" Target="/ppt/tableStyles.xml" Id="R1a73116742014426" /><Relationship Type="http://schemas.openxmlformats.org/officeDocument/2006/relationships/slide" Target="/ppt/slides/slide1.xml" Id="R3654e8a7db74443c" /><Relationship Type="http://schemas.openxmlformats.org/officeDocument/2006/relationships/slide" Target="/ppt/slides/slide2.xml" Id="R994371fa3f2e4074" /><Relationship Type="http://schemas.openxmlformats.org/officeDocument/2006/relationships/slide" Target="/ppt/slides/slide3.xml" Id="R0024452b849d46db" /><Relationship Type="http://schemas.openxmlformats.org/officeDocument/2006/relationships/slide" Target="/ppt/slides/slide4.xml" Id="Rcc1536c2544b4d92" /><Relationship Type="http://schemas.openxmlformats.org/officeDocument/2006/relationships/slide" Target="/ppt/slides/slide5.xml" Id="Rf1b0e43eab2c4904" /><Relationship Type="http://schemas.openxmlformats.org/officeDocument/2006/relationships/slide" Target="/ppt/slides/slide6.xml" Id="Rc4311735a1da4a1f" /><Relationship Type="http://schemas.openxmlformats.org/officeDocument/2006/relationships/slide" Target="/ppt/slides/slide7.xml" Id="R9599cce7cb3f4f38" /><Relationship Type="http://schemas.openxmlformats.org/officeDocument/2006/relationships/slide" Target="/ppt/slides/slide8.xml" Id="R96841195b8404cc1" /><Relationship Type="http://schemas.openxmlformats.org/officeDocument/2006/relationships/slide" Target="/ppt/slides/slide9.xml" Id="R3b81cc5284fd40b0" /><Relationship Type="http://schemas.openxmlformats.org/officeDocument/2006/relationships/slide" Target="/ppt/slides/slide10.xml" Id="Ra4fb71dd701a4752" /><Relationship Type="http://schemas.openxmlformats.org/officeDocument/2006/relationships/slide" Target="/ppt/slides/slide11.xml" Id="R8f879e97b6034f86" /><Relationship Type="http://schemas.openxmlformats.org/officeDocument/2006/relationships/slide" Target="/ppt/slides/slide12.xml" Id="Ra82c0e1d9b894d36" /><Relationship Type="http://schemas.openxmlformats.org/officeDocument/2006/relationships/slide" Target="/ppt/slides/slide13.xml" Id="Rfe14314521664095" /><Relationship Type="http://schemas.openxmlformats.org/officeDocument/2006/relationships/slide" Target="/ppt/slides/slide14.xml" Id="R203e7267d4d94d0f" /><Relationship Type="http://schemas.openxmlformats.org/officeDocument/2006/relationships/slide" Target="/ppt/slides/slide15.xml" Id="Rf213a2df97a4401f" /><Relationship Type="http://schemas.openxmlformats.org/officeDocument/2006/relationships/slide" Target="/ppt/slides/slide16.xml" Id="Rbaf0c09e58384188" /><Relationship Type="http://schemas.openxmlformats.org/officeDocument/2006/relationships/slide" Target="/ppt/slides/slide17.xml" Id="Re19cd330306d47e7" /><Relationship Type="http://schemas.openxmlformats.org/officeDocument/2006/relationships/slide" Target="/ppt/slides/slide18.xml" Id="R340c27bb9f7c4fff" /><Relationship Type="http://schemas.openxmlformats.org/officeDocument/2006/relationships/slide" Target="/ppt/slides/slide19.xml" Id="R5d56b2c9916643f5" /><Relationship Type="http://schemas.openxmlformats.org/officeDocument/2006/relationships/slide" Target="/ppt/slides/slide20.xml" Id="Rde7060a2e9f741d5" /><Relationship Type="http://schemas.openxmlformats.org/officeDocument/2006/relationships/slide" Target="/ppt/slides/slide21.xml" Id="R497b1d9bc387496d" /><Relationship Type="http://schemas.openxmlformats.org/officeDocument/2006/relationships/slide" Target="/ppt/slides/slide22.xml" Id="R8a943588a56b476a" /><Relationship Type="http://schemas.openxmlformats.org/officeDocument/2006/relationships/slide" Target="/ppt/slides/slide23.xml" Id="Rcfaef44422b9483b" /><Relationship Type="http://schemas.openxmlformats.org/officeDocument/2006/relationships/slide" Target="/ppt/slides/slide24.xml" Id="Ra14d79b5644d4c44" /><Relationship Type="http://schemas.openxmlformats.org/officeDocument/2006/relationships/slide" Target="/ppt/slides/slide25.xml" Id="Rd520bdce749342d7" /><Relationship Type="http://schemas.openxmlformats.org/officeDocument/2006/relationships/slide" Target="/ppt/slides/slide26.xml" Id="R6043070f003641ad" /><Relationship Type="http://schemas.openxmlformats.org/officeDocument/2006/relationships/slide" Target="/ppt/slides/slide27.xml" Id="R6ea96b76cc554479" /><Relationship Type="http://schemas.openxmlformats.org/officeDocument/2006/relationships/slide" Target="/ppt/slides/slide28.xml" Id="R02ef3f63fbc84e6a" /><Relationship Type="http://schemas.openxmlformats.org/officeDocument/2006/relationships/slide" Target="/ppt/slides/slide29.xml" Id="R375dc94a5e394861" /><Relationship Type="http://schemas.openxmlformats.org/officeDocument/2006/relationships/slide" Target="/ppt/slides/slide30.xml" Id="R9c50bd0bac344c1c" /><Relationship Type="http://schemas.openxmlformats.org/officeDocument/2006/relationships/slide" Target="/ppt/slides/slide31.xml" Id="R675d4b787fce4067" /><Relationship Type="http://schemas.openxmlformats.org/officeDocument/2006/relationships/slide" Target="/ppt/slides/slide32.xml" Id="Rf859ebd312ee4152" /><Relationship Type="http://schemas.openxmlformats.org/officeDocument/2006/relationships/slide" Target="/ppt/slides/slide33.xml" Id="Rc02fbe9f49364509" /><Relationship Type="http://schemas.openxmlformats.org/officeDocument/2006/relationships/slide" Target="/ppt/slides/slide34.xml" Id="R0db7769d1f9144e2" /><Relationship Type="http://schemas.openxmlformats.org/officeDocument/2006/relationships/slide" Target="/ppt/slides/slide35.xml" Id="R04e93da56a3d439a" /><Relationship Type="http://schemas.openxmlformats.org/officeDocument/2006/relationships/slide" Target="/ppt/slides/slide36.xml" Id="R750dde3df7a54de8" /><Relationship Type="http://schemas.openxmlformats.org/officeDocument/2006/relationships/slide" Target="/ppt/slides/slide37.xml" Id="Ra9e85d354d6748cf" /><Relationship Type="http://schemas.openxmlformats.org/officeDocument/2006/relationships/slide" Target="/ppt/slides/slide38.xml" Id="Rf5e629b1897e492a" /><Relationship Type="http://schemas.openxmlformats.org/officeDocument/2006/relationships/slide" Target="/ppt/slides/slide39.xml" Id="Rec7d91a752ad47ff" /><Relationship Type="http://schemas.openxmlformats.org/officeDocument/2006/relationships/slide" Target="/ppt/slides/slide40.xml" Id="R56d8e00656b14f1a" /><Relationship Type="http://schemas.openxmlformats.org/officeDocument/2006/relationships/slide" Target="/ppt/slides/slide41.xml" Id="R50df15fcaaf8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828befc479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8d634d9c544cae" /><Relationship Type="http://schemas.openxmlformats.org/officeDocument/2006/relationships/notesMaster" Target="/ppt/notesMasters/notesMaster1.xml" Id="Rb469f7df4bb0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69ca5869894a01" /><Relationship Type="http://schemas.openxmlformats.org/officeDocument/2006/relationships/notesMaster" Target="/ppt/notesMasters/notesMaster1.xml" Id="R12b17d8a65b647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038dd0680c46c5" /><Relationship Type="http://schemas.openxmlformats.org/officeDocument/2006/relationships/notesMaster" Target="/ppt/notesMasters/notesMaster1.xml" Id="Rcb597ad489ce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eb4c5bb32b405b" /><Relationship Type="http://schemas.openxmlformats.org/officeDocument/2006/relationships/notesMaster" Target="/ppt/notesMasters/notesMaster1.xml" Id="R68814b8081524c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81bd08258b4814" /><Relationship Type="http://schemas.openxmlformats.org/officeDocument/2006/relationships/notesMaster" Target="/ppt/notesMasters/notesMaster1.xml" Id="Rd23ea3ca9acd4f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d6fc621c9e405d" /><Relationship Type="http://schemas.openxmlformats.org/officeDocument/2006/relationships/notesMaster" Target="/ppt/notesMasters/notesMaster1.xml" Id="Rbf6098e166d549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d89ae653446ce" /><Relationship Type="http://schemas.openxmlformats.org/officeDocument/2006/relationships/notesMaster" Target="/ppt/notesMasters/notesMaster1.xml" Id="Rae8592a855134e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3a2919b804069" /><Relationship Type="http://schemas.openxmlformats.org/officeDocument/2006/relationships/notesMaster" Target="/ppt/notesMasters/notesMaster1.xml" Id="R74015027f9f44a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ca0e338e140bf" /><Relationship Type="http://schemas.openxmlformats.org/officeDocument/2006/relationships/notesMaster" Target="/ppt/notesMasters/notesMaster1.xml" Id="R0566df9d2c0d49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140c56015544d9" /><Relationship Type="http://schemas.openxmlformats.org/officeDocument/2006/relationships/notesMaster" Target="/ppt/notesMasters/notesMaster1.xml" Id="Ra9c5e2c5f5de49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6e4e784a354214" /><Relationship Type="http://schemas.openxmlformats.org/officeDocument/2006/relationships/notesMaster" Target="/ppt/notesMasters/notesMaster1.xml" Id="R04667fd44f8448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870b3451fb4616" /><Relationship Type="http://schemas.openxmlformats.org/officeDocument/2006/relationships/notesMaster" Target="/ppt/notesMasters/notesMaster1.xml" Id="Rb4d759de07d440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82b9ff0c0e4265" /><Relationship Type="http://schemas.openxmlformats.org/officeDocument/2006/relationships/notesMaster" Target="/ppt/notesMasters/notesMaster1.xml" Id="Rec1e21d2f74b4d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13ede9a4474b56" /><Relationship Type="http://schemas.openxmlformats.org/officeDocument/2006/relationships/notesMaster" Target="/ppt/notesMasters/notesMaster1.xml" Id="R6f31cff1464544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2b3721d8de5400f" /><Relationship Type="http://schemas.openxmlformats.org/officeDocument/2006/relationships/notesMaster" Target="/ppt/notesMasters/notesMaster1.xml" Id="R02fd18299c6d41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a49d68b0314247" /><Relationship Type="http://schemas.openxmlformats.org/officeDocument/2006/relationships/notesMaster" Target="/ppt/notesMasters/notesMaster1.xml" Id="R42ae5d9a31a442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69de0825184377" /><Relationship Type="http://schemas.openxmlformats.org/officeDocument/2006/relationships/notesMaster" Target="/ppt/notesMasters/notesMaster1.xml" Id="R69cc4bf863fe484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7e4c881cf14e8d" /><Relationship Type="http://schemas.openxmlformats.org/officeDocument/2006/relationships/notesMaster" Target="/ppt/notesMasters/notesMaster1.xml" Id="R2d7a1b3609c04a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0518af78de4474" /><Relationship Type="http://schemas.openxmlformats.org/officeDocument/2006/relationships/notesMaster" Target="/ppt/notesMasters/notesMaster1.xml" Id="R751654b6167c4b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b4cd8f955c4fcd" /><Relationship Type="http://schemas.openxmlformats.org/officeDocument/2006/relationships/notesMaster" Target="/ppt/notesMasters/notesMaster1.xml" Id="Rb100bf2a8ec64c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fe064002b4424d" /><Relationship Type="http://schemas.openxmlformats.org/officeDocument/2006/relationships/notesMaster" Target="/ppt/notesMasters/notesMaster1.xml" Id="Rf79001acf8f242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cc3c00a9354552" /><Relationship Type="http://schemas.openxmlformats.org/officeDocument/2006/relationships/notesMaster" Target="/ppt/notesMasters/notesMaster1.xml" Id="R3ff80a5b5c364a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26e6a297ad4c60" /><Relationship Type="http://schemas.openxmlformats.org/officeDocument/2006/relationships/notesMaster" Target="/ppt/notesMasters/notesMaster1.xml" Id="R462d6fef83824a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b554ec590d4e37" /><Relationship Type="http://schemas.openxmlformats.org/officeDocument/2006/relationships/notesMaster" Target="/ppt/notesMasters/notesMaster1.xml" Id="R7d5fd01b62404e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8fd758f71641fa" /><Relationship Type="http://schemas.openxmlformats.org/officeDocument/2006/relationships/notesMaster" Target="/ppt/notesMasters/notesMaster1.xml" Id="R63fa71f2dbc94d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f95c1c9985243c6" /><Relationship Type="http://schemas.openxmlformats.org/officeDocument/2006/relationships/notesMaster" Target="/ppt/notesMasters/notesMaster1.xml" Id="R944631ec615747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fdd0d7c5f04f35" /><Relationship Type="http://schemas.openxmlformats.org/officeDocument/2006/relationships/notesMaster" Target="/ppt/notesMasters/notesMaster1.xml" Id="R977e4e9ca38c4a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4101919e554c6a" /><Relationship Type="http://schemas.openxmlformats.org/officeDocument/2006/relationships/notesMaster" Target="/ppt/notesMasters/notesMaster1.xml" Id="R2d35f663d3214e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118588c4d5490a" /><Relationship Type="http://schemas.openxmlformats.org/officeDocument/2006/relationships/notesMaster" Target="/ppt/notesMasters/notesMaster1.xml" Id="R7a95839d3c52421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b1fa677fae246f4" /><Relationship Type="http://schemas.openxmlformats.org/officeDocument/2006/relationships/notesMaster" Target="/ppt/notesMasters/notesMaster1.xml" Id="R1e7f659f684943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4c00d0d50a24eca" /><Relationship Type="http://schemas.openxmlformats.org/officeDocument/2006/relationships/notesMaster" Target="/ppt/notesMasters/notesMaster1.xml" Id="R937f76c58f0d4f1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e46cff3099b4b66" /><Relationship Type="http://schemas.openxmlformats.org/officeDocument/2006/relationships/notesMaster" Target="/ppt/notesMasters/notesMaster1.xml" Id="R2666febe39b240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25794dc477948fd" /><Relationship Type="http://schemas.openxmlformats.org/officeDocument/2006/relationships/notesMaster" Target="/ppt/notesMasters/notesMaster1.xml" Id="Rf5e98003413045c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6cd99c9df5e43a4" /><Relationship Type="http://schemas.openxmlformats.org/officeDocument/2006/relationships/notesMaster" Target="/ppt/notesMasters/notesMaster1.xml" Id="Rd6beaa41333d4a8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526e9458abf4ea5" /><Relationship Type="http://schemas.openxmlformats.org/officeDocument/2006/relationships/notesMaster" Target="/ppt/notesMasters/notesMaster1.xml" Id="Rb4f77ef1ae754e6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c8c760e6b0a455c" /><Relationship Type="http://schemas.openxmlformats.org/officeDocument/2006/relationships/notesMaster" Target="/ppt/notesMasters/notesMaster1.xml" Id="R48171cbe79e8477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9f9430c03334142" /><Relationship Type="http://schemas.openxmlformats.org/officeDocument/2006/relationships/notesMaster" Target="/ppt/notesMasters/notesMaster1.xml" Id="Ree071be36b4841d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00445730bd8492e" /><Relationship Type="http://schemas.openxmlformats.org/officeDocument/2006/relationships/notesMaster" Target="/ppt/notesMasters/notesMaster1.xml" Id="R70435bfdc18746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9ac22d5d6544be4" /><Relationship Type="http://schemas.openxmlformats.org/officeDocument/2006/relationships/notesMaster" Target="/ppt/notesMasters/notesMaster1.xml" Id="R5ca1cc8a3ff643b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d52aa535b6a4e4f" /><Relationship Type="http://schemas.openxmlformats.org/officeDocument/2006/relationships/notesMaster" Target="/ppt/notesMasters/notesMaster1.xml" Id="R135f0b26c949425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218211585a543a8" /><Relationship Type="http://schemas.openxmlformats.org/officeDocument/2006/relationships/notesMaster" Target="/ppt/notesMasters/notesMaster1.xml" Id="R8e86a712e8f4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[7]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[17]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[9]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[10]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309d7937e45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ea0ef29bc4f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c99bc201f4e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22bcd590a44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a1f06c01c4d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e99b98fb1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4E0715-B1EE-430C-8F17-9B679A7B4D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268C7F-A1EE-4A0C-BDE0-733B7AB336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3182A0-BF26-4ED6-B62F-1449FF586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ED944A-7CD0-4F24-AD26-7FCF8A04B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27040E-F3B3-42FF-AD6B-DD9C0EF5D0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4A9CAC-F073-4EB4-802E-3EFE200AC5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EAF842-782E-4DDF-9DF5-D6EFB4EFD4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A0171C-0284-4190-9562-D9F945AC68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952585-BD79-46AC-8F9B-683B9EEB89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EDF573-EA50-40B8-BBF2-C409CD38F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690a45ab774b12" /><Relationship Type="http://schemas.openxmlformats.org/officeDocument/2006/relationships/slideLayout" Target="/ppt/slideLayouts/slideLayout1.xml" Id="R0ad5e48fba7d4a7a" /><Relationship Type="http://schemas.openxmlformats.org/officeDocument/2006/relationships/slideLayout" Target="/ppt/slideLayouts/slideLayout2.xml" Id="R4060bcdade5c45d0" /><Relationship Type="http://schemas.openxmlformats.org/officeDocument/2006/relationships/slideLayout" Target="/ppt/slideLayouts/slideLayout3.xml" Id="R76082da6a909484c" /><Relationship Type="http://schemas.openxmlformats.org/officeDocument/2006/relationships/slideLayout" Target="/ppt/slideLayouts/slideLayout4.xml" Id="R16e164af8fda4d87" /><Relationship Type="http://schemas.openxmlformats.org/officeDocument/2006/relationships/slideLayout" Target="/ppt/slideLayouts/slideLayout5.xml" Id="Re4028b726dfa4ce9" /><Relationship Type="http://schemas.openxmlformats.org/officeDocument/2006/relationships/slideLayout" Target="/ppt/slideLayouts/slideLayout6.xml" Id="R9c855030feae44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d5e48fba7d4a7a"/>
    <p:sldLayoutId xmlns:r="http://schemas.openxmlformats.org/officeDocument/2006/relationships" id="2147483650" r:id="R4060bcdade5c45d0"/>
    <p:sldLayoutId xmlns:r="http://schemas.openxmlformats.org/officeDocument/2006/relationships" id="2147483651" r:id="R76082da6a909484c"/>
    <p:sldLayoutId xmlns:r="http://schemas.openxmlformats.org/officeDocument/2006/relationships" id="2147483652" r:id="R16e164af8fda4d87"/>
    <p:sldLayoutId xmlns:r="http://schemas.openxmlformats.org/officeDocument/2006/relationships" id="2147483653" r:id="Re4028b726dfa4ce9"/>
    <p:sldLayoutId xmlns:r="http://schemas.openxmlformats.org/officeDocument/2006/relationships" id="2147483654" r:id="R9c855030feae44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e8cf0464d468b" /><Relationship Type="http://schemas.openxmlformats.org/officeDocument/2006/relationships/notesSlide" Target="/ppt/notesSlides/notesSlide1.xml" Id="R187ec64f04e947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feacd9fbb4a9b" /><Relationship Type="http://schemas.openxmlformats.org/officeDocument/2006/relationships/notesSlide" Target="/ppt/notesSlides/notesSlide2.xml" Id="R1ff7e2e63dfd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3b689357504287" /><Relationship Type="http://schemas.openxmlformats.org/officeDocument/2006/relationships/notesSlide" Target="/ppt/notesSlides/notesSlide3.xml" Id="Rfc28eb90811840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e4d1d986b4281" /><Relationship Type="http://schemas.openxmlformats.org/officeDocument/2006/relationships/notesSlide" Target="/ppt/notesSlides/notesSlide4.xml" Id="R8fbd239f543d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45b96b7904c6c" /><Relationship Type="http://schemas.openxmlformats.org/officeDocument/2006/relationships/notesSlide" Target="/ppt/notesSlides/notesSlide5.xml" Id="R172e7bca9237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4314016374219" /><Relationship Type="http://schemas.openxmlformats.org/officeDocument/2006/relationships/notesSlide" Target="/ppt/notesSlides/notesSlide6.xml" Id="R36ce53d9155e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133a9dfb34192" /><Relationship Type="http://schemas.openxmlformats.org/officeDocument/2006/relationships/notesSlide" Target="/ppt/notesSlides/notesSlide7.xml" Id="R494354f45f2046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79fe8b0d74fa1" /><Relationship Type="http://schemas.openxmlformats.org/officeDocument/2006/relationships/notesSlide" Target="/ppt/notesSlides/notesSlide8.xml" Id="R76860e1d8cd547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dcc2801244319" /><Relationship Type="http://schemas.openxmlformats.org/officeDocument/2006/relationships/notesSlide" Target="/ppt/notesSlides/notesSlide9.xml" Id="Rf171b48332da48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2f9e650f584305" /><Relationship Type="http://schemas.openxmlformats.org/officeDocument/2006/relationships/notesSlide" Target="/ppt/notesSlides/notesSlide10.xml" Id="R19e9365ccb6249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a2e4938404f53" /><Relationship Type="http://schemas.openxmlformats.org/officeDocument/2006/relationships/notesSlide" Target="/ppt/notesSlides/notesSlide11.xml" Id="R7f18a518218942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f28db85ec4686" /><Relationship Type="http://schemas.openxmlformats.org/officeDocument/2006/relationships/notesSlide" Target="/ppt/notesSlides/notesSlide12.xml" Id="R84c59018945d4e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171f1630a440a" /><Relationship Type="http://schemas.openxmlformats.org/officeDocument/2006/relationships/notesSlide" Target="/ppt/notesSlides/notesSlide13.xml" Id="R34bd303f72de4f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54c6abcd14427" /><Relationship Type="http://schemas.openxmlformats.org/officeDocument/2006/relationships/chart" Target="/ppt/slides/charts/chart1.xml" Id="Ra728ffb3b69d4251" /><Relationship Type="http://schemas.openxmlformats.org/officeDocument/2006/relationships/chart" Target="/ppt/slides/charts/chart2.xml" Id="R309223f8b0644606" /><Relationship Type="http://schemas.openxmlformats.org/officeDocument/2006/relationships/notesSlide" Target="/ppt/notesSlides/notesSlide14.xml" Id="Rc2de39bfae4643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2e7749def4062" /><Relationship Type="http://schemas.openxmlformats.org/officeDocument/2006/relationships/notesSlide" Target="/ppt/notesSlides/notesSlide15.xml" Id="Re145b5c1c46d42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dc53c418042fe" /><Relationship Type="http://schemas.openxmlformats.org/officeDocument/2006/relationships/notesSlide" Target="/ppt/notesSlides/notesSlide16.xml" Id="R53c53f60303249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d998b89864d2d" /><Relationship Type="http://schemas.openxmlformats.org/officeDocument/2006/relationships/notesSlide" Target="/ppt/notesSlides/notesSlide17.xml" Id="Re4d97302ad864c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8c5d65f314c6f" /><Relationship Type="http://schemas.openxmlformats.org/officeDocument/2006/relationships/notesSlide" Target="/ppt/notesSlides/notesSlide18.xml" Id="Ra13813bf314f4d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7e4c45aa24c0f" /><Relationship Type="http://schemas.openxmlformats.org/officeDocument/2006/relationships/notesSlide" Target="/ppt/notesSlides/notesSlide19.xml" Id="R94a3b0ff117949b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e3c4cf5ed42c3" /><Relationship Type="http://schemas.openxmlformats.org/officeDocument/2006/relationships/notesSlide" Target="/ppt/notesSlides/notesSlide20.xml" Id="R5f49293aee6843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90a7001c34663" /><Relationship Type="http://schemas.openxmlformats.org/officeDocument/2006/relationships/notesSlide" Target="/ppt/notesSlides/notesSlide21.xml" Id="Rcbb0285f4c7b41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80e9e35e74e2a" /><Relationship Type="http://schemas.openxmlformats.org/officeDocument/2006/relationships/notesSlide" Target="/ppt/notesSlides/notesSlide22.xml" Id="Rc3190dc002ce46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0f633c178e450c" /><Relationship Type="http://schemas.openxmlformats.org/officeDocument/2006/relationships/notesSlide" Target="/ppt/notesSlides/notesSlide23.xml" Id="Rb7af97f9b06449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ff171b20e4457" /><Relationship Type="http://schemas.openxmlformats.org/officeDocument/2006/relationships/notesSlide" Target="/ppt/notesSlides/notesSlide24.xml" Id="R76de93b4d61848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fac7e227a4d1f" /><Relationship Type="http://schemas.openxmlformats.org/officeDocument/2006/relationships/notesSlide" Target="/ppt/notesSlides/notesSlide25.xml" Id="R8769f38b911e41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8b78f3c2d4872" /><Relationship Type="http://schemas.openxmlformats.org/officeDocument/2006/relationships/notesSlide" Target="/ppt/notesSlides/notesSlide26.xml" Id="Rd4f2a037ca104f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180cb406649c3" /><Relationship Type="http://schemas.openxmlformats.org/officeDocument/2006/relationships/notesSlide" Target="/ppt/notesSlides/notesSlide27.xml" Id="R8335df723b6545f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d7a21808c4805" /><Relationship Type="http://schemas.openxmlformats.org/officeDocument/2006/relationships/notesSlide" Target="/ppt/notesSlides/notesSlide28.xml" Id="R4b56ba0df54945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1d3eade144eb0" /><Relationship Type="http://schemas.openxmlformats.org/officeDocument/2006/relationships/notesSlide" Target="/ppt/notesSlides/notesSlide29.xml" Id="R554bcf97fd234f5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d2e730d174568" /><Relationship Type="http://schemas.openxmlformats.org/officeDocument/2006/relationships/notesSlide" Target="/ppt/notesSlides/notesSlide30.xml" Id="Rb46c66a756a5497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3f7ab6de04510" /><Relationship Type="http://schemas.openxmlformats.org/officeDocument/2006/relationships/notesSlide" Target="/ppt/notesSlides/notesSlide31.xml" Id="Radf81d7de3ea40b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698418e274af8" /><Relationship Type="http://schemas.openxmlformats.org/officeDocument/2006/relationships/notesSlide" Target="/ppt/notesSlides/notesSlide32.xml" Id="Rbc3113098f10476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65102df9946e2" /><Relationship Type="http://schemas.openxmlformats.org/officeDocument/2006/relationships/notesSlide" Target="/ppt/notesSlides/notesSlide33.xml" Id="Rabaa6fc22fd140e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3ac12764748d6" /><Relationship Type="http://schemas.openxmlformats.org/officeDocument/2006/relationships/notesSlide" Target="/ppt/notesSlides/notesSlide34.xml" Id="Re9458ec9f3394b8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632c1e4d74950" /><Relationship Type="http://schemas.openxmlformats.org/officeDocument/2006/relationships/notesSlide" Target="/ppt/notesSlides/notesSlide35.xml" Id="Rb7f74f414bfe44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47794037114594" /><Relationship Type="http://schemas.openxmlformats.org/officeDocument/2006/relationships/hyperlink" Target="https://docs.nvidia.com/cuda/cuda-programming-guide/01-introduction/programming-model.html" TargetMode="External" Id="R78fe5b9bd2034c88" /><Relationship Type="http://schemas.openxmlformats.org/officeDocument/2006/relationships/hyperlink" Target="https://docs.nvidia.com/cuda/cuda-c-best-practices-guide/index.html" TargetMode="External" Id="Rd8d0ae9c346d4bdf" /><Relationship Type="http://schemas.openxmlformats.org/officeDocument/2006/relationships/hyperlink" Target="https://docs.nvidia.com/gpudirect-storage/overview-guide/index.html" TargetMode="External" Id="Re0acd0da75094318" /><Relationship Type="http://schemas.openxmlformats.org/officeDocument/2006/relationships/hyperlink" Target="https://docs.nvidia.com/gpudirect-storage/design-guide/index.html" TargetMode="External" Id="R1aebc7630014451f" /><Relationship Type="http://schemas.openxmlformats.org/officeDocument/2006/relationships/notesSlide" Target="/ppt/notesSlides/notesSlide36.xml" Id="R96e26764f6a5432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df132abd249cf" /><Relationship Type="http://schemas.openxmlformats.org/officeDocument/2006/relationships/hyperlink" Target="https://docs.nvidia.com/megatron-core/developer-guide/latest/user-guide/parallelism-guide.html" TargetMode="External" Id="R27304e0442384843" /><Relationship Type="http://schemas.openxmlformats.org/officeDocument/2006/relationships/hyperlink" Target="https://www.iea.org/reports/key-questions-on-energy-and-ai/executive-summary" TargetMode="External" Id="R7b96a70058bf4a61" /><Relationship Type="http://schemas.openxmlformats.org/officeDocument/2006/relationships/hyperlink" Target="https://www.nsf.gov/cise/updates/nairr-2-years-advancing-american-artificial-intelligence" TargetMode="External" Id="R611c04886e534aba" /><Relationship Type="http://schemas.openxmlformats.org/officeDocument/2006/relationships/hyperlink" Target="https://aclanthology.org/P19-1355/" TargetMode="External" Id="R93da7d886cff406b" /><Relationship Type="http://schemas.openxmlformats.org/officeDocument/2006/relationships/notesSlide" Target="/ppt/notesSlides/notesSlide37.xml" Id="R386a726a1da048f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e9fe934754001" /><Relationship Type="http://schemas.openxmlformats.org/officeDocument/2006/relationships/hyperlink" Target="https://arxiv.org/abs/2304.03271v5" TargetMode="External" Id="R2e520f58e19443da" /><Relationship Type="http://schemas.openxmlformats.org/officeDocument/2006/relationships/hyperlink" Target="https://arxiv.org/abs/1907.10597" TargetMode="External" Id="R076b69d2b186476d" /><Relationship Type="http://schemas.openxmlformats.org/officeDocument/2006/relationships/hyperlink" Target="https://arxiv.org/abs/1906.08935v2" TargetMode="External" Id="Rc208f3df9c714074" /><Relationship Type="http://schemas.openxmlformats.org/officeDocument/2006/relationships/hyperlink" Target="https://aclanthology.org/2024.cl-3.8/" TargetMode="External" Id="Rb4f955c9dd894903" /><Relationship Type="http://schemas.openxmlformats.org/officeDocument/2006/relationships/notesSlide" Target="/ppt/notesSlides/notesSlide38.xml" Id="R57f96f9ff8624f8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a0320a2ac406a" /><Relationship Type="http://schemas.openxmlformats.org/officeDocument/2006/relationships/hyperlink" Target="https://arxiv.org/abs/2010.15581v1" TargetMode="External" Id="R85c353cdd7a94ccc" /><Relationship Type="http://schemas.openxmlformats.org/officeDocument/2006/relationships/hyperlink" Target="https://arxiv.org/abs/2106.11750v1" TargetMode="External" Id="R48f406c72cb343d0" /><Relationship Type="http://schemas.openxmlformats.org/officeDocument/2006/relationships/hyperlink" Target="https://www.oecd.org/en/topics/ai-principles.html" TargetMode="External" Id="R2eca829c399444ac" /><Relationship Type="http://schemas.openxmlformats.org/officeDocument/2006/relationships/hyperlink" Target="https://airc.nist.gov/airmf-resources/playbook/" TargetMode="External" Id="Rd3da73dfa3cd4a52" /><Relationship Type="http://schemas.openxmlformats.org/officeDocument/2006/relationships/notesSlide" Target="/ppt/notesSlides/notesSlide39.xml" Id="R180ccb82d3424eb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edc6e61834a9f" /><Relationship Type="http://schemas.openxmlformats.org/officeDocument/2006/relationships/hyperlink" Target="https://docs.nvidia.com/cuda/archive/13.0.3/npp/image_geometry_transforms.html#rotate" TargetMode="External" Id="R6adcc9642c5b4256" /><Relationship Type="http://schemas.openxmlformats.org/officeDocument/2006/relationships/notesSlide" Target="/ppt/notesSlides/notesSlide40.xml" Id="Ra695119a65164d0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9ab2bcf124467" /><Relationship Type="http://schemas.openxmlformats.org/officeDocument/2006/relationships/notesSlide" Target="/ppt/notesSlides/notesSlide41.xml" Id="Rabae7ace2f7c4fb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38EC1DE4-BA85-42B3-B31B-275A391E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5046EBA8-4AF8-42DD-812E-2D5FC15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8369FC6F-528E-451C-9CC9-F7E52B70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F469C-902C-4ECD-8D15-9F1980E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72F5E0EA-0E77-4103-8750-23D47576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A84FE108-576F-4159-BF60-C650E43E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A5585976-B1C5-4144-814C-D3CFE4D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D75F4D4C-E9F7-4F9F-A031-7CD40C32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Core evidence within each answer sec">
            <a:extLst xmlns:a="http://schemas.openxmlformats.org/drawingml/2006/main">
              <a:ext uri="{FF2B5EF4-FFF2-40B4-BE49-F238E27FC236}">
                <a16:creationId xmlns:a16="http://schemas.microsoft.com/office/drawing/2014/main" id="{EFB4CC1F-371B-4821-BF70-411833E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Core evidence within each answer section; optional supporting material follows</a:t>
            </a:r>
          </a:p>
        </p:txBody>
      </p:sp>
    </p:spTree>
    <p:extLst>
      <p:ext uri="{BB962C8B-B14F-4D97-AF65-F5344CB8AC3E}">
        <p14:creationId xmlns:p14="http://schemas.microsoft.com/office/powerpoint/2010/main" val="1687559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6F640-0496-4B4A-B866-CB01A8040D8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3FA04-BD9C-443C-B290-3C7EB71326C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7B9B3-DF8A-4F54-AA93-A47E9397E96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CB67D-7D88-47DC-9EBD-ECD698F2EE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CE555905-1A90-47C7-9973-22CDDA54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A5B7A191-77C1-4955-B7DE-24623389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55860938-C2B6-402D-B404-B45A883B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DC2C9821-AD7C-483B-88D5-90B6D57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22018-3172-4639-A201-BC1BFBE8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56EC-CD67-4630-B0A7-3C56F960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0359F-C16A-49DA-85ED-C6D1F932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ADEA2-DB63-4F12-9352-0FDD635B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4617F-DCC8-4AF1-83D6-0717B8B6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667C526B-59BF-467F-B29D-C0731738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6BD7DF30-2A3E-4147-A086-384FD230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E7893B37-2C0A-412C-8354-AD65000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1E672E0E-BC67-4740-B5A4-B569C9AE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27CB3A47-AEC9-4EC4-8787-52CBBC47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C1BAB037-ED5F-4D17-AA89-CD66FB0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35526-7200-4A39-8C1D-1929F6EF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96F7C893-C5D8-4634-BFEE-934BED71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1DB29-D543-4172-AB9F-48148CB4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D4659680-8E32-4738-ADAC-A12094E6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24" name="2 / 41">
            <a:extLst xmlns:a="http://schemas.openxmlformats.org/drawingml/2006/main">
              <a:ext uri="{FF2B5EF4-FFF2-40B4-BE49-F238E27FC236}">
                <a16:creationId xmlns:a16="http://schemas.microsoft.com/office/drawing/2014/main" id="{5E46AFA6-CF25-49AC-8243-C27D9DBF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41</a:t>
            </a:r>
          </a:p>
        </p:txBody>
      </p:sp>
    </p:spTree>
    <p:extLst>
      <p:ext uri="{BB962C8B-B14F-4D97-AF65-F5344CB8AC3E}">
        <p14:creationId xmlns:p14="http://schemas.microsoft.com/office/powerpoint/2010/main" val="44156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DC14B3-25E0-4A65-B015-CAF96BAB61B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25FBE8F1-DBF5-45FB-867F-2B463841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49E702BF-0209-45FC-BD14-3DEBE8B2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71BDDEA4-8BAC-45D8-AF15-43D4718E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F6558-A9B2-44EF-9AF7-FE8C02A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72F32FE8-EF04-4946-B84C-61AB95F1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5179C10B-3821-4BBB-BA09-1B28878F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9647E-11B3-4CB4-A16B-CAE1DB4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0D743-CFEC-4F1F-BEA5-5CDD3F47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1415774B-DAE1-45CA-A530-92AE3B3D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Forward [c s; −s c]; inverse [c −s; s c]. Positive θ is">
            <a:extLst xmlns:a="http://schemas.openxmlformats.org/drawingml/2006/main">
              <a:ext uri="{FF2B5EF4-FFF2-40B4-BE49-F238E27FC236}">
                <a16:creationId xmlns:a16="http://schemas.microsoft.com/office/drawing/2014/main" id="{1CFA99BB-0949-4C84-819D-BF88D001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[c s; −s c]; inverse [c −s; s c]. Positive θ is visually counterclockwise.</a:t>
            </a:r>
          </a:p>
        </p:txBody>
      </p:sp>
      <p:sp>
        <p:nvSpPr>
          <p:cNvPr id="12" name="Fixed RGB canvas can crop; black borders. Gathering avo">
            <a:extLst xmlns:a="http://schemas.openxmlformats.org/drawingml/2006/main">
              <a:ext uri="{FF2B5EF4-FFF2-40B4-BE49-F238E27FC236}">
                <a16:creationId xmlns:a16="http://schemas.microsoft.com/office/drawing/2014/main" id="{FFE38123-F61F-4AE1-A53C-E329D6A0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1342"/>
            <a:ext cx="7715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Fixed RGB canvas can crop; black borders. Gathering avoids scatter holes;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35721-A918-4035-986D-64D6503B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AE8912A8-1B3F-4B77-9065-35E4EAF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80630-3CF1-4C08-BC36-5AD4D69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3FD0E6B7-5565-45A7-824D-6C269EDB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7" name="3 / 41">
            <a:extLst xmlns:a="http://schemas.openxmlformats.org/drawingml/2006/main">
              <a:ext uri="{FF2B5EF4-FFF2-40B4-BE49-F238E27FC236}">
                <a16:creationId xmlns:a16="http://schemas.microsoft.com/office/drawing/2014/main" id="{8B4AF5AE-E4C5-48D5-8532-3A0EE33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41</a:t>
            </a:r>
          </a:p>
        </p:txBody>
      </p:sp>
    </p:spTree>
    <p:extLst>
      <p:ext uri="{BB962C8B-B14F-4D97-AF65-F5344CB8AC3E}">
        <p14:creationId xmlns:p14="http://schemas.microsoft.com/office/powerpoint/2010/main" val="927704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ask 1(b) • Worked rotation">
            <a:extLst xmlns:a="http://schemas.openxmlformats.org/drawingml/2006/main">
              <a:ext uri="{FF2B5EF4-FFF2-40B4-BE49-F238E27FC236}">
                <a16:creationId xmlns:a16="http://schemas.microsoft.com/office/drawing/2014/main" id="{7DBD8719-5247-4897-A823-589D9B8D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Worked rotation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97AC01BD-1A8E-4C15-8763-4DF3540C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48ACF00B-6674-43C3-B67A-5B995C17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EE6AA-A660-4D90-94D6-7CE5C16A2A61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C67122A8-D94C-42BB-A0A8-B5605DAE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C7F9D-1DB9-43BA-8B69-84705C6F458A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23CBCE67-DD7F-4A6F-B5A9-118290F2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8D8F8353-A669-4C89-95A5-8FF21F8B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A3C92D0E-D729-4736-9DC1-BDD29105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66B4-B9A7-422F-B6FB-92B36DB0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7B9DFD2-0453-49B3-AB0B-467A4E81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4 / 41">
            <a:extLst xmlns:a="http://schemas.openxmlformats.org/drawingml/2006/main">
              <a:ext uri="{FF2B5EF4-FFF2-40B4-BE49-F238E27FC236}">
                <a16:creationId xmlns:a16="http://schemas.microsoft.com/office/drawing/2014/main" id="{9AB77A9A-B09F-401A-9692-9FB49736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41</a:t>
            </a:r>
          </a:p>
        </p:txBody>
      </p:sp>
    </p:spTree>
    <p:extLst>
      <p:ext uri="{BB962C8B-B14F-4D97-AF65-F5344CB8AC3E}">
        <p14:creationId xmlns:p14="http://schemas.microsoft.com/office/powerpoint/2010/main" val="1814711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8436304E-D9D6-4077-B308-2A68A91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9C733789-05AD-4AB1-84B9-27C9D02F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F125C-A7ED-40F2-A34B-E78095D9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C41DA4FB-D3EF-40E8-843B-EC3CB35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32F0E-24EC-4482-BBC3-0BCBB53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0614D581-C44A-4252-8F7C-E6E3E286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9D9479BC-6B89-4606-B769-C650719F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90793F51-5DEC-441F-BC5C-582C1718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69E1A2CE-3D88-492D-AABB-205F010D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4C3D949F-877D-49E2-9BDF-7F3AC8BA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E6DB0955-80CB-4D85-950A-EA034E57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7FB54B3D-A83C-436A-BDEA-038EB723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5902F-D1E3-493B-962E-264107CE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0DDDE-D380-4FB0-A4AF-C5AF9D86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1FC2B-78D8-44E4-82B8-F6E3A58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81FF1-6DCE-4BB6-A2EA-F17F0C8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554F8-3B3E-48E5-9F14-FA2CA903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756F0-BF81-4035-89ED-ECEDEB47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594C9-6208-4FD0-85F7-9E7E56F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F6069-E899-404A-93C8-764834D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7C69A-5FD5-4DBB-A159-D6869A9F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AAC25-2121-4683-8BF8-A37E067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9E956-A135-402D-A041-8A9A559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9D3231-E0CA-406E-BBF8-EC6572B3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B4296-6133-47CB-B6BD-6727658B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D3C337-5F43-4E12-B28B-CD7A39D1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A2548-1921-4835-8AAE-AEB515D1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C41C49-468F-4E07-AB43-F9C1B385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7FF27A-4AE0-48AA-9FB0-0CF62E5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42B04-2FA8-4198-82FD-C5C65BF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6949A-C0A2-4370-AE2E-66BAB9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7FF204-F2A6-4537-84F5-FB84F1D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22028-4C06-45FD-BCB1-7235723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24FA1B-DFFC-41CB-B3D6-F4D5C65B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73F56-BF9A-43D8-A58C-FC90DAF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A35759-3B62-4766-89B2-561E2D92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2FC973-08E3-46B6-A92D-137694F7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938EED-38F1-4DFD-BF20-0830F1F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3AF78-9804-4F88-92AC-CF1EA7A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ED6F2E-9339-401A-9EBE-EB04926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F5B440-B9F9-4DA8-8F39-FD6CD5CB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C06CDA-2597-4D4C-8197-AF723BBA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2E1122-1FAC-49A9-A2F8-1E478E2D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F723FF-4EAB-40FA-A5EC-9BC7F76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8522F1B0-97C9-46BC-B342-F78DA22B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6DAB97-E438-4F54-B3EA-0761BBB2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8883FEA4-AD01-4945-A261-8BBA82F9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263E8E-83E4-4237-AB3C-89E7FAC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9E8C7E34-5A0B-48C2-8670-D448B109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50" name="5 / 41">
            <a:extLst xmlns:a="http://schemas.openxmlformats.org/drawingml/2006/main">
              <a:ext uri="{FF2B5EF4-FFF2-40B4-BE49-F238E27FC236}">
                <a16:creationId xmlns:a16="http://schemas.microsoft.com/office/drawing/2014/main" id="{3E21719B-65F7-4F7D-A6F1-51BE5A63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41</a:t>
            </a:r>
          </a:p>
        </p:txBody>
      </p:sp>
    </p:spTree>
    <p:extLst>
      <p:ext uri="{BB962C8B-B14F-4D97-AF65-F5344CB8AC3E}">
        <p14:creationId xmlns:p14="http://schemas.microsoft.com/office/powerpoint/2010/main" val="6095582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Rotation implementation">
            <a:extLst xmlns:a="http://schemas.openxmlformats.org/drawingml/2006/main">
              <a:ext uri="{FF2B5EF4-FFF2-40B4-BE49-F238E27FC236}">
                <a16:creationId xmlns:a16="http://schemas.microsoft.com/office/drawing/2014/main" id="{34C3A45C-9304-42AE-A780-B3D0197E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Rotation implementation</a:t>
            </a:r>
          </a:p>
        </p:txBody>
      </p:sp>
      <p:sp>
        <p:nvSpPr>
          <p:cNvPr id="2" name="CUDA rotation kernel">
            <a:extLst xmlns:a="http://schemas.openxmlformats.org/drawingml/2006/main">
              <a:ext uri="{FF2B5EF4-FFF2-40B4-BE49-F238E27FC236}">
                <a16:creationId xmlns:a16="http://schemas.microsoft.com/office/drawing/2014/main" id="{E8D97F16-27DB-4CF0-A8BB-013E7DF7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rotation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CFA4E-ABE1-4ED8-A372-20AFBB6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,&#10;   ">
            <a:extLst xmlns:a="http://schemas.openxmlformats.org/drawingml/2006/main">
              <a:ext uri="{FF2B5EF4-FFF2-40B4-BE49-F238E27FC236}">
                <a16:creationId xmlns:a16="http://schemas.microsoft.com/office/drawing/2014/main" id="{10E77C32-4DAE-4863-9E14-DCE1C56D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569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unsigned char* out, int W, int H, float c,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x = blockIdx.x*blockDim.x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y = blockIdx.y*blockDim.y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(x &gt;= W || y &gt;= H)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float cx = (W-1)*0.5f, cy = (H-1)*0.5f;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ix = int(floorf(c*(x-cx)-s*(y-cy)+cx+0.5f));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iy = int(floorf(s*(x-cx)+c*(y-cy)+cy+0.5f));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size_t dst = 3*(size_t(y)*W + 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if (ix &gt;= 0 &amp;&amp; ix &lt; W &amp;&amp; iy &gt;= 0 &amp;&amp; iy &lt; H)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size_t src = 3*(size_t(iy)*W + ix);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in[src+ch];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ch=0; ch&lt;3; ++ch) out[dst+ch]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One thread owns one output pixel. Guard partial edge bl">
            <a:extLst xmlns:a="http://schemas.openxmlformats.org/drawingml/2006/main">
              <a:ext uri="{FF2B5EF4-FFF2-40B4-BE49-F238E27FC236}">
                <a16:creationId xmlns:a16="http://schemas.microsoft.com/office/drawing/2014/main" id="{5DEDFEFD-6C8F-4D0B-BC5A-E3560EA4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pixel. Guard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blocks.</a:t>
            </a:r>
          </a:p>
        </p:txBody>
      </p:sp>
      <p:sp>
        <p:nvSpPr>
          <p:cNvPr id="6" name="Inverse gather copies RGB; out-of-bounds indices write ">
            <a:extLst xmlns:a="http://schemas.openxmlformats.org/drawingml/2006/main">
              <a:ext uri="{FF2B5EF4-FFF2-40B4-BE49-F238E27FC236}">
                <a16:creationId xmlns:a16="http://schemas.microsoft.com/office/drawing/2014/main" id="{90CC6389-1F58-4CA2-97F3-215D1BE3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 copies RGB;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out-of-bounds indices write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black.</a:t>
            </a:r>
          </a:p>
        </p:txBody>
      </p:sp>
      <p:sp>
        <p:nvSpPr>
          <p:cNvPr id="7" name="Disjoint outputs need no atomics/barrier. Work and stor">
            <a:extLst xmlns:a="http://schemas.openxmlformats.org/drawingml/2006/main">
              <a:ext uri="{FF2B5EF4-FFF2-40B4-BE49-F238E27FC236}">
                <a16:creationId xmlns:a16="http://schemas.microsoft.com/office/drawing/2014/main" id="{C4A65800-7F83-4F97-AA69-965784F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outputs need no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atomics/barrier. Work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storage: O(W × H).</a:t>
            </a:r>
          </a:p>
        </p:txBody>
      </p:sp>
      <p:sp>
        <p:nvSpPr>
          <p:cNvPr id="8" name="Separate RGB buffers; W/H &gt; 0; valid sizes, c/s. Uncomp">
            <a:extLst xmlns:a="http://schemas.openxmlformats.org/drawingml/2006/main">
              <a:ext uri="{FF2B5EF4-FFF2-40B4-BE49-F238E27FC236}">
                <a16:creationId xmlns:a16="http://schemas.microsoft.com/office/drawing/2014/main" id="{BC732037-BBCC-4C0C-85FC-46DB1586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RGB buffers; W/H 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0; valid sizes, c/s. Uncompiled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826E1-B3C4-4E68-A199-CFEADFE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5D93A740-25FE-4B6C-B58A-AD525C5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6 / 41">
            <a:extLst xmlns:a="http://schemas.openxmlformats.org/drawingml/2006/main">
              <a:ext uri="{FF2B5EF4-FFF2-40B4-BE49-F238E27FC236}">
                <a16:creationId xmlns:a16="http://schemas.microsoft.com/office/drawing/2014/main" id="{1E97AEA1-E3B9-4BC4-9460-2529D210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41</a:t>
            </a:r>
          </a:p>
        </p:txBody>
      </p:sp>
    </p:spTree>
    <p:extLst>
      <p:ext uri="{BB962C8B-B14F-4D97-AF65-F5344CB8AC3E}">
        <p14:creationId xmlns:p14="http://schemas.microsoft.com/office/powerpoint/2010/main" val="2856733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1(b) • Host orchestration">
            <a:extLst xmlns:a="http://schemas.openxmlformats.org/drawingml/2006/main">
              <a:ext uri="{FF2B5EF4-FFF2-40B4-BE49-F238E27FC236}">
                <a16:creationId xmlns:a16="http://schemas.microsoft.com/office/drawing/2014/main" id="{B0656462-2181-4EED-9B8C-A6FAD043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Host orchestration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379E559C-2E0B-416D-BBF6-70D9E1B6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726D2-CBED-4B14-86CE-AC7FDE3A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329F3114-0C0B-4A90-BFAF-0A1E683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F4B5FA02-F411-4FD7-B25E-79CC6C8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3EBD9C94-4F5F-4A74-ADEA-DF4CECFA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EA36264E-C487-4E88-8FD3-63E395E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E3BD3B75-11CC-4EE7-86EA-DF6B0665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AAAD1-2EF2-4C41-9ED7-CF28A6DA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29DDE7A5-717A-48FB-B949-F043E6F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1" name="7 / 41">
            <a:extLst xmlns:a="http://schemas.openxmlformats.org/drawingml/2006/main">
              <a:ext uri="{FF2B5EF4-FFF2-40B4-BE49-F238E27FC236}">
                <a16:creationId xmlns:a16="http://schemas.microsoft.com/office/drawing/2014/main" id="{8983BBFD-2C64-47B1-9C80-93DE5AD4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41</a:t>
            </a:r>
          </a:p>
        </p:txBody>
      </p:sp>
    </p:spTree>
    <p:extLst>
      <p:ext uri="{BB962C8B-B14F-4D97-AF65-F5344CB8AC3E}">
        <p14:creationId xmlns:p14="http://schemas.microsoft.com/office/powerpoint/2010/main" val="1125782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FD7F6-D0C0-4D15-AEED-E70CDFEB260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E57CC5D5-B6DE-442E-9199-AE5B7B4F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D613DE86-D4CE-4264-95ED-EFD9928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B854268C-AF7A-45A5-8780-1BAAA57C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5C9B-DCF1-4020-8035-06B218B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D4AEEFDF-219C-459C-AFAC-FE4BCAF7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C56167B1-D14E-43E9-BEF6-4D3B720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2A30A-FB0D-4A0F-AE7B-332E1817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DB7CB-5DE8-4651-8384-21FA713D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E68789E3-4EC9-4689-BABA-436B4D3E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2AEBEBD0-359F-4D88-A429-358F059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B93B0-B64B-4113-998F-6F16A95E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EDF03107-3AF6-4659-8E1C-6D4EF963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2B3D1-7FEB-4797-9992-DC9AB4F5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9C643738-F3F8-4F7A-B22E-A1F49D46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16" name="8 / 41">
            <a:extLst xmlns:a="http://schemas.openxmlformats.org/drawingml/2006/main">
              <a:ext uri="{FF2B5EF4-FFF2-40B4-BE49-F238E27FC236}">
                <a16:creationId xmlns:a16="http://schemas.microsoft.com/office/drawing/2014/main" id="{9B9CB7F8-AC19-4DB2-A46A-AAB9792A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41</a:t>
            </a:r>
          </a:p>
        </p:txBody>
      </p:sp>
    </p:spTree>
    <p:extLst>
      <p:ext uri="{BB962C8B-B14F-4D97-AF65-F5344CB8AC3E}">
        <p14:creationId xmlns:p14="http://schemas.microsoft.com/office/powerpoint/2010/main" val="699116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1(b) • Memory access and launch shape">
            <a:extLst xmlns:a="http://schemas.openxmlformats.org/drawingml/2006/main">
              <a:ext uri="{FF2B5EF4-FFF2-40B4-BE49-F238E27FC236}">
                <a16:creationId xmlns:a16="http://schemas.microsoft.com/office/drawing/2014/main" id="{7F2EE930-E41B-420F-81CE-ED2C3839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Memory access and launch shape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967C7C59-B856-4766-88FB-3A780038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23E8F-1375-4AB7-BF9E-92D55F28DE1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F7330734-3B71-4C02-A25E-7C167DD4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27DF6-0348-439C-90DB-19FFB54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NVIDIA CUDA programming model; [2] NVIDIA ">
            <a:extLst xmlns:a="http://schemas.openxmlformats.org/drawingml/2006/main">
              <a:ext uri="{FF2B5EF4-FFF2-40B4-BE49-F238E27FC236}">
                <a16:creationId xmlns:a16="http://schemas.microsoft.com/office/drawing/2014/main" id="{690FF480-207A-43DC-84FD-4BF35FCF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model; [2] NVIDIA CUDA Best Practices</a:t>
            </a:r>
          </a:p>
        </p:txBody>
      </p:sp>
      <p:sp>
        <p:nvSpPr>
          <p:cNvPr id="7" name="9 / 41">
            <a:extLst xmlns:a="http://schemas.openxmlformats.org/drawingml/2006/main">
              <a:ext uri="{FF2B5EF4-FFF2-40B4-BE49-F238E27FC236}">
                <a16:creationId xmlns:a16="http://schemas.microsoft.com/office/drawing/2014/main" id="{40E3C74C-D615-4D53-8C77-D04D8C7B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41</a:t>
            </a:r>
          </a:p>
        </p:txBody>
      </p:sp>
    </p:spTree>
    <p:extLst>
      <p:ext uri="{BB962C8B-B14F-4D97-AF65-F5344CB8AC3E}">
        <p14:creationId xmlns:p14="http://schemas.microsoft.com/office/powerpoint/2010/main" val="1983507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410B8916-CD3B-49A0-878B-5D99EA4D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8F3E45DB-B71A-4482-96B9-D2759826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1379B0C8-BCDC-410E-A578-34950BC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978357A6-E14D-495E-90E4-2DB0E37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ACC3456A-318C-48A2-95C2-F44C83A8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BD2E5E85-7F72-47FB-9BB4-C1143BB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326B3CE2-2C4F-45B1-90D9-E08ABD3C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Amdahl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DA76E5DD-DC7C-4EF7-8E18-43F1CB1D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Amdahl: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80D01-8440-4944-AA81-655E6582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A97A9D2D-C06D-401C-A190-F28D3EF8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82F39-F785-4C63-8F26-DB3422A7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80261347-F12D-43A6-8EE6-479D97A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3" name="10 / 41">
            <a:extLst xmlns:a="http://schemas.openxmlformats.org/drawingml/2006/main">
              <a:ext uri="{FF2B5EF4-FFF2-40B4-BE49-F238E27FC236}">
                <a16:creationId xmlns:a16="http://schemas.microsoft.com/office/drawing/2014/main" id="{96FAF973-9554-47DD-AFCD-3B8D8313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7115663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4A936-719B-4CB3-A4E1-124444D9E6C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287000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6132A-D1A5-4D35-950A-C192A56EB85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924925" y="3619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2A000-A05C-4075-A00A-F09AFB0541D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53625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3B8B3-654A-4481-9E9B-95BE4C223039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24193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7" name="Task 1(b) • Concurrency and speedup">
            <a:extLst xmlns:a="http://schemas.openxmlformats.org/drawingml/2006/main">
              <a:ext uri="{FF2B5EF4-FFF2-40B4-BE49-F238E27FC236}">
                <a16:creationId xmlns:a16="http://schemas.microsoft.com/office/drawing/2014/main" id="{F2006316-91E7-4641-A67F-9CA0B7B8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 • Concurrency and speedup</a:t>
            </a:r>
          </a:p>
        </p:txBody>
      </p:sp>
      <p:sp>
        <p:nvSpPr>
          <p:cNvPr id="2" name="Streams, overlap and completed output">
            <a:extLst xmlns:a="http://schemas.openxmlformats.org/drawingml/2006/main">
              <a:ext uri="{FF2B5EF4-FFF2-40B4-BE49-F238E27FC236}">
                <a16:creationId xmlns:a16="http://schemas.microsoft.com/office/drawing/2014/main" id="{7684CBDC-0567-41AB-B7F6-48D2BDF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Streams, overlap and completed output</a:t>
            </a:r>
          </a:p>
        </p:txBody>
      </p:sp>
      <p:sp>
        <p:nvSpPr>
          <p:cNvPr id="3" name="Ordered work in one stream">
            <a:extLst xmlns:a="http://schemas.openxmlformats.org/drawingml/2006/main">
              <a:ext uri="{FF2B5EF4-FFF2-40B4-BE49-F238E27FC236}">
                <a16:creationId xmlns:a16="http://schemas.microsoft.com/office/drawing/2014/main" id="{CD7B2B88-0590-45F3-86D0-24686682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191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Ordered work in one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06158-6F81-4345-A006-B1AB399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641985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cudaMemcpyAsync(d_in, h_in, bytes,&#10;  cudaMemcpyHostToDe">
            <a:extLst xmlns:a="http://schemas.openxmlformats.org/drawingml/2006/main">
              <a:ext uri="{FF2B5EF4-FFF2-40B4-BE49-F238E27FC236}">
                <a16:creationId xmlns:a16="http://schemas.microsoft.com/office/drawing/2014/main" id="{80F396C5-3A65-45C2-B561-DD60DAB6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191250" cy="2015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cudaMemcpyAsync(d_in, h_in,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cudaMemcpyHostToDevice,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block, 0, stream&gt;&gt;&gt;(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 d_out, W, H, c, s);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cudaMemcpyAsync(h_out, d_out, bytes,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cudaMemcpyDeviceToHost, stream);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// After enqueueing all batch images: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cudaStreamSynchronize(stream);</a:t>
            </a:r>
          </a:p>
        </p:txBody>
      </p:sp>
      <p:sp>
        <p:nvSpPr>
          <p:cNvPr id="6" name="Batch: enqueue all streams before waiting. Check every ">
            <a:extLst xmlns:a="http://schemas.openxmlformats.org/drawingml/2006/main">
              <a:ext uri="{FF2B5EF4-FFF2-40B4-BE49-F238E27FC236}">
                <a16:creationId xmlns:a16="http://schemas.microsoft.com/office/drawing/2014/main" id="{DE2B5272-8FDE-4C3C-B82C-4FEED09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19125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Batch: enqueue all streams before waiting. Check every API,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and completion result; submission is not completion.</a:t>
            </a:r>
          </a:p>
        </p:txBody>
      </p:sp>
      <p:sp>
        <p:nvSpPr>
          <p:cNvPr id="7" name="Independent images / streams">
            <a:extLst xmlns:a="http://schemas.openxmlformats.org/drawingml/2006/main">
              <a:ext uri="{FF2B5EF4-FFF2-40B4-BE49-F238E27FC236}">
                <a16:creationId xmlns:a16="http://schemas.microsoft.com/office/drawing/2014/main" id="{F0D78C1A-F6BA-486C-B8AF-9468505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4057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Independent images / streams</a:t>
            </a:r>
          </a:p>
        </p:txBody>
      </p:sp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E82AE190-B966-46C6-B043-3DA7C67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9552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4D02E-00F1-4E5A-A7C0-3FF0B7E3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E114B-7814-4A42-855D-A225B1F0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A26D6-533A-4D6D-B6EE-896AEFE4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4" name="B">
            <a:extLst xmlns:a="http://schemas.openxmlformats.org/drawingml/2006/main">
              <a:ext uri="{FF2B5EF4-FFF2-40B4-BE49-F238E27FC236}">
                <a16:creationId xmlns:a16="http://schemas.microsoft.com/office/drawing/2014/main" id="{113C808B-A7CF-4DC1-BF0E-160E4A8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95675"/>
            <a:ext cx="32385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6D5F0-61AE-4281-BFE1-65BDFC9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A61A0-3C66-4389-95B1-FE9DA3B6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1028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0AFA5-9F1C-4A74-8613-81B24CBC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95650"/>
            <a:ext cx="971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20" name="Schematic overlap opportunity; hardware/resources deter">
            <a:extLst xmlns:a="http://schemas.openxmlformats.org/drawingml/2006/main">
              <a:ext uri="{FF2B5EF4-FFF2-40B4-BE49-F238E27FC236}">
                <a16:creationId xmlns:a16="http://schemas.microsoft.com/office/drawing/2014/main" id="{1A1E43B8-8736-452F-9C4D-7158AA2B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40576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hardware/resources determine actual</a:t>
            </a:r>
          </a:p>
          <a:p xmlns:a="http://schemas.openxmlformats.org/drawingml/2006/main">
            <a:pPr algn="l">
              <a:defRPr sz="157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overlap.</a:t>
            </a:r>
          </a:p>
        </p:txBody>
      </p:sp>
      <p:sp>
        <p:nvSpPr>
          <p:cNvPr id="21" name="Separate pinned/device buffers and non-default streams;">
            <a:extLst xmlns:a="http://schemas.openxmlformats.org/drawingml/2006/main">
              <a:ext uri="{FF2B5EF4-FFF2-40B4-BE49-F238E27FC236}">
                <a16:creationId xmlns:a16="http://schemas.microsoft.com/office/drawing/2014/main" id="{DA26D63E-2B3E-4349-9CA3-0E34AB2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pinned/device buffers and non-default streams; synchronize before reuse. More buffers cost memory.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Keep images on the GPU across operations to avoid repeated transfers.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C5F42-258C-4DF4-A9EE-4767573A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3" name="Overlap can shorten the batch critical path; it changes">
            <a:extLst xmlns:a="http://schemas.openxmlformats.org/drawingml/2006/main">
              <a:ext uri="{FF2B5EF4-FFF2-40B4-BE49-F238E27FC236}">
                <a16:creationId xmlns:a16="http://schemas.microsoft.com/office/drawing/2014/main" id="{353F9296-AFAE-4352-839F-5BC154E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can shorten the batch critical path; it changes scheduling, not total work.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9ED0D-E0BE-4059-90B7-3D48CA4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5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6C0E9A4A-AB2B-403A-B7D0-37EE1A35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26" name="11 / 41">
            <a:extLst xmlns:a="http://schemas.openxmlformats.org/drawingml/2006/main">
              <a:ext uri="{FF2B5EF4-FFF2-40B4-BE49-F238E27FC236}">
                <a16:creationId xmlns:a16="http://schemas.microsoft.com/office/drawing/2014/main" id="{5517AD3C-A027-463E-A561-1E95CC8B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14057152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6B58E-BDB1-4CD2-BB92-19DDA1E70A8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3743325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E6157-929E-4ECD-A80F-2505E8DD88A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D8052-C1AB-4B1F-B18B-7DD0243C2CF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CEF47EB4-6B0C-49F4-8369-4448FF00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A146E2F2-1970-4226-972C-DF3A058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612C82A5-6EA7-4EB3-8A4B-4D592E9B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86626-17CD-4622-A99D-26D0B01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1568-01A5-423F-8B10-2C64656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8DED7-86A7-491D-8AD9-D1F1CD8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117C7A84-3564-404A-8738-F12253C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180B84EA-39E3-4B86-ADFB-5BD9D06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3BA7DDA8-E6ED-4DCA-B7CB-71BADE7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08A6F-C179-46EC-A3EE-F01D425A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8F805-CA99-46E1-BD66-8485546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AEA1CFBE-8C2E-4F3E-80CA-10824B73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956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. Fallback may stage through RAM; ">
            <a:extLst xmlns:a="http://schemas.openxmlformats.org/drawingml/2006/main">
              <a:ext uri="{FF2B5EF4-FFF2-40B4-BE49-F238E27FC236}">
                <a16:creationId xmlns:a16="http://schemas.microsoft.com/office/drawing/2014/main" id="{19A65581-6C64-4341-AE6B-2E8A71EB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I/O. Fallback may stage through RAM; GDS does not decode images or accelerate kernel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arithmetic.</a:t>
            </a:r>
          </a:p>
        </p:txBody>
      </p:sp>
      <p:sp>
        <p:nvSpPr>
          <p:cNvPr id="17" name="Use conventional copies for CPU-decoded / already-in-RA">
            <a:extLst xmlns:a="http://schemas.openxmlformats.org/drawingml/2006/main">
              <a:ext uri="{FF2B5EF4-FFF2-40B4-BE49-F238E27FC236}">
                <a16:creationId xmlns:a16="http://schemas.microsoft.com/office/drawing/2014/main" id="{6FB4C2C8-3CB0-4348-99C1-63D0E0FE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conventional copies for CPU-decoded / already-in-RAM pixels. Consider GDS for storage-bound GPU-ready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batches only with supported GPU/filesystem/driver/topology and lower completed batch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308AB-8736-4142-A834-9D19C6D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435929E1-8BC4-42B3-9328-3842A38C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5FD79-7288-4ED7-B01A-A455CDB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8A770C5C-9AC6-4873-88CC-C2B42C2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22" name="12 / 41">
            <a:extLst xmlns:a="http://schemas.openxmlformats.org/drawingml/2006/main">
              <a:ext uri="{FF2B5EF4-FFF2-40B4-BE49-F238E27FC236}">
                <a16:creationId xmlns:a16="http://schemas.microsoft.com/office/drawing/2014/main" id="{0DA110C3-C70D-4773-A62F-CFA2514A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14835666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88EC0AC3-8548-4DFC-97A5-23F935C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BC47D16C-820E-4F17-8C2D-A28B276D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243F9-7525-44C2-94C7-9900FD8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F230B-5476-416C-A345-3431A808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29E6D-BAE1-4358-B41B-84EAAF6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D5FA3-075C-41AC-800E-42C6B75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2C92D-DDAD-48EA-A09F-A3397AAE9970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F9DA2-1207-45DB-AA89-F85FEA2D5F3C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7652C-A560-468B-969C-ADF083590B37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41D4EF2A-9E3C-471D-8FF4-CA03A7C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61E425A5-8FAE-457E-9EE7-D5955D2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EABC2ED4-493B-428D-A4ED-A8E6A9A6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5ABF523B-CB4D-4759-BC9A-C8A519B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F8184-5335-404D-98FC-35CAA4E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C176629C-9DEF-4893-B6C6-54CE1556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3D000-BE0E-425D-8338-C7C52E0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4CFEDA0A-FDB9-4D38-AB30-663967F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18" name="13 / 41">
            <a:extLst xmlns:a="http://schemas.openxmlformats.org/drawingml/2006/main">
              <a:ext uri="{FF2B5EF4-FFF2-40B4-BE49-F238E27FC236}">
                <a16:creationId xmlns:a16="http://schemas.microsoft.com/office/drawing/2014/main" id="{149EB983-3526-4E2A-BC64-F883ACD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19686328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AEDF7657-8EEF-4133-B360-94D6814D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12714CAF-7364-4599-B461-01C06C8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E200D4A5-7E9C-4A3D-84C6-AC58BC4A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10795A9C-6437-4E03-AD8B-4E0E59B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C556E22-DF78-465D-8B5C-068D0E4E3C06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28ffb3b69d4251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1002B19-CC75-48E5-BF29-3E86AEBE4F61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9223f8b0644606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A663CC01-8930-4E31-BFAC-C83EB395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0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324F9E3C-A578-4A49-A5E5-5D9F1E0F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[10] emphasizes efficiency; water research [9]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30B3-FEE2-4A25-86BE-D4756BFB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F7A1A592-446D-49EC-B412-E0141C13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[9] Li et al. 2025 revision: water impacts; [10] Schwartz et al. 2019: efficiency reporting</a:t>
            </a:r>
          </a:p>
        </p:txBody>
      </p:sp>
      <p:sp>
        <p:nvSpPr>
          <p:cNvPr id="11" name="14 / 41">
            <a:extLst xmlns:a="http://schemas.openxmlformats.org/drawingml/2006/main">
              <a:ext uri="{FF2B5EF4-FFF2-40B4-BE49-F238E27FC236}">
                <a16:creationId xmlns:a16="http://schemas.microsoft.com/office/drawing/2014/main" id="{C23DC43D-C74F-4484-9A91-75D87873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15275755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ask 2(a) • Illustrative energy calculation">
            <a:extLst xmlns:a="http://schemas.openxmlformats.org/drawingml/2006/main">
              <a:ext uri="{FF2B5EF4-FFF2-40B4-BE49-F238E27FC236}">
                <a16:creationId xmlns:a16="http://schemas.microsoft.com/office/drawing/2014/main" id="{D799008B-4625-4E4E-B19F-8969D45C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Illustrative energy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D5682B49-3F70-4590-9EA8-5DE4F6F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82F26-2DDF-40C2-B917-B53C71516F6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ECC5BC02-B32F-473E-A1F6-355FB584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C8008EEF-538D-4083-A3F4-7B7439AD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29173-CC3D-4B0B-BDE2-188D725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8] Strubell et al. 2019: cost and equity; [10">
            <a:extLst xmlns:a="http://schemas.openxmlformats.org/drawingml/2006/main">
              <a:ext uri="{FF2B5EF4-FFF2-40B4-BE49-F238E27FC236}">
                <a16:creationId xmlns:a16="http://schemas.microsoft.com/office/drawing/2014/main" id="{937650D0-A435-4E89-83BE-67426F6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[10] Schwartz et al. 2019: efficiency reporting; [2] NVIDIA CUDA Best Practices</a:t>
            </a:r>
          </a:p>
        </p:txBody>
      </p:sp>
      <p:sp>
        <p:nvSpPr>
          <p:cNvPr id="8" name="15 / 41">
            <a:extLst xmlns:a="http://schemas.openxmlformats.org/drawingml/2006/main">
              <a:ext uri="{FF2B5EF4-FFF2-40B4-BE49-F238E27FC236}">
                <a16:creationId xmlns:a16="http://schemas.microsoft.com/office/drawing/2014/main" id="{AF2FEEAC-E9D4-41A5-AE0F-8719D2C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3712615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a) • Environmental accounting">
            <a:extLst xmlns:a="http://schemas.openxmlformats.org/drawingml/2006/main">
              <a:ext uri="{FF2B5EF4-FFF2-40B4-BE49-F238E27FC236}">
                <a16:creationId xmlns:a16="http://schemas.microsoft.com/office/drawing/2014/main" id="{20AA1F0F-7418-403A-BA33-E1FDC8D0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 • Environmental accounting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2922A8E5-DA83-4488-9370-27085798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5A308A94-E56D-43F7-AC34-6B68B95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BFE5D927-C038-4883-8951-4F6E664C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46D382CF-2527-4A0E-B51A-B5349F71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059F2D8E-6207-48B4-A561-53BA920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A0B18BD5-097B-4DAB-B5B0-623AAF59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17A379BC-B9CB-49DC-ACD1-53781A8A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125E4D40-4639-49BC-B741-8A32689F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6058FFE3-3B47-43EF-87A6-8EFF19A1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ECB9D-2199-4229-92E7-8466CCF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1CF24-6DAD-44BC-8BD7-325A501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6E2292F9-8B6B-441A-9222-05B38F82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IEA 2026: sector estimates and projection; [8] Strubell et al. 2019: cost and equity; [9] Li et al. 2025 revision: water impacts; [10]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6 / 41">
            <a:extLst xmlns:a="http://schemas.openxmlformats.org/drawingml/2006/main">
              <a:ext uri="{FF2B5EF4-FFF2-40B4-BE49-F238E27FC236}">
                <a16:creationId xmlns:a16="http://schemas.microsoft.com/office/drawing/2014/main" id="{DB5ABF9A-1194-4FA3-8C5A-5580CC3B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13419473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C3C7E-1759-4E75-9E20-D5B8B5B3B75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CD1C6-4581-4F21-9715-D147725E94AC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B07D17A5-314C-42F6-AF17-1EF56C33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F4ECDB21-8941-43AC-869C-EE2338A7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2E508314-382C-4D38-ABFB-8621949D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698F3230-3AF7-44D7-9727-04BF3C37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28F53-D565-452C-A494-D50BBFB4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3ACE9-D15F-430C-BAD6-1445BAFE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3D2B7-4C50-4D91-BB1D-0FE320D1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534F0-E0F7-458C-874D-49E5D67F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1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823D122E-508B-47A7-8C67-5591A6D6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[11]: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2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87655F2E-524E-401D-929E-96CA647B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[12]: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457C6FCB-C01F-4FE6-AC65-4D989EC7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AABCA8-B403-4384-9641-3B1D879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1D364112-8411-44CC-8D9C-4298590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869DE-3300-4FF2-B743-F746E756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1] Zhu et al. 2019: exposed gradients; [12] ">
            <a:extLst xmlns:a="http://schemas.openxmlformats.org/drawingml/2006/main">
              <a:ext uri="{FF2B5EF4-FFF2-40B4-BE49-F238E27FC236}">
                <a16:creationId xmlns:a16="http://schemas.microsoft.com/office/drawing/2014/main" id="{AF14938E-E40F-4518-BEFC-F062147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[12] Gallegos et al. 2024: fairness evaluation; [15] OECD: rights, fairness and accountability; [16]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7 / 41">
            <a:extLst xmlns:a="http://schemas.openxmlformats.org/drawingml/2006/main">
              <a:ext uri="{FF2B5EF4-FFF2-40B4-BE49-F238E27FC236}">
                <a16:creationId xmlns:a16="http://schemas.microsoft.com/office/drawing/2014/main" id="{93507D47-9ADA-4543-A16F-56AA9C5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20189626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b) • Proposed governance controls">
            <a:extLst xmlns:a="http://schemas.openxmlformats.org/drawingml/2006/main">
              <a:ext uri="{FF2B5EF4-FFF2-40B4-BE49-F238E27FC236}">
                <a16:creationId xmlns:a16="http://schemas.microsoft.com/office/drawing/2014/main" id="{19649DA0-5FBE-4A8B-A70D-0D57CC4C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Proposed governance controls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E06A078F-14F7-4B0D-AC4A-32D203D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54AF7-91B8-4FF6-9C6D-434BF7BB53A1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3420CC97-FBF5-41D4-B9AB-50426208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79EE-594D-4BF9-8C1D-E156DF94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7626FF3D-FA71-48D1-B592-A700E2F6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Zhu et al. 2019: exposed gradients; [15] OECD: rights, fairness and accountability; [16] NIST: Govern, Map, Measure, Manage</a:t>
            </a:r>
          </a:p>
        </p:txBody>
      </p:sp>
      <p:sp>
        <p:nvSpPr>
          <p:cNvPr id="7" name="18 / 41">
            <a:extLst xmlns:a="http://schemas.openxmlformats.org/drawingml/2006/main">
              <a:ext uri="{FF2B5EF4-FFF2-40B4-BE49-F238E27FC236}">
                <a16:creationId xmlns:a16="http://schemas.microsoft.com/office/drawing/2014/main" id="{6903916E-32DC-4A61-8E44-E5F1205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2575443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b) • Fairness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098D1CCF-62B4-4FF7-A2A3-C99A81FC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 • Fairness with large-scale compute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5A995E2E-4ECF-4CA8-84AE-EFC21D31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D435191F-7DC6-4518-BB92-89B80A39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2D4A5901-C402-4187-9535-A5D3CB09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0E5AFA62-4749-4197-BF45-8B67F44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4999B2ED-BDE9-4828-B805-98923731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90078310-20AD-4EF3-A484-17BDCA9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53BE9CD5-313E-4E89-9121-59D46AE2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FF1B7889-0B64-4B1F-9391-7D4072D3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0B413073-DDCE-417B-9B82-7344436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D3246-BCE7-47D4-9BF8-74B1F4B6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6D6D0-AF5A-413C-A2FB-5E0DBF6E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2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E096E9C0-1058-4169-9FFF-5834033C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Gallegos et al. 2024: fairness evaluation; [15] OECD: rights, fairness and accountability; [16] NIST: Govern, Map, Measure, Manage</a:t>
            </a:r>
          </a:p>
        </p:txBody>
      </p:sp>
      <p:sp>
        <p:nvSpPr>
          <p:cNvPr id="14" name="19 / 41">
            <a:extLst xmlns:a="http://schemas.openxmlformats.org/drawingml/2006/main">
              <a:ext uri="{FF2B5EF4-FFF2-40B4-BE49-F238E27FC236}">
                <a16:creationId xmlns:a16="http://schemas.microsoft.com/office/drawing/2014/main" id="{EDA46089-7B76-44E7-8E2B-391B1FF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17852452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7EEEA845-01C6-4265-9F2B-58962DB7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DBC98903-6159-44A5-AE60-32BC378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AD12-AA00-4757-8666-E0A7BED1AB4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3D19FF3A-A1FA-4488-A357-5FA719B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69B1F296-8787-4EF9-B942-D63821FD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799E87A9-45AB-4E56-988E-B4E606D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298DF-7690-4489-B79F-CD19EA04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F0AA1011-EC76-4EFD-B1DE-CED76598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B575A-150F-472F-9B5F-E3E5B756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B682F466-4343-4A3F-81BA-6D04573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1" name="20 / 41">
            <a:extLst xmlns:a="http://schemas.openxmlformats.org/drawingml/2006/main">
              <a:ext uri="{FF2B5EF4-FFF2-40B4-BE49-F238E27FC236}">
                <a16:creationId xmlns:a16="http://schemas.microsoft.com/office/drawing/2014/main" id="{3539FA6D-BEA1-4E81-A680-0D7177D7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176764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 2(c) • Research and allocation decisions">
            <a:extLst xmlns:a="http://schemas.openxmlformats.org/drawingml/2006/main">
              <a:ext uri="{FF2B5EF4-FFF2-40B4-BE49-F238E27FC236}">
                <a16:creationId xmlns:a16="http://schemas.microsoft.com/office/drawing/2014/main" id="{C0BB66AC-5DDB-4452-83F7-DEE28641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 • Research and allocation decisions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0E5D0F0B-3AF4-4D45-8385-20ADD7B7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F310DDAE-5720-4F72-878D-89DFB2C4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B360629F-6601-4875-A091-7720CD3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B780960F-F679-487D-8D67-F4EF644B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4A5047D4-8A48-46E6-95EC-227BBB49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C5282795-5BB1-4832-BBA6-9B28F20B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6846FE1C-61A1-4861-87FC-AAE71DF7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1A942D0E-8303-4E45-987E-D432602C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4BE3B5FA-A157-4E84-AB62-9881989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2E0FC-981A-49D2-889E-810B937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AAF12-A81C-49BF-8981-C56742C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7] NSF 2026: US programme reach; [8] Strubell">
            <a:extLst xmlns:a="http://schemas.openxmlformats.org/drawingml/2006/main">
              <a:ext uri="{FF2B5EF4-FFF2-40B4-BE49-F238E27FC236}">
                <a16:creationId xmlns:a16="http://schemas.microsoft.com/office/drawing/2014/main" id="{E35119EE-B5CA-4C32-B662-BFCC2D68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[7] NSF 2026: US programme reach; [8] Strubell et al. 2019: cost and equity; [13] Ahmed and Wahed 2020: compute divide</a:t>
            </a:r>
          </a:p>
        </p:txBody>
      </p:sp>
      <p:sp>
        <p:nvSpPr>
          <p:cNvPr id="14" name="21 / 41">
            <a:extLst xmlns:a="http://schemas.openxmlformats.org/drawingml/2006/main">
              <a:ext uri="{FF2B5EF4-FFF2-40B4-BE49-F238E27FC236}">
                <a16:creationId xmlns:a16="http://schemas.microsoft.com/office/drawing/2014/main" id="{DCF4CF76-4644-4CBB-9C90-7471C1E1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20481866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4762E-DB80-4DAF-9915-4F758264C20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4E6B5-5DA9-4F0D-BFB5-916B2F04E4F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76DE1066-59CC-4AC7-A91C-FAAE365E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D0480F93-7436-4080-B13E-7A593C88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EE7A-3B0C-4834-AF89-8EDFCEBC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B8E8B-2E20-49C5-87D0-4DA5977B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C2B12-E703-475E-A20B-03084555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0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39E058A7-E6E2-46CA-976E-E2F1A90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[10] • Carbon-aware scheduling: flexible work [14]</a:t>
            </a:r>
          </a:p>
        </p:txBody>
      </p:sp>
      <p:sp>
        <p:nvSpPr>
          <p:cNvPr id="9" name="OECD: values and rights [15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69ABD808-1AC0-4957-BFE2-4EF8467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[15] • NIST: Govern, Map, Measure, Manage [16]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560E3A15-9D3B-47B8-A1E8-2771DA8A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8524A60F-CE17-49B5-B6B6-7A9E8C33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D6451-14FA-4190-BE46-F8B06FB9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8F0FCE97-EE74-40A4-8BB1-63594266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7E9AE-516B-4E9D-A03E-FD3D2F9E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801B9F20-4F33-4688-849E-E7D2108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22 / 41">
            <a:extLst xmlns:a="http://schemas.openxmlformats.org/drawingml/2006/main">
              <a:ext uri="{FF2B5EF4-FFF2-40B4-BE49-F238E27FC236}">
                <a16:creationId xmlns:a16="http://schemas.microsoft.com/office/drawing/2014/main" id="{566DBCF6-4DE7-4CD1-8DBD-CD33831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19247163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ask 2(d) • Framework actions and owners">
            <a:extLst xmlns:a="http://schemas.openxmlformats.org/drawingml/2006/main">
              <a:ext uri="{FF2B5EF4-FFF2-40B4-BE49-F238E27FC236}">
                <a16:creationId xmlns:a16="http://schemas.microsoft.com/office/drawing/2014/main" id="{3EAFFDB8-F901-4CCA-8EDF-6C0BEB3B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Framework actions and owners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47906B0E-5689-4C8D-BA47-E12C8A0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40213-A4A9-4078-8481-E18CA19892B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53773BAC-DC4A-491C-ACA7-9B70E7A1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825A2-09E4-4111-AE9F-7182571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0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46515523-7F07-435A-B473-D6DCF5EA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Schwartz et al. 2019: efficiency reporting; [14] Radovanovic et al. 2021: flexible scheduling; [15] OECD: rights, fairness and accountability; [16]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23 / 41">
            <a:extLst xmlns:a="http://schemas.openxmlformats.org/drawingml/2006/main">
              <a:ext uri="{FF2B5EF4-FFF2-40B4-BE49-F238E27FC236}">
                <a16:creationId xmlns:a16="http://schemas.microsoft.com/office/drawing/2014/main" id="{2DDD0CC3-5CCC-42E5-A9B4-C6E8428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5679593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23BEB-5DEB-4215-A3AD-0FCA70C9BB6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E2338-3AC6-4B73-AC56-0AABB5BDB59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Task 2(d) • Carbon-aware scheduling">
            <a:extLst xmlns:a="http://schemas.openxmlformats.org/drawingml/2006/main">
              <a:ext uri="{FF2B5EF4-FFF2-40B4-BE49-F238E27FC236}">
                <a16:creationId xmlns:a16="http://schemas.microsoft.com/office/drawing/2014/main" id="{8C8455FF-0AF4-4B5E-A369-046D7694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 • Carbon-aware scheduling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9EAE3A70-658F-4565-9D8B-787F796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43459-8A00-4ED0-B50E-2C1138D2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C7FE6-62B8-4FFF-9364-45F04031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CAF49-023A-4C66-9C94-4AC0A99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4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0F326857-C330-412A-A543-BD338C82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[14]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1D1C6A50-83B1-4C50-B6E8-3B1984C0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597C0651-452C-4471-9403-602240AA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EE8CE-94BE-44A4-80B9-645737BC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15DF42C6-1476-4430-BA39-97AA1C5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CE638-9596-4816-963A-B73AC359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9] Li et al. 2025 revision: water impacts; [1">
            <a:extLst xmlns:a="http://schemas.openxmlformats.org/drawingml/2006/main">
              <a:ext uri="{FF2B5EF4-FFF2-40B4-BE49-F238E27FC236}">
                <a16:creationId xmlns:a16="http://schemas.microsoft.com/office/drawing/2014/main" id="{F566B37A-F075-4D8D-9326-9F4F8FEA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Li et al. 2025 revision: water impacts; [14] Radovanovic et al. 2021: flexible scheduling; [16] NIST: Govern, Map, Measure, Manage</a:t>
            </a:r>
          </a:p>
        </p:txBody>
      </p:sp>
      <p:sp>
        <p:nvSpPr>
          <p:cNvPr id="15" name="24 / 41">
            <a:extLst xmlns:a="http://schemas.openxmlformats.org/drawingml/2006/main">
              <a:ext uri="{FF2B5EF4-FFF2-40B4-BE49-F238E27FC236}">
                <a16:creationId xmlns:a16="http://schemas.microsoft.com/office/drawing/2014/main" id="{1381ACF7-E742-4054-A860-4C113BF6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17821067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asks 1 and 2 • Conclusions and limitations">
            <a:extLst xmlns:a="http://schemas.openxmlformats.org/drawingml/2006/main">
              <a:ext uri="{FF2B5EF4-FFF2-40B4-BE49-F238E27FC236}">
                <a16:creationId xmlns:a16="http://schemas.microsoft.com/office/drawing/2014/main" id="{AE7D5AE5-767E-4EDF-A446-61E89D2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Tasks 1 and 2 • Conclusions and limitations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C9F01F79-5442-45E6-8913-981D2B03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F58BFFF0-340A-4AFD-A38B-A6957DE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D56758FC-CA0C-4342-A06E-11A670D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C35DED99-671F-4425-B8D5-FFE773CA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D9A8BD0D-FDF6-448A-ABB0-10063A41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054E209D-4D7A-4194-9168-42EDA29F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91EE5593-1DFF-48FB-B50D-77F9C91F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5A0B9F3F-8462-4BA2-9950-9E78902C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32FC4A87-547D-4092-BD0E-0D2B20E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7051D-8333-4B17-8BC0-8A00A8D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80EAF-5DEA-420D-A07D-2F39197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; [3] NVIDIA GDS">
            <a:extLst xmlns:a="http://schemas.openxmlformats.org/drawingml/2006/main">
              <a:ext uri="{FF2B5EF4-FFF2-40B4-BE49-F238E27FC236}">
                <a16:creationId xmlns:a16="http://schemas.microsoft.com/office/drawing/2014/main" id="{651F1D0F-F6CD-428A-A9CE-07AEC096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Practices; [3] NVIDIA GDS overview; [4] NVIDIA GDS design; [10] Schwartz et al. 2019: efficiency reporting; [14] Radovanovic et al. 2021: flexible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scheduling; [16] NIST: Govern, Map, Measure, Manage</a:t>
            </a:r>
          </a:p>
        </p:txBody>
      </p:sp>
      <p:sp>
        <p:nvSpPr>
          <p:cNvPr id="14" name="25 / 41">
            <a:extLst xmlns:a="http://schemas.openxmlformats.org/drawingml/2006/main">
              <a:ext uri="{FF2B5EF4-FFF2-40B4-BE49-F238E27FC236}">
                <a16:creationId xmlns:a16="http://schemas.microsoft.com/office/drawing/2014/main" id="{37AD73E6-7AAB-44AD-A0DB-E5B2B1A7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6903904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8DBFBC9C-A62D-4B29-96F7-FF795BD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Optional supporting material">
            <a:extLst xmlns:a="http://schemas.openxmlformats.org/drawingml/2006/main">
              <a:ext uri="{FF2B5EF4-FFF2-40B4-BE49-F238E27FC236}">
                <a16:creationId xmlns:a16="http://schemas.microsoft.com/office/drawing/2014/main" id="{1070829A-B7B3-4760-8E4D-44C4D754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supporting material</a:t>
            </a:r>
          </a:p>
        </p:txBody>
      </p:sp>
      <p:sp>
        <p:nvSpPr>
          <p:cNvPr id="3" name="Task 1: implementation expansions">
            <a:extLst xmlns:a="http://schemas.openxmlformats.org/drawingml/2006/main">
              <a:ext uri="{FF2B5EF4-FFF2-40B4-BE49-F238E27FC236}">
                <a16:creationId xmlns:a16="http://schemas.microsoft.com/office/drawing/2014/main" id="{B5AA6FCA-53E8-4D52-ACD0-29D8DC40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implementation expansions</a:t>
            </a:r>
          </a:p>
        </p:txBody>
      </p:sp>
      <p:sp>
        <p:nvSpPr>
          <p:cNvPr id="4" name="The Task 1 answers already contain the rotation formula">
            <a:extLst xmlns:a="http://schemas.openxmlformats.org/drawingml/2006/main">
              <a:ext uri="{FF2B5EF4-FFF2-40B4-BE49-F238E27FC236}">
                <a16:creationId xmlns:a16="http://schemas.microsoft.com/office/drawing/2014/main" id="{9F51FE14-FE16-4324-8BA5-FECA3AD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1 answers already contain the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formula, worked calculation, kernel, host launch,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launch-shape comparison and stream/overlap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example.</a:t>
            </a:r>
          </a:p>
        </p:txBody>
      </p:sp>
      <p:sp>
        <p:nvSpPr>
          <p:cNvPr id="5" name="The following slides expand coordinate conventions and ">
            <a:extLst xmlns:a="http://schemas.openxmlformats.org/drawingml/2006/main">
              <a:ext uri="{FF2B5EF4-FFF2-40B4-BE49-F238E27FC236}">
                <a16:creationId xmlns:a16="http://schemas.microsoft.com/office/drawing/2014/main" id="{C01AD2E9-ECFE-4DE6-96C2-9B622F0B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following slides expand coordinate conventions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complete source examples, then give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optional profiling plan and GDS background.</a:t>
            </a:r>
          </a:p>
        </p:txBody>
      </p:sp>
      <p:sp>
        <p:nvSpPr>
          <p:cNvPr id="6" name="Task 2: supplementary comparisons">
            <a:extLst xmlns:a="http://schemas.openxmlformats.org/drawingml/2006/main">
              <a:ext uri="{FF2B5EF4-FFF2-40B4-BE49-F238E27FC236}">
                <a16:creationId xmlns:a16="http://schemas.microsoft.com/office/drawing/2014/main" id="{AE0B274D-6957-478F-BA93-137C716F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supplementary comparisons</a:t>
            </a:r>
          </a:p>
        </p:txBody>
      </p:sp>
      <p:sp>
        <p:nvSpPr>
          <p:cNvPr id="7" name="The Task 2 answers already contain energy/carbon calcul">
            <a:extLst xmlns:a="http://schemas.openxmlformats.org/drawingml/2006/main">
              <a:ext uri="{FF2B5EF4-FFF2-40B4-BE49-F238E27FC236}">
                <a16:creationId xmlns:a16="http://schemas.microsoft.com/office/drawing/2014/main" id="{4904DACD-6635-47A3-A4D7-79B4AD64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Task 2 answers already contain energy/carbon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calculations, research comparisons, governance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fairness decisions, access policy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accountable scheduling.</a:t>
            </a:r>
          </a:p>
        </p:txBody>
      </p:sp>
      <p:sp>
        <p:nvSpPr>
          <p:cNvPr id="8" name="Additional parallelism and cross-topic comparison table">
            <a:extLst xmlns:a="http://schemas.openxmlformats.org/drawingml/2006/main">
              <a:ext uri="{FF2B5EF4-FFF2-40B4-BE49-F238E27FC236}">
                <a16:creationId xmlns:a16="http://schemas.microsoft.com/office/drawing/2014/main" id="{F1C2C760-F4F0-408C-80DD-5BDDA016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Additional parallelism and cross-topic comparison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tables follow. Website references and one brief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AI-use declaration complete the deck.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9DD68-E209-4E4E-8ACA-E60810A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5DF4F-56B3-4316-9500-330346EE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5CEA88F-F28B-45B4-80C8-783AE062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26 / 41">
            <a:extLst xmlns:a="http://schemas.openxmlformats.org/drawingml/2006/main">
              <a:ext uri="{FF2B5EF4-FFF2-40B4-BE49-F238E27FC236}">
                <a16:creationId xmlns:a16="http://schemas.microsoft.com/office/drawing/2014/main" id="{CBC3E3D9-DC70-487D-B740-60BA2E3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2051882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684B943F-EA8A-464A-910D-227E9106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7B406F90-0A94-4C76-86C1-1CF6357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3D088731-CF17-4ED9-9281-EA3508BB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50D58567-5685-4EF8-9B98-E9602F6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ABCD6A54-1DD5-4B9C-8669-C4DBE9F2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CE1AC330-ECC7-41F5-A97F-7F391A80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F97B022F-C1F8-492F-837F-541A8861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D8A44BD4-43DA-4ACF-88A2-89A88B8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1F6E59EB-9CE5-42A9-B28D-2CE63DD2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F6F1103A-1F54-40C5-BDD1-85F5672C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94418-0483-4EEE-9B46-FE1C2686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BEB7F-3DB2-49A6-A0F8-CF030150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7] NVIDIA NPP: library alternative">
            <a:extLst xmlns:a="http://schemas.openxmlformats.org/drawingml/2006/main">
              <a:ext uri="{FF2B5EF4-FFF2-40B4-BE49-F238E27FC236}">
                <a16:creationId xmlns:a16="http://schemas.microsoft.com/office/drawing/2014/main" id="{EC317F46-EA54-493D-8BD0-FF5D61E3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[17] NVIDIA NPP: library alternative</a:t>
            </a:r>
          </a:p>
        </p:txBody>
      </p:sp>
      <p:sp>
        <p:nvSpPr>
          <p:cNvPr id="14" name="27 / 41">
            <a:extLst xmlns:a="http://schemas.openxmlformats.org/drawingml/2006/main">
              <a:ext uri="{FF2B5EF4-FFF2-40B4-BE49-F238E27FC236}">
                <a16:creationId xmlns:a16="http://schemas.microsoft.com/office/drawing/2014/main" id="{798C052A-FB15-4652-BCB9-BBDE5F9D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1468427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2">
            <a:extLst xmlns:a="http://schemas.openxmlformats.org/drawingml/2006/main">
              <a:ext uri="{FF2B5EF4-FFF2-40B4-BE49-F238E27FC236}">
                <a16:creationId xmlns:a16="http://schemas.microsoft.com/office/drawing/2014/main" id="{A4EF8030-3BE1-416F-9931-6989FDBF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F9A012EE-7216-4C63-A0BF-78B59800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94AD7-2FA5-48FD-B6A5-91F3CF50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56BE94D8-2D7E-444E-AA8A-FF48FD49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4FFE5671-FD12-4C76-A786-7DBF7CAF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32F97FC9-5CBC-4828-9B00-87AF952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B8D0445B-3FA4-4D63-8584-CA02FE7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A4F2F2A9-CAD4-4C35-8CCF-079E2DE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3D4C6-F630-439C-B243-3A0F3B85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877725D2-0E57-4312-93E4-304BD9EF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8 / 41">
            <a:extLst xmlns:a="http://schemas.openxmlformats.org/drawingml/2006/main">
              <a:ext uri="{FF2B5EF4-FFF2-40B4-BE49-F238E27FC236}">
                <a16:creationId xmlns:a16="http://schemas.microsoft.com/office/drawing/2014/main" id="{A4DC27F3-38A2-49DB-A7A2-B3287E1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13449742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212CB37A-92F8-4C0D-B28A-29D7186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1219662E-781B-4680-9617-E164C093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1D7DE-9889-4781-B1F8-4B193605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DC69D2F6-C210-4969-940D-19499352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E04DD3D2-C5D1-49A2-8AFC-7644D48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F9FD2641-4C60-428E-A2FF-D988E069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A48929BE-8FA3-4095-98A1-B01496E4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0D21065A-723D-4B77-AA4D-CA16DEDE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DF14D-8447-4239-9411-77D2BF1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7362446C-5192-4621-B0DF-78554FAC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29 / 41">
            <a:extLst xmlns:a="http://schemas.openxmlformats.org/drawingml/2006/main">
              <a:ext uri="{FF2B5EF4-FFF2-40B4-BE49-F238E27FC236}">
                <a16:creationId xmlns:a16="http://schemas.microsoft.com/office/drawing/2014/main" id="{A3DF620E-BD3E-462F-9A0E-9E290745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16938138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386C5822-B3C0-401F-A09E-A93162A5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15C9212F-8D6C-4387-8162-054F40A5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63191-133B-441A-AEC3-D2D83F65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A26998F2-5192-47AA-BF34-F62DEE5E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3CAA1760-3DC7-416F-95A0-0EE133F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0E531B58-9ED4-44A7-9CDE-4132FBC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E86DBEE9-41BE-4FC0-9B20-D88F377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DE78CD38-1A5E-4083-BC86-EB46E2B7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B3E06-72FF-4DE0-A057-CE53414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NVIDIA CUDA programming model">
            <a:extLst xmlns:a="http://schemas.openxmlformats.org/drawingml/2006/main">
              <a:ext uri="{FF2B5EF4-FFF2-40B4-BE49-F238E27FC236}">
                <a16:creationId xmlns:a16="http://schemas.microsoft.com/office/drawing/2014/main" id="{255A34B7-4FB7-4888-9AF9-E208E6C6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NVIDIA CUDA programming model</a:t>
            </a:r>
          </a:p>
        </p:txBody>
      </p:sp>
      <p:sp>
        <p:nvSpPr>
          <p:cNvPr id="11" name="30 / 41">
            <a:extLst xmlns:a="http://schemas.openxmlformats.org/drawingml/2006/main">
              <a:ext uri="{FF2B5EF4-FFF2-40B4-BE49-F238E27FC236}">
                <a16:creationId xmlns:a16="http://schemas.microsoft.com/office/drawing/2014/main" id="{921D7831-9E25-4DC2-8B08-F4C9B60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993774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5F134A99-5DA2-4E5D-A020-3D7FF8B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AEA8CE3E-E376-49C3-85D8-27F664CE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3C602-FD06-4F97-A743-381323C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23E359AF-3D2C-4C4F-A17D-D2F0E6F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9BBEDD14-EFBD-4462-894F-63DCE18B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the host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orchestration answer.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21A772F2-1186-4546-A8C4-BF7FD9D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49118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4CFCFC0D-74CB-485E-940C-51B5B974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71150BB1-6ECA-4CCF-8C47-3D45E99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0FE37-F7F2-4D5D-BAAB-74FF3BCA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03B5C5C2-2789-48AE-B6A6-FF70DF45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1" name="31 / 41">
            <a:extLst xmlns:a="http://schemas.openxmlformats.org/drawingml/2006/main">
              <a:ext uri="{FF2B5EF4-FFF2-40B4-BE49-F238E27FC236}">
                <a16:creationId xmlns:a16="http://schemas.microsoft.com/office/drawing/2014/main" id="{C015AC6E-7887-4E6F-912A-1881F9B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5568215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6">
            <a:extLst xmlns:a="http://schemas.openxmlformats.org/drawingml/2006/main">
              <a:ext uri="{FF2B5EF4-FFF2-40B4-BE49-F238E27FC236}">
                <a16:creationId xmlns:a16="http://schemas.microsoft.com/office/drawing/2014/main" id="{EFBA118E-F33F-4AF5-88B1-7F249C36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D9A2E8C2-DA41-441C-82FB-ED9A8FE5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2F294E85-958F-4EC0-B6E9-09668A5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79516F1A-B92F-405E-8354-45AB8B8A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2D24A9F3-827F-43E0-B050-C6D3A493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AA688DAD-DC30-4DF4-8FC6-D5E9407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02388EFC-4CFE-4167-906A-54026DEA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654B84E5-3259-4F7E-9B22-ECF3C688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8173CBA1-58F6-46FD-8AAD-1C121C7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ECD9CA46-8241-4093-8720-DD09878F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C8E02-7B21-42A7-B72B-06E3158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7AB3C-82DB-4CF6-B54D-6E293A68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NVIDIA CUDA Best Practices">
            <a:extLst xmlns:a="http://schemas.openxmlformats.org/drawingml/2006/main">
              <a:ext uri="{FF2B5EF4-FFF2-40B4-BE49-F238E27FC236}">
                <a16:creationId xmlns:a16="http://schemas.microsoft.com/office/drawing/2014/main" id="{19629BA3-C68C-40FD-A85B-4AA0C25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NVIDIA CUDA Best Practices</a:t>
            </a:r>
          </a:p>
        </p:txBody>
      </p:sp>
      <p:sp>
        <p:nvSpPr>
          <p:cNvPr id="14" name="32 / 41">
            <a:extLst xmlns:a="http://schemas.openxmlformats.org/drawingml/2006/main">
              <a:ext uri="{FF2B5EF4-FFF2-40B4-BE49-F238E27FC236}">
                <a16:creationId xmlns:a16="http://schemas.microsoft.com/office/drawing/2014/main" id="{85F88084-3657-457F-9D68-EE0925F9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1073819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7">
            <a:extLst xmlns:a="http://schemas.openxmlformats.org/drawingml/2006/main">
              <a:ext uri="{FF2B5EF4-FFF2-40B4-BE49-F238E27FC236}">
                <a16:creationId xmlns:a16="http://schemas.microsoft.com/office/drawing/2014/main" id="{7104E490-D722-48CA-823C-5F8A1C0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45277DBA-4E4D-40E7-848F-66E4057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C0976E44-B63F-4842-BAB6-97074BF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A834010E-2151-4EE0-844F-8B9F3A09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89724330-F050-4ED4-9926-8143AAC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D029F641-9DFC-432F-84C3-F44874C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5A11D3B1-B4DF-4591-80CB-40DD52BE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3EC27382-5DB3-44C7-A557-008BE54C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ABB65042-E9B2-4AF4-94EB-189DCD5F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84084287-F101-4373-ABF9-AD50EA8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59B49-1D62-47E5-A684-E0EEF900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DF07C-2A47-405C-AB80-9DEBD6B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3] NVIDIA GDS overview; [4] NVIDIA GDS design">
            <a:extLst xmlns:a="http://schemas.openxmlformats.org/drawingml/2006/main">
              <a:ext uri="{FF2B5EF4-FFF2-40B4-BE49-F238E27FC236}">
                <a16:creationId xmlns:a16="http://schemas.microsoft.com/office/drawing/2014/main" id="{8D9B5982-B0F3-429F-8DD2-14DDA95E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NVIDIA GDS overview; [4] NVIDIA GDS design</a:t>
            </a:r>
          </a:p>
        </p:txBody>
      </p:sp>
      <p:sp>
        <p:nvSpPr>
          <p:cNvPr id="14" name="33 / 41">
            <a:extLst xmlns:a="http://schemas.openxmlformats.org/drawingml/2006/main">
              <a:ext uri="{FF2B5EF4-FFF2-40B4-BE49-F238E27FC236}">
                <a16:creationId xmlns:a16="http://schemas.microsoft.com/office/drawing/2014/main" id="{8632F3F4-9181-4CE7-939D-0F7C0DE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10838948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DE634295-BBAD-46E8-810F-1B3C0175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FCD114CE-7320-4F3C-85B7-2BB21AC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DDE4A-1F05-44EC-ADA9-C3F59303262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955927E2-93BD-4082-B1D6-6EBF053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2DF5-84CA-4906-8E83-1F206279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5] NVIDIA Megatron parallelism; [2] NVIDIA CU">
            <a:extLst xmlns:a="http://schemas.openxmlformats.org/drawingml/2006/main">
              <a:ext uri="{FF2B5EF4-FFF2-40B4-BE49-F238E27FC236}">
                <a16:creationId xmlns:a16="http://schemas.microsoft.com/office/drawing/2014/main" id="{13B80C72-923A-4907-8B7F-FC747A72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[5] NVIDIA Megatron parallelism; [2] NVIDIA CUDA Best Practices</a:t>
            </a:r>
          </a:p>
        </p:txBody>
      </p:sp>
      <p:sp>
        <p:nvSpPr>
          <p:cNvPr id="7" name="34 / 41">
            <a:extLst xmlns:a="http://schemas.openxmlformats.org/drawingml/2006/main">
              <a:ext uri="{FF2B5EF4-FFF2-40B4-BE49-F238E27FC236}">
                <a16:creationId xmlns:a16="http://schemas.microsoft.com/office/drawing/2014/main" id="{5C07310A-9A91-4609-9CDD-AC9ACADF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73139233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2">
            <a:extLst xmlns:a="http://schemas.openxmlformats.org/drawingml/2006/main">
              <a:ext uri="{FF2B5EF4-FFF2-40B4-BE49-F238E27FC236}">
                <a16:creationId xmlns:a16="http://schemas.microsoft.com/office/drawing/2014/main" id="{3234F662-16BD-4112-90F1-7E8CED6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39C9FBD2-AA07-4801-BCFB-BB6B8C1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419A2-C80C-474A-87EC-7AC60180F69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[8,10] versus water-footprint research [9]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[11] versus fairness evaluation survey [12]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[13] versus workload cost/equity [8]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[10] versus operational scheduling [14]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6,7] and governance fra">
            <a:extLst xmlns:a="http://schemas.openxmlformats.org/drawingml/2006/main">
              <a:ext uri="{FF2B5EF4-FFF2-40B4-BE49-F238E27FC236}">
                <a16:creationId xmlns:a16="http://schemas.microsoft.com/office/drawing/2014/main" id="{F471D4A6-2E0B-4032-B81D-4DA5AEF7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[6,7] and governance frameworks [15,16]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C9AFE-49AC-4DFE-9B9B-33748F84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8] Strubell et al. 2019: cost and equity; [9]">
            <a:extLst xmlns:a="http://schemas.openxmlformats.org/drawingml/2006/main">
              <a:ext uri="{FF2B5EF4-FFF2-40B4-BE49-F238E27FC236}">
                <a16:creationId xmlns:a16="http://schemas.microsoft.com/office/drawing/2014/main" id="{6B272CD7-6B10-4E06-9532-CE78EEFE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[8] Strubell et al. 2019: cost and equity; [9] Li et al. 2025 revision: water impacts; [10] Schwartz et al. 2019: efficiency reporting; [11] Zhu et al. 2019: exposed gradients; [12]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Gallegos et al. 2024: fairness evaluation; [13] Ahmed and Wahed 2020: compute divide; [14] Radovanovic et al. 2021: flexible scheduling</a:t>
            </a:r>
          </a:p>
        </p:txBody>
      </p:sp>
      <p:sp>
        <p:nvSpPr>
          <p:cNvPr id="7" name="35 / 41">
            <a:extLst xmlns:a="http://schemas.openxmlformats.org/drawingml/2006/main">
              <a:ext uri="{FF2B5EF4-FFF2-40B4-BE49-F238E27FC236}">
                <a16:creationId xmlns:a16="http://schemas.microsoft.com/office/drawing/2014/main" id="{9F26DB29-7F4F-4137-A88C-D991CDBB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143568089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2BFE8C9A-90DA-4F08-87BA-612D34E4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7ED66CE-945C-4730-8A77-3EA3DBF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747F44BA-0C7B-491E-B915-9F168361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NVIDIA, “Programming model,” CUDA Programming Guide, online documentation, accessed Oct. 8, 2026.</a:t>
            </a:r>
          </a:p>
        </p:txBody>
      </p:sp>
      <p:sp>
        <p:nvSpPr>
          <p:cNvPr id="4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F18793FF-E9A0-46DE-9EEB-A24AD7AE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8fe5b9bd2034c88"/>
              </a:rPr>
              <a:t>https://docs.nvidia.com/cuda/cuda-programming-guide/01-introduction/programming-model.html</a:t>
            </a:r>
          </a:p>
        </p:txBody>
      </p:sp>
      <p:sp>
        <p:nvSpPr>
          <p:cNvPr id="5" name="[2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1D220C48-A5CB-474C-8617-EC6B7691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NVIDIA, CUDA C++ Best Practices Guide, online documentation, accessed Oct. 8, 2026.</a:t>
            </a:r>
          </a:p>
        </p:txBody>
      </p:sp>
      <p:sp>
        <p:nvSpPr>
          <p:cNvPr id="6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96ABCFE0-F2A0-46FD-BAAF-4925B1F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8d0ae9c346d4bdf"/>
              </a:rPr>
              <a:t>https://docs.nvidia.com/cuda/cuda-c-best-practices-guide/index.html</a:t>
            </a:r>
          </a:p>
        </p:txBody>
      </p:sp>
      <p:sp>
        <p:nvSpPr>
          <p:cNvPr id="7" name="[3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4398BF47-C852-484F-9120-A03414D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NVIDIA, GPUDirect Storage Overview Guide, online documentation, accessed Oct. 8, 2026.</a:t>
            </a:r>
          </a:p>
        </p:txBody>
      </p:sp>
      <p:sp>
        <p:nvSpPr>
          <p:cNvPr id="8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2C1AD43A-AE2F-47C5-9286-8722AC24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e0acd0da75094318"/>
              </a:rPr>
              <a:t>https://docs.nvidia.com/gpudirect-storage/overview-guide/index.html</a:t>
            </a:r>
          </a:p>
        </p:txBody>
      </p:sp>
      <p:sp>
        <p:nvSpPr>
          <p:cNvPr id="9" name="[4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B0B23F84-0275-4B9A-A4A5-9418BD67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GPUDirect Storage Design Guide, online documentation, accessed Oct. 8, 2026.</a:t>
            </a:r>
          </a:p>
        </p:txBody>
      </p:sp>
      <p:sp>
        <p:nvSpPr>
          <p:cNvPr id="10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5FAF001F-8113-49CD-B8FC-CB50DBD7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aebc7630014451f"/>
              </a:rPr>
              <a:t>https://docs.nvidia.com/gpudirect-storage/design-guide/index.html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D0892-F53F-4C34-9D7F-7B978A89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B21BEAD-C387-44DC-AAE7-DD866E9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41">
            <a:extLst xmlns:a="http://schemas.openxmlformats.org/drawingml/2006/main">
              <a:ext uri="{FF2B5EF4-FFF2-40B4-BE49-F238E27FC236}">
                <a16:creationId xmlns:a16="http://schemas.microsoft.com/office/drawing/2014/main" id="{EDB3901F-A025-4D79-BACB-BA38D86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2512393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086115A8-B4B0-4573-A375-6DCD3C34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2556C55B-D995-4A3F-AD1E-76D66CD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98626A07-8CB1-407C-8603-397A469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“Parallelism strategies guide,” Megatron Core, online documentation, accessed Oct. 8, 2026.</a:t>
            </a:r>
          </a:p>
        </p:txBody>
      </p:sp>
      <p:sp>
        <p:nvSpPr>
          <p:cNvPr id="4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0D4F29C8-939A-447C-B902-C8518353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7304e0442384843"/>
              </a:rPr>
              <a:t>https://docs.nvidia.com/megatron-core/developer-guide/latest/user-guide/parallelism-guide.html</a:t>
            </a:r>
          </a:p>
        </p:txBody>
      </p:sp>
      <p:sp>
        <p:nvSpPr>
          <p:cNvPr id="5" name="[6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97E4C22F-74F7-4C76-8336-F1106177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6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A4AADE97-E600-4699-8260-4649DCE1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b96a70058bf4a61"/>
              </a:rPr>
              <a:t>https://www.iea.org/reports/key-questions-on-energy-and-ai/executive-summary</a:t>
            </a:r>
          </a:p>
        </p:txBody>
      </p:sp>
      <p:sp>
        <p:nvSpPr>
          <p:cNvPr id="7" name="[7] U.S. National Science Foundation, “NAIRR at 2 years">
            <a:extLst xmlns:a="http://schemas.openxmlformats.org/drawingml/2006/main">
              <a:ext uri="{FF2B5EF4-FFF2-40B4-BE49-F238E27FC236}">
                <a16:creationId xmlns:a16="http://schemas.microsoft.com/office/drawing/2014/main" id="{993D4BE8-3845-40D3-9317-96D8FA4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8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DB9EB416-6E9C-43C9-A1FB-9CE7C8FF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11c04886e534aba"/>
              </a:rPr>
              <a:t>https://www.nsf.gov/cise/updates/nairr-2-years-advancing-american-artificial-intelligence</a:t>
            </a:r>
          </a:p>
        </p:txBody>
      </p:sp>
      <p:sp>
        <p:nvSpPr>
          <p:cNvPr id="9" name="[8] E. Strubell, A. Ganesh, and A. McCallum, “Energy an">
            <a:extLst xmlns:a="http://schemas.openxmlformats.org/drawingml/2006/main">
              <a:ext uri="{FF2B5EF4-FFF2-40B4-BE49-F238E27FC236}">
                <a16:creationId xmlns:a16="http://schemas.microsoft.com/office/drawing/2014/main" id="{3949D83E-CD79-4BBA-9087-A45850C7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10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91202146-BD46-4A94-9CA0-31DBB68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671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3da7d886cff406b"/>
              </a:rPr>
              <a:t>https://aclanthology.org/P19-1355/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8D04F-C979-4852-BC3B-30565C0F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A8FA4DF-4478-4B2B-A006-10F0A940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41">
            <a:extLst xmlns:a="http://schemas.openxmlformats.org/drawingml/2006/main">
              <a:ext uri="{FF2B5EF4-FFF2-40B4-BE49-F238E27FC236}">
                <a16:creationId xmlns:a16="http://schemas.microsoft.com/office/drawing/2014/main" id="{E1114C1F-179E-439B-BB17-8E252B79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9220717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AED17D1D-6571-437F-B0FD-91BD272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D09C255-5BE7-475D-872E-915615A5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P. Li, J. Yang, M. A. Islam, and S. Ren, “Making AI">
            <a:extLst xmlns:a="http://schemas.openxmlformats.org/drawingml/2006/main">
              <a:ext uri="{FF2B5EF4-FFF2-40B4-BE49-F238E27FC236}">
                <a16:creationId xmlns:a16="http://schemas.microsoft.com/office/drawing/2014/main" id="{65A8B205-F078-4ADA-BF40-997B244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4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0D01D2DA-0FEE-43CF-9011-5F789382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e520f58e19443da"/>
              </a:rPr>
              <a:t>https://arxiv.org/abs/2304.03271v5</a:t>
            </a:r>
          </a:p>
        </p:txBody>
      </p:sp>
      <p:sp>
        <p:nvSpPr>
          <p:cNvPr id="5" name="[10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934FBA6E-131B-4BCF-83EE-BD400D2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R. Schwartz, J. Dodge, N. A. Smith, and O. Etzioni, “Green AI,” arXiv:1907.10597, 2019.</a:t>
            </a:r>
          </a:p>
        </p:txBody>
      </p:sp>
      <p:sp>
        <p:nvSpPr>
          <p:cNvPr id="6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3105196A-9C64-4CAC-8040-7AE229A7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76b69d2b186476d"/>
              </a:rPr>
              <a:t>https://arxiv.org/abs/1907.10597</a:t>
            </a:r>
          </a:p>
        </p:txBody>
      </p:sp>
      <p:sp>
        <p:nvSpPr>
          <p:cNvPr id="7" name="[11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C0FE08CE-4E32-4046-95E1-83E4DB8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L. Zhu, Z. Liu, and S. Han, “Deep leakage from gradients,” arXiv:1906.08935v2, 2019.</a:t>
            </a:r>
          </a:p>
        </p:txBody>
      </p:sp>
      <p:sp>
        <p:nvSpPr>
          <p:cNvPr id="8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042BC23A-2029-4D1C-BD36-6585C95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208f3df9c714074"/>
              </a:rPr>
              <a:t>https://arxiv.org/abs/1906.08935v2</a:t>
            </a:r>
          </a:p>
        </p:txBody>
      </p:sp>
      <p:sp>
        <p:nvSpPr>
          <p:cNvPr id="9" name="[12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16019CCA-451E-4DF0-AD25-29157A2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10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E33563BB-8CD9-4AA1-B4DA-645816C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4f955c9dd894903"/>
              </a:rPr>
              <a:t>https://aclanthology.org/2024.cl-3.8/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FB3D4-7F56-4809-A5BC-EED8F86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E8BCE27-AA7F-4D87-BE02-4A0E0FF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41">
            <a:extLst xmlns:a="http://schemas.openxmlformats.org/drawingml/2006/main">
              <a:ext uri="{FF2B5EF4-FFF2-40B4-BE49-F238E27FC236}">
                <a16:creationId xmlns:a16="http://schemas.microsoft.com/office/drawing/2014/main" id="{DEABA1ED-2993-47AD-BF93-0A79E7D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88954626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0EABBF57-8787-4B84-878E-B1DAD88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4824EF2A-4E00-42D9-B321-129D286C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1F1ACC9B-BCF9-4DD9-80EE-EE2FBA66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4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2A4034F5-BFEC-49D2-A7F0-0213049E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5c353cdd7a94ccc"/>
              </a:rPr>
              <a:t>https://arxiv.org/abs/2010.15581v1</a:t>
            </a:r>
          </a:p>
        </p:txBody>
      </p:sp>
      <p:sp>
        <p:nvSpPr>
          <p:cNvPr id="5" name="[14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332FA450-163D-4455-A74F-0D5D2220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A. Radovanovic et al., “Carbon-aware computing for datacenters,” arXiv:2106.11750v1, 2021.</a:t>
            </a:r>
          </a:p>
        </p:txBody>
      </p:sp>
      <p:sp>
        <p:nvSpPr>
          <p:cNvPr id="6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781C5F6F-6352-4041-A69D-255B541A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8f406c72cb343d0"/>
              </a:rPr>
              <a:t>https://arxiv.org/abs/2106.11750v1</a:t>
            </a:r>
          </a:p>
        </p:txBody>
      </p:sp>
      <p:sp>
        <p:nvSpPr>
          <p:cNvPr id="7" name="[15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05CA00E3-C062-4458-8853-6F1B41A9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OECD, “OECD AI Principles,” adopted 2019, updated 2024, accessed Oct. 8, 2026.</a:t>
            </a:r>
          </a:p>
        </p:txBody>
      </p:sp>
      <p:sp>
        <p:nvSpPr>
          <p:cNvPr id="8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F75A9C1-B60E-42BC-A0DA-F1B32093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2eca829c399444ac"/>
              </a:rPr>
              <a:t>https://www.oecd.org/en/topics/ai-principles.html</a:t>
            </a:r>
          </a:p>
        </p:txBody>
      </p:sp>
      <p:sp>
        <p:nvSpPr>
          <p:cNvPr id="9" name="[16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8092295F-5C47-4632-93E0-F5F99378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NIST, AI Risk Management Framework 1.0 Playbook, framework 2023, current online resource, accessed Oct. 8, 2026.</a:t>
            </a:r>
          </a:p>
        </p:txBody>
      </p:sp>
      <p:sp>
        <p:nvSpPr>
          <p:cNvPr id="10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82B154D9-2860-49EF-8B9B-D6801C6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3da73dfa3cd4a52"/>
              </a:rPr>
              <a:t>https://airc.nist.gov/airmf-resources/playbook/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7B2C3-C3BD-42EF-AC3F-FA712790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0C3960C-DCC9-41CF-B385-A5557E8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41">
            <a:extLst xmlns:a="http://schemas.openxmlformats.org/drawingml/2006/main">
              <a:ext uri="{FF2B5EF4-FFF2-40B4-BE49-F238E27FC236}">
                <a16:creationId xmlns:a16="http://schemas.microsoft.com/office/drawing/2014/main" id="{E8F2A927-FA92-4CD3-BE94-587C7DBE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36111236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E86C2A9C-8C85-4D35-AEBC-E9BD465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57EBDC0A-1B26-449D-8576-1B9DFEDA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A4DCC7C4-0CD5-441F-B4D9-79A40B8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NVIDIA, “Rotate,” NPP Image Geometry Transforms, CUDA 13.0.3 archive documentation, accessed Oct. 8, 2026.</a:t>
            </a:r>
          </a:p>
        </p:txBody>
      </p:sp>
      <p:sp>
        <p:nvSpPr>
          <p:cNvPr id="4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7854E0A9-D54C-4734-9D6B-E77697A6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adcc9642c5b4256"/>
              </a:rPr>
              <a:t>https://docs.nvidia.com/cuda/archive/13.0.3/npp/image_geometry_transforms.html#rotate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F90D7-239C-4B7B-9230-B6C6DAF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47F49EE-1F50-4057-9635-505E46D0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7" name="40 / 41">
            <a:extLst xmlns:a="http://schemas.openxmlformats.org/drawingml/2006/main">
              <a:ext uri="{FF2B5EF4-FFF2-40B4-BE49-F238E27FC236}">
                <a16:creationId xmlns:a16="http://schemas.microsoft.com/office/drawing/2014/main" id="{4B7F7D78-6CEC-4BFC-9B09-2EB6B05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19479533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0C0165F5-3D81-4806-8855-2643838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use declaration">
            <a:extLst xmlns:a="http://schemas.openxmlformats.org/drawingml/2006/main">
              <a:ext uri="{FF2B5EF4-FFF2-40B4-BE49-F238E27FC236}">
                <a16:creationId xmlns:a16="http://schemas.microsoft.com/office/drawing/2014/main" id="{8260C165-EBA5-47F0-8717-5DDA089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use declaration</a:t>
            </a:r>
          </a:p>
        </p:txBody>
      </p:sp>
      <p:sp>
        <p:nvSpPr>
          <p:cNvPr id="3" name="AI model and tool">
            <a:extLst xmlns:a="http://schemas.openxmlformats.org/drawingml/2006/main">
              <a:ext uri="{FF2B5EF4-FFF2-40B4-BE49-F238E27FC236}">
                <a16:creationId xmlns:a16="http://schemas.microsoft.com/office/drawing/2014/main" id="{3D243757-7924-4F5A-B467-5DE9C3DC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AI model and tool</a:t>
            </a:r>
          </a:p>
        </p:txBody>
      </p:sp>
      <p:sp>
        <p:nvSpPr>
          <p:cNvPr id="4" name="OpenAI GPT-6, accessed through Codex.">
            <a:extLst xmlns:a="http://schemas.openxmlformats.org/drawingml/2006/main">
              <a:ext uri="{FF2B5EF4-FFF2-40B4-BE49-F238E27FC236}">
                <a16:creationId xmlns:a16="http://schemas.microsoft.com/office/drawing/2014/main" id="{3C4345BD-7088-4099-A47B-92EA71A3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GPT-6, accessed through Codex.</a:t>
            </a:r>
          </a:p>
        </p:txBody>
      </p:sp>
      <p:sp>
        <p:nvSpPr>
          <p:cNvPr id="5" name="How AI was used">
            <a:extLst xmlns:a="http://schemas.openxmlformats.org/drawingml/2006/main">
              <a:ext uri="{FF2B5EF4-FFF2-40B4-BE49-F238E27FC236}">
                <a16:creationId xmlns:a16="http://schemas.microsoft.com/office/drawing/2014/main" id="{E568826B-72CB-4890-AC2E-B92AC388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How AI was used</a:t>
            </a:r>
          </a:p>
        </p:txBody>
      </p:sp>
      <p:sp>
        <p:nvSpPr>
          <p:cNvPr id="6" name="Research and source checks; drafting and revision of ex">
            <a:extLst xmlns:a="http://schemas.openxmlformats.org/drawingml/2006/main">
              <a:ext uri="{FF2B5EF4-FFF2-40B4-BE49-F238E27FC236}">
                <a16:creationId xmlns:a16="http://schemas.microsoft.com/office/drawing/2014/main" id="{9F3D9C58-058A-47E1-9E7C-56ADBD51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and source checks; drafting and revision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 explanations and CUDA teaching examples;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creation of diagrams and charts; presentation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formatting and assembly.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0D4DE-A331-4431-83FF-2C09546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E7582-9C9F-4E5E-A8F8-3A7EC889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9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EE60CB2-EC93-4D7D-8D63-F29FEB06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0" name="41 / 41">
            <a:extLst xmlns:a="http://schemas.openxmlformats.org/drawingml/2006/main">
              <a:ext uri="{FF2B5EF4-FFF2-40B4-BE49-F238E27FC236}">
                <a16:creationId xmlns:a16="http://schemas.microsoft.com/office/drawing/2014/main" id="{25D3CAC8-AEA3-49E7-A3B5-718D936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1830242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2026-10-08T12:56:05.8760000Z</dcterms:created>
  <dcterms:modified xsi:type="dcterms:W3CDTF">2026-10-08T12:56:05.8760000Z</dcterms:modified>
</coreProperties>
</file>