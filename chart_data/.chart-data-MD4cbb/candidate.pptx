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4a399fd1974388" /><Relationship Type="http://schemas.openxmlformats.org/officeDocument/2006/relationships/extended-properties" Target="/docProps/app.xml" Id="R63bee306ea4b41b3" /><Relationship Type="http://schemas.openxmlformats.org/officeDocument/2006/relationships/officeDocument" Target="/ppt/presentation.xml" Id="Rdb33b899d6844a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a19745d37d47bd"/>
  </p:sldMasterIdLst>
  <p:notesMasterIdLst>
    <p:notesMasterId xmlns:r="http://schemas.openxmlformats.org/officeDocument/2006/relationships" r:id="R311a967424694b3d"/>
  </p:notesMasterIdLst>
  <p:sldIdLst>
    <p:sldId xmlns:r="http://schemas.openxmlformats.org/officeDocument/2006/relationships" id="256" r:id="R2042d912e1ba44a3"/>
    <p:sldId xmlns:r="http://schemas.openxmlformats.org/officeDocument/2006/relationships" id="257" r:id="Ra5dc090bcf854786"/>
    <p:sldId xmlns:r="http://schemas.openxmlformats.org/officeDocument/2006/relationships" id="258" r:id="Re2c735920a244b85"/>
    <p:sldId xmlns:r="http://schemas.openxmlformats.org/officeDocument/2006/relationships" id="259" r:id="R04b8f4ba79d4499e"/>
    <p:sldId xmlns:r="http://schemas.openxmlformats.org/officeDocument/2006/relationships" id="260" r:id="R7e22e0ae52424274"/>
    <p:sldId xmlns:r="http://schemas.openxmlformats.org/officeDocument/2006/relationships" id="261" r:id="Rfaaf257ecf84409b"/>
    <p:sldId xmlns:r="http://schemas.openxmlformats.org/officeDocument/2006/relationships" id="262" r:id="Rcb4d1e99c8d9462b"/>
    <p:sldId xmlns:r="http://schemas.openxmlformats.org/officeDocument/2006/relationships" id="263" r:id="Rb31d6bd4f54f4544"/>
    <p:sldId xmlns:r="http://schemas.openxmlformats.org/officeDocument/2006/relationships" id="264" r:id="R289a66e9402149f5"/>
    <p:sldId xmlns:r="http://schemas.openxmlformats.org/officeDocument/2006/relationships" id="265" r:id="R24f8f7bbe00c442d"/>
    <p:sldId xmlns:r="http://schemas.openxmlformats.org/officeDocument/2006/relationships" id="266" r:id="R190e92fbd09f431a"/>
    <p:sldId xmlns:r="http://schemas.openxmlformats.org/officeDocument/2006/relationships" id="267" r:id="R48edec467b164a6b"/>
    <p:sldId xmlns:r="http://schemas.openxmlformats.org/officeDocument/2006/relationships" id="268" r:id="R52944e3b8032457e"/>
    <p:sldId xmlns:r="http://schemas.openxmlformats.org/officeDocument/2006/relationships" id="269" r:id="R003d71dde19d4160"/>
    <p:sldId xmlns:r="http://schemas.openxmlformats.org/officeDocument/2006/relationships" id="270" r:id="Rf29e2abaf2594256"/>
    <p:sldId xmlns:r="http://schemas.openxmlformats.org/officeDocument/2006/relationships" id="271" r:id="R94cd52e1402c4af5"/>
    <p:sldId xmlns:r="http://schemas.openxmlformats.org/officeDocument/2006/relationships" id="272" r:id="Rb6588127185f43d2"/>
    <p:sldId xmlns:r="http://schemas.openxmlformats.org/officeDocument/2006/relationships" id="273" r:id="Rdc6c933a80d64525"/>
    <p:sldId xmlns:r="http://schemas.openxmlformats.org/officeDocument/2006/relationships" id="274" r:id="Rbfee5499cf6944e3"/>
    <p:sldId xmlns:r="http://schemas.openxmlformats.org/officeDocument/2006/relationships" id="275" r:id="R2adc6a342a11430e"/>
    <p:sldId xmlns:r="http://schemas.openxmlformats.org/officeDocument/2006/relationships" id="276" r:id="R4b735d85e3d1401a"/>
    <p:sldId xmlns:r="http://schemas.openxmlformats.org/officeDocument/2006/relationships" id="277" r:id="R90736aa79e9a4e10"/>
    <p:sldId xmlns:r="http://schemas.openxmlformats.org/officeDocument/2006/relationships" id="278" r:id="R784021ce625d4acf"/>
    <p:sldId xmlns:r="http://schemas.openxmlformats.org/officeDocument/2006/relationships" id="279" r:id="R9d392baf1b2544f3"/>
    <p:sldId xmlns:r="http://schemas.openxmlformats.org/officeDocument/2006/relationships" id="280" r:id="R1542313f612240e1"/>
    <p:sldId xmlns:r="http://schemas.openxmlformats.org/officeDocument/2006/relationships" id="281" r:id="R06d9d4a1569d48e9"/>
    <p:sldId xmlns:r="http://schemas.openxmlformats.org/officeDocument/2006/relationships" id="282" r:id="Re12fa596363c43af"/>
    <p:sldId xmlns:r="http://schemas.openxmlformats.org/officeDocument/2006/relationships" id="283" r:id="R7db81f57ae58407a"/>
    <p:sldId xmlns:r="http://schemas.openxmlformats.org/officeDocument/2006/relationships" id="284" r:id="R4d5628e3022a4472"/>
    <p:sldId xmlns:r="http://schemas.openxmlformats.org/officeDocument/2006/relationships" id="285" r:id="Rb84ef067c8324179"/>
    <p:sldId xmlns:r="http://schemas.openxmlformats.org/officeDocument/2006/relationships" id="286" r:id="Rceb8862afee645ea"/>
    <p:sldId xmlns:r="http://schemas.openxmlformats.org/officeDocument/2006/relationships" id="287" r:id="R1db2652d23ae485e"/>
    <p:sldId xmlns:r="http://schemas.openxmlformats.org/officeDocument/2006/relationships" id="288" r:id="Re90133c2c3c94363"/>
    <p:sldId xmlns:r="http://schemas.openxmlformats.org/officeDocument/2006/relationships" id="289" r:id="R44e93968118b405f"/>
    <p:sldId xmlns:r="http://schemas.openxmlformats.org/officeDocument/2006/relationships" id="290" r:id="R46a5894e31b54b7c"/>
    <p:sldId xmlns:r="http://schemas.openxmlformats.org/officeDocument/2006/relationships" id="291" r:id="R8d24afd47c784b5e"/>
    <p:sldId xmlns:r="http://schemas.openxmlformats.org/officeDocument/2006/relationships" id="292" r:id="R651af673f1d6462a"/>
    <p:sldId xmlns:r="http://schemas.openxmlformats.org/officeDocument/2006/relationships" id="293" r:id="R8038210361c546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e5fee3a02d4c15" /><Relationship Type="http://schemas.openxmlformats.org/officeDocument/2006/relationships/slideMaster" Target="/ppt/slideMasters/slideMaster1.xml" Id="R7fa19745d37d47bd" /><Relationship Type="http://schemas.openxmlformats.org/officeDocument/2006/relationships/notesMaster" Target="/ppt/notesMasters/notesMaster1.xml" Id="R311a967424694b3d" /><Relationship Type="http://schemas.openxmlformats.org/officeDocument/2006/relationships/presProps" Target="/ppt/presProps.xml" Id="Ra1837a4e06eb4454" /><Relationship Type="http://schemas.openxmlformats.org/officeDocument/2006/relationships/tableStyles" Target="/ppt/tableStyles.xml" Id="Rbc3c75ae448a4163" /><Relationship Type="http://schemas.openxmlformats.org/officeDocument/2006/relationships/slide" Target="/ppt/slides/slide1.xml" Id="R2042d912e1ba44a3" /><Relationship Type="http://schemas.openxmlformats.org/officeDocument/2006/relationships/slide" Target="/ppt/slides/slide2.xml" Id="Ra5dc090bcf854786" /><Relationship Type="http://schemas.openxmlformats.org/officeDocument/2006/relationships/slide" Target="/ppt/slides/slide3.xml" Id="Re2c735920a244b85" /><Relationship Type="http://schemas.openxmlformats.org/officeDocument/2006/relationships/slide" Target="/ppt/slides/slide4.xml" Id="R04b8f4ba79d4499e" /><Relationship Type="http://schemas.openxmlformats.org/officeDocument/2006/relationships/slide" Target="/ppt/slides/slide5.xml" Id="R7e22e0ae52424274" /><Relationship Type="http://schemas.openxmlformats.org/officeDocument/2006/relationships/slide" Target="/ppt/slides/slide6.xml" Id="Rfaaf257ecf84409b" /><Relationship Type="http://schemas.openxmlformats.org/officeDocument/2006/relationships/slide" Target="/ppt/slides/slide7.xml" Id="Rcb4d1e99c8d9462b" /><Relationship Type="http://schemas.openxmlformats.org/officeDocument/2006/relationships/slide" Target="/ppt/slides/slide8.xml" Id="Rb31d6bd4f54f4544" /><Relationship Type="http://schemas.openxmlformats.org/officeDocument/2006/relationships/slide" Target="/ppt/slides/slide9.xml" Id="R289a66e9402149f5" /><Relationship Type="http://schemas.openxmlformats.org/officeDocument/2006/relationships/slide" Target="/ppt/slides/slide10.xml" Id="R24f8f7bbe00c442d" /><Relationship Type="http://schemas.openxmlformats.org/officeDocument/2006/relationships/slide" Target="/ppt/slides/slide11.xml" Id="R190e92fbd09f431a" /><Relationship Type="http://schemas.openxmlformats.org/officeDocument/2006/relationships/slide" Target="/ppt/slides/slide12.xml" Id="R48edec467b164a6b" /><Relationship Type="http://schemas.openxmlformats.org/officeDocument/2006/relationships/slide" Target="/ppt/slides/slide13.xml" Id="R52944e3b8032457e" /><Relationship Type="http://schemas.openxmlformats.org/officeDocument/2006/relationships/slide" Target="/ppt/slides/slide14.xml" Id="R003d71dde19d4160" /><Relationship Type="http://schemas.openxmlformats.org/officeDocument/2006/relationships/slide" Target="/ppt/slides/slide15.xml" Id="Rf29e2abaf2594256" /><Relationship Type="http://schemas.openxmlformats.org/officeDocument/2006/relationships/slide" Target="/ppt/slides/slide16.xml" Id="R94cd52e1402c4af5" /><Relationship Type="http://schemas.openxmlformats.org/officeDocument/2006/relationships/slide" Target="/ppt/slides/slide17.xml" Id="Rb6588127185f43d2" /><Relationship Type="http://schemas.openxmlformats.org/officeDocument/2006/relationships/slide" Target="/ppt/slides/slide18.xml" Id="Rdc6c933a80d64525" /><Relationship Type="http://schemas.openxmlformats.org/officeDocument/2006/relationships/slide" Target="/ppt/slides/slide19.xml" Id="Rbfee5499cf6944e3" /><Relationship Type="http://schemas.openxmlformats.org/officeDocument/2006/relationships/slide" Target="/ppt/slides/slide20.xml" Id="R2adc6a342a11430e" /><Relationship Type="http://schemas.openxmlformats.org/officeDocument/2006/relationships/slide" Target="/ppt/slides/slide21.xml" Id="R4b735d85e3d1401a" /><Relationship Type="http://schemas.openxmlformats.org/officeDocument/2006/relationships/slide" Target="/ppt/slides/slide22.xml" Id="R90736aa79e9a4e10" /><Relationship Type="http://schemas.openxmlformats.org/officeDocument/2006/relationships/slide" Target="/ppt/slides/slide23.xml" Id="R784021ce625d4acf" /><Relationship Type="http://schemas.openxmlformats.org/officeDocument/2006/relationships/slide" Target="/ppt/slides/slide24.xml" Id="R9d392baf1b2544f3" /><Relationship Type="http://schemas.openxmlformats.org/officeDocument/2006/relationships/slide" Target="/ppt/slides/slide25.xml" Id="R1542313f612240e1" /><Relationship Type="http://schemas.openxmlformats.org/officeDocument/2006/relationships/slide" Target="/ppt/slides/slide26.xml" Id="R06d9d4a1569d48e9" /><Relationship Type="http://schemas.openxmlformats.org/officeDocument/2006/relationships/slide" Target="/ppt/slides/slide27.xml" Id="Re12fa596363c43af" /><Relationship Type="http://schemas.openxmlformats.org/officeDocument/2006/relationships/slide" Target="/ppt/slides/slide28.xml" Id="R7db81f57ae58407a" /><Relationship Type="http://schemas.openxmlformats.org/officeDocument/2006/relationships/slide" Target="/ppt/slides/slide29.xml" Id="R4d5628e3022a4472" /><Relationship Type="http://schemas.openxmlformats.org/officeDocument/2006/relationships/slide" Target="/ppt/slides/slide30.xml" Id="Rb84ef067c8324179" /><Relationship Type="http://schemas.openxmlformats.org/officeDocument/2006/relationships/slide" Target="/ppt/slides/slide31.xml" Id="Rceb8862afee645ea" /><Relationship Type="http://schemas.openxmlformats.org/officeDocument/2006/relationships/slide" Target="/ppt/slides/slide32.xml" Id="R1db2652d23ae485e" /><Relationship Type="http://schemas.openxmlformats.org/officeDocument/2006/relationships/slide" Target="/ppt/slides/slide33.xml" Id="Re90133c2c3c94363" /><Relationship Type="http://schemas.openxmlformats.org/officeDocument/2006/relationships/slide" Target="/ppt/slides/slide34.xml" Id="R44e93968118b405f" /><Relationship Type="http://schemas.openxmlformats.org/officeDocument/2006/relationships/slide" Target="/ppt/slides/slide35.xml" Id="R46a5894e31b54b7c" /><Relationship Type="http://schemas.openxmlformats.org/officeDocument/2006/relationships/slide" Target="/ppt/slides/slide36.xml" Id="R8d24afd47c784b5e" /><Relationship Type="http://schemas.openxmlformats.org/officeDocument/2006/relationships/slide" Target="/ppt/slides/slide37.xml" Id="R651af673f1d6462a" /><Relationship Type="http://schemas.openxmlformats.org/officeDocument/2006/relationships/slide" Target="/ppt/slides/slide38.xml" Id="R8038210361c546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d9d0b0c49549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00357974594efd" /><Relationship Type="http://schemas.openxmlformats.org/officeDocument/2006/relationships/notesMaster" Target="/ppt/notesMasters/notesMaster1.xml" Id="Rb345ac9b2f7d47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8d852dc101415c" /><Relationship Type="http://schemas.openxmlformats.org/officeDocument/2006/relationships/notesMaster" Target="/ppt/notesMasters/notesMaster1.xml" Id="R768da02a98134c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a18dccde024387" /><Relationship Type="http://schemas.openxmlformats.org/officeDocument/2006/relationships/notesMaster" Target="/ppt/notesMasters/notesMaster1.xml" Id="R67d30bc7cadf4b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081c57790344ae" /><Relationship Type="http://schemas.openxmlformats.org/officeDocument/2006/relationships/notesMaster" Target="/ppt/notesMasters/notesMaster1.xml" Id="Ra740ab11c87740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a36c70b1e2465b" /><Relationship Type="http://schemas.openxmlformats.org/officeDocument/2006/relationships/notesMaster" Target="/ppt/notesMasters/notesMaster1.xml" Id="R5aaee1b5545d45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d70f40b0a9427c" /><Relationship Type="http://schemas.openxmlformats.org/officeDocument/2006/relationships/notesMaster" Target="/ppt/notesMasters/notesMaster1.xml" Id="R18a4c48148924c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d8f9eefddc4465" /><Relationship Type="http://schemas.openxmlformats.org/officeDocument/2006/relationships/notesMaster" Target="/ppt/notesMasters/notesMaster1.xml" Id="Rfeb145221e364f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8c823e263744b0" /><Relationship Type="http://schemas.openxmlformats.org/officeDocument/2006/relationships/notesMaster" Target="/ppt/notesMasters/notesMaster1.xml" Id="Rdbdb042635db47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22a09c52a94228" /><Relationship Type="http://schemas.openxmlformats.org/officeDocument/2006/relationships/notesMaster" Target="/ppt/notesMasters/notesMaster1.xml" Id="Re1b70f858a9c44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0da31b4a284146" /><Relationship Type="http://schemas.openxmlformats.org/officeDocument/2006/relationships/notesMaster" Target="/ppt/notesMasters/notesMaster1.xml" Id="R76bf83448acc42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7cfed4f78e4e94" /><Relationship Type="http://schemas.openxmlformats.org/officeDocument/2006/relationships/notesMaster" Target="/ppt/notesMasters/notesMaster1.xml" Id="R1448ae14befb4c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22cfcb69984cc3" /><Relationship Type="http://schemas.openxmlformats.org/officeDocument/2006/relationships/notesMaster" Target="/ppt/notesMasters/notesMaster1.xml" Id="R3423b34ab33f4d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f93718897846e0" /><Relationship Type="http://schemas.openxmlformats.org/officeDocument/2006/relationships/notesMaster" Target="/ppt/notesMasters/notesMaster1.xml" Id="R30589b7768c943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0cea1833a343d9" /><Relationship Type="http://schemas.openxmlformats.org/officeDocument/2006/relationships/notesMaster" Target="/ppt/notesMasters/notesMaster1.xml" Id="R610c11f6e67e4e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6aa562a0d34ccb" /><Relationship Type="http://schemas.openxmlformats.org/officeDocument/2006/relationships/notesMaster" Target="/ppt/notesMasters/notesMaster1.xml" Id="R5c9f103dced54b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1a7b7c40324acb" /><Relationship Type="http://schemas.openxmlformats.org/officeDocument/2006/relationships/notesMaster" Target="/ppt/notesMasters/notesMaster1.xml" Id="Rc642472edd114f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8536d279a7744d8" /><Relationship Type="http://schemas.openxmlformats.org/officeDocument/2006/relationships/notesMaster" Target="/ppt/notesMasters/notesMaster1.xml" Id="Rb26e01d5d6534ec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b57a81c70144a7d" /><Relationship Type="http://schemas.openxmlformats.org/officeDocument/2006/relationships/notesMaster" Target="/ppt/notesMasters/notesMaster1.xml" Id="R9e893250717f469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72550840eac475b" /><Relationship Type="http://schemas.openxmlformats.org/officeDocument/2006/relationships/notesMaster" Target="/ppt/notesMasters/notesMaster1.xml" Id="R59b19bb715874d4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307bbaabb92468e" /><Relationship Type="http://schemas.openxmlformats.org/officeDocument/2006/relationships/notesMaster" Target="/ppt/notesMasters/notesMaster1.xml" Id="Rb1bece8680014ef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7cd7167cd024f4d" /><Relationship Type="http://schemas.openxmlformats.org/officeDocument/2006/relationships/notesMaster" Target="/ppt/notesMasters/notesMaster1.xml" Id="R378d4b35ffbf475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e7b6fd051804048" /><Relationship Type="http://schemas.openxmlformats.org/officeDocument/2006/relationships/notesMaster" Target="/ppt/notesMasters/notesMaster1.xml" Id="Rb905d04bcc3842d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8f59d45ede84c76" /><Relationship Type="http://schemas.openxmlformats.org/officeDocument/2006/relationships/notesMaster" Target="/ppt/notesMasters/notesMaster1.xml" Id="R3b951bdfc28d4fa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29d935adcf4438f" /><Relationship Type="http://schemas.openxmlformats.org/officeDocument/2006/relationships/notesMaster" Target="/ppt/notesMasters/notesMaster1.xml" Id="Rac01927d28cb4ce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357ead73183449a" /><Relationship Type="http://schemas.openxmlformats.org/officeDocument/2006/relationships/notesMaster" Target="/ppt/notesMasters/notesMaster1.xml" Id="R08357c9de4c44e9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4b52816a7fe48f0" /><Relationship Type="http://schemas.openxmlformats.org/officeDocument/2006/relationships/notesMaster" Target="/ppt/notesMasters/notesMaster1.xml" Id="Rb243e5b78fb749a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6656a4478b14de5" /><Relationship Type="http://schemas.openxmlformats.org/officeDocument/2006/relationships/notesMaster" Target="/ppt/notesMasters/notesMaster1.xml" Id="R6a3d1d873eab49a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af10e5d36844ef6" /><Relationship Type="http://schemas.openxmlformats.org/officeDocument/2006/relationships/notesMaster" Target="/ppt/notesMasters/notesMaster1.xml" Id="R4371f44d56954dd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93dc32ed4fc4522" /><Relationship Type="http://schemas.openxmlformats.org/officeDocument/2006/relationships/notesMaster" Target="/ppt/notesMasters/notesMaster1.xml" Id="R22e17974f4a6455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424df456ef149aa" /><Relationship Type="http://schemas.openxmlformats.org/officeDocument/2006/relationships/notesMaster" Target="/ppt/notesMasters/notesMaster1.xml" Id="Rb4524c7cb1d548a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ef05a70d3e74465" /><Relationship Type="http://schemas.openxmlformats.org/officeDocument/2006/relationships/notesMaster" Target="/ppt/notesMasters/notesMaster1.xml" Id="R471e9e582718454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c3def3e1c9d4e9f" /><Relationship Type="http://schemas.openxmlformats.org/officeDocument/2006/relationships/notesMaster" Target="/ppt/notesMasters/notesMaster1.xml" Id="R051ceb6028de4a9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3f2390c10d044a3" /><Relationship Type="http://schemas.openxmlformats.org/officeDocument/2006/relationships/notesMaster" Target="/ppt/notesMasters/notesMaster1.xml" Id="R2d0c584cb07a4b4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9c01b62dde04c1f" /><Relationship Type="http://schemas.openxmlformats.org/officeDocument/2006/relationships/notesMaster" Target="/ppt/notesMasters/notesMaster1.xml" Id="R59610a207d58452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3848380bd6b4650" /><Relationship Type="http://schemas.openxmlformats.org/officeDocument/2006/relationships/notesMaster" Target="/ppt/notesMasters/notesMaster1.xml" Id="Re04040951da5435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a7730ed124b43e4" /><Relationship Type="http://schemas.openxmlformats.org/officeDocument/2006/relationships/notesMaster" Target="/ppt/notesMasters/notesMaster1.xml" Id="Rd61c0f5ccc75430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02c2246d7ec49ee" /><Relationship Type="http://schemas.openxmlformats.org/officeDocument/2006/relationships/notesMaster" Target="/ppt/notesMasters/notesMaster1.xml" Id="R8988307573ca4bf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821653c654f47e2" /><Relationship Type="http://schemas.openxmlformats.org/officeDocument/2006/relationships/notesMaster" Target="/ppt/notesMasters/notesMaster1.xml" Id="R6507d9b144e343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16103d92e24e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a2412de7746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00331b13e49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8b6232e574f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03e0d8a8ed4f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9a6127730e4e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7EB101-6823-4F9D-A946-9AB2A69565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57F515-A18D-48C2-9989-20719DF0BA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FB750B2-BCA0-4EAF-A20B-5BA0AC7177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56EB8C-AFBE-4080-95AC-D50D0DE1E9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3C1509B-3D54-40CF-B811-D7E054B97D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734B3A6-26FB-4AAD-A1CA-5A03036BD7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B9DF40-84F2-4C21-B2EA-3222D10ECF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61B336F-653F-4637-B37E-6B549F7793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35917D-D4D6-40C9-97B1-6076BF499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A92A1F-3965-4378-B3B9-C64953555C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5aa6e0e2a54ade" /><Relationship Type="http://schemas.openxmlformats.org/officeDocument/2006/relationships/slideLayout" Target="/ppt/slideLayouts/slideLayout1.xml" Id="R368d189ee3e54a02" /><Relationship Type="http://schemas.openxmlformats.org/officeDocument/2006/relationships/slideLayout" Target="/ppt/slideLayouts/slideLayout2.xml" Id="Re5dc92ab1b634155" /><Relationship Type="http://schemas.openxmlformats.org/officeDocument/2006/relationships/slideLayout" Target="/ppt/slideLayouts/slideLayout3.xml" Id="Rf537021f125b41d5" /><Relationship Type="http://schemas.openxmlformats.org/officeDocument/2006/relationships/slideLayout" Target="/ppt/slideLayouts/slideLayout4.xml" Id="R06d8324efee5480d" /><Relationship Type="http://schemas.openxmlformats.org/officeDocument/2006/relationships/slideLayout" Target="/ppt/slideLayouts/slideLayout5.xml" Id="Rd33b62aba2c74d49" /><Relationship Type="http://schemas.openxmlformats.org/officeDocument/2006/relationships/slideLayout" Target="/ppt/slideLayouts/slideLayout6.xml" Id="Rad5b9ff4b7f946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8d189ee3e54a02"/>
    <p:sldLayoutId xmlns:r="http://schemas.openxmlformats.org/officeDocument/2006/relationships" id="2147483650" r:id="Re5dc92ab1b634155"/>
    <p:sldLayoutId xmlns:r="http://schemas.openxmlformats.org/officeDocument/2006/relationships" id="2147483651" r:id="Rf537021f125b41d5"/>
    <p:sldLayoutId xmlns:r="http://schemas.openxmlformats.org/officeDocument/2006/relationships" id="2147483652" r:id="R06d8324efee5480d"/>
    <p:sldLayoutId xmlns:r="http://schemas.openxmlformats.org/officeDocument/2006/relationships" id="2147483653" r:id="Rd33b62aba2c74d49"/>
    <p:sldLayoutId xmlns:r="http://schemas.openxmlformats.org/officeDocument/2006/relationships" id="2147483654" r:id="Rad5b9ff4b7f946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ee413bd9b341f6" /><Relationship Type="http://schemas.openxmlformats.org/officeDocument/2006/relationships/notesSlide" Target="/ppt/notesSlides/notesSlide1.xml" Id="R6519fccaf1f94b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54e5a4c89c48d1" /><Relationship Type="http://schemas.openxmlformats.org/officeDocument/2006/relationships/notesSlide" Target="/ppt/notesSlides/notesSlide2.xml" Id="Rbf9f8ddf87c046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77bb38a63445ce" /><Relationship Type="http://schemas.openxmlformats.org/officeDocument/2006/relationships/chart" Target="/ppt/slides/charts/chart1.xml" Id="R8f6e4be3e6d94be8" /><Relationship Type="http://schemas.openxmlformats.org/officeDocument/2006/relationships/chart" Target="/ppt/slides/charts/chart2.xml" Id="R2460ea848f6f4061" /><Relationship Type="http://schemas.openxmlformats.org/officeDocument/2006/relationships/notesSlide" Target="/ppt/notesSlides/notesSlide3.xml" Id="R6aba8f9150344b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343e5ee794dc1" /><Relationship Type="http://schemas.openxmlformats.org/officeDocument/2006/relationships/notesSlide" Target="/ppt/notesSlides/notesSlide4.xml" Id="R46640aad733242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ed2378ad88461f" /><Relationship Type="http://schemas.openxmlformats.org/officeDocument/2006/relationships/notesSlide" Target="/ppt/notesSlides/notesSlide5.xml" Id="Rf7388f69b5ee4e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462a6073244c3d" /><Relationship Type="http://schemas.openxmlformats.org/officeDocument/2006/relationships/notesSlide" Target="/ppt/notesSlides/notesSlide6.xml" Id="R838c24d6d2384d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f2a288e55d482e" /><Relationship Type="http://schemas.openxmlformats.org/officeDocument/2006/relationships/notesSlide" Target="/ppt/notesSlides/notesSlide7.xml" Id="R897e951c143f45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06855116b84bbc" /><Relationship Type="http://schemas.openxmlformats.org/officeDocument/2006/relationships/notesSlide" Target="/ppt/notesSlides/notesSlide8.xml" Id="R1046dfda28fa4a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9651d332de4724" /><Relationship Type="http://schemas.openxmlformats.org/officeDocument/2006/relationships/notesSlide" Target="/ppt/notesSlides/notesSlide9.xml" Id="R600f90b9714249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e764a2c4c64b05" /><Relationship Type="http://schemas.openxmlformats.org/officeDocument/2006/relationships/notesSlide" Target="/ppt/notesSlides/notesSlide10.xml" Id="R70c3c1ac6b3d44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5d940eeed64f28" /><Relationship Type="http://schemas.openxmlformats.org/officeDocument/2006/relationships/notesSlide" Target="/ppt/notesSlides/notesSlide11.xml" Id="R896b4234708e40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6e6a86babb457a" /><Relationship Type="http://schemas.openxmlformats.org/officeDocument/2006/relationships/notesSlide" Target="/ppt/notesSlides/notesSlide12.xml" Id="R2c68857c768d42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328d9137aa4265" /><Relationship Type="http://schemas.openxmlformats.org/officeDocument/2006/relationships/notesSlide" Target="/ppt/notesSlides/notesSlide13.xml" Id="R0c5a84c15c9944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4d3556fbd74e80" /><Relationship Type="http://schemas.openxmlformats.org/officeDocument/2006/relationships/notesSlide" Target="/ppt/notesSlides/notesSlide14.xml" Id="R1bc12520b85845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bf98809a784c82" /><Relationship Type="http://schemas.openxmlformats.org/officeDocument/2006/relationships/notesSlide" Target="/ppt/notesSlides/notesSlide15.xml" Id="Re9191b16a7684e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f0934c22e340a5" /><Relationship Type="http://schemas.openxmlformats.org/officeDocument/2006/relationships/notesSlide" Target="/ppt/notesSlides/notesSlide16.xml" Id="Rd330e71131f84f0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69918d5144400f" /><Relationship Type="http://schemas.openxmlformats.org/officeDocument/2006/relationships/notesSlide" Target="/ppt/notesSlides/notesSlide17.xml" Id="R5c6649e97fc9466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cbcdd8e7eb4c28" /><Relationship Type="http://schemas.openxmlformats.org/officeDocument/2006/relationships/hyperlink" Target="https://docs.nvidia.com/cuda/cuda-c-best-practices-guide/index.html" TargetMode="External" Id="Rb9f506fc9b61438b" /><Relationship Type="http://schemas.openxmlformats.org/officeDocument/2006/relationships/hyperlink" Target="https://docs.nvidia.com/gpudirect-storage/overview-guide/index.html" TargetMode="External" Id="Rc08646775cc44f8a" /><Relationship Type="http://schemas.openxmlformats.org/officeDocument/2006/relationships/notesSlide" Target="/ppt/notesSlides/notesSlide18.xml" Id="R5c413483d1534f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938d1e245b4a9a" /><Relationship Type="http://schemas.openxmlformats.org/officeDocument/2006/relationships/hyperlink" Target="https://docs.nvidia.com/gpudirect-storage/design-guide/index.html" TargetMode="External" Id="R60d431c98f774e4d" /><Relationship Type="http://schemas.openxmlformats.org/officeDocument/2006/relationships/hyperlink" Target="https://docs.nvidia.com/megatron-core/developer-guide/latest/user-guide/parallelism-guide.html" TargetMode="External" Id="R92b2edf63ad044f5" /><Relationship Type="http://schemas.openxmlformats.org/officeDocument/2006/relationships/hyperlink" Target="https://www.iea.org/reports/key-questions-on-energy-and-ai/executive-summary" TargetMode="External" Id="R6d7369c6e34d4fd6" /><Relationship Type="http://schemas.openxmlformats.org/officeDocument/2006/relationships/hyperlink" Target="https://www.nsf.gov/cise/updates/nairr-2-years-advancing-american-artificial-intelligence" TargetMode="External" Id="Rd21cb6dce02a48fe" /><Relationship Type="http://schemas.openxmlformats.org/officeDocument/2006/relationships/notesSlide" Target="/ppt/notesSlides/notesSlide19.xml" Id="R7a2458e89e9b4cf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10a7db3be847e9" /><Relationship Type="http://schemas.openxmlformats.org/officeDocument/2006/relationships/hyperlink" Target="https://aclanthology.org/P19-1355/" TargetMode="External" Id="R120b8db361ca4e0f" /><Relationship Type="http://schemas.openxmlformats.org/officeDocument/2006/relationships/hyperlink" Target="https://arxiv.org/abs/2304.03271v5" TargetMode="External" Id="Rbb81d10f52864ab9" /><Relationship Type="http://schemas.openxmlformats.org/officeDocument/2006/relationships/hyperlink" Target="https://arxiv.org/abs/1907.10597" TargetMode="External" Id="R99ada9aa047d4600" /><Relationship Type="http://schemas.openxmlformats.org/officeDocument/2006/relationships/hyperlink" Target="https://arxiv.org/abs/1906.08935v2" TargetMode="External" Id="R6a9ec5dc21b04888" /><Relationship Type="http://schemas.openxmlformats.org/officeDocument/2006/relationships/notesSlide" Target="/ppt/notesSlides/notesSlide20.xml" Id="R653e01520d2448c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45f35573a844c2" /><Relationship Type="http://schemas.openxmlformats.org/officeDocument/2006/relationships/hyperlink" Target="https://aclanthology.org/2024.cl-3.8/" TargetMode="External" Id="Rfd76f5ec967a440a" /><Relationship Type="http://schemas.openxmlformats.org/officeDocument/2006/relationships/hyperlink" Target="https://arxiv.org/abs/2010.15581v1" TargetMode="External" Id="R8d132f17187f4091" /><Relationship Type="http://schemas.openxmlformats.org/officeDocument/2006/relationships/hyperlink" Target="https://arxiv.org/abs/2106.11750v1" TargetMode="External" Id="R780afb428c4f4c82" /><Relationship Type="http://schemas.openxmlformats.org/officeDocument/2006/relationships/hyperlink" Target="https://www.oecd.org/en/topics/ai-principles.html" TargetMode="External" Id="R4b149e21779a484c" /><Relationship Type="http://schemas.openxmlformats.org/officeDocument/2006/relationships/notesSlide" Target="/ppt/notesSlides/notesSlide21.xml" Id="R6354af249bb34fa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2767cc36774ceb" /><Relationship Type="http://schemas.openxmlformats.org/officeDocument/2006/relationships/hyperlink" Target="https://airc.nist.gov/airmf-resources/playbook/" TargetMode="External" Id="Rad598c206b20499a" /><Relationship Type="http://schemas.openxmlformats.org/officeDocument/2006/relationships/notesSlide" Target="/ppt/notesSlides/notesSlide22.xml" Id="R5dfcf527494148f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663ba8391945b8" /><Relationship Type="http://schemas.openxmlformats.org/officeDocument/2006/relationships/notesSlide" Target="/ppt/notesSlides/notesSlide23.xml" Id="Rf4dc3fa61315403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b988ce314c4c43" /><Relationship Type="http://schemas.openxmlformats.org/officeDocument/2006/relationships/notesSlide" Target="/ppt/notesSlides/notesSlide24.xml" Id="R9a00276b6fe6462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da952e7fa64934" /><Relationship Type="http://schemas.openxmlformats.org/officeDocument/2006/relationships/notesSlide" Target="/ppt/notesSlides/notesSlide25.xml" Id="Ra025415bb3e74a2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cb760806e455a" /><Relationship Type="http://schemas.openxmlformats.org/officeDocument/2006/relationships/notesSlide" Target="/ppt/notesSlides/notesSlide26.xml" Id="R991c18f43e9a408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6aff7bf64e495a" /><Relationship Type="http://schemas.openxmlformats.org/officeDocument/2006/relationships/notesSlide" Target="/ppt/notesSlides/notesSlide27.xml" Id="R3a2e475162204d8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711b9fcf114104" /><Relationship Type="http://schemas.openxmlformats.org/officeDocument/2006/relationships/notesSlide" Target="/ppt/notesSlides/notesSlide28.xml" Id="R5b9c85480495430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2ebd220b714dfe" /><Relationship Type="http://schemas.openxmlformats.org/officeDocument/2006/relationships/notesSlide" Target="/ppt/notesSlides/notesSlide29.xml" Id="R7cf90a450445487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820255bc174c45" /><Relationship Type="http://schemas.openxmlformats.org/officeDocument/2006/relationships/notesSlide" Target="/ppt/notesSlides/notesSlide30.xml" Id="R29b5cb990d1f4d8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e957ebda22425a" /><Relationship Type="http://schemas.openxmlformats.org/officeDocument/2006/relationships/notesSlide" Target="/ppt/notesSlides/notesSlide31.xml" Id="R9004cef51c2f44c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ffec2b67ae4b45" /><Relationship Type="http://schemas.openxmlformats.org/officeDocument/2006/relationships/notesSlide" Target="/ppt/notesSlides/notesSlide32.xml" Id="Rfafa83b758ed4a4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191482a45f403b" /><Relationship Type="http://schemas.openxmlformats.org/officeDocument/2006/relationships/notesSlide" Target="/ppt/notesSlides/notesSlide33.xml" Id="Ree53e23bae654bb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9a2e89c804d19" /><Relationship Type="http://schemas.openxmlformats.org/officeDocument/2006/relationships/notesSlide" Target="/ppt/notesSlides/notesSlide34.xml" Id="Rea1f2bc89e2f4c6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832af75a7f412e" /><Relationship Type="http://schemas.openxmlformats.org/officeDocument/2006/relationships/notesSlide" Target="/ppt/notesSlides/notesSlide35.xml" Id="Rc6406f57de0e473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e0bc1743d745f6" /><Relationship Type="http://schemas.openxmlformats.org/officeDocument/2006/relationships/notesSlide" Target="/ppt/notesSlides/notesSlide36.xml" Id="Rbc457b0d81f74d0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492bf7b05642e8" /><Relationship Type="http://schemas.openxmlformats.org/officeDocument/2006/relationships/notesSlide" Target="/ppt/notesSlides/notesSlide37.xml" Id="R18c78bfab08442c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0fc06d3c924c07" /><Relationship Type="http://schemas.openxmlformats.org/officeDocument/2006/relationships/notesSlide" Target="/ppt/notesSlides/notesSlide38.xml" Id="R5bf8a4e729d7433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 2">
            <a:extLst xmlns:a="http://schemas.openxmlformats.org/drawingml/2006/main">
              <a:ext uri="{FF2B5EF4-FFF2-40B4-BE49-F238E27FC236}">
                <a16:creationId xmlns:a16="http://schemas.microsoft.com/office/drawing/2014/main" id="{42FFFDBB-5D5F-4B94-ABF4-FFF55A24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 2</a:t>
            </a:r>
          </a:p>
        </p:txBody>
      </p:sp>
      <p:sp>
        <p:nvSpPr>
          <p:cNvPr id="2" name="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546E76CA-5BE2-4CA3-B32A-CECA560E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165D2EFD-24CB-4C32-835B-EC773B6F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A966D-3CE5-431D-9902-805BD411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A87CDC70-8165-4195-8AA8-D59CAC19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91643686-6988-46CB-93FA-4EEA4839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B969FB5B-1174-4A58-9583-60668594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A879CBDD-5834-4F62-BBC4-A8C77913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Detailed evidence, references and AI">
            <a:extLst xmlns:a="http://schemas.openxmlformats.org/drawingml/2006/main">
              <a:ext uri="{FF2B5EF4-FFF2-40B4-BE49-F238E27FC236}">
                <a16:creationId xmlns:a16="http://schemas.microsoft.com/office/drawing/2014/main" id="{299A9486-2011-40DA-A861-F7480F48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Detailed evidence, references and AI records follow in the appendix</a:t>
            </a:r>
          </a:p>
        </p:txBody>
      </p:sp>
    </p:spTree>
    <p:extLst>
      <p:ext uri="{BB962C8B-B14F-4D97-AF65-F5344CB8AC3E}">
        <p14:creationId xmlns:p14="http://schemas.microsoft.com/office/powerpoint/2010/main" val="859810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FD70B6A3-DC86-4666-97D8-58261D94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C58D2ECD-27EB-4EDB-8079-7B0130C0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8F93C-7CEB-4209-83B0-9A11F46E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9AE5D-48F7-49C6-B15F-0136531F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BF43B-CC28-4514-BB15-150C024A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911F9-44BF-4CD7-AB63-61A0B945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all-reduce: average + share → consistent update on every GPU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E84E8-CA49-4B4D-B8F9-AFD08720E179}"/>
              </a:ext>
            </a:extLst>
          </p:cNvPr>
          <p:cNvCxnSpPr/>
          <p:nvPr/>
        </p:nvCxnSpPr>
        <p:spPr>
          <a:xfrm xmlns:a="http://schemas.openxmlformats.org/drawingml/2006/main">
            <a:off x="2095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7B331-0505-41B5-8A13-1CE1DE5AD9D9}"/>
              </a:ext>
            </a:extLst>
          </p:cNvPr>
          <p:cNvCxnSpPr/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91F56-9AE0-41CB-9E9D-98738A8FBF3E}"/>
              </a:ext>
            </a:extLst>
          </p:cNvPr>
          <p:cNvCxnSpPr/>
          <p:nvPr/>
        </p:nvCxnSpPr>
        <p:spPr>
          <a:xfrm xmlns:a="http://schemas.openxmlformats.org/drawingml/2006/main">
            <a:off x="10096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sp>
        <p:nvSpPr>
          <p:cNvPr id="10" name="Interconnect:&#10;latency and bandwidth">
            <a:extLst xmlns:a="http://schemas.openxmlformats.org/drawingml/2006/main">
              <a:ext uri="{FF2B5EF4-FFF2-40B4-BE49-F238E27FC236}">
                <a16:creationId xmlns:a16="http://schemas.microsoft.com/office/drawing/2014/main" id="{760F63F1-169C-4003-881B-EF61105A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latency and bandwidth</a:t>
            </a:r>
          </a:p>
        </p:txBody>
      </p:sp>
      <p:sp>
        <p:nvSpPr>
          <p:cNvPr id="11" name="Gradient synchronization&#10;before each update">
            <a:extLst xmlns:a="http://schemas.openxmlformats.org/drawingml/2006/main">
              <a:ext uri="{FF2B5EF4-FFF2-40B4-BE49-F238E27FC236}">
                <a16:creationId xmlns:a16="http://schemas.microsoft.com/office/drawing/2014/main" id="{06A1FC3A-7E50-4545-9A94-EBDCF680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Gradient synchronization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before each update</a:t>
            </a:r>
          </a:p>
        </p:txBody>
      </p:sp>
      <p:sp>
        <p:nvSpPr>
          <p:cNvPr id="12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2D6A62B6-0875-4E89-8AB4-405B473A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3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99BB6D42-9C52-47B4-B311-2B9E835F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C9AA8-5B5A-4D1A-BEFF-E719DC08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F41AEF83-8F7C-49D3-8E0A-CD301AD6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0295D-253C-4B50-B547-99B7A9B9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7F9C1733-E49C-455C-BA48-B56D8CA4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18" name="2 / 38">
            <a:extLst xmlns:a="http://schemas.openxmlformats.org/drawingml/2006/main">
              <a:ext uri="{FF2B5EF4-FFF2-40B4-BE49-F238E27FC236}">
                <a16:creationId xmlns:a16="http://schemas.microsoft.com/office/drawing/2014/main" id="{FDBF7702-B7A0-4000-8AF5-6128219A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38</a:t>
            </a:r>
          </a:p>
        </p:txBody>
      </p:sp>
    </p:spTree>
    <p:extLst>
      <p:ext uri="{BB962C8B-B14F-4D97-AF65-F5344CB8AC3E}">
        <p14:creationId xmlns:p14="http://schemas.microsoft.com/office/powerpoint/2010/main" val="20785877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4E713308-F986-470C-A585-8115D078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5159F60A-0C1A-4BB9-805B-464D3525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396B2B06-4D2C-40F3-96FA-F83F46E3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A073AC7D-62FE-45AD-BEF2-6CAC5997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63DCCA0-6DD1-4531-90E7-E0834DCF3A92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6e4be3e6d94be8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6386D14-6BF8-4DBC-9D2A-6547B2C2790A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60ea848f6f4061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7578C997-10AE-4EC4-B96E-695340AF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3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C8067018-48A1-4FAC-9F6C-B6CFA21D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[13] emphasizes efficiency; water research [12]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B7861-ABE7-467A-951F-E58DDCBD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4FA262A9-69ED-4117-B846-25F18072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[12] Li et al. 2025 revision: water impacts; [13] Schwartz et al. 2019: efficiency reporting</a:t>
            </a:r>
          </a:p>
        </p:txBody>
      </p:sp>
      <p:sp>
        <p:nvSpPr>
          <p:cNvPr id="11" name="3 / 38">
            <a:extLst xmlns:a="http://schemas.openxmlformats.org/drawingml/2006/main">
              <a:ext uri="{FF2B5EF4-FFF2-40B4-BE49-F238E27FC236}">
                <a16:creationId xmlns:a16="http://schemas.microsoft.com/office/drawing/2014/main" id="{2C9D585D-ED99-4DB9-AA7C-2D3F07AF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38</a:t>
            </a:r>
          </a:p>
        </p:txBody>
      </p:sp>
    </p:spTree>
    <p:extLst>
      <p:ext uri="{BB962C8B-B14F-4D97-AF65-F5344CB8AC3E}">
        <p14:creationId xmlns:p14="http://schemas.microsoft.com/office/powerpoint/2010/main" val="14752451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A1747-765F-4C9D-9B41-4A766C84FCC5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979F0-BD4D-44DF-AEBC-1B2EEC54E669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3F87FC0A-A8D6-43AD-BA08-77910889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AD8AA14D-3691-416A-A947-F058E702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63395943-1E2C-4DD1-A5FF-E144E4F0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AF33CC44-85A9-4C60-B12C-4291FB20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9FD49-036C-47C1-91AD-886D836B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43FCB-EC99-4CBB-A1B8-FBA8001F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3867C-C4F5-43B9-9EF7-82C6B855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24B34-8C2C-4358-9E56-4EA58BB8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4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ECD994DE-FC78-4852-89D4-CBB86A6A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[14]: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5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5EC0140D-8061-4915-B3B2-AD69BCF5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[15]: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Apply these to cluster-trained models; scale alone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does not guarantee fairness.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A64823D8-C0BD-45DA-BEAF-0B64F9AE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0058F-1AAF-49D5-83B3-D9B673D8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1FC28C75-7782-4DE3-B5BE-F2522BD8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B4849-6D89-43FE-B49D-048F74E3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4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621FF39B-7EAB-4967-841F-6014E066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[15] Gallegos et al. 2024: fairness evaluation; [18] OECD: rights, fairness and accountability; [19]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4 / 38">
            <a:extLst xmlns:a="http://schemas.openxmlformats.org/drawingml/2006/main">
              <a:ext uri="{FF2B5EF4-FFF2-40B4-BE49-F238E27FC236}">
                <a16:creationId xmlns:a16="http://schemas.microsoft.com/office/drawing/2014/main" id="{B50E044C-D508-43EC-BDF5-01BBD9A3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38</a:t>
            </a:r>
          </a:p>
        </p:txBody>
      </p:sp>
    </p:spTree>
    <p:extLst>
      <p:ext uri="{BB962C8B-B14F-4D97-AF65-F5344CB8AC3E}">
        <p14:creationId xmlns:p14="http://schemas.microsoft.com/office/powerpoint/2010/main" val="9462781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E7B095DF-F0EB-4FC7-85E9-13B47517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D4BFD9DD-098C-43E4-B4E3-BB598A04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E87B0-0BA6-44AF-8BBB-5DE302AFC544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[16]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C0288EBC-BF34-468D-9475-5818B6E9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BD118783-DD8B-4441-89AC-E92BE872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0C70FE96-2198-4D2F-ADFE-50C1282F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C80CD-9AF9-42F7-88DE-72F61374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CACAA5CC-DC81-4E68-B268-0D7316D5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BF2B2-4867-4DE3-A998-34806D4F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1012BDEA-BFED-4A6A-BBF2-FC760A16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</a:t>
            </a:r>
          </a:p>
        </p:txBody>
      </p:sp>
      <p:sp>
        <p:nvSpPr>
          <p:cNvPr id="11" name="5 / 38">
            <a:extLst xmlns:a="http://schemas.openxmlformats.org/drawingml/2006/main">
              <a:ext uri="{FF2B5EF4-FFF2-40B4-BE49-F238E27FC236}">
                <a16:creationId xmlns:a16="http://schemas.microsoft.com/office/drawing/2014/main" id="{E5AFE3AF-F34F-4204-8844-39A27487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38</a:t>
            </a:r>
          </a:p>
        </p:txBody>
      </p:sp>
    </p:spTree>
    <p:extLst>
      <p:ext uri="{BB962C8B-B14F-4D97-AF65-F5344CB8AC3E}">
        <p14:creationId xmlns:p14="http://schemas.microsoft.com/office/powerpoint/2010/main" val="15769467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97578-4289-4E21-9BC9-43DAA69D3A4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CBB05-9769-4D5C-BC2D-02B88032F1F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2F8FCCE0-DF87-46E0-9F50-4BB5F7D7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F8E17AF0-373E-4A84-A991-9A1D2788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E52FB-FD93-4F75-8D7F-2FC62EB2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11A79-6415-49E6-BAE2-990D1BEB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D37D6-5E59-42FA-9E85-CD2390A0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3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3A5F24D3-9296-416B-8EA1-30FB29EE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[13] • Carbon-aware scheduling: flexible work [17]</a:t>
            </a:r>
          </a:p>
        </p:txBody>
      </p:sp>
      <p:sp>
        <p:nvSpPr>
          <p:cNvPr id="9" name="OECD: values and rights [18]  •  NIST: Govern, Map, Mea">
            <a:extLst xmlns:a="http://schemas.openxmlformats.org/drawingml/2006/main">
              <a:ext uri="{FF2B5EF4-FFF2-40B4-BE49-F238E27FC236}">
                <a16:creationId xmlns:a16="http://schemas.microsoft.com/office/drawing/2014/main" id="{9A858694-599D-47A5-A02B-47804E93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[18] • NIST: Govern, Map, Measure, Manage [19]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F86CB3FE-29CC-4395-9FEF-520CA939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620E8457-1B87-40D0-BE98-7F04B05A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F2836-5E13-40A2-B1E6-EE4B270C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7962E4F0-08B0-484E-937F-3F980A88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A29AF1-D773-44CD-89E4-D3DA5423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3FCDB52A-75DA-4E0E-97B7-ACAB1321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6 / 38">
            <a:extLst xmlns:a="http://schemas.openxmlformats.org/drawingml/2006/main">
              <a:ext uri="{FF2B5EF4-FFF2-40B4-BE49-F238E27FC236}">
                <a16:creationId xmlns:a16="http://schemas.microsoft.com/office/drawing/2014/main" id="{F0C1186D-35C6-43CB-9B48-BB16F688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38</a:t>
            </a:r>
          </a:p>
        </p:txBody>
      </p:sp>
    </p:spTree>
    <p:extLst>
      <p:ext uri="{BB962C8B-B14F-4D97-AF65-F5344CB8AC3E}">
        <p14:creationId xmlns:p14="http://schemas.microsoft.com/office/powerpoint/2010/main" val="1471638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4256B5D5-20DE-4572-8E2A-38D45AE5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Supporting detail and limitations">
            <a:extLst xmlns:a="http://schemas.openxmlformats.org/drawingml/2006/main">
              <a:ext uri="{FF2B5EF4-FFF2-40B4-BE49-F238E27FC236}">
                <a16:creationId xmlns:a16="http://schemas.microsoft.com/office/drawing/2014/main" id="{509B4F02-3358-415D-AD00-CEF0B9D0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Supporting detail and limitations</a:t>
            </a:r>
          </a:p>
        </p:txBody>
      </p:sp>
      <p:sp>
        <p:nvSpPr>
          <p:cNvPr id="3" name="Task 1: design evidence">
            <a:extLst xmlns:a="http://schemas.openxmlformats.org/drawingml/2006/main">
              <a:ext uri="{FF2B5EF4-FFF2-40B4-BE49-F238E27FC236}">
                <a16:creationId xmlns:a16="http://schemas.microsoft.com/office/drawing/2014/main" id="{EF80CF5A-1969-41A6-AD78-23FF1E3D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design evidence</a:t>
            </a:r>
          </a:p>
        </p:txBody>
      </p:sp>
      <p:sp>
        <p:nvSpPr>
          <p:cNvPr id="4" name="Rotation assumptions, a worked example and full CUDA te">
            <a:extLst xmlns:a="http://schemas.openxmlformats.org/drawingml/2006/main">
              <a:ext uri="{FF2B5EF4-FFF2-40B4-BE49-F238E27FC236}">
                <a16:creationId xmlns:a16="http://schemas.microsoft.com/office/drawing/2014/main" id="{299D490A-AEB3-4F31-A7F3-3ED794FC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assumptions, a worked example and full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excerpts are included on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following slides.</a:t>
            </a:r>
          </a:p>
        </p:txBody>
      </p:sp>
      <p:sp>
        <p:nvSpPr>
          <p:cNvPr id="5" name="Performance explanations use a stated CPU baseline and ">
            <a:extLst xmlns:a="http://schemas.openxmlformats.org/drawingml/2006/main">
              <a:ext uri="{FF2B5EF4-FFF2-40B4-BE49-F238E27FC236}">
                <a16:creationId xmlns:a16="http://schemas.microsoft.com/office/drawing/2014/main" id="{26F17558-1D22-40CA-ACDA-ACD8928B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explanations use a stated CPU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baseline and theoretical bounds. No measured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or compiled CUDA result is claimed.</a:t>
            </a:r>
          </a:p>
        </p:txBody>
      </p:sp>
      <p:sp>
        <p:nvSpPr>
          <p:cNvPr id="6" name="GDS is evaluated for the actual CPU-decoded pipeline an">
            <a:extLst xmlns:a="http://schemas.openxmlformats.org/drawingml/2006/main">
              <a:ext uri="{FF2B5EF4-FFF2-40B4-BE49-F238E27FC236}">
                <a16:creationId xmlns:a16="http://schemas.microsoft.com/office/drawing/2014/main" id="{66D01D32-0AFC-4703-A96A-AB7E1BFA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is evaluated for the actual CPU-decoded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pipeline and a conditional storage-bound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alternative.</a:t>
            </a:r>
          </a:p>
        </p:txBody>
      </p:sp>
      <p:sp>
        <p:nvSpPr>
          <p:cNvPr id="7" name="Task 2: research and decisions">
            <a:extLst xmlns:a="http://schemas.openxmlformats.org/drawingml/2006/main">
              <a:ext uri="{FF2B5EF4-FFF2-40B4-BE49-F238E27FC236}">
                <a16:creationId xmlns:a16="http://schemas.microsoft.com/office/drawing/2014/main" id="{E5C949F2-6C50-4FEF-A8BA-98E6DA92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research and decisions</a:t>
            </a:r>
          </a:p>
        </p:txBody>
      </p:sp>
      <p:sp>
        <p:nvSpPr>
          <p:cNvPr id="8" name="Each required topic has evidence, a comparison, propose">
            <a:extLst xmlns:a="http://schemas.openxmlformats.org/drawingml/2006/main">
              <a:ext uri="{FF2B5EF4-FFF2-40B4-BE49-F238E27FC236}">
                <a16:creationId xmlns:a16="http://schemas.microsoft.com/office/drawing/2014/main" id="{765D4BDF-426E-40D6-89EB-3C62D949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 required topic has evidence, a comparison,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measures and limitations. A cluster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scenario is illustrative, not an observed experiment.</a:t>
            </a:r>
          </a:p>
        </p:txBody>
      </p:sp>
      <p:sp>
        <p:nvSpPr>
          <p:cNvPr id="9" name="Sector electricity data do not establish a particular t">
            <a:extLst xmlns:a="http://schemas.openxmlformats.org/drawingml/2006/main">
              <a:ext uri="{FF2B5EF4-FFF2-40B4-BE49-F238E27FC236}">
                <a16:creationId xmlns:a16="http://schemas.microsoft.com/office/drawing/2014/main" id="{9CCEDD9E-9E28-4493-B835-9BEC3D3C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Sector electricity data do not establish a particular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 job’s footprint. Historical research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distinguished from current programme reach.</a:t>
            </a:r>
          </a:p>
        </p:txBody>
      </p:sp>
      <p:sp>
        <p:nvSpPr>
          <p:cNvPr id="10" name="References and AI disclosure/prompt records are part of">
            <a:extLst xmlns:a="http://schemas.openxmlformats.org/drawingml/2006/main">
              <a:ext uri="{FF2B5EF4-FFF2-40B4-BE49-F238E27FC236}">
                <a16:creationId xmlns:a16="http://schemas.microsoft.com/office/drawing/2014/main" id="{B7921CB9-93CE-4512-91B5-018A88AA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 and AI disclosure/prompt records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of this presentation. There is no separate report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dependency.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20C0A-A42A-4FA9-BF20-7BE56900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95D0B-D56B-41C4-841B-6A3519FE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94BA4C0-A2D1-477B-8D27-9686B227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7 / 38">
            <a:extLst xmlns:a="http://schemas.openxmlformats.org/drawingml/2006/main">
              <a:ext uri="{FF2B5EF4-FFF2-40B4-BE49-F238E27FC236}">
                <a16:creationId xmlns:a16="http://schemas.microsoft.com/office/drawing/2014/main" id="{13326878-D859-4DAA-B5E1-BBF96846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38</a:t>
            </a:r>
          </a:p>
        </p:txBody>
      </p:sp>
    </p:spTree>
    <p:extLst>
      <p:ext uri="{BB962C8B-B14F-4D97-AF65-F5344CB8AC3E}">
        <p14:creationId xmlns:p14="http://schemas.microsoft.com/office/powerpoint/2010/main" val="9491234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1CD486DC-C7DE-45C9-8433-3F70204A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E28FF6E0-3BDC-4E58-8363-9A1B3732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65BF8-61EB-4874-8FF9-8E2261D9170C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8C7389BD-4558-461B-9271-4E6193E9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A2290-E8AD-4A13-9755-EA4C9A6A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69269423-5B7E-4913-AF5F-E37361AB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7" name="8 / 38">
            <a:extLst xmlns:a="http://schemas.openxmlformats.org/drawingml/2006/main">
              <a:ext uri="{FF2B5EF4-FFF2-40B4-BE49-F238E27FC236}">
                <a16:creationId xmlns:a16="http://schemas.microsoft.com/office/drawing/2014/main" id="{BC4CB92B-6F94-4413-AE0E-039D911A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38</a:t>
            </a:r>
          </a:p>
        </p:txBody>
      </p:sp>
    </p:spTree>
    <p:extLst>
      <p:ext uri="{BB962C8B-B14F-4D97-AF65-F5344CB8AC3E}">
        <p14:creationId xmlns:p14="http://schemas.microsoft.com/office/powerpoint/2010/main" val="13359544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pendix B2 • Illustrative calculation">
            <a:extLst xmlns:a="http://schemas.openxmlformats.org/drawingml/2006/main">
              <a:ext uri="{FF2B5EF4-FFF2-40B4-BE49-F238E27FC236}">
                <a16:creationId xmlns:a16="http://schemas.microsoft.com/office/drawing/2014/main" id="{03A85839-BCD7-4FF6-8489-5E9870D1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 • Illustrative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6D621B09-E2C4-4502-AA4B-05217B24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CEA84-479A-413B-B5F2-2FEA5DE72266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80DDD653-8A6A-4189-B660-CF951347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 more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F176AE76-008B-41C4-8D74-133A4612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4CB11-5A0B-4153-9D23-13A7A20B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2] Topic 7A: dependencies and Amdahl; [11] St">
            <a:extLst xmlns:a="http://schemas.openxmlformats.org/drawingml/2006/main">
              <a:ext uri="{FF2B5EF4-FFF2-40B4-BE49-F238E27FC236}">
                <a16:creationId xmlns:a16="http://schemas.microsoft.com/office/drawing/2014/main" id="{463C3BFD-C3A7-44C6-AFAA-074F1818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[11] Strubell et al. 2019: cost and equity; [13] Schwartz et al. 2019: efficiency reporting</a:t>
            </a:r>
          </a:p>
        </p:txBody>
      </p:sp>
      <p:sp>
        <p:nvSpPr>
          <p:cNvPr id="8" name="9 / 38">
            <a:extLst xmlns:a="http://schemas.openxmlformats.org/drawingml/2006/main">
              <a:ext uri="{FF2B5EF4-FFF2-40B4-BE49-F238E27FC236}">
                <a16:creationId xmlns:a16="http://schemas.microsoft.com/office/drawing/2014/main" id="{B6E01262-DCED-44CD-AD99-C51894BB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38</a:t>
            </a:r>
          </a:p>
        </p:txBody>
      </p:sp>
    </p:spTree>
    <p:extLst>
      <p:ext uri="{BB962C8B-B14F-4D97-AF65-F5344CB8AC3E}">
        <p14:creationId xmlns:p14="http://schemas.microsoft.com/office/powerpoint/2010/main" val="21214960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3">
            <a:extLst xmlns:a="http://schemas.openxmlformats.org/drawingml/2006/main">
              <a:ext uri="{FF2B5EF4-FFF2-40B4-BE49-F238E27FC236}">
                <a16:creationId xmlns:a16="http://schemas.microsoft.com/office/drawing/2014/main" id="{9E174B3B-B8DA-4C4F-B010-2E72A194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B3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243FEE79-8D88-4803-ACB9-2D42325C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B79740BB-BC25-4358-ACF5-7ED727C5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09BED6F8-C46F-4CBF-84AE-B4F54DAF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44DB154C-2EAF-49F2-941C-46FA725F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877D1A69-06B8-4282-8AA6-8A25DCB3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84ABE94F-271C-4DCD-A35C-510ABBF2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2ACE8A0E-1AC9-4FE5-9F2A-9789DCD0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0221CC69-34B2-4D19-A4F3-A49FE763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2CD1F246-6A9A-472F-8EC2-575F61F1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E3B5D-F9D1-4B64-AC83-5B5BA97C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FF8F0-903A-45D7-AA7A-5FBA86A0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A6A9E134-C1B3-4DA3-B72E-55767524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[11] Strubell et al. 2019: cost and equity; [12] Li et al. 2025 revision: water impacts;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10 / 38">
            <a:extLst xmlns:a="http://schemas.openxmlformats.org/drawingml/2006/main">
              <a:ext uri="{FF2B5EF4-FFF2-40B4-BE49-F238E27FC236}">
                <a16:creationId xmlns:a16="http://schemas.microsoft.com/office/drawing/2014/main" id="{72A0855A-CCC5-4AA0-9D81-864F2C7A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38</a:t>
            </a:r>
          </a:p>
        </p:txBody>
      </p:sp>
    </p:spTree>
    <p:extLst>
      <p:ext uri="{BB962C8B-B14F-4D97-AF65-F5344CB8AC3E}">
        <p14:creationId xmlns:p14="http://schemas.microsoft.com/office/powerpoint/2010/main" val="3827026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4 • Proposed cluster policy">
            <a:extLst xmlns:a="http://schemas.openxmlformats.org/drawingml/2006/main">
              <a:ext uri="{FF2B5EF4-FFF2-40B4-BE49-F238E27FC236}">
                <a16:creationId xmlns:a16="http://schemas.microsoft.com/office/drawing/2014/main" id="{9A1111CD-7530-4FED-A7C8-BC555AE8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B4 • Proposed cluster policy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4E2248A1-3823-4F33-9F24-1787CE1E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DF1B6-A55E-4F1B-8AD3-0FD0EDAECE91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E4DC03C0-95E1-495F-82D7-DD8389D7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7A965-003F-41BA-8DB1-EE6E1A47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4] Zhu et al. 2019: exposed gradients; [18] ">
            <a:extLst xmlns:a="http://schemas.openxmlformats.org/drawingml/2006/main">
              <a:ext uri="{FF2B5EF4-FFF2-40B4-BE49-F238E27FC236}">
                <a16:creationId xmlns:a16="http://schemas.microsoft.com/office/drawing/2014/main" id="{F90D63B3-7CE5-42E3-8813-BDFC499C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[18] OECD: rights, fairness and accountability; [19] NIST: Govern, Map, Measure, Manage</a:t>
            </a:r>
          </a:p>
        </p:txBody>
      </p:sp>
      <p:sp>
        <p:nvSpPr>
          <p:cNvPr id="7" name="11 / 38">
            <a:extLst xmlns:a="http://schemas.openxmlformats.org/drawingml/2006/main">
              <a:ext uri="{FF2B5EF4-FFF2-40B4-BE49-F238E27FC236}">
                <a16:creationId xmlns:a16="http://schemas.microsoft.com/office/drawing/2014/main" id="{27C5A3E2-9CFD-4AF1-9E9E-EB3011C0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38</a:t>
            </a:r>
          </a:p>
        </p:txBody>
      </p:sp>
    </p:spTree>
    <p:extLst>
      <p:ext uri="{BB962C8B-B14F-4D97-AF65-F5344CB8AC3E}">
        <p14:creationId xmlns:p14="http://schemas.microsoft.com/office/powerpoint/2010/main" val="17483968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5 • Proposed example">
            <a:extLst xmlns:a="http://schemas.openxmlformats.org/drawingml/2006/main">
              <a:ext uri="{FF2B5EF4-FFF2-40B4-BE49-F238E27FC236}">
                <a16:creationId xmlns:a16="http://schemas.microsoft.com/office/drawing/2014/main" id="{EBE90F91-E121-4EA3-9DC4-C64E6523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B5 • Proposed example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10260862-9485-420D-91DD-F539717C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72E1BEDB-0DE7-4C56-A09F-66AE66FC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AI service may have unequa">
            <a:extLst xmlns:a="http://schemas.openxmlformats.org/drawingml/2006/main">
              <a:ext uri="{FF2B5EF4-FFF2-40B4-BE49-F238E27FC236}">
                <a16:creationId xmlns:a16="http://schemas.microsoft.com/office/drawing/2014/main" id="{D36D7B05-17C5-4F9F-940F-6C76F68D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AI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71B41154-CF69-47C7-8AD8-15307E4A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9E196763-B848-4408-BC58-55A4CEE2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9BD2F7C9-DDA8-4126-8BB4-9DE79DE7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64688662-84B3-4751-9BEC-03F7C0DA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45AEB78A-E4FE-4678-BA97-B7EC4170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D7FB61D1-1F81-4791-90C7-1EAEECFE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59936-03D5-405A-8C33-705C26FD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AD25A-46FA-4618-B52F-66AC6253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5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CE36195E-B6E6-4C96-BD9B-14B9AFE9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[15] Gallegos et al. 2024: fairness evaluation; [18] OECD: rights, fairness and accountability; [19] NIST: Govern, Map, Measure, Manage</a:t>
            </a:r>
          </a:p>
        </p:txBody>
      </p:sp>
      <p:sp>
        <p:nvSpPr>
          <p:cNvPr id="14" name="12 / 38">
            <a:extLst xmlns:a="http://schemas.openxmlformats.org/drawingml/2006/main">
              <a:ext uri="{FF2B5EF4-FFF2-40B4-BE49-F238E27FC236}">
                <a16:creationId xmlns:a16="http://schemas.microsoft.com/office/drawing/2014/main" id="{6004577D-76A6-4DC5-A5D8-AB06EF1E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38</a:t>
            </a:r>
          </a:p>
        </p:txBody>
      </p:sp>
    </p:spTree>
    <p:extLst>
      <p:ext uri="{BB962C8B-B14F-4D97-AF65-F5344CB8AC3E}">
        <p14:creationId xmlns:p14="http://schemas.microsoft.com/office/powerpoint/2010/main" val="3500965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6">
            <a:extLst xmlns:a="http://schemas.openxmlformats.org/drawingml/2006/main">
              <a:ext uri="{FF2B5EF4-FFF2-40B4-BE49-F238E27FC236}">
                <a16:creationId xmlns:a16="http://schemas.microsoft.com/office/drawing/2014/main" id="{5F95BE8C-33A9-4B30-8E6F-38D00B22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B6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FFAC3D9D-E5D6-4A04-8199-CB6680DC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CDDEB819-A4A1-46B5-BE9F-026E737D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01DCAE05-BE96-4F2E-AE14-F6DDF567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B11CDC3E-9837-4A9E-A75C-01BB28EE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142B834C-5468-46F0-93F6-B382ACF1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89BF151B-2668-400D-AD19-52C40340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244FC95D-4E34-4F22-8955-05E2288C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AC5C939B-B53D-4015-B27E-B48E22C5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C828E621-C99D-4AA1-84BB-82D68CF7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3CBAE-7795-40ED-BED8-0BF2BEAB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EF517-95D4-49B5-9AED-D068BEEA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E8A3ABB3-B792-4B01-8F96-9068D396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divide; [22] Topic 9B: mutual exclusion and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allocation</a:t>
            </a:r>
          </a:p>
        </p:txBody>
      </p:sp>
      <p:sp>
        <p:nvSpPr>
          <p:cNvPr id="14" name="13 / 38">
            <a:extLst xmlns:a="http://schemas.openxmlformats.org/drawingml/2006/main">
              <a:ext uri="{FF2B5EF4-FFF2-40B4-BE49-F238E27FC236}">
                <a16:creationId xmlns:a16="http://schemas.microsoft.com/office/drawing/2014/main" id="{2575DAF8-E15F-48AC-A625-A3A9E704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38</a:t>
            </a:r>
          </a:p>
        </p:txBody>
      </p:sp>
    </p:spTree>
    <p:extLst>
      <p:ext uri="{BB962C8B-B14F-4D97-AF65-F5344CB8AC3E}">
        <p14:creationId xmlns:p14="http://schemas.microsoft.com/office/powerpoint/2010/main" val="3737765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7 • Proposed application">
            <a:extLst xmlns:a="http://schemas.openxmlformats.org/drawingml/2006/main">
              <a:ext uri="{FF2B5EF4-FFF2-40B4-BE49-F238E27FC236}">
                <a16:creationId xmlns:a16="http://schemas.microsoft.com/office/drawing/2014/main" id="{80408CE6-EDC4-4441-A9D0-292EB019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B7 • Proposed application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0590E676-2BCC-471D-A8A5-CCFE5C7C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D56E0-B4C1-4A73-8196-9302B068AE81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Our proposal combines measurement, scheduling and risk ">
            <a:extLst xmlns:a="http://schemas.openxmlformats.org/drawingml/2006/main">
              <a:ext uri="{FF2B5EF4-FFF2-40B4-BE49-F238E27FC236}">
                <a16:creationId xmlns:a16="http://schemas.microsoft.com/office/drawing/2014/main" id="{87F95DD7-D62B-4131-BECD-B0ECE5CB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Our proposal combines measurement, scheduling and risk management. NIST Govern spans the other functions; risk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 is iterative, not a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29E7E-0847-4AA6-A495-C6DE974D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2C079CCF-77C7-4D61-A628-668326C9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14 / 38">
            <a:extLst xmlns:a="http://schemas.openxmlformats.org/drawingml/2006/main">
              <a:ext uri="{FF2B5EF4-FFF2-40B4-BE49-F238E27FC236}">
                <a16:creationId xmlns:a16="http://schemas.microsoft.com/office/drawing/2014/main" id="{F67083C4-B791-4DCA-A389-2FD90D69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38</a:t>
            </a:r>
          </a:p>
        </p:txBody>
      </p:sp>
    </p:spTree>
    <p:extLst>
      <p:ext uri="{BB962C8B-B14F-4D97-AF65-F5344CB8AC3E}">
        <p14:creationId xmlns:p14="http://schemas.microsoft.com/office/powerpoint/2010/main" val="18001773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6AC57-E6EF-4C7D-954E-8CCB4798A39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69F85-10DF-4708-969B-1151B6E8160B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6" name="Appendix B8 • Illustrative policy">
            <a:extLst xmlns:a="http://schemas.openxmlformats.org/drawingml/2006/main">
              <a:ext uri="{FF2B5EF4-FFF2-40B4-BE49-F238E27FC236}">
                <a16:creationId xmlns:a16="http://schemas.microsoft.com/office/drawing/2014/main" id="{3E3DB1BB-6CC6-463D-8F92-E3051A80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B8 • Illustrative policy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738803C9-4AD2-4414-AA25-13792120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46850-7DDA-4661-9196-197A988E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8C6D9-4D33-4D91-991E-FD6DF579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BE0B5-C63D-4E0E-ACF6-1A11F4B2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7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CA0719D1-4AD0-4665-827F-5A22C85C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[17]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A49455A3-78B2-4EBB-A608-91E8D56B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E5E99E22-D296-4925-B90C-7A3AF926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EA796-71B2-4D05-9954-D4A797D9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064F2F3F-F907-404E-AA97-5A083842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B1720-92B9-4308-9CA1-BC03200E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12] Li et al. 2025 revision: water impacts; [">
            <a:extLst xmlns:a="http://schemas.openxmlformats.org/drawingml/2006/main">
              <a:ext uri="{FF2B5EF4-FFF2-40B4-BE49-F238E27FC236}">
                <a16:creationId xmlns:a16="http://schemas.microsoft.com/office/drawing/2014/main" id="{E32D783B-346B-4F1F-A068-AB158B7E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Li et al. 2025 revision: water impacts; [17] Radovanovic et al. 2021: flexible scheduling; [19] NIST: Govern, Map, Measure, Manage</a:t>
            </a:r>
          </a:p>
        </p:txBody>
      </p:sp>
      <p:sp>
        <p:nvSpPr>
          <p:cNvPr id="15" name="15 / 38">
            <a:extLst xmlns:a="http://schemas.openxmlformats.org/drawingml/2006/main">
              <a:ext uri="{FF2B5EF4-FFF2-40B4-BE49-F238E27FC236}">
                <a16:creationId xmlns:a16="http://schemas.microsoft.com/office/drawing/2014/main" id="{32626120-87C4-4498-944C-2FFB0EF9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38</a:t>
            </a:r>
          </a:p>
        </p:txBody>
      </p:sp>
    </p:spTree>
    <p:extLst>
      <p:ext uri="{BB962C8B-B14F-4D97-AF65-F5344CB8AC3E}">
        <p14:creationId xmlns:p14="http://schemas.microsoft.com/office/powerpoint/2010/main" val="2818285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9">
            <a:extLst xmlns:a="http://schemas.openxmlformats.org/drawingml/2006/main">
              <a:ext uri="{FF2B5EF4-FFF2-40B4-BE49-F238E27FC236}">
                <a16:creationId xmlns:a16="http://schemas.microsoft.com/office/drawing/2014/main" id="{ABE91DCC-4BB0-4B2A-9E14-53835157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B9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52A26A01-573C-47C1-93B9-3EBE6A95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DFBEA-F1FA-4307-B33C-2014113B20EE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[11,13] versus water-footprint research [12]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[14] versus fairness evaluation survey [15]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[16] versus workload cost/equity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[13] versus operational scheduling [17]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9,10] and governance fr">
            <a:extLst xmlns:a="http://schemas.openxmlformats.org/drawingml/2006/main">
              <a:ext uri="{FF2B5EF4-FFF2-40B4-BE49-F238E27FC236}">
                <a16:creationId xmlns:a16="http://schemas.microsoft.com/office/drawing/2014/main" id="{527E6060-0BFE-4BE2-9355-798C1230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[9,10] and governance frameworks [18,19] complement the research; they do not replace its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042CF-8179-4A04-A45B-FDCAE5AD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Strubell et al. 2019: cost and equity; [1">
            <a:extLst xmlns:a="http://schemas.openxmlformats.org/drawingml/2006/main">
              <a:ext uri="{FF2B5EF4-FFF2-40B4-BE49-F238E27FC236}">
                <a16:creationId xmlns:a16="http://schemas.microsoft.com/office/drawing/2014/main" id="{BB1C91A9-772B-44F0-B443-0D243060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Strubell et al. 2019: cost and equity; [12] Li et al. 2025 revision: water impacts; [13] Schwartz et al. 2019: efficiency reporting; [14] Zhu et al. 2019: exposed gradients;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[15] Gallegos et al. 2024: fairness evaluation; [16] Ahmed and Wahed 2020: compute divide; [17] Radovanovic et al. 2021: flexible scheduling</a:t>
            </a:r>
          </a:p>
        </p:txBody>
      </p:sp>
      <p:sp>
        <p:nvSpPr>
          <p:cNvPr id="7" name="16 / 38">
            <a:extLst xmlns:a="http://schemas.openxmlformats.org/drawingml/2006/main">
              <a:ext uri="{FF2B5EF4-FFF2-40B4-BE49-F238E27FC236}">
                <a16:creationId xmlns:a16="http://schemas.microsoft.com/office/drawing/2014/main" id="{CC1111CA-E572-4952-8C15-C9D45E08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38</a:t>
            </a:r>
          </a:p>
        </p:txBody>
      </p:sp>
    </p:spTree>
    <p:extLst>
      <p:ext uri="{BB962C8B-B14F-4D97-AF65-F5344CB8AC3E}">
        <p14:creationId xmlns:p14="http://schemas.microsoft.com/office/powerpoint/2010/main" val="8118314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Synthesis">
            <a:extLst xmlns:a="http://schemas.openxmlformats.org/drawingml/2006/main">
              <a:ext uri="{FF2B5EF4-FFF2-40B4-BE49-F238E27FC236}">
                <a16:creationId xmlns:a16="http://schemas.microsoft.com/office/drawing/2014/main" id="{7ABB8A8B-5EF8-4C1C-9381-912DCB8C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Synthesis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82615297-3A00-4989-B471-C2C5AAC6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E49EE4CF-8C6B-47B1-B85D-81CC2398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5324B1DE-20D1-4DD8-A440-9EAF284F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0B0EB37F-9E15-4168-9CAD-49B15FBA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238ED9FA-EFEB-43DA-AB6B-D6E7D4AD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86114296-CE0E-4EB8-8F53-DA37123A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028D3BA9-C388-4211-B118-3465903D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98606A89-F33E-40D3-B4A8-801B2F8D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CA79424F-5561-422D-91B1-F44E4A3D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841C5-D375-4C4C-BB8C-C895CA0F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8DFEC-B87B-4906-8A8B-D3B07B49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AF51E338-20B6-4839-92BC-C48B7E9A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Practices; [6] NVIDIA GDS overview; [7] NVIDIA GDS design;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reporting; [17] Radovanovic et al. 2021: flexible scheduling; [19] NIST: Govern, Map, Measure, Manage</a:t>
            </a:r>
          </a:p>
        </p:txBody>
      </p:sp>
      <p:sp>
        <p:nvSpPr>
          <p:cNvPr id="14" name="17 / 38">
            <a:extLst xmlns:a="http://schemas.openxmlformats.org/drawingml/2006/main">
              <a:ext uri="{FF2B5EF4-FFF2-40B4-BE49-F238E27FC236}">
                <a16:creationId xmlns:a16="http://schemas.microsoft.com/office/drawing/2014/main" id="{99EEDAAF-8635-4E3C-8E45-E7833475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38</a:t>
            </a:r>
          </a:p>
        </p:txBody>
      </p:sp>
    </p:spTree>
    <p:extLst>
      <p:ext uri="{BB962C8B-B14F-4D97-AF65-F5344CB8AC3E}">
        <p14:creationId xmlns:p14="http://schemas.microsoft.com/office/powerpoint/2010/main" val="14951774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5">
            <a:extLst xmlns:a="http://schemas.openxmlformats.org/drawingml/2006/main">
              <a:ext uri="{FF2B5EF4-FFF2-40B4-BE49-F238E27FC236}">
                <a16:creationId xmlns:a16="http://schemas.microsoft.com/office/drawing/2014/main" id="{3D86BBA2-CC19-4307-8F35-C964F977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83838814-980C-4021-9439-F198E008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2] Monash University, FIT3143 Topic 7A: Parallel perfo">
            <a:extLst xmlns:a="http://schemas.openxmlformats.org/drawingml/2006/main">
              <a:ext uri="{FF2B5EF4-FFF2-40B4-BE49-F238E27FC236}">
                <a16:creationId xmlns:a16="http://schemas.microsoft.com/office/drawing/2014/main" id="{9F7D4BFC-9867-4678-A73E-4B9684E7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Monash University, FIT3143 Topic 7A: Parallel performance and Amdahl reasoning, course slides, 2024, pp. 6–15,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18–27.</a:t>
            </a:r>
          </a:p>
        </p:txBody>
      </p:sp>
      <p:sp>
        <p:nvSpPr>
          <p:cNvPr id="4" name="../../context/FIT3143-Topic-7A-2024.pdf">
            <a:extLst xmlns:a="http://schemas.openxmlformats.org/drawingml/2006/main">
              <a:ext uri="{FF2B5EF4-FFF2-40B4-BE49-F238E27FC236}">
                <a16:creationId xmlns:a16="http://schemas.microsoft.com/office/drawing/2014/main" id="{E53AFEA8-F186-4E58-B94B-F6B7852E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../../context/FIT3143-Topic-7A-2024.pdf</a:t>
            </a:r>
          </a:p>
        </p:txBody>
      </p:sp>
      <p:sp>
        <p:nvSpPr>
          <p:cNvPr id="5" name="[3] Monash University, FIT3143 Topic 9A: Synchronizatio">
            <a:extLst xmlns:a="http://schemas.openxmlformats.org/drawingml/2006/main">
              <a:ext uri="{FF2B5EF4-FFF2-40B4-BE49-F238E27FC236}">
                <a16:creationId xmlns:a16="http://schemas.microsoft.com/office/drawing/2014/main" id="{8192A321-22F2-4AF6-A570-6486C5F0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Monash University, FIT3143 Topic 9A: Synchronization and dependencies, course slides, 2024, pp. 2–7.</a:t>
            </a:r>
          </a:p>
        </p:txBody>
      </p:sp>
      <p:sp>
        <p:nvSpPr>
          <p:cNvPr id="6" name="../../context/FIT3143-Topic-9A-2024.pdf">
            <a:extLst xmlns:a="http://schemas.openxmlformats.org/drawingml/2006/main">
              <a:ext uri="{FF2B5EF4-FFF2-40B4-BE49-F238E27FC236}">
                <a16:creationId xmlns:a16="http://schemas.microsoft.com/office/drawing/2014/main" id="{491168CD-E50C-4065-8174-2963032E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979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../../context/FIT3143-Topic-9A-2024.pdf</a:t>
            </a:r>
          </a:p>
        </p:txBody>
      </p:sp>
      <p:sp>
        <p:nvSpPr>
          <p:cNvPr id="7" name="[5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FF783AA8-A150-4D77-9737-9618B360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098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CUDA C++ Best Practices Guide, online documentation, accessed Oct. 8, 2026.</a:t>
            </a:r>
          </a:p>
        </p:txBody>
      </p:sp>
      <p:sp>
        <p:nvSpPr>
          <p:cNvPr id="8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8C18BF6B-EA77-4809-A2DF-1086E38B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9f506fc9b61438b"/>
              </a:rPr>
              <a:t>https://docs.nvidia.com/cuda/cuda-c-best-practices-guide/index.html</a:t>
            </a:r>
          </a:p>
        </p:txBody>
      </p:sp>
      <p:sp>
        <p:nvSpPr>
          <p:cNvPr id="9" name="[6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FF7283C6-F6F0-489C-A8C3-A150271A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NVIDIA, GPUDirect Storage Overview Guide, online documentation, accessed Oct. 8, 2026.</a:t>
            </a:r>
          </a:p>
        </p:txBody>
      </p:sp>
      <p:sp>
        <p:nvSpPr>
          <p:cNvPr id="10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B965D9D7-3ACB-4278-A65D-C492DC76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064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08646775cc44f8a"/>
              </a:rPr>
              <a:t>https://docs.nvidia.com/gpudirect-storage/overview-guide/index.html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707EC-2F14-4489-9BCA-65BAAA59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EF4E04C-FD11-4EDE-A4E9-F30E4695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18 / 38">
            <a:extLst xmlns:a="http://schemas.openxmlformats.org/drawingml/2006/main">
              <a:ext uri="{FF2B5EF4-FFF2-40B4-BE49-F238E27FC236}">
                <a16:creationId xmlns:a16="http://schemas.microsoft.com/office/drawing/2014/main" id="{4F06A46A-675E-4DFF-A918-ADE47AB0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38</a:t>
            </a:r>
          </a:p>
        </p:txBody>
      </p:sp>
    </p:spTree>
    <p:extLst>
      <p:ext uri="{BB962C8B-B14F-4D97-AF65-F5344CB8AC3E}">
        <p14:creationId xmlns:p14="http://schemas.microsoft.com/office/powerpoint/2010/main" val="13504715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5">
            <a:extLst xmlns:a="http://schemas.openxmlformats.org/drawingml/2006/main">
              <a:ext uri="{FF2B5EF4-FFF2-40B4-BE49-F238E27FC236}">
                <a16:creationId xmlns:a16="http://schemas.microsoft.com/office/drawing/2014/main" id="{76D21002-31AC-4DFE-8FDB-939DEEC0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BF3CB0D9-FB6B-42D2-B180-869EE460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7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68214011-C5DD-4549-A9F2-279A43C0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NVIDIA, GPUDirect Storage Design Guide, online documentation, accessed Oct. 8, 2026.</a:t>
            </a:r>
          </a:p>
        </p:txBody>
      </p:sp>
      <p:sp>
        <p:nvSpPr>
          <p:cNvPr id="4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C9B592EF-0A30-415B-80FC-2631A637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0d431c98f774e4d"/>
              </a:rPr>
              <a:t>https://docs.nvidia.com/gpudirect-storage/design-guide/index.html</a:t>
            </a:r>
          </a:p>
        </p:txBody>
      </p:sp>
      <p:sp>
        <p:nvSpPr>
          <p:cNvPr id="5" name="[8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27F42F71-BFEB-4FA7-BD10-81068963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NVIDIA, “Parallelism strategies guide,” Megatron Core, online documentation, accessed Oct. 8, 2026.</a:t>
            </a:r>
          </a:p>
        </p:txBody>
      </p:sp>
      <p:sp>
        <p:nvSpPr>
          <p:cNvPr id="6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56623C1F-0AC8-4144-AABA-5C3AE39D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92b2edf63ad044f5"/>
              </a:rPr>
              <a:t>https://docs.nvidia.com/megatron-core/developer-guide/latest/user-guide/parallelism-guide.html</a:t>
            </a:r>
          </a:p>
        </p:txBody>
      </p:sp>
      <p:sp>
        <p:nvSpPr>
          <p:cNvPr id="7" name="[9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60F45724-3FF2-4D57-BABA-EFB8970A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8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3CC1BFB2-E859-46BB-93CC-F63B83B6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d7369c6e34d4fd6"/>
              </a:rPr>
              <a:t>https://www.iea.org/reports/key-questions-on-energy-and-ai/executive-summary</a:t>
            </a:r>
          </a:p>
        </p:txBody>
      </p:sp>
      <p:sp>
        <p:nvSpPr>
          <p:cNvPr id="9" name="[10] U.S. National Science Foundation, “NAIRR at 2 year">
            <a:extLst xmlns:a="http://schemas.openxmlformats.org/drawingml/2006/main">
              <a:ext uri="{FF2B5EF4-FFF2-40B4-BE49-F238E27FC236}">
                <a16:creationId xmlns:a16="http://schemas.microsoft.com/office/drawing/2014/main" id="{AA788C7B-4342-407D-89AE-19298BDC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10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67E7E4DA-C104-4A2C-9C2F-45582269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d21cb6dce02a48fe"/>
              </a:rPr>
              <a:t>https://www.nsf.gov/cise/updates/nairr-2-years-advancing-american-artificial-intelligence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983DC-F885-4051-99AF-9ECB971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9FC614C-3EF4-4C49-9394-D639E077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19 / 38">
            <a:extLst xmlns:a="http://schemas.openxmlformats.org/drawingml/2006/main">
              <a:ext uri="{FF2B5EF4-FFF2-40B4-BE49-F238E27FC236}">
                <a16:creationId xmlns:a16="http://schemas.microsoft.com/office/drawing/2014/main" id="{7ED06749-B92A-4465-B082-09CB3A42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38</a:t>
            </a:r>
          </a:p>
        </p:txBody>
      </p:sp>
    </p:spTree>
    <p:extLst>
      <p:ext uri="{BB962C8B-B14F-4D97-AF65-F5344CB8AC3E}">
        <p14:creationId xmlns:p14="http://schemas.microsoft.com/office/powerpoint/2010/main" val="18760245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5">
            <a:extLst xmlns:a="http://schemas.openxmlformats.org/drawingml/2006/main">
              <a:ext uri="{FF2B5EF4-FFF2-40B4-BE49-F238E27FC236}">
                <a16:creationId xmlns:a16="http://schemas.microsoft.com/office/drawing/2014/main" id="{712F4AA0-F00F-4EC5-B606-3F1A2842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CC39B2FC-150A-42E9-8DCD-5A83FD4E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1] E. Strubell, A. Ganesh, and A. McCallum, “Energy a">
            <a:extLst xmlns:a="http://schemas.openxmlformats.org/drawingml/2006/main">
              <a:ext uri="{FF2B5EF4-FFF2-40B4-BE49-F238E27FC236}">
                <a16:creationId xmlns:a16="http://schemas.microsoft.com/office/drawing/2014/main" id="{49E02201-E005-4C40-AC39-28D9DC3F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4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C33230A2-4334-4218-8284-FEF652F4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20b8db361ca4e0f"/>
              </a:rPr>
              <a:t>https://aclanthology.org/P19-1355/</a:t>
            </a:r>
          </a:p>
        </p:txBody>
      </p:sp>
      <p:sp>
        <p:nvSpPr>
          <p:cNvPr id="5" name="[12] P. Li, J. Yang, M. A. Islam, and S. Ren, “Making A">
            <a:extLst xmlns:a="http://schemas.openxmlformats.org/drawingml/2006/main">
              <a:ext uri="{FF2B5EF4-FFF2-40B4-BE49-F238E27FC236}">
                <a16:creationId xmlns:a16="http://schemas.microsoft.com/office/drawing/2014/main" id="{C7A29B9E-B99E-4816-B32E-5A196065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6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7B7C573D-89F3-41BF-BF68-D6955120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b81d10f52864ab9"/>
              </a:rPr>
              <a:t>https://arxiv.org/abs/2304.03271v5</a:t>
            </a:r>
          </a:p>
        </p:txBody>
      </p:sp>
      <p:sp>
        <p:nvSpPr>
          <p:cNvPr id="7" name="[13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93F4BDDE-394F-4BAF-92AB-E26E625B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R. Schwartz, J. Dodge, N. A. Smith, and O. Etzioni, “Green AI,” arXiv:1907.10597, 2019.</a:t>
            </a:r>
          </a:p>
        </p:txBody>
      </p:sp>
      <p:sp>
        <p:nvSpPr>
          <p:cNvPr id="8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1BE00C2A-A50B-4588-946F-10E979BA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99ada9aa047d4600"/>
              </a:rPr>
              <a:t>https://arxiv.org/abs/1907.10597</a:t>
            </a:r>
          </a:p>
        </p:txBody>
      </p:sp>
      <p:sp>
        <p:nvSpPr>
          <p:cNvPr id="9" name="[14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A559AF3A-5DBB-4DD2-A8B2-29F816BB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L. Zhu, Z. Liu, and S. Han, “Deep leakage from gradients,” arXiv:1906.08935v2, 2019.</a:t>
            </a:r>
          </a:p>
        </p:txBody>
      </p:sp>
      <p:sp>
        <p:nvSpPr>
          <p:cNvPr id="10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893E087F-4215-43E3-A09A-F01FCC22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a9ec5dc21b04888"/>
              </a:rPr>
              <a:t>https://arxiv.org/abs/1906.08935v2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1DD52-6646-4E1F-ADEF-566116AC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D114B21-F7A7-405B-921B-84B50D47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20 / 38">
            <a:extLst xmlns:a="http://schemas.openxmlformats.org/drawingml/2006/main">
              <a:ext uri="{FF2B5EF4-FFF2-40B4-BE49-F238E27FC236}">
                <a16:creationId xmlns:a16="http://schemas.microsoft.com/office/drawing/2014/main" id="{5FDDDBEA-E376-46A7-85D5-85E89243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38</a:t>
            </a:r>
          </a:p>
        </p:txBody>
      </p:sp>
    </p:spTree>
    <p:extLst>
      <p:ext uri="{BB962C8B-B14F-4D97-AF65-F5344CB8AC3E}">
        <p14:creationId xmlns:p14="http://schemas.microsoft.com/office/powerpoint/2010/main" val="1175530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4/5">
            <a:extLst xmlns:a="http://schemas.openxmlformats.org/drawingml/2006/main">
              <a:ext uri="{FF2B5EF4-FFF2-40B4-BE49-F238E27FC236}">
                <a16:creationId xmlns:a16="http://schemas.microsoft.com/office/drawing/2014/main" id="{E5587333-9404-4A65-B160-8B29F017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4EC7E2EB-D9E7-49B0-955B-F1B7DC1B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5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22A80B6C-3820-4598-BF8C-CC8D4153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4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FF211CB9-CF55-4DE6-83AE-E3339896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d76f5ec967a440a"/>
              </a:rPr>
              <a:t>https://aclanthology.org/2024.cl-3.8/</a:t>
            </a:r>
          </a:p>
        </p:txBody>
      </p:sp>
      <p:sp>
        <p:nvSpPr>
          <p:cNvPr id="5" name="[16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1B818875-E6B2-4A4C-8F1B-6920F63B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6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78032661-AE0B-4236-B7DF-E9D6F053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d132f17187f4091"/>
              </a:rPr>
              <a:t>https://arxiv.org/abs/2010.15581v1</a:t>
            </a:r>
          </a:p>
        </p:txBody>
      </p:sp>
      <p:sp>
        <p:nvSpPr>
          <p:cNvPr id="7" name="[17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06165911-1046-4F57-8F6C-442F2D18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[17] A. Radovanovic et al., “Carbon-aware computing for datacenters,” arXiv:2106.11750v1, 2021.</a:t>
            </a:r>
          </a:p>
        </p:txBody>
      </p:sp>
      <p:sp>
        <p:nvSpPr>
          <p:cNvPr id="8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191950BD-559B-4109-A0E1-98F3D1BC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80afb428c4f4c82"/>
              </a:rPr>
              <a:t>https://arxiv.org/abs/2106.11750v1</a:t>
            </a:r>
          </a:p>
        </p:txBody>
      </p:sp>
      <p:sp>
        <p:nvSpPr>
          <p:cNvPr id="9" name="[18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CA0E6FA6-DBB5-4299-835B-4F1D45F3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[18] OECD, “OECD AI Principles,” adopted 2019, updated 2024, accessed Oct. 8, 2026.</a:t>
            </a:r>
          </a:p>
        </p:txBody>
      </p:sp>
      <p:sp>
        <p:nvSpPr>
          <p:cNvPr id="10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6DE34852-643C-44EF-B815-F6723F80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4b149e21779a484c"/>
              </a:rPr>
              <a:t>https://www.oecd.org/en/topics/ai-principles.html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7CCF2-0942-46EA-874A-863BBE28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F9C5112-55A5-4BA6-908F-BCB35AF3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21 / 38">
            <a:extLst xmlns:a="http://schemas.openxmlformats.org/drawingml/2006/main">
              <a:ext uri="{FF2B5EF4-FFF2-40B4-BE49-F238E27FC236}">
                <a16:creationId xmlns:a16="http://schemas.microsoft.com/office/drawing/2014/main" id="{11A48119-57C4-4D09-B06F-B7488CDA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38</a:t>
            </a:r>
          </a:p>
        </p:txBody>
      </p:sp>
    </p:spTree>
    <p:extLst>
      <p:ext uri="{BB962C8B-B14F-4D97-AF65-F5344CB8AC3E}">
        <p14:creationId xmlns:p14="http://schemas.microsoft.com/office/powerpoint/2010/main" val="9760380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• References 5/5">
            <a:extLst xmlns:a="http://schemas.openxmlformats.org/drawingml/2006/main">
              <a:ext uri="{FF2B5EF4-FFF2-40B4-BE49-F238E27FC236}">
                <a16:creationId xmlns:a16="http://schemas.microsoft.com/office/drawing/2014/main" id="{D886C807-F330-40D1-88F1-48EB357A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5/5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B7E54D31-01D3-4596-B425-B1B0257A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9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05D6EF58-4DC5-458C-B940-69B535D2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[19] NIST, AI Risk Management Framework 1.0 Playbook, framework 2023, current online resource, accessed Oct. 8, 2026.</a:t>
            </a:r>
          </a:p>
        </p:txBody>
      </p:sp>
      <p:sp>
        <p:nvSpPr>
          <p:cNvPr id="4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0232563C-AF3B-4F85-AC03-E8BAA187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ad598c206b20499a"/>
              </a:rPr>
              <a:t>https://airc.nist.gov/airmf-resources/playbook/</a:t>
            </a:r>
          </a:p>
        </p:txBody>
      </p:sp>
      <p:sp>
        <p:nvSpPr>
          <p:cNvPr id="5" name="[21] Monash University, FIT3143 Week 5 combined course ">
            <a:extLst xmlns:a="http://schemas.openxmlformats.org/drawingml/2006/main">
              <a:ext uri="{FF2B5EF4-FFF2-40B4-BE49-F238E27FC236}">
                <a16:creationId xmlns:a16="http://schemas.microsoft.com/office/drawing/2014/main" id="{FD509130-D2F8-4F55-8F8B-F3F28520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[21] Monash University, FIT3143 Week 5 combined course material, MPI collectives, pp. 148–155.</a:t>
            </a:r>
          </a:p>
        </p:txBody>
      </p:sp>
      <p:sp>
        <p:nvSpPr>
          <p:cNvPr id="6" name="../../context/FIT3143_Week_5_Combined.pdf">
            <a:extLst xmlns:a="http://schemas.openxmlformats.org/drawingml/2006/main">
              <a:ext uri="{FF2B5EF4-FFF2-40B4-BE49-F238E27FC236}">
                <a16:creationId xmlns:a16="http://schemas.microsoft.com/office/drawing/2014/main" id="{2A028F69-C8F2-4A71-8559-7CF7283A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../../context/FIT3143_Week_5_Combined.pdf</a:t>
            </a:r>
          </a:p>
        </p:txBody>
      </p:sp>
      <p:sp>
        <p:nvSpPr>
          <p:cNvPr id="7" name="[22] Monash University, FIT3143 Topic 9B: Mutual exclus">
            <a:extLst xmlns:a="http://schemas.openxmlformats.org/drawingml/2006/main">
              <a:ext uri="{FF2B5EF4-FFF2-40B4-BE49-F238E27FC236}">
                <a16:creationId xmlns:a16="http://schemas.microsoft.com/office/drawing/2014/main" id="{8E1525E7-DD34-46DF-8042-76FA86FD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[22] Monash University, FIT3143 Topic 9B: Mutual exclusion and resource allocation, course slides, 2024, pp. 4–16, 24–32.</a:t>
            </a:r>
          </a:p>
        </p:txBody>
      </p:sp>
      <p:sp>
        <p:nvSpPr>
          <p:cNvPr id="8" name="../../context/FIT3143-Topic-9B-2024.pdf">
            <a:extLst xmlns:a="http://schemas.openxmlformats.org/drawingml/2006/main">
              <a:ext uri="{FF2B5EF4-FFF2-40B4-BE49-F238E27FC236}">
                <a16:creationId xmlns:a16="http://schemas.microsoft.com/office/drawing/2014/main" id="{DA4941E6-CF25-4294-AC30-C6F73DA2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../../context/FIT3143-Topic-9B-2024.pdf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D1CBE-7F77-49A4-B5FB-DDD61A22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60FCEC9-E61F-415D-AF7E-8ADB2AC6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1" name="22 / 38">
            <a:extLst xmlns:a="http://schemas.openxmlformats.org/drawingml/2006/main">
              <a:ext uri="{FF2B5EF4-FFF2-40B4-BE49-F238E27FC236}">
                <a16:creationId xmlns:a16="http://schemas.microsoft.com/office/drawing/2014/main" id="{88B9C07B-BE05-4B99-9DB9-253535BF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38</a:t>
            </a:r>
          </a:p>
        </p:txBody>
      </p:sp>
    </p:spTree>
    <p:extLst>
      <p:ext uri="{BB962C8B-B14F-4D97-AF65-F5344CB8AC3E}">
        <p14:creationId xmlns:p14="http://schemas.microsoft.com/office/powerpoint/2010/main" val="6372708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13AAE04E-25BB-4830-B561-B81B5177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assistance and prompt-record provenance">
            <a:extLst xmlns:a="http://schemas.openxmlformats.org/drawingml/2006/main">
              <a:ext uri="{FF2B5EF4-FFF2-40B4-BE49-F238E27FC236}">
                <a16:creationId xmlns:a16="http://schemas.microsoft.com/office/drawing/2014/main" id="{250EA3A2-71B6-4989-B0F4-E2E0BBA9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assistance and prompt-record provenance</a:t>
            </a:r>
          </a:p>
        </p:txBody>
      </p:sp>
      <p:sp>
        <p:nvSpPr>
          <p:cNvPr id="3" name="Tools and assistance">
            <a:extLst xmlns:a="http://schemas.openxmlformats.org/drawingml/2006/main">
              <a:ext uri="{FF2B5EF4-FFF2-40B4-BE49-F238E27FC236}">
                <a16:creationId xmlns:a16="http://schemas.microsoft.com/office/drawing/2014/main" id="{43447E1C-4B9D-403B-ABC2-FBF43C13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Tools and assistance</a:t>
            </a:r>
          </a:p>
        </p:txBody>
      </p:sp>
      <p:sp>
        <p:nvSpPr>
          <p:cNvPr id="4" name="OpenAI Codex was used on 6 and 8 October 2026 for resea">
            <a:extLst xmlns:a="http://schemas.openxmlformats.org/drawingml/2006/main">
              <a:ext uri="{FF2B5EF4-FFF2-40B4-BE49-F238E27FC236}">
                <a16:creationId xmlns:a16="http://schemas.microsoft.com/office/drawing/2014/main" id="{E18E9DBB-9EFC-4880-BF1D-3FB4653D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Codex was used on 6 and 8 October 2026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research/source checks, drafting and revision,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examples, editable slide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diagrams/charts and presentation assembly.</a:t>
            </a:r>
          </a:p>
        </p:txBody>
      </p:sp>
      <p:sp>
        <p:nvSpPr>
          <p:cNvPr id="5" name="AI supported preparation. Students must understand and ">
            <a:extLst xmlns:a="http://schemas.openxmlformats.org/drawingml/2006/main">
              <a:ext uri="{FF2B5EF4-FFF2-40B4-BE49-F238E27FC236}">
                <a16:creationId xmlns:a16="http://schemas.microsoft.com/office/drawing/2014/main" id="{C3075BBF-A0AB-4EC6-BDFE-5CD3050B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supported preparation. Students must understand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validate submitted work; no AI use is permitted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during presentation/interview.</a:t>
            </a:r>
          </a:p>
        </p:txBody>
      </p:sp>
      <p:sp>
        <p:nvSpPr>
          <p:cNvPr id="6" name="Charts are cited sector evidence. Worked examples and p">
            <a:extLst xmlns:a="http://schemas.openxmlformats.org/drawingml/2006/main">
              <a:ext uri="{FF2B5EF4-FFF2-40B4-BE49-F238E27FC236}">
                <a16:creationId xmlns:a16="http://schemas.microsoft.com/office/drawing/2014/main" id="{958C672C-E2F8-422D-8390-ED423665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Charts are cited sector evidence. Worked examples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policy scenarios are labeled illustrative; CUDA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was not measured.</a:t>
            </a:r>
          </a:p>
        </p:txBody>
      </p:sp>
      <p:sp>
        <p:nvSpPr>
          <p:cNvPr id="7" name="Record included in this deck">
            <a:extLst xmlns:a="http://schemas.openxmlformats.org/drawingml/2006/main">
              <a:ext uri="{FF2B5EF4-FFF2-40B4-BE49-F238E27FC236}">
                <a16:creationId xmlns:a16="http://schemas.microsoft.com/office/drawing/2014/main" id="{67DD8E56-8A86-4102-8FBF-4AE2E1F9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Record included in this deck</a:t>
            </a:r>
          </a:p>
        </p:txBody>
      </p:sp>
      <p:sp>
        <p:nvSpPr>
          <p:cNvPr id="8" name="Earlier preparation prompts are reproduced from the sav">
            <a:extLst xmlns:a="http://schemas.openxmlformats.org/drawingml/2006/main">
              <a:ext uri="{FF2B5EF4-FFF2-40B4-BE49-F238E27FC236}">
                <a16:creationId xmlns:a16="http://schemas.microsoft.com/office/drawing/2014/main" id="{CD0ED338-F10C-4363-9EDA-ED352862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preparation prompts are reproduced from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saved Task 1 and Task 2 records with original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spelling. The continuation records the available 8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October requests and supplied details.</a:t>
            </a:r>
          </a:p>
        </p:txBody>
      </p:sp>
      <p:sp>
        <p:nvSpPr>
          <p:cNvPr id="9" name="A recorded review goal is labeled as such, separate fro">
            <a:extLst xmlns:a="http://schemas.openxmlformats.org/drawingml/2006/main">
              <a:ext uri="{FF2B5EF4-FFF2-40B4-BE49-F238E27FC236}">
                <a16:creationId xmlns:a16="http://schemas.microsoft.com/office/drawing/2014/main" id="{8F289871-64D8-492A-B59A-07239CB5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recorded review goal is labeled as such, separate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from direct user prompts. Environment/system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 and assistant/tool output are 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presented as student prompts.</a:t>
            </a:r>
          </a:p>
        </p:txBody>
      </p:sp>
      <p:sp>
        <p:nvSpPr>
          <p:cNvPr id="10" name="The accompanying PDF contains this same presentation, i">
            <a:extLst xmlns:a="http://schemas.openxmlformats.org/drawingml/2006/main">
              <a:ext uri="{FF2B5EF4-FFF2-40B4-BE49-F238E27FC236}">
                <a16:creationId xmlns:a16="http://schemas.microsoft.com/office/drawing/2014/main" id="{B9F6A4F3-F1FA-4F93-99B3-67BCD1FC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accompanying PDF contains this same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presentation, including these records. Any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subsequent AI preparation must be appended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submission.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5B3571-717C-4844-8504-1D2FDBCD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160E6-81B6-460F-AA76-8CFFAA82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6C2B138-0086-4C22-9D8F-7CF4E0CC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23 / 38">
            <a:extLst xmlns:a="http://schemas.openxmlformats.org/drawingml/2006/main">
              <a:ext uri="{FF2B5EF4-FFF2-40B4-BE49-F238E27FC236}">
                <a16:creationId xmlns:a16="http://schemas.microsoft.com/office/drawing/2014/main" id="{1B1F7EA6-6F10-42A6-BB20-03F5FB3D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23 / 38</a:t>
            </a:r>
          </a:p>
        </p:txBody>
      </p:sp>
    </p:spTree>
    <p:extLst>
      <p:ext uri="{BB962C8B-B14F-4D97-AF65-F5344CB8AC3E}">
        <p14:creationId xmlns:p14="http://schemas.microsoft.com/office/powerpoint/2010/main" val="150163956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1">
            <a:extLst xmlns:a="http://schemas.openxmlformats.org/drawingml/2006/main">
              <a:ext uri="{FF2B5EF4-FFF2-40B4-BE49-F238E27FC236}">
                <a16:creationId xmlns:a16="http://schemas.microsoft.com/office/drawing/2014/main" id="{81656A4E-2EE0-46AA-B55D-3AC6ECF2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1</a:t>
            </a:r>
          </a:p>
        </p:txBody>
      </p:sp>
      <p:sp>
        <p:nvSpPr>
          <p:cNvPr id="2" name="Earlier task1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79E5C3AF-3177-474A-9D4B-8B998431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1</a:t>
            </a:r>
          </a:p>
        </p:txBody>
      </p:sp>
      <p:sp>
        <p:nvSpPr>
          <p:cNvPr id="3" name="# AGENTS.md instructions&#10;&#10;&lt;INSTRUCTIONS&gt;&#10;&quot;You are an ex">
            <a:extLst xmlns:a="http://schemas.openxmlformats.org/drawingml/2006/main">
              <a:ext uri="{FF2B5EF4-FFF2-40B4-BE49-F238E27FC236}">
                <a16:creationId xmlns:a16="http://schemas.microsoft.com/office/drawing/2014/main" id="{EDFEB416-4B56-4783-8D73-FE272726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"You are an expert computer science professor and senior software engineer acting as a student mentor.Core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Guidelines:Pedagogy First: When I ask for code, don't just provide the solution. Explain the logic, data structures,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algorithmic complexity (Big O) involved.Focus on Fundamentals: Prioritize standard libraries and fundamental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concepts taught in CS curriculum (e.g., Data Structures &amp; Algorithms, Operating Systems).Academic Integrity &amp; Best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Practices: Write clean, modular, and well-commented code that adheres to industry standards (e.g., PEP8 for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Python).Edge Case Analysis: Always prompt me to think about edge cases (null inputs, empty sets, large inputs)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providing the final code.Debugging Approach: When I present code with a bug, help me trace the logic rather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than immediately providing the fix. Ask probing questions to guide me to the answer."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D0236-5532-447B-AFBA-BBC55FA8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39CBD29-5D0B-477A-90BD-D082BB0C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4 / 38">
            <a:extLst xmlns:a="http://schemas.openxmlformats.org/drawingml/2006/main">
              <a:ext uri="{FF2B5EF4-FFF2-40B4-BE49-F238E27FC236}">
                <a16:creationId xmlns:a16="http://schemas.microsoft.com/office/drawing/2014/main" id="{8C054A87-34AA-4F1C-A249-97C3B3FC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24 / 38</a:t>
            </a:r>
          </a:p>
        </p:txBody>
      </p:sp>
    </p:spTree>
    <p:extLst>
      <p:ext uri="{BB962C8B-B14F-4D97-AF65-F5344CB8AC3E}">
        <p14:creationId xmlns:p14="http://schemas.microsoft.com/office/powerpoint/2010/main" val="2587363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2">
            <a:extLst xmlns:a="http://schemas.openxmlformats.org/drawingml/2006/main">
              <a:ext uri="{FF2B5EF4-FFF2-40B4-BE49-F238E27FC236}">
                <a16:creationId xmlns:a16="http://schemas.microsoft.com/office/drawing/2014/main" id="{33E52579-BB3D-4876-99F5-56DC0180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2</a:t>
            </a:r>
          </a:p>
        </p:txBody>
      </p:sp>
      <p:sp>
        <p:nvSpPr>
          <p:cNvPr id="2" name="Earlier task1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7E8DCFD3-BC61-4AAE-814F-7C955871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2</a:t>
            </a:r>
          </a:p>
        </p:txBody>
      </p:sp>
      <p:sp>
        <p:nvSpPr>
          <p:cNvPr id="3" name="in folder &quot;Applied 2&quot; you will have the content I want ">
            <a:extLst xmlns:a="http://schemas.openxmlformats.org/drawingml/2006/main">
              <a:ext uri="{FF2B5EF4-FFF2-40B4-BE49-F238E27FC236}">
                <a16:creationId xmlns:a16="http://schemas.microsoft.com/office/drawing/2014/main" id="{4D81D1EE-259A-4394-8107-9CF7C25B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folder "Applied 2" you will have the content I want you to work on, explain me what i need to do for task 1(since task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 is done by someboday else), create evrrythign later on if your creating in this folder, you can access all the content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this folder and help me do this applied correctly, fo rthe moment only tell me what I need to do for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05809-AC12-445F-B4F8-BB4D066D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94513749-7953-406F-B431-2BDD0B98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5 / 38">
            <a:extLst xmlns:a="http://schemas.openxmlformats.org/drawingml/2006/main">
              <a:ext uri="{FF2B5EF4-FFF2-40B4-BE49-F238E27FC236}">
                <a16:creationId xmlns:a16="http://schemas.microsoft.com/office/drawing/2014/main" id="{A5F9AE86-0A9E-4579-9BD1-A090E78B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25 / 38</a:t>
            </a:r>
          </a:p>
        </p:txBody>
      </p:sp>
    </p:spTree>
    <p:extLst>
      <p:ext uri="{BB962C8B-B14F-4D97-AF65-F5344CB8AC3E}">
        <p14:creationId xmlns:p14="http://schemas.microsoft.com/office/powerpoint/2010/main" val="17561452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1/3)">
            <a:extLst xmlns:a="http://schemas.openxmlformats.org/drawingml/2006/main">
              <a:ext uri="{FF2B5EF4-FFF2-40B4-BE49-F238E27FC236}">
                <a16:creationId xmlns:a16="http://schemas.microsoft.com/office/drawing/2014/main" id="{FE113886-1F57-4853-90CA-78076A49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(1/3)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0E46266E-3329-4C79-A8F3-B7B2BB36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here is some more context as well which you can add on ">
            <a:extLst xmlns:a="http://schemas.openxmlformats.org/drawingml/2006/main">
              <a:ext uri="{FF2B5EF4-FFF2-40B4-BE49-F238E27FC236}">
                <a16:creationId xmlns:a16="http://schemas.microsoft.com/office/drawing/2014/main" id="{785EF10A-EAF3-4969-B772-7A42A5E9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here is some more context as well which you can add on - Parallel Computer Applied 10 - Based on image rotations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Include diagrams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task 1 - (4min)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focus on the Part D of the workshop from collab - 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D: Reflection Questions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Answer the following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is the role of the host and device in CUDA?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are threads organised into blocks and grids?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is brightness adjustment considered a data-parallel problem?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does GPU acceleration generally improve as image size increases?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overhead is introduced by CPU-GPU memory transfers?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E86D1-C3B3-4038-9FDC-4B278B75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A232CF9D-3D2E-46DC-AC25-2C72FAC9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6 / 38">
            <a:extLst xmlns:a="http://schemas.openxmlformats.org/drawingml/2006/main">
              <a:ext uri="{FF2B5EF4-FFF2-40B4-BE49-F238E27FC236}">
                <a16:creationId xmlns:a16="http://schemas.microsoft.com/office/drawing/2014/main" id="{0AB36F11-7C2A-4F5F-B9FF-3B16DEA3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26 / 38</a:t>
            </a:r>
          </a:p>
        </p:txBody>
      </p:sp>
    </p:spTree>
    <p:extLst>
      <p:ext uri="{BB962C8B-B14F-4D97-AF65-F5344CB8AC3E}">
        <p14:creationId xmlns:p14="http://schemas.microsoft.com/office/powerpoint/2010/main" val="5409877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2/3)">
            <a:extLst xmlns:a="http://schemas.openxmlformats.org/drawingml/2006/main">
              <a:ext uri="{FF2B5EF4-FFF2-40B4-BE49-F238E27FC236}">
                <a16:creationId xmlns:a16="http://schemas.microsoft.com/office/drawing/2014/main" id="{131B6AC3-FA74-4421-A384-FE1A65AA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(2/3)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6F0C0036-CD0D-4812-9039-93218534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How many threads are launched when using:&#10;&#10;      Image">
            <a:extLst xmlns:a="http://schemas.openxmlformats.org/drawingml/2006/main">
              <a:ext uri="{FF2B5EF4-FFF2-40B4-BE49-F238E27FC236}">
                <a16:creationId xmlns:a16="http://schemas.microsoft.com/office/drawing/2014/main" id="{738918C8-D2E7-43D3-B708-C672EEC2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many threads are launched when using: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= 1024 x 1024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 Size = 16 x 16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If the GPU contained thousands of CUDA cores, how can they process millions of image pixels?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 2 - (3min)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how HPC is related to parallel computing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HPC relates to scaling and AI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to include statistics adn charts(make sure to get proper citation) and make sure you are able to properly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this and the trend.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make sure to cover a few points not all (out of a,b,c,d), but not all have to be in detail (since some of them overlap)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atleast 1 point is explained in detail.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D1230-C1E2-477D-86CB-51D8B84E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8E6006F-9135-485C-A089-2E4B5160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7 / 38">
            <a:extLst xmlns:a="http://schemas.openxmlformats.org/drawingml/2006/main">
              <a:ext uri="{FF2B5EF4-FFF2-40B4-BE49-F238E27FC236}">
                <a16:creationId xmlns:a16="http://schemas.microsoft.com/office/drawing/2014/main" id="{4A4FB563-BEBE-4B2F-864B-C254F365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27 / 38</a:t>
            </a:r>
          </a:p>
        </p:txBody>
      </p:sp>
    </p:spTree>
    <p:extLst>
      <p:ext uri="{BB962C8B-B14F-4D97-AF65-F5344CB8AC3E}">
        <p14:creationId xmlns:p14="http://schemas.microsoft.com/office/powerpoint/2010/main" val="7135221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3/3)">
            <a:extLst xmlns:a="http://schemas.openxmlformats.org/drawingml/2006/main">
              <a:ext uri="{FF2B5EF4-FFF2-40B4-BE49-F238E27FC236}">
                <a16:creationId xmlns:a16="http://schemas.microsoft.com/office/drawing/2014/main" id="{AE9F1571-DCF9-4193-892C-4DCE2C74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(3/3)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82C85974-3E78-410C-80CF-F598D96B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Ex: &#10;&#10;total time to present 7 mins&#10;&#10;&#10;can task 1 be don">
            <a:extLst xmlns:a="http://schemas.openxmlformats.org/drawingml/2006/main">
              <a:ext uri="{FF2B5EF4-FFF2-40B4-BE49-F238E27FC236}">
                <a16:creationId xmlns:a16="http://schemas.microsoft.com/office/drawing/2014/main" id="{6CC3DF34-2D87-49F9-BADD-307C6984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Ex: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time to present 7 mins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 task 1 be done by you or does it reqrueis desgnig somethign ? if you can do it go ahead and do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02C0D-ECF6-41CC-B720-C4E193D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4A579AD-AE6D-4F59-85C8-AA6CBF5D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8 / 38">
            <a:extLst xmlns:a="http://schemas.openxmlformats.org/drawingml/2006/main">
              <a:ext uri="{FF2B5EF4-FFF2-40B4-BE49-F238E27FC236}">
                <a16:creationId xmlns:a16="http://schemas.microsoft.com/office/drawing/2014/main" id="{BFC43354-3FAF-47D2-8766-E488A094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28 / 38</a:t>
            </a:r>
          </a:p>
        </p:txBody>
      </p:sp>
    </p:spTree>
    <p:extLst>
      <p:ext uri="{BB962C8B-B14F-4D97-AF65-F5344CB8AC3E}">
        <p14:creationId xmlns:p14="http://schemas.microsoft.com/office/powerpoint/2010/main" val="62633805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4">
            <a:extLst xmlns:a="http://schemas.openxmlformats.org/drawingml/2006/main">
              <a:ext uri="{FF2B5EF4-FFF2-40B4-BE49-F238E27FC236}">
                <a16:creationId xmlns:a16="http://schemas.microsoft.com/office/drawing/2014/main" id="{7AA13107-DE4B-4DA4-9B35-C505A08A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4</a:t>
            </a:r>
          </a:p>
        </p:txBody>
      </p:sp>
      <p:sp>
        <p:nvSpPr>
          <p:cNvPr id="2" name="Earlier task2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AB7BE067-5B5A-4FD9-A638-E03113CF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1</a:t>
            </a:r>
          </a:p>
        </p:txBody>
      </p:sp>
      <p:sp>
        <p:nvSpPr>
          <p:cNvPr id="3" name="Are you able to push the changes to this git page and c">
            <a:extLst xmlns:a="http://schemas.openxmlformats.org/drawingml/2006/main">
              <a:ext uri="{FF2B5EF4-FFF2-40B4-BE49-F238E27FC236}">
                <a16:creationId xmlns:a16="http://schemas.microsoft.com/office/drawing/2014/main" id="{66EF71F2-52C5-4BA8-9B43-F3AA18B3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you able to push the changes to this git page and create a new folder named applied2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https://github.com/Shamle-T/FIT3143-Parallel-Computing dont include any refernces of codex in the naming when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your creating a new folder. Let me know whether this is possible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A702F-B0A8-41C7-9EEC-D96D7CF9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08DA6C5-2379-49BE-8F1F-FF5C3379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9 / 38">
            <a:extLst xmlns:a="http://schemas.openxmlformats.org/drawingml/2006/main">
              <a:ext uri="{FF2B5EF4-FFF2-40B4-BE49-F238E27FC236}">
                <a16:creationId xmlns:a16="http://schemas.microsoft.com/office/drawing/2014/main" id="{758413C9-A9E6-47EB-A7C3-2E66A07C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29 / 38</a:t>
            </a:r>
          </a:p>
        </p:txBody>
      </p:sp>
    </p:spTree>
    <p:extLst>
      <p:ext uri="{BB962C8B-B14F-4D97-AF65-F5344CB8AC3E}">
        <p14:creationId xmlns:p14="http://schemas.microsoft.com/office/powerpoint/2010/main" val="82694864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5">
            <a:extLst xmlns:a="http://schemas.openxmlformats.org/drawingml/2006/main">
              <a:ext uri="{FF2B5EF4-FFF2-40B4-BE49-F238E27FC236}">
                <a16:creationId xmlns:a16="http://schemas.microsoft.com/office/drawing/2014/main" id="{58C43F29-EE8F-4B16-9C9C-CAE22C37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5</a:t>
            </a:r>
          </a:p>
        </p:txBody>
      </p:sp>
      <p:sp>
        <p:nvSpPr>
          <p:cNvPr id="2" name="Earlier task2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76C9D000-B108-46D9-A75F-D04787A8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2</a:t>
            </a:r>
          </a:p>
        </p:txBody>
      </p:sp>
      <p:sp>
        <p:nvSpPr>
          <p:cNvPr id="3" name="using a detailed comit message push the current changes">
            <a:extLst xmlns:a="http://schemas.openxmlformats.org/drawingml/2006/main">
              <a:ext uri="{FF2B5EF4-FFF2-40B4-BE49-F238E27FC236}">
                <a16:creationId xmlns:a16="http://schemas.microsoft.com/office/drawing/2014/main" id="{21B612BC-F53A-4429-B1CF-4414F021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using a detailed comit message push the current changes to git and also do we need to do any code for task 1?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pushed do task 2 as well, and push the task 2 to git are required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7B2F3-DAE5-4890-8B8E-DBC7012F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1416C55-239D-4171-9880-BA0202CB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0 / 38">
            <a:extLst xmlns:a="http://schemas.openxmlformats.org/drawingml/2006/main">
              <a:ext uri="{FF2B5EF4-FFF2-40B4-BE49-F238E27FC236}">
                <a16:creationId xmlns:a16="http://schemas.microsoft.com/office/drawing/2014/main" id="{38ADD9AE-2170-47A5-95CF-8232DCDC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30 / 38</a:t>
            </a:r>
          </a:p>
        </p:txBody>
      </p:sp>
    </p:spTree>
    <p:extLst>
      <p:ext uri="{BB962C8B-B14F-4D97-AF65-F5344CB8AC3E}">
        <p14:creationId xmlns:p14="http://schemas.microsoft.com/office/powerpoint/2010/main" val="176865279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6">
            <a:extLst xmlns:a="http://schemas.openxmlformats.org/drawingml/2006/main">
              <a:ext uri="{FF2B5EF4-FFF2-40B4-BE49-F238E27FC236}">
                <a16:creationId xmlns:a16="http://schemas.microsoft.com/office/drawing/2014/main" id="{7EB52679-041A-45BD-A3E2-2579455E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6</a:t>
            </a:r>
          </a:p>
        </p:txBody>
      </p:sp>
      <p:sp>
        <p:nvSpPr>
          <p:cNvPr id="2" name="Earlier task2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20728860-E924-4614-95E0-787B349A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3</a:t>
            </a:r>
          </a:p>
        </p:txBody>
      </p:sp>
      <p:sp>
        <p:nvSpPr>
          <p:cNvPr id="3" name="1)once you have compelted task 2, make sure you have ai">
            <a:extLst xmlns:a="http://schemas.openxmlformats.org/drawingml/2006/main">
              <a:ext uri="{FF2B5EF4-FFF2-40B4-BE49-F238E27FC236}">
                <a16:creationId xmlns:a16="http://schemas.microsoft.com/office/drawing/2014/main" id="{5815D300-F993-4B68-B0F3-4B1875B3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1)once you have compelted task 2, make sure you have aimed for HD in rubric yeah? for both task 1 and task 2 - if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update both tasks to cover HD level in the rubric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2) create a 6 minute script for both me (task1) and (task2) for my firend , make sure it doesnt sound overly robotic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since we will have to speak this 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9A456-98AE-4D3F-9D0D-AD4403A8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3B8D7F6-9B6D-4286-9B66-00B072FB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1 / 38">
            <a:extLst xmlns:a="http://schemas.openxmlformats.org/drawingml/2006/main">
              <a:ext uri="{FF2B5EF4-FFF2-40B4-BE49-F238E27FC236}">
                <a16:creationId xmlns:a16="http://schemas.microsoft.com/office/drawing/2014/main" id="{4FCD8FBC-A155-4242-A0E0-85444366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31 / 38</a:t>
            </a:r>
          </a:p>
        </p:txBody>
      </p:sp>
    </p:spTree>
    <p:extLst>
      <p:ext uri="{BB962C8B-B14F-4D97-AF65-F5344CB8AC3E}">
        <p14:creationId xmlns:p14="http://schemas.microsoft.com/office/powerpoint/2010/main" val="6879843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7">
            <a:extLst xmlns:a="http://schemas.openxmlformats.org/drawingml/2006/main">
              <a:ext uri="{FF2B5EF4-FFF2-40B4-BE49-F238E27FC236}">
                <a16:creationId xmlns:a16="http://schemas.microsoft.com/office/drawing/2014/main" id="{39599650-C379-4E78-989A-15344180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7</a:t>
            </a:r>
          </a:p>
        </p:txBody>
      </p:sp>
      <p:sp>
        <p:nvSpPr>
          <p:cNvPr id="2" name="Earlier task2 preparation, record 4">
            <a:extLst xmlns:a="http://schemas.openxmlformats.org/drawingml/2006/main">
              <a:ext uri="{FF2B5EF4-FFF2-40B4-BE49-F238E27FC236}">
                <a16:creationId xmlns:a16="http://schemas.microsoft.com/office/drawing/2014/main" id="{2C4CECAF-9C9E-4F7B-B9A9-0F248347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4</a:t>
            </a:r>
          </a:p>
        </p:txBody>
      </p:sp>
      <p:sp>
        <p:nvSpPr>
          <p:cNvPr id="3" name="Six minutes total: 3 minutes each">
            <a:extLst xmlns:a="http://schemas.openxmlformats.org/drawingml/2006/main">
              <a:ext uri="{FF2B5EF4-FFF2-40B4-BE49-F238E27FC236}">
                <a16:creationId xmlns:a16="http://schemas.microsoft.com/office/drawing/2014/main" id="{8DD990DC-AD60-4E44-866B-C6DD189B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Six minutes total: 3 minutes 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406D2-8593-47F3-B4E9-BF69DF51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6557088-4055-4023-8493-4A2AC3E3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2 / 38">
            <a:extLst xmlns:a="http://schemas.openxmlformats.org/drawingml/2006/main">
              <a:ext uri="{FF2B5EF4-FFF2-40B4-BE49-F238E27FC236}">
                <a16:creationId xmlns:a16="http://schemas.microsoft.com/office/drawing/2014/main" id="{8030E711-894A-4088-9726-699ACA3B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32 / 38</a:t>
            </a:r>
          </a:p>
        </p:txBody>
      </p:sp>
    </p:spTree>
    <p:extLst>
      <p:ext uri="{BB962C8B-B14F-4D97-AF65-F5344CB8AC3E}">
        <p14:creationId xmlns:p14="http://schemas.microsoft.com/office/powerpoint/2010/main" val="102561407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8">
            <a:extLst xmlns:a="http://schemas.openxmlformats.org/drawingml/2006/main">
              <a:ext uri="{FF2B5EF4-FFF2-40B4-BE49-F238E27FC236}">
                <a16:creationId xmlns:a16="http://schemas.microsoft.com/office/drawing/2014/main" id="{2A3DFC93-8FA0-4F2F-A7D2-AA0CD6A3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8</a:t>
            </a:r>
          </a:p>
        </p:txBody>
      </p:sp>
      <p:sp>
        <p:nvSpPr>
          <p:cNvPr id="2" name="Repository synchronization">
            <a:extLst xmlns:a="http://schemas.openxmlformats.org/drawingml/2006/main">
              <a:ext uri="{FF2B5EF4-FFF2-40B4-BE49-F238E27FC236}">
                <a16:creationId xmlns:a16="http://schemas.microsoft.com/office/drawing/2014/main" id="{BD6870C7-5907-4445-8299-03CA867C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Repository synchronization</a:t>
            </a:r>
          </a:p>
        </p:txBody>
      </p:sp>
      <p:sp>
        <p:nvSpPr>
          <p:cNvPr id="3" name="pull the latest from the remote repo, push any local ch">
            <a:extLst xmlns:a="http://schemas.openxmlformats.org/drawingml/2006/main">
              <a:ext uri="{FF2B5EF4-FFF2-40B4-BE49-F238E27FC236}">
                <a16:creationId xmlns:a16="http://schemas.microsoft.com/office/drawing/2014/main" id="{3FB93C8C-0894-41B6-9E4B-81C56980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pull the latest from the remote repo, push any local changes and merge, local changes arent important. main goal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 get the latest version of the "applied2" dir from the remote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B7FF3-7F1A-477F-BDD5-0D429205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D88ED00-E4D5-4D74-B95E-C2CC4D15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3 / 38">
            <a:extLst xmlns:a="http://schemas.openxmlformats.org/drawingml/2006/main">
              <a:ext uri="{FF2B5EF4-FFF2-40B4-BE49-F238E27FC236}">
                <a16:creationId xmlns:a16="http://schemas.microsoft.com/office/drawing/2014/main" id="{3D15E3DB-282E-420A-AE8F-05542126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33 / 38</a:t>
            </a:r>
          </a:p>
        </p:txBody>
      </p:sp>
    </p:spTree>
    <p:extLst>
      <p:ext uri="{BB962C8B-B14F-4D97-AF65-F5344CB8AC3E}">
        <p14:creationId xmlns:p14="http://schemas.microsoft.com/office/powerpoint/2010/main" val="43728924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9">
            <a:extLst xmlns:a="http://schemas.openxmlformats.org/drawingml/2006/main">
              <a:ext uri="{FF2B5EF4-FFF2-40B4-BE49-F238E27FC236}">
                <a16:creationId xmlns:a16="http://schemas.microsoft.com/office/drawing/2014/main" id="{27CE6918-2754-447E-96B6-9213E3AE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9</a:t>
            </a:r>
          </a:p>
        </p:txBody>
      </p:sp>
      <p:sp>
        <p:nvSpPr>
          <p:cNvPr id="2" name="Review request">
            <a:extLst xmlns:a="http://schemas.openxmlformats.org/drawingml/2006/main">
              <a:ext uri="{FF2B5EF4-FFF2-40B4-BE49-F238E27FC236}">
                <a16:creationId xmlns:a16="http://schemas.microsoft.com/office/drawing/2014/main" id="{3878CA67-C90D-4AFA-8624-5E0F2187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request</a:t>
            </a:r>
          </a:p>
        </p:txBody>
      </p:sp>
      <p:sp>
        <p:nvSpPr>
          <p:cNvPr id="3" name="- review the content in the root level context folder (">
            <a:extLst xmlns:a="http://schemas.openxmlformats.org/drawingml/2006/main">
              <a:ext uri="{FF2B5EF4-FFF2-40B4-BE49-F238E27FC236}">
                <a16:creationId xmlns:a16="http://schemas.microsoft.com/office/drawing/2014/main" id="{5F52D7E6-E1A1-4E2D-91D6-D09C77CD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content in the root level context folder (with an emphasis on week's 7-9).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solutions to task 1 and task 2 in [applied2](applied2/) based on the specification [Applied #2 -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Assessment Specification.pdf](&lt;\&lt;applied2/assessment/Applied #2 - Assessment Specification.pdf\&gt;&gt;) . Identify any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key HD blockers in the solutions based on the rubric attached.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The solutions dont need to only use the theory in the context folder but where possible, they should.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3EA62-4317-48CB-8988-CEA2E49B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79FD60C-261C-42FC-8C08-4B60AFC0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4 / 38">
            <a:extLst xmlns:a="http://schemas.openxmlformats.org/drawingml/2006/main">
              <a:ext uri="{FF2B5EF4-FFF2-40B4-BE49-F238E27FC236}">
                <a16:creationId xmlns:a16="http://schemas.microsoft.com/office/drawing/2014/main" id="{11325BC5-1429-4084-A647-2E6820C1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34 / 38</a:t>
            </a:r>
          </a:p>
        </p:txBody>
      </p:sp>
    </p:spTree>
    <p:extLst>
      <p:ext uri="{BB962C8B-B14F-4D97-AF65-F5344CB8AC3E}">
        <p14:creationId xmlns:p14="http://schemas.microsoft.com/office/powerpoint/2010/main" val="195723485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0">
            <a:extLst xmlns:a="http://schemas.openxmlformats.org/drawingml/2006/main">
              <a:ext uri="{FF2B5EF4-FFF2-40B4-BE49-F238E27FC236}">
                <a16:creationId xmlns:a16="http://schemas.microsoft.com/office/drawing/2014/main" id="{8A356904-9691-477D-9128-5DA42C42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10</a:t>
            </a:r>
          </a:p>
        </p:txBody>
      </p:sp>
      <p:sp>
        <p:nvSpPr>
          <p:cNvPr id="2" name="Current preparation instructions">
            <a:extLst xmlns:a="http://schemas.openxmlformats.org/drawingml/2006/main">
              <a:ext uri="{FF2B5EF4-FFF2-40B4-BE49-F238E27FC236}">
                <a16:creationId xmlns:a16="http://schemas.microsoft.com/office/drawing/2014/main" id="{518C9AF4-3D39-4229-9986-7BE30165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Current preparation instructions</a:t>
            </a:r>
          </a:p>
        </p:txBody>
      </p:sp>
      <p:sp>
        <p:nvSpPr>
          <p:cNvPr id="3" name="# AGENTS.md instructions&#10;&#10;&lt;INSTRUCTIONS&gt;&#10;- Answer immed">
            <a:extLst xmlns:a="http://schemas.openxmlformats.org/drawingml/2006/main">
              <a:ext uri="{FF2B5EF4-FFF2-40B4-BE49-F238E27FC236}">
                <a16:creationId xmlns:a16="http://schemas.microsoft.com/office/drawing/2014/main" id="{EEB66892-59CB-490A-B6CE-25877FB6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Answer immediately without intro pleasantries, prompt repetitions, or polite filler.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Be concise. Avoid conversational fluff, over-explanation, and unsolicited summaries.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Rely strictly on verified facts. Never invent URLs, names, statistics, or quotes.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If an answer cannot be verified with absolute certainty, state "I do not know" instead of guessing.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For complex logic, perform brief step-by-step reasoning before delivering the final answer.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F1383-DFB7-4F36-B824-7334C720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1C7604C-B180-4F1F-B6AF-E699BB2C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5 / 38">
            <a:extLst xmlns:a="http://schemas.openxmlformats.org/drawingml/2006/main">
              <a:ext uri="{FF2B5EF4-FFF2-40B4-BE49-F238E27FC236}">
                <a16:creationId xmlns:a16="http://schemas.microsoft.com/office/drawing/2014/main" id="{25830817-3904-483A-8674-E3223B3E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35 / 38</a:t>
            </a:r>
          </a:p>
        </p:txBody>
      </p:sp>
    </p:spTree>
    <p:extLst>
      <p:ext uri="{BB962C8B-B14F-4D97-AF65-F5344CB8AC3E}">
        <p14:creationId xmlns:p14="http://schemas.microsoft.com/office/powerpoint/2010/main" val="7887827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Recorded goal 11">
            <a:extLst xmlns:a="http://schemas.openxmlformats.org/drawingml/2006/main">
              <a:ext uri="{FF2B5EF4-FFF2-40B4-BE49-F238E27FC236}">
                <a16:creationId xmlns:a16="http://schemas.microsoft.com/office/drawing/2014/main" id="{5CC86849-31DC-4903-A684-F99AE76E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Recorded goal 11</a:t>
            </a:r>
          </a:p>
        </p:txBody>
      </p:sp>
      <p:sp>
        <p:nvSpPr>
          <p:cNvPr id="2" name="Recorded review goal">
            <a:extLst xmlns:a="http://schemas.openxmlformats.org/drawingml/2006/main">
              <a:ext uri="{FF2B5EF4-FFF2-40B4-BE49-F238E27FC236}">
                <a16:creationId xmlns:a16="http://schemas.microsoft.com/office/drawing/2014/main" id="{8080EA95-4816-4ED4-A840-2E9F35C8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Recorded review goal</a:t>
            </a:r>
          </a:p>
        </p:txBody>
      </p:sp>
      <p:sp>
        <p:nvSpPr>
          <p:cNvPr id="3" name="Review the solutions to task 1 and task 2 in [applied2]">
            <a:extLst xmlns:a="http://schemas.openxmlformats.org/drawingml/2006/main">
              <a:ext uri="{FF2B5EF4-FFF2-40B4-BE49-F238E27FC236}">
                <a16:creationId xmlns:a16="http://schemas.microsoft.com/office/drawing/2014/main" id="{603BA3D7-E75A-4423-99AC-E0911C99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the solutions to task 1 and task 2 in [applied2](applied2/) based on the specification [Applied #2 - Assessment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Specification.pdf](&lt;applied2/assessment/Applied #2 - Assessment Specification.pdf&gt;) . Identify any key HD blockers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the solutions based on the rubric attached. Dont stop until you are certain you have identified every HD blocker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created an action plan which you can later execute to update the solutions to fix all problems.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7536C-E554-4EFC-959A-9FA281E2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155C2F0-441C-4D85-8314-B8633BDC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6 / 38">
            <a:extLst xmlns:a="http://schemas.openxmlformats.org/drawingml/2006/main">
              <a:ext uri="{FF2B5EF4-FFF2-40B4-BE49-F238E27FC236}">
                <a16:creationId xmlns:a16="http://schemas.microsoft.com/office/drawing/2014/main" id="{2FCAE5B1-A270-43B2-91C5-85F8A0B4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36 / 38</a:t>
            </a:r>
          </a:p>
        </p:txBody>
      </p:sp>
    </p:spTree>
    <p:extLst>
      <p:ext uri="{BB962C8B-B14F-4D97-AF65-F5344CB8AC3E}">
        <p14:creationId xmlns:p14="http://schemas.microsoft.com/office/powerpoint/2010/main" val="112117457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2">
            <a:extLst xmlns:a="http://schemas.openxmlformats.org/drawingml/2006/main">
              <a:ext uri="{FF2B5EF4-FFF2-40B4-BE49-F238E27FC236}">
                <a16:creationId xmlns:a16="http://schemas.microsoft.com/office/drawing/2014/main" id="{C73E926C-3016-493E-BF58-2EECAF44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12</a:t>
            </a:r>
          </a:p>
        </p:txBody>
      </p:sp>
      <p:sp>
        <p:nvSpPr>
          <p:cNvPr id="2" name="Revision and presentation request">
            <a:extLst xmlns:a="http://schemas.openxmlformats.org/drawingml/2006/main">
              <a:ext uri="{FF2B5EF4-FFF2-40B4-BE49-F238E27FC236}">
                <a16:creationId xmlns:a16="http://schemas.microsoft.com/office/drawing/2014/main" id="{CEDB3E62-0E8D-4C00-BB03-224A666D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Revision and presentation request</a:t>
            </a:r>
          </a:p>
        </p:txBody>
      </p:sp>
      <p:sp>
        <p:nvSpPr>
          <p:cNvPr id="3" name="Now, fix all the identified problems and HD blockers. D">
            <a:extLst xmlns:a="http://schemas.openxmlformats.org/drawingml/2006/main">
              <a:ext uri="{FF2B5EF4-FFF2-40B4-BE49-F238E27FC236}">
                <a16:creationId xmlns:a16="http://schemas.microsoft.com/office/drawing/2014/main" id="{39AE4A5A-12FD-4AFD-B495-28C44FD4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Now, fix all the identified problems and HD blockers. Don't stop until you're confident that task 1 and task 2 have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high probability of achieving an HD as per the applied-to rubric. Also refer to teaching_team_guidance.md, which is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applied2 directory. Also ignore the Q&amp;A and "Presentation Quality" in the rubric as these will be done by me. You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need to create the presentation but dont worry about presenting it. Once you are confident with the task 1 and 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solutions create a presentation as per task 3 (again dont worry about task 3 part c). Ensure the presentation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professionally formatted and contains all key details as I will not be submitting any other report, all info must be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 in the 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9C65E-BAC0-467F-A4BF-F76D5004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9F87B160-28B5-4974-8981-CB071900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7 / 38">
            <a:extLst xmlns:a="http://schemas.openxmlformats.org/drawingml/2006/main">
              <a:ext uri="{FF2B5EF4-FFF2-40B4-BE49-F238E27FC236}">
                <a16:creationId xmlns:a16="http://schemas.microsoft.com/office/drawing/2014/main" id="{A6132AA4-A5E4-4F1D-AEFF-4D076677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37 / 38</a:t>
            </a:r>
          </a:p>
        </p:txBody>
      </p:sp>
    </p:spTree>
    <p:extLst>
      <p:ext uri="{BB962C8B-B14F-4D97-AF65-F5344CB8AC3E}">
        <p14:creationId xmlns:p14="http://schemas.microsoft.com/office/powerpoint/2010/main" val="198061087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3">
            <a:extLst xmlns:a="http://schemas.openxmlformats.org/drawingml/2006/main">
              <a:ext uri="{FF2B5EF4-FFF2-40B4-BE49-F238E27FC236}">
                <a16:creationId xmlns:a16="http://schemas.microsoft.com/office/drawing/2014/main" id="{C0C0E3A6-D606-4A12-A3E8-AFD23491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13</a:t>
            </a:r>
          </a:p>
        </p:txBody>
      </p:sp>
      <p:sp>
        <p:nvSpPr>
          <p:cNvPr id="2" name="Identification details supplied">
            <a:extLst xmlns:a="http://schemas.openxmlformats.org/drawingml/2006/main">
              <a:ext uri="{FF2B5EF4-FFF2-40B4-BE49-F238E27FC236}">
                <a16:creationId xmlns:a16="http://schemas.microsoft.com/office/drawing/2014/main" id="{6398DD09-BDAD-4BAE-A391-CF3F71C4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Identification details supplied</a:t>
            </a:r>
          </a:p>
        </p:txBody>
      </p:sp>
      <p:sp>
        <p:nvSpPr>
          <p:cNvPr id="3" name="Savin Vindiv De Alwis (35221631) - sdea0018@student.mon">
            <a:extLst xmlns:a="http://schemas.openxmlformats.org/drawingml/2006/main">
              <a:ext uri="{FF2B5EF4-FFF2-40B4-BE49-F238E27FC236}">
                <a16:creationId xmlns:a16="http://schemas.microsoft.com/office/drawing/2014/main" id="{5EE3E7DE-1861-46F7-AC33-65C40D33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Savin Vindiv De Alwis (35221631) - sdea0018@student.monash.edu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Shamle Thilaksiri (35512075) - wthi0003@student.monash.edu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53D57-D4A3-4274-A4D1-25028BFA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548A42F-FB06-4170-8C88-2C07F55D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8 / 38">
            <a:extLst xmlns:a="http://schemas.openxmlformats.org/drawingml/2006/main">
              <a:ext uri="{FF2B5EF4-FFF2-40B4-BE49-F238E27FC236}">
                <a16:creationId xmlns:a16="http://schemas.microsoft.com/office/drawing/2014/main" id="{C5118275-D5B4-4809-93DF-41005ABE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38 / 38</a:t>
            </a:r>
          </a:p>
        </p:txBody>
      </p:sp>
    </p:spTree>
    <p:extLst>
      <p:ext uri="{BB962C8B-B14F-4D97-AF65-F5344CB8AC3E}">
        <p14:creationId xmlns:p14="http://schemas.microsoft.com/office/powerpoint/2010/main" val="941836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2026-10-08T11:12:11.9170000Z</dcterms:created>
  <dcterms:modified xsi:type="dcterms:W3CDTF">2026-10-08T11:12:11.9170000Z</dcterms:modified>
</coreProperties>
</file>