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31b37c1d624a8d" /><Relationship Type="http://schemas.openxmlformats.org/officeDocument/2006/relationships/extended-properties" Target="/docProps/app.xml" Id="Rb35d14b409704b7b" /><Relationship Type="http://schemas.openxmlformats.org/officeDocument/2006/relationships/officeDocument" Target="/ppt/presentation.xml" Id="R7ff7e0568a5e43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83dd264de34248"/>
  </p:sldMasterIdLst>
  <p:notesMasterIdLst>
    <p:notesMasterId xmlns:r="http://schemas.openxmlformats.org/officeDocument/2006/relationships" r:id="Ref576ea264ef4610"/>
  </p:notesMasterIdLst>
  <p:sldIdLst>
    <p:sldId xmlns:r="http://schemas.openxmlformats.org/officeDocument/2006/relationships" id="256" r:id="R3270d6d9e7044a25"/>
    <p:sldId xmlns:r="http://schemas.openxmlformats.org/officeDocument/2006/relationships" id="257" r:id="R1cf9a116c7af44dd"/>
    <p:sldId xmlns:r="http://schemas.openxmlformats.org/officeDocument/2006/relationships" id="258" r:id="Rf6ad3169b7814388"/>
    <p:sldId xmlns:r="http://schemas.openxmlformats.org/officeDocument/2006/relationships" id="259" r:id="R63da882560214b20"/>
    <p:sldId xmlns:r="http://schemas.openxmlformats.org/officeDocument/2006/relationships" id="260" r:id="Rfd674589bcb94fe3"/>
    <p:sldId xmlns:r="http://schemas.openxmlformats.org/officeDocument/2006/relationships" id="261" r:id="R37e385eb838044f6"/>
    <p:sldId xmlns:r="http://schemas.openxmlformats.org/officeDocument/2006/relationships" id="262" r:id="R021b4cb689c0484f"/>
    <p:sldId xmlns:r="http://schemas.openxmlformats.org/officeDocument/2006/relationships" id="263" r:id="R047cadbfa84044c8"/>
    <p:sldId xmlns:r="http://schemas.openxmlformats.org/officeDocument/2006/relationships" id="264" r:id="R89567ee24b2a40df"/>
    <p:sldId xmlns:r="http://schemas.openxmlformats.org/officeDocument/2006/relationships" id="265" r:id="R59dd7016e62f490a"/>
    <p:sldId xmlns:r="http://schemas.openxmlformats.org/officeDocument/2006/relationships" id="266" r:id="R8ae9fe369e9442ec"/>
    <p:sldId xmlns:r="http://schemas.openxmlformats.org/officeDocument/2006/relationships" id="267" r:id="Rde53b862804c4700"/>
    <p:sldId xmlns:r="http://schemas.openxmlformats.org/officeDocument/2006/relationships" id="268" r:id="R7c51ee96d3a2449c"/>
    <p:sldId xmlns:r="http://schemas.openxmlformats.org/officeDocument/2006/relationships" id="269" r:id="Rb4d9843e3394429c"/>
    <p:sldId xmlns:r="http://schemas.openxmlformats.org/officeDocument/2006/relationships" id="270" r:id="Ra72e96b4f6054c93"/>
    <p:sldId xmlns:r="http://schemas.openxmlformats.org/officeDocument/2006/relationships" id="271" r:id="R81e7b3e0f9be4f69"/>
    <p:sldId xmlns:r="http://schemas.openxmlformats.org/officeDocument/2006/relationships" id="272" r:id="R55c604221c224daa"/>
    <p:sldId xmlns:r="http://schemas.openxmlformats.org/officeDocument/2006/relationships" id="273" r:id="R1dd783b790bb4a18"/>
    <p:sldId xmlns:r="http://schemas.openxmlformats.org/officeDocument/2006/relationships" id="274" r:id="R42beb7887d854e64"/>
    <p:sldId xmlns:r="http://schemas.openxmlformats.org/officeDocument/2006/relationships" id="275" r:id="R7756ace83e0e4041"/>
    <p:sldId xmlns:r="http://schemas.openxmlformats.org/officeDocument/2006/relationships" id="276" r:id="R9ac38d1fe7ef4dbb"/>
    <p:sldId xmlns:r="http://schemas.openxmlformats.org/officeDocument/2006/relationships" id="277" r:id="R0d5c40c852d34170"/>
    <p:sldId xmlns:r="http://schemas.openxmlformats.org/officeDocument/2006/relationships" id="278" r:id="R48c011333d584d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ab4e1b175a43d9" /><Relationship Type="http://schemas.openxmlformats.org/officeDocument/2006/relationships/slideMaster" Target="/ppt/slideMasters/slideMaster1.xml" Id="R5083dd264de34248" /><Relationship Type="http://schemas.openxmlformats.org/officeDocument/2006/relationships/notesMaster" Target="/ppt/notesMasters/notesMaster1.xml" Id="Ref576ea264ef4610" /><Relationship Type="http://schemas.openxmlformats.org/officeDocument/2006/relationships/presProps" Target="/ppt/presProps.xml" Id="Rc7cfe8652ce648f3" /><Relationship Type="http://schemas.openxmlformats.org/officeDocument/2006/relationships/tableStyles" Target="/ppt/tableStyles.xml" Id="Rfa9d0f874599428c" /><Relationship Type="http://schemas.openxmlformats.org/officeDocument/2006/relationships/slide" Target="/ppt/slides/slide1.xml" Id="R3270d6d9e7044a25" /><Relationship Type="http://schemas.openxmlformats.org/officeDocument/2006/relationships/slide" Target="/ppt/slides/slide2.xml" Id="R1cf9a116c7af44dd" /><Relationship Type="http://schemas.openxmlformats.org/officeDocument/2006/relationships/slide" Target="/ppt/slides/slide3.xml" Id="Rf6ad3169b7814388" /><Relationship Type="http://schemas.openxmlformats.org/officeDocument/2006/relationships/slide" Target="/ppt/slides/slide4.xml" Id="R63da882560214b20" /><Relationship Type="http://schemas.openxmlformats.org/officeDocument/2006/relationships/slide" Target="/ppt/slides/slide5.xml" Id="Rfd674589bcb94fe3" /><Relationship Type="http://schemas.openxmlformats.org/officeDocument/2006/relationships/slide" Target="/ppt/slides/slide6.xml" Id="R37e385eb838044f6" /><Relationship Type="http://schemas.openxmlformats.org/officeDocument/2006/relationships/slide" Target="/ppt/slides/slide7.xml" Id="R021b4cb689c0484f" /><Relationship Type="http://schemas.openxmlformats.org/officeDocument/2006/relationships/slide" Target="/ppt/slides/slide8.xml" Id="R047cadbfa84044c8" /><Relationship Type="http://schemas.openxmlformats.org/officeDocument/2006/relationships/slide" Target="/ppt/slides/slide9.xml" Id="R89567ee24b2a40df" /><Relationship Type="http://schemas.openxmlformats.org/officeDocument/2006/relationships/slide" Target="/ppt/slides/slide10.xml" Id="R59dd7016e62f490a" /><Relationship Type="http://schemas.openxmlformats.org/officeDocument/2006/relationships/slide" Target="/ppt/slides/slide11.xml" Id="R8ae9fe369e9442ec" /><Relationship Type="http://schemas.openxmlformats.org/officeDocument/2006/relationships/slide" Target="/ppt/slides/slide12.xml" Id="Rde53b862804c4700" /><Relationship Type="http://schemas.openxmlformats.org/officeDocument/2006/relationships/slide" Target="/ppt/slides/slide13.xml" Id="R7c51ee96d3a2449c" /><Relationship Type="http://schemas.openxmlformats.org/officeDocument/2006/relationships/slide" Target="/ppt/slides/slide14.xml" Id="Rb4d9843e3394429c" /><Relationship Type="http://schemas.openxmlformats.org/officeDocument/2006/relationships/slide" Target="/ppt/slides/slide15.xml" Id="Ra72e96b4f6054c93" /><Relationship Type="http://schemas.openxmlformats.org/officeDocument/2006/relationships/slide" Target="/ppt/slides/slide16.xml" Id="R81e7b3e0f9be4f69" /><Relationship Type="http://schemas.openxmlformats.org/officeDocument/2006/relationships/slide" Target="/ppt/slides/slide17.xml" Id="R55c604221c224daa" /><Relationship Type="http://schemas.openxmlformats.org/officeDocument/2006/relationships/slide" Target="/ppt/slides/slide18.xml" Id="R1dd783b790bb4a18" /><Relationship Type="http://schemas.openxmlformats.org/officeDocument/2006/relationships/slide" Target="/ppt/slides/slide19.xml" Id="R42beb7887d854e64" /><Relationship Type="http://schemas.openxmlformats.org/officeDocument/2006/relationships/slide" Target="/ppt/slides/slide20.xml" Id="R7756ace83e0e4041" /><Relationship Type="http://schemas.openxmlformats.org/officeDocument/2006/relationships/slide" Target="/ppt/slides/slide21.xml" Id="R9ac38d1fe7ef4dbb" /><Relationship Type="http://schemas.openxmlformats.org/officeDocument/2006/relationships/slide" Target="/ppt/slides/slide22.xml" Id="R0d5c40c852d34170" /><Relationship Type="http://schemas.openxmlformats.org/officeDocument/2006/relationships/slide" Target="/ppt/slides/slide23.xml" Id="R48c011333d584d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240cf656094a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eb1d8c0ad74305" /><Relationship Type="http://schemas.openxmlformats.org/officeDocument/2006/relationships/notesMaster" Target="/ppt/notesMasters/notesMaster1.xml" Id="R383cd2e6418748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addf020327468b" /><Relationship Type="http://schemas.openxmlformats.org/officeDocument/2006/relationships/notesMaster" Target="/ppt/notesMasters/notesMaster1.xml" Id="R0c4ae4d9705048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eb0b22695c41f6" /><Relationship Type="http://schemas.openxmlformats.org/officeDocument/2006/relationships/notesMaster" Target="/ppt/notesMasters/notesMaster1.xml" Id="R95de130ca9c643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5af90fcde3488b" /><Relationship Type="http://schemas.openxmlformats.org/officeDocument/2006/relationships/notesMaster" Target="/ppt/notesMasters/notesMaster1.xml" Id="R9be99f7e9de84b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604f037e0f4a24" /><Relationship Type="http://schemas.openxmlformats.org/officeDocument/2006/relationships/notesMaster" Target="/ppt/notesMasters/notesMaster1.xml" Id="R829d3f089b6540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5be08ab48e4c18" /><Relationship Type="http://schemas.openxmlformats.org/officeDocument/2006/relationships/notesMaster" Target="/ppt/notesMasters/notesMaster1.xml" Id="Rb21f5bfa203e4a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1049ca3d23400e" /><Relationship Type="http://schemas.openxmlformats.org/officeDocument/2006/relationships/notesMaster" Target="/ppt/notesMasters/notesMaster1.xml" Id="Rbc0135b8a9914d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9706eebffa4da2" /><Relationship Type="http://schemas.openxmlformats.org/officeDocument/2006/relationships/notesMaster" Target="/ppt/notesMasters/notesMaster1.xml" Id="Rdee8b81e431642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9dece25ccc46ee" /><Relationship Type="http://schemas.openxmlformats.org/officeDocument/2006/relationships/notesMaster" Target="/ppt/notesMasters/notesMaster1.xml" Id="R39b6d9940e754d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a4648f52e645c0" /><Relationship Type="http://schemas.openxmlformats.org/officeDocument/2006/relationships/notesMaster" Target="/ppt/notesMasters/notesMaster1.xml" Id="R246c7738d21646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30bb4972f884a1f" /><Relationship Type="http://schemas.openxmlformats.org/officeDocument/2006/relationships/notesMaster" Target="/ppt/notesMasters/notesMaster1.xml" Id="Rf4b4219a23584ff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033594386ea457c" /><Relationship Type="http://schemas.openxmlformats.org/officeDocument/2006/relationships/notesMaster" Target="/ppt/notesMasters/notesMaster1.xml" Id="Raf4b0f7d745f4d7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119bf97c8774552" /><Relationship Type="http://schemas.openxmlformats.org/officeDocument/2006/relationships/notesMaster" Target="/ppt/notesMasters/notesMaster1.xml" Id="Reb98f2f408c2402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e3dc372acec40b3" /><Relationship Type="http://schemas.openxmlformats.org/officeDocument/2006/relationships/notesMaster" Target="/ppt/notesMasters/notesMaster1.xml" Id="Re1cedd0e5ca441b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719cba649ba47b7" /><Relationship Type="http://schemas.openxmlformats.org/officeDocument/2006/relationships/notesMaster" Target="/ppt/notesMasters/notesMaster1.xml" Id="Rea0bcffaaab8430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5ca0fd6167e4264" /><Relationship Type="http://schemas.openxmlformats.org/officeDocument/2006/relationships/notesMaster" Target="/ppt/notesMasters/notesMaster1.xml" Id="R057258587d5f477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d7e8d7319574904" /><Relationship Type="http://schemas.openxmlformats.org/officeDocument/2006/relationships/notesMaster" Target="/ppt/notesMasters/notesMaster1.xml" Id="R6ef5dce598b1436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55af25279314155" /><Relationship Type="http://schemas.openxmlformats.org/officeDocument/2006/relationships/notesMaster" Target="/ppt/notesMasters/notesMaster1.xml" Id="Rfa591a7834524c5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062e08bcf134b3c" /><Relationship Type="http://schemas.openxmlformats.org/officeDocument/2006/relationships/notesMaster" Target="/ppt/notesMasters/notesMaster1.xml" Id="R744be39575f7488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175be9849ad48fd" /><Relationship Type="http://schemas.openxmlformats.org/officeDocument/2006/relationships/notesMaster" Target="/ppt/notesMasters/notesMaster1.xml" Id="Rbbb7a2bae54c426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79f9854dd924762" /><Relationship Type="http://schemas.openxmlformats.org/officeDocument/2006/relationships/notesMaster" Target="/ppt/notesMasters/notesMaster1.xml" Id="R216406321d82441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dcdcd4597c9484c" /><Relationship Type="http://schemas.openxmlformats.org/officeDocument/2006/relationships/notesMaster" Target="/ppt/notesMasters/notesMaster1.xml" Id="R2aeea532a2eb4cc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e17fbd5bee44b83" /><Relationship Type="http://schemas.openxmlformats.org/officeDocument/2006/relationships/notesMaster" Target="/ppt/notesMasters/notesMaster1.xml" Id="Ra7ddc6b4f7de45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NVIDIA, “Parallelism strategies guide,” Megatron Core, online documentation, accessed Oct. 8, 2026.</a:t>
            </a:r>
          </a:p>
          <a:p xmlns:a="http://schemas.openxmlformats.org/drawingml/2006/main">
            <a:r>
              <a:t>https://docs.nvidia.com/megatron-core/developer-guide/latest/user-guide/parallelism-guide.html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[21] Monash University, FIT3143 Week 5 combined course material, MPI collectives, pp. 148–155.</a:t>
            </a:r>
          </a:p>
          <a:p xmlns:a="http://schemas.openxmlformats.org/drawingml/2006/main">
            <a:r>
              <a:t>../../context/FIT3143_Week_5_Combined.pdf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[9] International Energy Agency, Key Questions on Energy and AI, executive summary, Apr. 16, 2026, CC BY 4.0, accessed Oct. 8, 2026.</a:t>
            </a:r>
          </a:p>
          <a:p xmlns:a="http://schemas.openxmlformats.org/drawingml/2006/main">
            <a:r>
              <a:t>https://www.iea.org/reports/key-questions-on-energy-and-ai/executive-summary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[14]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U.S. National Science Foundation, “NAIRR at 2 years: Advancing American artificial intelligence innovation and leadership,” Mar. 19, 2026, accessed Oct. 8, 2026.</a:t>
            </a:r>
          </a:p>
          <a:p xmlns:a="http://schemas.openxmlformats.org/drawingml/2006/main">
            <a:r>
              <a:t>https://www.nsf.gov/cise/updates/nairr-2-years-advancing-american-artificial-intelligence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NVIDIA, “Parallelism strategies guide,” Megatron Core, online documentation, accessed Oct. 8, 2026.</a:t>
            </a:r>
          </a:p>
          <a:p xmlns:a="http://schemas.openxmlformats.org/drawingml/2006/main">
            <a:r>
              <a:t>https://docs.nvidia.com/megatron-core/developer-guide/latest/user-guide/parallelism-guide.html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[21] Monash University, FIT3143 Week 5 combined course material, MPI collectives, pp. 148–155.</a:t>
            </a:r>
          </a:p>
          <a:p xmlns:a="http://schemas.openxmlformats.org/drawingml/2006/main">
            <a:r>
              <a:t>../../context/FIT3143_Week_5_Combined.pdf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[9] International Energy Agency, Key Questions on Energy and AI, executive summary, Apr. 16, 2026, CC BY 4.0, accessed Oct. 8, 2026.</a:t>
            </a:r>
          </a:p>
          <a:p xmlns:a="http://schemas.openxmlformats.org/drawingml/2006/main">
            <a:r>
              <a:t>https://www.iea.org/reports/key-questions-on-energy-and-ai/executive-summary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[14]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[15]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U.S. National Science Foundation, “NAIRR at 2 years: Advancing American artificial intelligence innovation and leadership,” Mar. 19, 2026, accessed Oct. 8, 2026.</a:t>
            </a:r>
          </a:p>
          <a:p xmlns:a="http://schemas.openxmlformats.org/drawingml/2006/main">
            <a:r>
              <a:t>https://www.nsf.gov/cise/updates/nairr-2-years-advancing-american-artificial-intelligence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[22] Monash University, FIT3143 Topic 9B: Mutual exclusion and resource allocation, course slides, 2024, pp. 4–16, 24–32.</a:t>
            </a:r>
          </a:p>
          <a:p xmlns:a="http://schemas.openxmlformats.org/drawingml/2006/main">
            <a:r>
              <a:t>../../context/FIT3143-Topic-9B-2024.pdf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[6]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6d2763529e49a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20ca12790a4e4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0d2f63d70b43a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b1988630944bd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9f4c9397b148f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c7ef7464d240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CD24E1-9819-449E-9A5A-4A8B03A928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CC409B9-CB14-4F4E-A8B6-92CC7C347A0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D84A7C1-BE28-4D91-9C56-6A8FFE1967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D1755A-0C53-43E7-B0E3-93A1870040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8F8C44F-DEEA-49D1-84E5-2C103A27DB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E9F071E-9D0A-4F6F-A6FF-CBEDB1E0FF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3E91B94-BB30-4704-8C52-C8915F7AEC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6A0CCEB-7E37-425E-ABEC-E3BD220ABAD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781246-96FB-4CB9-9C74-387A1E1982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D1C4BE3-074F-4241-83E1-999F203B4D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1ae71100a1479c" /><Relationship Type="http://schemas.openxmlformats.org/officeDocument/2006/relationships/slideLayout" Target="/ppt/slideLayouts/slideLayout1.xml" Id="R39633e00e6c64e9a" /><Relationship Type="http://schemas.openxmlformats.org/officeDocument/2006/relationships/slideLayout" Target="/ppt/slideLayouts/slideLayout2.xml" Id="Ra41e8686563046ee" /><Relationship Type="http://schemas.openxmlformats.org/officeDocument/2006/relationships/slideLayout" Target="/ppt/slideLayouts/slideLayout3.xml" Id="R0ccfa63847f845dd" /><Relationship Type="http://schemas.openxmlformats.org/officeDocument/2006/relationships/slideLayout" Target="/ppt/slideLayouts/slideLayout4.xml" Id="R4aa604f723024336" /><Relationship Type="http://schemas.openxmlformats.org/officeDocument/2006/relationships/slideLayout" Target="/ppt/slideLayouts/slideLayout5.xml" Id="R016513cb75cb464a" /><Relationship Type="http://schemas.openxmlformats.org/officeDocument/2006/relationships/slideLayout" Target="/ppt/slideLayouts/slideLayout6.xml" Id="Rf7104ba356a645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633e00e6c64e9a"/>
    <p:sldLayoutId xmlns:r="http://schemas.openxmlformats.org/officeDocument/2006/relationships" id="2147483650" r:id="Ra41e8686563046ee"/>
    <p:sldLayoutId xmlns:r="http://schemas.openxmlformats.org/officeDocument/2006/relationships" id="2147483651" r:id="R0ccfa63847f845dd"/>
    <p:sldLayoutId xmlns:r="http://schemas.openxmlformats.org/officeDocument/2006/relationships" id="2147483652" r:id="R4aa604f723024336"/>
    <p:sldLayoutId xmlns:r="http://schemas.openxmlformats.org/officeDocument/2006/relationships" id="2147483653" r:id="R016513cb75cb464a"/>
    <p:sldLayoutId xmlns:r="http://schemas.openxmlformats.org/officeDocument/2006/relationships" id="2147483654" r:id="Rf7104ba356a645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7d2704eabf4209" /><Relationship Type="http://schemas.openxmlformats.org/officeDocument/2006/relationships/notesSlide" Target="/ppt/notesSlides/notesSlide1.xml" Id="Rc26a20c256ad43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797c054f0849cb" /><Relationship Type="http://schemas.openxmlformats.org/officeDocument/2006/relationships/notesSlide" Target="/ppt/notesSlides/notesSlide2.xml" Id="Rd98228a5633848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a26acff5164c76" /><Relationship Type="http://schemas.openxmlformats.org/officeDocument/2006/relationships/chart" Target="/ppt/slides/charts/chart1.xml" Id="Rae35eaabd58f4764" /><Relationship Type="http://schemas.openxmlformats.org/officeDocument/2006/relationships/chart" Target="/ppt/slides/charts/chart2.xml" Id="R514c8d08d38c47a1" /><Relationship Type="http://schemas.openxmlformats.org/officeDocument/2006/relationships/notesSlide" Target="/ppt/notesSlides/notesSlide3.xml" Id="Re60e5e5eb7f242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b056228c204670" /><Relationship Type="http://schemas.openxmlformats.org/officeDocument/2006/relationships/notesSlide" Target="/ppt/notesSlides/notesSlide4.xml" Id="Rc720d889912a46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3c53fee76144ad" /><Relationship Type="http://schemas.openxmlformats.org/officeDocument/2006/relationships/notesSlide" Target="/ppt/notesSlides/notesSlide5.xml" Id="Rfc3bf96d650e43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dc510dd1f64cb5" /><Relationship Type="http://schemas.openxmlformats.org/officeDocument/2006/relationships/notesSlide" Target="/ppt/notesSlides/notesSlide6.xml" Id="R0b7193ff825346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85330da9674bf2" /><Relationship Type="http://schemas.openxmlformats.org/officeDocument/2006/relationships/notesSlide" Target="/ppt/notesSlides/notesSlide7.xml" Id="Re849b707375545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6832a013984f00" /><Relationship Type="http://schemas.openxmlformats.org/officeDocument/2006/relationships/notesSlide" Target="/ppt/notesSlides/notesSlide8.xml" Id="Re6a6451d325e4e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e152ff9377472a" /><Relationship Type="http://schemas.openxmlformats.org/officeDocument/2006/relationships/notesSlide" Target="/ppt/notesSlides/notesSlide9.xml" Id="Rb217a72ab04e4e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033679a52743eb" /><Relationship Type="http://schemas.openxmlformats.org/officeDocument/2006/relationships/notesSlide" Target="/ppt/notesSlides/notesSlide10.xml" Id="Rd078190a2dee468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b2077b5f7d4fe4" /><Relationship Type="http://schemas.openxmlformats.org/officeDocument/2006/relationships/notesSlide" Target="/ppt/notesSlides/notesSlide11.xml" Id="R0a9679ac696042a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ca4f0cc31f41dc" /><Relationship Type="http://schemas.openxmlformats.org/officeDocument/2006/relationships/notesSlide" Target="/ppt/notesSlides/notesSlide12.xml" Id="R334138aafb73450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6cc6df9f8549d8" /><Relationship Type="http://schemas.openxmlformats.org/officeDocument/2006/relationships/notesSlide" Target="/ppt/notesSlides/notesSlide13.xml" Id="R7f21bf0feb0c4f6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b30b75fce84967" /><Relationship Type="http://schemas.openxmlformats.org/officeDocument/2006/relationships/notesSlide" Target="/ppt/notesSlides/notesSlide14.xml" Id="R1e16196870ec458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6d637e8b4b48b3" /><Relationship Type="http://schemas.openxmlformats.org/officeDocument/2006/relationships/notesSlide" Target="/ppt/notesSlides/notesSlide15.xml" Id="Rc808bf6a78f2465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8abf0fd34b4c24" /><Relationship Type="http://schemas.openxmlformats.org/officeDocument/2006/relationships/notesSlide" Target="/ppt/notesSlides/notesSlide16.xml" Id="R5bdc19707ce243e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dc0a7ed3754771" /><Relationship Type="http://schemas.openxmlformats.org/officeDocument/2006/relationships/notesSlide" Target="/ppt/notesSlides/notesSlide17.xml" Id="R068b1bed6880421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016cc3489d4bf3" /><Relationship Type="http://schemas.openxmlformats.org/officeDocument/2006/relationships/hyperlink" Target="https://docs.nvidia.com/cuda/cuda-c-best-practices-guide/index.html" TargetMode="External" Id="R887d81838f8b44bb" /><Relationship Type="http://schemas.openxmlformats.org/officeDocument/2006/relationships/hyperlink" Target="https://docs.nvidia.com/gpudirect-storage/overview-guide/index.html" TargetMode="External" Id="R52115ed5e38240c3" /><Relationship Type="http://schemas.openxmlformats.org/officeDocument/2006/relationships/notesSlide" Target="/ppt/notesSlides/notesSlide18.xml" Id="Rbfe24c6d050846b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1bd28254f242bb" /><Relationship Type="http://schemas.openxmlformats.org/officeDocument/2006/relationships/hyperlink" Target="https://docs.nvidia.com/gpudirect-storage/design-guide/index.html" TargetMode="External" Id="Redf2065c6a224c06" /><Relationship Type="http://schemas.openxmlformats.org/officeDocument/2006/relationships/hyperlink" Target="https://docs.nvidia.com/megatron-core/developer-guide/latest/user-guide/parallelism-guide.html" TargetMode="External" Id="R785d28dad3434cf3" /><Relationship Type="http://schemas.openxmlformats.org/officeDocument/2006/relationships/hyperlink" Target="https://www.iea.org/reports/key-questions-on-energy-and-ai/executive-summary" TargetMode="External" Id="R796dbd61c3764502" /><Relationship Type="http://schemas.openxmlformats.org/officeDocument/2006/relationships/hyperlink" Target="https://www.nsf.gov/cise/updates/nairr-2-years-advancing-american-artificial-intelligence" TargetMode="External" Id="R648801f40c5a4470" /><Relationship Type="http://schemas.openxmlformats.org/officeDocument/2006/relationships/notesSlide" Target="/ppt/notesSlides/notesSlide19.xml" Id="R61fe15a3c1004fc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897b2a69bb4325" /><Relationship Type="http://schemas.openxmlformats.org/officeDocument/2006/relationships/hyperlink" Target="https://aclanthology.org/P19-1355/" TargetMode="External" Id="R3af0ad9861d94652" /><Relationship Type="http://schemas.openxmlformats.org/officeDocument/2006/relationships/hyperlink" Target="https://arxiv.org/abs/2304.03271v5" TargetMode="External" Id="R214b2cf0c11e4fa2" /><Relationship Type="http://schemas.openxmlformats.org/officeDocument/2006/relationships/hyperlink" Target="https://arxiv.org/abs/1907.10597" TargetMode="External" Id="R80779ac672274eac" /><Relationship Type="http://schemas.openxmlformats.org/officeDocument/2006/relationships/hyperlink" Target="https://arxiv.org/abs/1906.08935v2" TargetMode="External" Id="R9c67ba3dfa8c4baa" /><Relationship Type="http://schemas.openxmlformats.org/officeDocument/2006/relationships/notesSlide" Target="/ppt/notesSlides/notesSlide20.xml" Id="R479eb3ab9a2445a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f6a809d14742b8" /><Relationship Type="http://schemas.openxmlformats.org/officeDocument/2006/relationships/hyperlink" Target="https://aclanthology.org/2024.cl-3.8/" TargetMode="External" Id="Raa8887ef847d4be1" /><Relationship Type="http://schemas.openxmlformats.org/officeDocument/2006/relationships/hyperlink" Target="https://arxiv.org/abs/2010.15581v1" TargetMode="External" Id="R48ce577591b44a93" /><Relationship Type="http://schemas.openxmlformats.org/officeDocument/2006/relationships/hyperlink" Target="https://arxiv.org/abs/2106.11750v1" TargetMode="External" Id="R873066aa9b10477c" /><Relationship Type="http://schemas.openxmlformats.org/officeDocument/2006/relationships/hyperlink" Target="https://www.oecd.org/en/topics/ai-principles.html" TargetMode="External" Id="R6692a295c0cb44cf" /><Relationship Type="http://schemas.openxmlformats.org/officeDocument/2006/relationships/notesSlide" Target="/ppt/notesSlides/notesSlide21.xml" Id="Ra55f1168d56e478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028216dc494134" /><Relationship Type="http://schemas.openxmlformats.org/officeDocument/2006/relationships/hyperlink" Target="https://airc.nist.gov/airmf-resources/playbook/" TargetMode="External" Id="R7f69eb75d4b04ae4" /><Relationship Type="http://schemas.openxmlformats.org/officeDocument/2006/relationships/notesSlide" Target="/ppt/notesSlides/notesSlide22.xml" Id="Rbe495289e83045d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c5280525ca461b" /><Relationship Type="http://schemas.openxmlformats.org/officeDocument/2006/relationships/notesSlide" Target="/ppt/notesSlides/notesSlide23.xml" Id="R6be0db772e944b0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Electricity (TWh)</c:v>
          </c:tx>
          <c:spPr>
            <a:solidFill xmlns:a="http://schemas.openxmlformats.org/drawingml/2006/main">
              <a:srgbClr val="007B83"/>
            </a:solidFill>
          </c:spPr>
          <c:cat>
            <c:strRef>
              <c:f>'Chart Data'!$A$2:$A$3</c:f>
              <c:strCache>
                <c:ptCount val="2"/>
                <c:pt idx="0">
                  <c:v>2025 estimate</c:v>
                </c:pt>
                <c:pt idx="1">
                  <c:v>2030 projection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485</c:v>
                </c:pt>
                <c:pt idx="1">
                  <c:v>950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D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>
            <a:solidFill>
              <a:srgbClr val="CBD5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C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2025 growth</c:v>
          </c:tx>
          <c:spPr>
            <a:solidFill xmlns:a="http://schemas.openxmlformats.org/drawingml/2006/main">
              <a:srgbClr val="B55E24"/>
            </a:solidFill>
          </c:spPr>
          <c:cat>
            <c:strRef>
              <c:f>'Chart Data'!$A$2:$A$3</c:f>
              <c:strCache>
                <c:ptCount val="2"/>
                <c:pt idx="0">
                  <c:v>All data centres</c:v>
                </c:pt>
                <c:pt idx="1">
                  <c:v>AI-focused subset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0.17</c:v>
                </c:pt>
                <c:pt idx="1">
                  <c:v>0.5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D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>
            <a:solidFill>
              <a:srgbClr val="CBD5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IT3143 • Applied 2 • Task 2">
            <a:extLst xmlns:a="http://schemas.openxmlformats.org/drawingml/2006/main">
              <a:ext uri="{FF2B5EF4-FFF2-40B4-BE49-F238E27FC236}">
                <a16:creationId xmlns:a16="http://schemas.microsoft.com/office/drawing/2014/main" id="{3D100A24-6A81-46D4-A290-670C6135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8CD7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8CD7D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CD7D5"/>
                </a:solidFill>
                <a:latin typeface="Arial"/>
                <a:ea typeface="Arial"/>
                <a:cs typeface="Arial"/>
              </a:rPr>
              <a:t>FIT3143 • Applied 2 • Task 2</a:t>
            </a:r>
          </a:p>
        </p:txBody>
      </p:sp>
      <p:sp>
        <p:nvSpPr>
          <p:cNvPr id="2" name="Responsible HPC for AI">
            <a:extLst xmlns:a="http://schemas.openxmlformats.org/drawingml/2006/main">
              <a:ext uri="{FF2B5EF4-FFF2-40B4-BE49-F238E27FC236}">
                <a16:creationId xmlns:a16="http://schemas.microsoft.com/office/drawing/2014/main" id="{C9E52E3D-9272-423C-AE2F-E0AA1BA5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85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Responsible HPC for AI</a:t>
            </a:r>
          </a:p>
        </p:txBody>
      </p:sp>
      <p:sp>
        <p:nvSpPr>
          <p:cNvPr id="3" name="CUDA design and performance • Evidence, trade-offs and ">
            <a:extLst xmlns:a="http://schemas.openxmlformats.org/drawingml/2006/main">
              <a:ext uri="{FF2B5EF4-FFF2-40B4-BE49-F238E27FC236}">
                <a16:creationId xmlns:a16="http://schemas.microsoft.com/office/drawing/2014/main" id="{BBC26DFE-F791-4028-BBF3-06829545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CCDC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CCDCE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CDCE4"/>
                </a:solidFill>
                <a:latin typeface="Arial"/>
                <a:ea typeface="Arial"/>
                <a:cs typeface="Arial"/>
              </a:rPr>
              <a:t>CUDA design and performance • Evidence, trade-offs and accountable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92CDC-0785-4FE0-94E8-60C953F5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77082"/>
            </a:solidFill>
            <a:prstDash val="solid"/>
          </a:ln>
        </p:spPr>
      </p:sp>
      <p:sp>
        <p:nvSpPr>
          <p:cNvPr id="5" name="Savin Vindiv De Alwis  ·  35221631">
            <a:extLst xmlns:a="http://schemas.openxmlformats.org/drawingml/2006/main">
              <a:ext uri="{FF2B5EF4-FFF2-40B4-BE49-F238E27FC236}">
                <a16:creationId xmlns:a16="http://schemas.microsoft.com/office/drawing/2014/main" id="{9595EFD4-8DF8-4D25-B1D2-D6BFB10C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Savin Vindiv De Alwis · 35221631</a:t>
            </a:r>
          </a:p>
        </p:txBody>
      </p:sp>
      <p:sp>
        <p:nvSpPr>
          <p:cNvPr id="6" name="sdea0018@student.monash.edu">
            <a:extLst xmlns:a="http://schemas.openxmlformats.org/drawingml/2006/main">
              <a:ext uri="{FF2B5EF4-FFF2-40B4-BE49-F238E27FC236}">
                <a16:creationId xmlns:a16="http://schemas.microsoft.com/office/drawing/2014/main" id="{8310FA59-A0A7-4684-8E03-1B62C778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8585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sdea0018@student.monash.edu</a:t>
            </a:r>
          </a:p>
        </p:txBody>
      </p:sp>
      <p:sp>
        <p:nvSpPr>
          <p:cNvPr id="7" name="Shamle Thilaksiri  ·  35512075">
            <a:extLst xmlns:a="http://schemas.openxmlformats.org/drawingml/2006/main">
              <a:ext uri="{FF2B5EF4-FFF2-40B4-BE49-F238E27FC236}">
                <a16:creationId xmlns:a16="http://schemas.microsoft.com/office/drawing/2014/main" id="{8215B0DC-C22C-4D82-8246-5BC23453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Shamle Thilaksiri · 35512075</a:t>
            </a:r>
          </a:p>
        </p:txBody>
      </p:sp>
      <p:sp>
        <p:nvSpPr>
          <p:cNvPr id="8" name="wthi0003@student.monash.edu">
            <a:extLst xmlns:a="http://schemas.openxmlformats.org/drawingml/2006/main">
              <a:ext uri="{FF2B5EF4-FFF2-40B4-BE49-F238E27FC236}">
                <a16:creationId xmlns:a16="http://schemas.microsoft.com/office/drawing/2014/main" id="{FF4524F1-19F0-4DD2-B03D-0517F175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8585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wthi0003@student.monash.edu</a:t>
            </a:r>
          </a:p>
        </p:txBody>
      </p:sp>
      <p:sp>
        <p:nvSpPr>
          <p:cNvPr id="9" name="8 October 2026  •  Detailed evidence, references and AI">
            <a:extLst xmlns:a="http://schemas.openxmlformats.org/drawingml/2006/main">
              <a:ext uri="{FF2B5EF4-FFF2-40B4-BE49-F238E27FC236}">
                <a16:creationId xmlns:a16="http://schemas.microsoft.com/office/drawing/2014/main" id="{28F39589-816A-49C0-BCF9-93EF0771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858500" cy="21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8 October 2026 • Detailed evidence, references and AI declaration follow in the appendix</a:t>
            </a:r>
          </a:p>
        </p:txBody>
      </p:sp>
    </p:spTree>
    <p:extLst>
      <p:ext uri="{BB962C8B-B14F-4D97-AF65-F5344CB8AC3E}">
        <p14:creationId xmlns:p14="http://schemas.microsoft.com/office/powerpoint/2010/main" val="14899299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ask 2 • HPC and AI">
            <a:extLst xmlns:a="http://schemas.openxmlformats.org/drawingml/2006/main">
              <a:ext uri="{FF2B5EF4-FFF2-40B4-BE49-F238E27FC236}">
                <a16:creationId xmlns:a16="http://schemas.microsoft.com/office/drawing/2014/main" id="{AA1D36EF-2E58-427F-A9D3-B5F7398E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 • HPC and AI</a:t>
            </a:r>
          </a:p>
        </p:txBody>
      </p:sp>
      <p:sp>
        <p:nvSpPr>
          <p:cNvPr id="2" name="Parallel training across a compute cluster">
            <a:extLst xmlns:a="http://schemas.openxmlformats.org/drawingml/2006/main">
              <a:ext uri="{FF2B5EF4-FFF2-40B4-BE49-F238E27FC236}">
                <a16:creationId xmlns:a16="http://schemas.microsoft.com/office/drawing/2014/main" id="{F1118BAD-4125-4F42-9EAB-A0C27D3A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Parallel training across a compute cluster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76100-1B92-41B6-A22C-1D183BDF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0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1D801-0386-4DD5-A5D4-F4790F7A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1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F2FE38-7D92-400D-94E7-D223AC43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2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D070EF-5397-4A7E-AA40-DF4BC72E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Gradient all-reduce: average + share → consistent update on every GPU</a:t>
            </a:r>
          </a:p>
        </p:txBody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C8AC15-0B18-4617-8BAC-87D8089F50E6}"/>
              </a:ext>
            </a:extLst>
          </p:cNvPr>
          <p:cNvCxnSpPr/>
          <p:nvPr/>
        </p:nvCxnSpPr>
        <p:spPr>
          <a:xfrm xmlns:a="http://schemas.openxmlformats.org/drawingml/2006/main">
            <a:off x="20955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C995A5-6127-41A6-9F08-3ED780BB8EB1}"/>
              </a:ext>
            </a:extLst>
          </p:cNvPr>
          <p:cNvCxnSpPr/>
          <p:nvPr/>
        </p:nvCxnSpPr>
        <p:spPr>
          <a:xfrm xmlns:a="http://schemas.openxmlformats.org/drawingml/2006/main">
            <a:off x="60960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B6A33-061F-46A4-A908-F86973A4288C}"/>
              </a:ext>
            </a:extLst>
          </p:cNvPr>
          <p:cNvCxnSpPr/>
          <p:nvPr/>
        </p:nvCxnSpPr>
        <p:spPr>
          <a:xfrm xmlns:a="http://schemas.openxmlformats.org/drawingml/2006/main">
            <a:off x="100965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sp>
        <p:nvSpPr>
          <p:cNvPr id="10" name="Interconnect:&#10;latency and bandwidth">
            <a:extLst xmlns:a="http://schemas.openxmlformats.org/drawingml/2006/main">
              <a:ext uri="{FF2B5EF4-FFF2-40B4-BE49-F238E27FC236}">
                <a16:creationId xmlns:a16="http://schemas.microsoft.com/office/drawing/2014/main" id="{E449B588-0C2C-472B-A9BF-4603E075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38475"/>
            <a:ext cx="299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Interconnect:</a:t>
            </a:r>
          </a:p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latency and bandwidth</a:t>
            </a:r>
          </a:p>
        </p:txBody>
      </p:sp>
      <p:sp>
        <p:nvSpPr>
          <p:cNvPr id="11" name="Gradient synchronization&#10;before each update">
            <a:extLst xmlns:a="http://schemas.openxmlformats.org/drawingml/2006/main">
              <a:ext uri="{FF2B5EF4-FFF2-40B4-BE49-F238E27FC236}">
                <a16:creationId xmlns:a16="http://schemas.microsoft.com/office/drawing/2014/main" id="{CB06D5B1-9C7E-4E6A-889B-837D1A49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3847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Gradient synchronization</a:t>
            </a:r>
          </a:p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before each update</a:t>
            </a:r>
          </a:p>
        </p:txBody>
      </p:sp>
      <p:sp>
        <p:nvSpPr>
          <p:cNvPr id="12" name="HPC combines processors, memory, networks and storage. ">
            <a:extLst xmlns:a="http://schemas.openxmlformats.org/drawingml/2006/main">
              <a:ext uri="{FF2B5EF4-FFF2-40B4-BE49-F238E27FC236}">
                <a16:creationId xmlns:a16="http://schemas.microsoft.com/office/drawing/2014/main" id="{7B17125E-0CB1-4CEE-8E68-C298AD58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521970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HPC combines processors, memory, networks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storage. Tensor/pipeline parallelism can also split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model.</a:t>
            </a:r>
          </a:p>
        </p:txBody>
      </p:sp>
      <p:sp>
        <p:nvSpPr>
          <p:cNvPr id="13" name="More GPUs enable larger work; communication, serial wor">
            <a:extLst xmlns:a="http://schemas.openxmlformats.org/drawingml/2006/main">
              <a:ext uri="{FF2B5EF4-FFF2-40B4-BE49-F238E27FC236}">
                <a16:creationId xmlns:a16="http://schemas.microsoft.com/office/drawing/2014/main" id="{1715F830-C39E-40B4-8947-AF008BE8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52975"/>
            <a:ext cx="51625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More GPUs enable larger work; communication,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serial work and imbalance limit speedup. Evaluate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useful output against resource cost.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F7B7A6-F277-4A04-9414-0C5FDB58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5" name="Scaling adds capacity and communication: ethical costs ">
            <a:extLst xmlns:a="http://schemas.openxmlformats.org/drawingml/2006/main">
              <a:ext uri="{FF2B5EF4-FFF2-40B4-BE49-F238E27FC236}">
                <a16:creationId xmlns:a16="http://schemas.microsoft.com/office/drawing/2014/main" id="{F323917B-3447-48AE-B155-4ADC23CF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Scaling adds capacity and communication: ethical costs depend on useful work.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3F9FCF-A243-46E2-8F86-47562E4D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7" name="Sources: [2] Topic 7A: dependencies and Amdahl; [3] Top">
            <a:extLst xmlns:a="http://schemas.openxmlformats.org/drawingml/2006/main">
              <a:ext uri="{FF2B5EF4-FFF2-40B4-BE49-F238E27FC236}">
                <a16:creationId xmlns:a16="http://schemas.microsoft.com/office/drawing/2014/main" id="{D140D571-2B40-40F8-8F8B-11F7B0EB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[3] Topic 9A: synchronization; [8] NVIDIA Megatron parallelism; [21] Week 5: collective communication</a:t>
            </a:r>
          </a:p>
        </p:txBody>
      </p:sp>
      <p:sp>
        <p:nvSpPr>
          <p:cNvPr id="18" name="2 / 23">
            <a:extLst xmlns:a="http://schemas.openxmlformats.org/drawingml/2006/main">
              <a:ext uri="{FF2B5EF4-FFF2-40B4-BE49-F238E27FC236}">
                <a16:creationId xmlns:a16="http://schemas.microsoft.com/office/drawing/2014/main" id="{69DB77D2-4777-4773-ACB3-EBEF9B33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 / 23</a:t>
            </a:r>
          </a:p>
        </p:txBody>
      </p:sp>
    </p:spTree>
    <p:extLst>
      <p:ext uri="{BB962C8B-B14F-4D97-AF65-F5344CB8AC3E}">
        <p14:creationId xmlns:p14="http://schemas.microsoft.com/office/powerpoint/2010/main" val="11263707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2(a)">
            <a:extLst xmlns:a="http://schemas.openxmlformats.org/drawingml/2006/main">
              <a:ext uri="{FF2B5EF4-FFF2-40B4-BE49-F238E27FC236}">
                <a16:creationId xmlns:a16="http://schemas.microsoft.com/office/drawing/2014/main" id="{2EBD873E-DD7C-4D9B-8788-6C313A46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2(a)</a:t>
            </a:r>
          </a:p>
        </p:txBody>
      </p:sp>
      <p:sp>
        <p:nvSpPr>
          <p:cNvPr id="2" name="Electricity demand and environmental costs">
            <a:extLst xmlns:a="http://schemas.openxmlformats.org/drawingml/2006/main">
              <a:ext uri="{FF2B5EF4-FFF2-40B4-BE49-F238E27FC236}">
                <a16:creationId xmlns:a16="http://schemas.microsoft.com/office/drawing/2014/main" id="{A29CAC60-1318-4667-A65E-84F50EEC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Electricity demand and environmental costs</a:t>
            </a:r>
          </a:p>
        </p:txBody>
      </p:sp>
      <p:sp>
        <p:nvSpPr>
          <p:cNvPr id="3" name="Global data-centre electricity (TWh/year)">
            <a:extLst xmlns:a="http://schemas.openxmlformats.org/drawingml/2006/main">
              <a:ext uri="{FF2B5EF4-FFF2-40B4-BE49-F238E27FC236}">
                <a16:creationId xmlns:a16="http://schemas.microsoft.com/office/drawing/2014/main" id="{6EE10667-3837-4D5F-89C2-BA04DB61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5257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Global data-centre electricity (TWh/year)</a:t>
            </a:r>
          </a:p>
        </p:txBody>
      </p:sp>
      <p:sp>
        <p:nvSpPr>
          <p:cNvPr id="4" name="Electricity growth during 2025">
            <a:extLst xmlns:a="http://schemas.openxmlformats.org/drawingml/2006/main">
              <a:ext uri="{FF2B5EF4-FFF2-40B4-BE49-F238E27FC236}">
                <a16:creationId xmlns:a16="http://schemas.microsoft.com/office/drawing/2014/main" id="{2D4AE63F-C942-4214-A40A-1ED4DD47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38275"/>
            <a:ext cx="5257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Electricity growth during 2025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CA7B830-8C05-48F4-A3A2-4D96FCC7696F}"/>
              </a:ext>
            </a:extLst>
          </p:cNvPr>
          <p:cNvGraphicFramePr/>
          <p:nvPr/>
        </p:nvGraphicFramePr>
        <p:xfrm>
          <a:off xmlns:a="http://schemas.openxmlformats.org/drawingml/2006/main" x="609600" y="1876425"/>
          <a:ext xmlns:a="http://schemas.openxmlformats.org/drawingml/2006/main" cx="525780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35eaabd58f4764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3D1BA7BF-4DD3-4F86-B76F-E4AF0E47C7EF}"/>
              </a:ext>
            </a:extLst>
          </p:cNvPr>
          <p:cNvGraphicFramePr/>
          <p:nvPr/>
        </p:nvGraphicFramePr>
        <p:xfrm>
          <a:off xmlns:a="http://schemas.openxmlformats.org/drawingml/2006/main" x="6324600" y="1876425"/>
          <a:ext xmlns:a="http://schemas.openxmlformats.org/drawingml/2006/main" cx="525780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14c8d08d38c47a1"/>
          </a:graphicData>
        </a:graphic>
      </p:graphicFrame>
      <p:sp>
        <p:nvSpPr>
          <p:cNvPr id="7" name="IEA 2026: ≈96% increase to 2030. These cover the whole ">
            <a:extLst xmlns:a="http://schemas.openxmlformats.org/drawingml/2006/main">
              <a:ext uri="{FF2B5EF4-FFF2-40B4-BE49-F238E27FC236}">
                <a16:creationId xmlns:a16="http://schemas.microsoft.com/office/drawing/2014/main" id="{CFAFDB18-D392-4439-BC77-2830EBE0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IEA 2026: ≈96% increase to 2030. These cover the whole sector, not AI training alone; growth categories overlap and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cannot be added.</a:t>
            </a:r>
          </a:p>
        </p:txBody>
      </p:sp>
      <p:sp>
        <p:nvSpPr>
          <p:cNvPr id="8" name="Research comparison: Green AI [13] emphasizes efficienc">
            <a:extLst xmlns:a="http://schemas.openxmlformats.org/drawingml/2006/main">
              <a:ext uri="{FF2B5EF4-FFF2-40B4-BE49-F238E27FC236}">
                <a16:creationId xmlns:a16="http://schemas.microsoft.com/office/drawing/2014/main" id="{8C21564C-1D5F-4049-A7EC-EE3F4812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comparison: Green AI [13] emphasizes efficiency; water research [12] adds site/time constraints. Track energy,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carbon and local cooling impacts.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26CE2C-0FA7-4917-BE41-A96E6F93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9] IEA 2026: sector estimates and projection;">
            <a:extLst xmlns:a="http://schemas.openxmlformats.org/drawingml/2006/main">
              <a:ext uri="{FF2B5EF4-FFF2-40B4-BE49-F238E27FC236}">
                <a16:creationId xmlns:a16="http://schemas.microsoft.com/office/drawing/2014/main" id="{B0DD880C-1BC4-43E8-936C-873593B6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[9] IEA 2026: sector estimates and projection; [12] Li et al. 2025 revision: water impacts; [13] Schwartz et al. 2019: efficiency reporting</a:t>
            </a:r>
          </a:p>
        </p:txBody>
      </p:sp>
      <p:sp>
        <p:nvSpPr>
          <p:cNvPr id="11" name="3 / 23">
            <a:extLst xmlns:a="http://schemas.openxmlformats.org/drawingml/2006/main">
              <a:ext uri="{FF2B5EF4-FFF2-40B4-BE49-F238E27FC236}">
                <a16:creationId xmlns:a16="http://schemas.microsoft.com/office/drawing/2014/main" id="{246A22EE-45D5-4496-9930-E89DF33C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 / 23</a:t>
            </a:r>
          </a:p>
        </p:txBody>
      </p:sp>
    </p:spTree>
    <p:extLst>
      <p:ext uri="{BB962C8B-B14F-4D97-AF65-F5344CB8AC3E}">
        <p14:creationId xmlns:p14="http://schemas.microsoft.com/office/powerpoint/2010/main" val="6726649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508C8B-D0E4-4C19-8F22-E9D66B89A3F6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953500" y="28860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2A9CF-5CFF-47B0-A4F6-7C9ADD78D622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219450" y="28860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9" name="Task 2(b)">
            <a:extLst xmlns:a="http://schemas.openxmlformats.org/drawingml/2006/main">
              <a:ext uri="{FF2B5EF4-FFF2-40B4-BE49-F238E27FC236}">
                <a16:creationId xmlns:a16="http://schemas.microsoft.com/office/drawing/2014/main" id="{BA898A4C-7A5B-4ACF-B64A-86BA8BB8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2(b)</a:t>
            </a:r>
          </a:p>
        </p:txBody>
      </p:sp>
      <p:sp>
        <p:nvSpPr>
          <p:cNvPr id="2" name="Privacy, security and model fairness">
            <a:extLst xmlns:a="http://schemas.openxmlformats.org/drawingml/2006/main">
              <a:ext uri="{FF2B5EF4-FFF2-40B4-BE49-F238E27FC236}">
                <a16:creationId xmlns:a16="http://schemas.microsoft.com/office/drawing/2014/main" id="{E263FAD8-26D4-4CB1-978C-153D759E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Privacy, security and model fairness</a:t>
            </a:r>
          </a:p>
        </p:txBody>
      </p:sp>
      <p:sp>
        <p:nvSpPr>
          <p:cNvPr id="3" name="Security: protect distributed intermediates">
            <a:extLst xmlns:a="http://schemas.openxmlformats.org/drawingml/2006/main">
              <a:ext uri="{FF2B5EF4-FFF2-40B4-BE49-F238E27FC236}">
                <a16:creationId xmlns:a16="http://schemas.microsoft.com/office/drawing/2014/main" id="{D0BCC6F2-1C74-4011-9550-96BE3BCB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23875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Security: protect distributed intermediates</a:t>
            </a:r>
          </a:p>
        </p:txBody>
      </p:sp>
      <p:sp>
        <p:nvSpPr>
          <p:cNvPr id="4" name="Fairness: evaluate affected groups">
            <a:extLst xmlns:a="http://schemas.openxmlformats.org/drawingml/2006/main">
              <a:ext uri="{FF2B5EF4-FFF2-40B4-BE49-F238E27FC236}">
                <a16:creationId xmlns:a16="http://schemas.microsoft.com/office/drawing/2014/main" id="{36794B79-CB28-4AA5-A0AE-C20ED1EB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5257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Fairness: evaluate affected groups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0BB401-8713-41B9-88D8-D66B6AAA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Workers exchange gradients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save checkpoints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D1A346-D61A-4BC6-B312-7356FEF7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Least privilege, isolation,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protected transport/storage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ED5074-5B94-4B6F-B48E-C631B84C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9775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coverage and model outputs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may differ across groups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1A9035-379C-4C56-B786-69E4DFD3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29000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Disaggregated, harm-specific tests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+ mitigation and reevaluation</a:t>
            </a:r>
          </a:p>
        </p:txBody>
      </p:sp>
      <p:sp>
        <p:nvSpPr>
          <p:cNvPr id="11" name="Zhu et al. [14]: exposed gradients can reconstruct inpu">
            <a:extLst xmlns:a="http://schemas.openxmlformats.org/drawingml/2006/main">
              <a:ext uri="{FF2B5EF4-FFF2-40B4-BE49-F238E27FC236}">
                <a16:creationId xmlns:a16="http://schemas.microsoft.com/office/drawing/2014/main" id="{34C1CDEE-7950-45CC-96DC-279A20B4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5219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Zhu et al. [14]: exposed gradients can reconstruct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inputs in studied settings. Not every production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collective leaks.</a:t>
            </a:r>
          </a:p>
        </p:txBody>
      </p:sp>
      <p:sp>
        <p:nvSpPr>
          <p:cNvPr id="12" name="Gallegos et al. [15]: metrics, datasets and mitigations">
            <a:extLst xmlns:a="http://schemas.openxmlformats.org/drawingml/2006/main">
              <a:ext uri="{FF2B5EF4-FFF2-40B4-BE49-F238E27FC236}">
                <a16:creationId xmlns:a16="http://schemas.microsoft.com/office/drawing/2014/main" id="{029B31CE-9867-448B-BBDD-C627F696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14850"/>
            <a:ext cx="52578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Gallegos et al. [15]: metrics, datasets and mitigations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differ. Apply these to cluster-trained models; scale alone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does not guarantee fairness.</a:t>
            </a:r>
          </a:p>
        </p:txBody>
      </p:sp>
      <p:sp>
        <p:nvSpPr>
          <p:cNvPr id="13" name="Provenance/permissions, replica access and dual-use rev">
            <a:extLst xmlns:a="http://schemas.openxmlformats.org/drawingml/2006/main">
              <a:ext uri="{FF2B5EF4-FFF2-40B4-BE49-F238E27FC236}">
                <a16:creationId xmlns:a16="http://schemas.microsoft.com/office/drawing/2014/main" id="{40D4F9B5-9783-4BD2-AD81-1E4B0BA2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Provenance/permissions, replica access and dual-use review need owners. Encryption alone cannot establish fair outputs.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84872B-E717-4754-8480-1BD04B67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5" name="Protect distributed data and evaluate harms; more compu">
            <a:extLst xmlns:a="http://schemas.openxmlformats.org/drawingml/2006/main">
              <a:ext uri="{FF2B5EF4-FFF2-40B4-BE49-F238E27FC236}">
                <a16:creationId xmlns:a16="http://schemas.microsoft.com/office/drawing/2014/main" id="{F2556536-A80B-44CE-B5B4-0310E211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Protect distributed data and evaluate harms; more compute is not a fairness guarantee.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E1478F-F91C-4EAA-ACDD-53062F70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7" name="Sources: [14] Zhu et al. 2019: exposed gradients; [15] ">
            <a:extLst xmlns:a="http://schemas.openxmlformats.org/drawingml/2006/main">
              <a:ext uri="{FF2B5EF4-FFF2-40B4-BE49-F238E27FC236}">
                <a16:creationId xmlns:a16="http://schemas.microsoft.com/office/drawing/2014/main" id="{0F3F6BF3-875C-400F-9349-C28D1620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[14] Zhu et al. 2019: exposed gradients; [15] Gallegos et al. 2024: fairness evaluation; [18] OECD: rights, fairness and accountability; [19] NIST: Govern, Map, Measure,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Manage</a:t>
            </a:r>
          </a:p>
        </p:txBody>
      </p:sp>
      <p:sp>
        <p:nvSpPr>
          <p:cNvPr id="18" name="4 / 23">
            <a:extLst xmlns:a="http://schemas.openxmlformats.org/drawingml/2006/main">
              <a:ext uri="{FF2B5EF4-FFF2-40B4-BE49-F238E27FC236}">
                <a16:creationId xmlns:a16="http://schemas.microsoft.com/office/drawing/2014/main" id="{CDBCD9AA-5FEE-4AEE-8D21-2F696677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 / 23</a:t>
            </a:r>
          </a:p>
        </p:txBody>
      </p:sp>
    </p:spTree>
    <p:extLst>
      <p:ext uri="{BB962C8B-B14F-4D97-AF65-F5344CB8AC3E}">
        <p14:creationId xmlns:p14="http://schemas.microsoft.com/office/powerpoint/2010/main" val="16093656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2(c)">
            <a:extLst xmlns:a="http://schemas.openxmlformats.org/drawingml/2006/main">
              <a:ext uri="{FF2B5EF4-FFF2-40B4-BE49-F238E27FC236}">
                <a16:creationId xmlns:a16="http://schemas.microsoft.com/office/drawing/2014/main" id="{921B8C9D-AFC1-48A9-BF57-778C10B6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2(c)</a:t>
            </a:r>
          </a:p>
        </p:txBody>
      </p:sp>
      <p:sp>
        <p:nvSpPr>
          <p:cNvPr id="2" name="Unequal access to HPC resources">
            <a:extLst xmlns:a="http://schemas.openxmlformats.org/drawingml/2006/main">
              <a:ext uri="{FF2B5EF4-FFF2-40B4-BE49-F238E27FC236}">
                <a16:creationId xmlns:a16="http://schemas.microsoft.com/office/drawing/2014/main" id="{31117C59-63C4-4C78-BDC6-F2B8E9C9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Unequal access to HPC resources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1B9A69-A88D-419A-A0CD-49954A4975C2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23812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857500"/>
                <a:gridCol w="4095750"/>
                <a:gridCol w="4019550"/>
              </a:tblGrid>
              <a:tr h="533400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shows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cannot establish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Ahmed &amp; Wahed [16]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Historical research participation and compute concentration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Current worldwide access or a universal causal effect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Strubell et al. [11]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Selected NLP workload costs and financial barriers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The cost of every current AI workload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urrent response: NAIRR supported &gt;600 teams and &gt;6,000">
            <a:extLst xmlns:a="http://schemas.openxmlformats.org/drawingml/2006/main">
              <a:ext uri="{FF2B5EF4-FFF2-40B4-BE49-F238E27FC236}">
                <a16:creationId xmlns:a16="http://schemas.microsoft.com/office/drawing/2014/main" id="{21D99412-14E6-4C9F-91C6-B5F42936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Current response: NAIRR supported &gt;600 teams and &gt;6,000 students</a:t>
            </a:r>
          </a:p>
        </p:txBody>
      </p:sp>
      <p:sp>
        <p:nvSpPr>
          <p:cNvPr id="5" name="NSF, March 2026; US programme since 2024. Reach does no">
            <a:extLst xmlns:a="http://schemas.openxmlformats.org/drawingml/2006/main">
              <a:ext uri="{FF2B5EF4-FFF2-40B4-BE49-F238E27FC236}">
                <a16:creationId xmlns:a16="http://schemas.microsoft.com/office/drawing/2014/main" id="{A5E6C58D-7665-420A-9C7C-FA0E591C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NSF, March 2026; US programme since 2024. Reach does not prove global equality.</a:t>
            </a:r>
          </a:p>
        </p:txBody>
      </p:sp>
      <p:sp>
        <p:nvSpPr>
          <p:cNvPr id="6" name="Proposal: transparent GPU-hour allocation, smaller-inst">
            <a:extLst xmlns:a="http://schemas.openxmlformats.org/drawingml/2006/main">
              <a:ext uri="{FF2B5EF4-FFF2-40B4-BE49-F238E27FC236}">
                <a16:creationId xmlns:a16="http://schemas.microsoft.com/office/drawing/2014/main" id="{48D4606F-9E18-4219-8C26-B4D6446A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Proposal: transparent GPU-hour allocation, smaller-institution support and appeals. Trade-off: reserved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 can reduce immediate utilization or delay urgent jobs.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29C15-B2CE-4A4F-A676-5130E3FB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8" name="Shared capacity helps; allocation, expertise and reprod">
            <a:extLst xmlns:a="http://schemas.openxmlformats.org/drawingml/2006/main">
              <a:ext uri="{FF2B5EF4-FFF2-40B4-BE49-F238E27FC236}">
                <a16:creationId xmlns:a16="http://schemas.microsoft.com/office/drawing/2014/main" id="{6210A6C9-0168-418B-B08C-2D167774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Shared capacity helps; allocation, expertise and reproducibility still need support.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1AB390-67B8-45F6-92B1-C2150AE3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0] NSF 2026: US programme reach; [11] Strube">
            <a:extLst xmlns:a="http://schemas.openxmlformats.org/drawingml/2006/main">
              <a:ext uri="{FF2B5EF4-FFF2-40B4-BE49-F238E27FC236}">
                <a16:creationId xmlns:a16="http://schemas.microsoft.com/office/drawing/2014/main" id="{0143A570-D8B2-4417-8BE2-4AD9F3DA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[10] NSF 2026: US programme reach; [11] Strubell et al. 2019: cost and equity; [16] Ahmed and Wahed 2020: compute divide</a:t>
            </a:r>
          </a:p>
        </p:txBody>
      </p:sp>
      <p:sp>
        <p:nvSpPr>
          <p:cNvPr id="11" name="5 / 23">
            <a:extLst xmlns:a="http://schemas.openxmlformats.org/drawingml/2006/main">
              <a:ext uri="{FF2B5EF4-FFF2-40B4-BE49-F238E27FC236}">
                <a16:creationId xmlns:a16="http://schemas.microsoft.com/office/drawing/2014/main" id="{397B6E32-F7BE-426D-BBE2-CD055268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 / 23</a:t>
            </a:r>
          </a:p>
        </p:txBody>
      </p:sp>
    </p:spTree>
    <p:extLst>
      <p:ext uri="{BB962C8B-B14F-4D97-AF65-F5344CB8AC3E}">
        <p14:creationId xmlns:p14="http://schemas.microsoft.com/office/powerpoint/2010/main" val="84909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A70BE8-93B4-4C4C-B547-DABA80271DB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81900" y="2266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62A7E-0F3D-420F-A4B9-ED5CABFDF2CD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581400" y="2266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7" name="Task 2(d)">
            <a:extLst xmlns:a="http://schemas.openxmlformats.org/drawingml/2006/main">
              <a:ext uri="{FF2B5EF4-FFF2-40B4-BE49-F238E27FC236}">
                <a16:creationId xmlns:a16="http://schemas.microsoft.com/office/drawing/2014/main" id="{74A7F041-E2BC-47DA-A92D-E4D97273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2(d)</a:t>
            </a:r>
          </a:p>
        </p:txBody>
      </p:sp>
      <p:sp>
        <p:nvSpPr>
          <p:cNvPr id="2" name="An accountable HPC approval process">
            <a:extLst xmlns:a="http://schemas.openxmlformats.org/drawingml/2006/main">
              <a:ext uri="{FF2B5EF4-FFF2-40B4-BE49-F238E27FC236}">
                <a16:creationId xmlns:a16="http://schemas.microsoft.com/office/drawing/2014/main" id="{A1F6B48F-2591-4443-A478-A05CD5C5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An accountable HPC approval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ADC6D4-9DA5-4E72-9C90-3F1F1653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Define outcome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+ accountable owner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4BFA1-5662-4CC2-BA3F-A62B988E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 quality,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energy and harms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21820-1500-40E6-B57A-8887CF87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Approve / defer /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reduce scale / redesign</a:t>
            </a:r>
          </a:p>
        </p:txBody>
      </p:sp>
      <p:sp>
        <p:nvSpPr>
          <p:cNvPr id="8" name="Green AI: efficiency evidence [13]  •  Carbon-aware sch">
            <a:extLst xmlns:a="http://schemas.openxmlformats.org/drawingml/2006/main">
              <a:ext uri="{FF2B5EF4-FFF2-40B4-BE49-F238E27FC236}">
                <a16:creationId xmlns:a16="http://schemas.microsoft.com/office/drawing/2014/main" id="{21956BAB-7274-4A9A-8412-A8E6B7EE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Green AI: efficiency evidence [13] • Carbon-aware scheduling: flexible work [17]</a:t>
            </a:r>
          </a:p>
        </p:txBody>
      </p:sp>
      <p:sp>
        <p:nvSpPr>
          <p:cNvPr id="9" name="OECD: values and rights [18]  •  NIST: Govern, Map, Mea">
            <a:extLst xmlns:a="http://schemas.openxmlformats.org/drawingml/2006/main">
              <a:ext uri="{FF2B5EF4-FFF2-40B4-BE49-F238E27FC236}">
                <a16:creationId xmlns:a16="http://schemas.microsoft.com/office/drawing/2014/main" id="{1A491B7C-DA05-4780-9CA9-C6C1CF62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OECD: values and rights [18] • NIST: Govern, Map, Measure, Manage [19]</a:t>
            </a:r>
          </a:p>
        </p:txBody>
      </p:sp>
      <p:sp>
        <p:nvSpPr>
          <p:cNvPr id="10" name="Use an energy budget, security/group evaluation and tra">
            <a:extLst xmlns:a="http://schemas.openxmlformats.org/drawingml/2006/main">
              <a:ext uri="{FF2B5EF4-FFF2-40B4-BE49-F238E27FC236}">
                <a16:creationId xmlns:a16="http://schemas.microsoft.com/office/drawing/2014/main" id="{03560BA1-22AF-413A-96A3-FE39A0EA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 an energy budget, security/group evaluation and transparent access rules. Record owner, rationale,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exceptions and outcomes.</a:t>
            </a:r>
          </a:p>
        </p:txBody>
      </p:sp>
      <p:sp>
        <p:nvSpPr>
          <p:cNvPr id="11" name="Measurement informs action: shift flexible jobs to clea">
            <a:extLst xmlns:a="http://schemas.openxmlformats.org/drawingml/2006/main">
              <a:ext uri="{FF2B5EF4-FFF2-40B4-BE49-F238E27FC236}">
                <a16:creationId xmlns:a16="http://schemas.microsoft.com/office/drawing/2014/main" id="{D18B7A88-56BC-4A01-86DA-0F0FDC6F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5078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Measurement informs action: shift flexible jobs to cleaner periods within deadlines/capacity. Forecast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uncertainty, water stress and urgent access can change the decision.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9321DE-8002-49B6-8BC3-BEC8163B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3" name="Approve useful work with explicit budgets, safeguards a">
            <a:extLst xmlns:a="http://schemas.openxmlformats.org/drawingml/2006/main">
              <a:ext uri="{FF2B5EF4-FFF2-40B4-BE49-F238E27FC236}">
                <a16:creationId xmlns:a16="http://schemas.microsoft.com/office/drawing/2014/main" id="{E80782F6-CDE5-45FE-A40C-BFBC4460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Approve useful work with explicit budgets, safeguards and an accountable owner.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AE4177-0D3F-46F1-B7C7-415EDB2A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5" name="Sources: [13] Schwartz et al. 2019: efficiency reportin">
            <a:extLst xmlns:a="http://schemas.openxmlformats.org/drawingml/2006/main">
              <a:ext uri="{FF2B5EF4-FFF2-40B4-BE49-F238E27FC236}">
                <a16:creationId xmlns:a16="http://schemas.microsoft.com/office/drawing/2014/main" id="{9BECBD5E-F981-413F-A027-15907B3F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[13] Schwartz et al. 2019: efficiency reporting; [17] Radovanovic et al. 2021: flexible scheduling; [18] OECD: rights, fairness and accountability; [19] NIST: Govern, Map,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Measure, Manage</a:t>
            </a:r>
          </a:p>
        </p:txBody>
      </p:sp>
      <p:sp>
        <p:nvSpPr>
          <p:cNvPr id="16" name="6 / 23">
            <a:extLst xmlns:a="http://schemas.openxmlformats.org/drawingml/2006/main">
              <a:ext uri="{FF2B5EF4-FFF2-40B4-BE49-F238E27FC236}">
                <a16:creationId xmlns:a16="http://schemas.microsoft.com/office/drawing/2014/main" id="{E317D582-AB6A-40DF-992A-013B4855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6 / 23</a:t>
            </a:r>
          </a:p>
        </p:txBody>
      </p:sp>
    </p:spTree>
    <p:extLst>
      <p:ext uri="{BB962C8B-B14F-4D97-AF65-F5344CB8AC3E}">
        <p14:creationId xmlns:p14="http://schemas.microsoft.com/office/powerpoint/2010/main" val="4032946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• Reading guide">
            <a:extLst xmlns:a="http://schemas.openxmlformats.org/drawingml/2006/main">
              <a:ext uri="{FF2B5EF4-FFF2-40B4-BE49-F238E27FC236}">
                <a16:creationId xmlns:a16="http://schemas.microsoft.com/office/drawing/2014/main" id="{79C6DF0D-D4EB-49D9-B38D-8A92D6BD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Reading guide</a:t>
            </a:r>
          </a:p>
        </p:txBody>
      </p:sp>
      <p:sp>
        <p:nvSpPr>
          <p:cNvPr id="2" name="Supporting detail and limitations">
            <a:extLst xmlns:a="http://schemas.openxmlformats.org/drawingml/2006/main">
              <a:ext uri="{FF2B5EF4-FFF2-40B4-BE49-F238E27FC236}">
                <a16:creationId xmlns:a16="http://schemas.microsoft.com/office/drawing/2014/main" id="{2BDACBAE-1F51-49B6-960C-71297F08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Supporting detail and limitations</a:t>
            </a:r>
          </a:p>
        </p:txBody>
      </p:sp>
      <p:sp>
        <p:nvSpPr>
          <p:cNvPr id="3" name="Task 1: design evidence">
            <a:extLst xmlns:a="http://schemas.openxmlformats.org/drawingml/2006/main">
              <a:ext uri="{FF2B5EF4-FFF2-40B4-BE49-F238E27FC236}">
                <a16:creationId xmlns:a16="http://schemas.microsoft.com/office/drawing/2014/main" id="{9D4C3224-B8A9-4FE6-8F58-150BD735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1: design evidence</a:t>
            </a:r>
          </a:p>
        </p:txBody>
      </p:sp>
      <p:sp>
        <p:nvSpPr>
          <p:cNvPr id="4" name="Rotation assumptions, a worked example and full CUDA te">
            <a:extLst xmlns:a="http://schemas.openxmlformats.org/drawingml/2006/main">
              <a:ext uri="{FF2B5EF4-FFF2-40B4-BE49-F238E27FC236}">
                <a16:creationId xmlns:a16="http://schemas.microsoft.com/office/drawing/2014/main" id="{12AE8A08-A21D-4C85-869F-FAAA8DF9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assumptions, a worked example and full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teaching excerpts are included on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following slides.</a:t>
            </a:r>
          </a:p>
        </p:txBody>
      </p:sp>
      <p:sp>
        <p:nvSpPr>
          <p:cNvPr id="5" name="Performance explanations use a stated CPU baseline and ">
            <a:extLst xmlns:a="http://schemas.openxmlformats.org/drawingml/2006/main">
              <a:ext uri="{FF2B5EF4-FFF2-40B4-BE49-F238E27FC236}">
                <a16:creationId xmlns:a16="http://schemas.microsoft.com/office/drawing/2014/main" id="{5732EB0A-1644-45D5-A5B2-32A2E1A2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Performance explanations use a stated CPU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baseline and theoretical bounds. No measured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speedup or compiled CUDA result is claimed.</a:t>
            </a:r>
          </a:p>
        </p:txBody>
      </p:sp>
      <p:sp>
        <p:nvSpPr>
          <p:cNvPr id="6" name="GDS is evaluated for the actual CPU-decoded pipeline an">
            <a:extLst xmlns:a="http://schemas.openxmlformats.org/drawingml/2006/main">
              <a:ext uri="{FF2B5EF4-FFF2-40B4-BE49-F238E27FC236}">
                <a16:creationId xmlns:a16="http://schemas.microsoft.com/office/drawing/2014/main" id="{D407C1EE-A2AD-42AF-A6C7-775C1788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is evaluated for the actual CPU-decoded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pipeline and a conditional storage-bound batch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alternative.</a:t>
            </a:r>
          </a:p>
        </p:txBody>
      </p:sp>
      <p:sp>
        <p:nvSpPr>
          <p:cNvPr id="7" name="Task 2: research and decisions">
            <a:extLst xmlns:a="http://schemas.openxmlformats.org/drawingml/2006/main">
              <a:ext uri="{FF2B5EF4-FFF2-40B4-BE49-F238E27FC236}">
                <a16:creationId xmlns:a16="http://schemas.microsoft.com/office/drawing/2014/main" id="{2CE756DF-1E2C-4D7A-991F-B1190329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2: research and decisions</a:t>
            </a:r>
          </a:p>
        </p:txBody>
      </p:sp>
      <p:sp>
        <p:nvSpPr>
          <p:cNvPr id="8" name="Each required topic has evidence, a comparison, propose">
            <a:extLst xmlns:a="http://schemas.openxmlformats.org/drawingml/2006/main">
              <a:ext uri="{FF2B5EF4-FFF2-40B4-BE49-F238E27FC236}">
                <a16:creationId xmlns:a16="http://schemas.microsoft.com/office/drawing/2014/main" id="{3FEAD84A-546C-48D7-85BA-1BA47B73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Each required topic has evidence, a comparison,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proposed measures and limitations. A cluster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scenario is illustrative, not an observed experiment.</a:t>
            </a:r>
          </a:p>
        </p:txBody>
      </p:sp>
      <p:sp>
        <p:nvSpPr>
          <p:cNvPr id="9" name="Sector electricity data do not establish a particular t">
            <a:extLst xmlns:a="http://schemas.openxmlformats.org/drawingml/2006/main">
              <a:ext uri="{FF2B5EF4-FFF2-40B4-BE49-F238E27FC236}">
                <a16:creationId xmlns:a16="http://schemas.microsoft.com/office/drawing/2014/main" id="{0182BBE9-06EB-45A6-B940-45E1CAE6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Sector electricity data do not establish a particular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training job’s footprint. Historical research is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distinguished from current programme reach.</a:t>
            </a:r>
          </a:p>
        </p:txBody>
      </p:sp>
      <p:sp>
        <p:nvSpPr>
          <p:cNvPr id="10" name="References and a brief AI use declaration are part of t">
            <a:extLst xmlns:a="http://schemas.openxmlformats.org/drawingml/2006/main">
              <a:ext uri="{FF2B5EF4-FFF2-40B4-BE49-F238E27FC236}">
                <a16:creationId xmlns:a16="http://schemas.microsoft.com/office/drawing/2014/main" id="{397F8C30-318A-4B70-9BE0-E5271BFB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 and a brief AI use declaration are part of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this presentation. There is no separate report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dependency.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E2A77-C707-4144-BEC5-62B269E1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B56359-9C7F-49C7-8442-07C2BA12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C9B7CC5A-ED1B-4F83-A98B-DF8626DE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4" name="7 / 23">
            <a:extLst xmlns:a="http://schemas.openxmlformats.org/drawingml/2006/main">
              <a:ext uri="{FF2B5EF4-FFF2-40B4-BE49-F238E27FC236}">
                <a16:creationId xmlns:a16="http://schemas.microsoft.com/office/drawing/2014/main" id="{3A7E8429-09DD-4C49-8703-657153EF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7 / 23</a:t>
            </a:r>
          </a:p>
        </p:txBody>
      </p:sp>
    </p:spTree>
    <p:extLst>
      <p:ext uri="{BB962C8B-B14F-4D97-AF65-F5344CB8AC3E}">
        <p14:creationId xmlns:p14="http://schemas.microsoft.com/office/powerpoint/2010/main" val="1494167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1">
            <a:extLst xmlns:a="http://schemas.openxmlformats.org/drawingml/2006/main">
              <a:ext uri="{FF2B5EF4-FFF2-40B4-BE49-F238E27FC236}">
                <a16:creationId xmlns:a16="http://schemas.microsoft.com/office/drawing/2014/main" id="{E2D724BA-D685-4C37-B92D-3A10FEF9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B1</a:t>
            </a:r>
          </a:p>
        </p:txBody>
      </p:sp>
      <p:sp>
        <p:nvSpPr>
          <p:cNvPr id="2" name="Parallelism, dependencies and scaling limits">
            <a:extLst xmlns:a="http://schemas.openxmlformats.org/drawingml/2006/main">
              <a:ext uri="{FF2B5EF4-FFF2-40B4-BE49-F238E27FC236}">
                <a16:creationId xmlns:a16="http://schemas.microsoft.com/office/drawing/2014/main" id="{2495F644-6448-4C67-97FA-93A7A875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Parallelism, dependencies and scaling limits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08AA2-2A58-4EAD-B8E3-4C90F1A2E2B7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Partition and communication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Scaling limitation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 parallel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Replicate model; partition batches; reduce/average gradients before a consistent update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Collective latency/bandwidth and stragglers.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Tensor parallel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Partition computations within a layer; exchange partial results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Frequent inter-device communication.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Pipeline parallel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Assign layers to stages; pass activations/gradients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Stage imbalance and pipeline bubbles.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Fixed workload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More GPUs reduce only the parallelizable portion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Serial work and communication bound speedup.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Larger workload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Scale capacity/model/data with added resources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 different claim from halving a fixed job’s runtime.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All-reduce is a collective result-sharing concept, not ">
            <a:extLst xmlns:a="http://schemas.openxmlformats.org/drawingml/2006/main">
              <a:ext uri="{FF2B5EF4-FFF2-40B4-BE49-F238E27FC236}">
                <a16:creationId xmlns:a16="http://schemas.microsoft.com/office/drawing/2014/main" id="{8889A5BD-D058-44EF-A3A1-C7ED6353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All-reduce is a collective result-sharing concept, not a claim that every AI framework uses the exact classroom MPI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A64105-FEF0-4059-B9F6-046EFBEC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2] Topic 7A: dependencies and Amdahl; [3] Top">
            <a:extLst xmlns:a="http://schemas.openxmlformats.org/drawingml/2006/main">
              <a:ext uri="{FF2B5EF4-FFF2-40B4-BE49-F238E27FC236}">
                <a16:creationId xmlns:a16="http://schemas.microsoft.com/office/drawing/2014/main" id="{E6C2F78F-AF5D-4EE5-812D-CD32F08D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[3] Topic 9A: synchronization; [8] NVIDIA Megatron parallelism; [21] Week 5: collective communication</a:t>
            </a:r>
          </a:p>
        </p:txBody>
      </p:sp>
      <p:sp>
        <p:nvSpPr>
          <p:cNvPr id="7" name="8 / 23">
            <a:extLst xmlns:a="http://schemas.openxmlformats.org/drawingml/2006/main">
              <a:ext uri="{FF2B5EF4-FFF2-40B4-BE49-F238E27FC236}">
                <a16:creationId xmlns:a16="http://schemas.microsoft.com/office/drawing/2014/main" id="{E8FA5FD2-8FF2-4A02-8281-70229DE4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8 / 23</a:t>
            </a:r>
          </a:p>
        </p:txBody>
      </p:sp>
    </p:spTree>
    <p:extLst>
      <p:ext uri="{BB962C8B-B14F-4D97-AF65-F5344CB8AC3E}">
        <p14:creationId xmlns:p14="http://schemas.microsoft.com/office/powerpoint/2010/main" val="19931836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ppendix B2 • Illustrative calculation">
            <a:extLst xmlns:a="http://schemas.openxmlformats.org/drawingml/2006/main">
              <a:ext uri="{FF2B5EF4-FFF2-40B4-BE49-F238E27FC236}">
                <a16:creationId xmlns:a16="http://schemas.microsoft.com/office/drawing/2014/main" id="{6310F688-C479-4FD7-8DE8-CA007F31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B2 • Illustrative calculation</a:t>
            </a:r>
          </a:p>
        </p:txBody>
      </p:sp>
      <p:sp>
        <p:nvSpPr>
          <p:cNvPr id="2" name="A faster job can consume more energy">
            <a:extLst xmlns:a="http://schemas.openxmlformats.org/drawingml/2006/main">
              <a:ext uri="{FF2B5EF4-FFF2-40B4-BE49-F238E27FC236}">
                <a16:creationId xmlns:a16="http://schemas.microsoft.com/office/drawing/2014/main" id="{FA939BD6-F363-4152-9D3C-06C6EA1B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faster job can consume more energy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B0B20-6FE8-4199-A148-042E7D5813C6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Assumed configuration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Completed runtime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Whole-job energy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10191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Lower parallel scale; 1 kW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2.0 hours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 × 2.0 = 2.0 kWh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191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Higher parallel scale; 2 kW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1.2 hours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 × 1.2 = 2.4 kWh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Illustrative constant power assumptions, not measuremen">
            <a:extLst xmlns:a="http://schemas.openxmlformats.org/drawingml/2006/main">
              <a:ext uri="{FF2B5EF4-FFF2-40B4-BE49-F238E27FC236}">
                <a16:creationId xmlns:a16="http://schemas.microsoft.com/office/drawing/2014/main" id="{4C37957E-DFC3-4FD2-9CC0-D7687A79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Illustrative constant power assumptions, not measurements. Same useful output is assumed; faster completion uses 20% more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energy here.</a:t>
            </a:r>
          </a:p>
        </p:txBody>
      </p:sp>
      <p:sp>
        <p:nvSpPr>
          <p:cNvPr id="5" name="E = ∫ P(t) dt     •     Carbon ≈ Σ Einterval × carbon i">
            <a:extLst xmlns:a="http://schemas.openxmlformats.org/drawingml/2006/main">
              <a:ext uri="{FF2B5EF4-FFF2-40B4-BE49-F238E27FC236}">
                <a16:creationId xmlns:a16="http://schemas.microsoft.com/office/drawing/2014/main" id="{4D37BB10-F705-47DB-887B-33B15996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728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 = ∫ P(t) dt • Carbon ≈ Σ Einterval × carbon intensity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D65E05-276C-4A56-BDB8-362D44BE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7" name="Sources: [2] Topic 7A: dependencies and Amdahl; [11] St">
            <a:extLst xmlns:a="http://schemas.openxmlformats.org/drawingml/2006/main">
              <a:ext uri="{FF2B5EF4-FFF2-40B4-BE49-F238E27FC236}">
                <a16:creationId xmlns:a16="http://schemas.microsoft.com/office/drawing/2014/main" id="{5CC93BED-612E-4468-A760-C805CBE8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[11] Strubell et al. 2019: cost and equity; [13] Schwartz et al. 2019: efficiency reporting</a:t>
            </a:r>
          </a:p>
        </p:txBody>
      </p:sp>
      <p:sp>
        <p:nvSpPr>
          <p:cNvPr id="8" name="9 / 23">
            <a:extLst xmlns:a="http://schemas.openxmlformats.org/drawingml/2006/main">
              <a:ext uri="{FF2B5EF4-FFF2-40B4-BE49-F238E27FC236}">
                <a16:creationId xmlns:a16="http://schemas.microsoft.com/office/drawing/2014/main" id="{F3175CED-4180-4767-AA91-AA4BF1BA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9 / 23</a:t>
            </a:r>
          </a:p>
        </p:txBody>
      </p:sp>
    </p:spTree>
    <p:extLst>
      <p:ext uri="{BB962C8B-B14F-4D97-AF65-F5344CB8AC3E}">
        <p14:creationId xmlns:p14="http://schemas.microsoft.com/office/powerpoint/2010/main" val="4538830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3">
            <a:extLst xmlns:a="http://schemas.openxmlformats.org/drawingml/2006/main">
              <a:ext uri="{FF2B5EF4-FFF2-40B4-BE49-F238E27FC236}">
                <a16:creationId xmlns:a16="http://schemas.microsoft.com/office/drawing/2014/main" id="{00F0C523-EDF2-4F77-B31A-552192FE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B3</a:t>
            </a:r>
          </a:p>
        </p:txBody>
      </p:sp>
      <p:sp>
        <p:nvSpPr>
          <p:cNvPr id="2" name="Environmental accounting and evidence limits">
            <a:extLst xmlns:a="http://schemas.openxmlformats.org/drawingml/2006/main">
              <a:ext uri="{FF2B5EF4-FFF2-40B4-BE49-F238E27FC236}">
                <a16:creationId xmlns:a16="http://schemas.microsoft.com/office/drawing/2014/main" id="{67F47CA8-3E4D-4B27-A8E9-A2B54804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Environmental accounting and evidence limits</a:t>
            </a:r>
          </a:p>
        </p:txBody>
      </p:sp>
      <p:sp>
        <p:nvSpPr>
          <p:cNvPr id="3" name="Define what is counted">
            <a:extLst xmlns:a="http://schemas.openxmlformats.org/drawingml/2006/main">
              <a:ext uri="{FF2B5EF4-FFF2-40B4-BE49-F238E27FC236}">
                <a16:creationId xmlns:a16="http://schemas.microsoft.com/office/drawing/2014/main" id="{898D2C71-427E-4444-B597-CF365CB3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Define what is counted</a:t>
            </a:r>
          </a:p>
        </p:txBody>
      </p:sp>
      <p:sp>
        <p:nvSpPr>
          <p:cNvPr id="4" name="Energy (kWh) integrates power (kW) over hours. Operatio">
            <a:extLst xmlns:a="http://schemas.openxmlformats.org/drawingml/2006/main">
              <a:ext uri="{FF2B5EF4-FFF2-40B4-BE49-F238E27FC236}">
                <a16:creationId xmlns:a16="http://schemas.microsoft.com/office/drawing/2014/main" id="{1A49231A-1334-4BCD-A657-EB7EBEFB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Energy (kWh) integrates power (kW) over hours.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Operational emissions ≈ Σ energy in each interval ×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that interval’s carbon intensity (kg CO₂e/kWh).</a:t>
            </a:r>
          </a:p>
        </p:txBody>
      </p:sp>
      <p:sp>
        <p:nvSpPr>
          <p:cNvPr id="5" name="Report accelerators, host CPUs, storage/networking and ">
            <a:extLst xmlns:a="http://schemas.openxmlformats.org/drawingml/2006/main">
              <a:ext uri="{FF2B5EF4-FFF2-40B4-BE49-F238E27FC236}">
                <a16:creationId xmlns:a16="http://schemas.microsoft.com/office/drawing/2014/main" id="{034B0C4F-BD9E-4FCB-A7FA-D40B9713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Report accelerators, host CPUs, storage/networking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allocated cooling overhead; include failed runs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repeated tuning when evaluating a project.</a:t>
            </a:r>
          </a:p>
        </p:txBody>
      </p:sp>
      <p:sp>
        <p:nvSpPr>
          <p:cNvPr id="6" name="Hardware manufacture and disposal are embodied impacts ">
            <a:extLst xmlns:a="http://schemas.openxmlformats.org/drawingml/2006/main">
              <a:ext uri="{FF2B5EF4-FFF2-40B4-BE49-F238E27FC236}">
                <a16:creationId xmlns:a16="http://schemas.microsoft.com/office/drawing/2014/main" id="{FA716B07-DB41-4CB9-BF49-AEFCA33E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Hardware manufacture and disposal are embodied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impacts beyond operational electricity. Water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withdrawal and water consumption are different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measures.</a:t>
            </a:r>
          </a:p>
        </p:txBody>
      </p:sp>
      <p:sp>
        <p:nvSpPr>
          <p:cNvPr id="7" name="Compare the evidence">
            <a:extLst xmlns:a="http://schemas.openxmlformats.org/drawingml/2006/main">
              <a:ext uri="{FF2B5EF4-FFF2-40B4-BE49-F238E27FC236}">
                <a16:creationId xmlns:a16="http://schemas.microsoft.com/office/drawing/2014/main" id="{4212BFD2-C5E4-42CB-B8AB-B7BA65E1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Compare the evidence</a:t>
            </a:r>
          </a:p>
        </p:txBody>
      </p:sp>
      <p:sp>
        <p:nvSpPr>
          <p:cNvPr id="8" name="Strubell et al. quantify costs for selected historical ">
            <a:extLst xmlns:a="http://schemas.openxmlformats.org/drawingml/2006/main">
              <a:ext uri="{FF2B5EF4-FFF2-40B4-BE49-F238E27FC236}">
                <a16:creationId xmlns:a16="http://schemas.microsoft.com/office/drawing/2014/main" id="{156280E5-A623-4320-B280-DFFC5A34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Strubell et al. quantify costs for selected historical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NLP training/development workloads; those values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are not universal 2026 model footprints.</a:t>
            </a:r>
          </a:p>
        </p:txBody>
      </p:sp>
      <p:sp>
        <p:nvSpPr>
          <p:cNvPr id="9" name="Green AI motivates reporting efficiency alongside accur">
            <a:extLst xmlns:a="http://schemas.openxmlformats.org/drawingml/2006/main">
              <a:ext uri="{FF2B5EF4-FFF2-40B4-BE49-F238E27FC236}">
                <a16:creationId xmlns:a16="http://schemas.microsoft.com/office/drawing/2014/main" id="{1659256C-0BD9-4ACB-8562-5A254EDD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Green AI motivates reporting efficiency alongside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accuracy; Li et al. show why water varies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place/time. Carbon alone misses local water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pressures.</a:t>
            </a:r>
          </a:p>
        </p:txBody>
      </p:sp>
      <p:sp>
        <p:nvSpPr>
          <p:cNvPr id="10" name="IEA sector totals provide context, not causal attributi">
            <a:extLst xmlns:a="http://schemas.openxmlformats.org/drawingml/2006/main">
              <a:ext uri="{FF2B5EF4-FFF2-40B4-BE49-F238E27FC236}">
                <a16:creationId xmlns:a16="http://schemas.microsoft.com/office/drawing/2014/main" id="{92CD2E2B-3643-466B-ABA8-C50D10A7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IEA sector totals provide context, not causal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attribution to one model. Forecasts depend 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demand and infrastructure assumptions; local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grid/cooling effects differ by site.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D121C6-5CF0-4EEF-A4D7-C472D886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4A0B26-FCFE-4C29-AC4C-AF8AACB4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9] IEA 2026: sector estimates and projection;">
            <a:extLst xmlns:a="http://schemas.openxmlformats.org/drawingml/2006/main">
              <a:ext uri="{FF2B5EF4-FFF2-40B4-BE49-F238E27FC236}">
                <a16:creationId xmlns:a16="http://schemas.microsoft.com/office/drawing/2014/main" id="{9FD40F2F-8684-4D55-A4DA-55D037F3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[9] IEA 2026: sector estimates and projection; [11] Strubell et al. 2019: cost and equity; [12] Li et al. 2025 revision: water impacts; [13] Schwartz et al. 2019: efficiency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reporting</a:t>
            </a:r>
          </a:p>
        </p:txBody>
      </p:sp>
      <p:sp>
        <p:nvSpPr>
          <p:cNvPr id="14" name="10 / 23">
            <a:extLst xmlns:a="http://schemas.openxmlformats.org/drawingml/2006/main">
              <a:ext uri="{FF2B5EF4-FFF2-40B4-BE49-F238E27FC236}">
                <a16:creationId xmlns:a16="http://schemas.microsoft.com/office/drawing/2014/main" id="{4C4111CC-304F-4FA1-A214-28369D4B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10 / 23</a:t>
            </a:r>
          </a:p>
        </p:txBody>
      </p:sp>
    </p:spTree>
    <p:extLst>
      <p:ext uri="{BB962C8B-B14F-4D97-AF65-F5344CB8AC3E}">
        <p14:creationId xmlns:p14="http://schemas.microsoft.com/office/powerpoint/2010/main" val="14402988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4 • Proposed cluster policy">
            <a:extLst xmlns:a="http://schemas.openxmlformats.org/drawingml/2006/main">
              <a:ext uri="{FF2B5EF4-FFF2-40B4-BE49-F238E27FC236}">
                <a16:creationId xmlns:a16="http://schemas.microsoft.com/office/drawing/2014/main" id="{ABE39B7E-EA83-4A11-9D44-8C243811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B4 • Proposed cluster policy</a:t>
            </a:r>
          </a:p>
        </p:txBody>
      </p:sp>
      <p:sp>
        <p:nvSpPr>
          <p:cNvPr id="2" name="Governance controls and remaining risks">
            <a:extLst xmlns:a="http://schemas.openxmlformats.org/drawingml/2006/main">
              <a:ext uri="{FF2B5EF4-FFF2-40B4-BE49-F238E27FC236}">
                <a16:creationId xmlns:a16="http://schemas.microsoft.com/office/drawing/2014/main" id="{C184D133-2EFA-4488-AE00-C4E6F5A1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Governance controls and remaining risks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78980-215C-4E57-9CA4-475FA7ED8EC6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Risk / stakeholder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control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Residual limitation / owner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Dataset misuse / data subjects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Provenance, permission checks, retention limits and access logs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 licence alone may not justify every use; data steward reviews purpose.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Gradient/checkpoint exposure / participants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Least privilege, tenant isolation, protected transport and secure checkpoint storage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Authorized endpoints can still see sensitive values; security owner models insider risk.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Unsafe dual use / affected public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Authorized-use review, restricted access where justified and review of deployment risks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Controls cannot prevent every misuse; accountable owner weighs benefits/restrictions.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Distributed replicas / operators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Track copies, deletion obligations and incident response across workers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Replication increases the number of assets to protect; operator audits recovery.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These are proposed mitigations informed by research/fra">
            <a:extLst xmlns:a="http://schemas.openxmlformats.org/drawingml/2006/main">
              <a:ext uri="{FF2B5EF4-FFF2-40B4-BE49-F238E27FC236}">
                <a16:creationId xmlns:a16="http://schemas.microsoft.com/office/drawing/2014/main" id="{F10F5A7E-B4A0-4950-AABD-2618B79A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These are proposed mitigations informed by research/frameworks, not a proof of privacy or a compliance certification.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B984D1-E30B-48A3-9923-09F0C6C7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4] Zhu et al. 2019: exposed gradients; [18] ">
            <a:extLst xmlns:a="http://schemas.openxmlformats.org/drawingml/2006/main">
              <a:ext uri="{FF2B5EF4-FFF2-40B4-BE49-F238E27FC236}">
                <a16:creationId xmlns:a16="http://schemas.microsoft.com/office/drawing/2014/main" id="{5E84AE53-47DD-4EF3-9287-C8C6CE2B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[14] Zhu et al. 2019: exposed gradients; [18] OECD: rights, fairness and accountability; [19] NIST: Govern, Map, Measure, Manage</a:t>
            </a:r>
          </a:p>
        </p:txBody>
      </p:sp>
      <p:sp>
        <p:nvSpPr>
          <p:cNvPr id="7" name="11 / 23">
            <a:extLst xmlns:a="http://schemas.openxmlformats.org/drawingml/2006/main">
              <a:ext uri="{FF2B5EF4-FFF2-40B4-BE49-F238E27FC236}">
                <a16:creationId xmlns:a16="http://schemas.microsoft.com/office/drawing/2014/main" id="{A6ED6595-2AEA-4C54-B41B-D1EB762A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11 / 23</a:t>
            </a:r>
          </a:p>
        </p:txBody>
      </p:sp>
    </p:spTree>
    <p:extLst>
      <p:ext uri="{BB962C8B-B14F-4D97-AF65-F5344CB8AC3E}">
        <p14:creationId xmlns:p14="http://schemas.microsoft.com/office/powerpoint/2010/main" val="7896286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5 • Proposed example">
            <a:extLst xmlns:a="http://schemas.openxmlformats.org/drawingml/2006/main">
              <a:ext uri="{FF2B5EF4-FFF2-40B4-BE49-F238E27FC236}">
                <a16:creationId xmlns:a16="http://schemas.microsoft.com/office/drawing/2014/main" id="{A369420F-BC52-4CE2-8FB9-EB22E05C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B5 • Proposed example</a:t>
            </a:r>
          </a:p>
        </p:txBody>
      </p:sp>
      <p:sp>
        <p:nvSpPr>
          <p:cNvPr id="2" name="Fairness evaluation with large-scale compute">
            <a:extLst xmlns:a="http://schemas.openxmlformats.org/drawingml/2006/main">
              <a:ext uri="{FF2B5EF4-FFF2-40B4-BE49-F238E27FC236}">
                <a16:creationId xmlns:a16="http://schemas.microsoft.com/office/drawing/2014/main" id="{87A23896-B925-4A29-8D47-7699BFEB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Fairness evaluation with large-scale compute</a:t>
            </a:r>
          </a:p>
        </p:txBody>
      </p:sp>
      <p:sp>
        <p:nvSpPr>
          <p:cNvPr id="3" name="Compute connection">
            <a:extLst xmlns:a="http://schemas.openxmlformats.org/drawingml/2006/main">
              <a:ext uri="{FF2B5EF4-FFF2-40B4-BE49-F238E27FC236}">
                <a16:creationId xmlns:a16="http://schemas.microsoft.com/office/drawing/2014/main" id="{29362F17-1DD3-4D58-AB8B-A20CC93E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Compute connection</a:t>
            </a:r>
          </a:p>
        </p:txBody>
      </p:sp>
      <p:sp>
        <p:nvSpPr>
          <p:cNvPr id="4" name="An illustrative multilingual LLM service may have unequ">
            <a:extLst xmlns:a="http://schemas.openxmlformats.org/drawingml/2006/main">
              <a:ext uri="{FF2B5EF4-FFF2-40B4-BE49-F238E27FC236}">
                <a16:creationId xmlns:a16="http://schemas.microsoft.com/office/drawing/2014/main" id="{18BB279A-59FF-410B-9933-CFFFDD1B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 illustrative multilingual LLM service may have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unequal performance or stereotyped outputs across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language groups. Identify the actual harm before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choosing a metric.</a:t>
            </a:r>
          </a:p>
        </p:txBody>
      </p:sp>
      <p:sp>
        <p:nvSpPr>
          <p:cNvPr id="5" name="A cluster enables larger datasets and repeated training">
            <a:extLst xmlns:a="http://schemas.openxmlformats.org/drawingml/2006/main">
              <a:ext uri="{FF2B5EF4-FFF2-40B4-BE49-F238E27FC236}">
                <a16:creationId xmlns:a16="http://schemas.microsoft.com/office/drawing/2014/main" id="{4F0B2367-92D5-4E35-94F6-BA86EB05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cluster enables larger datasets and repeated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training, but neither data volume nor GPU count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guarantees representative data or equitable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outcomes.</a:t>
            </a:r>
          </a:p>
        </p:txBody>
      </p:sp>
      <p:sp>
        <p:nvSpPr>
          <p:cNvPr id="6" name="Reserve evaluation compute for affected groups; documen">
            <a:extLst xmlns:a="http://schemas.openxmlformats.org/drawingml/2006/main">
              <a:ext uri="{FF2B5EF4-FFF2-40B4-BE49-F238E27FC236}">
                <a16:creationId xmlns:a16="http://schemas.microsoft.com/office/drawing/2014/main" id="{EED27500-B5BE-4412-83ED-958595B8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Reserve evaluation compute for affected groups;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document dataset coverage and compare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disaggregated error or harmful-output rates using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task-appropriate test.</a:t>
            </a:r>
          </a:p>
        </p:txBody>
      </p:sp>
      <p:sp>
        <p:nvSpPr>
          <p:cNvPr id="7" name="Evidence and decision">
            <a:extLst xmlns:a="http://schemas.openxmlformats.org/drawingml/2006/main">
              <a:ext uri="{FF2B5EF4-FFF2-40B4-BE49-F238E27FC236}">
                <a16:creationId xmlns:a16="http://schemas.microsoft.com/office/drawing/2014/main" id="{BC317FE9-99CB-4F7C-A846-B6B0CED8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Evidence and decision</a:t>
            </a:r>
          </a:p>
        </p:txBody>
      </p:sp>
      <p:sp>
        <p:nvSpPr>
          <p:cNvPr id="8" name="Gallegos et al. separate metrics, evaluation datasets a">
            <a:extLst xmlns:a="http://schemas.openxmlformats.org/drawingml/2006/main">
              <a:ext uri="{FF2B5EF4-FFF2-40B4-BE49-F238E27FC236}">
                <a16:creationId xmlns:a16="http://schemas.microsoft.com/office/drawing/2014/main" id="{7916C955-7DB7-4AB9-9B78-439B5592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Gallegos et al. separate metrics, evaluation datasets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mitigation stages. A single aggregate accuracy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score can hide a relevant subgroup harm.</a:t>
            </a:r>
          </a:p>
        </p:txBody>
      </p:sp>
      <p:sp>
        <p:nvSpPr>
          <p:cNvPr id="9" name="Specify justified acceptance criteria before training; ">
            <a:extLst xmlns:a="http://schemas.openxmlformats.org/drawingml/2006/main">
              <a:ext uri="{FF2B5EF4-FFF2-40B4-BE49-F238E27FC236}">
                <a16:creationId xmlns:a16="http://schemas.microsoft.com/office/drawing/2014/main" id="{C8C46A44-4409-4633-A696-27A9479B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Specify justified acceptance criteria before training;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examine uncertainty and small-group sample limits.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Mitigate, reevaluate, and document unresolved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harms.</a:t>
            </a:r>
          </a:p>
        </p:txBody>
      </p:sp>
      <p:sp>
        <p:nvSpPr>
          <p:cNvPr id="10" name="Security and fairness have different objectives: encryp">
            <a:extLst xmlns:a="http://schemas.openxmlformats.org/drawingml/2006/main">
              <a:ext uri="{FF2B5EF4-FFF2-40B4-BE49-F238E27FC236}">
                <a16:creationId xmlns:a16="http://schemas.microsoft.com/office/drawing/2014/main" id="{B5404905-C31E-4B48-9842-590C1951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Security and fairness have different objectives: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encrypted gradients do not establish fair outputs.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source supports model-bias analysis, not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claim that HPC itself causes bias.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0DCF46-A54A-4265-8070-262A15D7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75BBC8-F165-410F-8354-B29F5D1B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5] Gallegos et al. 2024: fairness evaluation">
            <a:extLst xmlns:a="http://schemas.openxmlformats.org/drawingml/2006/main">
              <a:ext uri="{FF2B5EF4-FFF2-40B4-BE49-F238E27FC236}">
                <a16:creationId xmlns:a16="http://schemas.microsoft.com/office/drawing/2014/main" id="{3F6F066F-4411-4ECE-89EA-43F12569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[15] Gallegos et al. 2024: fairness evaluation; [18] OECD: rights, fairness and accountability; [19] NIST: Govern, Map, Measure, Manage</a:t>
            </a:r>
          </a:p>
        </p:txBody>
      </p:sp>
      <p:sp>
        <p:nvSpPr>
          <p:cNvPr id="14" name="12 / 23">
            <a:extLst xmlns:a="http://schemas.openxmlformats.org/drawingml/2006/main">
              <a:ext uri="{FF2B5EF4-FFF2-40B4-BE49-F238E27FC236}">
                <a16:creationId xmlns:a16="http://schemas.microsoft.com/office/drawing/2014/main" id="{293D19C1-EA4B-43C7-A001-91CBDE66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12 / 23</a:t>
            </a:r>
          </a:p>
        </p:txBody>
      </p:sp>
    </p:spTree>
    <p:extLst>
      <p:ext uri="{BB962C8B-B14F-4D97-AF65-F5344CB8AC3E}">
        <p14:creationId xmlns:p14="http://schemas.microsoft.com/office/powerpoint/2010/main" val="5489228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6">
            <a:extLst xmlns:a="http://schemas.openxmlformats.org/drawingml/2006/main">
              <a:ext uri="{FF2B5EF4-FFF2-40B4-BE49-F238E27FC236}">
                <a16:creationId xmlns:a16="http://schemas.microsoft.com/office/drawing/2014/main" id="{7D03D958-F846-4397-8D32-BD1959B0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B6</a:t>
            </a:r>
          </a:p>
        </p:txBody>
      </p:sp>
      <p:sp>
        <p:nvSpPr>
          <p:cNvPr id="2" name="Access research and allocation choices">
            <a:extLst xmlns:a="http://schemas.openxmlformats.org/drawingml/2006/main">
              <a:ext uri="{FF2B5EF4-FFF2-40B4-BE49-F238E27FC236}">
                <a16:creationId xmlns:a16="http://schemas.microsoft.com/office/drawing/2014/main" id="{4058E76D-E967-46DD-9D0F-5BE41D8B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 research and allocation choices</a:t>
            </a:r>
          </a:p>
        </p:txBody>
      </p:sp>
      <p:sp>
        <p:nvSpPr>
          <p:cNvPr id="3" name="Research comparison">
            <a:extLst xmlns:a="http://schemas.openxmlformats.org/drawingml/2006/main">
              <a:ext uri="{FF2B5EF4-FFF2-40B4-BE49-F238E27FC236}">
                <a16:creationId xmlns:a16="http://schemas.microsoft.com/office/drawing/2014/main" id="{37B766C2-58DE-4801-8036-B3457074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Research comparison</a:t>
            </a:r>
          </a:p>
        </p:txBody>
      </p:sp>
      <p:sp>
        <p:nvSpPr>
          <p:cNvPr id="4" name="Ahmed and Wahed study historical conference participati">
            <a:extLst xmlns:a="http://schemas.openxmlformats.org/drawingml/2006/main">
              <a:ext uri="{FF2B5EF4-FFF2-40B4-BE49-F238E27FC236}">
                <a16:creationId xmlns:a16="http://schemas.microsoft.com/office/drawing/2014/main" id="{8472F477-73DB-4FDE-90A9-EF8DB33B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Ahmed and Wahed study historical conference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participation and a compute divide. Strubell et al.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examine financial/resource barriers in selected NLP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workloads.</a:t>
            </a:r>
          </a:p>
        </p:txBody>
      </p:sp>
      <p:sp>
        <p:nvSpPr>
          <p:cNvPr id="5" name="The first concerns institutional participation; the sec">
            <a:extLst xmlns:a="http://schemas.openxmlformats.org/drawingml/2006/main">
              <a:ext uri="{FF2B5EF4-FFF2-40B4-BE49-F238E27FC236}">
                <a16:creationId xmlns:a16="http://schemas.microsoft.com/office/drawing/2014/main" id="{14B2BC03-43D2-4DD1-A6A0-F0DE054D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first concerns institutional participation;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second concerns workload cost. Together they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motivate access support, but neither is a current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worldwide access census.</a:t>
            </a:r>
          </a:p>
        </p:txBody>
      </p:sp>
      <p:sp>
        <p:nvSpPr>
          <p:cNvPr id="6" name="NSF’s March 2026 participation figures describe a US sh">
            <a:extLst xmlns:a="http://schemas.openxmlformats.org/drawingml/2006/main">
              <a:ext uri="{FF2B5EF4-FFF2-40B4-BE49-F238E27FC236}">
                <a16:creationId xmlns:a16="http://schemas.microsoft.com/office/drawing/2014/main" id="{C2FD563D-3710-4BF0-807B-6A8409A8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NSF’s March 2026 participation figures describe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 shared-resource response. Programme reach is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not proof of equal allocation, global access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eliminated inequality.</a:t>
            </a:r>
          </a:p>
        </p:txBody>
      </p:sp>
      <p:sp>
        <p:nvSpPr>
          <p:cNvPr id="7" name="Proposed shared-cluster policy">
            <a:extLst xmlns:a="http://schemas.openxmlformats.org/drawingml/2006/main">
              <a:ext uri="{FF2B5EF4-FFF2-40B4-BE49-F238E27FC236}">
                <a16:creationId xmlns:a16="http://schemas.microsoft.com/office/drawing/2014/main" id="{60CB2A5E-B503-489A-A207-A6CCC366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Proposed shared-cluster policy</a:t>
            </a:r>
          </a:p>
        </p:txBody>
      </p:sp>
      <p:sp>
        <p:nvSpPr>
          <p:cNvPr id="8" name="Publish eligibility, GPU-hour limits and allocation cri">
            <a:extLst xmlns:a="http://schemas.openxmlformats.org/drawingml/2006/main">
              <a:ext uri="{FF2B5EF4-FFF2-40B4-BE49-F238E27FC236}">
                <a16:creationId xmlns:a16="http://schemas.microsoft.com/office/drawing/2014/main" id="{26660CEC-15B8-4B39-BDDB-3B1CF6CB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Publish eligibility, GPU-hour limits and allocation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criteria; reserve some capacity for teaching, smaller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institutions and independent replication.</a:t>
            </a:r>
          </a:p>
        </p:txBody>
      </p:sp>
      <p:sp>
        <p:nvSpPr>
          <p:cNvPr id="9" name="Provide application support and training; allow appeals">
            <a:extLst xmlns:a="http://schemas.openxmlformats.org/drawingml/2006/main">
              <a:ext uri="{FF2B5EF4-FFF2-40B4-BE49-F238E27FC236}">
                <a16:creationId xmlns:a16="http://schemas.microsoft.com/office/drawing/2014/main" id="{15A7CB15-14F9-4056-A0FC-FEB8D833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Provide application support and training; allow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appeals. Track applicant-to-award outcomes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waiting times across institution groups with privacy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safeguards.</a:t>
            </a:r>
          </a:p>
        </p:txBody>
      </p:sp>
      <p:sp>
        <p:nvSpPr>
          <p:cNvPr id="10" name="Trade-offs: reservations may reduce immediate utilizati">
            <a:extLst xmlns:a="http://schemas.openxmlformats.org/drawingml/2006/main">
              <a:ext uri="{FF2B5EF4-FFF2-40B4-BE49-F238E27FC236}">
                <a16:creationId xmlns:a16="http://schemas.microsoft.com/office/drawing/2014/main" id="{E900792F-7A00-4498-A662-33C8A8C8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396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Trade-offs: reservations may reduce immediate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utilization; queueing can delay urgent work;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unrestricted access can conflict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security/budgets. Prevent repeated deferral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resource starvation.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BB8A1F-F92A-4699-AB62-8D6DDC80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8216DC-73D7-4E4C-A154-BE8DB558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0] NSF 2026: US programme reach; [11] Strube">
            <a:extLst xmlns:a="http://schemas.openxmlformats.org/drawingml/2006/main">
              <a:ext uri="{FF2B5EF4-FFF2-40B4-BE49-F238E27FC236}">
                <a16:creationId xmlns:a16="http://schemas.microsoft.com/office/drawing/2014/main" id="{AF55E7D9-324F-4767-BAC2-C3D5353D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[10] NSF 2026: US programme reach; [11] Strubell et al. 2019: cost and equity; [16] Ahmed and Wahed 2020: compute divide; [22] Topic 9B: mutual exclusion and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allocation</a:t>
            </a:r>
          </a:p>
        </p:txBody>
      </p:sp>
      <p:sp>
        <p:nvSpPr>
          <p:cNvPr id="14" name="13 / 23">
            <a:extLst xmlns:a="http://schemas.openxmlformats.org/drawingml/2006/main">
              <a:ext uri="{FF2B5EF4-FFF2-40B4-BE49-F238E27FC236}">
                <a16:creationId xmlns:a16="http://schemas.microsoft.com/office/drawing/2014/main" id="{827CB776-60D5-4B5E-999C-35BBB11D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13 / 23</a:t>
            </a:r>
          </a:p>
        </p:txBody>
      </p:sp>
    </p:spTree>
    <p:extLst>
      <p:ext uri="{BB962C8B-B14F-4D97-AF65-F5344CB8AC3E}">
        <p14:creationId xmlns:p14="http://schemas.microsoft.com/office/powerpoint/2010/main" val="74977901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7 • Proposed application">
            <a:extLst xmlns:a="http://schemas.openxmlformats.org/drawingml/2006/main">
              <a:ext uri="{FF2B5EF4-FFF2-40B4-BE49-F238E27FC236}">
                <a16:creationId xmlns:a16="http://schemas.microsoft.com/office/drawing/2014/main" id="{4CF68FE9-F29E-476D-88F4-DF0618BC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B7 • Proposed application</a:t>
            </a:r>
          </a:p>
        </p:txBody>
      </p:sp>
      <p:sp>
        <p:nvSpPr>
          <p:cNvPr id="2" name="Framework roles and accountable decisions">
            <a:extLst xmlns:a="http://schemas.openxmlformats.org/drawingml/2006/main">
              <a:ext uri="{FF2B5EF4-FFF2-40B4-BE49-F238E27FC236}">
                <a16:creationId xmlns:a16="http://schemas.microsoft.com/office/drawing/2014/main" id="{6BDFDB95-0909-4BA1-9208-B18E804C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Framework roles and accountable decisions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496FC5-8105-446C-8708-38FAC2BDE813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Function / evidence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Concrete action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 / responsible role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Govern / OECD values + NIST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Assign ownership, data rules, access policy and escalation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Accountable owner accepts obligations and review process.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Map / NIST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Define use, stakeholders, misuse risks, deadline and alternatives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Data/risk stewards establish the application-specific scope.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Measure / Green AI + NIST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Track energy per useful outcome, model quality, group harms and scaling efficiency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Operator/evaluator provides evidence and uncertainty.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Manage / scheduling research + NIST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Approve, defer, reduce scale or redesign; enforce safeguards and review outcomes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Owner authorizes exceptions or rejects unresolved risks.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Our proposal combines measurement, scheduling and risk ">
            <a:extLst xmlns:a="http://schemas.openxmlformats.org/drawingml/2006/main">
              <a:ext uri="{FF2B5EF4-FFF2-40B4-BE49-F238E27FC236}">
                <a16:creationId xmlns:a16="http://schemas.microsoft.com/office/drawing/2014/main" id="{7F90FCDF-3FED-4E7C-B24A-D36D9A49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Our proposal combines measurement, scheduling and risk management. NIST Govern spans the other functions; risk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management is iterative, not a certification.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6C04D8-6A6C-43A6-BC70-173338D2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3] Schwartz et al. 2019: efficiency reportin">
            <a:extLst xmlns:a="http://schemas.openxmlformats.org/drawingml/2006/main">
              <a:ext uri="{FF2B5EF4-FFF2-40B4-BE49-F238E27FC236}">
                <a16:creationId xmlns:a16="http://schemas.microsoft.com/office/drawing/2014/main" id="{7F9A5596-A402-467E-8D98-2C90D364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[13] Schwartz et al. 2019: efficiency reporting; [17] Radovanovic et al. 2021: flexible scheduling; [18] OECD: rights, fairness and accountability; [19] NIST: Govern, Map,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Measure, Manage</a:t>
            </a:r>
          </a:p>
        </p:txBody>
      </p:sp>
      <p:sp>
        <p:nvSpPr>
          <p:cNvPr id="7" name="14 / 23">
            <a:extLst xmlns:a="http://schemas.openxmlformats.org/drawingml/2006/main">
              <a:ext uri="{FF2B5EF4-FFF2-40B4-BE49-F238E27FC236}">
                <a16:creationId xmlns:a16="http://schemas.microsoft.com/office/drawing/2014/main" id="{4D70A912-F591-429D-AA7C-24277237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14 / 23</a:t>
            </a:r>
          </a:p>
        </p:txBody>
      </p:sp>
    </p:spTree>
    <p:extLst>
      <p:ext uri="{BB962C8B-B14F-4D97-AF65-F5344CB8AC3E}">
        <p14:creationId xmlns:p14="http://schemas.microsoft.com/office/powerpoint/2010/main" val="21199359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06A28-8B74-445E-9418-0DD033B324B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448550" y="2314575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3EA74-3392-4B2E-9F70-DB80DF65C340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181350" y="231457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6" name="Appendix B8 • Illustrative policy">
            <a:extLst xmlns:a="http://schemas.openxmlformats.org/drawingml/2006/main">
              <a:ext uri="{FF2B5EF4-FFF2-40B4-BE49-F238E27FC236}">
                <a16:creationId xmlns:a16="http://schemas.microsoft.com/office/drawing/2014/main" id="{9809697E-AE1C-419F-882C-F0FAC36F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B8 • Illustrative policy</a:t>
            </a:r>
          </a:p>
        </p:txBody>
      </p:sp>
      <p:sp>
        <p:nvSpPr>
          <p:cNvPr id="2" name="Carbon-aware scheduling under constraints">
            <a:extLst xmlns:a="http://schemas.openxmlformats.org/drawingml/2006/main">
              <a:ext uri="{FF2B5EF4-FFF2-40B4-BE49-F238E27FC236}">
                <a16:creationId xmlns:a16="http://schemas.microsoft.com/office/drawing/2014/main" id="{92660302-B22A-4CC3-8E70-3DB60F8A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Carbon-aware scheduling under constraints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98A0D8-C20D-4E8D-8CF2-14763A40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Flexible job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C39433-5E93-47DC-B936-B62AFF9C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38325"/>
            <a:ext cx="2933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Lower-carbon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forecast window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F24FE-0F96-4351-8918-A08E0C40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38325"/>
            <a:ext cx="26860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Complete before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8" name="Research [17] demonstrates shifting temporally flexible">
            <a:extLst xmlns:a="http://schemas.openxmlformats.org/drawingml/2006/main">
              <a:ext uri="{FF2B5EF4-FFF2-40B4-BE49-F238E27FC236}">
                <a16:creationId xmlns:a16="http://schemas.microsoft.com/office/drawing/2014/main" id="{992802E2-0DFE-4962-BDC0-E9819A1C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[17] demonstrates shifting temporally flexible workloads using forecasts while preserving daily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capacity. It does not show every urgent GPU job can wait.</a:t>
            </a:r>
          </a:p>
        </p:txBody>
      </p:sp>
      <p:sp>
        <p:nvSpPr>
          <p:cNvPr id="9" name="Proposed rule: defer only if deadline, energy budget, w">
            <a:extLst xmlns:a="http://schemas.openxmlformats.org/drawingml/2006/main">
              <a:ext uri="{FF2B5EF4-FFF2-40B4-BE49-F238E27FC236}">
                <a16:creationId xmlns:a16="http://schemas.microsoft.com/office/drawing/2014/main" id="{391145A1-90F1-4D60-9E19-586DF7A0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Proposed rule: defer only if deadline, energy budget, water/site limits and equitable waiting-time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commitments remain satisfied; record exceptions.</a:t>
            </a:r>
          </a:p>
        </p:txBody>
      </p:sp>
      <p:sp>
        <p:nvSpPr>
          <p:cNvPr id="10" name="No feasible window: reduce scale, redesign or approve a">
            <a:extLst xmlns:a="http://schemas.openxmlformats.org/drawingml/2006/main">
              <a:ext uri="{FF2B5EF4-FFF2-40B4-BE49-F238E27FC236}">
                <a16:creationId xmlns:a16="http://schemas.microsoft.com/office/drawing/2014/main" id="{921CDFBE-8CE9-47F1-80B0-2F41634D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 feasible window: reduce scale, redesign or approve a justified urgent exception. Prevent indefinite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deferral. Data residency and transfer costs constrain moving work between sites.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D8C650-B775-4F15-B2D1-DE14AFCA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2" name="Flexible jobs may move; urgent jobs, water constraints ">
            <a:extLst xmlns:a="http://schemas.openxmlformats.org/drawingml/2006/main">
              <a:ext uri="{FF2B5EF4-FFF2-40B4-BE49-F238E27FC236}">
                <a16:creationId xmlns:a16="http://schemas.microsoft.com/office/drawing/2014/main" id="{48AF8726-6A99-4AAA-9270-CCD3866F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Flexible jobs may move; urgent jobs, water constraints and access commitments can override deferral.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4D8D91-8340-4E83-B244-409352D8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4" name="Sources: [12] Li et al. 2025 revision: water impacts; [">
            <a:extLst xmlns:a="http://schemas.openxmlformats.org/drawingml/2006/main">
              <a:ext uri="{FF2B5EF4-FFF2-40B4-BE49-F238E27FC236}">
                <a16:creationId xmlns:a16="http://schemas.microsoft.com/office/drawing/2014/main" id="{2F60A265-56C7-43B1-A397-BCD66013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[12] Li et al. 2025 revision: water impacts; [17] Radovanovic et al. 2021: flexible scheduling; [19] NIST: Govern, Map, Measure, Manage</a:t>
            </a:r>
          </a:p>
        </p:txBody>
      </p:sp>
      <p:sp>
        <p:nvSpPr>
          <p:cNvPr id="15" name="15 / 23">
            <a:extLst xmlns:a="http://schemas.openxmlformats.org/drawingml/2006/main">
              <a:ext uri="{FF2B5EF4-FFF2-40B4-BE49-F238E27FC236}">
                <a16:creationId xmlns:a16="http://schemas.microsoft.com/office/drawing/2014/main" id="{1EBDA3A3-F0A4-44AA-9095-58F7969D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15 / 23</a:t>
            </a:r>
          </a:p>
        </p:txBody>
      </p:sp>
    </p:spTree>
    <p:extLst>
      <p:ext uri="{BB962C8B-B14F-4D97-AF65-F5344CB8AC3E}">
        <p14:creationId xmlns:p14="http://schemas.microsoft.com/office/powerpoint/2010/main" val="20622173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9">
            <a:extLst xmlns:a="http://schemas.openxmlformats.org/drawingml/2006/main">
              <a:ext uri="{FF2B5EF4-FFF2-40B4-BE49-F238E27FC236}">
                <a16:creationId xmlns:a16="http://schemas.microsoft.com/office/drawing/2014/main" id="{F2232D57-8757-4B15-8F97-D3D30D2F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B9</a:t>
            </a:r>
          </a:p>
        </p:txBody>
      </p:sp>
      <p:sp>
        <p:nvSpPr>
          <p:cNvPr id="2" name="Research comparisons across all four topics">
            <a:extLst xmlns:a="http://schemas.openxmlformats.org/drawingml/2006/main">
              <a:ext uri="{FF2B5EF4-FFF2-40B4-BE49-F238E27FC236}">
                <a16:creationId xmlns:a16="http://schemas.microsoft.com/office/drawing/2014/main" id="{B855F9DF-2235-4215-B5C9-B3850769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comparisons across all four topics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608E4A-E0D4-4FC0-9236-18364485120F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Topic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 / limit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(a) Environment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Cost/efficiency research [11,13] versus water-footprint research [12]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Useful-output efficiency and local resource pressure need different measures.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(b) Governance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Gradient reconstruction [14] versus fairness evaluation survey [15]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 exposure and unequal outcomes are distinct failure mechanisms.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(c) Access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Institutional participation [16] versus workload cost/equity [11]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Concentration and financial barriers reinforce a concern; scopes differ.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(d) Frameworks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Efficiency-reporting argument [13] versus operational scheduling [17]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Measurement motivates action; scheduling depends on flexibility and forecasts.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Current institutional evidence [9,10] and governance fr">
            <a:extLst xmlns:a="http://schemas.openxmlformats.org/drawingml/2006/main">
              <a:ext uri="{FF2B5EF4-FFF2-40B4-BE49-F238E27FC236}">
                <a16:creationId xmlns:a16="http://schemas.microsoft.com/office/drawing/2014/main" id="{6B9E868B-99E7-4F79-8965-823B499B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Current institutional evidence [9,10] and governance frameworks [18,19] complement the research; they do not replace its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methodological limits.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48476-0F93-4EB7-A012-D08EB303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1] Strubell et al. 2019: cost and equity; [1">
            <a:extLst xmlns:a="http://schemas.openxmlformats.org/drawingml/2006/main">
              <a:ext uri="{FF2B5EF4-FFF2-40B4-BE49-F238E27FC236}">
                <a16:creationId xmlns:a16="http://schemas.microsoft.com/office/drawing/2014/main" id="{4F333C72-B549-4018-A6F3-642929EA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[11] Strubell et al. 2019: cost and equity; [12] Li et al. 2025 revision: water impacts; [13] Schwartz et al. 2019: efficiency reporting; [14] Zhu et al. 2019: exposed gradients;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[15] Gallegos et al. 2024: fairness evaluation; [16] Ahmed and Wahed 2020: compute divide; [17] Radovanovic et al. 2021: flexible scheduling</a:t>
            </a:r>
          </a:p>
        </p:txBody>
      </p:sp>
      <p:sp>
        <p:nvSpPr>
          <p:cNvPr id="7" name="16 / 23">
            <a:extLst xmlns:a="http://schemas.openxmlformats.org/drawingml/2006/main">
              <a:ext uri="{FF2B5EF4-FFF2-40B4-BE49-F238E27FC236}">
                <a16:creationId xmlns:a16="http://schemas.microsoft.com/office/drawing/2014/main" id="{88CB653F-6585-4B14-8CE5-76DA9ABB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16 / 23</a:t>
            </a:r>
          </a:p>
        </p:txBody>
      </p:sp>
    </p:spTree>
    <p:extLst>
      <p:ext uri="{BB962C8B-B14F-4D97-AF65-F5344CB8AC3E}">
        <p14:creationId xmlns:p14="http://schemas.microsoft.com/office/powerpoint/2010/main" val="8989637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• Synthesis">
            <a:extLst xmlns:a="http://schemas.openxmlformats.org/drawingml/2006/main">
              <a:ext uri="{FF2B5EF4-FFF2-40B4-BE49-F238E27FC236}">
                <a16:creationId xmlns:a16="http://schemas.microsoft.com/office/drawing/2014/main" id="{B7F1FB07-DF1D-4F23-B259-203474F8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Synthesis</a:t>
            </a:r>
          </a:p>
        </p:txBody>
      </p:sp>
      <p:sp>
        <p:nvSpPr>
          <p:cNvPr id="2" name="Conclusions and next measurements">
            <a:extLst xmlns:a="http://schemas.openxmlformats.org/drawingml/2006/main">
              <a:ext uri="{FF2B5EF4-FFF2-40B4-BE49-F238E27FC236}">
                <a16:creationId xmlns:a16="http://schemas.microsoft.com/office/drawing/2014/main" id="{8DDA02EF-3F31-4664-8C69-A0A40BAC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Conclusions and next measurements</a:t>
            </a:r>
          </a:p>
        </p:txBody>
      </p:sp>
      <p:sp>
        <p:nvSpPr>
          <p:cNvPr id="3" name="GPU rotation">
            <a:extLst xmlns:a="http://schemas.openxmlformats.org/drawingml/2006/main">
              <a:ext uri="{FF2B5EF4-FFF2-40B4-BE49-F238E27FC236}">
                <a16:creationId xmlns:a16="http://schemas.microsoft.com/office/drawing/2014/main" id="{C9D59CFF-D61E-474C-AF83-91443A59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GPU rotation</a:t>
            </a:r>
          </a:p>
        </p:txBody>
      </p:sp>
      <p:sp>
        <p:nvSpPr>
          <p:cNvPr id="4" name="Inverse gathering exposes independent pixel work. SM sc">
            <a:extLst xmlns:a="http://schemas.openxmlformats.org/drawingml/2006/main">
              <a:ext uri="{FF2B5EF4-FFF2-40B4-BE49-F238E27FC236}">
                <a16:creationId xmlns:a16="http://schemas.microsoft.com/office/drawing/2014/main" id="{50009FE0-FEF6-4BAE-AC9C-741CAE04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Inverse gathering exposes independent pixel work.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SM scheduling, memory locality and transfer costs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determine achieved performance.</a:t>
            </a:r>
          </a:p>
        </p:txBody>
      </p:sp>
      <p:sp>
        <p:nvSpPr>
          <p:cNvPr id="5" name="Choose a CPU baseline and compare completed equivalent ">
            <a:extLst xmlns:a="http://schemas.openxmlformats.org/drawingml/2006/main">
              <a:ext uri="{FF2B5EF4-FFF2-40B4-BE49-F238E27FC236}">
                <a16:creationId xmlns:a16="http://schemas.microsoft.com/office/drawing/2014/main" id="{0589DC2D-5552-4035-8122-E903859E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Choose a CPU baseline and compare completed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equivalent pipelines. GDS is conditional on storage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bottlenecks, a compatible data path and verified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support.</a:t>
            </a:r>
          </a:p>
        </p:txBody>
      </p:sp>
      <p:sp>
        <p:nvSpPr>
          <p:cNvPr id="6" name="Next: compile the teaching examples, check output again">
            <a:extLst xmlns:a="http://schemas.openxmlformats.org/drawingml/2006/main">
              <a:ext uri="{FF2B5EF4-FFF2-40B4-BE49-F238E27FC236}">
                <a16:creationId xmlns:a16="http://schemas.microsoft.com/office/drawing/2014/main" id="{BA4F5BA0-768D-47CC-BF87-5F6879A0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Next: compile the teaching examples, check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against a CPU reference and profile representative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 sizes/angles/batches. No result is assumed.</a:t>
            </a:r>
          </a:p>
        </p:txBody>
      </p:sp>
      <p:sp>
        <p:nvSpPr>
          <p:cNvPr id="7" name="Responsible scaling">
            <a:extLst xmlns:a="http://schemas.openxmlformats.org/drawingml/2006/main">
              <a:ext uri="{FF2B5EF4-FFF2-40B4-BE49-F238E27FC236}">
                <a16:creationId xmlns:a16="http://schemas.microsoft.com/office/drawing/2014/main" id="{16AD7C61-E2CC-41BA-81B9-9722D86C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Responsible scaling</a:t>
            </a:r>
          </a:p>
        </p:txBody>
      </p:sp>
      <p:sp>
        <p:nvSpPr>
          <p:cNvPr id="8" name="More compute can enable valuable research while concent">
            <a:extLst xmlns:a="http://schemas.openxmlformats.org/drawingml/2006/main">
              <a:ext uri="{FF2B5EF4-FFF2-40B4-BE49-F238E27FC236}">
                <a16:creationId xmlns:a16="http://schemas.microsoft.com/office/drawing/2014/main" id="{593B0C8F-EC6A-4868-9F65-3542932E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More compute can enable valuable research while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concentrating access and increasing resource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demand. Approve scale for useful outcomes,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safeguards.</a:t>
            </a:r>
          </a:p>
        </p:txBody>
      </p:sp>
      <p:sp>
        <p:nvSpPr>
          <p:cNvPr id="9" name="Combine job-level energy/resource evidence, separate se">
            <a:extLst xmlns:a="http://schemas.openxmlformats.org/drawingml/2006/main">
              <a:ext uri="{FF2B5EF4-FFF2-40B4-BE49-F238E27FC236}">
                <a16:creationId xmlns:a16="http://schemas.microsoft.com/office/drawing/2014/main" id="{E39BB2D1-6DA0-40E6-87F0-760DD193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Combine job-level energy/resource evidence,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separate security/fairness evaluation, transparent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allocations and deadline-aware scheduling.</a:t>
            </a:r>
          </a:p>
        </p:txBody>
      </p:sp>
      <p:sp>
        <p:nvSpPr>
          <p:cNvPr id="10" name="Next: measure a real cluster job’s energy, quality, sca">
            <a:extLst xmlns:a="http://schemas.openxmlformats.org/drawingml/2006/main">
              <a:ext uri="{FF2B5EF4-FFF2-40B4-BE49-F238E27FC236}">
                <a16:creationId xmlns:a16="http://schemas.microsoft.com/office/drawing/2014/main" id="{5FEA5215-0E20-4636-9E31-9B6DFDDD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Next: measure a real cluster job’s energy, quality,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scaling efficiency and allocation outcomes; revise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policy when evidence or conditions 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77CACC-48C7-4085-A7E8-1E99E60F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C5CACB-D98C-442A-A833-F4128FC0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2] Topic 7A: dependencies and Amdahl; [5] NVI">
            <a:extLst xmlns:a="http://schemas.openxmlformats.org/drawingml/2006/main">
              <a:ext uri="{FF2B5EF4-FFF2-40B4-BE49-F238E27FC236}">
                <a16:creationId xmlns:a16="http://schemas.microsoft.com/office/drawing/2014/main" id="{4BBFEB44-66C3-4D44-8BDD-80C2364A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[5] NVIDIA CUDA Best Practices; [6] NVIDIA GDS overview; [7] NVIDIA GDS design; [13] Schwartz et al. 2019: efficiency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reporting; [17] Radovanovic et al. 2021: flexible scheduling; [19] NIST: Govern, Map, Measure, Manage</a:t>
            </a:r>
          </a:p>
        </p:txBody>
      </p:sp>
      <p:sp>
        <p:nvSpPr>
          <p:cNvPr id="14" name="17 / 23">
            <a:extLst xmlns:a="http://schemas.openxmlformats.org/drawingml/2006/main">
              <a:ext uri="{FF2B5EF4-FFF2-40B4-BE49-F238E27FC236}">
                <a16:creationId xmlns:a16="http://schemas.microsoft.com/office/drawing/2014/main" id="{5AD1BDF0-758E-4E7B-A13A-D7215458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17 / 23</a:t>
            </a:r>
          </a:p>
        </p:txBody>
      </p:sp>
    </p:spTree>
    <p:extLst>
      <p:ext uri="{BB962C8B-B14F-4D97-AF65-F5344CB8AC3E}">
        <p14:creationId xmlns:p14="http://schemas.microsoft.com/office/powerpoint/2010/main" val="98220157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1/5">
            <a:extLst xmlns:a="http://schemas.openxmlformats.org/drawingml/2006/main">
              <a:ext uri="{FF2B5EF4-FFF2-40B4-BE49-F238E27FC236}">
                <a16:creationId xmlns:a16="http://schemas.microsoft.com/office/drawing/2014/main" id="{2B8729F7-80AC-4AFE-A639-A6EC17DC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1/5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6BAF5BFE-D284-4B85-B8BE-B38F78EC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2] Monash University, FIT3143 Topic 7A: Parallel perfo">
            <a:extLst xmlns:a="http://schemas.openxmlformats.org/drawingml/2006/main">
              <a:ext uri="{FF2B5EF4-FFF2-40B4-BE49-F238E27FC236}">
                <a16:creationId xmlns:a16="http://schemas.microsoft.com/office/drawing/2014/main" id="{7A76EDDD-E21D-46CD-9D1C-B4BF586C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[2] Monash University, FIT3143 Topic 7A: Parallel performance and Amdahl reasoning, course slides, 2024, pp. 6–15,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18–27.</a:t>
            </a:r>
          </a:p>
        </p:txBody>
      </p:sp>
      <p:sp>
        <p:nvSpPr>
          <p:cNvPr id="4" name="../../context/FIT3143-Topic-7A-2024.pdf">
            <a:extLst xmlns:a="http://schemas.openxmlformats.org/drawingml/2006/main">
              <a:ext uri="{FF2B5EF4-FFF2-40B4-BE49-F238E27FC236}">
                <a16:creationId xmlns:a16="http://schemas.microsoft.com/office/drawing/2014/main" id="{C43A1092-C3BE-48BC-B797-577E9CA6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436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../../context/FIT3143-Topic-7A-2024.pdf</a:t>
            </a:r>
          </a:p>
        </p:txBody>
      </p:sp>
      <p:sp>
        <p:nvSpPr>
          <p:cNvPr id="5" name="[3] Monash University, FIT3143 Topic 9A: Synchronizatio">
            <a:extLst xmlns:a="http://schemas.openxmlformats.org/drawingml/2006/main">
              <a:ext uri="{FF2B5EF4-FFF2-40B4-BE49-F238E27FC236}">
                <a16:creationId xmlns:a16="http://schemas.microsoft.com/office/drawing/2014/main" id="{C93DF9CB-D42B-40A4-8217-4241C0FB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556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[3] Monash University, FIT3143 Topic 9A: Synchronization and dependencies, course slides, 2024, pp. 2–7.</a:t>
            </a:r>
          </a:p>
        </p:txBody>
      </p:sp>
      <p:sp>
        <p:nvSpPr>
          <p:cNvPr id="6" name="../../context/FIT3143-Topic-9A-2024.pdf">
            <a:extLst xmlns:a="http://schemas.openxmlformats.org/drawingml/2006/main">
              <a:ext uri="{FF2B5EF4-FFF2-40B4-BE49-F238E27FC236}">
                <a16:creationId xmlns:a16="http://schemas.microsoft.com/office/drawing/2014/main" id="{899A1081-514C-4D0A-90D5-0508D784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979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../../context/FIT3143-Topic-9A-2024.pdf</a:t>
            </a:r>
          </a:p>
        </p:txBody>
      </p:sp>
      <p:sp>
        <p:nvSpPr>
          <p:cNvPr id="7" name="[5] NVIDIA, CUDA C++ Best Practices Guide, online docum">
            <a:extLst xmlns:a="http://schemas.openxmlformats.org/drawingml/2006/main">
              <a:ext uri="{FF2B5EF4-FFF2-40B4-BE49-F238E27FC236}">
                <a16:creationId xmlns:a16="http://schemas.microsoft.com/office/drawing/2014/main" id="{3EC0BB30-98BC-4DCD-A415-2BA0AFA5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098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[5] NVIDIA, CUDA C++ Best Practices Guide, online documentation, accessed Oct. 8, 2026.</a:t>
            </a:r>
          </a:p>
        </p:txBody>
      </p:sp>
      <p:sp>
        <p:nvSpPr>
          <p:cNvPr id="8" name="https://docs.nvidia.com/cuda/cuda-c-best-practices-guid">
            <a:extLst xmlns:a="http://schemas.openxmlformats.org/drawingml/2006/main">
              <a:ext uri="{FF2B5EF4-FFF2-40B4-BE49-F238E27FC236}">
                <a16:creationId xmlns:a16="http://schemas.microsoft.com/office/drawing/2014/main" id="{B60B6BFC-09A4-44F3-8B62-C8357362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522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887d81838f8b44bb"/>
              </a:rPr>
              <a:t>https://docs.nvidia.com/cuda/cuda-c-best-practices-guide/index.html</a:t>
            </a:r>
          </a:p>
        </p:txBody>
      </p:sp>
      <p:sp>
        <p:nvSpPr>
          <p:cNvPr id="9" name="[6] NVIDIA, GPUDirect Storage Overview Guide, online do">
            <a:extLst xmlns:a="http://schemas.openxmlformats.org/drawingml/2006/main">
              <a:ext uri="{FF2B5EF4-FFF2-40B4-BE49-F238E27FC236}">
                <a16:creationId xmlns:a16="http://schemas.microsoft.com/office/drawing/2014/main" id="{CF1AA8DA-C72A-4C25-A391-DE023AF5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6418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[6] NVIDIA, GPUDirect Storage Overview Guide, online documentation, accessed Oct. 8, 2026.</a:t>
            </a:r>
          </a:p>
        </p:txBody>
      </p:sp>
      <p:sp>
        <p:nvSpPr>
          <p:cNvPr id="10" name="https://docs.nvidia.com/gpudirect-storage/overview-guid">
            <a:extLst xmlns:a="http://schemas.openxmlformats.org/drawingml/2006/main">
              <a:ext uri="{FF2B5EF4-FFF2-40B4-BE49-F238E27FC236}">
                <a16:creationId xmlns:a16="http://schemas.microsoft.com/office/drawing/2014/main" id="{3942F024-560C-43C8-8123-DBB8EB30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0649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52115ed5e38240c3"/>
              </a:rPr>
              <a:t>https://docs.nvidia.com/gpudirect-storage/overview-guide/index.html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5B38CC-B967-430E-AFFC-98721B3F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58BFFACB-6703-41C5-95D3-84745E1E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18 / 23">
            <a:extLst xmlns:a="http://schemas.openxmlformats.org/drawingml/2006/main">
              <a:ext uri="{FF2B5EF4-FFF2-40B4-BE49-F238E27FC236}">
                <a16:creationId xmlns:a16="http://schemas.microsoft.com/office/drawing/2014/main" id="{54CFEDEB-2D93-4783-A5EC-FD248B7A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18 / 23</a:t>
            </a:r>
          </a:p>
        </p:txBody>
      </p:sp>
    </p:spTree>
    <p:extLst>
      <p:ext uri="{BB962C8B-B14F-4D97-AF65-F5344CB8AC3E}">
        <p14:creationId xmlns:p14="http://schemas.microsoft.com/office/powerpoint/2010/main" val="69715438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2/5">
            <a:extLst xmlns:a="http://schemas.openxmlformats.org/drawingml/2006/main">
              <a:ext uri="{FF2B5EF4-FFF2-40B4-BE49-F238E27FC236}">
                <a16:creationId xmlns:a16="http://schemas.microsoft.com/office/drawing/2014/main" id="{49EB728D-1A56-4694-8502-26CC1821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2/5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230E7B2B-551B-42AB-B499-537448FB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7] NVIDIA, GPUDirect Storage Design Guide, online docu">
            <a:extLst xmlns:a="http://schemas.openxmlformats.org/drawingml/2006/main">
              <a:ext uri="{FF2B5EF4-FFF2-40B4-BE49-F238E27FC236}">
                <a16:creationId xmlns:a16="http://schemas.microsoft.com/office/drawing/2014/main" id="{D2B69F0D-C39E-4E9D-B8BE-723184AA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[7] NVIDIA, GPUDirect Storage Design Guide, online documentation, accessed Oct. 8, 2026.</a:t>
            </a:r>
          </a:p>
        </p:txBody>
      </p:sp>
      <p:sp>
        <p:nvSpPr>
          <p:cNvPr id="4" name="https://docs.nvidia.com/gpudirect-storage/design-guide/">
            <a:extLst xmlns:a="http://schemas.openxmlformats.org/drawingml/2006/main">
              <a:ext uri="{FF2B5EF4-FFF2-40B4-BE49-F238E27FC236}">
                <a16:creationId xmlns:a16="http://schemas.microsoft.com/office/drawing/2014/main" id="{3062A9C9-3754-4399-8926-5F129A18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edf2065c6a224c06"/>
              </a:rPr>
              <a:t>https://docs.nvidia.com/gpudirect-storage/design-guide/index.html</a:t>
            </a:r>
          </a:p>
        </p:txBody>
      </p:sp>
      <p:sp>
        <p:nvSpPr>
          <p:cNvPr id="5" name="[8] NVIDIA, “Parallelism strategies guide,” Megatron Co">
            <a:extLst xmlns:a="http://schemas.openxmlformats.org/drawingml/2006/main">
              <a:ext uri="{FF2B5EF4-FFF2-40B4-BE49-F238E27FC236}">
                <a16:creationId xmlns:a16="http://schemas.microsoft.com/office/drawing/2014/main" id="{188813E3-98E1-482B-AE9F-38D1D4B0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[8] NVIDIA, “Parallelism strategies guide,” Megatron Core, online documentation, accessed Oct. 8, 2026.</a:t>
            </a:r>
          </a:p>
        </p:txBody>
      </p:sp>
      <p:sp>
        <p:nvSpPr>
          <p:cNvPr id="6" name="https://docs.nvidia.com/megatron-core/developer-guide/l">
            <a:extLst xmlns:a="http://schemas.openxmlformats.org/drawingml/2006/main">
              <a:ext uri="{FF2B5EF4-FFF2-40B4-BE49-F238E27FC236}">
                <a16:creationId xmlns:a16="http://schemas.microsoft.com/office/drawing/2014/main" id="{3C123E6C-9255-49A4-A4F9-0C9C406B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785d28dad3434cf3"/>
              </a:rPr>
              <a:t>https://docs.nvidia.com/megatron-core/developer-guide/latest/user-guide/parallelism-guide.html</a:t>
            </a:r>
          </a:p>
        </p:txBody>
      </p:sp>
      <p:sp>
        <p:nvSpPr>
          <p:cNvPr id="7" name="[9] International Energy Agency, Key Questions on Energ">
            <a:extLst xmlns:a="http://schemas.openxmlformats.org/drawingml/2006/main">
              <a:ext uri="{FF2B5EF4-FFF2-40B4-BE49-F238E27FC236}">
                <a16:creationId xmlns:a16="http://schemas.microsoft.com/office/drawing/2014/main" id="{263882B6-9C2D-4C59-8786-69555738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[9] International Energy Agency, Key Questions on Energy and AI, executive summary, Apr. 16, 2026, CC BY 4.0, accessed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Oct. 8, 2026.</a:t>
            </a:r>
          </a:p>
        </p:txBody>
      </p:sp>
      <p:sp>
        <p:nvSpPr>
          <p:cNvPr id="8" name="https://www.iea.org/reports/key-questions-on-energy-and">
            <a:extLst xmlns:a="http://schemas.openxmlformats.org/drawingml/2006/main">
              <a:ext uri="{FF2B5EF4-FFF2-40B4-BE49-F238E27FC236}">
                <a16:creationId xmlns:a16="http://schemas.microsoft.com/office/drawing/2014/main" id="{2B305296-3A41-475F-B9BE-A0DA87D2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522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796dbd61c3764502"/>
              </a:rPr>
              <a:t>https://www.iea.org/reports/key-questions-on-energy-and-ai/executive-summary</a:t>
            </a:r>
          </a:p>
        </p:txBody>
      </p:sp>
      <p:sp>
        <p:nvSpPr>
          <p:cNvPr id="9" name="[10] U.S. National Science Foundation, “NAIRR at 2 year">
            <a:extLst xmlns:a="http://schemas.openxmlformats.org/drawingml/2006/main">
              <a:ext uri="{FF2B5EF4-FFF2-40B4-BE49-F238E27FC236}">
                <a16:creationId xmlns:a16="http://schemas.microsoft.com/office/drawing/2014/main" id="{EC6543C0-2072-41E7-955C-92596BEE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6418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[10] U.S. National Science Foundation, “NAIRR at 2 years: Advancing American artificial intelligence innovation and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leadership,” Mar. 19, 2026, accessed Oct. 8, 2026.</a:t>
            </a:r>
          </a:p>
        </p:txBody>
      </p:sp>
      <p:sp>
        <p:nvSpPr>
          <p:cNvPr id="10" name="https://www.nsf.gov/cise/updates/nairr-2-years-advancin">
            <a:extLst xmlns:a="http://schemas.openxmlformats.org/drawingml/2006/main">
              <a:ext uri="{FF2B5EF4-FFF2-40B4-BE49-F238E27FC236}">
                <a16:creationId xmlns:a16="http://schemas.microsoft.com/office/drawing/2014/main" id="{B04DC70D-C9C2-4F7A-AE8D-24A7C194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868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648801f40c5a4470"/>
              </a:rPr>
              <a:t>https://www.nsf.gov/cise/updates/nairr-2-years-advancing-american-artificial-intelligence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3CF056-17B0-4F73-B910-0F9039A8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4A4FFB55-914F-4BD4-969C-A29DBCAD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19 / 23">
            <a:extLst xmlns:a="http://schemas.openxmlformats.org/drawingml/2006/main">
              <a:ext uri="{FF2B5EF4-FFF2-40B4-BE49-F238E27FC236}">
                <a16:creationId xmlns:a16="http://schemas.microsoft.com/office/drawing/2014/main" id="{47B4D893-DB9F-40A9-8E12-ED0854CA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19 / 23</a:t>
            </a:r>
          </a:p>
        </p:txBody>
      </p:sp>
    </p:spTree>
    <p:extLst>
      <p:ext uri="{BB962C8B-B14F-4D97-AF65-F5344CB8AC3E}">
        <p14:creationId xmlns:p14="http://schemas.microsoft.com/office/powerpoint/2010/main" val="102059657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3/5">
            <a:extLst xmlns:a="http://schemas.openxmlformats.org/drawingml/2006/main">
              <a:ext uri="{FF2B5EF4-FFF2-40B4-BE49-F238E27FC236}">
                <a16:creationId xmlns:a16="http://schemas.microsoft.com/office/drawing/2014/main" id="{1D449012-DB67-4107-B7A1-EE301F29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3/5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BE07DCFE-C128-4888-BFF6-86FBC859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1] E. Strubell, A. Ganesh, and A. McCallum, “Energy a">
            <a:extLst xmlns:a="http://schemas.openxmlformats.org/drawingml/2006/main">
              <a:ext uri="{FF2B5EF4-FFF2-40B4-BE49-F238E27FC236}">
                <a16:creationId xmlns:a16="http://schemas.microsoft.com/office/drawing/2014/main" id="{5F2FEB00-121F-445B-A526-98B30109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[11] E. Strubell, A. Ganesh, and A. McCallum, “Energy and policy considerations for deep learning in NLP,” in Proc. ACL,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2019, pp. 3645–3650, doi: 10.18653/v1/P19-1355.</a:t>
            </a:r>
          </a:p>
        </p:txBody>
      </p:sp>
      <p:sp>
        <p:nvSpPr>
          <p:cNvPr id="4" name="https://aclanthology.org/P19-1355/">
            <a:extLst xmlns:a="http://schemas.openxmlformats.org/drawingml/2006/main">
              <a:ext uri="{FF2B5EF4-FFF2-40B4-BE49-F238E27FC236}">
                <a16:creationId xmlns:a16="http://schemas.microsoft.com/office/drawing/2014/main" id="{83F91B37-ECA8-4DDE-BEA2-79B6CA59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436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3af0ad9861d94652"/>
              </a:rPr>
              <a:t>https://aclanthology.org/P19-1355/</a:t>
            </a:r>
          </a:p>
        </p:txBody>
      </p:sp>
      <p:sp>
        <p:nvSpPr>
          <p:cNvPr id="5" name="[12] P. Li, J. Yang, M. A. Islam, and S. Ren, “Making A">
            <a:extLst xmlns:a="http://schemas.openxmlformats.org/drawingml/2006/main">
              <a:ext uri="{FF2B5EF4-FFF2-40B4-BE49-F238E27FC236}">
                <a16:creationId xmlns:a16="http://schemas.microsoft.com/office/drawing/2014/main" id="{72B9D542-CBCC-417D-A15D-5D00A3E6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556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[12] P. Li, J. Yang, M. A. Islam, and S. Ren, “Making AI less ‘thirsty’: Uncovering and addressing the secret water footprint of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AI models,” arXiv:2304.03271v5, Mar. 26, 2025; first submitted 2023.</a:t>
            </a:r>
          </a:p>
        </p:txBody>
      </p:sp>
      <p:sp>
        <p:nvSpPr>
          <p:cNvPr id="6" name="https://arxiv.org/abs/2304.03271v5">
            <a:extLst xmlns:a="http://schemas.openxmlformats.org/drawingml/2006/main">
              <a:ext uri="{FF2B5EF4-FFF2-40B4-BE49-F238E27FC236}">
                <a16:creationId xmlns:a16="http://schemas.microsoft.com/office/drawing/2014/main" id="{54D4F190-71FF-46AB-A11C-9C10EBBD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782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214b2cf0c11e4fa2"/>
              </a:rPr>
              <a:t>https://arxiv.org/abs/2304.03271v5</a:t>
            </a:r>
          </a:p>
        </p:txBody>
      </p:sp>
      <p:sp>
        <p:nvSpPr>
          <p:cNvPr id="7" name="[13] R. Schwartz, J. Dodge, N. A. Smith, and O. Etzioni">
            <a:extLst xmlns:a="http://schemas.openxmlformats.org/drawingml/2006/main">
              <a:ext uri="{FF2B5EF4-FFF2-40B4-BE49-F238E27FC236}">
                <a16:creationId xmlns:a16="http://schemas.microsoft.com/office/drawing/2014/main" id="{F67FD898-A5C3-405F-BB30-B68A1894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902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[13] R. Schwartz, J. Dodge, N. A. Smith, and O. Etzioni, “Green AI,” arXiv:1907.10597, 2019.</a:t>
            </a:r>
          </a:p>
        </p:txBody>
      </p:sp>
      <p:sp>
        <p:nvSpPr>
          <p:cNvPr id="8" name="https://arxiv.org/abs/1907.10597">
            <a:extLst xmlns:a="http://schemas.openxmlformats.org/drawingml/2006/main">
              <a:ext uri="{FF2B5EF4-FFF2-40B4-BE49-F238E27FC236}">
                <a16:creationId xmlns:a16="http://schemas.microsoft.com/office/drawing/2014/main" id="{6BB7D213-10E1-43FE-8C9B-8D0CDD9C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325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80779ac672274eac"/>
              </a:rPr>
              <a:t>https://arxiv.org/abs/1907.10597</a:t>
            </a:r>
          </a:p>
        </p:txBody>
      </p:sp>
      <p:sp>
        <p:nvSpPr>
          <p:cNvPr id="9" name="[14] L. Zhu, Z. Liu, and S. Han, “Deep leakage from gra">
            <a:extLst xmlns:a="http://schemas.openxmlformats.org/drawingml/2006/main">
              <a:ext uri="{FF2B5EF4-FFF2-40B4-BE49-F238E27FC236}">
                <a16:creationId xmlns:a16="http://schemas.microsoft.com/office/drawing/2014/main" id="{6F04127E-AE0D-42D5-B392-A3D1CDD2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444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[14] L. Zhu, Z. Liu, and S. Han, “Deep leakage from gradients,” arXiv:1906.08935v2, 2019.</a:t>
            </a:r>
          </a:p>
        </p:txBody>
      </p:sp>
      <p:sp>
        <p:nvSpPr>
          <p:cNvPr id="10" name="https://arxiv.org/abs/1906.08935v2">
            <a:extLst xmlns:a="http://schemas.openxmlformats.org/drawingml/2006/main">
              <a:ext uri="{FF2B5EF4-FFF2-40B4-BE49-F238E27FC236}">
                <a16:creationId xmlns:a16="http://schemas.microsoft.com/office/drawing/2014/main" id="{B2C27913-52B0-4299-9E47-70906446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868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9c67ba3dfa8c4baa"/>
              </a:rPr>
              <a:t>https://arxiv.org/abs/1906.08935v2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3E6D7B-238F-4ACD-BB49-B2185088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84C35EBB-B1F0-4929-BD1D-756A0F04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20 / 23">
            <a:extLst xmlns:a="http://schemas.openxmlformats.org/drawingml/2006/main">
              <a:ext uri="{FF2B5EF4-FFF2-40B4-BE49-F238E27FC236}">
                <a16:creationId xmlns:a16="http://schemas.microsoft.com/office/drawing/2014/main" id="{0D0C7EB1-130C-4EE5-9C6F-AB58DD29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20 / 23</a:t>
            </a:r>
          </a:p>
        </p:txBody>
      </p:sp>
    </p:spTree>
    <p:extLst>
      <p:ext uri="{BB962C8B-B14F-4D97-AF65-F5344CB8AC3E}">
        <p14:creationId xmlns:p14="http://schemas.microsoft.com/office/powerpoint/2010/main" val="145967731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4/5">
            <a:extLst xmlns:a="http://schemas.openxmlformats.org/drawingml/2006/main">
              <a:ext uri="{FF2B5EF4-FFF2-40B4-BE49-F238E27FC236}">
                <a16:creationId xmlns:a16="http://schemas.microsoft.com/office/drawing/2014/main" id="{73004A55-9A87-4402-892F-0348F89C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4/5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30F2815E-9176-4AA9-A615-754A6D72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5] I. O. Gallegos et al., “Bias and fairness in large">
            <a:extLst xmlns:a="http://schemas.openxmlformats.org/drawingml/2006/main">
              <a:ext uri="{FF2B5EF4-FFF2-40B4-BE49-F238E27FC236}">
                <a16:creationId xmlns:a16="http://schemas.microsoft.com/office/drawing/2014/main" id="{D26356AF-ABB2-40AD-AF8C-489559A3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[15] I. O. Gallegos et al., “Bias and fairness in large language models: A survey,” Computational Linguistics, vol. 50, no. 3,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pp. 1097–1179, 2024, doi: 10.1162/coli_a_00524.</a:t>
            </a:r>
          </a:p>
        </p:txBody>
      </p:sp>
      <p:sp>
        <p:nvSpPr>
          <p:cNvPr id="4" name="https://aclanthology.org/2024.cl-3.8/">
            <a:extLst xmlns:a="http://schemas.openxmlformats.org/drawingml/2006/main">
              <a:ext uri="{FF2B5EF4-FFF2-40B4-BE49-F238E27FC236}">
                <a16:creationId xmlns:a16="http://schemas.microsoft.com/office/drawing/2014/main" id="{BA827734-C905-4665-BBBE-7D5FCE09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436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aa8887ef847d4be1"/>
              </a:rPr>
              <a:t>https://aclanthology.org/2024.cl-3.8/</a:t>
            </a:r>
          </a:p>
        </p:txBody>
      </p:sp>
      <p:sp>
        <p:nvSpPr>
          <p:cNvPr id="5" name="[16] N. Ahmed and M. Wahed, “The de-democratization of ">
            <a:extLst xmlns:a="http://schemas.openxmlformats.org/drawingml/2006/main">
              <a:ext uri="{FF2B5EF4-FFF2-40B4-BE49-F238E27FC236}">
                <a16:creationId xmlns:a16="http://schemas.microsoft.com/office/drawing/2014/main" id="{16FF7575-3BE0-46CC-994B-797E9941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556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[16] N. Ahmed and M. Wahed, “The de-democratization of AI: Deep learning and the compute divide in artificial intelligence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research,” arXiv:2010.15581v1, 2020.</a:t>
            </a:r>
          </a:p>
        </p:txBody>
      </p:sp>
      <p:sp>
        <p:nvSpPr>
          <p:cNvPr id="6" name="https://arxiv.org/abs/2010.15581v1">
            <a:extLst xmlns:a="http://schemas.openxmlformats.org/drawingml/2006/main">
              <a:ext uri="{FF2B5EF4-FFF2-40B4-BE49-F238E27FC236}">
                <a16:creationId xmlns:a16="http://schemas.microsoft.com/office/drawing/2014/main" id="{9EF797BE-F336-406D-897C-0DFDA6E1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782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48ce577591b44a93"/>
              </a:rPr>
              <a:t>https://arxiv.org/abs/2010.15581v1</a:t>
            </a:r>
          </a:p>
        </p:txBody>
      </p:sp>
      <p:sp>
        <p:nvSpPr>
          <p:cNvPr id="7" name="[17] A. Radovanovic et al., “Carbon-aware computing for">
            <a:extLst xmlns:a="http://schemas.openxmlformats.org/drawingml/2006/main">
              <a:ext uri="{FF2B5EF4-FFF2-40B4-BE49-F238E27FC236}">
                <a16:creationId xmlns:a16="http://schemas.microsoft.com/office/drawing/2014/main" id="{0F3636E5-BF57-43D3-9DD9-60B7F2B6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902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[17] A. Radovanovic et al., “Carbon-aware computing for datacenters,” arXiv:2106.11750v1, 2021.</a:t>
            </a:r>
          </a:p>
        </p:txBody>
      </p:sp>
      <p:sp>
        <p:nvSpPr>
          <p:cNvPr id="8" name="https://arxiv.org/abs/2106.11750v1">
            <a:extLst xmlns:a="http://schemas.openxmlformats.org/drawingml/2006/main">
              <a:ext uri="{FF2B5EF4-FFF2-40B4-BE49-F238E27FC236}">
                <a16:creationId xmlns:a16="http://schemas.microsoft.com/office/drawing/2014/main" id="{BAC0D35F-916E-4ACC-8179-FCD38E26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325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873066aa9b10477c"/>
              </a:rPr>
              <a:t>https://arxiv.org/abs/2106.11750v1</a:t>
            </a:r>
          </a:p>
        </p:txBody>
      </p:sp>
      <p:sp>
        <p:nvSpPr>
          <p:cNvPr id="9" name="[18] OECD, “OECD AI Principles,” adopted 2019, updated ">
            <a:extLst xmlns:a="http://schemas.openxmlformats.org/drawingml/2006/main">
              <a:ext uri="{FF2B5EF4-FFF2-40B4-BE49-F238E27FC236}">
                <a16:creationId xmlns:a16="http://schemas.microsoft.com/office/drawing/2014/main" id="{95638102-797E-4F28-BD6C-23AE2EDF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444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[18] OECD, “OECD AI Principles,” adopted 2019, updated 2024, accessed Oct. 8, 2026.</a:t>
            </a:r>
          </a:p>
        </p:txBody>
      </p:sp>
      <p:sp>
        <p:nvSpPr>
          <p:cNvPr id="10" name="https://www.oecd.org/en/topics/ai-principles.html">
            <a:extLst xmlns:a="http://schemas.openxmlformats.org/drawingml/2006/main">
              <a:ext uri="{FF2B5EF4-FFF2-40B4-BE49-F238E27FC236}">
                <a16:creationId xmlns:a16="http://schemas.microsoft.com/office/drawing/2014/main" id="{81A93F79-92D0-4AA9-9C0C-C26D66A7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868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6692a295c0cb44cf"/>
              </a:rPr>
              <a:t>https://www.oecd.org/en/topics/ai-principles.html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9EE7F0-5F78-477D-8D06-5BA3556B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3024E0C8-0417-444C-B108-8044F4CE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21 / 23">
            <a:extLst xmlns:a="http://schemas.openxmlformats.org/drawingml/2006/main">
              <a:ext uri="{FF2B5EF4-FFF2-40B4-BE49-F238E27FC236}">
                <a16:creationId xmlns:a16="http://schemas.microsoft.com/office/drawing/2014/main" id="{0E43F267-8C5B-4F77-B389-D0CAB488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21 / 23</a:t>
            </a:r>
          </a:p>
        </p:txBody>
      </p:sp>
    </p:spTree>
    <p:extLst>
      <p:ext uri="{BB962C8B-B14F-4D97-AF65-F5344CB8AC3E}">
        <p14:creationId xmlns:p14="http://schemas.microsoft.com/office/powerpoint/2010/main" val="142991551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• References 5/5">
            <a:extLst xmlns:a="http://schemas.openxmlformats.org/drawingml/2006/main">
              <a:ext uri="{FF2B5EF4-FFF2-40B4-BE49-F238E27FC236}">
                <a16:creationId xmlns:a16="http://schemas.microsoft.com/office/drawing/2014/main" id="{81D6DC0D-3CD9-4D6D-8477-F4EECC3E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5/5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CD9CD6B6-3B0E-423B-8FCC-09E3BD94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9] NIST, AI Risk Management Framework 1.0 Playbook, f">
            <a:extLst xmlns:a="http://schemas.openxmlformats.org/drawingml/2006/main">
              <a:ext uri="{FF2B5EF4-FFF2-40B4-BE49-F238E27FC236}">
                <a16:creationId xmlns:a16="http://schemas.microsoft.com/office/drawing/2014/main" id="{C9E4BF7B-27B7-4E68-916A-98CFA93A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[19] NIST, AI Risk Management Framework 1.0 Playbook, framework 2023, current online resource, accessed Oct. 8, 2026.</a:t>
            </a:r>
          </a:p>
        </p:txBody>
      </p:sp>
      <p:sp>
        <p:nvSpPr>
          <p:cNvPr id="4" name="https://airc.nist.gov/airmf-resources/playbook/">
            <a:extLst xmlns:a="http://schemas.openxmlformats.org/drawingml/2006/main">
              <a:ext uri="{FF2B5EF4-FFF2-40B4-BE49-F238E27FC236}">
                <a16:creationId xmlns:a16="http://schemas.microsoft.com/office/drawing/2014/main" id="{076722D6-8D18-46A4-BC6F-A3054E7F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7f69eb75d4b04ae4"/>
              </a:rPr>
              <a:t>https://airc.nist.gov/airmf-resources/playbook/</a:t>
            </a:r>
          </a:p>
        </p:txBody>
      </p:sp>
      <p:sp>
        <p:nvSpPr>
          <p:cNvPr id="5" name="[21] Monash University, FIT3143 Week 5 combined course ">
            <a:extLst xmlns:a="http://schemas.openxmlformats.org/drawingml/2006/main">
              <a:ext uri="{FF2B5EF4-FFF2-40B4-BE49-F238E27FC236}">
                <a16:creationId xmlns:a16="http://schemas.microsoft.com/office/drawing/2014/main" id="{D626D639-DC12-4B36-8DAD-7819DB86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[21] Monash University, FIT3143 Week 5 combined course material, MPI collectives, pp. 148–155.</a:t>
            </a:r>
          </a:p>
        </p:txBody>
      </p:sp>
      <p:sp>
        <p:nvSpPr>
          <p:cNvPr id="6" name="../../context/FIT3143_Week_5_Combined.pdf">
            <a:extLst xmlns:a="http://schemas.openxmlformats.org/drawingml/2006/main">
              <a:ext uri="{FF2B5EF4-FFF2-40B4-BE49-F238E27FC236}">
                <a16:creationId xmlns:a16="http://schemas.microsoft.com/office/drawing/2014/main" id="{DC27304D-A206-4F4C-B0C5-0D0FD8E3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../../context/FIT3143_Week_5_Combined.pdf</a:t>
            </a:r>
          </a:p>
        </p:txBody>
      </p:sp>
      <p:sp>
        <p:nvSpPr>
          <p:cNvPr id="7" name="[22] Monash University, FIT3143 Topic 9B: Mutual exclus">
            <a:extLst xmlns:a="http://schemas.openxmlformats.org/drawingml/2006/main">
              <a:ext uri="{FF2B5EF4-FFF2-40B4-BE49-F238E27FC236}">
                <a16:creationId xmlns:a16="http://schemas.microsoft.com/office/drawing/2014/main" id="{24C9F7D1-3482-43C7-892E-3ED48A54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[22] Monash University, FIT3143 Topic 9B: Mutual exclusion and resource allocation, course slides, 2024, pp. 4–16, 24–32.</a:t>
            </a:r>
          </a:p>
        </p:txBody>
      </p:sp>
      <p:sp>
        <p:nvSpPr>
          <p:cNvPr id="8" name="../../context/FIT3143-Topic-9B-2024.pdf">
            <a:extLst xmlns:a="http://schemas.openxmlformats.org/drawingml/2006/main">
              <a:ext uri="{FF2B5EF4-FFF2-40B4-BE49-F238E27FC236}">
                <a16:creationId xmlns:a16="http://schemas.microsoft.com/office/drawing/2014/main" id="{15BDCFCD-0729-40B4-8BCB-9F41568A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7189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../../context/FIT3143-Topic-9B-2024.pdf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91244A-C510-4622-B763-BA68839D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BBC37E65-D5DD-43CF-A4A7-2562BC1B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1" name="22 / 23">
            <a:extLst xmlns:a="http://schemas.openxmlformats.org/drawingml/2006/main">
              <a:ext uri="{FF2B5EF4-FFF2-40B4-BE49-F238E27FC236}">
                <a16:creationId xmlns:a16="http://schemas.microsoft.com/office/drawing/2014/main" id="{A25E5B76-1A47-48CD-AD08-11CC6028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22 / 23</a:t>
            </a:r>
          </a:p>
        </p:txBody>
      </p:sp>
    </p:spTree>
    <p:extLst>
      <p:ext uri="{BB962C8B-B14F-4D97-AF65-F5344CB8AC3E}">
        <p14:creationId xmlns:p14="http://schemas.microsoft.com/office/powerpoint/2010/main" val="49968159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Appendix • AI declaration">
            <a:extLst xmlns:a="http://schemas.openxmlformats.org/drawingml/2006/main">
              <a:ext uri="{FF2B5EF4-FFF2-40B4-BE49-F238E27FC236}">
                <a16:creationId xmlns:a16="http://schemas.microsoft.com/office/drawing/2014/main" id="{B7D9AAFA-9671-4C0D-B9D9-8B4331AA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AI declaration</a:t>
            </a:r>
          </a:p>
        </p:txBody>
      </p:sp>
      <p:sp>
        <p:nvSpPr>
          <p:cNvPr id="2" name="AI use declaration">
            <a:extLst xmlns:a="http://schemas.openxmlformats.org/drawingml/2006/main">
              <a:ext uri="{FF2B5EF4-FFF2-40B4-BE49-F238E27FC236}">
                <a16:creationId xmlns:a16="http://schemas.microsoft.com/office/drawing/2014/main" id="{DB68CF81-539C-4E4D-95DB-4625509F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AI use declaration</a:t>
            </a:r>
          </a:p>
        </p:txBody>
      </p:sp>
      <p:sp>
        <p:nvSpPr>
          <p:cNvPr id="3" name="AI model and tool">
            <a:extLst xmlns:a="http://schemas.openxmlformats.org/drawingml/2006/main">
              <a:ext uri="{FF2B5EF4-FFF2-40B4-BE49-F238E27FC236}">
                <a16:creationId xmlns:a16="http://schemas.microsoft.com/office/drawing/2014/main" id="{EAD1AE45-A2FF-40C7-989D-8E7418A9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AI model and tool</a:t>
            </a:r>
          </a:p>
        </p:txBody>
      </p:sp>
      <p:sp>
        <p:nvSpPr>
          <p:cNvPr id="4" name="OpenAI GPT-6, accessed through Codex.">
            <a:extLst xmlns:a="http://schemas.openxmlformats.org/drawingml/2006/main">
              <a:ext uri="{FF2B5EF4-FFF2-40B4-BE49-F238E27FC236}">
                <a16:creationId xmlns:a16="http://schemas.microsoft.com/office/drawing/2014/main" id="{737F62E4-796E-4416-948A-623611EF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OpenAI GPT-6, accessed through Codex.</a:t>
            </a:r>
          </a:p>
        </p:txBody>
      </p:sp>
      <p:sp>
        <p:nvSpPr>
          <p:cNvPr id="5" name="How AI was used">
            <a:extLst xmlns:a="http://schemas.openxmlformats.org/drawingml/2006/main">
              <a:ext uri="{FF2B5EF4-FFF2-40B4-BE49-F238E27FC236}">
                <a16:creationId xmlns:a16="http://schemas.microsoft.com/office/drawing/2014/main" id="{6667DC92-E662-4FC0-AD68-C1F8158F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How AI was used</a:t>
            </a:r>
          </a:p>
        </p:txBody>
      </p:sp>
      <p:sp>
        <p:nvSpPr>
          <p:cNvPr id="6" name="Research and source checks; drafting and revision of ex">
            <a:extLst xmlns:a="http://schemas.openxmlformats.org/drawingml/2006/main">
              <a:ext uri="{FF2B5EF4-FFF2-40B4-BE49-F238E27FC236}">
                <a16:creationId xmlns:a16="http://schemas.microsoft.com/office/drawing/2014/main" id="{E04E3304-7D0F-44FE-917C-92B9324A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and source checks; drafting and revision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of explanations and CUDA teaching examples;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creation of diagrams and charts; presentation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formatting and assembly.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71B2D9-FA9F-4E61-B93F-FE429A01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8780A9-8FFF-4BE3-8775-C531F0A9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9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69C202D6-FB2D-44DB-89B0-67DA03D8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0" name="23 / 23">
            <a:extLst xmlns:a="http://schemas.openxmlformats.org/drawingml/2006/main">
              <a:ext uri="{FF2B5EF4-FFF2-40B4-BE49-F238E27FC236}">
                <a16:creationId xmlns:a16="http://schemas.microsoft.com/office/drawing/2014/main" id="{687C034F-09FE-409F-A29A-88EAF64F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23 / 23</a:t>
            </a:r>
          </a:p>
        </p:txBody>
      </p:sp>
    </p:spTree>
    <p:extLst>
      <p:ext uri="{BB962C8B-B14F-4D97-AF65-F5344CB8AC3E}">
        <p14:creationId xmlns:p14="http://schemas.microsoft.com/office/powerpoint/2010/main" val="189052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2026-10-08T12:41:44.1410000Z</dcterms:created>
  <dcterms:modified xsi:type="dcterms:W3CDTF">2026-10-08T12:41:44.1410000Z</dcterms:modified>
</coreProperties>
</file>