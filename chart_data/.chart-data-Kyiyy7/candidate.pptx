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882dea62934ee0" /><Relationship Type="http://schemas.openxmlformats.org/officeDocument/2006/relationships/extended-properties" Target="/docProps/app.xml" Id="Rc0c1b821d2404e5d" /><Relationship Type="http://schemas.openxmlformats.org/officeDocument/2006/relationships/officeDocument" Target="/ppt/presentation.xml" Id="Re7fd8c528d1c40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dd2f003d7a41f4"/>
  </p:sldMasterIdLst>
  <p:notesMasterIdLst>
    <p:notesMasterId xmlns:r="http://schemas.openxmlformats.org/officeDocument/2006/relationships" r:id="R16623a25c7ea49a7"/>
  </p:notesMasterIdLst>
  <p:sldIdLst>
    <p:sldId xmlns:r="http://schemas.openxmlformats.org/officeDocument/2006/relationships" id="256" r:id="Rd6f858ce3e764aeb"/>
    <p:sldId xmlns:r="http://schemas.openxmlformats.org/officeDocument/2006/relationships" id="257" r:id="Rda9e1f4341ea45c8"/>
    <p:sldId xmlns:r="http://schemas.openxmlformats.org/officeDocument/2006/relationships" id="258" r:id="R91976667b722430b"/>
    <p:sldId xmlns:r="http://schemas.openxmlformats.org/officeDocument/2006/relationships" id="259" r:id="Re30b90fdfc054b51"/>
    <p:sldId xmlns:r="http://schemas.openxmlformats.org/officeDocument/2006/relationships" id="260" r:id="R85cea6f02e894255"/>
    <p:sldId xmlns:r="http://schemas.openxmlformats.org/officeDocument/2006/relationships" id="261" r:id="Rd512bf74675f4aac"/>
    <p:sldId xmlns:r="http://schemas.openxmlformats.org/officeDocument/2006/relationships" id="262" r:id="Rb884ecfb16744df1"/>
    <p:sldId xmlns:r="http://schemas.openxmlformats.org/officeDocument/2006/relationships" id="263" r:id="R55cbc15682884bd2"/>
    <p:sldId xmlns:r="http://schemas.openxmlformats.org/officeDocument/2006/relationships" id="264" r:id="R9ac48e04e1994486"/>
    <p:sldId xmlns:r="http://schemas.openxmlformats.org/officeDocument/2006/relationships" id="265" r:id="Rf59b455997354617"/>
    <p:sldId xmlns:r="http://schemas.openxmlformats.org/officeDocument/2006/relationships" id="266" r:id="R73d8db596fc34252"/>
    <p:sldId xmlns:r="http://schemas.openxmlformats.org/officeDocument/2006/relationships" id="267" r:id="R57f73587a1c140db"/>
    <p:sldId xmlns:r="http://schemas.openxmlformats.org/officeDocument/2006/relationships" id="268" r:id="R177756fd80ad4919"/>
    <p:sldId xmlns:r="http://schemas.openxmlformats.org/officeDocument/2006/relationships" id="269" r:id="R865cb581389148e2"/>
    <p:sldId xmlns:r="http://schemas.openxmlformats.org/officeDocument/2006/relationships" id="270" r:id="R731eeaed623c4609"/>
    <p:sldId xmlns:r="http://schemas.openxmlformats.org/officeDocument/2006/relationships" id="271" r:id="R5d752015ccf54a61"/>
    <p:sldId xmlns:r="http://schemas.openxmlformats.org/officeDocument/2006/relationships" id="272" r:id="R280257f399bc4e62"/>
    <p:sldId xmlns:r="http://schemas.openxmlformats.org/officeDocument/2006/relationships" id="273" r:id="Ra121170f77f6445e"/>
    <p:sldId xmlns:r="http://schemas.openxmlformats.org/officeDocument/2006/relationships" id="274" r:id="R5ad5b23f018f48c2"/>
    <p:sldId xmlns:r="http://schemas.openxmlformats.org/officeDocument/2006/relationships" id="275" r:id="Re30133cc8b9a4d30"/>
    <p:sldId xmlns:r="http://schemas.openxmlformats.org/officeDocument/2006/relationships" id="276" r:id="R6e2d32d18b724a65"/>
    <p:sldId xmlns:r="http://schemas.openxmlformats.org/officeDocument/2006/relationships" id="277" r:id="Raedb21d329db4b14"/>
    <p:sldId xmlns:r="http://schemas.openxmlformats.org/officeDocument/2006/relationships" id="278" r:id="R1712a67797eb47b6"/>
    <p:sldId xmlns:r="http://schemas.openxmlformats.org/officeDocument/2006/relationships" id="279" r:id="R2a433192dd9343f1"/>
    <p:sldId xmlns:r="http://schemas.openxmlformats.org/officeDocument/2006/relationships" id="280" r:id="R1ced8d525a2c4ce2"/>
    <p:sldId xmlns:r="http://schemas.openxmlformats.org/officeDocument/2006/relationships" id="281" r:id="Rca66e3f32e2f4def"/>
    <p:sldId xmlns:r="http://schemas.openxmlformats.org/officeDocument/2006/relationships" id="282" r:id="R10f2e6fe23ff4076"/>
    <p:sldId xmlns:r="http://schemas.openxmlformats.org/officeDocument/2006/relationships" id="283" r:id="R961f842e2a874791"/>
    <p:sldId xmlns:r="http://schemas.openxmlformats.org/officeDocument/2006/relationships" id="284" r:id="R4a03c519c983462d"/>
    <p:sldId xmlns:r="http://schemas.openxmlformats.org/officeDocument/2006/relationships" id="285" r:id="R6ededa71aead4955"/>
    <p:sldId xmlns:r="http://schemas.openxmlformats.org/officeDocument/2006/relationships" id="286" r:id="Rdf5e2dbadcd54425"/>
    <p:sldId xmlns:r="http://schemas.openxmlformats.org/officeDocument/2006/relationships" id="287" r:id="R1f332f2a28fe45b8"/>
    <p:sldId xmlns:r="http://schemas.openxmlformats.org/officeDocument/2006/relationships" id="288" r:id="Rbd38ade15c564531"/>
    <p:sldId xmlns:r="http://schemas.openxmlformats.org/officeDocument/2006/relationships" id="289" r:id="R7a4b88df03224899"/>
    <p:sldId xmlns:r="http://schemas.openxmlformats.org/officeDocument/2006/relationships" id="290" r:id="R3a86b59eb47d4472"/>
    <p:sldId xmlns:r="http://schemas.openxmlformats.org/officeDocument/2006/relationships" id="291" r:id="Rcc3e41f06a054900"/>
    <p:sldId xmlns:r="http://schemas.openxmlformats.org/officeDocument/2006/relationships" id="292" r:id="R219dc1de39374dc7"/>
    <p:sldId xmlns:r="http://schemas.openxmlformats.org/officeDocument/2006/relationships" id="293" r:id="R29d8aff4ef904b89"/>
    <p:sldId xmlns:r="http://schemas.openxmlformats.org/officeDocument/2006/relationships" id="294" r:id="Rf3f53ab595964d52"/>
    <p:sldId xmlns:r="http://schemas.openxmlformats.org/officeDocument/2006/relationships" id="295" r:id="R60877c72947243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4226ae799f4819" /><Relationship Type="http://schemas.openxmlformats.org/officeDocument/2006/relationships/slideMaster" Target="/ppt/slideMasters/slideMaster1.xml" Id="Re7dd2f003d7a41f4" /><Relationship Type="http://schemas.openxmlformats.org/officeDocument/2006/relationships/notesMaster" Target="/ppt/notesMasters/notesMaster1.xml" Id="R16623a25c7ea49a7" /><Relationship Type="http://schemas.openxmlformats.org/officeDocument/2006/relationships/presProps" Target="/ppt/presProps.xml" Id="R72944e32914e426e" /><Relationship Type="http://schemas.openxmlformats.org/officeDocument/2006/relationships/tableStyles" Target="/ppt/tableStyles.xml" Id="R4238532b07194d69" /><Relationship Type="http://schemas.openxmlformats.org/officeDocument/2006/relationships/slide" Target="/ppt/slides/slide1.xml" Id="Rd6f858ce3e764aeb" /><Relationship Type="http://schemas.openxmlformats.org/officeDocument/2006/relationships/slide" Target="/ppt/slides/slide2.xml" Id="Rda9e1f4341ea45c8" /><Relationship Type="http://schemas.openxmlformats.org/officeDocument/2006/relationships/slide" Target="/ppt/slides/slide3.xml" Id="R91976667b722430b" /><Relationship Type="http://schemas.openxmlformats.org/officeDocument/2006/relationships/slide" Target="/ppt/slides/slide4.xml" Id="Re30b90fdfc054b51" /><Relationship Type="http://schemas.openxmlformats.org/officeDocument/2006/relationships/slide" Target="/ppt/slides/slide5.xml" Id="R85cea6f02e894255" /><Relationship Type="http://schemas.openxmlformats.org/officeDocument/2006/relationships/slide" Target="/ppt/slides/slide6.xml" Id="Rd512bf74675f4aac" /><Relationship Type="http://schemas.openxmlformats.org/officeDocument/2006/relationships/slide" Target="/ppt/slides/slide7.xml" Id="Rb884ecfb16744df1" /><Relationship Type="http://schemas.openxmlformats.org/officeDocument/2006/relationships/slide" Target="/ppt/slides/slide8.xml" Id="R55cbc15682884bd2" /><Relationship Type="http://schemas.openxmlformats.org/officeDocument/2006/relationships/slide" Target="/ppt/slides/slide9.xml" Id="R9ac48e04e1994486" /><Relationship Type="http://schemas.openxmlformats.org/officeDocument/2006/relationships/slide" Target="/ppt/slides/slide10.xml" Id="Rf59b455997354617" /><Relationship Type="http://schemas.openxmlformats.org/officeDocument/2006/relationships/slide" Target="/ppt/slides/slide11.xml" Id="R73d8db596fc34252" /><Relationship Type="http://schemas.openxmlformats.org/officeDocument/2006/relationships/slide" Target="/ppt/slides/slide12.xml" Id="R57f73587a1c140db" /><Relationship Type="http://schemas.openxmlformats.org/officeDocument/2006/relationships/slide" Target="/ppt/slides/slide13.xml" Id="R177756fd80ad4919" /><Relationship Type="http://schemas.openxmlformats.org/officeDocument/2006/relationships/slide" Target="/ppt/slides/slide14.xml" Id="R865cb581389148e2" /><Relationship Type="http://schemas.openxmlformats.org/officeDocument/2006/relationships/slide" Target="/ppt/slides/slide15.xml" Id="R731eeaed623c4609" /><Relationship Type="http://schemas.openxmlformats.org/officeDocument/2006/relationships/slide" Target="/ppt/slides/slide16.xml" Id="R5d752015ccf54a61" /><Relationship Type="http://schemas.openxmlformats.org/officeDocument/2006/relationships/slide" Target="/ppt/slides/slide17.xml" Id="R280257f399bc4e62" /><Relationship Type="http://schemas.openxmlformats.org/officeDocument/2006/relationships/slide" Target="/ppt/slides/slide18.xml" Id="Ra121170f77f6445e" /><Relationship Type="http://schemas.openxmlformats.org/officeDocument/2006/relationships/slide" Target="/ppt/slides/slide19.xml" Id="R5ad5b23f018f48c2" /><Relationship Type="http://schemas.openxmlformats.org/officeDocument/2006/relationships/slide" Target="/ppt/slides/slide20.xml" Id="Re30133cc8b9a4d30" /><Relationship Type="http://schemas.openxmlformats.org/officeDocument/2006/relationships/slide" Target="/ppt/slides/slide21.xml" Id="R6e2d32d18b724a65" /><Relationship Type="http://schemas.openxmlformats.org/officeDocument/2006/relationships/slide" Target="/ppt/slides/slide22.xml" Id="Raedb21d329db4b14" /><Relationship Type="http://schemas.openxmlformats.org/officeDocument/2006/relationships/slide" Target="/ppt/slides/slide23.xml" Id="R1712a67797eb47b6" /><Relationship Type="http://schemas.openxmlformats.org/officeDocument/2006/relationships/slide" Target="/ppt/slides/slide24.xml" Id="R2a433192dd9343f1" /><Relationship Type="http://schemas.openxmlformats.org/officeDocument/2006/relationships/slide" Target="/ppt/slides/slide25.xml" Id="R1ced8d525a2c4ce2" /><Relationship Type="http://schemas.openxmlformats.org/officeDocument/2006/relationships/slide" Target="/ppt/slides/slide26.xml" Id="Rca66e3f32e2f4def" /><Relationship Type="http://schemas.openxmlformats.org/officeDocument/2006/relationships/slide" Target="/ppt/slides/slide27.xml" Id="R10f2e6fe23ff4076" /><Relationship Type="http://schemas.openxmlformats.org/officeDocument/2006/relationships/slide" Target="/ppt/slides/slide28.xml" Id="R961f842e2a874791" /><Relationship Type="http://schemas.openxmlformats.org/officeDocument/2006/relationships/slide" Target="/ppt/slides/slide29.xml" Id="R4a03c519c983462d" /><Relationship Type="http://schemas.openxmlformats.org/officeDocument/2006/relationships/slide" Target="/ppt/slides/slide30.xml" Id="R6ededa71aead4955" /><Relationship Type="http://schemas.openxmlformats.org/officeDocument/2006/relationships/slide" Target="/ppt/slides/slide31.xml" Id="Rdf5e2dbadcd54425" /><Relationship Type="http://schemas.openxmlformats.org/officeDocument/2006/relationships/slide" Target="/ppt/slides/slide32.xml" Id="R1f332f2a28fe45b8" /><Relationship Type="http://schemas.openxmlformats.org/officeDocument/2006/relationships/slide" Target="/ppt/slides/slide33.xml" Id="Rbd38ade15c564531" /><Relationship Type="http://schemas.openxmlformats.org/officeDocument/2006/relationships/slide" Target="/ppt/slides/slide34.xml" Id="R7a4b88df03224899" /><Relationship Type="http://schemas.openxmlformats.org/officeDocument/2006/relationships/slide" Target="/ppt/slides/slide35.xml" Id="R3a86b59eb47d4472" /><Relationship Type="http://schemas.openxmlformats.org/officeDocument/2006/relationships/slide" Target="/ppt/slides/slide36.xml" Id="Rcc3e41f06a054900" /><Relationship Type="http://schemas.openxmlformats.org/officeDocument/2006/relationships/slide" Target="/ppt/slides/slide37.xml" Id="R219dc1de39374dc7" /><Relationship Type="http://schemas.openxmlformats.org/officeDocument/2006/relationships/slide" Target="/ppt/slides/slide38.xml" Id="R29d8aff4ef904b89" /><Relationship Type="http://schemas.openxmlformats.org/officeDocument/2006/relationships/slide" Target="/ppt/slides/slide39.xml" Id="Rf3f53ab595964d52" /><Relationship Type="http://schemas.openxmlformats.org/officeDocument/2006/relationships/slide" Target="/ppt/slides/slide40.xml" Id="R60877c72947243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49e9151bbb4a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5a61cde8e14093" /><Relationship Type="http://schemas.openxmlformats.org/officeDocument/2006/relationships/notesMaster" Target="/ppt/notesMasters/notesMaster1.xml" Id="R409fbfadcfe24d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1c6e15287b4658" /><Relationship Type="http://schemas.openxmlformats.org/officeDocument/2006/relationships/notesMaster" Target="/ppt/notesMasters/notesMaster1.xml" Id="Rf1ef24427ea345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38baf0abbc4963" /><Relationship Type="http://schemas.openxmlformats.org/officeDocument/2006/relationships/notesMaster" Target="/ppt/notesMasters/notesMaster1.xml" Id="R5f60f517dd5049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37f42665cd44b2" /><Relationship Type="http://schemas.openxmlformats.org/officeDocument/2006/relationships/notesMaster" Target="/ppt/notesMasters/notesMaster1.xml" Id="Rd23619ec70c346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626e5369384187" /><Relationship Type="http://schemas.openxmlformats.org/officeDocument/2006/relationships/notesMaster" Target="/ppt/notesMasters/notesMaster1.xml" Id="Rfeb1aecbcf0642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4484cebc74474d" /><Relationship Type="http://schemas.openxmlformats.org/officeDocument/2006/relationships/notesMaster" Target="/ppt/notesMasters/notesMaster1.xml" Id="R45f29934dce945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16ce3543ed4fc3" /><Relationship Type="http://schemas.openxmlformats.org/officeDocument/2006/relationships/notesMaster" Target="/ppt/notesMasters/notesMaster1.xml" Id="R5b36a6ec90234d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51251ecc9d451d" /><Relationship Type="http://schemas.openxmlformats.org/officeDocument/2006/relationships/notesMaster" Target="/ppt/notesMasters/notesMaster1.xml" Id="R949644d52ead4f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bbe17eeeff4e68" /><Relationship Type="http://schemas.openxmlformats.org/officeDocument/2006/relationships/notesMaster" Target="/ppt/notesMasters/notesMaster1.xml" Id="R31d12e0f699846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5c973caf634f3b" /><Relationship Type="http://schemas.openxmlformats.org/officeDocument/2006/relationships/notesMaster" Target="/ppt/notesMasters/notesMaster1.xml" Id="Rc59109dcd08d4f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05b45fdea24f96" /><Relationship Type="http://schemas.openxmlformats.org/officeDocument/2006/relationships/notesMaster" Target="/ppt/notesMasters/notesMaster1.xml" Id="Rc2c7e6f36c8b43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9066ebad7c466d" /><Relationship Type="http://schemas.openxmlformats.org/officeDocument/2006/relationships/notesMaster" Target="/ppt/notesMasters/notesMaster1.xml" Id="R7b07bb20ba2845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90448a51d44a1a" /><Relationship Type="http://schemas.openxmlformats.org/officeDocument/2006/relationships/notesMaster" Target="/ppt/notesMasters/notesMaster1.xml" Id="R7ea2d276af2148b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21340d967e4c96" /><Relationship Type="http://schemas.openxmlformats.org/officeDocument/2006/relationships/notesMaster" Target="/ppt/notesMasters/notesMaster1.xml" Id="Rddc880af2e684a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49a75136d24f97" /><Relationship Type="http://schemas.openxmlformats.org/officeDocument/2006/relationships/notesMaster" Target="/ppt/notesMasters/notesMaster1.xml" Id="R9d14d9ce32d74d7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5efa02027cb4b94" /><Relationship Type="http://schemas.openxmlformats.org/officeDocument/2006/relationships/notesMaster" Target="/ppt/notesMasters/notesMaster1.xml" Id="R5a12f7e5fbf7448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2d8afb12f604880" /><Relationship Type="http://schemas.openxmlformats.org/officeDocument/2006/relationships/notesMaster" Target="/ppt/notesMasters/notesMaster1.xml" Id="R405e6ab930014d3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408e1e274224de9" /><Relationship Type="http://schemas.openxmlformats.org/officeDocument/2006/relationships/notesMaster" Target="/ppt/notesMasters/notesMaster1.xml" Id="R8081afdcb98d47c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9a4dd372373435e" /><Relationship Type="http://schemas.openxmlformats.org/officeDocument/2006/relationships/notesMaster" Target="/ppt/notesMasters/notesMaster1.xml" Id="R252446339c584ab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d80f4f13e504ee6" /><Relationship Type="http://schemas.openxmlformats.org/officeDocument/2006/relationships/notesMaster" Target="/ppt/notesMasters/notesMaster1.xml" Id="Rfe79737bd89249b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3cbbef442304be4" /><Relationship Type="http://schemas.openxmlformats.org/officeDocument/2006/relationships/notesMaster" Target="/ppt/notesMasters/notesMaster1.xml" Id="Ra293313affeb462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7cc02c8c93b4ad7" /><Relationship Type="http://schemas.openxmlformats.org/officeDocument/2006/relationships/notesMaster" Target="/ppt/notesMasters/notesMaster1.xml" Id="R51fb548becb0478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6c9a22856e64a19" /><Relationship Type="http://schemas.openxmlformats.org/officeDocument/2006/relationships/notesMaster" Target="/ppt/notesMasters/notesMaster1.xml" Id="R43dd6b4ba8524f4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f7414b767124d86" /><Relationship Type="http://schemas.openxmlformats.org/officeDocument/2006/relationships/notesMaster" Target="/ppt/notesMasters/notesMaster1.xml" Id="R079eceff7ad5469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cf6ef4600c24fa9" /><Relationship Type="http://schemas.openxmlformats.org/officeDocument/2006/relationships/notesMaster" Target="/ppt/notesMasters/notesMaster1.xml" Id="R97ffb8e3916d405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83f7c5bbbb64143" /><Relationship Type="http://schemas.openxmlformats.org/officeDocument/2006/relationships/notesMaster" Target="/ppt/notesMasters/notesMaster1.xml" Id="Rbd0e87a8dfe04ca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c3bc6d656af4534" /><Relationship Type="http://schemas.openxmlformats.org/officeDocument/2006/relationships/notesMaster" Target="/ppt/notesMasters/notesMaster1.xml" Id="R609235c5191b405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df6bcdd89bb4060" /><Relationship Type="http://schemas.openxmlformats.org/officeDocument/2006/relationships/notesMaster" Target="/ppt/notesMasters/notesMaster1.xml" Id="R331c95dc37a14a7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a6098c5c79c4369" /><Relationship Type="http://schemas.openxmlformats.org/officeDocument/2006/relationships/notesMaster" Target="/ppt/notesMasters/notesMaster1.xml" Id="Rdec79154587e4ed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f73420fde4b4326" /><Relationship Type="http://schemas.openxmlformats.org/officeDocument/2006/relationships/notesMaster" Target="/ppt/notesMasters/notesMaster1.xml" Id="R29450510528c4e2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188f45f7eb846e9" /><Relationship Type="http://schemas.openxmlformats.org/officeDocument/2006/relationships/notesMaster" Target="/ppt/notesMasters/notesMaster1.xml" Id="Rba676483b3244fa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8a8c74232064f89" /><Relationship Type="http://schemas.openxmlformats.org/officeDocument/2006/relationships/notesMaster" Target="/ppt/notesMasters/notesMaster1.xml" Id="R08231932b65d40c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e41931ea4414ec3" /><Relationship Type="http://schemas.openxmlformats.org/officeDocument/2006/relationships/notesMaster" Target="/ppt/notesMasters/notesMaster1.xml" Id="Rcf52dc415f70496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fe0a938f11f4b0c" /><Relationship Type="http://schemas.openxmlformats.org/officeDocument/2006/relationships/notesMaster" Target="/ppt/notesMasters/notesMaster1.xml" Id="R88f1e47eb052479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de23cbf8bfa4c2f" /><Relationship Type="http://schemas.openxmlformats.org/officeDocument/2006/relationships/notesMaster" Target="/ppt/notesMasters/notesMaster1.xml" Id="Rb6af0c347951444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4f96b340d334e1d" /><Relationship Type="http://schemas.openxmlformats.org/officeDocument/2006/relationships/notesMaster" Target="/ppt/notesMasters/notesMaster1.xml" Id="Reedacfcb1b494b4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0c1023f49224cb9" /><Relationship Type="http://schemas.openxmlformats.org/officeDocument/2006/relationships/notesMaster" Target="/ppt/notesMasters/notesMaster1.xml" Id="Rb98b500880714d7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93b4dfbfbed4ad5" /><Relationship Type="http://schemas.openxmlformats.org/officeDocument/2006/relationships/notesMaster" Target="/ppt/notesMasters/notesMaster1.xml" Id="R9fc80648603443e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6cc1dbf72454aaf" /><Relationship Type="http://schemas.openxmlformats.org/officeDocument/2006/relationships/notesMaster" Target="/ppt/notesMasters/notesMaster1.xml" Id="Rf2be66be007a4ba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fa282917a034daa" /><Relationship Type="http://schemas.openxmlformats.org/officeDocument/2006/relationships/notesMaster" Target="/ppt/notesMasters/notesMaster1.xml" Id="Rd066b965f60d4f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[5]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[7]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[7]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[17] NVIDIA, “Rotate,” NPP Image Geometry Transforms, CUDA 13.0.3 archive documentation, accessed Oct. 8, 2026.</a:t>
            </a:r>
          </a:p>
          <a:p xmlns:a="http://schemas.openxmlformats.org/drawingml/2006/main">
            <a:r>
              <a:t>https://docs.nvidia.com/cuda/archive/13.0.3/npp/image_geometry_transforms.html#rotate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[5]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612deb0a02422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da78e61bad42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fb17b44624d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ddebbb38640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5f27d79614471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ac81ecda546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EC3EB8-9BEB-412F-8611-D8DD73627D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418944C-9D1F-41B4-B2D1-61AEDBA7F3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B462520-9E53-4BF4-8100-8286C1959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0D5C7F-2794-47FF-86AA-F1217ACBB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867D698-EE48-469E-A97F-D74D4C6EC1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FD3CCFA-7199-4CC8-A50E-522FD602B1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414209-2199-4EA2-A9B3-B4E77FBAAF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1F1EB89-36CB-4A94-BBC8-A79EE212E9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AB611B-12D4-4A6F-B75C-6CD8514A6D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374488-5B6A-449C-A8B3-F41E26533F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b8f10f197a408d" /><Relationship Type="http://schemas.openxmlformats.org/officeDocument/2006/relationships/slideLayout" Target="/ppt/slideLayouts/slideLayout1.xml" Id="R102eb22615724ccb" /><Relationship Type="http://schemas.openxmlformats.org/officeDocument/2006/relationships/slideLayout" Target="/ppt/slideLayouts/slideLayout2.xml" Id="Rae8570fa8a9a45b3" /><Relationship Type="http://schemas.openxmlformats.org/officeDocument/2006/relationships/slideLayout" Target="/ppt/slideLayouts/slideLayout3.xml" Id="R69f46786b6fa434c" /><Relationship Type="http://schemas.openxmlformats.org/officeDocument/2006/relationships/slideLayout" Target="/ppt/slideLayouts/slideLayout4.xml" Id="R95e2e9ce159a48c6" /><Relationship Type="http://schemas.openxmlformats.org/officeDocument/2006/relationships/slideLayout" Target="/ppt/slideLayouts/slideLayout5.xml" Id="R3239a61433b74187" /><Relationship Type="http://schemas.openxmlformats.org/officeDocument/2006/relationships/slideLayout" Target="/ppt/slideLayouts/slideLayout6.xml" Id="R8294ec93f11647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2eb22615724ccb"/>
    <p:sldLayoutId xmlns:r="http://schemas.openxmlformats.org/officeDocument/2006/relationships" id="2147483650" r:id="Rae8570fa8a9a45b3"/>
    <p:sldLayoutId xmlns:r="http://schemas.openxmlformats.org/officeDocument/2006/relationships" id="2147483651" r:id="R69f46786b6fa434c"/>
    <p:sldLayoutId xmlns:r="http://schemas.openxmlformats.org/officeDocument/2006/relationships" id="2147483652" r:id="R95e2e9ce159a48c6"/>
    <p:sldLayoutId xmlns:r="http://schemas.openxmlformats.org/officeDocument/2006/relationships" id="2147483653" r:id="R3239a61433b74187"/>
    <p:sldLayoutId xmlns:r="http://schemas.openxmlformats.org/officeDocument/2006/relationships" id="2147483654" r:id="R8294ec93f11647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84267013c14801" /><Relationship Type="http://schemas.openxmlformats.org/officeDocument/2006/relationships/notesSlide" Target="/ppt/notesSlides/notesSlide1.xml" Id="R5dbe68482fb643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43e50988964dbc" /><Relationship Type="http://schemas.openxmlformats.org/officeDocument/2006/relationships/notesSlide" Target="/ppt/notesSlides/notesSlide2.xml" Id="R869fbff23bb940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1ea9de61304f84" /><Relationship Type="http://schemas.openxmlformats.org/officeDocument/2006/relationships/notesSlide" Target="/ppt/notesSlides/notesSlide3.xml" Id="R47338c91314749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9fbe18c18d4995" /><Relationship Type="http://schemas.openxmlformats.org/officeDocument/2006/relationships/notesSlide" Target="/ppt/notesSlides/notesSlide4.xml" Id="R3f7c7089fdd246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d73f0d34a24ed8" /><Relationship Type="http://schemas.openxmlformats.org/officeDocument/2006/relationships/notesSlide" Target="/ppt/notesSlides/notesSlide5.xml" Id="R07f4a1659f3b44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bdd1cab2cc4660" /><Relationship Type="http://schemas.openxmlformats.org/officeDocument/2006/relationships/notesSlide" Target="/ppt/notesSlides/notesSlide6.xml" Id="Rb471e6c965be4d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71f36dc0e94037" /><Relationship Type="http://schemas.openxmlformats.org/officeDocument/2006/relationships/notesSlide" Target="/ppt/notesSlides/notesSlide7.xml" Id="Rb597f1ab8fc14f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d7e29638934a95" /><Relationship Type="http://schemas.openxmlformats.org/officeDocument/2006/relationships/notesSlide" Target="/ppt/notesSlides/notesSlide8.xml" Id="R65e85de9401a49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01b3ca64304195" /><Relationship Type="http://schemas.openxmlformats.org/officeDocument/2006/relationships/notesSlide" Target="/ppt/notesSlides/notesSlide9.xml" Id="R1d57d543cb5245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658e511088496f" /><Relationship Type="http://schemas.openxmlformats.org/officeDocument/2006/relationships/notesSlide" Target="/ppt/notesSlides/notesSlide10.xml" Id="R44a55dbbb0c349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781e67aed843b4" /><Relationship Type="http://schemas.openxmlformats.org/officeDocument/2006/relationships/notesSlide" Target="/ppt/notesSlides/notesSlide11.xml" Id="Reb23328b58414e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1baace5a37480c" /><Relationship Type="http://schemas.openxmlformats.org/officeDocument/2006/relationships/notesSlide" Target="/ppt/notesSlides/notesSlide12.xml" Id="R09e137d8b1a749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d2028efc5343e8" /><Relationship Type="http://schemas.openxmlformats.org/officeDocument/2006/relationships/notesSlide" Target="/ppt/notesSlides/notesSlide13.xml" Id="Reec7ee94253a48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c754db961f4f4c" /><Relationship Type="http://schemas.openxmlformats.org/officeDocument/2006/relationships/chart" Target="/ppt/slides/charts/chart1.xml" Id="R45f8eb3812934fc9" /><Relationship Type="http://schemas.openxmlformats.org/officeDocument/2006/relationships/chart" Target="/ppt/slides/charts/chart2.xml" Id="Ra51a26892e5a4ab9" /><Relationship Type="http://schemas.openxmlformats.org/officeDocument/2006/relationships/notesSlide" Target="/ppt/notesSlides/notesSlide14.xml" Id="R972a623d2fea4f1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8e721f5c6749cd" /><Relationship Type="http://schemas.openxmlformats.org/officeDocument/2006/relationships/notesSlide" Target="/ppt/notesSlides/notesSlide15.xml" Id="R21414f8f643a433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0ac94c94da4f97" /><Relationship Type="http://schemas.openxmlformats.org/officeDocument/2006/relationships/notesSlide" Target="/ppt/notesSlides/notesSlide16.xml" Id="R09a34e6d258e438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1dbda453e64346" /><Relationship Type="http://schemas.openxmlformats.org/officeDocument/2006/relationships/notesSlide" Target="/ppt/notesSlides/notesSlide17.xml" Id="Raa7fb4f2c6b84b8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541721fdb54bc3" /><Relationship Type="http://schemas.openxmlformats.org/officeDocument/2006/relationships/notesSlide" Target="/ppt/notesSlides/notesSlide18.xml" Id="R533d534a2171426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d59eef196c430e" /><Relationship Type="http://schemas.openxmlformats.org/officeDocument/2006/relationships/notesSlide" Target="/ppt/notesSlides/notesSlide19.xml" Id="R0bce9528b2c84cf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c5621cde1b4c2f" /><Relationship Type="http://schemas.openxmlformats.org/officeDocument/2006/relationships/notesSlide" Target="/ppt/notesSlides/notesSlide20.xml" Id="Ree3dc0ef03b84a4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585ca8c07847f7" /><Relationship Type="http://schemas.openxmlformats.org/officeDocument/2006/relationships/notesSlide" Target="/ppt/notesSlides/notesSlide21.xml" Id="Rd6dca94b42fb4ec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64d2fbe1cf42f7" /><Relationship Type="http://schemas.openxmlformats.org/officeDocument/2006/relationships/notesSlide" Target="/ppt/notesSlides/notesSlide22.xml" Id="R1479205238f74cf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ee163a7fc44daf" /><Relationship Type="http://schemas.openxmlformats.org/officeDocument/2006/relationships/notesSlide" Target="/ppt/notesSlides/notesSlide23.xml" Id="Rd0041a7f81364a2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bc0af661a84f23" /><Relationship Type="http://schemas.openxmlformats.org/officeDocument/2006/relationships/notesSlide" Target="/ppt/notesSlides/notesSlide24.xml" Id="R7bece0ef68734c5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0f93ca0401441f" /><Relationship Type="http://schemas.openxmlformats.org/officeDocument/2006/relationships/notesSlide" Target="/ppt/notesSlides/notesSlide25.xml" Id="Reb4a5eea4ec74e4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8dc4cb957145b0" /><Relationship Type="http://schemas.openxmlformats.org/officeDocument/2006/relationships/notesSlide" Target="/ppt/notesSlides/notesSlide26.xml" Id="R7134727f58d44a5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3033bd3cf94da9" /><Relationship Type="http://schemas.openxmlformats.org/officeDocument/2006/relationships/notesSlide" Target="/ppt/notesSlides/notesSlide27.xml" Id="R16f89b33b3a549c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bd805a70964491" /><Relationship Type="http://schemas.openxmlformats.org/officeDocument/2006/relationships/notesSlide" Target="/ppt/notesSlides/notesSlide28.xml" Id="Rcac7f9bf8cd9469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fa32a916de470b" /><Relationship Type="http://schemas.openxmlformats.org/officeDocument/2006/relationships/notesSlide" Target="/ppt/notesSlides/notesSlide29.xml" Id="Rcdf4c811e5794a3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368132f4dd42ea" /><Relationship Type="http://schemas.openxmlformats.org/officeDocument/2006/relationships/notesSlide" Target="/ppt/notesSlides/notesSlide30.xml" Id="Rd35338efc22a423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3ab0fa5bae4d5c" /><Relationship Type="http://schemas.openxmlformats.org/officeDocument/2006/relationships/notesSlide" Target="/ppt/notesSlides/notesSlide31.xml" Id="R8909b9100ba743e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9d8aefc3354c8d" /><Relationship Type="http://schemas.openxmlformats.org/officeDocument/2006/relationships/notesSlide" Target="/ppt/notesSlides/notesSlide32.xml" Id="R4a7e654b4613465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2bedb165bb48dc" /><Relationship Type="http://schemas.openxmlformats.org/officeDocument/2006/relationships/notesSlide" Target="/ppt/notesSlides/notesSlide33.xml" Id="R876f2fa09c6e4b7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c1eb643dd34fee" /><Relationship Type="http://schemas.openxmlformats.org/officeDocument/2006/relationships/notesSlide" Target="/ppt/notesSlides/notesSlide34.xml" Id="R7532c81765994ba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087c451eeb407a" /><Relationship Type="http://schemas.openxmlformats.org/officeDocument/2006/relationships/notesSlide" Target="/ppt/notesSlides/notesSlide35.xml" Id="R29ec32b42fb74aa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5432b809e7461e" /><Relationship Type="http://schemas.openxmlformats.org/officeDocument/2006/relationships/hyperlink" Target="https://docs.nvidia.com/cuda/cuda-programming-guide/01-introduction/programming-model.html" TargetMode="External" Id="Rfc7e94d44ec1480c" /><Relationship Type="http://schemas.openxmlformats.org/officeDocument/2006/relationships/hyperlink" Target="https://docs.nvidia.com/cuda/cuda-c-best-practices-guide/index.html" TargetMode="External" Id="R44324c45a2cb4668" /><Relationship Type="http://schemas.openxmlformats.org/officeDocument/2006/relationships/hyperlink" Target="https://docs.nvidia.com/gpudirect-storage/overview-guide/index.html" TargetMode="External" Id="R38d8eab33f854ed8" /><Relationship Type="http://schemas.openxmlformats.org/officeDocument/2006/relationships/hyperlink" Target="https://docs.nvidia.com/gpudirect-storage/design-guide/index.html" TargetMode="External" Id="R91fea59d445942bf" /><Relationship Type="http://schemas.openxmlformats.org/officeDocument/2006/relationships/notesSlide" Target="/ppt/notesSlides/notesSlide36.xml" Id="R192eac2d08a740a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c329e16ab4472b" /><Relationship Type="http://schemas.openxmlformats.org/officeDocument/2006/relationships/hyperlink" Target="https://docs.nvidia.com/megatron-core/developer-guide/latest/user-guide/parallelism-guide.html" TargetMode="External" Id="R77c5798e897f4c17" /><Relationship Type="http://schemas.openxmlformats.org/officeDocument/2006/relationships/hyperlink" Target="https://www.iea.org/reports/key-questions-on-energy-and-ai/executive-summary" TargetMode="External" Id="R2759c27faf484ec6" /><Relationship Type="http://schemas.openxmlformats.org/officeDocument/2006/relationships/hyperlink" Target="https://www.nsf.gov/cise/updates/nairr-2-years-advancing-american-artificial-intelligence" TargetMode="External" Id="R74874460bc644b6c" /><Relationship Type="http://schemas.openxmlformats.org/officeDocument/2006/relationships/hyperlink" Target="https://aclanthology.org/P19-1355/" TargetMode="External" Id="R5d847c8ec3a04c70" /><Relationship Type="http://schemas.openxmlformats.org/officeDocument/2006/relationships/notesSlide" Target="/ppt/notesSlides/notesSlide37.xml" Id="R8f6feebf61cf408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bdd00701204cfc" /><Relationship Type="http://schemas.openxmlformats.org/officeDocument/2006/relationships/hyperlink" Target="https://arxiv.org/abs/2304.03271v5" TargetMode="External" Id="R954bf3b8569645f2" /><Relationship Type="http://schemas.openxmlformats.org/officeDocument/2006/relationships/hyperlink" Target="https://arxiv.org/abs/1907.10597" TargetMode="External" Id="R62c5c6b923e14d89" /><Relationship Type="http://schemas.openxmlformats.org/officeDocument/2006/relationships/hyperlink" Target="https://arxiv.org/abs/1906.08935v2" TargetMode="External" Id="R1293f687f1744ea8" /><Relationship Type="http://schemas.openxmlformats.org/officeDocument/2006/relationships/hyperlink" Target="https://aclanthology.org/2024.cl-3.8/" TargetMode="External" Id="Rb8ebdf913e4249b7" /><Relationship Type="http://schemas.openxmlformats.org/officeDocument/2006/relationships/notesSlide" Target="/ppt/notesSlides/notesSlide38.xml" Id="Rf80962b03cb347d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38ecc5ca5f44a7" /><Relationship Type="http://schemas.openxmlformats.org/officeDocument/2006/relationships/hyperlink" Target="https://arxiv.org/abs/2010.15581v1" TargetMode="External" Id="R27677989278b46f6" /><Relationship Type="http://schemas.openxmlformats.org/officeDocument/2006/relationships/hyperlink" Target="https://arxiv.org/abs/2106.11750v1" TargetMode="External" Id="Re19e32e742f3432c" /><Relationship Type="http://schemas.openxmlformats.org/officeDocument/2006/relationships/hyperlink" Target="https://www.oecd.org/en/topics/ai-principles.html" TargetMode="External" Id="R2d6084329fbd4fc4" /><Relationship Type="http://schemas.openxmlformats.org/officeDocument/2006/relationships/hyperlink" Target="https://airc.nist.gov/airmf-resources/playbook/" TargetMode="External" Id="Rffd6ea31151c42f2" /><Relationship Type="http://schemas.openxmlformats.org/officeDocument/2006/relationships/hyperlink" Target="https://docs.nvidia.com/cuda/archive/13.0.3/npp/image_geometry_transforms.html#rotate" TargetMode="External" Id="R65176ff4ddac4e9e" /><Relationship Type="http://schemas.openxmlformats.org/officeDocument/2006/relationships/notesSlide" Target="/ppt/notesSlides/notesSlide39.xml" Id="R972b6f79a42e43e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ba1a9b15ad49e4" /><Relationship Type="http://schemas.openxmlformats.org/officeDocument/2006/relationships/notesSlide" Target="/ppt/notesSlides/notesSlide40.xml" Id="Rd77338ea1f524fe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Electricity (TWh)</c:v>
          </c:tx>
          <c:spPr>
            <a:solidFill xmlns:a="http://schemas.openxmlformats.org/drawingml/2006/main">
              <a:srgbClr val="007B83"/>
            </a:solidFill>
          </c:spPr>
          <c:cat>
            <c:strRef>
              <c:f>'Chart Data'!$A$2:$A$3</c:f>
              <c:strCache>
                <c:ptCount val="2"/>
                <c:pt idx="0">
                  <c:v>2025 estimate</c:v>
                </c:pt>
                <c:pt idx="1">
                  <c:v>2030 projection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485</c:v>
                </c:pt>
                <c:pt idx="1">
                  <c:v>950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growth</c:v>
          </c:tx>
          <c:spPr>
            <a:solidFill xmlns:a="http://schemas.openxmlformats.org/drawingml/2006/main">
              <a:srgbClr val="B55E24"/>
            </a:solidFill>
          </c:spPr>
          <c:cat>
            <c:strRef>
              <c:f>'Chart Data'!$A$2:$A$3</c:f>
              <c:strCache>
                <c:ptCount val="2"/>
                <c:pt idx="0">
                  <c:v>All data centres</c:v>
                </c:pt>
                <c:pt idx="1">
                  <c:v>AI-focused subset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0.17</c:v>
                </c:pt>
                <c:pt idx="1">
                  <c:v>0.5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T3143 • Applied 2 • Tasks 1 and 2">
            <a:extLst xmlns:a="http://schemas.openxmlformats.org/drawingml/2006/main">
              <a:ext uri="{FF2B5EF4-FFF2-40B4-BE49-F238E27FC236}">
                <a16:creationId xmlns:a16="http://schemas.microsoft.com/office/drawing/2014/main" id="{7D3CCB9C-8A67-48FE-AB46-65125873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D7D5"/>
                </a:solidFill>
                <a:latin typeface="Arial"/>
                <a:ea typeface="Arial"/>
                <a:cs typeface="Arial"/>
              </a:rPr>
              <a:t>FIT3143 • Applied 2 • Tasks 1 and 2</a:t>
            </a:r>
          </a:p>
        </p:txBody>
      </p:sp>
      <p:sp>
        <p:nvSpPr>
          <p:cNvPr id="2" name="GPU image rotation&#10;and responsible HPC for AI">
            <a:extLst xmlns:a="http://schemas.openxmlformats.org/drawingml/2006/main">
              <a:ext uri="{FF2B5EF4-FFF2-40B4-BE49-F238E27FC236}">
                <a16:creationId xmlns:a16="http://schemas.microsoft.com/office/drawing/2014/main" id="{A8FDE36E-B511-458C-A78C-81470BC3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GPU image rotation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responsible HPC for AI</a:t>
            </a:r>
          </a:p>
        </p:txBody>
      </p:sp>
      <p:sp>
        <p:nvSpPr>
          <p:cNvPr id="3" name="CUDA design and performance • Evidence, trade-offs and ">
            <a:extLst xmlns:a="http://schemas.openxmlformats.org/drawingml/2006/main">
              <a:ext uri="{FF2B5EF4-FFF2-40B4-BE49-F238E27FC236}">
                <a16:creationId xmlns:a16="http://schemas.microsoft.com/office/drawing/2014/main" id="{BE342162-5056-43DD-8216-20CBDA05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CDCE4"/>
                </a:solidFill>
                <a:latin typeface="Arial"/>
                <a:ea typeface="Arial"/>
                <a:cs typeface="Arial"/>
              </a:rPr>
              <a:t>CUDA design and performance • Evidence, trade-offs and accountable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A7720-CD8B-40D5-8F70-3DC6A966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77082"/>
            </a:solidFill>
            <a:prstDash val="solid"/>
          </a:ln>
        </p:spPr>
      </p:sp>
      <p:sp>
        <p:nvSpPr>
          <p:cNvPr id="5" name="Savin Vindiv De Alwis  ·  35221631">
            <a:extLst xmlns:a="http://schemas.openxmlformats.org/drawingml/2006/main">
              <a:ext uri="{FF2B5EF4-FFF2-40B4-BE49-F238E27FC236}">
                <a16:creationId xmlns:a16="http://schemas.microsoft.com/office/drawing/2014/main" id="{D2E0508F-FF60-453C-BC43-9531896D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· 35221631</a:t>
            </a:r>
          </a:p>
        </p:txBody>
      </p:sp>
      <p:sp>
        <p:nvSpPr>
          <p:cNvPr id="6" name="sdea0018@student.monash.edu">
            <a:extLst xmlns:a="http://schemas.openxmlformats.org/drawingml/2006/main">
              <a:ext uri="{FF2B5EF4-FFF2-40B4-BE49-F238E27FC236}">
                <a16:creationId xmlns:a16="http://schemas.microsoft.com/office/drawing/2014/main" id="{B6EDBF46-19D0-4D00-9399-CB61BA8D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sdea0018@student.monash.edu</a:t>
            </a:r>
          </a:p>
        </p:txBody>
      </p:sp>
      <p:sp>
        <p:nvSpPr>
          <p:cNvPr id="7" name="Shamle Thilaksiri  ·  35512075">
            <a:extLst xmlns:a="http://schemas.openxmlformats.org/drawingml/2006/main">
              <a:ext uri="{FF2B5EF4-FFF2-40B4-BE49-F238E27FC236}">
                <a16:creationId xmlns:a16="http://schemas.microsoft.com/office/drawing/2014/main" id="{BC5D1289-A0C6-41D6-B1C9-F0185ADA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Shamle Thilaksiri · 35512075</a:t>
            </a:r>
          </a:p>
        </p:txBody>
      </p:sp>
      <p:sp>
        <p:nvSpPr>
          <p:cNvPr id="8" name="wthi0003@student.monash.edu">
            <a:extLst xmlns:a="http://schemas.openxmlformats.org/drawingml/2006/main">
              <a:ext uri="{FF2B5EF4-FFF2-40B4-BE49-F238E27FC236}">
                <a16:creationId xmlns:a16="http://schemas.microsoft.com/office/drawing/2014/main" id="{3FE3F0C5-435F-4E49-80C2-F15CE19A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wthi0003@student.monash.edu</a:t>
            </a:r>
          </a:p>
        </p:txBody>
      </p:sp>
      <p:sp>
        <p:nvSpPr>
          <p:cNvPr id="9" name="8 October 2026  •  Core evidence within each answer sec">
            <a:extLst xmlns:a="http://schemas.openxmlformats.org/drawingml/2006/main">
              <a:ext uri="{FF2B5EF4-FFF2-40B4-BE49-F238E27FC236}">
                <a16:creationId xmlns:a16="http://schemas.microsoft.com/office/drawing/2014/main" id="{43ECB343-DCE6-4292-BEF8-1DBF7D4A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858500" cy="21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8 October 2026 • Core evidence within each answer section; optional supporting material follows</a:t>
            </a:r>
          </a:p>
        </p:txBody>
      </p:sp>
    </p:spTree>
    <p:extLst>
      <p:ext uri="{BB962C8B-B14F-4D97-AF65-F5344CB8AC3E}">
        <p14:creationId xmlns:p14="http://schemas.microsoft.com/office/powerpoint/2010/main" val="10000039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BAAB4-D144-4F21-A58B-4ABCAE68EC2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583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059AB-FC12-45BF-9D92-E1858C88117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342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33932-0E82-4D8A-9834-22F30F395A9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101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1B043-AF64-453F-9CED-17C762DA36C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860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5" name="Task 1(a)">
            <a:extLst xmlns:a="http://schemas.openxmlformats.org/drawingml/2006/main">
              <a:ext uri="{FF2B5EF4-FFF2-40B4-BE49-F238E27FC236}">
                <a16:creationId xmlns:a16="http://schemas.microsoft.com/office/drawing/2014/main" id="{F273C8AE-1183-4C7E-B866-B83C5497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1(a)</a:t>
            </a:r>
          </a:p>
        </p:txBody>
      </p:sp>
      <p:sp>
        <p:nvSpPr>
          <p:cNvPr id="2" name="Host–GPU image data flow">
            <a:extLst xmlns:a="http://schemas.openxmlformats.org/drawingml/2006/main">
              <a:ext uri="{FF2B5EF4-FFF2-40B4-BE49-F238E27FC236}">
                <a16:creationId xmlns:a16="http://schemas.microsoft.com/office/drawing/2014/main" id="{38B2866C-3429-4810-93EA-C2961063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Host–GPU image data flow</a:t>
            </a:r>
          </a:p>
        </p:txBody>
      </p:sp>
      <p:sp>
        <p:nvSpPr>
          <p:cNvPr id="3" name="CPU: load/decode, allocate, launch, save">
            <a:extLst xmlns:a="http://schemas.openxmlformats.org/drawingml/2006/main">
              <a:ext uri="{FF2B5EF4-FFF2-40B4-BE49-F238E27FC236}">
                <a16:creationId xmlns:a16="http://schemas.microsoft.com/office/drawing/2014/main" id="{AB3354EC-EE56-4B3B-AA7D-6118E0F5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CPU: load/decode, allocate, launch, save</a:t>
            </a:r>
          </a:p>
        </p:txBody>
      </p:sp>
      <p:sp>
        <p:nvSpPr>
          <p:cNvPr id="4" name="GPU: read input, rotate, write output">
            <a:extLst xmlns:a="http://schemas.openxmlformats.org/drawingml/2006/main">
              <a:ext uri="{FF2B5EF4-FFF2-40B4-BE49-F238E27FC236}">
                <a16:creationId xmlns:a16="http://schemas.microsoft.com/office/drawing/2014/main" id="{3B06107C-8B44-4900-AD76-DD4EF0E0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GPU: read input, rotate, write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2D2CC-AC81-484B-90EF-BB6DD79B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encoded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DB82C-EF6B-4AAB-9DC0-692024FE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DDR example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pixels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5A3E5-F092-4656-BD52-14D9EE7D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buffer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E409B-EAD8-43E4-AC34-003C3D01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E9C65-8AC6-4BD0-871B-C87DE122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pixels</a:t>
            </a:r>
          </a:p>
        </p:txBody>
      </p:sp>
      <p:sp>
        <p:nvSpPr>
          <p:cNvPr id="14" name="CPU&#10;decode">
            <a:extLst xmlns:a="http://schemas.openxmlformats.org/drawingml/2006/main">
              <a:ext uri="{FF2B5EF4-FFF2-40B4-BE49-F238E27FC236}">
                <a16:creationId xmlns:a16="http://schemas.microsoft.com/office/drawing/2014/main" id="{364E7CE5-1A43-476D-A8D8-9E180C12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CPU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decode</a:t>
            </a:r>
          </a:p>
        </p:txBody>
      </p:sp>
      <p:sp>
        <p:nvSpPr>
          <p:cNvPr id="15" name="H2D&#10;PCIe">
            <a:extLst xmlns:a="http://schemas.openxmlformats.org/drawingml/2006/main">
              <a:ext uri="{FF2B5EF4-FFF2-40B4-BE49-F238E27FC236}">
                <a16:creationId xmlns:a16="http://schemas.microsoft.com/office/drawing/2014/main" id="{041A4A9E-B88F-4D61-B1F4-40A1109B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H2D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6" name="CUDA&#10;kernel">
            <a:extLst xmlns:a="http://schemas.openxmlformats.org/drawingml/2006/main">
              <a:ext uri="{FF2B5EF4-FFF2-40B4-BE49-F238E27FC236}">
                <a16:creationId xmlns:a16="http://schemas.microsoft.com/office/drawing/2014/main" id="{9EA3F65D-EF15-44F5-9F92-80ADB91A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CUDA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7" name="D2H&#10;PCIe">
            <a:extLst xmlns:a="http://schemas.openxmlformats.org/drawingml/2006/main">
              <a:ext uri="{FF2B5EF4-FFF2-40B4-BE49-F238E27FC236}">
                <a16:creationId xmlns:a16="http://schemas.microsoft.com/office/drawing/2014/main" id="{CB7F7734-0F21-4873-9F78-B7284B81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D2H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8" name="H2D: host → device. D2H: device → host. Separate buffer">
            <a:extLst xmlns:a="http://schemas.openxmlformats.org/drawingml/2006/main">
              <a:ext uri="{FF2B5EF4-FFF2-40B4-BE49-F238E27FC236}">
                <a16:creationId xmlns:a16="http://schemas.microsoft.com/office/drawing/2014/main" id="{B1487E6F-F3A1-4B20-8EE7-E17E9B5A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H2D: host → device. D2H: device → host. Separate buffers; DMA (direct memory access) engines transfer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bytes over PCIe.</a:t>
            </a:r>
          </a:p>
        </p:txBody>
      </p:sp>
      <p:sp>
        <p:nvSpPr>
          <p:cNvPr id="19" name="GPU memory bandwidth differs from PCIe bandwidth. Pinne">
            <a:extLst xmlns:a="http://schemas.openxmlformats.org/drawingml/2006/main">
              <a:ext uri="{FF2B5EF4-FFF2-40B4-BE49-F238E27FC236}">
                <a16:creationId xmlns:a16="http://schemas.microsoft.com/office/drawing/2014/main" id="{D0891898-2FAB-44F4-AE78-5BA04718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222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 bandwidth differs from PCIe bandwidth. Pinned RAM supports DMA; pageable RAM may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stage. Complete output before saving or reuse.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103F8B-11EB-4A76-8FD2-7BDDBA61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21" name="The CPU orchestrates I/O and launches; the GPU rotates ">
            <a:extLst xmlns:a="http://schemas.openxmlformats.org/drawingml/2006/main">
              <a:ext uri="{FF2B5EF4-FFF2-40B4-BE49-F238E27FC236}">
                <a16:creationId xmlns:a16="http://schemas.microsoft.com/office/drawing/2014/main" id="{4966E509-D28C-47DA-BA55-18D08B7F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CPU orchestrates I/O and launches; the GPU rotates decoded pixels.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027B4A-B0AB-4E4D-8B75-41A0C16E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3" name="Sources: [1] NVIDIA CUDA programming model; [2] NVIDIA ">
            <a:extLst xmlns:a="http://schemas.openxmlformats.org/drawingml/2006/main">
              <a:ext uri="{FF2B5EF4-FFF2-40B4-BE49-F238E27FC236}">
                <a16:creationId xmlns:a16="http://schemas.microsoft.com/office/drawing/2014/main" id="{A54F2EB4-60C0-40B3-B682-C6474D5B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model; [2] NVIDIA CUDA Best Practices</a:t>
            </a:r>
          </a:p>
        </p:txBody>
      </p:sp>
      <p:sp>
        <p:nvSpPr>
          <p:cNvPr id="24" name="2 / 40">
            <a:extLst xmlns:a="http://schemas.openxmlformats.org/drawingml/2006/main">
              <a:ext uri="{FF2B5EF4-FFF2-40B4-BE49-F238E27FC236}">
                <a16:creationId xmlns:a16="http://schemas.microsoft.com/office/drawing/2014/main" id="{F78C95C0-BB63-48FD-9F56-2C529CE5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 / 40</a:t>
            </a:r>
          </a:p>
        </p:txBody>
      </p:sp>
    </p:spTree>
    <p:extLst>
      <p:ext uri="{BB962C8B-B14F-4D97-AF65-F5344CB8AC3E}">
        <p14:creationId xmlns:p14="http://schemas.microsoft.com/office/powerpoint/2010/main" val="7165985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21BAE-99EB-4288-9E19-9327E4A6DA2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25063" y="276225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8" name="Task 1(b)">
            <a:extLst xmlns:a="http://schemas.openxmlformats.org/drawingml/2006/main">
              <a:ext uri="{FF2B5EF4-FFF2-40B4-BE49-F238E27FC236}">
                <a16:creationId xmlns:a16="http://schemas.microsoft.com/office/drawing/2014/main" id="{1C19200E-F798-491A-9775-74A840FD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Rotation as independent output work">
            <a:extLst xmlns:a="http://schemas.openxmlformats.org/drawingml/2006/main">
              <a:ext uri="{FF2B5EF4-FFF2-40B4-BE49-F238E27FC236}">
                <a16:creationId xmlns:a16="http://schemas.microsoft.com/office/drawing/2014/main" id="{AF78EB7F-5478-41B2-B4E2-C4C407A7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 independent output work</a:t>
            </a:r>
          </a:p>
        </p:txBody>
      </p:sp>
      <p:sp>
        <p:nvSpPr>
          <p:cNvPr id="3" name="Inverse mapping in y-down image coordinates">
            <a:extLst xmlns:a="http://schemas.openxmlformats.org/drawingml/2006/main">
              <a:ext uri="{FF2B5EF4-FFF2-40B4-BE49-F238E27FC236}">
                <a16:creationId xmlns:a16="http://schemas.microsoft.com/office/drawing/2014/main" id="{1A42D5A6-4900-4EB2-8178-22C894CB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65722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Inverse mapping in y-down image coordinates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8D086-B933-465D-A4B2-41D16317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680085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sx = c*(x-cx) - s*(y-cy) + cx;&#10;sy = s*(x-cx) + c*(y-cy)">
            <a:extLst xmlns:a="http://schemas.openxmlformats.org/drawingml/2006/main">
              <a:ext uri="{FF2B5EF4-FFF2-40B4-BE49-F238E27FC236}">
                <a16:creationId xmlns:a16="http://schemas.microsoft.com/office/drawing/2014/main" id="{A08CD1D4-2620-4A02-BA24-B6F659C2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572250" cy="114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sx = c*(x-cx) - s*(y-cy) + cx;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sy = s*(x-cx) + c*(y-cy) + cy;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ix = floor(sx + 0.5);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iy = floor(sy + 0.5);</a:t>
            </a:r>
          </a:p>
        </p:txBody>
      </p:sp>
      <p:sp>
        <p:nvSpPr>
          <p:cNvPr id="6" name="c = cos θ; s = sin θ; θ in radians; center = ((W−1)/2, ">
            <a:extLst xmlns:a="http://schemas.openxmlformats.org/drawingml/2006/main">
              <a:ext uri="{FF2B5EF4-FFF2-40B4-BE49-F238E27FC236}">
                <a16:creationId xmlns:a16="http://schemas.microsoft.com/office/drawing/2014/main" id="{812A52D1-2A46-491D-B6E0-A3893687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771525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cos θ; s = sin θ; θ in radians; center = ((W−1)/2, (H−1)/2)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08666-D0A3-4F77-AC25-FF3C889A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76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(x,y)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561B6-AF38-42F0-9356-4C78FBDB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00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 input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(ix,iy)</a:t>
            </a:r>
          </a:p>
        </p:txBody>
      </p:sp>
      <p:sp>
        <p:nvSpPr>
          <p:cNvPr id="10" name="lookup">
            <a:extLst xmlns:a="http://schemas.openxmlformats.org/drawingml/2006/main">
              <a:ext uri="{FF2B5EF4-FFF2-40B4-BE49-F238E27FC236}">
                <a16:creationId xmlns:a16="http://schemas.microsoft.com/office/drawing/2014/main" id="{D55F7BDA-E5E7-4BB1-9B86-3DA8EA23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24175"/>
            <a:ext cx="1066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lookup</a:t>
            </a:r>
          </a:p>
        </p:txBody>
      </p:sp>
      <p:sp>
        <p:nvSpPr>
          <p:cNvPr id="11" name="Forward [c s; −s c]; inverse [c −s; s c]. Positive θ is">
            <a:extLst xmlns:a="http://schemas.openxmlformats.org/drawingml/2006/main">
              <a:ext uri="{FF2B5EF4-FFF2-40B4-BE49-F238E27FC236}">
                <a16:creationId xmlns:a16="http://schemas.microsoft.com/office/drawing/2014/main" id="{143DAD9C-C003-4111-B0E0-84AD47FA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7152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[c s; −s c]; inverse [c −s; s c]. Positive θ is visually counterclockwise.</a:t>
            </a:r>
          </a:p>
        </p:txBody>
      </p:sp>
      <p:sp>
        <p:nvSpPr>
          <p:cNvPr id="12" name="Fixed RGB canvas can crop; black borders. Gathering avo">
            <a:extLst xmlns:a="http://schemas.openxmlformats.org/drawingml/2006/main">
              <a:ext uri="{FF2B5EF4-FFF2-40B4-BE49-F238E27FC236}">
                <a16:creationId xmlns:a16="http://schemas.microsoft.com/office/drawing/2014/main" id="{871AA25B-D9C4-4ABA-996D-AD8B0466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1342"/>
            <a:ext cx="771525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Fixed RGB canvas can crop; black borders. Gathering avoids scatter holes;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can alias.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7806C-1EED-494B-B06E-E4958AD3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4" name="One thread owns one output pixel: gather a source value">
            <a:extLst xmlns:a="http://schemas.openxmlformats.org/drawingml/2006/main">
              <a:ext uri="{FF2B5EF4-FFF2-40B4-BE49-F238E27FC236}">
                <a16:creationId xmlns:a16="http://schemas.microsoft.com/office/drawing/2014/main" id="{6039B7B2-F12B-482C-AED3-ABFE22A5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One thread owns one output pixel: gather a source value, then write once.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F3A02-3BCC-477E-86A3-E3E11486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6" name="Sources: [1] NVIDIA CUDA programming model">
            <a:extLst xmlns:a="http://schemas.openxmlformats.org/drawingml/2006/main">
              <a:ext uri="{FF2B5EF4-FFF2-40B4-BE49-F238E27FC236}">
                <a16:creationId xmlns:a16="http://schemas.microsoft.com/office/drawing/2014/main" id="{7B381AFC-D5B5-4374-B25E-EFF59C8C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</a:t>
            </a:r>
          </a:p>
        </p:txBody>
      </p:sp>
      <p:sp>
        <p:nvSpPr>
          <p:cNvPr id="17" name="3 / 40">
            <a:extLst xmlns:a="http://schemas.openxmlformats.org/drawingml/2006/main">
              <a:ext uri="{FF2B5EF4-FFF2-40B4-BE49-F238E27FC236}">
                <a16:creationId xmlns:a16="http://schemas.microsoft.com/office/drawing/2014/main" id="{8A0D3DA3-1827-468E-A8D3-6417B2AE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 / 40</a:t>
            </a:r>
          </a:p>
        </p:txBody>
      </p:sp>
    </p:spTree>
    <p:extLst>
      <p:ext uri="{BB962C8B-B14F-4D97-AF65-F5344CB8AC3E}">
        <p14:creationId xmlns:p14="http://schemas.microsoft.com/office/powerpoint/2010/main" val="88186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ask 1(b) • Worked rotation">
            <a:extLst xmlns:a="http://schemas.openxmlformats.org/drawingml/2006/main">
              <a:ext uri="{FF2B5EF4-FFF2-40B4-BE49-F238E27FC236}">
                <a16:creationId xmlns:a16="http://schemas.microsoft.com/office/drawing/2014/main" id="{5F547FE3-9ED1-431D-BD7D-550FBE28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 • Worked rotation</a:t>
            </a:r>
          </a:p>
        </p:txBody>
      </p:sp>
      <p:sp>
        <p:nvSpPr>
          <p:cNvPr id="2" name="A 90-degree rotation example">
            <a:extLst xmlns:a="http://schemas.openxmlformats.org/drawingml/2006/main">
              <a:ext uri="{FF2B5EF4-FFF2-40B4-BE49-F238E27FC236}">
                <a16:creationId xmlns:a16="http://schemas.microsoft.com/office/drawing/2014/main" id="{DFB4840B-00B6-4172-A123-0F981760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90-degree rotation example</a:t>
            </a:r>
          </a:p>
        </p:txBody>
      </p:sp>
      <p:sp>
        <p:nvSpPr>
          <p:cNvPr id="3" name="Input">
            <a:extLst xmlns:a="http://schemas.openxmlformats.org/drawingml/2006/main">
              <a:ext uri="{FF2B5EF4-FFF2-40B4-BE49-F238E27FC236}">
                <a16:creationId xmlns:a16="http://schemas.microsoft.com/office/drawing/2014/main" id="{E81EB18D-F566-4048-B799-61A235A7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2A880-4048-4B3B-80F5-14B652AF1641}"/>
              </a:ext>
            </a:extLst>
          </p:cNvPr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utput: 90° counterclockwise">
            <a:extLst xmlns:a="http://schemas.openxmlformats.org/drawingml/2006/main">
              <a:ext uri="{FF2B5EF4-FFF2-40B4-BE49-F238E27FC236}">
                <a16:creationId xmlns:a16="http://schemas.microsoft.com/office/drawing/2014/main" id="{FAA18A7F-7164-4224-81F4-CF8A0CD0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Output: 90° counterclockwise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1AAAC-7DE7-4C4F-87FA-BBEDB7384033}"/>
              </a:ext>
            </a:extLst>
          </p:cNvPr>
          <p:cNvGraphicFramePr/>
          <p:nvPr/>
        </p:nvGraphicFramePr>
        <p:xfrm>
          <a:off xmlns:a="http://schemas.openxmlformats.org/drawingml/2006/main" x="756285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θ = 90°&#10;c = 0, s = 1&#10;center = (2,2)">
            <a:extLst xmlns:a="http://schemas.openxmlformats.org/drawingml/2006/main">
              <a:ext uri="{FF2B5EF4-FFF2-40B4-BE49-F238E27FC236}">
                <a16:creationId xmlns:a16="http://schemas.microsoft.com/office/drawing/2014/main" id="{43EC4A63-7ABC-413C-AF14-72C8821B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2057400" cy="959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θ = 90°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0, s = 1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center = (2,2)</a:t>
            </a:r>
          </a:p>
        </p:txBody>
      </p:sp>
      <p:sp>
        <p:nvSpPr>
          <p:cNvPr id="8" name="Output (0,1) → source (3,0) → value 3">
            <a:extLst xmlns:a="http://schemas.openxmlformats.org/drawingml/2006/main">
              <a:ext uri="{FF2B5EF4-FFF2-40B4-BE49-F238E27FC236}">
                <a16:creationId xmlns:a16="http://schemas.microsoft.com/office/drawing/2014/main" id="{F4D6A0CB-1EF4-441E-9F06-610B35C0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(0,1) → source (3,0) → value 3</a:t>
            </a:r>
          </a:p>
        </p:txBody>
      </p:sp>
      <p:sp>
        <p:nvSpPr>
          <p:cNvPr id="9" name="The matrix values are illustrative pixel identifiers, n">
            <a:extLst xmlns:a="http://schemas.openxmlformats.org/drawingml/2006/main">
              <a:ext uri="{FF2B5EF4-FFF2-40B4-BE49-F238E27FC236}">
                <a16:creationId xmlns:a16="http://schemas.microsoft.com/office/drawing/2014/main" id="{8D806C60-4026-41A9-8DD7-73CE8F0C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 matrix values are illustrative pixel identifiers, not channel intensities.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F9819-253B-4F21-A44B-E812457D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1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DCFD2BE4-CAA5-4575-90F0-19D427D3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2" name="4 / 40">
            <a:extLst xmlns:a="http://schemas.openxmlformats.org/drawingml/2006/main">
              <a:ext uri="{FF2B5EF4-FFF2-40B4-BE49-F238E27FC236}">
                <a16:creationId xmlns:a16="http://schemas.microsoft.com/office/drawing/2014/main" id="{5DCCC59D-B6A2-4B96-8E09-79C7D774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 / 40</a:t>
            </a:r>
          </a:p>
        </p:txBody>
      </p:sp>
    </p:spTree>
    <p:extLst>
      <p:ext uri="{BB962C8B-B14F-4D97-AF65-F5344CB8AC3E}">
        <p14:creationId xmlns:p14="http://schemas.microsoft.com/office/powerpoint/2010/main" val="10875430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ask 1(b)">
            <a:extLst xmlns:a="http://schemas.openxmlformats.org/drawingml/2006/main">
              <a:ext uri="{FF2B5EF4-FFF2-40B4-BE49-F238E27FC236}">
                <a16:creationId xmlns:a16="http://schemas.microsoft.com/office/drawing/2014/main" id="{206F6931-7897-45BD-B5E6-41A621EA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launch and execution hierarchy">
            <a:extLst xmlns:a="http://schemas.openxmlformats.org/drawingml/2006/main">
              <a:ext uri="{FF2B5EF4-FFF2-40B4-BE49-F238E27FC236}">
                <a16:creationId xmlns:a16="http://schemas.microsoft.com/office/drawing/2014/main" id="{D264D47E-7DF0-4B14-842F-7B13960A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launch and execution hierarchy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92726-986E-4DC2-A3A8-7C24D05D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9436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16);&#10;dim3 grid(64,64);&#10;rotate_rgb&lt;&lt;&lt;grid,">
            <a:extLst xmlns:a="http://schemas.openxmlformats.org/drawingml/2006/main">
              <a:ext uri="{FF2B5EF4-FFF2-40B4-BE49-F238E27FC236}">
                <a16:creationId xmlns:a16="http://schemas.microsoft.com/office/drawing/2014/main" id="{4FD49CA3-FE8A-4D1B-AEBD-1E3B6548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00" cy="1101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block(16,16);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grid(64,64);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rotate_rgb&lt;&lt;&lt;grid,block&gt;&gt;&gt;(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d_in,d_out,1024,1024,c,s);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BA275-557D-4A76-837A-6EB56786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943600" cy="948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6" name="x = blockIdx.x*blockDim.x + threadIdx.x;&#10;y = blockIdx.y">
            <a:extLst xmlns:a="http://schemas.openxmlformats.org/drawingml/2006/main">
              <a:ext uri="{FF2B5EF4-FFF2-40B4-BE49-F238E27FC236}">
                <a16:creationId xmlns:a16="http://schemas.microsoft.com/office/drawing/2014/main" id="{BCA359AA-3083-45E2-84F0-A8F9CDA2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5715000" cy="815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x = blockIdx.x*blockDim.x + threadIdx.x;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y = blockIdx.y*blockDim.y + threadIdx.y;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if (x &gt;= W || y &gt;= H) return;</a:t>
            </a:r>
          </a:p>
        </p:txBody>
      </p:sp>
      <p:sp>
        <p:nvSpPr>
          <p:cNvPr id="7" name="1024 × 1024 output">
            <a:extLst xmlns:a="http://schemas.openxmlformats.org/drawingml/2006/main">
              <a:ext uri="{FF2B5EF4-FFF2-40B4-BE49-F238E27FC236}">
                <a16:creationId xmlns:a16="http://schemas.microsoft.com/office/drawing/2014/main" id="{10284971-3D6A-4A1E-825D-A79DAA1B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62100"/>
            <a:ext cx="43434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1024 × 1024 output</a:t>
            </a:r>
          </a:p>
        </p:txBody>
      </p:sp>
      <p:sp>
        <p:nvSpPr>
          <p:cNvPr id="8" name="64 × 64 = 4,096 blocks">
            <a:extLst xmlns:a="http://schemas.openxmlformats.org/drawingml/2006/main">
              <a:ext uri="{FF2B5EF4-FFF2-40B4-BE49-F238E27FC236}">
                <a16:creationId xmlns:a16="http://schemas.microsoft.com/office/drawing/2014/main" id="{A89ED62A-18BC-41CA-9480-C4999BE5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8597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64 × 64 = 4,096 blocks</a:t>
            </a:r>
          </a:p>
        </p:txBody>
      </p:sp>
      <p:sp>
        <p:nvSpPr>
          <p:cNvPr id="9" name="16 × 16 = 256 threads/block">
            <a:extLst xmlns:a="http://schemas.openxmlformats.org/drawingml/2006/main">
              <a:ext uri="{FF2B5EF4-FFF2-40B4-BE49-F238E27FC236}">
                <a16:creationId xmlns:a16="http://schemas.microsoft.com/office/drawing/2014/main" id="{8C36774E-C94D-4355-8240-AD1E1A16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16 × 16 = 256 threads/block</a:t>
            </a:r>
          </a:p>
        </p:txBody>
      </p:sp>
      <p:sp>
        <p:nvSpPr>
          <p:cNvPr id="10" name="1,048,576 logical threads">
            <a:extLst xmlns:a="http://schemas.openxmlformats.org/drawingml/2006/main">
              <a:ext uri="{FF2B5EF4-FFF2-40B4-BE49-F238E27FC236}">
                <a16:creationId xmlns:a16="http://schemas.microsoft.com/office/drawing/2014/main" id="{2B02B556-A006-433B-9D75-B323E299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5752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1,048,576 logical threads</a:t>
            </a:r>
          </a:p>
        </p:txBody>
      </p:sp>
      <p:sp>
        <p:nvSpPr>
          <p:cNvPr id="11" name="32 threads/warp → 8 warps/block">
            <a:extLst xmlns:a="http://schemas.openxmlformats.org/drawingml/2006/main">
              <a:ext uri="{FF2B5EF4-FFF2-40B4-BE49-F238E27FC236}">
                <a16:creationId xmlns:a16="http://schemas.microsoft.com/office/drawing/2014/main" id="{3F4D820A-9380-4ABB-8E5C-84F0B231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32 threads/warp → 8 warps/block</a:t>
            </a:r>
          </a:p>
        </p:txBody>
      </p:sp>
      <p:sp>
        <p:nvSpPr>
          <p:cNvPr id="12" name="One highlighted warp within a 16-wide block">
            <a:extLst xmlns:a="http://schemas.openxmlformats.org/drawingml/2006/main">
              <a:ext uri="{FF2B5EF4-FFF2-40B4-BE49-F238E27FC236}">
                <a16:creationId xmlns:a16="http://schemas.microsoft.com/office/drawing/2014/main" id="{0119E0B9-E2EC-4811-A883-DC8CE05B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29075"/>
            <a:ext cx="4343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One highlighted warp within a 16-wide block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73F5F-FE9A-474C-9805-41E1BC53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B5D5E-1FD8-4827-98DF-7C886F73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50882-3548-450C-A87F-3F06CB88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E503F-931B-4D0E-AD93-E11F5F75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A53A3-EAD8-4726-B6AD-D1AA373A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9F033-0509-407E-9BA0-B2F250DE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ECBEAE-BC2F-481C-883C-C1173925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595204-6121-48BC-9485-DB275A0D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844C96-C470-4F75-B946-44C08877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82B07-6C23-4841-A1E9-509491A7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CE17CA-9733-46F3-B280-FD490C83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49D499-7FD3-4726-962B-13A7B608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345962-DAF1-4EA4-B540-1F7D7434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A23643-4508-46AD-938F-91D6606C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543FC7-621A-4D54-871C-9473FC96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EDD77D-4717-4085-A1EC-7A1820F7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E671A4-0A22-4D79-8B01-68D0AEA9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5E3B17-A071-4AEC-973D-FBFFEA37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D6718F-F32B-477E-BD29-6EE7C707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A5A948-FF6B-4593-B5F7-1B7EDE26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8ACFC3-EB0A-4677-851C-013EDC2E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275579-E65C-4EB8-A685-CA6E7EA2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60F415-CF3A-4A21-B617-B65EF45D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C4F1F5-0D69-4455-AA74-B7A21DF3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75B0FB-D18E-4201-A705-10F1AAF1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CC8A3E-F49A-42C8-9E29-D0CEE781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F1B92E-8081-4C29-8F58-F0672960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8CA397-3646-4E44-B41B-261CBAAF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424947-5AEC-4769-9AFD-40419C7D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54C8A1-B6DC-493C-A29B-FEB54193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430C44-D995-4B6F-AED2-47D7B99F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CBC0D7-08C7-43A0-B021-51458B5C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5" name="Non-multiple dimensions: ceil-divide the grid and keep ">
            <a:extLst xmlns:a="http://schemas.openxmlformats.org/drawingml/2006/main">
              <a:ext uri="{FF2B5EF4-FFF2-40B4-BE49-F238E27FC236}">
                <a16:creationId xmlns:a16="http://schemas.microsoft.com/office/drawing/2014/main" id="{D11B03BF-B42B-4D82-A457-5F4161EC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Non-multiple dimensions: ceil-divide the grid and keep the bounds guard.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10FC9F-5666-4CF0-8706-0031DDBD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47" name="A grid specifies logical work; finite SMs schedule its ">
            <a:extLst xmlns:a="http://schemas.openxmlformats.org/drawingml/2006/main">
              <a:ext uri="{FF2B5EF4-FFF2-40B4-BE49-F238E27FC236}">
                <a16:creationId xmlns:a16="http://schemas.microsoft.com/office/drawing/2014/main" id="{DB530477-C0B5-4E69-9BB2-8516C2A0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grid specifies logical work; finite SMs schedule its blocks and warps.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8393E4-9063-43BA-B5D1-5E6A16C0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49" name="Sources: [1] NVIDIA CUDA programming model">
            <a:extLst xmlns:a="http://schemas.openxmlformats.org/drawingml/2006/main">
              <a:ext uri="{FF2B5EF4-FFF2-40B4-BE49-F238E27FC236}">
                <a16:creationId xmlns:a16="http://schemas.microsoft.com/office/drawing/2014/main" id="{EAFEEA13-7F08-4B27-996E-55007C0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</a:t>
            </a:r>
          </a:p>
        </p:txBody>
      </p:sp>
      <p:sp>
        <p:nvSpPr>
          <p:cNvPr id="50" name="5 / 40">
            <a:extLst xmlns:a="http://schemas.openxmlformats.org/drawingml/2006/main">
              <a:ext uri="{FF2B5EF4-FFF2-40B4-BE49-F238E27FC236}">
                <a16:creationId xmlns:a16="http://schemas.microsoft.com/office/drawing/2014/main" id="{8C25D53E-C29C-4007-AAAD-33597047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 / 40</a:t>
            </a:r>
          </a:p>
        </p:txBody>
      </p:sp>
    </p:spTree>
    <p:extLst>
      <p:ext uri="{BB962C8B-B14F-4D97-AF65-F5344CB8AC3E}">
        <p14:creationId xmlns:p14="http://schemas.microsoft.com/office/powerpoint/2010/main" val="8119917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1(b) • Rotation implementation">
            <a:extLst xmlns:a="http://schemas.openxmlformats.org/drawingml/2006/main">
              <a:ext uri="{FF2B5EF4-FFF2-40B4-BE49-F238E27FC236}">
                <a16:creationId xmlns:a16="http://schemas.microsoft.com/office/drawing/2014/main" id="{7E795A9F-0DB2-4BCE-A314-865FA89B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 • Rotation implementation</a:t>
            </a:r>
          </a:p>
        </p:txBody>
      </p:sp>
      <p:sp>
        <p:nvSpPr>
          <p:cNvPr id="2" name="CUDA rotation kernel">
            <a:extLst xmlns:a="http://schemas.openxmlformats.org/drawingml/2006/main">
              <a:ext uri="{FF2B5EF4-FFF2-40B4-BE49-F238E27FC236}">
                <a16:creationId xmlns:a16="http://schemas.microsoft.com/office/drawing/2014/main" id="{055F5811-1E8E-4ECA-9D5E-3226CC81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rotation kernel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88144-D72A-4F9C-AD1E-86D3EE06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370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rotate_rgb(const unsigned char* in,&#10;   ">
            <a:extLst xmlns:a="http://schemas.openxmlformats.org/drawingml/2006/main">
              <a:ext uri="{FF2B5EF4-FFF2-40B4-BE49-F238E27FC236}">
                <a16:creationId xmlns:a16="http://schemas.microsoft.com/office/drawing/2014/main" id="{FEDDE616-5FD0-4714-BC3C-807B2766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3569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rotate_rgb(const unsigned char* in,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unsigned char* out, int W, int H, float c, float 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x = blockIdx.x*blockDim.x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y = blockIdx.y*blockDim.y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if (x &gt;= W || y &gt;= H)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float cx = (W-1)*0.5f, cy = (H-1)*0.5f;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ix = int(floorf(c*(x-cx)-s*(y-cy)+cx+0.5f));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iy = int(floorf(s*(x-cx)+c*(y-cy)+cy+0.5f));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size_t dst = 3*(size_t(y)*W + x);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if (ix &gt;= 0 &amp;&amp; ix &lt; W &amp;&amp; iy &gt;= 0 &amp;&amp; iy &lt; H)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size_t src = 3*(size_t(iy)*W + ix);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for (int ch=0; ch&lt;3; ++ch) out[dst+ch] = in[src+ch];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} else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for (int ch=0; ch&lt;3; ++ch) out[dst+ch] = 0;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One thread owns one output pixel. Guard partial edge bl">
            <a:extLst xmlns:a="http://schemas.openxmlformats.org/drawingml/2006/main">
              <a:ext uri="{FF2B5EF4-FFF2-40B4-BE49-F238E27FC236}">
                <a16:creationId xmlns:a16="http://schemas.microsoft.com/office/drawing/2014/main" id="{F468C116-098E-4A78-84EF-687576EE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One thread owns one output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pixel. Guard partial edge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blocks.</a:t>
            </a:r>
          </a:p>
        </p:txBody>
      </p:sp>
      <p:sp>
        <p:nvSpPr>
          <p:cNvPr id="6" name="Inverse gather copies RGB; out-of-bounds indices write ">
            <a:extLst xmlns:a="http://schemas.openxmlformats.org/drawingml/2006/main">
              <a:ext uri="{FF2B5EF4-FFF2-40B4-BE49-F238E27FC236}">
                <a16:creationId xmlns:a16="http://schemas.microsoft.com/office/drawing/2014/main" id="{EC9B056B-2891-4868-B37F-BEFCA873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 copies RGB;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out-of-bounds indices write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black.</a:t>
            </a:r>
          </a:p>
        </p:txBody>
      </p:sp>
      <p:sp>
        <p:nvSpPr>
          <p:cNvPr id="7" name="Disjoint outputs need no atomics/barrier. Work and stor">
            <a:extLst xmlns:a="http://schemas.openxmlformats.org/drawingml/2006/main">
              <a:ext uri="{FF2B5EF4-FFF2-40B4-BE49-F238E27FC236}">
                <a16:creationId xmlns:a16="http://schemas.microsoft.com/office/drawing/2014/main" id="{5802F469-FFF6-43C1-AE64-DDDB7746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97402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Disjoint outputs need no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atomics/barrier. Work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storage: O(W × H).</a:t>
            </a:r>
          </a:p>
        </p:txBody>
      </p:sp>
      <p:sp>
        <p:nvSpPr>
          <p:cNvPr id="8" name="Separate RGB buffers; W/H &gt; 0; valid sizes, c/s. Uncomp">
            <a:extLst xmlns:a="http://schemas.openxmlformats.org/drawingml/2006/main">
              <a:ext uri="{FF2B5EF4-FFF2-40B4-BE49-F238E27FC236}">
                <a16:creationId xmlns:a16="http://schemas.microsoft.com/office/drawing/2014/main" id="{63621234-AAC1-4365-915F-6B4161DE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05528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RGB buffers; W/H 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0; valid sizes, c/s. Uncompiled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unbenchmarked.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62985-AF6A-4027-88D3-C548B813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NVIDIA CUDA programming model">
            <a:extLst xmlns:a="http://schemas.openxmlformats.org/drawingml/2006/main">
              <a:ext uri="{FF2B5EF4-FFF2-40B4-BE49-F238E27FC236}">
                <a16:creationId xmlns:a16="http://schemas.microsoft.com/office/drawing/2014/main" id="{E9568017-A8DE-4575-BC86-47338890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</a:t>
            </a:r>
          </a:p>
        </p:txBody>
      </p:sp>
      <p:sp>
        <p:nvSpPr>
          <p:cNvPr id="11" name="6 / 40">
            <a:extLst xmlns:a="http://schemas.openxmlformats.org/drawingml/2006/main">
              <a:ext uri="{FF2B5EF4-FFF2-40B4-BE49-F238E27FC236}">
                <a16:creationId xmlns:a16="http://schemas.microsoft.com/office/drawing/2014/main" id="{0323BF80-2D38-44FD-8AB2-6491A4A4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6 / 40</a:t>
            </a:r>
          </a:p>
        </p:txBody>
      </p:sp>
    </p:spTree>
    <p:extLst>
      <p:ext uri="{BB962C8B-B14F-4D97-AF65-F5344CB8AC3E}">
        <p14:creationId xmlns:p14="http://schemas.microsoft.com/office/powerpoint/2010/main" val="19317918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1(b) • Host orchestration">
            <a:extLst xmlns:a="http://schemas.openxmlformats.org/drawingml/2006/main">
              <a:ext uri="{FF2B5EF4-FFF2-40B4-BE49-F238E27FC236}">
                <a16:creationId xmlns:a16="http://schemas.microsoft.com/office/drawing/2014/main" id="{2D22C935-41C9-47A2-A004-1293B3BA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 • Host orchestration</a:t>
            </a:r>
          </a:p>
        </p:txBody>
      </p:sp>
      <p:sp>
        <p:nvSpPr>
          <p:cNvPr id="2" name="Host orchestration and completion">
            <a:extLst xmlns:a="http://schemas.openxmlformats.org/drawingml/2006/main">
              <a:ext uri="{FF2B5EF4-FFF2-40B4-BE49-F238E27FC236}">
                <a16:creationId xmlns:a16="http://schemas.microsoft.com/office/drawing/2014/main" id="{E677152F-95A3-4A0E-A179-C20B51C7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orchestration and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BFAEE-1786-4755-BA86-0AB95490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64198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 16);&#10;dim3 grid(1u + (unsigned(W)-1u)/blo">
            <a:extLst xmlns:a="http://schemas.openxmlformats.org/drawingml/2006/main">
              <a:ext uri="{FF2B5EF4-FFF2-40B4-BE49-F238E27FC236}">
                <a16:creationId xmlns:a16="http://schemas.microsoft.com/office/drawing/2014/main" id="{1399A97D-8480-42D2-A4CE-7F458AFE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6191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 16);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grid(1u + (unsigned(W)-1u)/block.x,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1u + (unsigned(H)-1u)/block.y);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cudaMemcpy(d_in, h_in,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cudaMemcpyHostToDevice);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 block&gt;&gt;&gt;(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d_in, d_out, W, H,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cudaMemcpy(h_out, d_out,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cudaMemcpyDeviceToHost);</a:t>
            </a:r>
          </a:p>
        </p:txBody>
      </p:sp>
      <p:sp>
        <p:nvSpPr>
          <p:cNvPr id="5" name="Illustrative excerpt, not a complete program: W/H &gt; 0; ">
            <a:extLst xmlns:a="http://schemas.openxmlformats.org/drawingml/2006/main">
              <a:ext uri="{FF2B5EF4-FFF2-40B4-BE49-F238E27FC236}">
                <a16:creationId xmlns:a16="http://schemas.microsoft.com/office/drawing/2014/main" id="{0F034292-2917-4251-AD4D-3E82353A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6191250" cy="782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excerpt, not a complete program: W/H &gt; 0; bytes = 3 × W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× H checked in size_t; valid separate buffers; grid/device limits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validated.</a:t>
            </a:r>
          </a:p>
        </p:txBody>
      </p:sp>
      <p:sp>
        <p:nvSpPr>
          <p:cNvPr id="6" name="CPU loads/decodes, allocates host/device buffers, check">
            <a:extLst xmlns:a="http://schemas.openxmlformats.org/drawingml/2006/main">
              <a:ext uri="{FF2B5EF4-FFF2-40B4-BE49-F238E27FC236}">
                <a16:creationId xmlns:a16="http://schemas.microsoft.com/office/drawing/2014/main" id="{CF072880-AC56-4746-8C81-06E97582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81150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loads/decodes, allocates host/device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buffers, checks every API/launch/completion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result, saves output and frees resources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safely.</a:t>
            </a:r>
          </a:p>
        </p:txBody>
      </p:sp>
      <p:sp>
        <p:nvSpPr>
          <p:cNvPr id="7" name="For this ordered synchronous-copy example, D2H supplies">
            <a:extLst xmlns:a="http://schemas.openxmlformats.org/drawingml/2006/main">
              <a:ext uri="{FF2B5EF4-FFF2-40B4-BE49-F238E27FC236}">
                <a16:creationId xmlns:a16="http://schemas.microsoft.com/office/drawing/2014/main" id="{73CE3B57-7DD9-4150-94C6-811FA4C7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30068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this ordered synchronous-copy example,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 supplies completed host data. A launch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asynchronous; launch-error checks alone do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establish successful completion.</a:t>
            </a:r>
          </a:p>
        </p:txBody>
      </p:sp>
      <p:sp>
        <p:nvSpPr>
          <p:cNvPr id="8" name="Pinned host storage is page-locked and supports efficie">
            <a:extLst xmlns:a="http://schemas.openxmlformats.org/drawingml/2006/main">
              <a:ext uri="{FF2B5EF4-FFF2-40B4-BE49-F238E27FC236}">
                <a16:creationId xmlns:a16="http://schemas.microsoft.com/office/drawing/2014/main" id="{9B3A3098-9DFA-4998-99D5-3FF110EF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78986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storage is page-locked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supports efficient DMA. Pageable memory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need runtime staging. Avoid excessive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9E513-C8B7-40EA-BBDB-52488ED6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NVIDIA CUDA programming model; [2] NVIDIA ">
            <a:extLst xmlns:a="http://schemas.openxmlformats.org/drawingml/2006/main">
              <a:ext uri="{FF2B5EF4-FFF2-40B4-BE49-F238E27FC236}">
                <a16:creationId xmlns:a16="http://schemas.microsoft.com/office/drawing/2014/main" id="{39206C1A-9172-4F74-9421-34964281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model; [2] NVIDIA CUDA Best Practices</a:t>
            </a:r>
          </a:p>
        </p:txBody>
      </p:sp>
      <p:sp>
        <p:nvSpPr>
          <p:cNvPr id="11" name="7 / 40">
            <a:extLst xmlns:a="http://schemas.openxmlformats.org/drawingml/2006/main">
              <a:ext uri="{FF2B5EF4-FFF2-40B4-BE49-F238E27FC236}">
                <a16:creationId xmlns:a16="http://schemas.microsoft.com/office/drawing/2014/main" id="{F06B7B7B-E588-4217-B020-66273F9C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7 / 40</a:t>
            </a:r>
          </a:p>
        </p:txBody>
      </p:sp>
    </p:spTree>
    <p:extLst>
      <p:ext uri="{BB962C8B-B14F-4D97-AF65-F5344CB8AC3E}">
        <p14:creationId xmlns:p14="http://schemas.microsoft.com/office/powerpoint/2010/main" val="19651572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3880C-A007-44D6-AB1D-7AF7CA6C789B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9644063" y="2305050"/>
            <a:ext cx="4763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1(b)">
            <a:extLst xmlns:a="http://schemas.openxmlformats.org/drawingml/2006/main">
              <a:ext uri="{FF2B5EF4-FFF2-40B4-BE49-F238E27FC236}">
                <a16:creationId xmlns:a16="http://schemas.microsoft.com/office/drawing/2014/main" id="{887801B4-D29F-481D-A397-56578F13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features that affect throughput">
            <a:extLst xmlns:a="http://schemas.openxmlformats.org/drawingml/2006/main">
              <a:ext uri="{FF2B5EF4-FFF2-40B4-BE49-F238E27FC236}">
                <a16:creationId xmlns:a16="http://schemas.microsoft.com/office/drawing/2014/main" id="{3924E59A-3F8D-4319-B393-12285D34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features that affect throughput</a:t>
            </a:r>
          </a:p>
        </p:txBody>
      </p:sp>
      <p:sp>
        <p:nvSpPr>
          <p:cNvPr id="3" name="Example: independent brightness channels">
            <a:extLst xmlns:a="http://schemas.openxmlformats.org/drawingml/2006/main">
              <a:ext uri="{FF2B5EF4-FFF2-40B4-BE49-F238E27FC236}">
                <a16:creationId xmlns:a16="http://schemas.microsoft.com/office/drawing/2014/main" id="{4059629D-BF4B-42CD-9B38-F0870E6F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238875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Example: independent brightness channels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E1982-E61F-4938-82F5-994F46CE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64198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size_t p = 3*(size_t(y)*W + x);&#10;for (int ch=0; ch&lt;3; ++">
            <a:extLst xmlns:a="http://schemas.openxmlformats.org/drawingml/2006/main">
              <a:ext uri="{FF2B5EF4-FFF2-40B4-BE49-F238E27FC236}">
                <a16:creationId xmlns:a16="http://schemas.microsoft.com/office/drawing/2014/main" id="{ABAAF90E-45B7-405F-B444-997A836E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619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size_t p = 3*(size_t(y)*W + x);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for (int ch=0; ch&lt;3; ++ch) {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v = int(in[p+ch]) + delta;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out[p+ch] = v&lt;0 ? 0 : (v&gt;255 ? 255 : v);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After coordinate/bounds checks; valid RGB buffers; delt">
            <a:extLst xmlns:a="http://schemas.openxmlformats.org/drawingml/2006/main">
              <a:ext uri="{FF2B5EF4-FFF2-40B4-BE49-F238E27FC236}">
                <a16:creationId xmlns:a16="http://schemas.microsoft.com/office/drawing/2014/main" id="{8680B56E-3063-45D9-A114-CAB28672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6324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After coordinate/bounds checks; valid RGB buffers; delta ∈ [−255,255].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DFBF1-EF76-44DA-B52F-CF060657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38300"/>
            <a:ext cx="2914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Pending blocks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8652D-B29D-4C1D-A7C8-A8C4A41C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0375"/>
            <a:ext cx="3667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Streaming multiprocessor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→ execution units</a:t>
            </a:r>
          </a:p>
        </p:txBody>
      </p:sp>
      <p:sp>
        <p:nvSpPr>
          <p:cNvPr id="10" name="SIMT = single instruction, multiple threads. A warp iss">
            <a:extLst xmlns:a="http://schemas.openxmlformats.org/drawingml/2006/main">
              <a:ext uri="{FF2B5EF4-FFF2-40B4-BE49-F238E27FC236}">
                <a16:creationId xmlns:a16="http://schemas.microsoft.com/office/drawing/2014/main" id="{D3963BD4-D4BF-4F56-BE82-BA4D0E36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95775"/>
            <a:ext cx="386715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SIMT = single instruction, multiple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threads. A warp issues common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instructions; divergent paths can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efficiency.</a:t>
            </a:r>
          </a:p>
        </p:txBody>
      </p:sp>
      <p:sp>
        <p:nvSpPr>
          <p:cNvPr id="11" name="Resident warps hide latency; registers limit residency.">
            <a:extLst xmlns:a="http://schemas.openxmlformats.org/drawingml/2006/main">
              <a:ext uri="{FF2B5EF4-FFF2-40B4-BE49-F238E27FC236}">
                <a16:creationId xmlns:a16="http://schemas.microsoft.com/office/drawing/2014/main" id="{479B4968-BAC5-408B-851A-E3C7FBDA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6515100" cy="888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hide latency; registers limit residency.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Coalescing groups nearby accesses into fewer transactions;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can disrupt read locality.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24C95-A15B-4B34-995A-4F040ADC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Concurrency helps only when memory access and resource ">
            <a:extLst xmlns:a="http://schemas.openxmlformats.org/drawingml/2006/main">
              <a:ext uri="{FF2B5EF4-FFF2-40B4-BE49-F238E27FC236}">
                <a16:creationId xmlns:a16="http://schemas.microsoft.com/office/drawing/2014/main" id="{EF800A1F-62C4-4D88-8F29-AE92ABB7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Concurrency helps only when memory access and resource use support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83303-B2FB-43F4-94DB-3ACE0EEE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] NVIDIA CUDA programming model; [2] NVIDIA ">
            <a:extLst xmlns:a="http://schemas.openxmlformats.org/drawingml/2006/main">
              <a:ext uri="{FF2B5EF4-FFF2-40B4-BE49-F238E27FC236}">
                <a16:creationId xmlns:a16="http://schemas.microsoft.com/office/drawing/2014/main" id="{B9859194-A9C2-40BB-95E3-A927D75C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model; [2] NVIDIA CUDA Best Practices</a:t>
            </a:r>
          </a:p>
        </p:txBody>
      </p:sp>
      <p:sp>
        <p:nvSpPr>
          <p:cNvPr id="16" name="8 / 40">
            <a:extLst xmlns:a="http://schemas.openxmlformats.org/drawingml/2006/main">
              <a:ext uri="{FF2B5EF4-FFF2-40B4-BE49-F238E27FC236}">
                <a16:creationId xmlns:a16="http://schemas.microsoft.com/office/drawing/2014/main" id="{7B6B589F-A76D-4C6E-9B6C-C90D164C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8 / 40</a:t>
            </a:r>
          </a:p>
        </p:txBody>
      </p:sp>
    </p:spTree>
    <p:extLst>
      <p:ext uri="{BB962C8B-B14F-4D97-AF65-F5344CB8AC3E}">
        <p14:creationId xmlns:p14="http://schemas.microsoft.com/office/powerpoint/2010/main" val="5678618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ask 1(b) • Memory access and launch shape">
            <a:extLst xmlns:a="http://schemas.openxmlformats.org/drawingml/2006/main">
              <a:ext uri="{FF2B5EF4-FFF2-40B4-BE49-F238E27FC236}">
                <a16:creationId xmlns:a16="http://schemas.microsoft.com/office/drawing/2014/main" id="{58C8B1AB-F82C-4240-A029-199A6741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 • Memory access and launch shape</a:t>
            </a:r>
          </a:p>
        </p:txBody>
      </p:sp>
      <p:sp>
        <p:nvSpPr>
          <p:cNvPr id="2" name="Launch shape and memory access">
            <a:extLst xmlns:a="http://schemas.openxmlformats.org/drawingml/2006/main">
              <a:ext uri="{FF2B5EF4-FFF2-40B4-BE49-F238E27FC236}">
                <a16:creationId xmlns:a16="http://schemas.microsoft.com/office/drawing/2014/main" id="{4358191F-6E14-413B-84B0-BB32C768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Launch shape and memory access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F4356-6B38-41CC-8914-CD5D33E5208F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Choice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Performance implication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 × 16 block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two 16-wide rows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Reasonable 2D starting point; row edges/alignment matter.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32 × 8 block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one 32-wide row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May improve row-oriented access; no universal winner.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Output gathering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Adjacent x threads write adjacent RGB pixels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 write locality; per-channel byte operations still require efficient transactions.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Rotated input reads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Angle changes the source addresses visited by a warp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Irregular gathers can reduce effective read bandwidth/cache reuse.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residency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Registers, shared memory and block/thread limits constrain active warps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Helps hide latency; maximum occupancy is not automatically fastest.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ompute grid for each block shape. Profile actual tra">
            <a:extLst xmlns:a="http://schemas.openxmlformats.org/drawingml/2006/main">
              <a:ext uri="{FF2B5EF4-FFF2-40B4-BE49-F238E27FC236}">
                <a16:creationId xmlns:a16="http://schemas.microsoft.com/office/drawing/2014/main" id="{1BF729CE-5DF8-4928-8558-F20B466D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Recompute grid for each block shape. Profile actual transactions, latency and registers before selecting a shape.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6ACB7-4A32-4D06-976D-AEE6325C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] NVIDIA CUDA programming model; [2] NVIDIA ">
            <a:extLst xmlns:a="http://schemas.openxmlformats.org/drawingml/2006/main">
              <a:ext uri="{FF2B5EF4-FFF2-40B4-BE49-F238E27FC236}">
                <a16:creationId xmlns:a16="http://schemas.microsoft.com/office/drawing/2014/main" id="{D4B3EF87-4EB8-4F06-A5B8-2D35C237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model; [2] NVIDIA CUDA Best Practices</a:t>
            </a:r>
          </a:p>
        </p:txBody>
      </p:sp>
      <p:sp>
        <p:nvSpPr>
          <p:cNvPr id="7" name="9 / 40">
            <a:extLst xmlns:a="http://schemas.openxmlformats.org/drawingml/2006/main">
              <a:ext uri="{FF2B5EF4-FFF2-40B4-BE49-F238E27FC236}">
                <a16:creationId xmlns:a16="http://schemas.microsoft.com/office/drawing/2014/main" id="{955EEAE1-AC83-4ED5-A57C-BE05F4B8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9 / 40</a:t>
            </a:r>
          </a:p>
        </p:txBody>
      </p:sp>
    </p:spTree>
    <p:extLst>
      <p:ext uri="{BB962C8B-B14F-4D97-AF65-F5344CB8AC3E}">
        <p14:creationId xmlns:p14="http://schemas.microsoft.com/office/powerpoint/2010/main" val="7313758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ask 1(b)">
            <a:extLst xmlns:a="http://schemas.openxmlformats.org/drawingml/2006/main">
              <a:ext uri="{FF2B5EF4-FFF2-40B4-BE49-F238E27FC236}">
                <a16:creationId xmlns:a16="http://schemas.microsoft.com/office/drawing/2014/main" id="{0614739F-F8BD-4760-89FF-7BF73A44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Expected speedup and its limits">
            <a:extLst xmlns:a="http://schemas.openxmlformats.org/drawingml/2006/main">
              <a:ext uri="{FF2B5EF4-FFF2-40B4-BE49-F238E27FC236}">
                <a16:creationId xmlns:a16="http://schemas.microsoft.com/office/drawing/2014/main" id="{DE887C49-98EE-4ABE-BD3B-68A0C7AB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Expected speedup and its limits</a:t>
            </a:r>
          </a:p>
        </p:txBody>
      </p:sp>
      <p:sp>
        <p:nvSpPr>
          <p:cNvPr id="3" name="Baseline: single CPU thread, same rotation and sampling">
            <a:extLst xmlns:a="http://schemas.openxmlformats.org/drawingml/2006/main">
              <a:ext uri="{FF2B5EF4-FFF2-40B4-BE49-F238E27FC236}">
                <a16:creationId xmlns:a16="http://schemas.microsoft.com/office/drawing/2014/main" id="{98E6D6B2-A112-4F6E-A8E6-CF0CFD43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Baseline: single CPU thread, same rotation and sampling</a:t>
            </a:r>
          </a:p>
        </p:txBody>
      </p:sp>
      <p:sp>
        <p:nvSpPr>
          <p:cNvPr id="4" name="Also compare a multithreaded CPU; identical output and ">
            <a:extLst xmlns:a="http://schemas.openxmlformats.org/drawingml/2006/main">
              <a:ext uri="{FF2B5EF4-FFF2-40B4-BE49-F238E27FC236}">
                <a16:creationId xmlns:a16="http://schemas.microsoft.com/office/drawing/2014/main" id="{6DDFE3E8-0A0B-4F42-82DE-9397363E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Also compare a multithreaded CPU; identical output and timing boundaries.</a:t>
            </a:r>
          </a:p>
        </p:txBody>
      </p:sp>
      <p:sp>
        <p:nvSpPr>
          <p:cNvPr id="5" name="Speedup = TCPU / TGPU,total">
            <a:extLst xmlns:a="http://schemas.openxmlformats.org/drawingml/2006/main">
              <a:ext uri="{FF2B5EF4-FFF2-40B4-BE49-F238E27FC236}">
                <a16:creationId xmlns:a16="http://schemas.microsoft.com/office/drawing/2014/main" id="{94073A62-8A84-473B-8499-A21580D5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439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= TCPU / TGPU,total</a:t>
            </a:r>
          </a:p>
        </p:txBody>
      </p:sp>
      <p:sp>
        <p:nvSpPr>
          <p:cNvPr id="6" name="TGPU,total = allocation/setup + H2D + kernel + D2H">
            <a:extLst xmlns:a="http://schemas.openxmlformats.org/drawingml/2006/main">
              <a:ext uri="{FF2B5EF4-FFF2-40B4-BE49-F238E27FC236}">
                <a16:creationId xmlns:a16="http://schemas.microsoft.com/office/drawing/2014/main" id="{E30CCD93-A2A0-44CB-B035-02B32EF1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TGPU,total = allocation/setup + H2D + kernel + D2H</a:t>
            </a:r>
          </a:p>
        </p:txBody>
      </p:sp>
      <p:sp>
        <p:nvSpPr>
          <p:cNvPr id="7" name="Many GPU execution units and high device bandwidth favo">
            <a:extLst xmlns:a="http://schemas.openxmlformats.org/drawingml/2006/main">
              <a:ext uri="{FF2B5EF4-FFF2-40B4-BE49-F238E27FC236}">
                <a16:creationId xmlns:a16="http://schemas.microsoft.com/office/drawing/2014/main" id="{35A1AFD2-D2B3-4E08-ABF0-B7961FB2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21970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Many GPU execution units and high device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bandwidth favor parallel throughput. Large or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images amortize setup; gathered reads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limit bandwidth.</a:t>
            </a:r>
          </a:p>
        </p:txBody>
      </p:sp>
      <p:sp>
        <p:nvSpPr>
          <p:cNvPr id="8" name="Amdahl: S = 1 / (s + (1−s)/a). s is the unchanged seria">
            <a:extLst xmlns:a="http://schemas.openxmlformats.org/drawingml/2006/main">
              <a:ext uri="{FF2B5EF4-FFF2-40B4-BE49-F238E27FC236}">
                <a16:creationId xmlns:a16="http://schemas.microsoft.com/office/drawing/2014/main" id="{B7D46366-AEC7-49FC-ADEC-C7F62913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516255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Amdahl: S = 1 / (s + (1−s)/a). s is the unchanged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share; a accelerates the remainder. s = 0.20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gives a 5× ideal ceiling before added transfers.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Theoretical, not measured.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25058-357C-4837-ABF5-8039BAA7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0" name="Expect gains for large or resident workloads; measure t">
            <a:extLst xmlns:a="http://schemas.openxmlformats.org/drawingml/2006/main">
              <a:ext uri="{FF2B5EF4-FFF2-40B4-BE49-F238E27FC236}">
                <a16:creationId xmlns:a16="http://schemas.microsoft.com/office/drawing/2014/main" id="{54B2497F-055F-4859-A98F-7764E7CD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 gains for large or resident workloads; measure the whole pipeline.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8C6DB-0D2D-42A9-BB5E-B1A4D0E5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Sources: [2] NVIDIA CUDA Best Practices">
            <a:extLst xmlns:a="http://schemas.openxmlformats.org/drawingml/2006/main">
              <a:ext uri="{FF2B5EF4-FFF2-40B4-BE49-F238E27FC236}">
                <a16:creationId xmlns:a16="http://schemas.microsoft.com/office/drawing/2014/main" id="{B932E91E-5B24-4E2A-9A24-51721561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</a:t>
            </a:r>
          </a:p>
        </p:txBody>
      </p:sp>
      <p:sp>
        <p:nvSpPr>
          <p:cNvPr id="13" name="10 / 40">
            <a:extLst xmlns:a="http://schemas.openxmlformats.org/drawingml/2006/main">
              <a:ext uri="{FF2B5EF4-FFF2-40B4-BE49-F238E27FC236}">
                <a16:creationId xmlns:a16="http://schemas.microsoft.com/office/drawing/2014/main" id="{8DBF7DA1-581B-4E98-ABA2-5F7FD5FC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10 / 40</a:t>
            </a:r>
          </a:p>
        </p:txBody>
      </p:sp>
    </p:spTree>
    <p:extLst>
      <p:ext uri="{BB962C8B-B14F-4D97-AF65-F5344CB8AC3E}">
        <p14:creationId xmlns:p14="http://schemas.microsoft.com/office/powerpoint/2010/main" val="381076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85FD3F-7D54-4B0F-A66F-1113C0E0702B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287000" y="36195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D7803D-02BA-4FFE-913E-346B650518C5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924925" y="36195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8FD4F-6773-4205-BCFA-076B0C493C09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953625" y="24193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3A486-10DE-40B9-8891-AAF0228B5EA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591550" y="24193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7" name="Task 1(b) • Concurrency and speedup">
            <a:extLst xmlns:a="http://schemas.openxmlformats.org/drawingml/2006/main">
              <a:ext uri="{FF2B5EF4-FFF2-40B4-BE49-F238E27FC236}">
                <a16:creationId xmlns:a16="http://schemas.microsoft.com/office/drawing/2014/main" id="{FCFF1CEC-A558-4B3B-80FE-09D655C7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 • Concurrency and speedup</a:t>
            </a:r>
          </a:p>
        </p:txBody>
      </p:sp>
      <p:sp>
        <p:nvSpPr>
          <p:cNvPr id="2" name="Streams, overlap and completed output">
            <a:extLst xmlns:a="http://schemas.openxmlformats.org/drawingml/2006/main">
              <a:ext uri="{FF2B5EF4-FFF2-40B4-BE49-F238E27FC236}">
                <a16:creationId xmlns:a16="http://schemas.microsoft.com/office/drawing/2014/main" id="{016DDE72-DD9F-4B77-AD9B-D8A55964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Streams, overlap and completed output</a:t>
            </a:r>
          </a:p>
        </p:txBody>
      </p:sp>
      <p:sp>
        <p:nvSpPr>
          <p:cNvPr id="3" name="Ordered work in one stream">
            <a:extLst xmlns:a="http://schemas.openxmlformats.org/drawingml/2006/main">
              <a:ext uri="{FF2B5EF4-FFF2-40B4-BE49-F238E27FC236}">
                <a16:creationId xmlns:a16="http://schemas.microsoft.com/office/drawing/2014/main" id="{5D780BE7-95EC-4E04-BDA3-C28EE3B3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1912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Ordered work in one stream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CCF97-CFCC-4E66-A6C0-F2C16633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6419850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cudaMemcpyAsync(d_in, h_in, bytes,&#10;  cudaMemcpyHostToDe">
            <a:extLst xmlns:a="http://schemas.openxmlformats.org/drawingml/2006/main">
              <a:ext uri="{FF2B5EF4-FFF2-40B4-BE49-F238E27FC236}">
                <a16:creationId xmlns:a16="http://schemas.microsoft.com/office/drawing/2014/main" id="{2D8E6A1B-556F-4003-9A76-90165DC0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6191250" cy="2015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cudaMemcpyAsync(d_in, h_in, bytes,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cudaMemcpyHostToDevice, stream);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 block, 0, stream&gt;&gt;&gt;(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d_in, d_out, W, H, c, s);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cudaMemcpyAsync(h_out, d_out, bytes,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cudaMemcpyDeviceToHost, stream);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// After enqueueing all batch images: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cudaStreamSynchronize(stream);</a:t>
            </a:r>
          </a:p>
        </p:txBody>
      </p:sp>
      <p:sp>
        <p:nvSpPr>
          <p:cNvPr id="6" name="Batch: enqueue all streams before waiting. Check every ">
            <a:extLst xmlns:a="http://schemas.openxmlformats.org/drawingml/2006/main">
              <a:ext uri="{FF2B5EF4-FFF2-40B4-BE49-F238E27FC236}">
                <a16:creationId xmlns:a16="http://schemas.microsoft.com/office/drawing/2014/main" id="{B1B03C08-787A-4700-91BB-C970D703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619125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Batch: enqueue all streams before waiting. Check every API,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launch and completion result; submission is not completion.</a:t>
            </a:r>
          </a:p>
        </p:txBody>
      </p:sp>
      <p:sp>
        <p:nvSpPr>
          <p:cNvPr id="7" name="Independent images / streams">
            <a:extLst xmlns:a="http://schemas.openxmlformats.org/drawingml/2006/main">
              <a:ext uri="{FF2B5EF4-FFF2-40B4-BE49-F238E27FC236}">
                <a16:creationId xmlns:a16="http://schemas.microsoft.com/office/drawing/2014/main" id="{E750109E-328D-44ED-BFD0-D376D258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04950"/>
            <a:ext cx="405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Independent images / streams</a:t>
            </a:r>
          </a:p>
        </p:txBody>
      </p:sp>
      <p:sp>
        <p:nvSpPr>
          <p:cNvPr id="8" name="A">
            <a:extLst xmlns:a="http://schemas.openxmlformats.org/drawingml/2006/main">
              <a:ext uri="{FF2B5EF4-FFF2-40B4-BE49-F238E27FC236}">
                <a16:creationId xmlns:a16="http://schemas.microsoft.com/office/drawing/2014/main" id="{09E70389-6E97-4208-A766-6BBD3CCB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95525"/>
            <a:ext cx="32385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34CDE-1E9B-4120-A6AF-1572E060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971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2CEC7-94AD-45E4-B2BF-42CEAAC3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95500"/>
            <a:ext cx="1028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672896-5B11-4ABA-B220-48C75D2E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971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14" name="B">
            <a:extLst xmlns:a="http://schemas.openxmlformats.org/drawingml/2006/main">
              <a:ext uri="{FF2B5EF4-FFF2-40B4-BE49-F238E27FC236}">
                <a16:creationId xmlns:a16="http://schemas.microsoft.com/office/drawing/2014/main" id="{176C7136-920A-470B-9769-D1AAB3F7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95675"/>
            <a:ext cx="32385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08B3A-F3E8-4377-86D2-9D176E16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95650"/>
            <a:ext cx="971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216AD-24C1-4D41-850B-28220DCD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95650"/>
            <a:ext cx="1028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7237D-86EC-4DA6-A72D-C94D5993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295650"/>
            <a:ext cx="971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20" name="Possible overlap depends on supporting hardware and ava">
            <a:extLst xmlns:a="http://schemas.openxmlformats.org/drawingml/2006/main">
              <a:ext uri="{FF2B5EF4-FFF2-40B4-BE49-F238E27FC236}">
                <a16:creationId xmlns:a16="http://schemas.microsoft.com/office/drawing/2014/main" id="{E06E6EE8-7C46-4C2F-9A93-23F030F9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95775"/>
            <a:ext cx="405765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Possible overlap depends on supporting</a:t>
            </a:r>
          </a:p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hardware and available resources.</a:t>
            </a:r>
          </a:p>
        </p:txBody>
      </p:sp>
      <p:sp>
        <p:nvSpPr>
          <p:cNvPr id="21" name="Separate pinned/device buffers and non-default streams;">
            <a:extLst xmlns:a="http://schemas.openxmlformats.org/drawingml/2006/main">
              <a:ext uri="{FF2B5EF4-FFF2-40B4-BE49-F238E27FC236}">
                <a16:creationId xmlns:a16="http://schemas.microsoft.com/office/drawing/2014/main" id="{A4E1DC3F-9908-4CB0-B73B-7197DCF9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9728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pinned/device buffers and non-default streams; synchronize before reuse. More buffers cost memory.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Keep images on the GPU across operations to avoid repeated transfers.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FA7BF9-1535-4E8E-9A6A-EEBC0ABB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23" name="Overlap can shorten the batch critical path; it changes">
            <a:extLst xmlns:a="http://schemas.openxmlformats.org/drawingml/2006/main">
              <a:ext uri="{FF2B5EF4-FFF2-40B4-BE49-F238E27FC236}">
                <a16:creationId xmlns:a16="http://schemas.microsoft.com/office/drawing/2014/main" id="{5FFC6194-ED6D-46A7-9085-26EB6CF5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 can shorten the batch critical path; it changes scheduling, not total work.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C57D4D-C3E1-405B-AE66-AAA8C95B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5" name="Sources: [2] NVIDIA CUDA Best Practices">
            <a:extLst xmlns:a="http://schemas.openxmlformats.org/drawingml/2006/main">
              <a:ext uri="{FF2B5EF4-FFF2-40B4-BE49-F238E27FC236}">
                <a16:creationId xmlns:a16="http://schemas.microsoft.com/office/drawing/2014/main" id="{492E3B76-BC76-4F7F-867A-55EA77B0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</a:t>
            </a:r>
          </a:p>
        </p:txBody>
      </p:sp>
      <p:sp>
        <p:nvSpPr>
          <p:cNvPr id="26" name="11 / 40">
            <a:extLst xmlns:a="http://schemas.openxmlformats.org/drawingml/2006/main">
              <a:ext uri="{FF2B5EF4-FFF2-40B4-BE49-F238E27FC236}">
                <a16:creationId xmlns:a16="http://schemas.microsoft.com/office/drawing/2014/main" id="{CA781A60-5AAB-4FC7-99C5-52F0D0BA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11 / 40</a:t>
            </a:r>
          </a:p>
        </p:txBody>
      </p:sp>
    </p:spTree>
    <p:extLst>
      <p:ext uri="{BB962C8B-B14F-4D97-AF65-F5344CB8AC3E}">
        <p14:creationId xmlns:p14="http://schemas.microsoft.com/office/powerpoint/2010/main" val="20563780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FB3E8-8B57-4870-9BDD-374AAAC9FB51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086100" y="3743325"/>
            <a:ext cx="6191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B0D5E-0D90-445F-946F-6F18FD1CE68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72350" y="23431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30938-20FE-4CD0-A718-F3A1825B35D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57475" y="234315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3" name="Task 1(c)">
            <a:extLst xmlns:a="http://schemas.openxmlformats.org/drawingml/2006/main">
              <a:ext uri="{FF2B5EF4-FFF2-40B4-BE49-F238E27FC236}">
                <a16:creationId xmlns:a16="http://schemas.microsoft.com/office/drawing/2014/main" id="{B0111B37-4F2D-4AF5-AD13-1E9AB4BF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1(c)</a:t>
            </a:r>
          </a:p>
        </p:txBody>
      </p:sp>
      <p:sp>
        <p:nvSpPr>
          <p:cNvPr id="2" name="GPUDirect Storage and rotation">
            <a:extLst xmlns:a="http://schemas.openxmlformats.org/drawingml/2006/main">
              <a:ext uri="{FF2B5EF4-FFF2-40B4-BE49-F238E27FC236}">
                <a16:creationId xmlns:a16="http://schemas.microsoft.com/office/drawing/2014/main" id="{F160B2E9-DD0D-43F6-BAAA-C177AA16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GPUDirect Storage and rotation</a:t>
            </a:r>
          </a:p>
        </p:txBody>
      </p:sp>
      <p:sp>
        <p:nvSpPr>
          <p:cNvPr id="3" name="Conventional storage path">
            <a:extLst xmlns:a="http://schemas.openxmlformats.org/drawingml/2006/main">
              <a:ext uri="{FF2B5EF4-FFF2-40B4-BE49-F238E27FC236}">
                <a16:creationId xmlns:a16="http://schemas.microsoft.com/office/drawing/2014/main" id="{10E41FD2-7EC1-46D4-9769-3FC192AA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storage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CED2A-07AB-46DF-B453-496AD0A7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2047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8DE31-83CE-4CC2-AD7B-3D594DBD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71675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B84D4-E39B-44DE-BAEC-3A648CF1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71675"/>
            <a:ext cx="2305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9" name="storage read">
            <a:extLst xmlns:a="http://schemas.openxmlformats.org/drawingml/2006/main">
              <a:ext uri="{FF2B5EF4-FFF2-40B4-BE49-F238E27FC236}">
                <a16:creationId xmlns:a16="http://schemas.microsoft.com/office/drawing/2014/main" id="{5C2E27E6-22C5-46BA-8C6D-25EC6E7F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57400"/>
            <a:ext cx="15240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 read</a:t>
            </a:r>
          </a:p>
        </p:txBody>
      </p:sp>
      <p:sp>
        <p:nvSpPr>
          <p:cNvPr id="10" name="H2D / PCIe">
            <a:extLst xmlns:a="http://schemas.openxmlformats.org/drawingml/2006/main">
              <a:ext uri="{FF2B5EF4-FFF2-40B4-BE49-F238E27FC236}">
                <a16:creationId xmlns:a16="http://schemas.microsoft.com/office/drawing/2014/main" id="{F723D590-35A8-401A-A422-6122541E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57400"/>
            <a:ext cx="1628775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H2D / PCIe</a:t>
            </a:r>
          </a:p>
        </p:txBody>
      </p:sp>
      <p:sp>
        <p:nvSpPr>
          <p:cNvPr id="11" name="GDS direct path (supported configuration)">
            <a:extLst xmlns:a="http://schemas.openxmlformats.org/drawingml/2006/main">
              <a:ext uri="{FF2B5EF4-FFF2-40B4-BE49-F238E27FC236}">
                <a16:creationId xmlns:a16="http://schemas.microsoft.com/office/drawing/2014/main" id="{B77D5ECE-A8FB-4133-B17D-793DD41F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6200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GDS direct path (supported configuration)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68E5C-087F-4715-B6E3-C0DC0251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Storage-side DMA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NVMe / NIC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8D637-A894-4D97-9402-4D7DE550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33750"/>
            <a:ext cx="2305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15" name="PCIe data path bypasses host staging">
            <a:extLst xmlns:a="http://schemas.openxmlformats.org/drawingml/2006/main">
              <a:ext uri="{FF2B5EF4-FFF2-40B4-BE49-F238E27FC236}">
                <a16:creationId xmlns:a16="http://schemas.microsoft.com/office/drawing/2014/main" id="{7F9D9BA1-39A1-48BF-AA8B-6BF25591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390900"/>
            <a:ext cx="497205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data path bypasses host staging</a:t>
            </a:r>
          </a:p>
        </p:txBody>
      </p:sp>
      <p:sp>
        <p:nvSpPr>
          <p:cNvPr id="16" name="CPU issues cuFile I/O. Fallback may stage through RAM; ">
            <a:extLst xmlns:a="http://schemas.openxmlformats.org/drawingml/2006/main">
              <a:ext uri="{FF2B5EF4-FFF2-40B4-BE49-F238E27FC236}">
                <a16:creationId xmlns:a16="http://schemas.microsoft.com/office/drawing/2014/main" id="{A634C1A1-E59B-44E9-B893-4A6AC742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9728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issues cuFile I/O. Fallback may stage through RAM; GDS does not decode images or accelerate kernel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arithmetic.</a:t>
            </a:r>
          </a:p>
        </p:txBody>
      </p:sp>
      <p:sp>
        <p:nvSpPr>
          <p:cNvPr id="17" name="Use conventional copies for CPU-decoded / already-in-RA">
            <a:extLst xmlns:a="http://schemas.openxmlformats.org/drawingml/2006/main">
              <a:ext uri="{FF2B5EF4-FFF2-40B4-BE49-F238E27FC236}">
                <a16:creationId xmlns:a16="http://schemas.microsoft.com/office/drawing/2014/main" id="{3F0234BB-D127-4D7E-BEFD-085DA84F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conventional copies for CPU-decoded / already-in-RAM pixels. Consider GDS for storage-bound GPU-ready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batches only with supported GPU/filesystem/driver/topology and lower completed batch time.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125BD-5AD5-43BF-8A6A-DB6C0D4B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9" name="GDS can reduce storage staging; it does not accelerate ">
            <a:extLst xmlns:a="http://schemas.openxmlformats.org/drawingml/2006/main">
              <a:ext uri="{FF2B5EF4-FFF2-40B4-BE49-F238E27FC236}">
                <a16:creationId xmlns:a16="http://schemas.microsoft.com/office/drawing/2014/main" id="{979F2612-46A2-4F6C-82C9-10B597D6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can reduce storage staging; it does not accelerate rotation arithmetic.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FB7C77-8392-4DDB-B6F3-60669733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1" name="Sources: [3] NVIDIA GDS overview; [4] NVIDIA GDS design">
            <a:extLst xmlns:a="http://schemas.openxmlformats.org/drawingml/2006/main">
              <a:ext uri="{FF2B5EF4-FFF2-40B4-BE49-F238E27FC236}">
                <a16:creationId xmlns:a16="http://schemas.microsoft.com/office/drawing/2014/main" id="{85B4E22B-B31D-42A1-8A10-DDF223B8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NVIDIA GDS overview; [4] NVIDIA GDS design</a:t>
            </a:r>
          </a:p>
        </p:txBody>
      </p:sp>
      <p:sp>
        <p:nvSpPr>
          <p:cNvPr id="22" name="12 / 40">
            <a:extLst xmlns:a="http://schemas.openxmlformats.org/drawingml/2006/main">
              <a:ext uri="{FF2B5EF4-FFF2-40B4-BE49-F238E27FC236}">
                <a16:creationId xmlns:a16="http://schemas.microsoft.com/office/drawing/2014/main" id="{F73D6221-8680-42C1-B293-256913A5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12 / 40</a:t>
            </a:r>
          </a:p>
        </p:txBody>
      </p:sp>
    </p:spTree>
    <p:extLst>
      <p:ext uri="{BB962C8B-B14F-4D97-AF65-F5344CB8AC3E}">
        <p14:creationId xmlns:p14="http://schemas.microsoft.com/office/powerpoint/2010/main" val="7139982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ask 2 • HPC and AI">
            <a:extLst xmlns:a="http://schemas.openxmlformats.org/drawingml/2006/main">
              <a:ext uri="{FF2B5EF4-FFF2-40B4-BE49-F238E27FC236}">
                <a16:creationId xmlns:a16="http://schemas.microsoft.com/office/drawing/2014/main" id="{4223F789-B429-4AC1-BC50-4CDAF0E2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 • HPC and AI</a:t>
            </a:r>
          </a:p>
        </p:txBody>
      </p:sp>
      <p:sp>
        <p:nvSpPr>
          <p:cNvPr id="2" name="Parallel training across a compute cluster">
            <a:extLst xmlns:a="http://schemas.openxmlformats.org/drawingml/2006/main">
              <a:ext uri="{FF2B5EF4-FFF2-40B4-BE49-F238E27FC236}">
                <a16:creationId xmlns:a16="http://schemas.microsoft.com/office/drawing/2014/main" id="{50A0D344-E7BB-4766-A879-A238DCEB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 training across a compute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69DA7-318D-4B80-A909-551920BE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0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EE37D-256C-4EB0-AF07-0052D999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1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4A377-2DAD-4211-B025-F049751C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2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240DC-FB5C-4E3A-B872-3BFF276F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Gradient all-reduce: average + share → consistent update on every GPU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5D814-E419-47A0-A33E-ECFD9C8EBAE7}"/>
              </a:ext>
            </a:extLst>
          </p:cNvPr>
          <p:cNvCxnSpPr/>
          <p:nvPr/>
        </p:nvCxnSpPr>
        <p:spPr>
          <a:xfrm xmlns:a="http://schemas.openxmlformats.org/drawingml/2006/main">
            <a:off x="2095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F7B98-1551-47F3-9BE4-B0365909AA51}"/>
              </a:ext>
            </a:extLst>
          </p:cNvPr>
          <p:cNvCxnSpPr/>
          <p:nvPr/>
        </p:nvCxnSpPr>
        <p:spPr>
          <a:xfrm xmlns:a="http://schemas.openxmlformats.org/drawingml/2006/main">
            <a:off x="60960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BC93D-7E65-44D2-BB7D-FE1C022173EB}"/>
              </a:ext>
            </a:extLst>
          </p:cNvPr>
          <p:cNvCxnSpPr/>
          <p:nvPr/>
        </p:nvCxnSpPr>
        <p:spPr>
          <a:xfrm xmlns:a="http://schemas.openxmlformats.org/drawingml/2006/main">
            <a:off x="10096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sp>
        <p:nvSpPr>
          <p:cNvPr id="10" name="Interconnect:&#10;latency and bandwidth">
            <a:extLst xmlns:a="http://schemas.openxmlformats.org/drawingml/2006/main">
              <a:ext uri="{FF2B5EF4-FFF2-40B4-BE49-F238E27FC236}">
                <a16:creationId xmlns:a16="http://schemas.microsoft.com/office/drawing/2014/main" id="{3F19CFAC-9975-4C54-8BC1-443E447A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384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Interconnect: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latency and bandwidth</a:t>
            </a:r>
          </a:p>
        </p:txBody>
      </p:sp>
      <p:sp>
        <p:nvSpPr>
          <p:cNvPr id="11" name="Gradient synchronization&#10;before each update">
            <a:extLst xmlns:a="http://schemas.openxmlformats.org/drawingml/2006/main">
              <a:ext uri="{FF2B5EF4-FFF2-40B4-BE49-F238E27FC236}">
                <a16:creationId xmlns:a16="http://schemas.microsoft.com/office/drawing/2014/main" id="{EED9ED26-26E7-423C-B847-E3AC26B8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384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Gradient synchronization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before each update</a:t>
            </a:r>
          </a:p>
        </p:txBody>
      </p:sp>
      <p:sp>
        <p:nvSpPr>
          <p:cNvPr id="12" name="HPC combines processors, memory, networks and storage. ">
            <a:extLst xmlns:a="http://schemas.openxmlformats.org/drawingml/2006/main">
              <a:ext uri="{FF2B5EF4-FFF2-40B4-BE49-F238E27FC236}">
                <a16:creationId xmlns:a16="http://schemas.microsoft.com/office/drawing/2014/main" id="{18E37E6E-96E5-4492-AD9D-9E2A73E3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197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HPC combines processors, memory, networks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storage. Tensor/pipeline parallelism can also split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model.</a:t>
            </a:r>
          </a:p>
        </p:txBody>
      </p:sp>
      <p:sp>
        <p:nvSpPr>
          <p:cNvPr id="13" name="More GPUs enable larger work; communication, serial wor">
            <a:extLst xmlns:a="http://schemas.openxmlformats.org/drawingml/2006/main">
              <a:ext uri="{FF2B5EF4-FFF2-40B4-BE49-F238E27FC236}">
                <a16:creationId xmlns:a16="http://schemas.microsoft.com/office/drawing/2014/main" id="{EFDEB964-2680-479A-BE12-EF41074D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51625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GPUs enable larger work; communication,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work and imbalance limit speedup. Evaluate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useful output against resource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1F3CF-8746-4E58-AFD5-5F1836F6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Scaling adds capacity and communication: ethical costs ">
            <a:extLst xmlns:a="http://schemas.openxmlformats.org/drawingml/2006/main">
              <a:ext uri="{FF2B5EF4-FFF2-40B4-BE49-F238E27FC236}">
                <a16:creationId xmlns:a16="http://schemas.microsoft.com/office/drawing/2014/main" id="{5D3B8B9C-98E3-40AB-AB9B-5F8391EA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adds capacity and communication: ethical costs depend on useful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2D862-3D2D-43C3-BBB8-FDAC49A4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5] NVIDIA Megatron parallelism; [2] NVIDIA CU">
            <a:extLst xmlns:a="http://schemas.openxmlformats.org/drawingml/2006/main">
              <a:ext uri="{FF2B5EF4-FFF2-40B4-BE49-F238E27FC236}">
                <a16:creationId xmlns:a16="http://schemas.microsoft.com/office/drawing/2014/main" id="{C9B4AAEC-B5CE-482A-BC49-0DA14C0E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[5] NVIDIA Megatron parallelism; [2] NVIDIA CUDA Best Practices</a:t>
            </a:r>
          </a:p>
        </p:txBody>
      </p:sp>
      <p:sp>
        <p:nvSpPr>
          <p:cNvPr id="18" name="13 / 40">
            <a:extLst xmlns:a="http://schemas.openxmlformats.org/drawingml/2006/main">
              <a:ext uri="{FF2B5EF4-FFF2-40B4-BE49-F238E27FC236}">
                <a16:creationId xmlns:a16="http://schemas.microsoft.com/office/drawing/2014/main" id="{3DEEB43F-1112-4C95-AA74-FF8176AD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13 / 40</a:t>
            </a:r>
          </a:p>
        </p:txBody>
      </p:sp>
    </p:spTree>
    <p:extLst>
      <p:ext uri="{BB962C8B-B14F-4D97-AF65-F5344CB8AC3E}">
        <p14:creationId xmlns:p14="http://schemas.microsoft.com/office/powerpoint/2010/main" val="7443110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a)">
            <a:extLst xmlns:a="http://schemas.openxmlformats.org/drawingml/2006/main">
              <a:ext uri="{FF2B5EF4-FFF2-40B4-BE49-F238E27FC236}">
                <a16:creationId xmlns:a16="http://schemas.microsoft.com/office/drawing/2014/main" id="{D68D5CCA-1899-4140-A5F8-6B4DAF49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</a:t>
            </a:r>
          </a:p>
        </p:txBody>
      </p:sp>
      <p:sp>
        <p:nvSpPr>
          <p:cNvPr id="2" name="Electricity demand and environmental costs">
            <a:extLst xmlns:a="http://schemas.openxmlformats.org/drawingml/2006/main">
              <a:ext uri="{FF2B5EF4-FFF2-40B4-BE49-F238E27FC236}">
                <a16:creationId xmlns:a16="http://schemas.microsoft.com/office/drawing/2014/main" id="{3446748E-37E2-4DFA-9547-6489CB6D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demand and environmental costs</a:t>
            </a:r>
          </a:p>
        </p:txBody>
      </p:sp>
      <p:sp>
        <p:nvSpPr>
          <p:cNvPr id="3" name="Global data-centre electricity (TWh/year)">
            <a:extLst xmlns:a="http://schemas.openxmlformats.org/drawingml/2006/main">
              <a:ext uri="{FF2B5EF4-FFF2-40B4-BE49-F238E27FC236}">
                <a16:creationId xmlns:a16="http://schemas.microsoft.com/office/drawing/2014/main" id="{5D435790-6745-4705-A582-545C7072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data-centre electricity (TWh/year)</a:t>
            </a:r>
          </a:p>
        </p:txBody>
      </p:sp>
      <p:sp>
        <p:nvSpPr>
          <p:cNvPr id="4" name="Electricity growth during 2025">
            <a:extLst xmlns:a="http://schemas.openxmlformats.org/drawingml/2006/main">
              <a:ext uri="{FF2B5EF4-FFF2-40B4-BE49-F238E27FC236}">
                <a16:creationId xmlns:a16="http://schemas.microsoft.com/office/drawing/2014/main" id="{6D8F0EE2-25B7-4303-AA0E-B81F64F1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growth during 2025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A3EB605-D67E-42BA-A37D-9C03310CD7F2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f8eb3812934fc9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796AC04B-0B23-4B58-BBAC-C72745389BB6}"/>
              </a:ext>
            </a:extLst>
          </p:cNvPr>
          <p:cNvGraphicFramePr/>
          <p:nvPr/>
        </p:nvGraphicFramePr>
        <p:xfrm>
          <a:off xmlns:a="http://schemas.openxmlformats.org/drawingml/2006/main" x="6324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1a26892e5a4ab9"/>
          </a:graphicData>
        </a:graphic>
      </p:graphicFrame>
      <p:sp>
        <p:nvSpPr>
          <p:cNvPr id="7" name="IEA 2026: ≈96% increase to 2030. These cover the whole ">
            <a:extLst xmlns:a="http://schemas.openxmlformats.org/drawingml/2006/main">
              <a:ext uri="{FF2B5EF4-FFF2-40B4-BE49-F238E27FC236}">
                <a16:creationId xmlns:a16="http://schemas.microsoft.com/office/drawing/2014/main" id="{0C3D33E3-6304-4CF5-98FA-7E63B13B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2026: ≈96% increase to 2030. These cover the whole sector, not AI training alone; growth categories overlap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cannot be added.</a:t>
            </a:r>
          </a:p>
        </p:txBody>
      </p:sp>
      <p:sp>
        <p:nvSpPr>
          <p:cNvPr id="8" name="Research comparison: Green AI [10] emphasizes efficienc">
            <a:extLst xmlns:a="http://schemas.openxmlformats.org/drawingml/2006/main">
              <a:ext uri="{FF2B5EF4-FFF2-40B4-BE49-F238E27FC236}">
                <a16:creationId xmlns:a16="http://schemas.microsoft.com/office/drawing/2014/main" id="{4303785B-DFC3-40A4-82B2-082DAF14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comparison: Green AI [10] emphasizes efficiency; water research [9] adds site/time constraints. Track energy,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 and local cooling impacts.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F63F8-3536-4206-BEE0-D3A45972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6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1E73BDB0-301A-4733-8CF0-5228B4A4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IEA 2026: sector estimates and projection; [9] Li et al. 2025 revision: water impacts; [10] Schwartz et al. 2019: efficiency reporting</a:t>
            </a:r>
          </a:p>
        </p:txBody>
      </p:sp>
      <p:sp>
        <p:nvSpPr>
          <p:cNvPr id="11" name="14 / 40">
            <a:extLst xmlns:a="http://schemas.openxmlformats.org/drawingml/2006/main">
              <a:ext uri="{FF2B5EF4-FFF2-40B4-BE49-F238E27FC236}">
                <a16:creationId xmlns:a16="http://schemas.microsoft.com/office/drawing/2014/main" id="{91C1240B-1E47-43E4-B702-EE9F694B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14 / 40</a:t>
            </a:r>
          </a:p>
        </p:txBody>
      </p:sp>
    </p:spTree>
    <p:extLst>
      <p:ext uri="{BB962C8B-B14F-4D97-AF65-F5344CB8AC3E}">
        <p14:creationId xmlns:p14="http://schemas.microsoft.com/office/powerpoint/2010/main" val="195840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ask 2(a) • Illustrative energy calculation">
            <a:extLst xmlns:a="http://schemas.openxmlformats.org/drawingml/2006/main">
              <a:ext uri="{FF2B5EF4-FFF2-40B4-BE49-F238E27FC236}">
                <a16:creationId xmlns:a16="http://schemas.microsoft.com/office/drawing/2014/main" id="{E1EF97EA-60F7-4748-8912-45122678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 • Illustrative energy calculation</a:t>
            </a:r>
          </a:p>
        </p:txBody>
      </p:sp>
      <p:sp>
        <p:nvSpPr>
          <p:cNvPr id="2" name="A faster job can consume more energy">
            <a:extLst xmlns:a="http://schemas.openxmlformats.org/drawingml/2006/main">
              <a:ext uri="{FF2B5EF4-FFF2-40B4-BE49-F238E27FC236}">
                <a16:creationId xmlns:a16="http://schemas.microsoft.com/office/drawing/2014/main" id="{99EE8951-77E4-4237-BA5C-C3F0CE60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faster job can consume more energy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3DF01-40AF-4A53-9E86-F09DD1D0B2FC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Assumed configuration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runtime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Whole-job energy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Lower parallel scale; 1 kW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2.0 hours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 × 2.0 = 2.0 kWh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parallel scale; 2 kW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1.2 hours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 × 1.2 = 2.4 kWh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Illustrative constant power assumptions, not measuremen">
            <a:extLst xmlns:a="http://schemas.openxmlformats.org/drawingml/2006/main">
              <a:ext uri="{FF2B5EF4-FFF2-40B4-BE49-F238E27FC236}">
                <a16:creationId xmlns:a16="http://schemas.microsoft.com/office/drawing/2014/main" id="{A936EE64-4119-4BE7-A765-CD59B219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Illustrative constant power assumptions, not measurements. Same useful output is assumed; faster completion uses 20% more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energy here.</a:t>
            </a:r>
          </a:p>
        </p:txBody>
      </p:sp>
      <p:sp>
        <p:nvSpPr>
          <p:cNvPr id="5" name="E = ∫ P(t) dt     •     Carbon ≈ Σ Einterval × carbon i">
            <a:extLst xmlns:a="http://schemas.openxmlformats.org/drawingml/2006/main">
              <a:ext uri="{FF2B5EF4-FFF2-40B4-BE49-F238E27FC236}">
                <a16:creationId xmlns:a16="http://schemas.microsoft.com/office/drawing/2014/main" id="{C5DAA72D-5EF0-4DF6-A462-4575EAD3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 = ∫ P(t) dt • Carbon ≈ Σ Einterval × carbon intensity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3F4CF-82DE-409C-8656-68F1B1FE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7" name="Sources: [8] Strubell et al. 2019: cost and equity; [10">
            <a:extLst xmlns:a="http://schemas.openxmlformats.org/drawingml/2006/main">
              <a:ext uri="{FF2B5EF4-FFF2-40B4-BE49-F238E27FC236}">
                <a16:creationId xmlns:a16="http://schemas.microsoft.com/office/drawing/2014/main" id="{72197FA7-303F-40D9-8D7C-7C732088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[8] Strubell et al. 2019: cost and equity; [10] Schwartz et al. 2019: efficiency reporting; [2] NVIDIA CUDA Best Practices</a:t>
            </a:r>
          </a:p>
        </p:txBody>
      </p:sp>
      <p:sp>
        <p:nvSpPr>
          <p:cNvPr id="8" name="15 / 40">
            <a:extLst xmlns:a="http://schemas.openxmlformats.org/drawingml/2006/main">
              <a:ext uri="{FF2B5EF4-FFF2-40B4-BE49-F238E27FC236}">
                <a16:creationId xmlns:a16="http://schemas.microsoft.com/office/drawing/2014/main" id="{EDA579F4-480A-4F2D-ADCA-A097D1FC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15 / 40</a:t>
            </a:r>
          </a:p>
        </p:txBody>
      </p:sp>
    </p:spTree>
    <p:extLst>
      <p:ext uri="{BB962C8B-B14F-4D97-AF65-F5344CB8AC3E}">
        <p14:creationId xmlns:p14="http://schemas.microsoft.com/office/powerpoint/2010/main" val="8640947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 2(a) • Environmental accounting">
            <a:extLst xmlns:a="http://schemas.openxmlformats.org/drawingml/2006/main">
              <a:ext uri="{FF2B5EF4-FFF2-40B4-BE49-F238E27FC236}">
                <a16:creationId xmlns:a16="http://schemas.microsoft.com/office/drawing/2014/main" id="{6793F7F9-6CFD-4F1F-8A2D-D4571B13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 • Environmental accounting</a:t>
            </a:r>
          </a:p>
        </p:txBody>
      </p:sp>
      <p:sp>
        <p:nvSpPr>
          <p:cNvPr id="2" name="Environmental accounting and evidence limits">
            <a:extLst xmlns:a="http://schemas.openxmlformats.org/drawingml/2006/main">
              <a:ext uri="{FF2B5EF4-FFF2-40B4-BE49-F238E27FC236}">
                <a16:creationId xmlns:a16="http://schemas.microsoft.com/office/drawing/2014/main" id="{1AE64600-72D4-4828-94A4-E9ED5DA6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Environmental accounting and evidence limits</a:t>
            </a:r>
          </a:p>
        </p:txBody>
      </p:sp>
      <p:sp>
        <p:nvSpPr>
          <p:cNvPr id="3" name="Define what is counted">
            <a:extLst xmlns:a="http://schemas.openxmlformats.org/drawingml/2006/main">
              <a:ext uri="{FF2B5EF4-FFF2-40B4-BE49-F238E27FC236}">
                <a16:creationId xmlns:a16="http://schemas.microsoft.com/office/drawing/2014/main" id="{D21BA7F2-4328-46C9-8FC9-CF07898C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Define what is counted</a:t>
            </a:r>
          </a:p>
        </p:txBody>
      </p:sp>
      <p:sp>
        <p:nvSpPr>
          <p:cNvPr id="4" name="Energy (kWh) integrates power (kW) over hours. Operatio">
            <a:extLst xmlns:a="http://schemas.openxmlformats.org/drawingml/2006/main">
              <a:ext uri="{FF2B5EF4-FFF2-40B4-BE49-F238E27FC236}">
                <a16:creationId xmlns:a16="http://schemas.microsoft.com/office/drawing/2014/main" id="{E63EAC8E-2748-4941-A323-91C0B2A8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(kWh) integrates power (kW) over hours.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Operational emissions ≈ Σ energy in each interval ×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that interval’s carbon intensity (kg CO₂e/kWh).</a:t>
            </a:r>
          </a:p>
        </p:txBody>
      </p:sp>
      <p:sp>
        <p:nvSpPr>
          <p:cNvPr id="5" name="Report accelerators, host CPUs, storage/networking and ">
            <a:extLst xmlns:a="http://schemas.openxmlformats.org/drawingml/2006/main">
              <a:ext uri="{FF2B5EF4-FFF2-40B4-BE49-F238E27FC236}">
                <a16:creationId xmlns:a16="http://schemas.microsoft.com/office/drawing/2014/main" id="{D8B9FEE1-8CCC-4281-A4BD-1D92B19C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accelerators, host CPUs, storage/networking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allocated cooling overhead; include failed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repeated tuning when evaluating a project.</a:t>
            </a:r>
          </a:p>
        </p:txBody>
      </p:sp>
      <p:sp>
        <p:nvSpPr>
          <p:cNvPr id="6" name="Hardware manufacture and disposal are embodied impacts ">
            <a:extLst xmlns:a="http://schemas.openxmlformats.org/drawingml/2006/main">
              <a:ext uri="{FF2B5EF4-FFF2-40B4-BE49-F238E27FC236}">
                <a16:creationId xmlns:a16="http://schemas.microsoft.com/office/drawing/2014/main" id="{22465871-8671-4B45-ABE6-521BEE0D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Hardware manufacture and disposal are embodied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impacts beyond operational electricity.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withdrawal and water consumption are different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measures.</a:t>
            </a:r>
          </a:p>
        </p:txBody>
      </p:sp>
      <p:sp>
        <p:nvSpPr>
          <p:cNvPr id="7" name="Compare the evidence">
            <a:extLst xmlns:a="http://schemas.openxmlformats.org/drawingml/2006/main">
              <a:ext uri="{FF2B5EF4-FFF2-40B4-BE49-F238E27FC236}">
                <a16:creationId xmlns:a16="http://schemas.microsoft.com/office/drawing/2014/main" id="{C5D82A6A-9498-46E3-AAB5-2ADA5DE1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Compare the evidence</a:t>
            </a:r>
          </a:p>
        </p:txBody>
      </p:sp>
      <p:sp>
        <p:nvSpPr>
          <p:cNvPr id="8" name="Strubell et al. quantify costs for selected historical ">
            <a:extLst xmlns:a="http://schemas.openxmlformats.org/drawingml/2006/main">
              <a:ext uri="{FF2B5EF4-FFF2-40B4-BE49-F238E27FC236}">
                <a16:creationId xmlns:a16="http://schemas.microsoft.com/office/drawing/2014/main" id="{666FAFCD-6BC8-4B4E-8B9C-5E551A05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Strubell et al. quantify costs for selected historical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NLP training/development workloads; those values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not universal 2026 model footprints.</a:t>
            </a:r>
          </a:p>
        </p:txBody>
      </p:sp>
      <p:sp>
        <p:nvSpPr>
          <p:cNvPr id="9" name="Green AI motivates reporting efficiency alongside accur">
            <a:extLst xmlns:a="http://schemas.openxmlformats.org/drawingml/2006/main">
              <a:ext uri="{FF2B5EF4-FFF2-40B4-BE49-F238E27FC236}">
                <a16:creationId xmlns:a16="http://schemas.microsoft.com/office/drawing/2014/main" id="{D61BECB0-D764-4503-830D-50A07781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Green AI motivates reporting efficiency alongside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accuracy; Li et al. show why water varies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place/time. Carbon alone misses local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pressures.</a:t>
            </a:r>
          </a:p>
        </p:txBody>
      </p:sp>
      <p:sp>
        <p:nvSpPr>
          <p:cNvPr id="10" name="IEA sector totals provide context, not causal attributi">
            <a:extLst xmlns:a="http://schemas.openxmlformats.org/drawingml/2006/main">
              <a:ext uri="{FF2B5EF4-FFF2-40B4-BE49-F238E27FC236}">
                <a16:creationId xmlns:a16="http://schemas.microsoft.com/office/drawing/2014/main" id="{BDB50DB8-6E18-4847-821F-24653969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sector totals provide context, not causal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attribution to one model. Forecasts depend 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 and infrastructure assumptions; local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grid/cooling effects differ by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D1187-7E9C-400B-8210-BA6C3123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34563-06B2-45AF-B80A-6A09540F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6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9F34A764-F639-4203-8DA7-6FE63C76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IEA 2026: sector estimates and projection; [8] Strubell et al. 2019: cost and equity; [9] Li et al. 2025 revision: water impacts; [10]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14" name="16 / 40">
            <a:extLst xmlns:a="http://schemas.openxmlformats.org/drawingml/2006/main">
              <a:ext uri="{FF2B5EF4-FFF2-40B4-BE49-F238E27FC236}">
                <a16:creationId xmlns:a16="http://schemas.microsoft.com/office/drawing/2014/main" id="{AE06ECB1-621A-46CF-8AF3-1C4C4F69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16 / 40</a:t>
            </a:r>
          </a:p>
        </p:txBody>
      </p:sp>
    </p:spTree>
    <p:extLst>
      <p:ext uri="{BB962C8B-B14F-4D97-AF65-F5344CB8AC3E}">
        <p14:creationId xmlns:p14="http://schemas.microsoft.com/office/powerpoint/2010/main" val="15745975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9503E-4D3B-4964-8E44-D8100EBC391F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95350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87BB6-5871-4BD0-A3FF-31DB5B01E74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1945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9" name="Task 2(b)">
            <a:extLst xmlns:a="http://schemas.openxmlformats.org/drawingml/2006/main">
              <a:ext uri="{FF2B5EF4-FFF2-40B4-BE49-F238E27FC236}">
                <a16:creationId xmlns:a16="http://schemas.microsoft.com/office/drawing/2014/main" id="{51918B92-D8DB-4062-BF53-CECD058D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</a:t>
            </a:r>
          </a:p>
        </p:txBody>
      </p:sp>
      <p:sp>
        <p:nvSpPr>
          <p:cNvPr id="2" name="Privacy, security and model fairness">
            <a:extLst xmlns:a="http://schemas.openxmlformats.org/drawingml/2006/main">
              <a:ext uri="{FF2B5EF4-FFF2-40B4-BE49-F238E27FC236}">
                <a16:creationId xmlns:a16="http://schemas.microsoft.com/office/drawing/2014/main" id="{97FF2A4B-C212-4442-A4D3-D4E437A9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Privacy, security and model fairness</a:t>
            </a:r>
          </a:p>
        </p:txBody>
      </p:sp>
      <p:sp>
        <p:nvSpPr>
          <p:cNvPr id="3" name="Security: protect distributed intermediates">
            <a:extLst xmlns:a="http://schemas.openxmlformats.org/drawingml/2006/main">
              <a:ext uri="{FF2B5EF4-FFF2-40B4-BE49-F238E27FC236}">
                <a16:creationId xmlns:a16="http://schemas.microsoft.com/office/drawing/2014/main" id="{25633F08-D1C1-4D25-ACD4-9C58893F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3875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Security: protect distributed intermediates</a:t>
            </a:r>
          </a:p>
        </p:txBody>
      </p:sp>
      <p:sp>
        <p:nvSpPr>
          <p:cNvPr id="4" name="Fairness: evaluate affected groups">
            <a:extLst xmlns:a="http://schemas.openxmlformats.org/drawingml/2006/main">
              <a:ext uri="{FF2B5EF4-FFF2-40B4-BE49-F238E27FC236}">
                <a16:creationId xmlns:a16="http://schemas.microsoft.com/office/drawing/2014/main" id="{B1AFA370-2BB6-47E2-86B6-F5DCB593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57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Fairness: evaluate affected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BF720-30E1-4C8C-83A3-DE5907CD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Workers exchange gradients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save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25609-E391-456A-89D5-21B68793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Least privilege, isolation,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protected transport/storage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EF588-85E8-41FA-BA48-724D3B6E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coverage and model outputs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differ across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46221-A1F4-4C13-BFEE-DB313C37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Disaggregated, harm-specific tests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mitigation and reevaluation</a:t>
            </a:r>
          </a:p>
        </p:txBody>
      </p:sp>
      <p:sp>
        <p:nvSpPr>
          <p:cNvPr id="11" name="Zhu et al. [11]: exposed gradients can reconstruct inpu">
            <a:extLst xmlns:a="http://schemas.openxmlformats.org/drawingml/2006/main">
              <a:ext uri="{FF2B5EF4-FFF2-40B4-BE49-F238E27FC236}">
                <a16:creationId xmlns:a16="http://schemas.microsoft.com/office/drawing/2014/main" id="{814793B8-4D4B-4B01-848D-46A72B16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19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Zhu et al. [11]: exposed gradients can reconstruct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inputs in studied settings. Not every production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collective leaks.</a:t>
            </a:r>
          </a:p>
        </p:txBody>
      </p:sp>
      <p:sp>
        <p:nvSpPr>
          <p:cNvPr id="12" name="Gallegos et al. [12]: metrics, datasets and mitigations">
            <a:extLst xmlns:a="http://schemas.openxmlformats.org/drawingml/2006/main">
              <a:ext uri="{FF2B5EF4-FFF2-40B4-BE49-F238E27FC236}">
                <a16:creationId xmlns:a16="http://schemas.microsoft.com/office/drawing/2014/main" id="{CE89FEE8-F527-473F-8F6A-A32B0273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52578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[12]: metrics, datasets and mitigations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differ. Apply these to cluster-trained models; scale alone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does not guarantee fairness.</a:t>
            </a:r>
          </a:p>
        </p:txBody>
      </p:sp>
      <p:sp>
        <p:nvSpPr>
          <p:cNvPr id="13" name="Provenance/permissions, replica access and dual-use rev">
            <a:extLst xmlns:a="http://schemas.openxmlformats.org/drawingml/2006/main">
              <a:ext uri="{FF2B5EF4-FFF2-40B4-BE49-F238E27FC236}">
                <a16:creationId xmlns:a16="http://schemas.microsoft.com/office/drawing/2014/main" id="{C2769585-401B-4642-8726-FC36C417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Provenance/permissions, replica access and dual-use review need owners. Encryption alone cannot establish fair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ABA94-A74E-43B0-B5F1-7288293C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Protect distributed data and evaluate harms; more compu">
            <a:extLst xmlns:a="http://schemas.openxmlformats.org/drawingml/2006/main">
              <a:ext uri="{FF2B5EF4-FFF2-40B4-BE49-F238E27FC236}">
                <a16:creationId xmlns:a16="http://schemas.microsoft.com/office/drawing/2014/main" id="{80C4569D-A6B9-463A-8662-F340AF8E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 distributed data and evaluate harms; more compute is not a fairness guarantee.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8371D6-9305-4AC6-A949-5D131A26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11] Zhu et al. 2019: exposed gradients; [12] ">
            <a:extLst xmlns:a="http://schemas.openxmlformats.org/drawingml/2006/main">
              <a:ext uri="{FF2B5EF4-FFF2-40B4-BE49-F238E27FC236}">
                <a16:creationId xmlns:a16="http://schemas.microsoft.com/office/drawing/2014/main" id="{0F167C3A-CEA0-4534-B3B5-68275CF9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Zhu et al. 2019: exposed gradients; [12] Gallegos et al. 2024: fairness evaluation; [15] OECD: rights, fairness and accountability; [16] NIST: Govern, Map, Measure,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8" name="17 / 40">
            <a:extLst xmlns:a="http://schemas.openxmlformats.org/drawingml/2006/main">
              <a:ext uri="{FF2B5EF4-FFF2-40B4-BE49-F238E27FC236}">
                <a16:creationId xmlns:a16="http://schemas.microsoft.com/office/drawing/2014/main" id="{FD504985-A2AF-4356-B4A0-1E052F0F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17 / 40</a:t>
            </a:r>
          </a:p>
        </p:txBody>
      </p:sp>
    </p:spTree>
    <p:extLst>
      <p:ext uri="{BB962C8B-B14F-4D97-AF65-F5344CB8AC3E}">
        <p14:creationId xmlns:p14="http://schemas.microsoft.com/office/powerpoint/2010/main" val="3141259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ask 2(b) • Proposed governance controls">
            <a:extLst xmlns:a="http://schemas.openxmlformats.org/drawingml/2006/main">
              <a:ext uri="{FF2B5EF4-FFF2-40B4-BE49-F238E27FC236}">
                <a16:creationId xmlns:a16="http://schemas.microsoft.com/office/drawing/2014/main" id="{2D6F6BC8-F369-4C78-8283-6219E847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 • Proposed governance controls</a:t>
            </a:r>
          </a:p>
        </p:txBody>
      </p:sp>
      <p:sp>
        <p:nvSpPr>
          <p:cNvPr id="2" name="Governance controls and remaining risks">
            <a:extLst xmlns:a="http://schemas.openxmlformats.org/drawingml/2006/main">
              <a:ext uri="{FF2B5EF4-FFF2-40B4-BE49-F238E27FC236}">
                <a16:creationId xmlns:a16="http://schemas.microsoft.com/office/drawing/2014/main" id="{A5DBA67B-2661-46DE-BFF5-1C02EB4E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Governance controls and remaining risks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2DDCF-DC17-468C-8C1F-9A96AE30676A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/ stakeholder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control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Residual limitation / owner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Dataset misuse / data subjects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Provenance, permission checks, retention limits and access logs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licence alone may not justify every use; data steward reviews purpose.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Gradient/checkpoint exposure / participants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Least privilege, tenant isolation, protected transport and secure checkpoint storage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 endpoints can still see sensitive values; security owner models insider risk.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Unsafe dual use / affected public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Authorized-use review, restricted access where justified and review of deployment risks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Controls cannot prevent every misuse; accountable owner weighs benefits/restrictions.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Distributed replicas / operators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copies, deletion obligations and incident response across workers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Replication increases the number of assets to protect; operator audits recovery.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These are proposed mitigations informed by research/fra">
            <a:extLst xmlns:a="http://schemas.openxmlformats.org/drawingml/2006/main">
              <a:ext uri="{FF2B5EF4-FFF2-40B4-BE49-F238E27FC236}">
                <a16:creationId xmlns:a16="http://schemas.microsoft.com/office/drawing/2014/main" id="{76252776-D3C3-4157-8620-50B442C9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These are proposed mitigations informed by research/frameworks, not a proof of privacy or a compliance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C379C-8C7F-4E91-BD99-C74B1EEA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1] Zhu et al. 2019: exposed gradients; [15] ">
            <a:extLst xmlns:a="http://schemas.openxmlformats.org/drawingml/2006/main">
              <a:ext uri="{FF2B5EF4-FFF2-40B4-BE49-F238E27FC236}">
                <a16:creationId xmlns:a16="http://schemas.microsoft.com/office/drawing/2014/main" id="{29F805EE-97E3-4026-9A05-34880FD2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Zhu et al. 2019: exposed gradients; [15] OECD: rights, fairness and accountability; [16] NIST: Govern, Map, Measure, Manage</a:t>
            </a:r>
          </a:p>
        </p:txBody>
      </p:sp>
      <p:sp>
        <p:nvSpPr>
          <p:cNvPr id="7" name="18 / 40">
            <a:extLst xmlns:a="http://schemas.openxmlformats.org/drawingml/2006/main">
              <a:ext uri="{FF2B5EF4-FFF2-40B4-BE49-F238E27FC236}">
                <a16:creationId xmlns:a16="http://schemas.microsoft.com/office/drawing/2014/main" id="{B6862D8C-CC78-41B5-9026-A021EC65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18 / 40</a:t>
            </a:r>
          </a:p>
        </p:txBody>
      </p:sp>
    </p:spTree>
    <p:extLst>
      <p:ext uri="{BB962C8B-B14F-4D97-AF65-F5344CB8AC3E}">
        <p14:creationId xmlns:p14="http://schemas.microsoft.com/office/powerpoint/2010/main" val="13583045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 2(b) • Fairness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2AAD1741-5AFB-4481-B17E-C2D4D57F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 • Fairness with large-scale compute</a:t>
            </a:r>
          </a:p>
        </p:txBody>
      </p:sp>
      <p:sp>
        <p:nvSpPr>
          <p:cNvPr id="2" name="Fairness evaluation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E6D60414-8E64-46AF-9A5C-DB1B2EAA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Fairness evaluation with large-scale compute</a:t>
            </a:r>
          </a:p>
        </p:txBody>
      </p:sp>
      <p:sp>
        <p:nvSpPr>
          <p:cNvPr id="3" name="Compute connection">
            <a:extLst xmlns:a="http://schemas.openxmlformats.org/drawingml/2006/main">
              <a:ext uri="{FF2B5EF4-FFF2-40B4-BE49-F238E27FC236}">
                <a16:creationId xmlns:a16="http://schemas.microsoft.com/office/drawing/2014/main" id="{F1E7EE21-7329-4049-B8B0-4B6D7B5A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Compute connection</a:t>
            </a:r>
          </a:p>
        </p:txBody>
      </p:sp>
      <p:sp>
        <p:nvSpPr>
          <p:cNvPr id="4" name="An illustrative multilingual LLM service may have unequ">
            <a:extLst xmlns:a="http://schemas.openxmlformats.org/drawingml/2006/main">
              <a:ext uri="{FF2B5EF4-FFF2-40B4-BE49-F238E27FC236}">
                <a16:creationId xmlns:a16="http://schemas.microsoft.com/office/drawing/2014/main" id="{19D1ECD7-5FE9-4B6C-A661-35E613A3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 illustrative multilingual LLM service may have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performance or stereotyped outputs across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language groups. Identify the actual harm before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choosing a metric.</a:t>
            </a:r>
          </a:p>
        </p:txBody>
      </p:sp>
      <p:sp>
        <p:nvSpPr>
          <p:cNvPr id="5" name="A cluster enables larger datasets and repeated training">
            <a:extLst xmlns:a="http://schemas.openxmlformats.org/drawingml/2006/main">
              <a:ext uri="{FF2B5EF4-FFF2-40B4-BE49-F238E27FC236}">
                <a16:creationId xmlns:a16="http://schemas.microsoft.com/office/drawing/2014/main" id="{49261235-1B76-483B-A04E-EF7386EC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cluster enables larger datasets and repeated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training, but neither data volume nor GPU count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guarantees representative data or equitable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outcomes.</a:t>
            </a:r>
          </a:p>
        </p:txBody>
      </p:sp>
      <p:sp>
        <p:nvSpPr>
          <p:cNvPr id="6" name="Reserve evaluation compute for affected groups; documen">
            <a:extLst xmlns:a="http://schemas.openxmlformats.org/drawingml/2006/main">
              <a:ext uri="{FF2B5EF4-FFF2-40B4-BE49-F238E27FC236}">
                <a16:creationId xmlns:a16="http://schemas.microsoft.com/office/drawing/2014/main" id="{2844B0DF-7F99-4E42-9568-60F1478B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Reserve evaluation compute for affected groups;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document dataset coverage and compare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 error or harmful-output rates using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task-appropriate test.</a:t>
            </a:r>
          </a:p>
        </p:txBody>
      </p:sp>
      <p:sp>
        <p:nvSpPr>
          <p:cNvPr id="7" name="Evidence and decision">
            <a:extLst xmlns:a="http://schemas.openxmlformats.org/drawingml/2006/main">
              <a:ext uri="{FF2B5EF4-FFF2-40B4-BE49-F238E27FC236}">
                <a16:creationId xmlns:a16="http://schemas.microsoft.com/office/drawing/2014/main" id="{CEBD9530-138D-4BA4-AF5B-CD4ED986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Evidence and decision</a:t>
            </a:r>
          </a:p>
        </p:txBody>
      </p:sp>
      <p:sp>
        <p:nvSpPr>
          <p:cNvPr id="8" name="Gallegos et al. separate metrics, evaluation datasets a">
            <a:extLst xmlns:a="http://schemas.openxmlformats.org/drawingml/2006/main">
              <a:ext uri="{FF2B5EF4-FFF2-40B4-BE49-F238E27FC236}">
                <a16:creationId xmlns:a16="http://schemas.microsoft.com/office/drawing/2014/main" id="{E01A64C4-7239-40CA-8409-079914EE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separate metrics, evaluation datasets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mitigation stages. A single aggregate accuracy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score can hide a relevant subgroup harm.</a:t>
            </a:r>
          </a:p>
        </p:txBody>
      </p:sp>
      <p:sp>
        <p:nvSpPr>
          <p:cNvPr id="9" name="Specify justified acceptance criteria before training; ">
            <a:extLst xmlns:a="http://schemas.openxmlformats.org/drawingml/2006/main">
              <a:ext uri="{FF2B5EF4-FFF2-40B4-BE49-F238E27FC236}">
                <a16:creationId xmlns:a16="http://schemas.microsoft.com/office/drawing/2014/main" id="{309ACDCF-4485-44B8-9DA8-F0046E77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Specify justified acceptance criteria before training;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uncertainty and small-group sample limits.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Mitigate, reevaluate, and document unresolved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harms.</a:t>
            </a:r>
          </a:p>
        </p:txBody>
      </p:sp>
      <p:sp>
        <p:nvSpPr>
          <p:cNvPr id="10" name="Security and fairness have different objectives: encryp">
            <a:extLst xmlns:a="http://schemas.openxmlformats.org/drawingml/2006/main">
              <a:ext uri="{FF2B5EF4-FFF2-40B4-BE49-F238E27FC236}">
                <a16:creationId xmlns:a16="http://schemas.microsoft.com/office/drawing/2014/main" id="{379F6612-CAB0-4A1B-BD94-EE185806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 and fairness have different objectives: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encrypted gradients do not establish fair outputs.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source supports model-bias analysis, not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claim that HPC itself causes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5A020-8237-4EE2-BA94-57A8088A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5E6AF-64DF-4696-864F-1368DD05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2] Gallegos et al. 2024: fairness evaluation">
            <a:extLst xmlns:a="http://schemas.openxmlformats.org/drawingml/2006/main">
              <a:ext uri="{FF2B5EF4-FFF2-40B4-BE49-F238E27FC236}">
                <a16:creationId xmlns:a16="http://schemas.microsoft.com/office/drawing/2014/main" id="{CD57285E-5CFD-4174-B01F-B79A8D07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[12] Gallegos et al. 2024: fairness evaluation; [15] OECD: rights, fairness and accountability; [16] NIST: Govern, Map, Measure, Manage</a:t>
            </a:r>
          </a:p>
        </p:txBody>
      </p:sp>
      <p:sp>
        <p:nvSpPr>
          <p:cNvPr id="14" name="19 / 40">
            <a:extLst xmlns:a="http://schemas.openxmlformats.org/drawingml/2006/main">
              <a:ext uri="{FF2B5EF4-FFF2-40B4-BE49-F238E27FC236}">
                <a16:creationId xmlns:a16="http://schemas.microsoft.com/office/drawing/2014/main" id="{EE8D76E6-D800-490E-8689-82ADC7CC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19 / 40</a:t>
            </a:r>
          </a:p>
        </p:txBody>
      </p:sp>
    </p:spTree>
    <p:extLst>
      <p:ext uri="{BB962C8B-B14F-4D97-AF65-F5344CB8AC3E}">
        <p14:creationId xmlns:p14="http://schemas.microsoft.com/office/powerpoint/2010/main" val="3575697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c)">
            <a:extLst xmlns:a="http://schemas.openxmlformats.org/drawingml/2006/main">
              <a:ext uri="{FF2B5EF4-FFF2-40B4-BE49-F238E27FC236}">
                <a16:creationId xmlns:a16="http://schemas.microsoft.com/office/drawing/2014/main" id="{36EA13BD-E7DD-4CC4-8F1F-CC762225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</a:t>
            </a:r>
          </a:p>
        </p:txBody>
      </p:sp>
      <p:sp>
        <p:nvSpPr>
          <p:cNvPr id="2" name="Unequal access to HPC resources">
            <a:extLst xmlns:a="http://schemas.openxmlformats.org/drawingml/2006/main">
              <a:ext uri="{FF2B5EF4-FFF2-40B4-BE49-F238E27FC236}">
                <a16:creationId xmlns:a16="http://schemas.microsoft.com/office/drawing/2014/main" id="{5E2134CA-5821-40ED-BCB3-69569324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access to HPC resources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D4A3F-B81E-4138-A72E-9C3D7DF4B853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57500"/>
                <a:gridCol w="4095750"/>
                <a:gridCol w="4019550"/>
              </a:tblGrid>
              <a:tr h="5334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shows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cannot establish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Ahmed &amp; Wahed [13]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Historical research participation and compute concentration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Current worldwide access or a universal causal effect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Strubell et al. [8]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Selected NLP workload costs and financial barriers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The cost of every current AI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urrent response: NAIRR supported &gt;600 teams and &gt;6,000">
            <a:extLst xmlns:a="http://schemas.openxmlformats.org/drawingml/2006/main">
              <a:ext uri="{FF2B5EF4-FFF2-40B4-BE49-F238E27FC236}">
                <a16:creationId xmlns:a16="http://schemas.microsoft.com/office/drawing/2014/main" id="{17495354-5B2C-49A6-9039-1D0F8B51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Current response: NAIRR supported &gt;600 teams and &gt;6,000 students</a:t>
            </a:r>
          </a:p>
        </p:txBody>
      </p:sp>
      <p:sp>
        <p:nvSpPr>
          <p:cNvPr id="5" name="NSF, March 2026; US programme since 2024. Reach does no">
            <a:extLst xmlns:a="http://schemas.openxmlformats.org/drawingml/2006/main">
              <a:ext uri="{FF2B5EF4-FFF2-40B4-BE49-F238E27FC236}">
                <a16:creationId xmlns:a16="http://schemas.microsoft.com/office/drawing/2014/main" id="{8A132EF3-5492-4719-BD2A-16FB0249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NSF, March 2026; US programme since 2024. Reach does not prove global equality.</a:t>
            </a:r>
          </a:p>
        </p:txBody>
      </p:sp>
      <p:sp>
        <p:nvSpPr>
          <p:cNvPr id="6" name="Proposal: transparent GPU-hour allocation, smaller-inst">
            <a:extLst xmlns:a="http://schemas.openxmlformats.org/drawingml/2006/main">
              <a:ext uri="{FF2B5EF4-FFF2-40B4-BE49-F238E27FC236}">
                <a16:creationId xmlns:a16="http://schemas.microsoft.com/office/drawing/2014/main" id="{B0C96715-15DB-4446-8CF7-8349E257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Proposal: transparent GPU-hour allocation, smaller-institution support and appeals. Trade-off: reserved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can reduce immediate utilization or delay urgent jobs.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383A7-11ED-4E5D-A14B-3D0FBCC1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8" name="Shared capacity helps; allocation, expertise and reprod">
            <a:extLst xmlns:a="http://schemas.openxmlformats.org/drawingml/2006/main">
              <a:ext uri="{FF2B5EF4-FFF2-40B4-BE49-F238E27FC236}">
                <a16:creationId xmlns:a16="http://schemas.microsoft.com/office/drawing/2014/main" id="{F9A80F06-C6B7-4207-BBA3-E6D47B0D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Shared capacity helps; allocation, expertise and reproducibility still need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35A34-A960-484D-8B6A-AD00412E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7] NSF 2026: US programme reach; [8] Strubell">
            <a:extLst xmlns:a="http://schemas.openxmlformats.org/drawingml/2006/main">
              <a:ext uri="{FF2B5EF4-FFF2-40B4-BE49-F238E27FC236}">
                <a16:creationId xmlns:a16="http://schemas.microsoft.com/office/drawing/2014/main" id="{E7C5FBDF-8B9B-484D-8B7A-6C200194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[7] NSF 2026: US programme reach; [8] Strubell et al. 2019: cost and equity; [13] Ahmed and Wahed 2020: compute divide</a:t>
            </a:r>
          </a:p>
        </p:txBody>
      </p:sp>
      <p:sp>
        <p:nvSpPr>
          <p:cNvPr id="11" name="20 / 40">
            <a:extLst xmlns:a="http://schemas.openxmlformats.org/drawingml/2006/main">
              <a:ext uri="{FF2B5EF4-FFF2-40B4-BE49-F238E27FC236}">
                <a16:creationId xmlns:a16="http://schemas.microsoft.com/office/drawing/2014/main" id="{73035FF0-E56D-46AB-BE2C-8ED72088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20 / 40</a:t>
            </a:r>
          </a:p>
        </p:txBody>
      </p:sp>
    </p:spTree>
    <p:extLst>
      <p:ext uri="{BB962C8B-B14F-4D97-AF65-F5344CB8AC3E}">
        <p14:creationId xmlns:p14="http://schemas.microsoft.com/office/powerpoint/2010/main" val="23724482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 2(c) • Research and allocation decisions">
            <a:extLst xmlns:a="http://schemas.openxmlformats.org/drawingml/2006/main">
              <a:ext uri="{FF2B5EF4-FFF2-40B4-BE49-F238E27FC236}">
                <a16:creationId xmlns:a16="http://schemas.microsoft.com/office/drawing/2014/main" id="{5B7C3499-1CE3-429F-A212-E74AFE97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 • Research and allocation decisions</a:t>
            </a:r>
          </a:p>
        </p:txBody>
      </p:sp>
      <p:sp>
        <p:nvSpPr>
          <p:cNvPr id="2" name="Access research and allocation choices">
            <a:extLst xmlns:a="http://schemas.openxmlformats.org/drawingml/2006/main">
              <a:ext uri="{FF2B5EF4-FFF2-40B4-BE49-F238E27FC236}">
                <a16:creationId xmlns:a16="http://schemas.microsoft.com/office/drawing/2014/main" id="{5B68F632-E714-4C66-ADAD-342FED4F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research and allocation choices</a:t>
            </a:r>
          </a:p>
        </p:txBody>
      </p:sp>
      <p:sp>
        <p:nvSpPr>
          <p:cNvPr id="3" name="Research comparison">
            <a:extLst xmlns:a="http://schemas.openxmlformats.org/drawingml/2006/main">
              <a:ext uri="{FF2B5EF4-FFF2-40B4-BE49-F238E27FC236}">
                <a16:creationId xmlns:a16="http://schemas.microsoft.com/office/drawing/2014/main" id="{645CC876-2408-402B-9546-4E9CEB8D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Research comparison</a:t>
            </a:r>
          </a:p>
        </p:txBody>
      </p:sp>
      <p:sp>
        <p:nvSpPr>
          <p:cNvPr id="4" name="Ahmed and Wahed study historical conference participati">
            <a:extLst xmlns:a="http://schemas.openxmlformats.org/drawingml/2006/main">
              <a:ext uri="{FF2B5EF4-FFF2-40B4-BE49-F238E27FC236}">
                <a16:creationId xmlns:a16="http://schemas.microsoft.com/office/drawing/2014/main" id="{15AC013F-F46F-4292-835E-DA72D644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Ahmed and Wahed study historical conference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participation and a compute divide. Strubell et al.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financial/resource barriers in selected NLP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workloads.</a:t>
            </a:r>
          </a:p>
        </p:txBody>
      </p:sp>
      <p:sp>
        <p:nvSpPr>
          <p:cNvPr id="5" name="The first concerns institutional participation; the sec">
            <a:extLst xmlns:a="http://schemas.openxmlformats.org/drawingml/2006/main">
              <a:ext uri="{FF2B5EF4-FFF2-40B4-BE49-F238E27FC236}">
                <a16:creationId xmlns:a16="http://schemas.microsoft.com/office/drawing/2014/main" id="{A83C791C-0578-4107-BFA8-FDDB983C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first concerns institutional participation;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second concerns workload cost. Together they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motivate access support, but neither is a current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worldwide access census.</a:t>
            </a:r>
          </a:p>
        </p:txBody>
      </p:sp>
      <p:sp>
        <p:nvSpPr>
          <p:cNvPr id="6" name="NSF’s March 2026 participation figures describe a US sh">
            <a:extLst xmlns:a="http://schemas.openxmlformats.org/drawingml/2006/main">
              <a:ext uri="{FF2B5EF4-FFF2-40B4-BE49-F238E27FC236}">
                <a16:creationId xmlns:a16="http://schemas.microsoft.com/office/drawing/2014/main" id="{B3676705-3362-492B-BA8D-D9EAF1A0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NSF’s March 2026 participation figures describe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 shared-resource response. Programme reach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proof of equal allocation, global access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eliminated inequality.</a:t>
            </a:r>
          </a:p>
        </p:txBody>
      </p:sp>
      <p:sp>
        <p:nvSpPr>
          <p:cNvPr id="7" name="Proposed shared-cluster policy">
            <a:extLst xmlns:a="http://schemas.openxmlformats.org/drawingml/2006/main">
              <a:ext uri="{FF2B5EF4-FFF2-40B4-BE49-F238E27FC236}">
                <a16:creationId xmlns:a16="http://schemas.microsoft.com/office/drawing/2014/main" id="{3CEB8064-2AFA-41B8-B85C-9211E816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Proposed shared-cluster policy</a:t>
            </a:r>
          </a:p>
        </p:txBody>
      </p:sp>
      <p:sp>
        <p:nvSpPr>
          <p:cNvPr id="8" name="Publish eligibility, GPU-hour limits and allocation cri">
            <a:extLst xmlns:a="http://schemas.openxmlformats.org/drawingml/2006/main">
              <a:ext uri="{FF2B5EF4-FFF2-40B4-BE49-F238E27FC236}">
                <a16:creationId xmlns:a16="http://schemas.microsoft.com/office/drawing/2014/main" id="{29C27EF1-0B43-44F3-B6F0-5660CCDA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Publish eligibility, GPU-hour limits and allocation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criteria; reserve some capacity for teaching, smaller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institutions and independent replication.</a:t>
            </a:r>
          </a:p>
        </p:txBody>
      </p:sp>
      <p:sp>
        <p:nvSpPr>
          <p:cNvPr id="9" name="Provide application support and training; allow appeals">
            <a:extLst xmlns:a="http://schemas.openxmlformats.org/drawingml/2006/main">
              <a:ext uri="{FF2B5EF4-FFF2-40B4-BE49-F238E27FC236}">
                <a16:creationId xmlns:a16="http://schemas.microsoft.com/office/drawing/2014/main" id="{8781CA3F-D620-4A75-B24E-D419AEB6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Provide application support and training; allow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appeals. Track applicant-to-award outcomes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waiting times across institution groups with privacy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10" name="Trade-offs: reservations may reduce immediate utilizati">
            <a:extLst xmlns:a="http://schemas.openxmlformats.org/drawingml/2006/main">
              <a:ext uri="{FF2B5EF4-FFF2-40B4-BE49-F238E27FC236}">
                <a16:creationId xmlns:a16="http://schemas.microsoft.com/office/drawing/2014/main" id="{A82A4789-D3B6-4BD5-ACF0-F65FF3BC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396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Trade-offs: reservations may reduce immediate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utilization; queueing can delay urgent work;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unrestricted access can conflict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security/budgets. Prevent repeated deferral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 starvation.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79A09-DCAB-4BDD-87EA-B58C81E0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0D8DD-66B4-45CD-ADAB-55935BE4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7] NSF 2026: US programme reach; [8] Strubell">
            <a:extLst xmlns:a="http://schemas.openxmlformats.org/drawingml/2006/main">
              <a:ext uri="{FF2B5EF4-FFF2-40B4-BE49-F238E27FC236}">
                <a16:creationId xmlns:a16="http://schemas.microsoft.com/office/drawing/2014/main" id="{9548337B-E560-4F36-927B-F5C18A34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[7] NSF 2026: US programme reach; [8] Strubell et al. 2019: cost and equity; [13] Ahmed and Wahed 2020: compute divide</a:t>
            </a:r>
          </a:p>
        </p:txBody>
      </p:sp>
      <p:sp>
        <p:nvSpPr>
          <p:cNvPr id="14" name="21 / 40">
            <a:extLst xmlns:a="http://schemas.openxmlformats.org/drawingml/2006/main">
              <a:ext uri="{FF2B5EF4-FFF2-40B4-BE49-F238E27FC236}">
                <a16:creationId xmlns:a16="http://schemas.microsoft.com/office/drawing/2014/main" id="{725CB3CD-BF2E-4E50-9886-26F321EA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21 / 40</a:t>
            </a:r>
          </a:p>
        </p:txBody>
      </p:sp>
    </p:spTree>
    <p:extLst>
      <p:ext uri="{BB962C8B-B14F-4D97-AF65-F5344CB8AC3E}">
        <p14:creationId xmlns:p14="http://schemas.microsoft.com/office/powerpoint/2010/main" val="13772120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77EBB-D965-454B-B91A-E6E14B8BCF6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819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85462-8FF7-4B19-9CAE-E80A02FC2295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2(d)">
            <a:extLst xmlns:a="http://schemas.openxmlformats.org/drawingml/2006/main">
              <a:ext uri="{FF2B5EF4-FFF2-40B4-BE49-F238E27FC236}">
                <a16:creationId xmlns:a16="http://schemas.microsoft.com/office/drawing/2014/main" id="{73C60E20-31DA-400A-9D81-23DCAE57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</a:t>
            </a:r>
          </a:p>
        </p:txBody>
      </p:sp>
      <p:sp>
        <p:nvSpPr>
          <p:cNvPr id="2" name="An accountable HPC approval process">
            <a:extLst xmlns:a="http://schemas.openxmlformats.org/drawingml/2006/main">
              <a:ext uri="{FF2B5EF4-FFF2-40B4-BE49-F238E27FC236}">
                <a16:creationId xmlns:a16="http://schemas.microsoft.com/office/drawing/2014/main" id="{18BCD1FE-0C2B-481F-A38A-4AC4CECF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An accountable HPC approval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34DA0-5232-4C51-A7FB-872F356C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Define outcome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accountable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54F3F-B15B-4813-9CE2-C2F7B882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 quality,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and harms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C2E04-3DDB-4DE1-8B27-E4692314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/ defer /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scale / redesign</a:t>
            </a:r>
          </a:p>
        </p:txBody>
      </p:sp>
      <p:sp>
        <p:nvSpPr>
          <p:cNvPr id="8" name="Green AI: efficiency evidence [10]  •  Carbon-aware sch">
            <a:extLst xmlns:a="http://schemas.openxmlformats.org/drawingml/2006/main">
              <a:ext uri="{FF2B5EF4-FFF2-40B4-BE49-F238E27FC236}">
                <a16:creationId xmlns:a16="http://schemas.microsoft.com/office/drawing/2014/main" id="{D82E053C-B68A-4B47-8A7D-52F6BFAE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Green AI: efficiency evidence [10] • Carbon-aware scheduling: flexible work [14]</a:t>
            </a:r>
          </a:p>
        </p:txBody>
      </p:sp>
      <p:sp>
        <p:nvSpPr>
          <p:cNvPr id="9" name="OECD: values and rights [15]  •  NIST: Govern, Map, Mea">
            <a:extLst xmlns:a="http://schemas.openxmlformats.org/drawingml/2006/main">
              <a:ext uri="{FF2B5EF4-FFF2-40B4-BE49-F238E27FC236}">
                <a16:creationId xmlns:a16="http://schemas.microsoft.com/office/drawing/2014/main" id="{4F8F4C9C-92C4-4580-9805-8ABF5676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OECD: values and rights [15] • NIST: Govern, Map, Measure, Manage [16]</a:t>
            </a:r>
          </a:p>
        </p:txBody>
      </p:sp>
      <p:sp>
        <p:nvSpPr>
          <p:cNvPr id="10" name="Use an energy budget, security/group evaluation and tra">
            <a:extLst xmlns:a="http://schemas.openxmlformats.org/drawingml/2006/main">
              <a:ext uri="{FF2B5EF4-FFF2-40B4-BE49-F238E27FC236}">
                <a16:creationId xmlns:a16="http://schemas.microsoft.com/office/drawing/2014/main" id="{05960B5C-6A4E-452F-B6E5-57FA1C2D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an energy budget, security/group evaluation and transparent access rules. Record owner, rationale,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exceptions and outcomes.</a:t>
            </a:r>
          </a:p>
        </p:txBody>
      </p:sp>
      <p:sp>
        <p:nvSpPr>
          <p:cNvPr id="11" name="Measurement informs action: shift flexible jobs to clea">
            <a:extLst xmlns:a="http://schemas.openxmlformats.org/drawingml/2006/main">
              <a:ext uri="{FF2B5EF4-FFF2-40B4-BE49-F238E27FC236}">
                <a16:creationId xmlns:a16="http://schemas.microsoft.com/office/drawing/2014/main" id="{A4ACDFEA-59E0-427B-A94A-74473610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507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Measurement informs action: shift flexible jobs to cleaner periods within deadlines/capacity. Forecast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uncertainty, water stress and urgent access can change the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3722B-27C2-4CC9-9A0A-BBC5A1E4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Approve useful work with explicit budgets, safeguards a">
            <a:extLst xmlns:a="http://schemas.openxmlformats.org/drawingml/2006/main">
              <a:ext uri="{FF2B5EF4-FFF2-40B4-BE49-F238E27FC236}">
                <a16:creationId xmlns:a16="http://schemas.microsoft.com/office/drawing/2014/main" id="{A14854C7-9CCE-4A52-9B8F-9B509F65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useful work with explicit budgets, safeguards and an accountable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A2DF2-8FCE-42C2-B7E9-739268AD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0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0829C2F6-64A5-46AF-90A6-215ECC01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Schwartz et al. 2019: efficiency reporting; [14] Radovanovic et al. 2021: flexible scheduling; [15] OECD: rights, fairness and accountability; [16]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16" name="22 / 40">
            <a:extLst xmlns:a="http://schemas.openxmlformats.org/drawingml/2006/main">
              <a:ext uri="{FF2B5EF4-FFF2-40B4-BE49-F238E27FC236}">
                <a16:creationId xmlns:a16="http://schemas.microsoft.com/office/drawing/2014/main" id="{3E3D26BB-1C03-4631-A51C-183E180D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22 / 40</a:t>
            </a:r>
          </a:p>
        </p:txBody>
      </p:sp>
    </p:spTree>
    <p:extLst>
      <p:ext uri="{BB962C8B-B14F-4D97-AF65-F5344CB8AC3E}">
        <p14:creationId xmlns:p14="http://schemas.microsoft.com/office/powerpoint/2010/main" val="137640885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ask 2(d) • Framework actions and owners">
            <a:extLst xmlns:a="http://schemas.openxmlformats.org/drawingml/2006/main">
              <a:ext uri="{FF2B5EF4-FFF2-40B4-BE49-F238E27FC236}">
                <a16:creationId xmlns:a16="http://schemas.microsoft.com/office/drawing/2014/main" id="{3AD1C16A-EFC8-4A11-AAE8-90F66A8B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 • Framework actions and owners</a:t>
            </a:r>
          </a:p>
        </p:txBody>
      </p:sp>
      <p:sp>
        <p:nvSpPr>
          <p:cNvPr id="2" name="Framework roles and accountable decisions">
            <a:extLst xmlns:a="http://schemas.openxmlformats.org/drawingml/2006/main">
              <a:ext uri="{FF2B5EF4-FFF2-40B4-BE49-F238E27FC236}">
                <a16:creationId xmlns:a16="http://schemas.microsoft.com/office/drawing/2014/main" id="{A0F686FD-56CE-4DB1-8BC5-AA6FA454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Framework roles and accountable decisions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26806-D8B2-4C9C-BC4B-7AA1CE365861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Function / 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Concrete action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responsible role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Govern / OECD values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ownership, data rules, access policy and escalation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Accountable owner accepts obligations and review process.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Map /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Define use, stakeholders, misuse risks, deadline and alternatives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Data/risk stewards establish the application-specific scope.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 / Green AI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energy per useful outcome, model quality, group harms and scaling efficiency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Operator/evaluator provides evidence and uncertainty.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Manage / scheduling research +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Approve, defer, reduce scale or redesign; enforce safeguards and review outcomes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Owner authorizes exceptions or rejects unresolved risks.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Our proposal combines measurement, scheduling and risk ">
            <a:extLst xmlns:a="http://schemas.openxmlformats.org/drawingml/2006/main">
              <a:ext uri="{FF2B5EF4-FFF2-40B4-BE49-F238E27FC236}">
                <a16:creationId xmlns:a16="http://schemas.microsoft.com/office/drawing/2014/main" id="{2C7B94C4-8A25-4A56-ADEA-200124CE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Our proposal combines measurement, scheduling and risk management. NIST Govern spans the other functions; risk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management is iterative, not a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1B3B7-BF84-4A00-A3AF-7A80BD0E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0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80FB7644-269F-4D81-A22A-F12AF12B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Schwartz et al. 2019: efficiency reporting; [14] Radovanovic et al. 2021: flexible scheduling; [15] OECD: rights, fairness and accountability; [16]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7" name="23 / 40">
            <a:extLst xmlns:a="http://schemas.openxmlformats.org/drawingml/2006/main">
              <a:ext uri="{FF2B5EF4-FFF2-40B4-BE49-F238E27FC236}">
                <a16:creationId xmlns:a16="http://schemas.microsoft.com/office/drawing/2014/main" id="{E745E62A-40B0-4569-A650-9632CD7D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23 / 40</a:t>
            </a:r>
          </a:p>
        </p:txBody>
      </p:sp>
    </p:spTree>
    <p:extLst>
      <p:ext uri="{BB962C8B-B14F-4D97-AF65-F5344CB8AC3E}">
        <p14:creationId xmlns:p14="http://schemas.microsoft.com/office/powerpoint/2010/main" val="30268982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67731-30A2-4517-8DAB-DBA46D712BE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48550" y="2314575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0191D-3178-4353-AC96-DBC49283AB6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81350" y="23145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6" name="Task 2(d) • Carbon-aware scheduling">
            <a:extLst xmlns:a="http://schemas.openxmlformats.org/drawingml/2006/main">
              <a:ext uri="{FF2B5EF4-FFF2-40B4-BE49-F238E27FC236}">
                <a16:creationId xmlns:a16="http://schemas.microsoft.com/office/drawing/2014/main" id="{153F9AB0-2DB2-45EB-9F5D-AAB7134F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 • Carbon-aware scheduling</a:t>
            </a:r>
          </a:p>
        </p:txBody>
      </p:sp>
      <p:sp>
        <p:nvSpPr>
          <p:cNvPr id="2" name="Carbon-aware scheduling under constraints">
            <a:extLst xmlns:a="http://schemas.openxmlformats.org/drawingml/2006/main">
              <a:ext uri="{FF2B5EF4-FFF2-40B4-BE49-F238E27FC236}">
                <a16:creationId xmlns:a16="http://schemas.microsoft.com/office/drawing/2014/main" id="{6FA51E03-FBD6-414F-B890-0C85CAE4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Carbon-aware scheduling under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D79FB-4D55-48B5-AFD9-CE4E916C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95D67-6044-4348-9AC6-BD59B626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Lower-carbon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forecast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756EB-FE31-447C-9C39-973373A2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86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before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8" name="Research [14] demonstrates shifting temporally flexible">
            <a:extLst xmlns:a="http://schemas.openxmlformats.org/drawingml/2006/main">
              <a:ext uri="{FF2B5EF4-FFF2-40B4-BE49-F238E27FC236}">
                <a16:creationId xmlns:a16="http://schemas.microsoft.com/office/drawing/2014/main" id="{96A4DC05-099E-4BD8-A1D7-44B0D719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[14] demonstrates shifting temporally flexible workloads using forecasts while preserving daily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capacity. It does not show every urgent GPU job can wait.</a:t>
            </a:r>
          </a:p>
        </p:txBody>
      </p:sp>
      <p:sp>
        <p:nvSpPr>
          <p:cNvPr id="9" name="Proposed rule: defer only if deadline, energy budget, w">
            <a:extLst xmlns:a="http://schemas.openxmlformats.org/drawingml/2006/main">
              <a:ext uri="{FF2B5EF4-FFF2-40B4-BE49-F238E27FC236}">
                <a16:creationId xmlns:a16="http://schemas.microsoft.com/office/drawing/2014/main" id="{E16FA45F-D388-40DD-9DD0-9C8015CB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rule: defer only if deadline, energy budget, water/site limits and equitable waiting-time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commitments remain satisfied; record exceptions.</a:t>
            </a:r>
          </a:p>
        </p:txBody>
      </p:sp>
      <p:sp>
        <p:nvSpPr>
          <p:cNvPr id="10" name="No feasible window: reduce scale, redesign or approve a">
            <a:extLst xmlns:a="http://schemas.openxmlformats.org/drawingml/2006/main">
              <a:ext uri="{FF2B5EF4-FFF2-40B4-BE49-F238E27FC236}">
                <a16:creationId xmlns:a16="http://schemas.microsoft.com/office/drawing/2014/main" id="{0F6AE46D-90EE-4C8C-ADE3-0237EBAA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feasible window: reduce scale, redesign or approve a justified urgent exception. Prevent indefinite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deferral. Data residency and transfer costs constrain moving work between sites.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F6ACC-50D8-4FDA-8B7D-5A03A984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2" name="Flexible jobs may move; urgent jobs, water constraints ">
            <a:extLst xmlns:a="http://schemas.openxmlformats.org/drawingml/2006/main">
              <a:ext uri="{FF2B5EF4-FFF2-40B4-BE49-F238E27FC236}">
                <a16:creationId xmlns:a16="http://schemas.microsoft.com/office/drawing/2014/main" id="{38CDDF56-A825-43AA-BB89-0F20F9EE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jobs may move; urgent jobs, water constraints and access commitments can override deferral.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6CE96-64F0-4DDB-8B5B-5E8A1E35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4" name="Sources: [9] Li et al. 2025 revision: water impacts; [1">
            <a:extLst xmlns:a="http://schemas.openxmlformats.org/drawingml/2006/main">
              <a:ext uri="{FF2B5EF4-FFF2-40B4-BE49-F238E27FC236}">
                <a16:creationId xmlns:a16="http://schemas.microsoft.com/office/drawing/2014/main" id="{9D99343B-6545-4A69-AFCA-DEA5465C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Li et al. 2025 revision: water impacts; [14] Radovanovic et al. 2021: flexible scheduling; [16] NIST: Govern, Map, Measure, Manage</a:t>
            </a:r>
          </a:p>
        </p:txBody>
      </p:sp>
      <p:sp>
        <p:nvSpPr>
          <p:cNvPr id="15" name="24 / 40">
            <a:extLst xmlns:a="http://schemas.openxmlformats.org/drawingml/2006/main">
              <a:ext uri="{FF2B5EF4-FFF2-40B4-BE49-F238E27FC236}">
                <a16:creationId xmlns:a16="http://schemas.microsoft.com/office/drawing/2014/main" id="{92D54862-C172-4425-9EAD-5C96262A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24 / 40</a:t>
            </a:r>
          </a:p>
        </p:txBody>
      </p:sp>
    </p:spTree>
    <p:extLst>
      <p:ext uri="{BB962C8B-B14F-4D97-AF65-F5344CB8AC3E}">
        <p14:creationId xmlns:p14="http://schemas.microsoft.com/office/powerpoint/2010/main" val="201881611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s 1 and 2 • Conclusions and limitations">
            <a:extLst xmlns:a="http://schemas.openxmlformats.org/drawingml/2006/main">
              <a:ext uri="{FF2B5EF4-FFF2-40B4-BE49-F238E27FC236}">
                <a16:creationId xmlns:a16="http://schemas.microsoft.com/office/drawing/2014/main" id="{C668D6F1-AAB3-49A1-8D65-F55B1CCD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Tasks 1 and 2 • Conclusions and limitations</a:t>
            </a:r>
          </a:p>
        </p:txBody>
      </p:sp>
      <p:sp>
        <p:nvSpPr>
          <p:cNvPr id="2" name="Conclusions and next measurements">
            <a:extLst xmlns:a="http://schemas.openxmlformats.org/drawingml/2006/main">
              <a:ext uri="{FF2B5EF4-FFF2-40B4-BE49-F238E27FC236}">
                <a16:creationId xmlns:a16="http://schemas.microsoft.com/office/drawing/2014/main" id="{E9DE0B8D-D2AB-4132-8F33-061ACDD5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Conclusions and next measurements</a:t>
            </a:r>
          </a:p>
        </p:txBody>
      </p:sp>
      <p:sp>
        <p:nvSpPr>
          <p:cNvPr id="3" name="GPU rotation">
            <a:extLst xmlns:a="http://schemas.openxmlformats.org/drawingml/2006/main">
              <a:ext uri="{FF2B5EF4-FFF2-40B4-BE49-F238E27FC236}">
                <a16:creationId xmlns:a16="http://schemas.microsoft.com/office/drawing/2014/main" id="{0210C561-1784-4111-B12B-01A279CC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GPU rotation</a:t>
            </a:r>
          </a:p>
        </p:txBody>
      </p:sp>
      <p:sp>
        <p:nvSpPr>
          <p:cNvPr id="4" name="Inverse gathering exposes independent pixel work. SM sc">
            <a:extLst xmlns:a="http://schemas.openxmlformats.org/drawingml/2006/main">
              <a:ext uri="{FF2B5EF4-FFF2-40B4-BE49-F238E27FC236}">
                <a16:creationId xmlns:a16="http://schemas.microsoft.com/office/drawing/2014/main" id="{5ED55A84-E05B-4F1D-BF4A-A5371CA9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gathering exposes independent pixel work.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SM scheduling, memory locality and transfer costs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determine achieved performance.</a:t>
            </a:r>
          </a:p>
        </p:txBody>
      </p:sp>
      <p:sp>
        <p:nvSpPr>
          <p:cNvPr id="5" name="Choose a CPU baseline and compare completed equivalent ">
            <a:extLst xmlns:a="http://schemas.openxmlformats.org/drawingml/2006/main">
              <a:ext uri="{FF2B5EF4-FFF2-40B4-BE49-F238E27FC236}">
                <a16:creationId xmlns:a16="http://schemas.microsoft.com/office/drawing/2014/main" id="{68B4A6C5-1518-4392-A40E-36801AA7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Choose a CPU baseline and compare completed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equivalent pipelines. GDS is conditional on storage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bottlenecks, a compatible data path and verified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support.</a:t>
            </a:r>
          </a:p>
        </p:txBody>
      </p:sp>
      <p:sp>
        <p:nvSpPr>
          <p:cNvPr id="6" name="Next: compile the teaching examples, check output again">
            <a:extLst xmlns:a="http://schemas.openxmlformats.org/drawingml/2006/main">
              <a:ext uri="{FF2B5EF4-FFF2-40B4-BE49-F238E27FC236}">
                <a16:creationId xmlns:a16="http://schemas.microsoft.com/office/drawing/2014/main" id="{687CCA37-B016-4526-95DC-5DBA237B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compile the teaching examples, check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against a CPU reference and profile representative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sizes/angles/batches. No result is assumed.</a:t>
            </a:r>
          </a:p>
        </p:txBody>
      </p:sp>
      <p:sp>
        <p:nvSpPr>
          <p:cNvPr id="7" name="Responsible scaling">
            <a:extLst xmlns:a="http://schemas.openxmlformats.org/drawingml/2006/main">
              <a:ext uri="{FF2B5EF4-FFF2-40B4-BE49-F238E27FC236}">
                <a16:creationId xmlns:a16="http://schemas.microsoft.com/office/drawing/2014/main" id="{960062AF-5B15-47E0-AAD7-5A9B51DC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Responsible scaling</a:t>
            </a:r>
          </a:p>
        </p:txBody>
      </p:sp>
      <p:sp>
        <p:nvSpPr>
          <p:cNvPr id="8" name="More compute can enable valuable research while concent">
            <a:extLst xmlns:a="http://schemas.openxmlformats.org/drawingml/2006/main">
              <a:ext uri="{FF2B5EF4-FFF2-40B4-BE49-F238E27FC236}">
                <a16:creationId xmlns:a16="http://schemas.microsoft.com/office/drawing/2014/main" id="{42A12BDC-FE6F-419F-A23A-B367CB73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compute can enable valuable research while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concentrating access and increasing resource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demand. Approve scale for useful outcomes,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9" name="Combine job-level energy/resource evidence, separate se">
            <a:extLst xmlns:a="http://schemas.openxmlformats.org/drawingml/2006/main">
              <a:ext uri="{FF2B5EF4-FFF2-40B4-BE49-F238E27FC236}">
                <a16:creationId xmlns:a16="http://schemas.microsoft.com/office/drawing/2014/main" id="{0ABD5618-D8B4-4DC9-972A-F39B4B33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Combine job-level energy/resource evidence,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security/fairness evaluation, transparent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allocations and deadline-aware scheduling.</a:t>
            </a:r>
          </a:p>
        </p:txBody>
      </p:sp>
      <p:sp>
        <p:nvSpPr>
          <p:cNvPr id="10" name="Next: measure a real cluster job’s energy, quality, sca">
            <a:extLst xmlns:a="http://schemas.openxmlformats.org/drawingml/2006/main">
              <a:ext uri="{FF2B5EF4-FFF2-40B4-BE49-F238E27FC236}">
                <a16:creationId xmlns:a16="http://schemas.microsoft.com/office/drawing/2014/main" id="{92E75E63-1F97-4ED3-BA18-1DD2A56B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measure a real cluster job’s energy, quality,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efficiency and allocation outcomes; revise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policy when evidence or conditions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E93EA-75B5-4C72-8D7C-A2B8C3CD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1DE40-5B66-4C1D-BBEE-A4FC06D4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NVIDIA CUDA Best Practices; [3] NVIDIA GDS">
            <a:extLst xmlns:a="http://schemas.openxmlformats.org/drawingml/2006/main">
              <a:ext uri="{FF2B5EF4-FFF2-40B4-BE49-F238E27FC236}">
                <a16:creationId xmlns:a16="http://schemas.microsoft.com/office/drawing/2014/main" id="{79BC2F95-AEB0-4C5E-9329-DC8EFF26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Practices; [3] NVIDIA GDS overview; [4] NVIDIA GDS design; [10] Schwartz et al. 2019: efficiency reporting; [14] Radovanovic et al. 2021: flexible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scheduling; [16] NIST: Govern, Map, Measure, Manage</a:t>
            </a:r>
          </a:p>
        </p:txBody>
      </p:sp>
      <p:sp>
        <p:nvSpPr>
          <p:cNvPr id="14" name="25 / 40">
            <a:extLst xmlns:a="http://schemas.openxmlformats.org/drawingml/2006/main">
              <a:ext uri="{FF2B5EF4-FFF2-40B4-BE49-F238E27FC236}">
                <a16:creationId xmlns:a16="http://schemas.microsoft.com/office/drawing/2014/main" id="{82089B05-4A9A-4FD1-9CE4-39CB5323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25 / 40</a:t>
            </a:r>
          </a:p>
        </p:txBody>
      </p:sp>
    </p:spTree>
    <p:extLst>
      <p:ext uri="{BB962C8B-B14F-4D97-AF65-F5344CB8AC3E}">
        <p14:creationId xmlns:p14="http://schemas.microsoft.com/office/powerpoint/2010/main" val="2886376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ppendix • Reading guide">
            <a:extLst xmlns:a="http://schemas.openxmlformats.org/drawingml/2006/main">
              <a:ext uri="{FF2B5EF4-FFF2-40B4-BE49-F238E27FC236}">
                <a16:creationId xmlns:a16="http://schemas.microsoft.com/office/drawing/2014/main" id="{201C8613-553F-43DE-A8A3-66A3C457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Reading guide</a:t>
            </a:r>
          </a:p>
        </p:txBody>
      </p:sp>
      <p:sp>
        <p:nvSpPr>
          <p:cNvPr id="2" name="Optional supporting material">
            <a:extLst xmlns:a="http://schemas.openxmlformats.org/drawingml/2006/main">
              <a:ext uri="{FF2B5EF4-FFF2-40B4-BE49-F238E27FC236}">
                <a16:creationId xmlns:a16="http://schemas.microsoft.com/office/drawing/2014/main" id="{9365D6C4-6E82-4B58-8654-7B8F78D8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Optional supporting material</a:t>
            </a:r>
          </a:p>
        </p:txBody>
      </p:sp>
      <p:sp>
        <p:nvSpPr>
          <p:cNvPr id="3" name="Task 1: implementation expansions">
            <a:extLst xmlns:a="http://schemas.openxmlformats.org/drawingml/2006/main">
              <a:ext uri="{FF2B5EF4-FFF2-40B4-BE49-F238E27FC236}">
                <a16:creationId xmlns:a16="http://schemas.microsoft.com/office/drawing/2014/main" id="{081B4469-A936-4C32-BAD7-FF749220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1: implementation expansions</a:t>
            </a:r>
          </a:p>
        </p:txBody>
      </p:sp>
      <p:sp>
        <p:nvSpPr>
          <p:cNvPr id="4" name="The Task 1 answers already contain the rotation formula">
            <a:extLst xmlns:a="http://schemas.openxmlformats.org/drawingml/2006/main">
              <a:ext uri="{FF2B5EF4-FFF2-40B4-BE49-F238E27FC236}">
                <a16:creationId xmlns:a16="http://schemas.microsoft.com/office/drawing/2014/main" id="{3CA73105-5F2A-4B05-9B10-4EFA2AD5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Task 1 answers already contain the rotation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formula, worked calculation, kernel, host launch,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launch-shape comparison and stream/overlap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example.</a:t>
            </a:r>
          </a:p>
        </p:txBody>
      </p:sp>
      <p:sp>
        <p:nvSpPr>
          <p:cNvPr id="5" name="The following slides expand coordinate conventions and ">
            <a:extLst xmlns:a="http://schemas.openxmlformats.org/drawingml/2006/main">
              <a:ext uri="{FF2B5EF4-FFF2-40B4-BE49-F238E27FC236}">
                <a16:creationId xmlns:a16="http://schemas.microsoft.com/office/drawing/2014/main" id="{2D151ED5-D0CF-4B24-8B61-7528EA7F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following slides expand coordinate conventions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complete source examples, then give an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optional profiling plan and GDS background.</a:t>
            </a:r>
          </a:p>
        </p:txBody>
      </p:sp>
      <p:sp>
        <p:nvSpPr>
          <p:cNvPr id="6" name="Task 2: supplementary comparisons">
            <a:extLst xmlns:a="http://schemas.openxmlformats.org/drawingml/2006/main">
              <a:ext uri="{FF2B5EF4-FFF2-40B4-BE49-F238E27FC236}">
                <a16:creationId xmlns:a16="http://schemas.microsoft.com/office/drawing/2014/main" id="{B8B4DE3B-AC7F-41CB-A43D-B6604506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2: supplementary comparisons</a:t>
            </a:r>
          </a:p>
        </p:txBody>
      </p:sp>
      <p:sp>
        <p:nvSpPr>
          <p:cNvPr id="7" name="The Task 2 answers already contain energy/carbon calcul">
            <a:extLst xmlns:a="http://schemas.openxmlformats.org/drawingml/2006/main">
              <a:ext uri="{FF2B5EF4-FFF2-40B4-BE49-F238E27FC236}">
                <a16:creationId xmlns:a16="http://schemas.microsoft.com/office/drawing/2014/main" id="{0368A9E5-D276-47DF-BE94-E681CD13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Task 2 answers already contain energy/carbon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calculations, research comparisons, governance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fairness decisions, access policy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accountable scheduling.</a:t>
            </a:r>
          </a:p>
        </p:txBody>
      </p:sp>
      <p:sp>
        <p:nvSpPr>
          <p:cNvPr id="8" name="Additional parallelism and cross-topic comparison table">
            <a:extLst xmlns:a="http://schemas.openxmlformats.org/drawingml/2006/main">
              <a:ext uri="{FF2B5EF4-FFF2-40B4-BE49-F238E27FC236}">
                <a16:creationId xmlns:a16="http://schemas.microsoft.com/office/drawing/2014/main" id="{8A931CCA-ACAF-4AF7-BD8F-F13924FD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Additional parallelism and cross-topic comparison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tables follow. Website references and one brief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AI-use declaration complete the deck.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9423E-6214-42AC-A379-48EB8C3A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8939E-70E3-43C9-BA4C-9640EA07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1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911B787-E55D-4A1A-8827-106C5D5B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2" name="26 / 40">
            <a:extLst xmlns:a="http://schemas.openxmlformats.org/drawingml/2006/main">
              <a:ext uri="{FF2B5EF4-FFF2-40B4-BE49-F238E27FC236}">
                <a16:creationId xmlns:a16="http://schemas.microsoft.com/office/drawing/2014/main" id="{FD170613-2909-4C7B-AB64-D594AC92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26 / 40</a:t>
            </a:r>
          </a:p>
        </p:txBody>
      </p:sp>
    </p:spTree>
    <p:extLst>
      <p:ext uri="{BB962C8B-B14F-4D97-AF65-F5344CB8AC3E}">
        <p14:creationId xmlns:p14="http://schemas.microsoft.com/office/powerpoint/2010/main" val="205941968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">
            <a:extLst xmlns:a="http://schemas.openxmlformats.org/drawingml/2006/main">
              <a:ext uri="{FF2B5EF4-FFF2-40B4-BE49-F238E27FC236}">
                <a16:creationId xmlns:a16="http://schemas.microsoft.com/office/drawing/2014/main" id="{A43EE15B-F1C6-4362-865C-59302A72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</a:t>
            </a:r>
          </a:p>
        </p:txBody>
      </p:sp>
      <p:sp>
        <p:nvSpPr>
          <p:cNvPr id="2" name="Rotation coordinates and sampling">
            <a:extLst xmlns:a="http://schemas.openxmlformats.org/drawingml/2006/main">
              <a:ext uri="{FF2B5EF4-FFF2-40B4-BE49-F238E27FC236}">
                <a16:creationId xmlns:a16="http://schemas.microsoft.com/office/drawing/2014/main" id="{296CC6F4-069A-4A11-9002-539CAD8C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coordinates and sampling</a:t>
            </a:r>
          </a:p>
        </p:txBody>
      </p:sp>
      <p:sp>
        <p:nvSpPr>
          <p:cNvPr id="3" name="Coordinate convention">
            <a:extLst xmlns:a="http://schemas.openxmlformats.org/drawingml/2006/main">
              <a:ext uri="{FF2B5EF4-FFF2-40B4-BE49-F238E27FC236}">
                <a16:creationId xmlns:a16="http://schemas.microsoft.com/office/drawing/2014/main" id="{6B8668BB-84A9-4B59-9DDF-796B7B4A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Coordinate convention</a:t>
            </a:r>
          </a:p>
        </p:txBody>
      </p:sp>
      <p:sp>
        <p:nvSpPr>
          <p:cNvPr id="4" name="Input/output: contiguous 8-bit RGB; positive width W an">
            <a:extLst xmlns:a="http://schemas.openxmlformats.org/drawingml/2006/main">
              <a:ext uri="{FF2B5EF4-FFF2-40B4-BE49-F238E27FC236}">
                <a16:creationId xmlns:a16="http://schemas.microsoft.com/office/drawing/2014/main" id="{AF5D445B-467F-4C74-8C16-7E32B75B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Input/output: contiguous 8-bit RGB; positive width 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height H; x points right and y points down. Input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output buffers are distinct.</a:t>
            </a:r>
          </a:p>
        </p:txBody>
      </p:sp>
      <p:sp>
        <p:nvSpPr>
          <p:cNvPr id="5" name="Rotate around cx = (W − 1)/2 and cy = (H − 1)/2. Positi">
            <a:extLst xmlns:a="http://schemas.openxmlformats.org/drawingml/2006/main">
              <a:ext uri="{FF2B5EF4-FFF2-40B4-BE49-F238E27FC236}">
                <a16:creationId xmlns:a16="http://schemas.microsoft.com/office/drawing/2014/main" id="{E335CA88-EEEB-4D28-83CF-D141B35D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Rotate around cx = (W − 1)/2 and cy = (H − 1)/2.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Positive θ is visually counterclockwise; the host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supplies c = cos θ and s = sin θ in radians.</a:t>
            </a:r>
          </a:p>
        </p:txBody>
      </p:sp>
      <p:sp>
        <p:nvSpPr>
          <p:cNvPr id="6" name="Forward image-coordinate rotation uses [c s; −s c]. Inv">
            <a:extLst xmlns:a="http://schemas.openxmlformats.org/drawingml/2006/main">
              <a:ext uri="{FF2B5EF4-FFF2-40B4-BE49-F238E27FC236}">
                <a16:creationId xmlns:a16="http://schemas.microsoft.com/office/drawing/2014/main" id="{D76BF850-B401-4FBF-BCB2-7213B515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image-coordinate rotation uses [c s; −s c].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Inverting it gives source offsets [c −s; s c] ×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offsets, then restores the center.</a:t>
            </a:r>
          </a:p>
        </p:txBody>
      </p:sp>
      <p:sp>
        <p:nvSpPr>
          <p:cNvPr id="7" name="Deliberate design choices">
            <a:extLst xmlns:a="http://schemas.openxmlformats.org/drawingml/2006/main">
              <a:ext uri="{FF2B5EF4-FFF2-40B4-BE49-F238E27FC236}">
                <a16:creationId xmlns:a16="http://schemas.microsoft.com/office/drawing/2014/main" id="{6A0EFAD2-0CF5-4DFA-BF38-E1E689F6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Deliberate design choices</a:t>
            </a:r>
          </a:p>
        </p:txBody>
      </p:sp>
      <p:sp>
        <p:nvSpPr>
          <p:cNvPr id="8" name="Nearest-neighbour indices: ix = floor(sx + 0.5), iy = f">
            <a:extLst xmlns:a="http://schemas.openxmlformats.org/drawingml/2006/main">
              <a:ext uri="{FF2B5EF4-FFF2-40B4-BE49-F238E27FC236}">
                <a16:creationId xmlns:a16="http://schemas.microsoft.com/office/drawing/2014/main" id="{2D38B29B-7DC3-4827-9FC3-FFD4EE03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indices: ix = floor(sx + 0.5), iy =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floor(sy + 0.5). Copy three channels if the rounded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indices are in bounds; otherwise write black.</a:t>
            </a:r>
          </a:p>
        </p:txBody>
      </p:sp>
      <p:sp>
        <p:nvSpPr>
          <p:cNvPr id="9" name="The fixed W × H canvas can crop rotated corners. Neares">
            <a:extLst xmlns:a="http://schemas.openxmlformats.org/drawingml/2006/main">
              <a:ext uri="{FF2B5EF4-FFF2-40B4-BE49-F238E27FC236}">
                <a16:creationId xmlns:a16="http://schemas.microsoft.com/office/drawing/2014/main" id="{42904B68-22ED-4D21-A7BE-2692CA05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fixed W × H canvas can crop rotated corners.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sampling can alias; bilinear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interpolation improves smoothness but adds 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reads/arithmetic.</a:t>
            </a:r>
          </a:p>
        </p:txBody>
      </p:sp>
      <p:sp>
        <p:nvSpPr>
          <p:cNvPr id="10" name="Forward scatter can leave holes or competing writes aft">
            <a:extLst xmlns:a="http://schemas.openxmlformats.org/drawingml/2006/main">
              <a:ext uri="{FF2B5EF4-FFF2-40B4-BE49-F238E27FC236}">
                <a16:creationId xmlns:a16="http://schemas.microsoft.com/office/drawing/2014/main" id="{C9B208DF-0C49-47BA-B6C9-B5B56EFA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scatter can leave holes or competing writes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after rounding. Inverse gathering assigns every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exactly one writer. NPP offers library rotation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 explicit interpolation/ROI choices.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341B2-FE28-490D-B1B0-307263D4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6B3963-8410-43AD-A6FB-447339A2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7] NVIDIA NPP: library alternative">
            <a:extLst xmlns:a="http://schemas.openxmlformats.org/drawingml/2006/main">
              <a:ext uri="{FF2B5EF4-FFF2-40B4-BE49-F238E27FC236}">
                <a16:creationId xmlns:a16="http://schemas.microsoft.com/office/drawing/2014/main" id="{92A86FAC-2B55-4DC2-B677-8954CD23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[17] NVIDIA NPP: library alternative</a:t>
            </a:r>
          </a:p>
        </p:txBody>
      </p:sp>
      <p:sp>
        <p:nvSpPr>
          <p:cNvPr id="14" name="27 / 40">
            <a:extLst xmlns:a="http://schemas.openxmlformats.org/drawingml/2006/main">
              <a:ext uri="{FF2B5EF4-FFF2-40B4-BE49-F238E27FC236}">
                <a16:creationId xmlns:a16="http://schemas.microsoft.com/office/drawing/2014/main" id="{4B800993-1A88-4023-A684-4EF741C4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27 / 40</a:t>
            </a:r>
          </a:p>
        </p:txBody>
      </p:sp>
    </p:spTree>
    <p:extLst>
      <p:ext uri="{BB962C8B-B14F-4D97-AF65-F5344CB8AC3E}">
        <p14:creationId xmlns:p14="http://schemas.microsoft.com/office/powerpoint/2010/main" val="40187442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2">
            <a:extLst xmlns:a="http://schemas.openxmlformats.org/drawingml/2006/main">
              <a:ext uri="{FF2B5EF4-FFF2-40B4-BE49-F238E27FC236}">
                <a16:creationId xmlns:a16="http://schemas.microsoft.com/office/drawing/2014/main" id="{103C7BE7-9182-4051-B17E-BBC4ECD5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A2</a:t>
            </a:r>
          </a:p>
        </p:txBody>
      </p:sp>
      <p:sp>
        <p:nvSpPr>
          <p:cNvPr id="2" name="Crafted CUDA example: RGB brightness">
            <a:extLst xmlns:a="http://schemas.openxmlformats.org/drawingml/2006/main">
              <a:ext uri="{FF2B5EF4-FFF2-40B4-BE49-F238E27FC236}">
                <a16:creationId xmlns:a16="http://schemas.microsoft.com/office/drawing/2014/main" id="{3E2927D0-7ADE-4308-AC4E-C577F4C0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RGB brightness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47BE1-EDB3-4E3F-85C0-7099BCF7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brightness_rgb(const unsigned char* inp">
            <a:extLst xmlns:a="http://schemas.openxmlformats.org/drawingml/2006/main">
              <a:ext uri="{FF2B5EF4-FFF2-40B4-BE49-F238E27FC236}">
                <a16:creationId xmlns:a16="http://schemas.microsoft.com/office/drawing/2014/main" id="{EEC1EDBD-7269-4F3C-AC46-999415D8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brightness_rgb(const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brightness)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offset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(size_t(y) * size_t(width) + size_t(x))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int value = int(input[offset + channel]) + brightness;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output[offset + channel]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value &lt; 0 ? 0 : (value &gt; 255 ? 255 : value);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Same operation on independent pixels: a data-parallel k">
            <a:extLst xmlns:a="http://schemas.openxmlformats.org/drawingml/2006/main">
              <a:ext uri="{FF2B5EF4-FFF2-40B4-BE49-F238E27FC236}">
                <a16:creationId xmlns:a16="http://schemas.microsoft.com/office/drawing/2014/main" id="{7FDA70FA-6170-4ACA-BD08-C6FA1051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operation 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independent pixels: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data-parallel kernel.</a:t>
            </a:r>
          </a:p>
        </p:txBody>
      </p:sp>
      <p:sp>
        <p:nvSpPr>
          <p:cNvPr id="6" name="Assume brightness in [−255,255]. Integer addition avoid">
            <a:extLst xmlns:a="http://schemas.openxmlformats.org/drawingml/2006/main">
              <a:ext uri="{FF2B5EF4-FFF2-40B4-BE49-F238E27FC236}">
                <a16:creationId xmlns:a16="http://schemas.microsoft.com/office/drawing/2014/main" id="{CD9330EE-3238-473D-AFC8-D262B879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Assume brightness in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[−255,255]. Integer addition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avoids uint8 wrap; clamp each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 to [0,255].</a:t>
            </a:r>
          </a:p>
        </p:txBody>
      </p:sp>
      <p:sp>
        <p:nvSpPr>
          <p:cNvPr id="7" name="Adjacent threads touch adjacent pixel locations, provid">
            <a:extLst xmlns:a="http://schemas.openxmlformats.org/drawingml/2006/main">
              <a:ext uri="{FF2B5EF4-FFF2-40B4-BE49-F238E27FC236}">
                <a16:creationId xmlns:a16="http://schemas.microsoft.com/office/drawing/2014/main" id="{9BCF0494-5556-43B2-81F2-E8DEB7ED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24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threads touch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pixel locations,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providing useful locality.</a:t>
            </a:r>
          </a:p>
        </p:txBody>
      </p:sp>
      <p:sp>
        <p:nvSpPr>
          <p:cNvPr id="8" name="Illustrative CUDA C++; uncompiled and unbenchmarked.">
            <a:extLst xmlns:a="http://schemas.openxmlformats.org/drawingml/2006/main">
              <a:ext uri="{FF2B5EF4-FFF2-40B4-BE49-F238E27FC236}">
                <a16:creationId xmlns:a16="http://schemas.microsoft.com/office/drawing/2014/main" id="{DFE15BEA-AF99-4523-9CB3-A210729A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6537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CUDA C++;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uncompiled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unbenchmarked.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7F721-F63B-4480-A4FA-8F0DEDE6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NVIDIA CUDA programming model">
            <a:extLst xmlns:a="http://schemas.openxmlformats.org/drawingml/2006/main">
              <a:ext uri="{FF2B5EF4-FFF2-40B4-BE49-F238E27FC236}">
                <a16:creationId xmlns:a16="http://schemas.microsoft.com/office/drawing/2014/main" id="{237AA21D-169C-4A1C-BAAD-7EE28239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</a:t>
            </a:r>
          </a:p>
        </p:txBody>
      </p:sp>
      <p:sp>
        <p:nvSpPr>
          <p:cNvPr id="11" name="28 / 40">
            <a:extLst xmlns:a="http://schemas.openxmlformats.org/drawingml/2006/main">
              <a:ext uri="{FF2B5EF4-FFF2-40B4-BE49-F238E27FC236}">
                <a16:creationId xmlns:a16="http://schemas.microsoft.com/office/drawing/2014/main" id="{AE832696-F4FF-454D-BDBB-BB963BF7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28 / 40</a:t>
            </a:r>
          </a:p>
        </p:txBody>
      </p:sp>
    </p:spTree>
    <p:extLst>
      <p:ext uri="{BB962C8B-B14F-4D97-AF65-F5344CB8AC3E}">
        <p14:creationId xmlns:p14="http://schemas.microsoft.com/office/powerpoint/2010/main" val="187654656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3">
            <a:extLst xmlns:a="http://schemas.openxmlformats.org/drawingml/2006/main">
              <a:ext uri="{FF2B5EF4-FFF2-40B4-BE49-F238E27FC236}">
                <a16:creationId xmlns:a16="http://schemas.microsoft.com/office/drawing/2014/main" id="{9A219AE1-DC6B-4FC2-9E8D-DA9AE9A6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A3</a:t>
            </a:r>
          </a:p>
        </p:txBody>
      </p:sp>
      <p:sp>
        <p:nvSpPr>
          <p:cNvPr id="2" name="Crafted CUDA example: inverse mapping">
            <a:extLst xmlns:a="http://schemas.openxmlformats.org/drawingml/2006/main">
              <a:ext uri="{FF2B5EF4-FFF2-40B4-BE49-F238E27FC236}">
                <a16:creationId xmlns:a16="http://schemas.microsoft.com/office/drawing/2014/main" id="{6FED6A6F-627A-4F9E-A04F-E67985DE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inverse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7148A-32E8-4395-BFF1-AD8A59C9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rotate_rgb(const unsigned char* input,&#10;">
            <a:extLst xmlns:a="http://schemas.openxmlformats.org/drawingml/2006/main">
              <a:ext uri="{FF2B5EF4-FFF2-40B4-BE49-F238E27FC236}">
                <a16:creationId xmlns:a16="http://schemas.microsoft.com/office/drawing/2014/main" id="{1C4A97D5-1059-4CBE-BD4A-B0D99BC6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rotate_rgb(const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c,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cx = (width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cy = (height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sx = c * (x - cx) - s * (y - cy) + cx;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sy = s * (x - cx) + c * (y - cy) + cy;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ix = int(floorf(sx + 0.5f));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iy = int(floorf(sy + 0.5f));</a:t>
            </a:r>
          </a:p>
        </p:txBody>
      </p:sp>
      <p:sp>
        <p:nvSpPr>
          <p:cNvPr id="5" name="Global coordinates come from block/thread indices.">
            <a:extLst xmlns:a="http://schemas.openxmlformats.org/drawingml/2006/main">
              <a:ext uri="{FF2B5EF4-FFF2-40B4-BE49-F238E27FC236}">
                <a16:creationId xmlns:a16="http://schemas.microsoft.com/office/drawing/2014/main" id="{0F20D864-7C8A-41C2-A61C-9D6DC8A1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coordinates come from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block/thread indices.</a:t>
            </a:r>
          </a:p>
        </p:txBody>
      </p:sp>
      <p:sp>
        <p:nvSpPr>
          <p:cNvPr id="6" name="The guard handles partial edge blocks before any memory">
            <a:extLst xmlns:a="http://schemas.openxmlformats.org/drawingml/2006/main">
              <a:ext uri="{FF2B5EF4-FFF2-40B4-BE49-F238E27FC236}">
                <a16:creationId xmlns:a16="http://schemas.microsoft.com/office/drawing/2014/main" id="{59054D8C-1F2A-4D4C-AF4E-27404B1D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guard handles partial edge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blocks before any memory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access.</a:t>
            </a:r>
          </a:p>
        </p:txBody>
      </p:sp>
      <p:sp>
        <p:nvSpPr>
          <p:cNvPr id="7" name="The host computes sine/cosine once per angle.">
            <a:extLst xmlns:a="http://schemas.openxmlformats.org/drawingml/2006/main">
              <a:ext uri="{FF2B5EF4-FFF2-40B4-BE49-F238E27FC236}">
                <a16:creationId xmlns:a16="http://schemas.microsoft.com/office/drawing/2014/main" id="{2DFDB609-827D-4E67-BAFA-053CF84D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host computes sine/cosine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once per angle.</a:t>
            </a:r>
          </a:p>
        </p:txBody>
      </p:sp>
      <p:sp>
        <p:nvSpPr>
          <p:cNvPr id="8" name="Nearest-neighbour mapping uses the documented y-down co">
            <a:extLst xmlns:a="http://schemas.openxmlformats.org/drawingml/2006/main">
              <a:ext uri="{FF2B5EF4-FFF2-40B4-BE49-F238E27FC236}">
                <a16:creationId xmlns:a16="http://schemas.microsoft.com/office/drawing/2014/main" id="{8750ADEC-FF57-4E71-B51F-7D3C9D87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8584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mapping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uses the documented y-down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BA87D-D599-46D0-BDD9-4E8DA552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NVIDIA CUDA programming model">
            <a:extLst xmlns:a="http://schemas.openxmlformats.org/drawingml/2006/main">
              <a:ext uri="{FF2B5EF4-FFF2-40B4-BE49-F238E27FC236}">
                <a16:creationId xmlns:a16="http://schemas.microsoft.com/office/drawing/2014/main" id="{9772731F-7EEC-4AB0-88AE-33A48FE0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</a:t>
            </a:r>
          </a:p>
        </p:txBody>
      </p:sp>
      <p:sp>
        <p:nvSpPr>
          <p:cNvPr id="11" name="29 / 40">
            <a:extLst xmlns:a="http://schemas.openxmlformats.org/drawingml/2006/main">
              <a:ext uri="{FF2B5EF4-FFF2-40B4-BE49-F238E27FC236}">
                <a16:creationId xmlns:a16="http://schemas.microsoft.com/office/drawing/2014/main" id="{47ECD586-312B-48A0-8205-1FE9FE70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29 / 40</a:t>
            </a:r>
          </a:p>
        </p:txBody>
      </p:sp>
    </p:spTree>
    <p:extLst>
      <p:ext uri="{BB962C8B-B14F-4D97-AF65-F5344CB8AC3E}">
        <p14:creationId xmlns:p14="http://schemas.microsoft.com/office/powerpoint/2010/main" val="51753953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4">
            <a:extLst xmlns:a="http://schemas.openxmlformats.org/drawingml/2006/main">
              <a:ext uri="{FF2B5EF4-FFF2-40B4-BE49-F238E27FC236}">
                <a16:creationId xmlns:a16="http://schemas.microsoft.com/office/drawing/2014/main" id="{13D68807-BB48-4C02-ABB9-D2C79EEE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A4</a:t>
            </a:r>
          </a:p>
        </p:txBody>
      </p:sp>
      <p:sp>
        <p:nvSpPr>
          <p:cNvPr id="2" name="Crafted CUDA example: safe output writes">
            <a:extLst xmlns:a="http://schemas.openxmlformats.org/drawingml/2006/main">
              <a:ext uri="{FF2B5EF4-FFF2-40B4-BE49-F238E27FC236}">
                <a16:creationId xmlns:a16="http://schemas.microsoft.com/office/drawing/2014/main" id="{FC95B388-AD21-4777-BC03-09D38DDF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safe output writes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96742-FCBD-4D52-AD04-9C1BE2D3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    const size_t destination =&#10;        (size_t(y) * siz">
            <a:extLst xmlns:a="http://schemas.openxmlformats.org/drawingml/2006/main">
              <a:ext uri="{FF2B5EF4-FFF2-40B4-BE49-F238E27FC236}">
                <a16:creationId xmlns:a16="http://schemas.microsoft.com/office/drawing/2014/main" id="{31DB5C21-1BB4-4D28-8398-C8E75794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destination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(size_t(y) * size_t(width) + size_t(x)) * 3;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(ix &gt;= 0 &amp;&amp; ix &lt; width &amp;&amp; iy &gt;= 0 &amp;&amp; iy &lt;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size_t source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(size_t(iy) * size_t(width) + size_t(ix))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input[source + channel];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0;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RGB address = 3 × (row × width + column).">
            <a:extLst xmlns:a="http://schemas.openxmlformats.org/drawingml/2006/main">
              <a:ext uri="{FF2B5EF4-FFF2-40B4-BE49-F238E27FC236}">
                <a16:creationId xmlns:a16="http://schemas.microsoft.com/office/drawing/2014/main" id="{96F55367-DAAA-4850-A6F4-253F900F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RGB address = 3 × (row ×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width + column).</a:t>
            </a:r>
          </a:p>
        </p:txBody>
      </p:sp>
      <p:sp>
        <p:nvSpPr>
          <p:cNvPr id="6" name="Every valid output gets three channels, including black">
            <a:extLst xmlns:a="http://schemas.openxmlformats.org/drawingml/2006/main">
              <a:ext uri="{FF2B5EF4-FFF2-40B4-BE49-F238E27FC236}">
                <a16:creationId xmlns:a16="http://schemas.microsoft.com/office/drawing/2014/main" id="{630DC626-62FA-42EA-B0D9-E78DAEFD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Every valid output gets three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channels, including black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borders.</a:t>
            </a:r>
          </a:p>
        </p:txBody>
      </p:sp>
      <p:sp>
        <p:nvSpPr>
          <p:cNvPr id="7" name="No atomics, mutex or block barrier is needed: writers h">
            <a:extLst xmlns:a="http://schemas.openxmlformats.org/drawingml/2006/main">
              <a:ext uri="{FF2B5EF4-FFF2-40B4-BE49-F238E27FC236}">
                <a16:creationId xmlns:a16="http://schemas.microsoft.com/office/drawing/2014/main" id="{9B97FB80-B68B-4A87-AE38-BFFDD568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atomics, mutex or block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barrier is needed: writers have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disjoint destinations.</a:t>
            </a:r>
          </a:p>
        </p:txBody>
      </p:sp>
      <p:sp>
        <p:nvSpPr>
          <p:cNvPr id="8" name="Total work Θ(W × H); input/output storage Θ(W × H) each">
            <a:extLst xmlns:a="http://schemas.openxmlformats.org/drawingml/2006/main">
              <a:ext uri="{FF2B5EF4-FFF2-40B4-BE49-F238E27FC236}">
                <a16:creationId xmlns:a16="http://schemas.microsoft.com/office/drawing/2014/main" id="{32A51290-9CA3-49C9-8187-2A38D42D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4568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Total work Θ(W × H);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 storage Θ(W × H)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FD628-7098-4874-9505-D5389EE2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NVIDIA CUDA programming model">
            <a:extLst xmlns:a="http://schemas.openxmlformats.org/drawingml/2006/main">
              <a:ext uri="{FF2B5EF4-FFF2-40B4-BE49-F238E27FC236}">
                <a16:creationId xmlns:a16="http://schemas.microsoft.com/office/drawing/2014/main" id="{6384FC40-FA8B-4EF1-9F82-E087A3DC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</a:t>
            </a:r>
          </a:p>
        </p:txBody>
      </p:sp>
      <p:sp>
        <p:nvSpPr>
          <p:cNvPr id="11" name="30 / 40">
            <a:extLst xmlns:a="http://schemas.openxmlformats.org/drawingml/2006/main">
              <a:ext uri="{FF2B5EF4-FFF2-40B4-BE49-F238E27FC236}">
                <a16:creationId xmlns:a16="http://schemas.microsoft.com/office/drawing/2014/main" id="{F1CCE7A7-8047-4C70-9A4F-DF7D6A7D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30 / 40</a:t>
            </a:r>
          </a:p>
        </p:txBody>
      </p:sp>
    </p:spTree>
    <p:extLst>
      <p:ext uri="{BB962C8B-B14F-4D97-AF65-F5344CB8AC3E}">
        <p14:creationId xmlns:p14="http://schemas.microsoft.com/office/powerpoint/2010/main" val="201635969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5">
            <a:extLst xmlns:a="http://schemas.openxmlformats.org/drawingml/2006/main">
              <a:ext uri="{FF2B5EF4-FFF2-40B4-BE49-F238E27FC236}">
                <a16:creationId xmlns:a16="http://schemas.microsoft.com/office/drawing/2014/main" id="{2457607B-11E0-446F-9A73-899E15E3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A5</a:t>
            </a:r>
          </a:p>
        </p:txBody>
      </p:sp>
      <p:sp>
        <p:nvSpPr>
          <p:cNvPr id="2" name="Asynchronous work within one stream">
            <a:extLst xmlns:a="http://schemas.openxmlformats.org/drawingml/2006/main">
              <a:ext uri="{FF2B5EF4-FFF2-40B4-BE49-F238E27FC236}">
                <a16:creationId xmlns:a16="http://schemas.microsoft.com/office/drawing/2014/main" id="{AE2EADA6-B73A-4C15-BCEC-77410911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 work within one 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207B0-A165-4851-8282-0DF93DD5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35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cudaError_t enqueue_rotation(const unsigned char* h_inp">
            <a:extLst xmlns:a="http://schemas.openxmlformats.org/drawingml/2006/main">
              <a:ext uri="{FF2B5EF4-FFF2-40B4-BE49-F238E27FC236}">
                <a16:creationId xmlns:a16="http://schemas.microsoft.com/office/drawing/2014/main" id="{5243D8A1-FFFE-4DEB-B237-FB4476E1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22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cudaError_t enqueue_rotation(const unsigned char* h_input,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h_output,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size_t bytes, int width,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float c, float 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cudaStream_t stream)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block(32, 8);  // 256 threads.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grid = rotation_grid(width, height, block);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cudaError_t status = cudaMemcpyAsync(d_input, h_input,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cudaMemcpyHostToDevice,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rotate_rgb&lt;&lt;&lt;grid, block, 0, stream&gt;&gt;&gt;(d_input,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 width, height,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status = 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return cudaMemcpyAsync(h_output, d_output,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cudaMemcpyDeviceToHost,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Full enqueue function; rotation_grid uses the ceil-divi">
            <a:extLst xmlns:a="http://schemas.openxmlformats.org/drawingml/2006/main">
              <a:ext uri="{FF2B5EF4-FFF2-40B4-BE49-F238E27FC236}">
                <a16:creationId xmlns:a16="http://schemas.microsoft.com/office/drawing/2014/main" id="{BADB1336-B944-4EB9-B8A1-1028CE2C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Full enqueue function;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rotation_grid uses the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ceil-division shown in the host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orchestration answer.</a:t>
            </a:r>
          </a:p>
        </p:txBody>
      </p:sp>
      <p:sp>
        <p:nvSpPr>
          <p:cNvPr id="6" name="Pinned host buffers and checked sizes are preconditions">
            <a:extLst xmlns:a="http://schemas.openxmlformats.org/drawingml/2006/main">
              <a:ext uri="{FF2B5EF4-FFF2-40B4-BE49-F238E27FC236}">
                <a16:creationId xmlns:a16="http://schemas.microsoft.com/office/drawing/2014/main" id="{F8A08E9E-4D34-46AE-889C-6F81104B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49118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buffers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checked sizes are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preconditions.</a:t>
            </a:r>
          </a:p>
        </p:txBody>
      </p:sp>
      <p:sp>
        <p:nvSpPr>
          <p:cNvPr id="7" name="Success means submitted work; wait before reading, reus">
            <a:extLst xmlns:a="http://schemas.openxmlformats.org/drawingml/2006/main">
              <a:ext uri="{FF2B5EF4-FFF2-40B4-BE49-F238E27FC236}">
                <a16:creationId xmlns:a16="http://schemas.microsoft.com/office/drawing/2014/main" id="{04CA3849-5B5A-41BC-B64A-75DADBB9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24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Success means submitted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work; wait before reading,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reusing or freeing buffers.</a:t>
            </a:r>
          </a:p>
        </p:txBody>
      </p:sp>
      <p:sp>
        <p:nvSpPr>
          <p:cNvPr id="8" name="On error, previously enqueued work may still be pending">
            <a:extLst xmlns:a="http://schemas.openxmlformats.org/drawingml/2006/main">
              <a:ext uri="{FF2B5EF4-FFF2-40B4-BE49-F238E27FC236}">
                <a16:creationId xmlns:a16="http://schemas.microsoft.com/office/drawing/2014/main" id="{26B21566-4B18-4FD1-9989-5B161811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6537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 error, previously enqueued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 may still be pending.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A804B-56ED-4AA6-B134-68A94428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2] NVIDIA CUDA Best Practices">
            <a:extLst xmlns:a="http://schemas.openxmlformats.org/drawingml/2006/main">
              <a:ext uri="{FF2B5EF4-FFF2-40B4-BE49-F238E27FC236}">
                <a16:creationId xmlns:a16="http://schemas.microsoft.com/office/drawing/2014/main" id="{09B89D85-1432-4803-8209-481622E0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</a:t>
            </a:r>
          </a:p>
        </p:txBody>
      </p:sp>
      <p:sp>
        <p:nvSpPr>
          <p:cNvPr id="11" name="31 / 40">
            <a:extLst xmlns:a="http://schemas.openxmlformats.org/drawingml/2006/main">
              <a:ext uri="{FF2B5EF4-FFF2-40B4-BE49-F238E27FC236}">
                <a16:creationId xmlns:a16="http://schemas.microsoft.com/office/drawing/2014/main" id="{1EE618E7-BDEF-41D1-976B-097DE5CD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31 / 40</a:t>
            </a:r>
          </a:p>
        </p:txBody>
      </p:sp>
    </p:spTree>
    <p:extLst>
      <p:ext uri="{BB962C8B-B14F-4D97-AF65-F5344CB8AC3E}">
        <p14:creationId xmlns:p14="http://schemas.microsoft.com/office/powerpoint/2010/main" val="22623151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6">
            <a:extLst xmlns:a="http://schemas.openxmlformats.org/drawingml/2006/main">
              <a:ext uri="{FF2B5EF4-FFF2-40B4-BE49-F238E27FC236}">
                <a16:creationId xmlns:a16="http://schemas.microsoft.com/office/drawing/2014/main" id="{6E2E959F-E968-4052-8EE5-6F7C4CBE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A6</a:t>
            </a:r>
          </a:p>
        </p:txBody>
      </p:sp>
      <p:sp>
        <p:nvSpPr>
          <p:cNvPr id="2" name="Fair speedup comparison and profiling">
            <a:extLst xmlns:a="http://schemas.openxmlformats.org/drawingml/2006/main">
              <a:ext uri="{FF2B5EF4-FFF2-40B4-BE49-F238E27FC236}">
                <a16:creationId xmlns:a16="http://schemas.microsoft.com/office/drawing/2014/main" id="{2A633E8C-E0DE-4493-8CD5-02E95A19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 speedup comparison and profiling</a:t>
            </a:r>
          </a:p>
        </p:txBody>
      </p:sp>
      <p:sp>
        <p:nvSpPr>
          <p:cNvPr id="3" name="Comparable baselines">
            <a:extLst xmlns:a="http://schemas.openxmlformats.org/drawingml/2006/main">
              <a:ext uri="{FF2B5EF4-FFF2-40B4-BE49-F238E27FC236}">
                <a16:creationId xmlns:a16="http://schemas.microsoft.com/office/drawing/2014/main" id="{D71E0049-A855-491D-A72B-D6F2F3C8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Comparable baselines</a:t>
            </a:r>
          </a:p>
        </p:txBody>
      </p:sp>
      <p:sp>
        <p:nvSpPr>
          <p:cNvPr id="4" name="Primary baseline: one CPU thread performs the same RGB ">
            <a:extLst xmlns:a="http://schemas.openxmlformats.org/drawingml/2006/main">
              <a:ext uri="{FF2B5EF4-FFF2-40B4-BE49-F238E27FC236}">
                <a16:creationId xmlns:a16="http://schemas.microsoft.com/office/drawing/2014/main" id="{9B20C68D-E8EC-4493-B1C8-34C45A5F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Primary baseline: one CPU thread performs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RGB inverse mapping, nearest-neighbour rule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fixed canvas. Also compare a multithreaded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for a stronger practical baseline.</a:t>
            </a:r>
          </a:p>
        </p:txBody>
      </p:sp>
      <p:sp>
        <p:nvSpPr>
          <p:cNvPr id="5" name="Use identical inputs/angles and verify identical or jus">
            <a:extLst xmlns:a="http://schemas.openxmlformats.org/drawingml/2006/main">
              <a:ext uri="{FF2B5EF4-FFF2-40B4-BE49-F238E27FC236}">
                <a16:creationId xmlns:a16="http://schemas.microsoft.com/office/drawing/2014/main" id="{B46961CC-8D13-49C4-A33F-6C599C3D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identical inputs/angles and verify identical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justified numerically equivalent outputs. Include file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decoding/I/O in both paths or exclude it from both.</a:t>
            </a:r>
          </a:p>
        </p:txBody>
      </p:sp>
      <p:sp>
        <p:nvSpPr>
          <p:cNvPr id="6" name="For the stated decoded-buffer comparison, include GPU a">
            <a:extLst xmlns:a="http://schemas.openxmlformats.org/drawingml/2006/main">
              <a:ext uri="{FF2B5EF4-FFF2-40B4-BE49-F238E27FC236}">
                <a16:creationId xmlns:a16="http://schemas.microsoft.com/office/drawing/2014/main" id="{8312E5FC-78E1-4B02-81B5-9A396F4F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the stated decoded-buffer comparison, include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allocation, H2D, launch, completed kernel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D2H; CPU timing covers the corresponding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 and rotation.</a:t>
            </a:r>
          </a:p>
        </p:txBody>
      </p:sp>
      <p:sp>
        <p:nvSpPr>
          <p:cNvPr id="7" name="Measure the bottleneck">
            <a:extLst xmlns:a="http://schemas.openxmlformats.org/drawingml/2006/main">
              <a:ext uri="{FF2B5EF4-FFF2-40B4-BE49-F238E27FC236}">
                <a16:creationId xmlns:a16="http://schemas.microsoft.com/office/drawing/2014/main" id="{43860454-2B32-41CA-AB2A-0D6F417C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Measure the bottleneck</a:t>
            </a:r>
          </a:p>
        </p:txBody>
      </p:sp>
      <p:sp>
        <p:nvSpPr>
          <p:cNvPr id="8" name="Report cold-start and warmed repeated runs separately. ">
            <a:extLst xmlns:a="http://schemas.openxmlformats.org/drawingml/2006/main">
              <a:ext uri="{FF2B5EF4-FFF2-40B4-BE49-F238E27FC236}">
                <a16:creationId xmlns:a16="http://schemas.microsoft.com/office/drawing/2014/main" id="{ABA103EA-8163-4315-8E92-EA38582F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cold-start and warmed repeated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separately. Use CUDA events for kernel elapsed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time after completion and a host timer through final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completion for total latency.</a:t>
            </a:r>
          </a:p>
        </p:txBody>
      </p:sp>
      <p:sp>
        <p:nvSpPr>
          <p:cNvPr id="9" name="Vary image size, angle, block shape and batch size; rec">
            <a:extLst xmlns:a="http://schemas.openxmlformats.org/drawingml/2006/main">
              <a:ext uri="{FF2B5EF4-FFF2-40B4-BE49-F238E27FC236}">
                <a16:creationId xmlns:a16="http://schemas.microsoft.com/office/drawing/2014/main" id="{2BFD8353-0D23-4E5D-9BA0-4183B17F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Vary image size, angle, block shape and batch size;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record hardware, transfer mode, register use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effective memory/link bandwidth.</a:t>
            </a:r>
          </a:p>
        </p:txBody>
      </p:sp>
      <p:sp>
        <p:nvSpPr>
          <p:cNvPr id="10" name="The sequential sum does not apply unchanged to overlapp">
            <a:extLst xmlns:a="http://schemas.openxmlformats.org/drawingml/2006/main">
              <a:ext uri="{FF2B5EF4-FFF2-40B4-BE49-F238E27FC236}">
                <a16:creationId xmlns:a16="http://schemas.microsoft.com/office/drawing/2014/main" id="{CCF38F87-D181-4A43-B0BD-43C61A69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sequential sum does not apply unchanged to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overlapping streams: measure the completed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critical path. Lower kernel time alone cannot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establish end-to-end speedup.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90177-49E6-4BD2-94FC-AE0B5A42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019F0B-59B9-4816-B286-B155F41F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NVIDIA CUDA Best Practices">
            <a:extLst xmlns:a="http://schemas.openxmlformats.org/drawingml/2006/main">
              <a:ext uri="{FF2B5EF4-FFF2-40B4-BE49-F238E27FC236}">
                <a16:creationId xmlns:a16="http://schemas.microsoft.com/office/drawing/2014/main" id="{F08BA62F-45FB-40A1-995C-7E601170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</a:t>
            </a:r>
          </a:p>
        </p:txBody>
      </p:sp>
      <p:sp>
        <p:nvSpPr>
          <p:cNvPr id="14" name="32 / 40">
            <a:extLst xmlns:a="http://schemas.openxmlformats.org/drawingml/2006/main">
              <a:ext uri="{FF2B5EF4-FFF2-40B4-BE49-F238E27FC236}">
                <a16:creationId xmlns:a16="http://schemas.microsoft.com/office/drawing/2014/main" id="{D9F078E0-DF10-4F41-879C-0E26FD26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32 / 40</a:t>
            </a:r>
          </a:p>
        </p:txBody>
      </p:sp>
    </p:spTree>
    <p:extLst>
      <p:ext uri="{BB962C8B-B14F-4D97-AF65-F5344CB8AC3E}">
        <p14:creationId xmlns:p14="http://schemas.microsoft.com/office/powerpoint/2010/main" val="170767440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7">
            <a:extLst xmlns:a="http://schemas.openxmlformats.org/drawingml/2006/main">
              <a:ext uri="{FF2B5EF4-FFF2-40B4-BE49-F238E27FC236}">
                <a16:creationId xmlns:a16="http://schemas.microsoft.com/office/drawing/2014/main" id="{AA648B9D-CF19-4C64-B9A3-7D1C5915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A7</a:t>
            </a:r>
          </a:p>
        </p:txBody>
      </p:sp>
      <p:sp>
        <p:nvSpPr>
          <p:cNvPr id="2" name="GDS decision for the proposed pipeline">
            <a:extLst xmlns:a="http://schemas.openxmlformats.org/drawingml/2006/main">
              <a:ext uri="{FF2B5EF4-FFF2-40B4-BE49-F238E27FC236}">
                <a16:creationId xmlns:a16="http://schemas.microsoft.com/office/drawing/2014/main" id="{FDC78EA7-F0BA-4FD7-9D2B-8CD090EE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decision for the proposed pipeline</a:t>
            </a:r>
          </a:p>
        </p:txBody>
      </p:sp>
      <p:sp>
        <p:nvSpPr>
          <p:cNvPr id="3" name="Conventional decoded-image path">
            <a:extLst xmlns:a="http://schemas.openxmlformats.org/drawingml/2006/main">
              <a:ext uri="{FF2B5EF4-FFF2-40B4-BE49-F238E27FC236}">
                <a16:creationId xmlns:a16="http://schemas.microsoft.com/office/drawing/2014/main" id="{2B7B791B-CE2F-4FFD-B82D-254BBC4F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decoded-image path</a:t>
            </a:r>
          </a:p>
        </p:txBody>
      </p:sp>
      <p:sp>
        <p:nvSpPr>
          <p:cNvPr id="4" name="CPU decoding requires host-visible compressed bytes and">
            <a:extLst xmlns:a="http://schemas.openxmlformats.org/drawingml/2006/main">
              <a:ext uri="{FF2B5EF4-FFF2-40B4-BE49-F238E27FC236}">
                <a16:creationId xmlns:a16="http://schemas.microsoft.com/office/drawing/2014/main" id="{59338F16-2240-43AA-AC06-1B541EB7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decoding requires host-visible compressed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bytes and produces pixels in RAM. Those pixels 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copied to the GPU; the rotation kernel then runs.</a:t>
            </a:r>
          </a:p>
        </p:txBody>
      </p:sp>
      <p:sp>
        <p:nvSpPr>
          <p:cNvPr id="5" name="A single small image already in RAM gains little from b">
            <a:extLst xmlns:a="http://schemas.openxmlformats.org/drawingml/2006/main">
              <a:ext uri="{FF2B5EF4-FFF2-40B4-BE49-F238E27FC236}">
                <a16:creationId xmlns:a16="http://schemas.microsoft.com/office/drawing/2014/main" id="{786EBB97-1B0B-481E-B51F-12B1B41A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single small image already in RAM gains little from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bypassing a storage step that is no longer on its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path.</a:t>
            </a:r>
          </a:p>
        </p:txBody>
      </p:sp>
      <p:sp>
        <p:nvSpPr>
          <p:cNvPr id="6" name="GDS does not decode an image, bypass an application’s C">
            <a:extLst xmlns:a="http://schemas.openxmlformats.org/drawingml/2006/main">
              <a:ext uri="{FF2B5EF4-FFF2-40B4-BE49-F238E27FC236}">
                <a16:creationId xmlns:a16="http://schemas.microsoft.com/office/drawing/2014/main" id="{1CFA6F3F-3E55-47CE-8109-0297885C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does not decode an image, bypass an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application’s CPU transformation, or make GPU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memory access itself faster.</a:t>
            </a:r>
          </a:p>
        </p:txBody>
      </p:sp>
      <p:sp>
        <p:nvSpPr>
          <p:cNvPr id="7" name="Conditional batch alternative">
            <a:extLst xmlns:a="http://schemas.openxmlformats.org/drawingml/2006/main">
              <a:ext uri="{FF2B5EF4-FFF2-40B4-BE49-F238E27FC236}">
                <a16:creationId xmlns:a16="http://schemas.microsoft.com/office/drawing/2014/main" id="{FA0FA65D-2443-49AA-9791-9BA334DE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Conditional batch alternative</a:t>
            </a:r>
          </a:p>
        </p:txBody>
      </p:sp>
      <p:sp>
        <p:nvSpPr>
          <p:cNvPr id="8" name="Large storage-bound batches of GPU-ready pixels, or a c">
            <a:extLst xmlns:a="http://schemas.openxmlformats.org/drawingml/2006/main">
              <a:ext uri="{FF2B5EF4-FFF2-40B4-BE49-F238E27FC236}">
                <a16:creationId xmlns:a16="http://schemas.microsoft.com/office/drawing/2014/main" id="{96ACD779-1DA9-4861-A2E8-895B193E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Large storage-bound batches of GPU-ready pixels,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or a compatible GPU decoding pipeline, may avoid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via cuFile and storage-side DMA.</a:t>
            </a:r>
          </a:p>
        </p:txBody>
      </p:sp>
      <p:sp>
        <p:nvSpPr>
          <p:cNvPr id="9" name="Verify the GPU, storage/filesystem, software and PCIe t">
            <a:extLst xmlns:a="http://schemas.openxmlformats.org/drawingml/2006/main">
              <a:ext uri="{FF2B5EF4-FFF2-40B4-BE49-F238E27FC236}">
                <a16:creationId xmlns:a16="http://schemas.microsoft.com/office/drawing/2014/main" id="{F0C6C304-3734-409B-8EFF-C27670E0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Verify the GPU, storage/filesystem, software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topology support the direct path. Compatibility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fallback uses host staging and is not evidence of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direct DMA.</a:t>
            </a:r>
          </a:p>
        </p:txBody>
      </p:sp>
      <p:sp>
        <p:nvSpPr>
          <p:cNvPr id="10" name="Adopt only if completed batch time/CPU overhead improve">
            <a:extLst xmlns:a="http://schemas.openxmlformats.org/drawingml/2006/main">
              <a:ext uri="{FF2B5EF4-FFF2-40B4-BE49-F238E27FC236}">
                <a16:creationId xmlns:a16="http://schemas.microsoft.com/office/drawing/2014/main" id="{197ED7A5-91D6-4823-920F-C86DBE4F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Adopt only if completed batch time/CPU overhead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improve on the real workload; include extra buffers,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 and storage bandwidth. Otherwise retain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conventional copies.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8734A-8351-40D5-AD1C-01D85D80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5C2D6-27C8-45CB-9037-9967F963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3] NVIDIA GDS overview; [4] NVIDIA GDS design">
            <a:extLst xmlns:a="http://schemas.openxmlformats.org/drawingml/2006/main">
              <a:ext uri="{FF2B5EF4-FFF2-40B4-BE49-F238E27FC236}">
                <a16:creationId xmlns:a16="http://schemas.microsoft.com/office/drawing/2014/main" id="{553F9B44-A1A6-467B-96F6-3DEE8CEB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NVIDIA GDS overview; [4] NVIDIA GDS design</a:t>
            </a:r>
          </a:p>
        </p:txBody>
      </p:sp>
      <p:sp>
        <p:nvSpPr>
          <p:cNvPr id="14" name="33 / 40">
            <a:extLst xmlns:a="http://schemas.openxmlformats.org/drawingml/2006/main">
              <a:ext uri="{FF2B5EF4-FFF2-40B4-BE49-F238E27FC236}">
                <a16:creationId xmlns:a16="http://schemas.microsoft.com/office/drawing/2014/main" id="{388A1BC4-E241-4C42-A799-C4818E12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33 / 40</a:t>
            </a:r>
          </a:p>
        </p:txBody>
      </p:sp>
    </p:spTree>
    <p:extLst>
      <p:ext uri="{BB962C8B-B14F-4D97-AF65-F5344CB8AC3E}">
        <p14:creationId xmlns:p14="http://schemas.microsoft.com/office/powerpoint/2010/main" val="67461619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1">
            <a:extLst xmlns:a="http://schemas.openxmlformats.org/drawingml/2006/main">
              <a:ext uri="{FF2B5EF4-FFF2-40B4-BE49-F238E27FC236}">
                <a16:creationId xmlns:a16="http://schemas.microsoft.com/office/drawing/2014/main" id="{7FEB25CA-1D68-4A95-830A-7C75AF84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B1</a:t>
            </a:r>
          </a:p>
        </p:txBody>
      </p:sp>
      <p:sp>
        <p:nvSpPr>
          <p:cNvPr id="2" name="Parallelism, dependencies and scaling limits">
            <a:extLst xmlns:a="http://schemas.openxmlformats.org/drawingml/2006/main">
              <a:ext uri="{FF2B5EF4-FFF2-40B4-BE49-F238E27FC236}">
                <a16:creationId xmlns:a16="http://schemas.microsoft.com/office/drawing/2014/main" id="{49FCA5FB-A4C4-4205-9928-ADC3A139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Parallelism, dependencies and scaling limits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B9458-62A5-41C3-876A-4E17ED2E233D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 and communication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limitation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Replicate model; partition batches; reduce/average gradients before a consistent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Collective latency/bandwidth and stragglers.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Tensor parallel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Partition computations within a layer; exchange partial results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Frequent inter-device communication.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Pipeline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layers to stages; pass activations/gradients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Stage imbalance and pipeline bubbles.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Fixed workload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More GPUs reduce only the parallelizable portion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Serial work and communication bound speedup.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Larger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Scale capacity/model/data with added resources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different claim from halving a fixed job’s runtime.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ll-reduce is a collective result-sharing concept, not ">
            <a:extLst xmlns:a="http://schemas.openxmlformats.org/drawingml/2006/main">
              <a:ext uri="{FF2B5EF4-FFF2-40B4-BE49-F238E27FC236}">
                <a16:creationId xmlns:a16="http://schemas.microsoft.com/office/drawing/2014/main" id="{B5F9DBC4-E15B-449D-ACEC-E1910A03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All-reduce is a collective result-sharing concept, not a claim that every AI framework uses the exact classroom MPI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3FE05-4D4C-45DF-B729-97F78C2A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5] NVIDIA Megatron parallelism; [2] NVIDIA CU">
            <a:extLst xmlns:a="http://schemas.openxmlformats.org/drawingml/2006/main">
              <a:ext uri="{FF2B5EF4-FFF2-40B4-BE49-F238E27FC236}">
                <a16:creationId xmlns:a16="http://schemas.microsoft.com/office/drawing/2014/main" id="{A7F1F37F-981E-4745-AFA5-F0FBBDF3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[5] NVIDIA Megatron parallelism; [2] NVIDIA CUDA Best Practices</a:t>
            </a:r>
          </a:p>
        </p:txBody>
      </p:sp>
      <p:sp>
        <p:nvSpPr>
          <p:cNvPr id="7" name="34 / 40">
            <a:extLst xmlns:a="http://schemas.openxmlformats.org/drawingml/2006/main">
              <a:ext uri="{FF2B5EF4-FFF2-40B4-BE49-F238E27FC236}">
                <a16:creationId xmlns:a16="http://schemas.microsoft.com/office/drawing/2014/main" id="{59DE921A-613E-4C75-B435-3FBB4803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34 / 40</a:t>
            </a:r>
          </a:p>
        </p:txBody>
      </p:sp>
    </p:spTree>
    <p:extLst>
      <p:ext uri="{BB962C8B-B14F-4D97-AF65-F5344CB8AC3E}">
        <p14:creationId xmlns:p14="http://schemas.microsoft.com/office/powerpoint/2010/main" val="177912865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2">
            <a:extLst xmlns:a="http://schemas.openxmlformats.org/drawingml/2006/main">
              <a:ext uri="{FF2B5EF4-FFF2-40B4-BE49-F238E27FC236}">
                <a16:creationId xmlns:a16="http://schemas.microsoft.com/office/drawing/2014/main" id="{5B8A5380-20E3-4DF4-8429-5BF9CD89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B2</a:t>
            </a:r>
          </a:p>
        </p:txBody>
      </p:sp>
      <p:sp>
        <p:nvSpPr>
          <p:cNvPr id="2" name="Research comparisons across all four topics">
            <a:extLst xmlns:a="http://schemas.openxmlformats.org/drawingml/2006/main">
              <a:ext uri="{FF2B5EF4-FFF2-40B4-BE49-F238E27FC236}">
                <a16:creationId xmlns:a16="http://schemas.microsoft.com/office/drawing/2014/main" id="{F5CC5409-7DDA-4FF6-B131-D00BA909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comparisons across all four topics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FB8F7-326D-4591-A9EF-2EF00DEF7424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 / limit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(a) Environment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Cost/efficiency research [8,10] versus water-footprint research [9]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Useful-output efficiency and local resource pressure need different measures.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(b) Governance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 reconstruction [11] versus fairness evaluation survey [12]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exposure and unequal outcomes are distinct failure mechanisms.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(c)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Institutional participation [13] versus workload cost/equity [8]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Concentration and financial barriers reinforce a concern; scopes differ.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(d) Frameworks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Efficiency-reporting argument [10] versus operational scheduling [14]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Measurement motivates action; scheduling depends on flexibility and forecasts.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Current institutional evidence [6,7] and governance fra">
            <a:extLst xmlns:a="http://schemas.openxmlformats.org/drawingml/2006/main">
              <a:ext uri="{FF2B5EF4-FFF2-40B4-BE49-F238E27FC236}">
                <a16:creationId xmlns:a16="http://schemas.microsoft.com/office/drawing/2014/main" id="{80A707E4-C919-4DD0-81F0-43938D84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Current institutional evidence [6,7] and governance frameworks [15,16] complement the research; they do not replace its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methodological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9EEE1-1AB8-47FC-BD4A-8D074F4F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8] Strubell et al. 2019: cost and equity; [9]">
            <a:extLst xmlns:a="http://schemas.openxmlformats.org/drawingml/2006/main">
              <a:ext uri="{FF2B5EF4-FFF2-40B4-BE49-F238E27FC236}">
                <a16:creationId xmlns:a16="http://schemas.microsoft.com/office/drawing/2014/main" id="{7FC57C0B-4F17-4482-BBDD-8ACF1CBA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[8] Strubell et al. 2019: cost and equity; [9] Li et al. 2025 revision: water impacts; [10] Schwartz et al. 2019: efficiency reporting; [11] Zhu et al. 2019: exposed gradients; [12]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Gallegos et al. 2024: fairness evaluation; [13] Ahmed and Wahed 2020: compute divide; [14] Radovanovic et al. 2021: flexible scheduling</a:t>
            </a:r>
          </a:p>
        </p:txBody>
      </p:sp>
      <p:sp>
        <p:nvSpPr>
          <p:cNvPr id="7" name="35 / 40">
            <a:extLst xmlns:a="http://schemas.openxmlformats.org/drawingml/2006/main">
              <a:ext uri="{FF2B5EF4-FFF2-40B4-BE49-F238E27FC236}">
                <a16:creationId xmlns:a16="http://schemas.microsoft.com/office/drawing/2014/main" id="{31C4EB48-188F-4FEB-B90D-9F3C8044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35 / 40</a:t>
            </a:r>
          </a:p>
        </p:txBody>
      </p:sp>
    </p:spTree>
    <p:extLst>
      <p:ext uri="{BB962C8B-B14F-4D97-AF65-F5344CB8AC3E}">
        <p14:creationId xmlns:p14="http://schemas.microsoft.com/office/powerpoint/2010/main" val="113839232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1/4">
            <a:extLst xmlns:a="http://schemas.openxmlformats.org/drawingml/2006/main">
              <a:ext uri="{FF2B5EF4-FFF2-40B4-BE49-F238E27FC236}">
                <a16:creationId xmlns:a16="http://schemas.microsoft.com/office/drawing/2014/main" id="{80DBF336-EF99-4D0B-AF4E-465029B3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1/4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59838948-3E48-43A6-B854-9ABA742B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] NVIDIA, “Programming model,” CUDA Programming Guide">
            <a:extLst xmlns:a="http://schemas.openxmlformats.org/drawingml/2006/main">
              <a:ext uri="{FF2B5EF4-FFF2-40B4-BE49-F238E27FC236}">
                <a16:creationId xmlns:a16="http://schemas.microsoft.com/office/drawing/2014/main" id="{5090FECC-3481-4263-92E3-A9C5BADE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[1] NVIDIA, “Programming model,” CUDA Programming Guide, online documentation, accessed Oct. 8, 2026.</a:t>
            </a:r>
          </a:p>
        </p:txBody>
      </p:sp>
      <p:sp>
        <p:nvSpPr>
          <p:cNvPr id="4" name="https://docs.nvidia.com/cuda/cuda-programming-guide/01-">
            <a:extLst xmlns:a="http://schemas.openxmlformats.org/drawingml/2006/main">
              <a:ext uri="{FF2B5EF4-FFF2-40B4-BE49-F238E27FC236}">
                <a16:creationId xmlns:a16="http://schemas.microsoft.com/office/drawing/2014/main" id="{B545F3A6-D783-4801-B99C-39F8627D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fc7e94d44ec1480c"/>
              </a:rPr>
              <a:t>https://docs.nvidia.com/cuda/cuda-programming-guide/01-introduction/programming-model.html</a:t>
            </a:r>
          </a:p>
        </p:txBody>
      </p:sp>
      <p:sp>
        <p:nvSpPr>
          <p:cNvPr id="5" name="[2] NVIDIA, CUDA C++ Best Practices Guide, online docum">
            <a:extLst xmlns:a="http://schemas.openxmlformats.org/drawingml/2006/main">
              <a:ext uri="{FF2B5EF4-FFF2-40B4-BE49-F238E27FC236}">
                <a16:creationId xmlns:a16="http://schemas.microsoft.com/office/drawing/2014/main" id="{6B6E6079-5C2D-494C-B7C2-A3CA7708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[2] NVIDIA, CUDA C++ Best Practices Guide, online documentation, accessed Oct. 8, 2026.</a:t>
            </a:r>
          </a:p>
        </p:txBody>
      </p:sp>
      <p:sp>
        <p:nvSpPr>
          <p:cNvPr id="6" name="https://docs.nvidia.com/cuda/cuda-c-best-practices-guid">
            <a:extLst xmlns:a="http://schemas.openxmlformats.org/drawingml/2006/main">
              <a:ext uri="{FF2B5EF4-FFF2-40B4-BE49-F238E27FC236}">
                <a16:creationId xmlns:a16="http://schemas.microsoft.com/office/drawing/2014/main" id="{D7CA33C0-38CE-4239-9D94-46ECE35C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44324c45a2cb4668"/>
              </a:rPr>
              <a:t>https://docs.nvidia.com/cuda/cuda-c-best-practices-guide/index.html</a:t>
            </a:r>
          </a:p>
        </p:txBody>
      </p:sp>
      <p:sp>
        <p:nvSpPr>
          <p:cNvPr id="7" name="[3] NVIDIA, GPUDirect Storage Overview Guide, online do">
            <a:extLst xmlns:a="http://schemas.openxmlformats.org/drawingml/2006/main">
              <a:ext uri="{FF2B5EF4-FFF2-40B4-BE49-F238E27FC236}">
                <a16:creationId xmlns:a16="http://schemas.microsoft.com/office/drawing/2014/main" id="{3083083A-E8AB-4B87-9E8D-B65840A1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[3] NVIDIA, GPUDirect Storage Overview Guide, online documentation, accessed Oct. 8, 2026.</a:t>
            </a:r>
          </a:p>
        </p:txBody>
      </p:sp>
      <p:sp>
        <p:nvSpPr>
          <p:cNvPr id="8" name="https://docs.nvidia.com/gpudirect-storage/overview-guid">
            <a:extLst xmlns:a="http://schemas.openxmlformats.org/drawingml/2006/main">
              <a:ext uri="{FF2B5EF4-FFF2-40B4-BE49-F238E27FC236}">
                <a16:creationId xmlns:a16="http://schemas.microsoft.com/office/drawing/2014/main" id="{B2245587-5AD8-4069-8A22-57FE1F39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38d8eab33f854ed8"/>
              </a:rPr>
              <a:t>https://docs.nvidia.com/gpudirect-storage/overview-guide/index.html</a:t>
            </a:r>
          </a:p>
        </p:txBody>
      </p:sp>
      <p:sp>
        <p:nvSpPr>
          <p:cNvPr id="9" name="[4] NVIDIA, GPUDirect Storage Design Guide, online docu">
            <a:extLst xmlns:a="http://schemas.openxmlformats.org/drawingml/2006/main">
              <a:ext uri="{FF2B5EF4-FFF2-40B4-BE49-F238E27FC236}">
                <a16:creationId xmlns:a16="http://schemas.microsoft.com/office/drawing/2014/main" id="{0190FDC7-F126-4DA1-A3C9-780DC989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[4] NVIDIA, GPUDirect Storage Design Guide, online documentation, accessed Oct. 8, 2026.</a:t>
            </a:r>
          </a:p>
        </p:txBody>
      </p:sp>
      <p:sp>
        <p:nvSpPr>
          <p:cNvPr id="10" name="https://docs.nvidia.com/gpudirect-storage/design-guide/">
            <a:extLst xmlns:a="http://schemas.openxmlformats.org/drawingml/2006/main">
              <a:ext uri="{FF2B5EF4-FFF2-40B4-BE49-F238E27FC236}">
                <a16:creationId xmlns:a16="http://schemas.microsoft.com/office/drawing/2014/main" id="{EBDD8DFE-1969-40BF-9124-124A1EA2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91fea59d445942bf"/>
              </a:rPr>
              <a:t>https://docs.nvidia.com/gpudirect-storage/design-guide/index.html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1E8AF-0F32-4ECE-9292-91887C14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54F1689A-78AE-4F57-8FBD-C8863D17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6 / 40">
            <a:extLst xmlns:a="http://schemas.openxmlformats.org/drawingml/2006/main">
              <a:ext uri="{FF2B5EF4-FFF2-40B4-BE49-F238E27FC236}">
                <a16:creationId xmlns:a16="http://schemas.microsoft.com/office/drawing/2014/main" id="{C6BA9A30-424E-41E8-BE29-7A5BA365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36 / 40</a:t>
            </a:r>
          </a:p>
        </p:txBody>
      </p:sp>
    </p:spTree>
    <p:extLst>
      <p:ext uri="{BB962C8B-B14F-4D97-AF65-F5344CB8AC3E}">
        <p14:creationId xmlns:p14="http://schemas.microsoft.com/office/powerpoint/2010/main" val="113043144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2/4">
            <a:extLst xmlns:a="http://schemas.openxmlformats.org/drawingml/2006/main">
              <a:ext uri="{FF2B5EF4-FFF2-40B4-BE49-F238E27FC236}">
                <a16:creationId xmlns:a16="http://schemas.microsoft.com/office/drawing/2014/main" id="{48B3889E-4B3D-4D78-AC66-8FE44C2F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2/4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BF9A247A-6BB9-4C89-9A75-332E35F9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5] NVIDIA, “Parallelism strategies guide,” Megatron Co">
            <a:extLst xmlns:a="http://schemas.openxmlformats.org/drawingml/2006/main">
              <a:ext uri="{FF2B5EF4-FFF2-40B4-BE49-F238E27FC236}">
                <a16:creationId xmlns:a16="http://schemas.microsoft.com/office/drawing/2014/main" id="{2339E943-BD12-4BB6-9B4C-B7A6D6DB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[5] NVIDIA, “Parallelism strategies guide,” Megatron Core, online documentation, accessed Oct. 8, 2026.</a:t>
            </a:r>
          </a:p>
        </p:txBody>
      </p:sp>
      <p:sp>
        <p:nvSpPr>
          <p:cNvPr id="4" name="https://docs.nvidia.com/megatron-core/developer-guide/l">
            <a:extLst xmlns:a="http://schemas.openxmlformats.org/drawingml/2006/main">
              <a:ext uri="{FF2B5EF4-FFF2-40B4-BE49-F238E27FC236}">
                <a16:creationId xmlns:a16="http://schemas.microsoft.com/office/drawing/2014/main" id="{DACDDF16-1492-4670-8079-3F4B8A9A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7c5798e897f4c17"/>
              </a:rPr>
              <a:t>https://docs.nvidia.com/megatron-core/developer-guide/latest/user-guide/parallelism-guide.html</a:t>
            </a:r>
          </a:p>
        </p:txBody>
      </p:sp>
      <p:sp>
        <p:nvSpPr>
          <p:cNvPr id="5" name="[6] International Energy Agency, Key Questions on Energ">
            <a:extLst xmlns:a="http://schemas.openxmlformats.org/drawingml/2006/main">
              <a:ext uri="{FF2B5EF4-FFF2-40B4-BE49-F238E27FC236}">
                <a16:creationId xmlns:a16="http://schemas.microsoft.com/office/drawing/2014/main" id="{BD2BF5AD-EFBC-4AAB-9DA4-9C3DD620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[6] International Energy Agency, Key Questions on Energy and AI, executive summary, Apr. 16, 2026, CC BY 4.0, accessed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Oct. 8, 2026.</a:t>
            </a:r>
          </a:p>
        </p:txBody>
      </p:sp>
      <p:sp>
        <p:nvSpPr>
          <p:cNvPr id="6" name="https://www.iea.org/reports/key-questions-on-energy-and">
            <a:extLst xmlns:a="http://schemas.openxmlformats.org/drawingml/2006/main">
              <a:ext uri="{FF2B5EF4-FFF2-40B4-BE49-F238E27FC236}">
                <a16:creationId xmlns:a16="http://schemas.microsoft.com/office/drawing/2014/main" id="{5D253885-9BC2-447F-908B-C4950E42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979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2759c27faf484ec6"/>
              </a:rPr>
              <a:t>https://www.iea.org/reports/key-questions-on-energy-and-ai/executive-summary</a:t>
            </a:r>
          </a:p>
        </p:txBody>
      </p:sp>
      <p:sp>
        <p:nvSpPr>
          <p:cNvPr id="7" name="[7] U.S. National Science Foundation, “NAIRR at 2 years">
            <a:extLst xmlns:a="http://schemas.openxmlformats.org/drawingml/2006/main">
              <a:ext uri="{FF2B5EF4-FFF2-40B4-BE49-F238E27FC236}">
                <a16:creationId xmlns:a16="http://schemas.microsoft.com/office/drawing/2014/main" id="{2088CA8A-3AB7-4CD1-8510-E957898E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0989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[7] U.S. National Science Foundation, “NAIRR at 2 years: Advancing American artificial intelligence innovation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leadership,” Mar. 19, 2026, accessed Oct. 8, 2026.</a:t>
            </a:r>
          </a:p>
        </p:txBody>
      </p:sp>
      <p:sp>
        <p:nvSpPr>
          <p:cNvPr id="8" name="https://www.nsf.gov/cise/updates/nairr-2-years-advancin">
            <a:extLst xmlns:a="http://schemas.openxmlformats.org/drawingml/2006/main">
              <a:ext uri="{FF2B5EF4-FFF2-40B4-BE49-F238E27FC236}">
                <a16:creationId xmlns:a16="http://schemas.microsoft.com/office/drawing/2014/main" id="{27B6405F-5908-4529-8F7F-6805BB8A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325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4874460bc644b6c"/>
              </a:rPr>
              <a:t>https://www.nsf.gov/cise/updates/nairr-2-years-advancing-american-artificial-intelligence</a:t>
            </a:r>
          </a:p>
        </p:txBody>
      </p:sp>
      <p:sp>
        <p:nvSpPr>
          <p:cNvPr id="9" name="[8] E. Strubell, A. Ganesh, and A. McCallum, “Energy an">
            <a:extLst xmlns:a="http://schemas.openxmlformats.org/drawingml/2006/main">
              <a:ext uri="{FF2B5EF4-FFF2-40B4-BE49-F238E27FC236}">
                <a16:creationId xmlns:a16="http://schemas.microsoft.com/office/drawing/2014/main" id="{65288AB5-21E3-4D51-A86A-F092D944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4449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[8] E. Strubell, A. Ganesh, and A. McCallum, “Energy and policy considerations for deep learning in NLP,” in Proc. ACL,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2019, pp. 3645–3650, doi: 10.18653/v1/P19-1355.</a:t>
            </a:r>
          </a:p>
        </p:txBody>
      </p:sp>
      <p:sp>
        <p:nvSpPr>
          <p:cNvPr id="10" name="https://aclanthology.org/P19-1355/">
            <a:extLst xmlns:a="http://schemas.openxmlformats.org/drawingml/2006/main">
              <a:ext uri="{FF2B5EF4-FFF2-40B4-BE49-F238E27FC236}">
                <a16:creationId xmlns:a16="http://schemas.microsoft.com/office/drawing/2014/main" id="{FDA080A3-E935-4C4B-8DC6-F65F2B23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671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d847c8ec3a04c70"/>
              </a:rPr>
              <a:t>https://aclanthology.org/P19-1355/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F1808-7EC6-4DFA-A00B-A27EFF71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70690A66-9F44-4E6B-B4B0-A571BF58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7 / 40">
            <a:extLst xmlns:a="http://schemas.openxmlformats.org/drawingml/2006/main">
              <a:ext uri="{FF2B5EF4-FFF2-40B4-BE49-F238E27FC236}">
                <a16:creationId xmlns:a16="http://schemas.microsoft.com/office/drawing/2014/main" id="{3FF623D2-93FD-4832-9803-E11B15AF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37 / 40</a:t>
            </a:r>
          </a:p>
        </p:txBody>
      </p:sp>
    </p:spTree>
    <p:extLst>
      <p:ext uri="{BB962C8B-B14F-4D97-AF65-F5344CB8AC3E}">
        <p14:creationId xmlns:p14="http://schemas.microsoft.com/office/powerpoint/2010/main" val="156440927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3/4">
            <a:extLst xmlns:a="http://schemas.openxmlformats.org/drawingml/2006/main">
              <a:ext uri="{FF2B5EF4-FFF2-40B4-BE49-F238E27FC236}">
                <a16:creationId xmlns:a16="http://schemas.microsoft.com/office/drawing/2014/main" id="{654E9947-BC30-43A9-953F-DDA95BDB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3/4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53A13524-BDB6-4890-BEE3-1DF9D913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9] P. Li, J. Yang, M. A. Islam, and S. Ren, “Making AI">
            <a:extLst xmlns:a="http://schemas.openxmlformats.org/drawingml/2006/main">
              <a:ext uri="{FF2B5EF4-FFF2-40B4-BE49-F238E27FC236}">
                <a16:creationId xmlns:a16="http://schemas.microsoft.com/office/drawing/2014/main" id="{F399F74E-B05A-4CF4-A0B0-4E88D4CC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[9] P. Li, J. Yang, M. A. Islam, and S. Ren, “Making AI less ‘thirsty’: Uncovering and addressing the secret water footprint of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models,” arXiv:2304.03271v5, Mar. 26, 2025; first submitted 2023.</a:t>
            </a:r>
          </a:p>
        </p:txBody>
      </p:sp>
      <p:sp>
        <p:nvSpPr>
          <p:cNvPr id="4" name="https://arxiv.org/abs/2304.03271v5">
            <a:extLst xmlns:a="http://schemas.openxmlformats.org/drawingml/2006/main">
              <a:ext uri="{FF2B5EF4-FFF2-40B4-BE49-F238E27FC236}">
                <a16:creationId xmlns:a16="http://schemas.microsoft.com/office/drawing/2014/main" id="{B2FE1D35-2C7B-4524-A7A7-47BAC235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954bf3b8569645f2"/>
              </a:rPr>
              <a:t>https://arxiv.org/abs/2304.03271v5</a:t>
            </a:r>
          </a:p>
        </p:txBody>
      </p:sp>
      <p:sp>
        <p:nvSpPr>
          <p:cNvPr id="5" name="[10] R. Schwartz, J. Dodge, N. A. Smith, and O. Etzioni">
            <a:extLst xmlns:a="http://schemas.openxmlformats.org/drawingml/2006/main">
              <a:ext uri="{FF2B5EF4-FFF2-40B4-BE49-F238E27FC236}">
                <a16:creationId xmlns:a16="http://schemas.microsoft.com/office/drawing/2014/main" id="{28AD7A96-B22F-417B-8612-3A27A68A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[10] R. Schwartz, J. Dodge, N. A. Smith, and O. Etzioni, “Green AI,” arXiv:1907.10597, 2019.</a:t>
            </a:r>
          </a:p>
        </p:txBody>
      </p:sp>
      <p:sp>
        <p:nvSpPr>
          <p:cNvPr id="6" name="https://arxiv.org/abs/1907.10597">
            <a:extLst xmlns:a="http://schemas.openxmlformats.org/drawingml/2006/main">
              <a:ext uri="{FF2B5EF4-FFF2-40B4-BE49-F238E27FC236}">
                <a16:creationId xmlns:a16="http://schemas.microsoft.com/office/drawing/2014/main" id="{13C4CA7F-0FFD-4804-BD3C-87CC99C8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979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2c5c6b923e14d89"/>
              </a:rPr>
              <a:t>https://arxiv.org/abs/1907.10597</a:t>
            </a:r>
          </a:p>
        </p:txBody>
      </p:sp>
      <p:sp>
        <p:nvSpPr>
          <p:cNvPr id="7" name="[11] L. Zhu, Z. Liu, and S. Han, “Deep leakage from gra">
            <a:extLst xmlns:a="http://schemas.openxmlformats.org/drawingml/2006/main">
              <a:ext uri="{FF2B5EF4-FFF2-40B4-BE49-F238E27FC236}">
                <a16:creationId xmlns:a16="http://schemas.microsoft.com/office/drawing/2014/main" id="{42B1137F-9E60-4614-B0F2-CEB54E23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098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[11] L. Zhu, Z. Liu, and S. Han, “Deep leakage from gradients,” arXiv:1906.08935v2, 2019.</a:t>
            </a:r>
          </a:p>
        </p:txBody>
      </p:sp>
      <p:sp>
        <p:nvSpPr>
          <p:cNvPr id="8" name="https://arxiv.org/abs/1906.08935v2">
            <a:extLst xmlns:a="http://schemas.openxmlformats.org/drawingml/2006/main">
              <a:ext uri="{FF2B5EF4-FFF2-40B4-BE49-F238E27FC236}">
                <a16:creationId xmlns:a16="http://schemas.microsoft.com/office/drawing/2014/main" id="{661B14EB-00E5-4D28-9F62-97A8E485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293f687f1744ea8"/>
              </a:rPr>
              <a:t>https://arxiv.org/abs/1906.08935v2</a:t>
            </a:r>
          </a:p>
        </p:txBody>
      </p:sp>
      <p:sp>
        <p:nvSpPr>
          <p:cNvPr id="9" name="[12] I. O. Gallegos et al., “Bias and fairness in large">
            <a:extLst xmlns:a="http://schemas.openxmlformats.org/drawingml/2006/main">
              <a:ext uri="{FF2B5EF4-FFF2-40B4-BE49-F238E27FC236}">
                <a16:creationId xmlns:a16="http://schemas.microsoft.com/office/drawing/2014/main" id="{BCF9A093-DAA4-48B5-9829-E62B44CE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[12] I. O. Gallegos et al., “Bias and fairness in large language models: A survey,” Computational Linguistics, vol. 50, no. 3,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pp. 1097–1179, 2024, doi: 10.1162/coli_a_00524.</a:t>
            </a:r>
          </a:p>
        </p:txBody>
      </p:sp>
      <p:sp>
        <p:nvSpPr>
          <p:cNvPr id="10" name="https://aclanthology.org/2024.cl-3.8/">
            <a:extLst xmlns:a="http://schemas.openxmlformats.org/drawingml/2006/main">
              <a:ext uri="{FF2B5EF4-FFF2-40B4-BE49-F238E27FC236}">
                <a16:creationId xmlns:a16="http://schemas.microsoft.com/office/drawing/2014/main" id="{95A46F30-B2AC-4AA8-8119-C71D56D2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8ebdf913e4249b7"/>
              </a:rPr>
              <a:t>https://aclanthology.org/2024.cl-3.8/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ABFF4-BACF-4AC6-9F5B-B6DEAAF3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36CE4838-7A43-401A-B4F2-5DDDCB00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8 / 40">
            <a:extLst xmlns:a="http://schemas.openxmlformats.org/drawingml/2006/main">
              <a:ext uri="{FF2B5EF4-FFF2-40B4-BE49-F238E27FC236}">
                <a16:creationId xmlns:a16="http://schemas.microsoft.com/office/drawing/2014/main" id="{1C921193-5955-46D8-B2D1-2B630381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38 / 40</a:t>
            </a:r>
          </a:p>
        </p:txBody>
      </p:sp>
    </p:spTree>
    <p:extLst>
      <p:ext uri="{BB962C8B-B14F-4D97-AF65-F5344CB8AC3E}">
        <p14:creationId xmlns:p14="http://schemas.microsoft.com/office/powerpoint/2010/main" val="36865103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ppendix • References 4/4">
            <a:extLst xmlns:a="http://schemas.openxmlformats.org/drawingml/2006/main">
              <a:ext uri="{FF2B5EF4-FFF2-40B4-BE49-F238E27FC236}">
                <a16:creationId xmlns:a16="http://schemas.microsoft.com/office/drawing/2014/main" id="{9DD0982E-DA2F-4570-B2BD-4038B90B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4/4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6E671880-F025-475B-A159-C7D05899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3] N. Ahmed and M. Wahed, “The de-democratization of ">
            <a:extLst xmlns:a="http://schemas.openxmlformats.org/drawingml/2006/main">
              <a:ext uri="{FF2B5EF4-FFF2-40B4-BE49-F238E27FC236}">
                <a16:creationId xmlns:a16="http://schemas.microsoft.com/office/drawing/2014/main" id="{977DEF0A-0B21-49DD-9D78-81FB2523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[13] N. Ahmed and M. Wahed, “The de-democratization of AI: Deep learning and the compute divide in artificial intelligence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research,” arXiv:2010.15581v1, 2020.</a:t>
            </a:r>
          </a:p>
        </p:txBody>
      </p:sp>
      <p:sp>
        <p:nvSpPr>
          <p:cNvPr id="4" name="https://arxiv.org/abs/2010.15581v1">
            <a:extLst xmlns:a="http://schemas.openxmlformats.org/drawingml/2006/main">
              <a:ext uri="{FF2B5EF4-FFF2-40B4-BE49-F238E27FC236}">
                <a16:creationId xmlns:a16="http://schemas.microsoft.com/office/drawing/2014/main" id="{B23563F2-D562-4F09-AD93-A41BAB03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837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27677989278b46f6"/>
              </a:rPr>
              <a:t>https://arxiv.org/abs/2010.15581v1</a:t>
            </a:r>
          </a:p>
        </p:txBody>
      </p:sp>
      <p:sp>
        <p:nvSpPr>
          <p:cNvPr id="5" name="[14] A. Radovanovic et al., “Carbon-aware computing for">
            <a:extLst xmlns:a="http://schemas.openxmlformats.org/drawingml/2006/main">
              <a:ext uri="{FF2B5EF4-FFF2-40B4-BE49-F238E27FC236}">
                <a16:creationId xmlns:a16="http://schemas.microsoft.com/office/drawing/2014/main" id="{E2B6A1A0-D4EA-4202-9511-D74E7B2A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8885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[14] A. Radovanovic et al., “Carbon-aware computing for datacenters,” arXiv:2106.11750v1, 2021.</a:t>
            </a:r>
          </a:p>
        </p:txBody>
      </p:sp>
      <p:sp>
        <p:nvSpPr>
          <p:cNvPr id="6" name="https://arxiv.org/abs/2106.11750v1">
            <a:extLst xmlns:a="http://schemas.openxmlformats.org/drawingml/2006/main">
              <a:ext uri="{FF2B5EF4-FFF2-40B4-BE49-F238E27FC236}">
                <a16:creationId xmlns:a16="http://schemas.microsoft.com/office/drawing/2014/main" id="{77601FDB-9E62-4CAD-AE9F-0FE9C0E4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359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e19e32e742f3432c"/>
              </a:rPr>
              <a:t>https://arxiv.org/abs/2106.11750v1</a:t>
            </a:r>
          </a:p>
        </p:txBody>
      </p:sp>
      <p:sp>
        <p:nvSpPr>
          <p:cNvPr id="7" name="[15] OECD, “OECD AI Principles,” adopted 2019, updated ">
            <a:extLst xmlns:a="http://schemas.openxmlformats.org/drawingml/2006/main">
              <a:ext uri="{FF2B5EF4-FFF2-40B4-BE49-F238E27FC236}">
                <a16:creationId xmlns:a16="http://schemas.microsoft.com/office/drawing/2014/main" id="{B2FC4B57-8FEA-428B-B30E-94230963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763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[15] OECD, “OECD AI Principles,” adopted 2019, updated 2024, accessed Oct. 8, 2026.</a:t>
            </a:r>
          </a:p>
        </p:txBody>
      </p:sp>
      <p:sp>
        <p:nvSpPr>
          <p:cNvPr id="8" name="https://www.oecd.org/en/topics/ai-principles.html">
            <a:extLst xmlns:a="http://schemas.openxmlformats.org/drawingml/2006/main">
              <a:ext uri="{FF2B5EF4-FFF2-40B4-BE49-F238E27FC236}">
                <a16:creationId xmlns:a16="http://schemas.microsoft.com/office/drawing/2014/main" id="{EF4365D7-B15C-463F-8EF1-7CA389FA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2345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2d6084329fbd4fc4"/>
              </a:rPr>
              <a:t>https://www.oecd.org/en/topics/ai-principles.html</a:t>
            </a:r>
          </a:p>
        </p:txBody>
      </p:sp>
      <p:sp>
        <p:nvSpPr>
          <p:cNvPr id="9" name="[16] NIST, AI Risk Management Framework 1.0 Playbook, f">
            <a:extLst xmlns:a="http://schemas.openxmlformats.org/drawingml/2006/main">
              <a:ext uri="{FF2B5EF4-FFF2-40B4-BE49-F238E27FC236}">
                <a16:creationId xmlns:a16="http://schemas.microsoft.com/office/drawing/2014/main" id="{3D23646C-6A77-443A-925C-D1F3379E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6393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[16] NIST, AI Risk Management Framework 1.0 Playbook, framework 2023, current online resource, accessed Oct. 8, 2026.</a:t>
            </a:r>
          </a:p>
        </p:txBody>
      </p:sp>
      <p:sp>
        <p:nvSpPr>
          <p:cNvPr id="10" name="https://airc.nist.gov/airmf-resources/playbook/">
            <a:extLst xmlns:a="http://schemas.openxmlformats.org/drawingml/2006/main">
              <a:ext uri="{FF2B5EF4-FFF2-40B4-BE49-F238E27FC236}">
                <a16:creationId xmlns:a16="http://schemas.microsoft.com/office/drawing/2014/main" id="{0789F991-60C1-450E-8018-8B6BCA6F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109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ffd6ea31151c42f2"/>
              </a:rPr>
              <a:t>https://airc.nist.gov/airmf-resources/playbook/</a:t>
            </a:r>
          </a:p>
        </p:txBody>
      </p:sp>
      <p:sp>
        <p:nvSpPr>
          <p:cNvPr id="11" name="[17] NVIDIA, “Rotate,” NPP Image Geometry Transforms, C">
            <a:extLst xmlns:a="http://schemas.openxmlformats.org/drawingml/2006/main">
              <a:ext uri="{FF2B5EF4-FFF2-40B4-BE49-F238E27FC236}">
                <a16:creationId xmlns:a16="http://schemas.microsoft.com/office/drawing/2014/main" id="{CCB24180-839A-4884-AB78-7819C2B1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514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[17] NVIDIA, “Rotate,” NPP Image Geometry Transforms, CUDA 13.0.3 archive documentation, accessed Oct. 8, 2026.</a:t>
            </a:r>
          </a:p>
        </p:txBody>
      </p:sp>
      <p:sp>
        <p:nvSpPr>
          <p:cNvPr id="12" name="https://docs.nvidia.com/cuda/archive/13.0.3/npp/image_g">
            <a:extLst xmlns:a="http://schemas.openxmlformats.org/drawingml/2006/main">
              <a:ext uri="{FF2B5EF4-FFF2-40B4-BE49-F238E27FC236}">
                <a16:creationId xmlns:a16="http://schemas.microsoft.com/office/drawing/2014/main" id="{6BFE4570-18E7-4FC8-8405-51778A02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9853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5176ff4ddac4e9e"/>
              </a:rPr>
              <a:t>https://docs.nvidia.com/cuda/archive/13.0.3/npp/image_geometry_transforms.html#rotate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217B0-5EEF-44FC-B2E2-3BC88175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4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DF872769-EE9A-4222-95CD-731F1675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5" name="39 / 40">
            <a:extLst xmlns:a="http://schemas.openxmlformats.org/drawingml/2006/main">
              <a:ext uri="{FF2B5EF4-FFF2-40B4-BE49-F238E27FC236}">
                <a16:creationId xmlns:a16="http://schemas.microsoft.com/office/drawing/2014/main" id="{6EAC8B6F-D98D-48B1-AAAF-B7B734EB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39 / 40</a:t>
            </a:r>
          </a:p>
        </p:txBody>
      </p:sp>
    </p:spTree>
    <p:extLst>
      <p:ext uri="{BB962C8B-B14F-4D97-AF65-F5344CB8AC3E}">
        <p14:creationId xmlns:p14="http://schemas.microsoft.com/office/powerpoint/2010/main" val="195103039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ppendix • AI declaration">
            <a:extLst xmlns:a="http://schemas.openxmlformats.org/drawingml/2006/main">
              <a:ext uri="{FF2B5EF4-FFF2-40B4-BE49-F238E27FC236}">
                <a16:creationId xmlns:a16="http://schemas.microsoft.com/office/drawing/2014/main" id="{F4C536A1-B1D1-4DC9-8A6C-57077ED8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AI declaration</a:t>
            </a:r>
          </a:p>
        </p:txBody>
      </p:sp>
      <p:sp>
        <p:nvSpPr>
          <p:cNvPr id="2" name="AI use declaration">
            <a:extLst xmlns:a="http://schemas.openxmlformats.org/drawingml/2006/main">
              <a:ext uri="{FF2B5EF4-FFF2-40B4-BE49-F238E27FC236}">
                <a16:creationId xmlns:a16="http://schemas.microsoft.com/office/drawing/2014/main" id="{75B0DBE2-AC13-4568-B91D-0D712766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AI use declaration</a:t>
            </a:r>
          </a:p>
        </p:txBody>
      </p:sp>
      <p:sp>
        <p:nvSpPr>
          <p:cNvPr id="3" name="AI model and tool">
            <a:extLst xmlns:a="http://schemas.openxmlformats.org/drawingml/2006/main">
              <a:ext uri="{FF2B5EF4-FFF2-40B4-BE49-F238E27FC236}">
                <a16:creationId xmlns:a16="http://schemas.microsoft.com/office/drawing/2014/main" id="{13353D56-A14A-492D-B125-4BF696C6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AI model and tool</a:t>
            </a:r>
          </a:p>
        </p:txBody>
      </p:sp>
      <p:sp>
        <p:nvSpPr>
          <p:cNvPr id="4" name="OpenAI GPT-6, accessed through Codex.">
            <a:extLst xmlns:a="http://schemas.openxmlformats.org/drawingml/2006/main">
              <a:ext uri="{FF2B5EF4-FFF2-40B4-BE49-F238E27FC236}">
                <a16:creationId xmlns:a16="http://schemas.microsoft.com/office/drawing/2014/main" id="{E8804B6C-5DAC-4C83-9361-5351BFC4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OpenAI GPT-6, accessed through Codex.</a:t>
            </a:r>
          </a:p>
        </p:txBody>
      </p:sp>
      <p:sp>
        <p:nvSpPr>
          <p:cNvPr id="5" name="How AI was used">
            <a:extLst xmlns:a="http://schemas.openxmlformats.org/drawingml/2006/main">
              <a:ext uri="{FF2B5EF4-FFF2-40B4-BE49-F238E27FC236}">
                <a16:creationId xmlns:a16="http://schemas.microsoft.com/office/drawing/2014/main" id="{24452646-0C38-413B-8A6B-1B25E3D5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How AI was used</a:t>
            </a:r>
          </a:p>
        </p:txBody>
      </p:sp>
      <p:sp>
        <p:nvSpPr>
          <p:cNvPr id="6" name="Research and source checks; drafting and revision of ex">
            <a:extLst xmlns:a="http://schemas.openxmlformats.org/drawingml/2006/main">
              <a:ext uri="{FF2B5EF4-FFF2-40B4-BE49-F238E27FC236}">
                <a16:creationId xmlns:a16="http://schemas.microsoft.com/office/drawing/2014/main" id="{EFA1B53B-D5FA-4131-89E7-EB55CFA7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and source checks; drafting and revision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of explanations and CUDA teaching examples;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creation of diagrams and charts; presentation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formatting and assembly.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C74C4-3980-4D25-9E66-A1D0D21B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51A40-CB8A-475E-8A29-06B5FA5F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9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7A145AD4-5E72-4F9A-857F-92409AF4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0" name="40 / 40">
            <a:extLst xmlns:a="http://schemas.openxmlformats.org/drawingml/2006/main">
              <a:ext uri="{FF2B5EF4-FFF2-40B4-BE49-F238E27FC236}">
                <a16:creationId xmlns:a16="http://schemas.microsoft.com/office/drawing/2014/main" id="{9FDF8CA3-8B6B-4900-925C-FFB33835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40 / 40</a:t>
            </a:r>
          </a:p>
        </p:txBody>
      </p:sp>
    </p:spTree>
    <p:extLst>
      <p:ext uri="{BB962C8B-B14F-4D97-AF65-F5344CB8AC3E}">
        <p14:creationId xmlns:p14="http://schemas.microsoft.com/office/powerpoint/2010/main" val="1451348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2026-10-08T13:40:22.1950000Z</dcterms:created>
  <dcterms:modified xsi:type="dcterms:W3CDTF">2026-10-08T13:40:22.1960000Z</dcterms:modified>
</coreProperties>
</file>