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54f3a9c89848ec" /><Relationship Type="http://schemas.openxmlformats.org/officeDocument/2006/relationships/extended-properties" Target="/docProps/app.xml" Id="R057bd48b31914cfc" /><Relationship Type="http://schemas.openxmlformats.org/officeDocument/2006/relationships/officeDocument" Target="/ppt/presentation.xml" Id="R24e092d088a341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050c7ee73e47b2"/>
  </p:sldMasterIdLst>
  <p:notesMasterIdLst>
    <p:notesMasterId xmlns:r="http://schemas.openxmlformats.org/officeDocument/2006/relationships" r:id="Rce7357062bf54619"/>
  </p:notesMasterIdLst>
  <p:sldIdLst>
    <p:sldId xmlns:r="http://schemas.openxmlformats.org/officeDocument/2006/relationships" id="256" r:id="R521f79589ad94be5"/>
    <p:sldId xmlns:r="http://schemas.openxmlformats.org/officeDocument/2006/relationships" id="257" r:id="Rcd6f7d0db94f4285"/>
    <p:sldId xmlns:r="http://schemas.openxmlformats.org/officeDocument/2006/relationships" id="258" r:id="R7364c8121a2d4758"/>
    <p:sldId xmlns:r="http://schemas.openxmlformats.org/officeDocument/2006/relationships" id="259" r:id="Rb7abfc4770ff42ab"/>
    <p:sldId xmlns:r="http://schemas.openxmlformats.org/officeDocument/2006/relationships" id="260" r:id="R31d25ea4c30246c4"/>
    <p:sldId xmlns:r="http://schemas.openxmlformats.org/officeDocument/2006/relationships" id="261" r:id="R2b50b339d7084a92"/>
    <p:sldId xmlns:r="http://schemas.openxmlformats.org/officeDocument/2006/relationships" id="262" r:id="R87831b63a6b849c7"/>
    <p:sldId xmlns:r="http://schemas.openxmlformats.org/officeDocument/2006/relationships" id="263" r:id="Rc7ff7b91a87b4677"/>
    <p:sldId xmlns:r="http://schemas.openxmlformats.org/officeDocument/2006/relationships" id="264" r:id="R9a08d667d0124d7e"/>
    <p:sldId xmlns:r="http://schemas.openxmlformats.org/officeDocument/2006/relationships" id="265" r:id="R458497c04dad439b"/>
    <p:sldId xmlns:r="http://schemas.openxmlformats.org/officeDocument/2006/relationships" id="266" r:id="R503ebc92e1bc4ea1"/>
    <p:sldId xmlns:r="http://schemas.openxmlformats.org/officeDocument/2006/relationships" id="267" r:id="R2146d2d0429a4919"/>
    <p:sldId xmlns:r="http://schemas.openxmlformats.org/officeDocument/2006/relationships" id="268" r:id="R86775f378e8f4490"/>
    <p:sldId xmlns:r="http://schemas.openxmlformats.org/officeDocument/2006/relationships" id="269" r:id="Raebad77e646f4e5d"/>
    <p:sldId xmlns:r="http://schemas.openxmlformats.org/officeDocument/2006/relationships" id="270" r:id="R56eb0c8228ff43b6"/>
    <p:sldId xmlns:r="http://schemas.openxmlformats.org/officeDocument/2006/relationships" id="271" r:id="R8a184154c1af40c4"/>
    <p:sldId xmlns:r="http://schemas.openxmlformats.org/officeDocument/2006/relationships" id="272" r:id="R73e34c47f6c74d95"/>
    <p:sldId xmlns:r="http://schemas.openxmlformats.org/officeDocument/2006/relationships" id="273" r:id="R8fbc9b5cea9b4f98"/>
    <p:sldId xmlns:r="http://schemas.openxmlformats.org/officeDocument/2006/relationships" id="274" r:id="R9a0945c5dbac46d8"/>
    <p:sldId xmlns:r="http://schemas.openxmlformats.org/officeDocument/2006/relationships" id="275" r:id="R6e85b7b0cc6449c4"/>
    <p:sldId xmlns:r="http://schemas.openxmlformats.org/officeDocument/2006/relationships" id="276" r:id="Rb9f2ed26fe3d46fa"/>
    <p:sldId xmlns:r="http://schemas.openxmlformats.org/officeDocument/2006/relationships" id="277" r:id="R4330f29e31c54358"/>
    <p:sldId xmlns:r="http://schemas.openxmlformats.org/officeDocument/2006/relationships" id="278" r:id="Rae0e03610ed14678"/>
    <p:sldId xmlns:r="http://schemas.openxmlformats.org/officeDocument/2006/relationships" id="279" r:id="R60d91751a9ac49a0"/>
    <p:sldId xmlns:r="http://schemas.openxmlformats.org/officeDocument/2006/relationships" id="280" r:id="R7901038383a249a3"/>
    <p:sldId xmlns:r="http://schemas.openxmlformats.org/officeDocument/2006/relationships" id="281" r:id="R20976a7cb7384db9"/>
    <p:sldId xmlns:r="http://schemas.openxmlformats.org/officeDocument/2006/relationships" id="282" r:id="Rbd7605b21cf947c2"/>
    <p:sldId xmlns:r="http://schemas.openxmlformats.org/officeDocument/2006/relationships" id="283" r:id="Rf301438f5509479f"/>
    <p:sldId xmlns:r="http://schemas.openxmlformats.org/officeDocument/2006/relationships" id="284" r:id="R8774ef9c6ac24371"/>
    <p:sldId xmlns:r="http://schemas.openxmlformats.org/officeDocument/2006/relationships" id="285" r:id="Rfe9ba3ecc4b64514"/>
    <p:sldId xmlns:r="http://schemas.openxmlformats.org/officeDocument/2006/relationships" id="286" r:id="R878b7fa379304d1d"/>
    <p:sldId xmlns:r="http://schemas.openxmlformats.org/officeDocument/2006/relationships" id="287" r:id="R5e711f75f7c14d13"/>
    <p:sldId xmlns:r="http://schemas.openxmlformats.org/officeDocument/2006/relationships" id="288" r:id="Rb7a663ec4df14ffb"/>
    <p:sldId xmlns:r="http://schemas.openxmlformats.org/officeDocument/2006/relationships" id="289" r:id="R249d4b56de5e4a03"/>
    <p:sldId xmlns:r="http://schemas.openxmlformats.org/officeDocument/2006/relationships" id="290" r:id="Raa79d47c8cc64265"/>
    <p:sldId xmlns:r="http://schemas.openxmlformats.org/officeDocument/2006/relationships" id="291" r:id="R75d26e58aae64213"/>
    <p:sldId xmlns:r="http://schemas.openxmlformats.org/officeDocument/2006/relationships" id="292" r:id="R4aeb4d4413a74e63"/>
    <p:sldId xmlns:r="http://schemas.openxmlformats.org/officeDocument/2006/relationships" id="293" r:id="Ra60d8b45b673475f"/>
    <p:sldId xmlns:r="http://schemas.openxmlformats.org/officeDocument/2006/relationships" id="294" r:id="R05007fe67f574f35"/>
    <p:sldId xmlns:r="http://schemas.openxmlformats.org/officeDocument/2006/relationships" id="295" r:id="R064eb897aebc44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34aa8663b14564" /><Relationship Type="http://schemas.openxmlformats.org/officeDocument/2006/relationships/slideMaster" Target="/ppt/slideMasters/slideMaster1.xml" Id="R01050c7ee73e47b2" /><Relationship Type="http://schemas.openxmlformats.org/officeDocument/2006/relationships/notesMaster" Target="/ppt/notesMasters/notesMaster1.xml" Id="Rce7357062bf54619" /><Relationship Type="http://schemas.openxmlformats.org/officeDocument/2006/relationships/presProps" Target="/ppt/presProps.xml" Id="R38eb7626276548e2" /><Relationship Type="http://schemas.openxmlformats.org/officeDocument/2006/relationships/tableStyles" Target="/ppt/tableStyles.xml" Id="R6dabf7f097bb4324" /><Relationship Type="http://schemas.openxmlformats.org/officeDocument/2006/relationships/slide" Target="/ppt/slides/slide1.xml" Id="R521f79589ad94be5" /><Relationship Type="http://schemas.openxmlformats.org/officeDocument/2006/relationships/slide" Target="/ppt/slides/slide2.xml" Id="Rcd6f7d0db94f4285" /><Relationship Type="http://schemas.openxmlformats.org/officeDocument/2006/relationships/slide" Target="/ppt/slides/slide3.xml" Id="R7364c8121a2d4758" /><Relationship Type="http://schemas.openxmlformats.org/officeDocument/2006/relationships/slide" Target="/ppt/slides/slide4.xml" Id="Rb7abfc4770ff42ab" /><Relationship Type="http://schemas.openxmlformats.org/officeDocument/2006/relationships/slide" Target="/ppt/slides/slide5.xml" Id="R31d25ea4c30246c4" /><Relationship Type="http://schemas.openxmlformats.org/officeDocument/2006/relationships/slide" Target="/ppt/slides/slide6.xml" Id="R2b50b339d7084a92" /><Relationship Type="http://schemas.openxmlformats.org/officeDocument/2006/relationships/slide" Target="/ppt/slides/slide7.xml" Id="R87831b63a6b849c7" /><Relationship Type="http://schemas.openxmlformats.org/officeDocument/2006/relationships/slide" Target="/ppt/slides/slide8.xml" Id="Rc7ff7b91a87b4677" /><Relationship Type="http://schemas.openxmlformats.org/officeDocument/2006/relationships/slide" Target="/ppt/slides/slide9.xml" Id="R9a08d667d0124d7e" /><Relationship Type="http://schemas.openxmlformats.org/officeDocument/2006/relationships/slide" Target="/ppt/slides/slide10.xml" Id="R458497c04dad439b" /><Relationship Type="http://schemas.openxmlformats.org/officeDocument/2006/relationships/slide" Target="/ppt/slides/slide11.xml" Id="R503ebc92e1bc4ea1" /><Relationship Type="http://schemas.openxmlformats.org/officeDocument/2006/relationships/slide" Target="/ppt/slides/slide12.xml" Id="R2146d2d0429a4919" /><Relationship Type="http://schemas.openxmlformats.org/officeDocument/2006/relationships/slide" Target="/ppt/slides/slide13.xml" Id="R86775f378e8f4490" /><Relationship Type="http://schemas.openxmlformats.org/officeDocument/2006/relationships/slide" Target="/ppt/slides/slide14.xml" Id="Raebad77e646f4e5d" /><Relationship Type="http://schemas.openxmlformats.org/officeDocument/2006/relationships/slide" Target="/ppt/slides/slide15.xml" Id="R56eb0c8228ff43b6" /><Relationship Type="http://schemas.openxmlformats.org/officeDocument/2006/relationships/slide" Target="/ppt/slides/slide16.xml" Id="R8a184154c1af40c4" /><Relationship Type="http://schemas.openxmlformats.org/officeDocument/2006/relationships/slide" Target="/ppt/slides/slide17.xml" Id="R73e34c47f6c74d95" /><Relationship Type="http://schemas.openxmlformats.org/officeDocument/2006/relationships/slide" Target="/ppt/slides/slide18.xml" Id="R8fbc9b5cea9b4f98" /><Relationship Type="http://schemas.openxmlformats.org/officeDocument/2006/relationships/slide" Target="/ppt/slides/slide19.xml" Id="R9a0945c5dbac46d8" /><Relationship Type="http://schemas.openxmlformats.org/officeDocument/2006/relationships/slide" Target="/ppt/slides/slide20.xml" Id="R6e85b7b0cc6449c4" /><Relationship Type="http://schemas.openxmlformats.org/officeDocument/2006/relationships/slide" Target="/ppt/slides/slide21.xml" Id="Rb9f2ed26fe3d46fa" /><Relationship Type="http://schemas.openxmlformats.org/officeDocument/2006/relationships/slide" Target="/ppt/slides/slide22.xml" Id="R4330f29e31c54358" /><Relationship Type="http://schemas.openxmlformats.org/officeDocument/2006/relationships/slide" Target="/ppt/slides/slide23.xml" Id="Rae0e03610ed14678" /><Relationship Type="http://schemas.openxmlformats.org/officeDocument/2006/relationships/slide" Target="/ppt/slides/slide24.xml" Id="R60d91751a9ac49a0" /><Relationship Type="http://schemas.openxmlformats.org/officeDocument/2006/relationships/slide" Target="/ppt/slides/slide25.xml" Id="R7901038383a249a3" /><Relationship Type="http://schemas.openxmlformats.org/officeDocument/2006/relationships/slide" Target="/ppt/slides/slide26.xml" Id="R20976a7cb7384db9" /><Relationship Type="http://schemas.openxmlformats.org/officeDocument/2006/relationships/slide" Target="/ppt/slides/slide27.xml" Id="Rbd7605b21cf947c2" /><Relationship Type="http://schemas.openxmlformats.org/officeDocument/2006/relationships/slide" Target="/ppt/slides/slide28.xml" Id="Rf301438f5509479f" /><Relationship Type="http://schemas.openxmlformats.org/officeDocument/2006/relationships/slide" Target="/ppt/slides/slide29.xml" Id="R8774ef9c6ac24371" /><Relationship Type="http://schemas.openxmlformats.org/officeDocument/2006/relationships/slide" Target="/ppt/slides/slide30.xml" Id="Rfe9ba3ecc4b64514" /><Relationship Type="http://schemas.openxmlformats.org/officeDocument/2006/relationships/slide" Target="/ppt/slides/slide31.xml" Id="R878b7fa379304d1d" /><Relationship Type="http://schemas.openxmlformats.org/officeDocument/2006/relationships/slide" Target="/ppt/slides/slide32.xml" Id="R5e711f75f7c14d13" /><Relationship Type="http://schemas.openxmlformats.org/officeDocument/2006/relationships/slide" Target="/ppt/slides/slide33.xml" Id="Rb7a663ec4df14ffb" /><Relationship Type="http://schemas.openxmlformats.org/officeDocument/2006/relationships/slide" Target="/ppt/slides/slide34.xml" Id="R249d4b56de5e4a03" /><Relationship Type="http://schemas.openxmlformats.org/officeDocument/2006/relationships/slide" Target="/ppt/slides/slide35.xml" Id="Raa79d47c8cc64265" /><Relationship Type="http://schemas.openxmlformats.org/officeDocument/2006/relationships/slide" Target="/ppt/slides/slide36.xml" Id="R75d26e58aae64213" /><Relationship Type="http://schemas.openxmlformats.org/officeDocument/2006/relationships/slide" Target="/ppt/slides/slide37.xml" Id="R4aeb4d4413a74e63" /><Relationship Type="http://schemas.openxmlformats.org/officeDocument/2006/relationships/slide" Target="/ppt/slides/slide38.xml" Id="Ra60d8b45b673475f" /><Relationship Type="http://schemas.openxmlformats.org/officeDocument/2006/relationships/slide" Target="/ppt/slides/slide39.xml" Id="R05007fe67f574f35" /><Relationship Type="http://schemas.openxmlformats.org/officeDocument/2006/relationships/slide" Target="/ppt/slides/slide40.xml" Id="R064eb897aebc44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863c21603d40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4e662d65bb4765" /><Relationship Type="http://schemas.openxmlformats.org/officeDocument/2006/relationships/notesMaster" Target="/ppt/notesMasters/notesMaster1.xml" Id="Raf1e77e3f4ed46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fef44f4e934b8c" /><Relationship Type="http://schemas.openxmlformats.org/officeDocument/2006/relationships/notesMaster" Target="/ppt/notesMasters/notesMaster1.xml" Id="Ra43642643e3d47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4fc5ef7ba34ae2" /><Relationship Type="http://schemas.openxmlformats.org/officeDocument/2006/relationships/notesMaster" Target="/ppt/notesMasters/notesMaster1.xml" Id="R90b2a3a77c854a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c99e95bf014faa" /><Relationship Type="http://schemas.openxmlformats.org/officeDocument/2006/relationships/notesMaster" Target="/ppt/notesMasters/notesMaster1.xml" Id="R5b4ae9382fd64a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8bd6d9311d45fc" /><Relationship Type="http://schemas.openxmlformats.org/officeDocument/2006/relationships/notesMaster" Target="/ppt/notesMasters/notesMaster1.xml" Id="R5c26eacafe974d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0d921696f241cf" /><Relationship Type="http://schemas.openxmlformats.org/officeDocument/2006/relationships/notesMaster" Target="/ppt/notesMasters/notesMaster1.xml" Id="R77f9bf5d40224d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18d6797d8e4c5c" /><Relationship Type="http://schemas.openxmlformats.org/officeDocument/2006/relationships/notesMaster" Target="/ppt/notesMasters/notesMaster1.xml" Id="R843b93da41714b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951cd1e6e44844" /><Relationship Type="http://schemas.openxmlformats.org/officeDocument/2006/relationships/notesMaster" Target="/ppt/notesMasters/notesMaster1.xml" Id="R15b2a40e84334a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41bba3157d4b4b" /><Relationship Type="http://schemas.openxmlformats.org/officeDocument/2006/relationships/notesMaster" Target="/ppt/notesMasters/notesMaster1.xml" Id="Rf2902b77809942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9ecc9056424176" /><Relationship Type="http://schemas.openxmlformats.org/officeDocument/2006/relationships/notesMaster" Target="/ppt/notesMasters/notesMaster1.xml" Id="R7c4d40849a9a4a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af58225a304594" /><Relationship Type="http://schemas.openxmlformats.org/officeDocument/2006/relationships/notesMaster" Target="/ppt/notesMasters/notesMaster1.xml" Id="R77d96d262c6543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3e4e1462434967" /><Relationship Type="http://schemas.openxmlformats.org/officeDocument/2006/relationships/notesMaster" Target="/ppt/notesMasters/notesMaster1.xml" Id="R597e06923edf4a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cdbee439f74544" /><Relationship Type="http://schemas.openxmlformats.org/officeDocument/2006/relationships/notesMaster" Target="/ppt/notesMasters/notesMaster1.xml" Id="Rce431af500a34ea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77978002ba4738" /><Relationship Type="http://schemas.openxmlformats.org/officeDocument/2006/relationships/notesMaster" Target="/ppt/notesMasters/notesMaster1.xml" Id="R8878628b97d94be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baaf8a1cf6f4d4a" /><Relationship Type="http://schemas.openxmlformats.org/officeDocument/2006/relationships/notesMaster" Target="/ppt/notesMasters/notesMaster1.xml" Id="Rdb89904311e04e4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c9e47100e754316" /><Relationship Type="http://schemas.openxmlformats.org/officeDocument/2006/relationships/notesMaster" Target="/ppt/notesMasters/notesMaster1.xml" Id="R88cbf3e3386d41c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e4bd98c1bcf447d" /><Relationship Type="http://schemas.openxmlformats.org/officeDocument/2006/relationships/notesMaster" Target="/ppt/notesMasters/notesMaster1.xml" Id="R891a4409649a465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02e62d534444b42" /><Relationship Type="http://schemas.openxmlformats.org/officeDocument/2006/relationships/notesMaster" Target="/ppt/notesMasters/notesMaster1.xml" Id="R4b640535778e45a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98d430331a44e39" /><Relationship Type="http://schemas.openxmlformats.org/officeDocument/2006/relationships/notesMaster" Target="/ppt/notesMasters/notesMaster1.xml" Id="R7c9e1cbb3e0c46a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4848e189d5c4fef" /><Relationship Type="http://schemas.openxmlformats.org/officeDocument/2006/relationships/notesMaster" Target="/ppt/notesMasters/notesMaster1.xml" Id="R4bc738df254f436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63ebb21b8be4ee5" /><Relationship Type="http://schemas.openxmlformats.org/officeDocument/2006/relationships/notesMaster" Target="/ppt/notesMasters/notesMaster1.xml" Id="Rcdae9c56d43c499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30e5ee5a1bf4df5" /><Relationship Type="http://schemas.openxmlformats.org/officeDocument/2006/relationships/notesMaster" Target="/ppt/notesMasters/notesMaster1.xml" Id="R38c3bc94e8dd4eb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c3f4fe4613d4838" /><Relationship Type="http://schemas.openxmlformats.org/officeDocument/2006/relationships/notesMaster" Target="/ppt/notesMasters/notesMaster1.xml" Id="Rb8c7bf80d85b49f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b37c68f682f4a63" /><Relationship Type="http://schemas.openxmlformats.org/officeDocument/2006/relationships/notesMaster" Target="/ppt/notesMasters/notesMaster1.xml" Id="R611b9a8a71494ca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1a102c8ec744d13" /><Relationship Type="http://schemas.openxmlformats.org/officeDocument/2006/relationships/notesMaster" Target="/ppt/notesMasters/notesMaster1.xml" Id="Rf85655927ce249c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3c48c3a3a8b43ce" /><Relationship Type="http://schemas.openxmlformats.org/officeDocument/2006/relationships/notesMaster" Target="/ppt/notesMasters/notesMaster1.xml" Id="R8385c5f25a67464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2e3a96507d74d27" /><Relationship Type="http://schemas.openxmlformats.org/officeDocument/2006/relationships/notesMaster" Target="/ppt/notesMasters/notesMaster1.xml" Id="R6dee840994bb4e8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e331d91bb69477a" /><Relationship Type="http://schemas.openxmlformats.org/officeDocument/2006/relationships/notesMaster" Target="/ppt/notesMasters/notesMaster1.xml" Id="Ra4fe8b1930f74bb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eb28be5e3c5423b" /><Relationship Type="http://schemas.openxmlformats.org/officeDocument/2006/relationships/notesMaster" Target="/ppt/notesMasters/notesMaster1.xml" Id="Rb8bf3aad5c4f473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de20480d3164262" /><Relationship Type="http://schemas.openxmlformats.org/officeDocument/2006/relationships/notesMaster" Target="/ppt/notesMasters/notesMaster1.xml" Id="Rcadcf51f5db842d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c4c3834b6fd4ae0" /><Relationship Type="http://schemas.openxmlformats.org/officeDocument/2006/relationships/notesMaster" Target="/ppt/notesMasters/notesMaster1.xml" Id="R1dae5caa4f8440b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8618a1ecb55411e" /><Relationship Type="http://schemas.openxmlformats.org/officeDocument/2006/relationships/notesMaster" Target="/ppt/notesMasters/notesMaster1.xml" Id="R8d20aac0870d4fc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8d112bd630144a1" /><Relationship Type="http://schemas.openxmlformats.org/officeDocument/2006/relationships/notesMaster" Target="/ppt/notesMasters/notesMaster1.xml" Id="R56b7ea0879174b4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e4d1d9c410145e7" /><Relationship Type="http://schemas.openxmlformats.org/officeDocument/2006/relationships/notesMaster" Target="/ppt/notesMasters/notesMaster1.xml" Id="Reff245d6ad174f2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8632a9609d44864" /><Relationship Type="http://schemas.openxmlformats.org/officeDocument/2006/relationships/notesMaster" Target="/ppt/notesMasters/notesMaster1.xml" Id="R2c096ac38cd5445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5c5b56f33be43a6" /><Relationship Type="http://schemas.openxmlformats.org/officeDocument/2006/relationships/notesMaster" Target="/ppt/notesMasters/notesMaster1.xml" Id="R3355eb09e627452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bfe02387e7d41fb" /><Relationship Type="http://schemas.openxmlformats.org/officeDocument/2006/relationships/notesMaster" Target="/ppt/notesMasters/notesMaster1.xml" Id="R60ef347d547c4c8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cc5e34311d745d2" /><Relationship Type="http://schemas.openxmlformats.org/officeDocument/2006/relationships/notesMaster" Target="/ppt/notesMasters/notesMaster1.xml" Id="R12035554767c407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a15d435809d459b" /><Relationship Type="http://schemas.openxmlformats.org/officeDocument/2006/relationships/notesMaster" Target="/ppt/notesMasters/notesMaster1.xml" Id="R3013c52ca024453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13d754305f547d0" /><Relationship Type="http://schemas.openxmlformats.org/officeDocument/2006/relationships/notesMaster" Target="/ppt/notesMasters/notesMaster1.xml" Id="R8b5f196ea21349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[5]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[7]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[17] NVIDIA, “Rotate,” NPP Image Geometry Transforms, CUDA 13.0.3 archive documentation, accessed Oct. 8, 2026.</a:t>
            </a:r>
          </a:p>
          <a:p xmlns:a="http://schemas.openxmlformats.org/drawingml/2006/main">
            <a:r>
              <a:t>https://docs.nvidia.com/cuda/archive/13.0.3/npp/image_geometry_transforms.html#rotate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[5]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[12]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[7]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2cb8c400d64f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cd1e16258641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0a4cef2c5541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87936a640c4f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c6564d1c254f3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414174615246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2F7C69-DF16-4A6A-8C25-280F277F22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7DE9705-AE98-42A8-B3CD-5ECEC76647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D9FD05A-FF2F-42B0-BE18-48896D8ED9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2C492C-64B0-45BB-B4E4-505734513F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1FA4198-73D7-48C5-8E9F-09B8232BB1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02E4DF-E9A8-4708-817B-FE32D78DBF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EDBFCC-8F79-496E-BFA9-A3DFF73663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BF821E9-8578-4BCF-9C5A-D9FE90EBF8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C7022F-D97F-457A-A485-135C5D8B0D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F4FC92-79B5-410F-8991-D76FB2B577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c3836481294565" /><Relationship Type="http://schemas.openxmlformats.org/officeDocument/2006/relationships/slideLayout" Target="/ppt/slideLayouts/slideLayout1.xml" Id="R21f3b39290a043e1" /><Relationship Type="http://schemas.openxmlformats.org/officeDocument/2006/relationships/slideLayout" Target="/ppt/slideLayouts/slideLayout2.xml" Id="Ra90d906e475a4109" /><Relationship Type="http://schemas.openxmlformats.org/officeDocument/2006/relationships/slideLayout" Target="/ppt/slideLayouts/slideLayout3.xml" Id="R14dfd0e7e9d14ce7" /><Relationship Type="http://schemas.openxmlformats.org/officeDocument/2006/relationships/slideLayout" Target="/ppt/slideLayouts/slideLayout4.xml" Id="R1d9bccaa54444f32" /><Relationship Type="http://schemas.openxmlformats.org/officeDocument/2006/relationships/slideLayout" Target="/ppt/slideLayouts/slideLayout5.xml" Id="R849bb6bcdf374dac" /><Relationship Type="http://schemas.openxmlformats.org/officeDocument/2006/relationships/slideLayout" Target="/ppt/slideLayouts/slideLayout6.xml" Id="Ra6cb2cb008c54f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f3b39290a043e1"/>
    <p:sldLayoutId xmlns:r="http://schemas.openxmlformats.org/officeDocument/2006/relationships" id="2147483650" r:id="Ra90d906e475a4109"/>
    <p:sldLayoutId xmlns:r="http://schemas.openxmlformats.org/officeDocument/2006/relationships" id="2147483651" r:id="R14dfd0e7e9d14ce7"/>
    <p:sldLayoutId xmlns:r="http://schemas.openxmlformats.org/officeDocument/2006/relationships" id="2147483652" r:id="R1d9bccaa54444f32"/>
    <p:sldLayoutId xmlns:r="http://schemas.openxmlformats.org/officeDocument/2006/relationships" id="2147483653" r:id="R849bb6bcdf374dac"/>
    <p:sldLayoutId xmlns:r="http://schemas.openxmlformats.org/officeDocument/2006/relationships" id="2147483654" r:id="Ra6cb2cb008c54f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419b0aeb834013" /><Relationship Type="http://schemas.openxmlformats.org/officeDocument/2006/relationships/notesSlide" Target="/ppt/notesSlides/notesSlide1.xml" Id="R071b25a92eb748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72dd2173aa4185" /><Relationship Type="http://schemas.openxmlformats.org/officeDocument/2006/relationships/notesSlide" Target="/ppt/notesSlides/notesSlide2.xml" Id="Ra7af1b0185ae4f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5ab30fdca84313" /><Relationship Type="http://schemas.openxmlformats.org/officeDocument/2006/relationships/notesSlide" Target="/ppt/notesSlides/notesSlide3.xml" Id="R5e03259a2bdc48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1adb4dc6594cb4" /><Relationship Type="http://schemas.openxmlformats.org/officeDocument/2006/relationships/notesSlide" Target="/ppt/notesSlides/notesSlide4.xml" Id="Rf9caa33af8f841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f44124e2b843ed" /><Relationship Type="http://schemas.openxmlformats.org/officeDocument/2006/relationships/notesSlide" Target="/ppt/notesSlides/notesSlide5.xml" Id="R43ff0a7493b145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ccedba61cc44f9" /><Relationship Type="http://schemas.openxmlformats.org/officeDocument/2006/relationships/notesSlide" Target="/ppt/notesSlides/notesSlide6.xml" Id="R24ddadb1b73c49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77191792a84e41" /><Relationship Type="http://schemas.openxmlformats.org/officeDocument/2006/relationships/notesSlide" Target="/ppt/notesSlides/notesSlide7.xml" Id="R97cd6c46a2c047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0aaa58fc7a4a0d" /><Relationship Type="http://schemas.openxmlformats.org/officeDocument/2006/relationships/notesSlide" Target="/ppt/notesSlides/notesSlide8.xml" Id="R7a043c8e5b9048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3c37ff2cb34fe4" /><Relationship Type="http://schemas.openxmlformats.org/officeDocument/2006/relationships/chart" Target="/ppt/slides/charts/chart1.xml" Id="R2ef7a3eac518425c" /><Relationship Type="http://schemas.openxmlformats.org/officeDocument/2006/relationships/chart" Target="/ppt/slides/charts/chart2.xml" Id="R578d1ca0b9744e75" /><Relationship Type="http://schemas.openxmlformats.org/officeDocument/2006/relationships/notesSlide" Target="/ppt/notesSlides/notesSlide9.xml" Id="R443a4e8cc63848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7aa5d1802d48bf" /><Relationship Type="http://schemas.openxmlformats.org/officeDocument/2006/relationships/notesSlide" Target="/ppt/notesSlides/notesSlide10.xml" Id="R610cd856a6014d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3e48e118b74c07" /><Relationship Type="http://schemas.openxmlformats.org/officeDocument/2006/relationships/notesSlide" Target="/ppt/notesSlides/notesSlide11.xml" Id="R5850710c253645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670d1420074bf1" /><Relationship Type="http://schemas.openxmlformats.org/officeDocument/2006/relationships/notesSlide" Target="/ppt/notesSlides/notesSlide12.xml" Id="R6398c036fd0f4f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c2b408d69645ed" /><Relationship Type="http://schemas.openxmlformats.org/officeDocument/2006/relationships/notesSlide" Target="/ppt/notesSlides/notesSlide13.xml" Id="R3d46bd63a52e47d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f6b1c877274fe8" /><Relationship Type="http://schemas.openxmlformats.org/officeDocument/2006/relationships/notesSlide" Target="/ppt/notesSlides/notesSlide14.xml" Id="Rfce329991fc74b5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e40a9ad76f4521" /><Relationship Type="http://schemas.openxmlformats.org/officeDocument/2006/relationships/notesSlide" Target="/ppt/notesSlides/notesSlide15.xml" Id="R805784b27b9944a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53c0a512754ee1" /><Relationship Type="http://schemas.openxmlformats.org/officeDocument/2006/relationships/notesSlide" Target="/ppt/notesSlides/notesSlide16.xml" Id="R4fc46a8d670f4fc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8ae0526a724709" /><Relationship Type="http://schemas.openxmlformats.org/officeDocument/2006/relationships/notesSlide" Target="/ppt/notesSlides/notesSlide17.xml" Id="R20596ee40a4e42a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96df3a27a84ca0" /><Relationship Type="http://schemas.openxmlformats.org/officeDocument/2006/relationships/notesSlide" Target="/ppt/notesSlides/notesSlide18.xml" Id="R05cb37ffc8a14fc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468d5edbf2423e" /><Relationship Type="http://schemas.openxmlformats.org/officeDocument/2006/relationships/notesSlide" Target="/ppt/notesSlides/notesSlide19.xml" Id="R41ad50d7dfa1480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dfb58be61e45d8" /><Relationship Type="http://schemas.openxmlformats.org/officeDocument/2006/relationships/notesSlide" Target="/ppt/notesSlides/notesSlide20.xml" Id="Rb6aef84aeba14df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afa76d5bed449c" /><Relationship Type="http://schemas.openxmlformats.org/officeDocument/2006/relationships/notesSlide" Target="/ppt/notesSlides/notesSlide21.xml" Id="R4abcf68efe8f4c5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31d01f5b93462e" /><Relationship Type="http://schemas.openxmlformats.org/officeDocument/2006/relationships/notesSlide" Target="/ppt/notesSlides/notesSlide22.xml" Id="R86f363a3274e496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7ae7798f574ffe" /><Relationship Type="http://schemas.openxmlformats.org/officeDocument/2006/relationships/notesSlide" Target="/ppt/notesSlides/notesSlide23.xml" Id="Rbc7252e036b1467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b58001038045ae" /><Relationship Type="http://schemas.openxmlformats.org/officeDocument/2006/relationships/notesSlide" Target="/ppt/notesSlides/notesSlide24.xml" Id="Ref2ed73a853f43f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aee2ceb877478f" /><Relationship Type="http://schemas.openxmlformats.org/officeDocument/2006/relationships/notesSlide" Target="/ppt/notesSlides/notesSlide25.xml" Id="Ra65e4bb1fbfa47a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63085bfbd45e8" /><Relationship Type="http://schemas.openxmlformats.org/officeDocument/2006/relationships/notesSlide" Target="/ppt/notesSlides/notesSlide26.xml" Id="Rcfb04239d00842a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0b6943003f428d" /><Relationship Type="http://schemas.openxmlformats.org/officeDocument/2006/relationships/notesSlide" Target="/ppt/notesSlides/notesSlide27.xml" Id="R18e6f40e66184b8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abd4d7e0324b40" /><Relationship Type="http://schemas.openxmlformats.org/officeDocument/2006/relationships/notesSlide" Target="/ppt/notesSlides/notesSlide28.xml" Id="R5fd2aaba03d848f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75dc5f86c5403f" /><Relationship Type="http://schemas.openxmlformats.org/officeDocument/2006/relationships/notesSlide" Target="/ppt/notesSlides/notesSlide29.xml" Id="R430c91b6f781477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1ea12133ef4f56" /><Relationship Type="http://schemas.openxmlformats.org/officeDocument/2006/relationships/notesSlide" Target="/ppt/notesSlides/notesSlide30.xml" Id="R8efbea8bcecc4ea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242bf32b094689" /><Relationship Type="http://schemas.openxmlformats.org/officeDocument/2006/relationships/notesSlide" Target="/ppt/notesSlides/notesSlide31.xml" Id="Rfcd9c68713f6471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46f5d33b854c1c" /><Relationship Type="http://schemas.openxmlformats.org/officeDocument/2006/relationships/notesSlide" Target="/ppt/notesSlides/notesSlide32.xml" Id="Re77bb4f112534b5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e3ad8a6f4649a6" /><Relationship Type="http://schemas.openxmlformats.org/officeDocument/2006/relationships/notesSlide" Target="/ppt/notesSlides/notesSlide33.xml" Id="Re6e142ca861e498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7b327078ec47cf" /><Relationship Type="http://schemas.openxmlformats.org/officeDocument/2006/relationships/notesSlide" Target="/ppt/notesSlides/notesSlide34.xml" Id="Rebc59907c0a8404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d69ae7c8ea48ee" /><Relationship Type="http://schemas.openxmlformats.org/officeDocument/2006/relationships/hyperlink" Target="https://docs.nvidia.com/cuda/cuda-programming-guide/01-introduction/programming-model.html" TargetMode="External" Id="R15b2e4eb77324236" /><Relationship Type="http://schemas.openxmlformats.org/officeDocument/2006/relationships/hyperlink" Target="https://docs.nvidia.com/cuda/cuda-c-best-practices-guide/index.html" TargetMode="External" Id="Rf9d7cd7d5f5642b4" /><Relationship Type="http://schemas.openxmlformats.org/officeDocument/2006/relationships/hyperlink" Target="https://docs.nvidia.com/gpudirect-storage/overview-guide/index.html" TargetMode="External" Id="R810e0506db814afa" /><Relationship Type="http://schemas.openxmlformats.org/officeDocument/2006/relationships/hyperlink" Target="https://docs.nvidia.com/gpudirect-storage/design-guide/index.html" TargetMode="External" Id="R683e0f161eb14211" /><Relationship Type="http://schemas.openxmlformats.org/officeDocument/2006/relationships/notesSlide" Target="/ppt/notesSlides/notesSlide35.xml" Id="R6d1231679058492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37501dcdce4a1c" /><Relationship Type="http://schemas.openxmlformats.org/officeDocument/2006/relationships/hyperlink" Target="https://docs.nvidia.com/megatron-core/developer-guide/latest/user-guide/parallelism-guide.html" TargetMode="External" Id="R687503027fde4a02" /><Relationship Type="http://schemas.openxmlformats.org/officeDocument/2006/relationships/hyperlink" Target="https://www.iea.org/reports/key-questions-on-energy-and-ai/executive-summary" TargetMode="External" Id="R9a44a49ed7364b32" /><Relationship Type="http://schemas.openxmlformats.org/officeDocument/2006/relationships/hyperlink" Target="https://www.nsf.gov/cise/updates/nairr-2-years-advancing-american-artificial-intelligence" TargetMode="External" Id="Re265fa333f6f4542" /><Relationship Type="http://schemas.openxmlformats.org/officeDocument/2006/relationships/hyperlink" Target="https://aclanthology.org/P19-1355/" TargetMode="External" Id="Rcfc09ee519f64ad1" /><Relationship Type="http://schemas.openxmlformats.org/officeDocument/2006/relationships/notesSlide" Target="/ppt/notesSlides/notesSlide36.xml" Id="R2dbe50ca78e9427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36af2f16ce49b9" /><Relationship Type="http://schemas.openxmlformats.org/officeDocument/2006/relationships/hyperlink" Target="https://arxiv.org/abs/2304.03271v5" TargetMode="External" Id="Raa2210b87d9448a5" /><Relationship Type="http://schemas.openxmlformats.org/officeDocument/2006/relationships/hyperlink" Target="https://arxiv.org/abs/1907.10597" TargetMode="External" Id="R08f22703a4c74c16" /><Relationship Type="http://schemas.openxmlformats.org/officeDocument/2006/relationships/hyperlink" Target="https://arxiv.org/abs/1906.08935v2" TargetMode="External" Id="R76db6654e83f42a2" /><Relationship Type="http://schemas.openxmlformats.org/officeDocument/2006/relationships/hyperlink" Target="https://aclanthology.org/2024.cl-3.8/" TargetMode="External" Id="Rc9de2706f6994ec1" /><Relationship Type="http://schemas.openxmlformats.org/officeDocument/2006/relationships/notesSlide" Target="/ppt/notesSlides/notesSlide37.xml" Id="R19484e43ae3c47a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c47dcb9b074369" /><Relationship Type="http://schemas.openxmlformats.org/officeDocument/2006/relationships/hyperlink" Target="https://arxiv.org/abs/2010.15581v1" TargetMode="External" Id="R3f1a6404ec864794" /><Relationship Type="http://schemas.openxmlformats.org/officeDocument/2006/relationships/hyperlink" Target="https://arxiv.org/abs/2106.11750v1" TargetMode="External" Id="Re45c79bbc4364a6a" /><Relationship Type="http://schemas.openxmlformats.org/officeDocument/2006/relationships/hyperlink" Target="https://www.oecd.org/en/topics/ai-principles.html" TargetMode="External" Id="Rbb61dc98f6844571" /><Relationship Type="http://schemas.openxmlformats.org/officeDocument/2006/relationships/hyperlink" Target="https://airc.nist.gov/airmf-resources/playbook/" TargetMode="External" Id="Ra97e001a528a45d9" /><Relationship Type="http://schemas.openxmlformats.org/officeDocument/2006/relationships/notesSlide" Target="/ppt/notesSlides/notesSlide38.xml" Id="R0b365d26eb14467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34a6e1d19c4382" /><Relationship Type="http://schemas.openxmlformats.org/officeDocument/2006/relationships/hyperlink" Target="https://docs.nvidia.com/cuda/archive/13.0.3/npp/image_geometry_transforms.html#rotate" TargetMode="External" Id="R55adf97578b84d9e" /><Relationship Type="http://schemas.openxmlformats.org/officeDocument/2006/relationships/notesSlide" Target="/ppt/notesSlides/notesSlide39.xml" Id="Re8b05de9f71e4f1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4220650b8940f4" /><Relationship Type="http://schemas.openxmlformats.org/officeDocument/2006/relationships/notesSlide" Target="/ppt/notesSlides/notesSlide40.xml" Id="R725ffd478cbd41e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Electricity (TWh)</c:v>
          </c:tx>
          <c:spPr>
            <a:solidFill xmlns:a="http://schemas.openxmlformats.org/drawingml/2006/main">
              <a:srgbClr val="007B83"/>
            </a:solidFill>
          </c:spPr>
          <c:cat>
            <c:strRef>
              <c:f>'Chart Data'!$A$2:$A$3</c:f>
              <c:strCache>
                <c:ptCount val="2"/>
                <c:pt idx="0">
                  <c:v>2025 estimate</c:v>
                </c:pt>
                <c:pt idx="1">
                  <c:v>2030 projection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485</c:v>
                </c:pt>
                <c:pt idx="1">
                  <c:v>950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2025 growth</c:v>
          </c:tx>
          <c:spPr>
            <a:solidFill xmlns:a="http://schemas.openxmlformats.org/drawingml/2006/main">
              <a:srgbClr val="B55E24"/>
            </a:solidFill>
          </c:spPr>
          <c:cat>
            <c:strRef>
              <c:f>'Chart Data'!$A$2:$A$3</c:f>
              <c:strCache>
                <c:ptCount val="2"/>
                <c:pt idx="0">
                  <c:v>All data centres</c:v>
                </c:pt>
                <c:pt idx="1">
                  <c:v>AI-focused subset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0.17</c:v>
                </c:pt>
                <c:pt idx="1">
                  <c:v>0.5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IT3143 • Applied 2 • Tasks 1 and 2">
            <a:extLst xmlns:a="http://schemas.openxmlformats.org/drawingml/2006/main">
              <a:ext uri="{FF2B5EF4-FFF2-40B4-BE49-F238E27FC236}">
                <a16:creationId xmlns:a16="http://schemas.microsoft.com/office/drawing/2014/main" id="{2D3BC323-E93E-42AF-94ED-49C3CD9D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D7D5"/>
                </a:solidFill>
                <a:latin typeface="Arial"/>
                <a:ea typeface="Arial"/>
                <a:cs typeface="Arial"/>
              </a:rPr>
              <a:t>FIT3143 • Applied 2 • Tasks 1 and 2</a:t>
            </a:r>
          </a:p>
        </p:txBody>
      </p:sp>
      <p:sp>
        <p:nvSpPr>
          <p:cNvPr id="2" name="GPU image rotation&#10;and responsible HPC for AI">
            <a:extLst xmlns:a="http://schemas.openxmlformats.org/drawingml/2006/main">
              <a:ext uri="{FF2B5EF4-FFF2-40B4-BE49-F238E27FC236}">
                <a16:creationId xmlns:a16="http://schemas.microsoft.com/office/drawing/2014/main" id="{EB76A408-BB56-4906-B0AA-48725140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GPU image rotation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responsible HPC for AI</a:t>
            </a:r>
          </a:p>
        </p:txBody>
      </p:sp>
      <p:sp>
        <p:nvSpPr>
          <p:cNvPr id="3" name="CUDA design and performance • Evidence, trade-offs and ">
            <a:extLst xmlns:a="http://schemas.openxmlformats.org/drawingml/2006/main">
              <a:ext uri="{FF2B5EF4-FFF2-40B4-BE49-F238E27FC236}">
                <a16:creationId xmlns:a16="http://schemas.microsoft.com/office/drawing/2014/main" id="{8623F113-006F-49E6-A66C-62E64D21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CDCE4"/>
                </a:solidFill>
                <a:latin typeface="Arial"/>
                <a:ea typeface="Arial"/>
                <a:cs typeface="Arial"/>
              </a:rPr>
              <a:t>CUDA design and performance • Evidence, trade-offs and accountable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29D5A-64B5-4C45-8915-E4B7C6A3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77082"/>
            </a:solidFill>
            <a:prstDash val="solid"/>
          </a:ln>
        </p:spPr>
      </p:sp>
      <p:sp>
        <p:nvSpPr>
          <p:cNvPr id="5" name="Savin Vindiv De Alwis  ·  35221631">
            <a:extLst xmlns:a="http://schemas.openxmlformats.org/drawingml/2006/main">
              <a:ext uri="{FF2B5EF4-FFF2-40B4-BE49-F238E27FC236}">
                <a16:creationId xmlns:a16="http://schemas.microsoft.com/office/drawing/2014/main" id="{375E4EFE-49D0-4CB8-BDA5-2B2FB5B1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· 35221631</a:t>
            </a:r>
          </a:p>
        </p:txBody>
      </p:sp>
      <p:sp>
        <p:nvSpPr>
          <p:cNvPr id="6" name="sdea0018@student.monash.edu">
            <a:extLst xmlns:a="http://schemas.openxmlformats.org/drawingml/2006/main">
              <a:ext uri="{FF2B5EF4-FFF2-40B4-BE49-F238E27FC236}">
                <a16:creationId xmlns:a16="http://schemas.microsoft.com/office/drawing/2014/main" id="{00AC2366-9907-426A-8880-03BE8C7D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sdea0018@student.monash.edu</a:t>
            </a:r>
          </a:p>
        </p:txBody>
      </p:sp>
      <p:sp>
        <p:nvSpPr>
          <p:cNvPr id="7" name="Shamle Thilaksiri  ·  35512075">
            <a:extLst xmlns:a="http://schemas.openxmlformats.org/drawingml/2006/main">
              <a:ext uri="{FF2B5EF4-FFF2-40B4-BE49-F238E27FC236}">
                <a16:creationId xmlns:a16="http://schemas.microsoft.com/office/drawing/2014/main" id="{4C728F44-D8A1-4A46-9D14-4F24E51F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Shamle Thilaksiri · 35512075</a:t>
            </a:r>
          </a:p>
        </p:txBody>
      </p:sp>
      <p:sp>
        <p:nvSpPr>
          <p:cNvPr id="8" name="wthi0003@student.monash.edu">
            <a:extLst xmlns:a="http://schemas.openxmlformats.org/drawingml/2006/main">
              <a:ext uri="{FF2B5EF4-FFF2-40B4-BE49-F238E27FC236}">
                <a16:creationId xmlns:a16="http://schemas.microsoft.com/office/drawing/2014/main" id="{3CA012C8-969D-4C4F-A79F-50ED9934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wthi0003@student.monash.edu</a:t>
            </a:r>
          </a:p>
        </p:txBody>
      </p:sp>
      <p:sp>
        <p:nvSpPr>
          <p:cNvPr id="9" name="8 October 2026  •  Detailed evidence, references and AI">
            <a:extLst xmlns:a="http://schemas.openxmlformats.org/drawingml/2006/main">
              <a:ext uri="{FF2B5EF4-FFF2-40B4-BE49-F238E27FC236}">
                <a16:creationId xmlns:a16="http://schemas.microsoft.com/office/drawing/2014/main" id="{137F40C3-1527-45DA-AE12-BFBCE407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858500" cy="21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8 October 2026 • Detailed evidence, references and AI declaration follow in the appendix</a:t>
            </a:r>
          </a:p>
        </p:txBody>
      </p:sp>
    </p:spTree>
    <p:extLst>
      <p:ext uri="{BB962C8B-B14F-4D97-AF65-F5344CB8AC3E}">
        <p14:creationId xmlns:p14="http://schemas.microsoft.com/office/powerpoint/2010/main" val="7740471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BFC6E-1CCE-4196-B46A-1BAFF89EF1D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583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1B00AF-9B44-431D-8072-018AD317006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9342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C4CEF-F0D6-4026-BD26-CCC48F8217D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101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096AF-5AB6-47F4-8323-DA017A3F019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860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25" name="Task 1(a)">
            <a:extLst xmlns:a="http://schemas.openxmlformats.org/drawingml/2006/main">
              <a:ext uri="{FF2B5EF4-FFF2-40B4-BE49-F238E27FC236}">
                <a16:creationId xmlns:a16="http://schemas.microsoft.com/office/drawing/2014/main" id="{37209A57-4715-464D-B1FF-1979E0A5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1(a)</a:t>
            </a:r>
          </a:p>
        </p:txBody>
      </p:sp>
      <p:sp>
        <p:nvSpPr>
          <p:cNvPr id="2" name="Host–GPU image data flow">
            <a:extLst xmlns:a="http://schemas.openxmlformats.org/drawingml/2006/main">
              <a:ext uri="{FF2B5EF4-FFF2-40B4-BE49-F238E27FC236}">
                <a16:creationId xmlns:a16="http://schemas.microsoft.com/office/drawing/2014/main" id="{256D84CD-096B-4259-BBAF-2C6E911C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Host–GPU image data flow</a:t>
            </a:r>
          </a:p>
        </p:txBody>
      </p:sp>
      <p:sp>
        <p:nvSpPr>
          <p:cNvPr id="3" name="CPU: load/decode, allocate, launch, save">
            <a:extLst xmlns:a="http://schemas.openxmlformats.org/drawingml/2006/main">
              <a:ext uri="{FF2B5EF4-FFF2-40B4-BE49-F238E27FC236}">
                <a16:creationId xmlns:a16="http://schemas.microsoft.com/office/drawing/2014/main" id="{CCFDC7F7-9F9A-4069-89C1-15F3C3BA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CPU: load/decode, allocate, launch, save</a:t>
            </a:r>
          </a:p>
        </p:txBody>
      </p:sp>
      <p:sp>
        <p:nvSpPr>
          <p:cNvPr id="4" name="GPU: read input, rotate, write output">
            <a:extLst xmlns:a="http://schemas.openxmlformats.org/drawingml/2006/main">
              <a:ext uri="{FF2B5EF4-FFF2-40B4-BE49-F238E27FC236}">
                <a16:creationId xmlns:a16="http://schemas.microsoft.com/office/drawing/2014/main" id="{D30FBA85-5252-462B-8F54-40038E77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5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GPU: read input, rotate, write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DAC50-CE7D-497C-9CD4-13C3AC4B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encoded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43565-EC57-43E1-AA2D-DD051833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RAM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DDR example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 pixels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C4E2B-1304-4EE0-B5AE-6F274D42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GDDR / HBM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 buffer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8C437-B5A8-44DC-81AB-A0D388A8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GDDR / HBM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buffer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51C10-5E8C-4380-9D44-8D71F2D6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RAM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pixels</a:t>
            </a:r>
          </a:p>
        </p:txBody>
      </p:sp>
      <p:sp>
        <p:nvSpPr>
          <p:cNvPr id="14" name="CPU&#10;decode">
            <a:extLst xmlns:a="http://schemas.openxmlformats.org/drawingml/2006/main">
              <a:ext uri="{FF2B5EF4-FFF2-40B4-BE49-F238E27FC236}">
                <a16:creationId xmlns:a16="http://schemas.microsoft.com/office/drawing/2014/main" id="{458A9A65-344A-4E1E-9525-464AD674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CPU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decode</a:t>
            </a:r>
          </a:p>
        </p:txBody>
      </p:sp>
      <p:sp>
        <p:nvSpPr>
          <p:cNvPr id="15" name="H2D&#10;PCIe">
            <a:extLst xmlns:a="http://schemas.openxmlformats.org/drawingml/2006/main">
              <a:ext uri="{FF2B5EF4-FFF2-40B4-BE49-F238E27FC236}">
                <a16:creationId xmlns:a16="http://schemas.microsoft.com/office/drawing/2014/main" id="{646B7B92-EDC6-4B36-A732-DD427CA9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H2D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PCIe</a:t>
            </a:r>
          </a:p>
        </p:txBody>
      </p:sp>
      <p:sp>
        <p:nvSpPr>
          <p:cNvPr id="16" name="CUDA&#10;kernel">
            <a:extLst xmlns:a="http://schemas.openxmlformats.org/drawingml/2006/main">
              <a:ext uri="{FF2B5EF4-FFF2-40B4-BE49-F238E27FC236}">
                <a16:creationId xmlns:a16="http://schemas.microsoft.com/office/drawing/2014/main" id="{F943A33D-2557-4820-A630-44837905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CUDA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7" name="D2H&#10;PCIe">
            <a:extLst xmlns:a="http://schemas.openxmlformats.org/drawingml/2006/main">
              <a:ext uri="{FF2B5EF4-FFF2-40B4-BE49-F238E27FC236}">
                <a16:creationId xmlns:a16="http://schemas.microsoft.com/office/drawing/2014/main" id="{86189CAF-707D-4445-96F4-FEA798CE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D2H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PCIe</a:t>
            </a:r>
          </a:p>
        </p:txBody>
      </p:sp>
      <p:sp>
        <p:nvSpPr>
          <p:cNvPr id="18" name="H2D: host → device. D2H: device → host. Separate buffer">
            <a:extLst xmlns:a="http://schemas.openxmlformats.org/drawingml/2006/main">
              <a:ext uri="{FF2B5EF4-FFF2-40B4-BE49-F238E27FC236}">
                <a16:creationId xmlns:a16="http://schemas.microsoft.com/office/drawing/2014/main" id="{650272A1-3DC0-4B6E-9907-97128D78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H2D: host → device. D2H: device → host. Separate buffers; DMA (direct memory access) engines transfer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bytes over PCIe.</a:t>
            </a:r>
          </a:p>
        </p:txBody>
      </p:sp>
      <p:sp>
        <p:nvSpPr>
          <p:cNvPr id="19" name="GPU memory bandwidth differs from PCIe bandwidth. Pinne">
            <a:extLst xmlns:a="http://schemas.openxmlformats.org/drawingml/2006/main">
              <a:ext uri="{FF2B5EF4-FFF2-40B4-BE49-F238E27FC236}">
                <a16:creationId xmlns:a16="http://schemas.microsoft.com/office/drawing/2014/main" id="{3E96869F-05D9-4011-984A-7AF11BBC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2228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 bandwidth differs from PCIe bandwidth. Pinned RAM supports DMA; pageable RAM may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stage. Complete output before saving or reuse.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BCBEF4-D10F-4FFF-A4CF-C6856D48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21" name="The CPU orchestrates I/O and launches; the GPU rotates ">
            <a:extLst xmlns:a="http://schemas.openxmlformats.org/drawingml/2006/main">
              <a:ext uri="{FF2B5EF4-FFF2-40B4-BE49-F238E27FC236}">
                <a16:creationId xmlns:a16="http://schemas.microsoft.com/office/drawing/2014/main" id="{2768F251-45C2-4602-84EC-4029E6AE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CPU orchestrates I/O and launches; the GPU rotates decoded pixels.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F8C6FA-F6EA-4C2B-9AB4-A10122CD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3" name="Sources: [1] NVIDIA CUDA programming model; [2] NVIDIA ">
            <a:extLst xmlns:a="http://schemas.openxmlformats.org/drawingml/2006/main">
              <a:ext uri="{FF2B5EF4-FFF2-40B4-BE49-F238E27FC236}">
                <a16:creationId xmlns:a16="http://schemas.microsoft.com/office/drawing/2014/main" id="{0D43A96C-C1B9-4B35-9FEB-1DE7B95D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model; [2] NVIDIA CUDA Best Practices</a:t>
            </a:r>
          </a:p>
        </p:txBody>
      </p:sp>
      <p:sp>
        <p:nvSpPr>
          <p:cNvPr id="24" name="2 / 40">
            <a:extLst xmlns:a="http://schemas.openxmlformats.org/drawingml/2006/main">
              <a:ext uri="{FF2B5EF4-FFF2-40B4-BE49-F238E27FC236}">
                <a16:creationId xmlns:a16="http://schemas.microsoft.com/office/drawing/2014/main" id="{1AE69091-A81F-46B2-BEEF-5B1587F9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 / 40</a:t>
            </a:r>
          </a:p>
        </p:txBody>
      </p:sp>
    </p:spTree>
    <p:extLst>
      <p:ext uri="{BB962C8B-B14F-4D97-AF65-F5344CB8AC3E}">
        <p14:creationId xmlns:p14="http://schemas.microsoft.com/office/powerpoint/2010/main" val="3713267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919A1-3774-41D6-A230-E3A6E71712B1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25063" y="2762250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8" name="Task 1(b)">
            <a:extLst xmlns:a="http://schemas.openxmlformats.org/drawingml/2006/main">
              <a:ext uri="{FF2B5EF4-FFF2-40B4-BE49-F238E27FC236}">
                <a16:creationId xmlns:a16="http://schemas.microsoft.com/office/drawing/2014/main" id="{C4D36846-6A94-4E42-87F6-2527BE7D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Rotation as independent output work">
            <a:extLst xmlns:a="http://schemas.openxmlformats.org/drawingml/2006/main">
              <a:ext uri="{FF2B5EF4-FFF2-40B4-BE49-F238E27FC236}">
                <a16:creationId xmlns:a16="http://schemas.microsoft.com/office/drawing/2014/main" id="{98C261B8-960E-48A9-AE93-EE85D682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as independent output work</a:t>
            </a:r>
          </a:p>
        </p:txBody>
      </p:sp>
      <p:sp>
        <p:nvSpPr>
          <p:cNvPr id="3" name="Inverse mapping in y-down image coordinates">
            <a:extLst xmlns:a="http://schemas.openxmlformats.org/drawingml/2006/main">
              <a:ext uri="{FF2B5EF4-FFF2-40B4-BE49-F238E27FC236}">
                <a16:creationId xmlns:a16="http://schemas.microsoft.com/office/drawing/2014/main" id="{B8D37E3C-9160-445A-AFD5-A5DFFB84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65722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Inverse mapping in y-down image coordinates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647EA-4057-489B-BA28-16F91FA2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680085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5" name="sx = c*(x-cx) - s*(y-cy) + cx;&#10;sy = s*(x-cx) + c*(y-cy)">
            <a:extLst xmlns:a="http://schemas.openxmlformats.org/drawingml/2006/main">
              <a:ext uri="{FF2B5EF4-FFF2-40B4-BE49-F238E27FC236}">
                <a16:creationId xmlns:a16="http://schemas.microsoft.com/office/drawing/2014/main" id="{F66232E3-D582-4C87-8ED5-37B9CD9F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572250" cy="114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sx = c*(x-cx) - s*(y-cy) + cx;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sy = s*(x-cx) + c*(y-cy) + cy;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ix = floor(sx + 0.5);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iy = floor(sy + 0.5);</a:t>
            </a:r>
          </a:p>
        </p:txBody>
      </p:sp>
      <p:sp>
        <p:nvSpPr>
          <p:cNvPr id="6" name="c = cos θ; s = sin θ; center = ((W−1)/2, (H−1)/2)">
            <a:extLst xmlns:a="http://schemas.openxmlformats.org/drawingml/2006/main">
              <a:ext uri="{FF2B5EF4-FFF2-40B4-BE49-F238E27FC236}">
                <a16:creationId xmlns:a16="http://schemas.microsoft.com/office/drawing/2014/main" id="{B9DBF1AE-B94E-420B-BA00-EB61019E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69913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 = cos θ; s = sin θ; center = ((W−1)/2, (H−1)/2)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A8A47-FB3B-4FFC-9431-585B3053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76425"/>
            <a:ext cx="23336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pixel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(x,y)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8B42B-2272-4B29-BCE4-5E2EE47A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00425"/>
            <a:ext cx="23336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 input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(ix,iy)</a:t>
            </a:r>
          </a:p>
        </p:txBody>
      </p:sp>
      <p:sp>
        <p:nvSpPr>
          <p:cNvPr id="10" name="lookup">
            <a:extLst xmlns:a="http://schemas.openxmlformats.org/drawingml/2006/main">
              <a:ext uri="{FF2B5EF4-FFF2-40B4-BE49-F238E27FC236}">
                <a16:creationId xmlns:a16="http://schemas.microsoft.com/office/drawing/2014/main" id="{41D78278-8195-40D7-80F1-3D79F8CF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24175"/>
            <a:ext cx="1066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lookup</a:t>
            </a:r>
          </a:p>
        </p:txBody>
      </p:sp>
      <p:sp>
        <p:nvSpPr>
          <p:cNvPr id="11" name="Positive θ rotates visually counterclockwise. Use a fix">
            <a:extLst xmlns:a="http://schemas.openxmlformats.org/drawingml/2006/main">
              <a:ext uri="{FF2B5EF4-FFF2-40B4-BE49-F238E27FC236}">
                <a16:creationId xmlns:a16="http://schemas.microsoft.com/office/drawing/2014/main" id="{85877449-4C02-4CCB-9567-8712B718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7152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Positive θ rotates visually counterclockwise. Use a fixed canvas; rounded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source indices outside the image produce black.</a:t>
            </a:r>
          </a:p>
        </p:txBody>
      </p:sp>
      <p:sp>
        <p:nvSpPr>
          <p:cNvPr id="12" name="Brightness touches the same pixel in/out; rotation gath">
            <a:extLst xmlns:a="http://schemas.openxmlformats.org/drawingml/2006/main">
              <a:ext uri="{FF2B5EF4-FFF2-40B4-BE49-F238E27FC236}">
                <a16:creationId xmlns:a16="http://schemas.microsoft.com/office/drawing/2014/main" id="{CB8BEAF5-28A4-4EED-9FBF-BDD8D01A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8428"/>
            <a:ext cx="77152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Brightness touches the same pixel in/out; rotation gathers a different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source. Nearest-neighbour sampling is simple but can alias.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DFABE8-3FB0-4992-A2CF-CF88C57C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4" name="One thread owns one output pixel: gather a source value">
            <a:extLst xmlns:a="http://schemas.openxmlformats.org/drawingml/2006/main">
              <a:ext uri="{FF2B5EF4-FFF2-40B4-BE49-F238E27FC236}">
                <a16:creationId xmlns:a16="http://schemas.microsoft.com/office/drawing/2014/main" id="{83C5FABB-AD0E-48DD-AAB8-F6D5A9DF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One thread owns one output pixel: gather a source value, then write once.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DD26E8-A2AA-4678-8A60-BFDA50BC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6" name="Sources: [1] NVIDIA CUDA programming model">
            <a:extLst xmlns:a="http://schemas.openxmlformats.org/drawingml/2006/main">
              <a:ext uri="{FF2B5EF4-FFF2-40B4-BE49-F238E27FC236}">
                <a16:creationId xmlns:a16="http://schemas.microsoft.com/office/drawing/2014/main" id="{0107CE34-5BAC-4A71-93B1-8FE237D9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</a:t>
            </a:r>
          </a:p>
        </p:txBody>
      </p:sp>
      <p:sp>
        <p:nvSpPr>
          <p:cNvPr id="17" name="3 / 40">
            <a:extLst xmlns:a="http://schemas.openxmlformats.org/drawingml/2006/main">
              <a:ext uri="{FF2B5EF4-FFF2-40B4-BE49-F238E27FC236}">
                <a16:creationId xmlns:a16="http://schemas.microsoft.com/office/drawing/2014/main" id="{23C65A1F-5602-4E65-8442-497A06E1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 / 40</a:t>
            </a:r>
          </a:p>
        </p:txBody>
      </p:sp>
    </p:spTree>
    <p:extLst>
      <p:ext uri="{BB962C8B-B14F-4D97-AF65-F5344CB8AC3E}">
        <p14:creationId xmlns:p14="http://schemas.microsoft.com/office/powerpoint/2010/main" val="4188122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ask 1(b)">
            <a:extLst xmlns:a="http://schemas.openxmlformats.org/drawingml/2006/main">
              <a:ext uri="{FF2B5EF4-FFF2-40B4-BE49-F238E27FC236}">
                <a16:creationId xmlns:a16="http://schemas.microsoft.com/office/drawing/2014/main" id="{A3AA0E9D-58FE-40FC-A1F1-EDDAE00F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CUDA launch and execution hierarchy">
            <a:extLst xmlns:a="http://schemas.openxmlformats.org/drawingml/2006/main">
              <a:ext uri="{FF2B5EF4-FFF2-40B4-BE49-F238E27FC236}">
                <a16:creationId xmlns:a16="http://schemas.microsoft.com/office/drawing/2014/main" id="{684510AA-4A22-4732-98D7-6E96F2F0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launch and execution hierarchy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2E8B9-A0F6-45A5-A01B-E6926A23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59436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dim3 block(16,16);&#10;dim3 grid(64,64);&#10;rotate_rgb&lt;&lt;&lt;grid,">
            <a:extLst xmlns:a="http://schemas.openxmlformats.org/drawingml/2006/main">
              <a:ext uri="{FF2B5EF4-FFF2-40B4-BE49-F238E27FC236}">
                <a16:creationId xmlns:a16="http://schemas.microsoft.com/office/drawing/2014/main" id="{2A10EA53-A10D-44A3-B02B-81BC6BD3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715000" cy="1101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block(16,16);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grid(64,64);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rotate_rgb&lt;&lt;&lt;grid,block&gt;&gt;&gt;(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d_in,d_out,1024,1024,c,s);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EAECE-8533-4CD4-A3AF-F373A300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943600" cy="948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6" name="x = blockIdx.x*blockDim.x + threadIdx.x;&#10;y = blockIdx.y">
            <a:extLst xmlns:a="http://schemas.openxmlformats.org/drawingml/2006/main">
              <a:ext uri="{FF2B5EF4-FFF2-40B4-BE49-F238E27FC236}">
                <a16:creationId xmlns:a16="http://schemas.microsoft.com/office/drawing/2014/main" id="{6A630D6C-85C7-40A6-815A-C08F3BB5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5715000" cy="815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x = blockIdx.x*blockDim.x + threadIdx.x;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y = blockIdx.y*blockDim.y + threadIdx.y;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if (x &gt;= W || y &gt;= H) return;</a:t>
            </a:r>
          </a:p>
        </p:txBody>
      </p:sp>
      <p:sp>
        <p:nvSpPr>
          <p:cNvPr id="7" name="1024 × 1024 output">
            <a:extLst xmlns:a="http://schemas.openxmlformats.org/drawingml/2006/main">
              <a:ext uri="{FF2B5EF4-FFF2-40B4-BE49-F238E27FC236}">
                <a16:creationId xmlns:a16="http://schemas.microsoft.com/office/drawing/2014/main" id="{509B784F-37C5-4F02-A5C2-13F49CA5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62100"/>
            <a:ext cx="43434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1024 × 1024 output</a:t>
            </a:r>
          </a:p>
        </p:txBody>
      </p:sp>
      <p:sp>
        <p:nvSpPr>
          <p:cNvPr id="8" name="64 × 64 = 4,096 blocks">
            <a:extLst xmlns:a="http://schemas.openxmlformats.org/drawingml/2006/main">
              <a:ext uri="{FF2B5EF4-FFF2-40B4-BE49-F238E27FC236}">
                <a16:creationId xmlns:a16="http://schemas.microsoft.com/office/drawing/2014/main" id="{9838796A-A54F-4EAB-9234-17F70DF4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85975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64 × 64 = 4,096 blocks</a:t>
            </a:r>
          </a:p>
        </p:txBody>
      </p:sp>
      <p:sp>
        <p:nvSpPr>
          <p:cNvPr id="9" name="16 × 16 = 256 threads/block">
            <a:extLst xmlns:a="http://schemas.openxmlformats.org/drawingml/2006/main">
              <a:ext uri="{FF2B5EF4-FFF2-40B4-BE49-F238E27FC236}">
                <a16:creationId xmlns:a16="http://schemas.microsoft.com/office/drawing/2014/main" id="{87C2844D-5A64-4DA9-A7D3-3410E6A7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16 × 16 = 256 threads/block</a:t>
            </a:r>
          </a:p>
        </p:txBody>
      </p:sp>
      <p:sp>
        <p:nvSpPr>
          <p:cNvPr id="10" name="1,048,576 logical threads">
            <a:extLst xmlns:a="http://schemas.openxmlformats.org/drawingml/2006/main">
              <a:ext uri="{FF2B5EF4-FFF2-40B4-BE49-F238E27FC236}">
                <a16:creationId xmlns:a16="http://schemas.microsoft.com/office/drawing/2014/main" id="{353F6881-C499-46F9-9452-34995460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57525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1,048,576 logical threads</a:t>
            </a:r>
          </a:p>
        </p:txBody>
      </p:sp>
      <p:sp>
        <p:nvSpPr>
          <p:cNvPr id="11" name="32 threads/warp → 8 warps/block">
            <a:extLst xmlns:a="http://schemas.openxmlformats.org/drawingml/2006/main">
              <a:ext uri="{FF2B5EF4-FFF2-40B4-BE49-F238E27FC236}">
                <a16:creationId xmlns:a16="http://schemas.microsoft.com/office/drawing/2014/main" id="{9D303114-4B69-4688-86C2-54472AC0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32 threads/warp → 8 warps/block</a:t>
            </a:r>
          </a:p>
        </p:txBody>
      </p:sp>
      <p:sp>
        <p:nvSpPr>
          <p:cNvPr id="12" name="One highlighted warp within a 16-wide block">
            <a:extLst xmlns:a="http://schemas.openxmlformats.org/drawingml/2006/main">
              <a:ext uri="{FF2B5EF4-FFF2-40B4-BE49-F238E27FC236}">
                <a16:creationId xmlns:a16="http://schemas.microsoft.com/office/drawing/2014/main" id="{13214494-76B1-40F1-9DE6-623E52C9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29075"/>
            <a:ext cx="4343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One highlighted warp within a 16-wide block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B7BF07-2EE4-479E-9CAE-86922DCB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AE5B6D-43AE-4536-B955-2B7A6C29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0A134-E518-421C-A845-02665A8B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B4B57C-964E-455F-879F-308BF187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0CC68-B680-4C89-98D4-46761DC5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4F9DD6-7A3F-4147-B4D5-53C1E1A6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D3C9CB-3664-4AD8-89AF-B782847C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0E68C6-92E9-4855-9680-42D12BEA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C4B59E-B7C8-4392-9291-AA119186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F11DB0-2DB7-4D03-B309-862AF397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B57C0D-7729-490F-8BDF-1A2D564C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00E1E9-7550-4C25-9E6D-9311997B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7D85-30A0-4117-BE85-E6B9CA08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EED8DA-85B6-469A-9C2F-FEB2DE8B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3BFBE1-ACA0-4A17-80D5-A347C5B4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D3D6DA-8B13-495A-8BC1-4D0684F8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8B1945-1076-4303-9C0E-DCC650D4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146E63-C5EE-448F-95FC-F0F2BD2A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6670F2-1FCC-493E-8A23-13517A00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636275-CB4B-48C3-A0C7-A76295CB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6F5B71-35E6-45B0-BA30-563E3A1B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B16BF5-FD86-4B42-B310-B09B82D6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B838FC-71B5-4273-920E-A2AEAFC9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4750E5-B0CC-4B07-9E83-A3B3C1EA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8F23EB-CFD0-4F4A-AE55-F2AD1020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BD5C9D-6CFF-4A95-919D-A961A846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9A5DFB-34E4-4038-8DA7-2A3D4060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C52E03-ADAA-4569-B666-8A85DE98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073BBE-E5E5-42A8-BA39-CDB23941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A65E8A-0238-45C0-95DA-25F3AE99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E9DDDC-17FC-4B5D-954B-426E19B8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FB5B79-E6DC-4098-ABF0-31AB600C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5" name="Non-multiple dimensions: ceil-divide the grid and keep ">
            <a:extLst xmlns:a="http://schemas.openxmlformats.org/drawingml/2006/main">
              <a:ext uri="{FF2B5EF4-FFF2-40B4-BE49-F238E27FC236}">
                <a16:creationId xmlns:a16="http://schemas.microsoft.com/office/drawing/2014/main" id="{FE3687DB-225B-4AEE-A024-9050F552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Non-multiple dimensions: ceil-divide the grid and keep the bounds guard.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23C57A8-18B0-479C-BF02-3D380C8D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47" name="A grid specifies logical work; finite SMs schedule its ">
            <a:extLst xmlns:a="http://schemas.openxmlformats.org/drawingml/2006/main">
              <a:ext uri="{FF2B5EF4-FFF2-40B4-BE49-F238E27FC236}">
                <a16:creationId xmlns:a16="http://schemas.microsoft.com/office/drawing/2014/main" id="{7FAAFD22-97EB-447C-8822-0878E3C2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grid specifies logical work; finite SMs schedule its blocks and warps.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BBEDCB8-EC73-4117-A477-1695DDF7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49" name="Sources: [1] NVIDIA CUDA programming model">
            <a:extLst xmlns:a="http://schemas.openxmlformats.org/drawingml/2006/main">
              <a:ext uri="{FF2B5EF4-FFF2-40B4-BE49-F238E27FC236}">
                <a16:creationId xmlns:a16="http://schemas.microsoft.com/office/drawing/2014/main" id="{9CDA9D9F-1B6B-4D50-9B8A-CAA76E45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</a:t>
            </a:r>
          </a:p>
        </p:txBody>
      </p:sp>
      <p:sp>
        <p:nvSpPr>
          <p:cNvPr id="50" name="4 / 40">
            <a:extLst xmlns:a="http://schemas.openxmlformats.org/drawingml/2006/main">
              <a:ext uri="{FF2B5EF4-FFF2-40B4-BE49-F238E27FC236}">
                <a16:creationId xmlns:a16="http://schemas.microsoft.com/office/drawing/2014/main" id="{9E33CB90-6BC4-433F-AED6-6D5F561D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 / 40</a:t>
            </a:r>
          </a:p>
        </p:txBody>
      </p:sp>
    </p:spTree>
    <p:extLst>
      <p:ext uri="{BB962C8B-B14F-4D97-AF65-F5344CB8AC3E}">
        <p14:creationId xmlns:p14="http://schemas.microsoft.com/office/powerpoint/2010/main" val="9916714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D0EAAA-6B82-47AB-B644-45140B19C57B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9644063" y="2305050"/>
            <a:ext cx="4763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7" name="Task 1(b)">
            <a:extLst xmlns:a="http://schemas.openxmlformats.org/drawingml/2006/main">
              <a:ext uri="{FF2B5EF4-FFF2-40B4-BE49-F238E27FC236}">
                <a16:creationId xmlns:a16="http://schemas.microsoft.com/office/drawing/2014/main" id="{BEE75FE4-5CBB-4B89-A5DD-7ABE9E91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CUDA features that affect throughput">
            <a:extLst xmlns:a="http://schemas.openxmlformats.org/drawingml/2006/main">
              <a:ext uri="{FF2B5EF4-FFF2-40B4-BE49-F238E27FC236}">
                <a16:creationId xmlns:a16="http://schemas.microsoft.com/office/drawing/2014/main" id="{481DF6A3-3732-4960-8338-1C7439DF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features that affect throughput</a:t>
            </a:r>
          </a:p>
        </p:txBody>
      </p:sp>
      <p:sp>
        <p:nvSpPr>
          <p:cNvPr id="3" name="Example: independent brightness channels">
            <a:extLst xmlns:a="http://schemas.openxmlformats.org/drawingml/2006/main">
              <a:ext uri="{FF2B5EF4-FFF2-40B4-BE49-F238E27FC236}">
                <a16:creationId xmlns:a16="http://schemas.microsoft.com/office/drawing/2014/main" id="{4409C694-AE21-4A65-88B5-77F64C8F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238875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Example: independent brightness channels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622E6-D690-4B84-986F-BD4674F2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64198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5" name="size_t p = 3*(size_t(y)*W + x);&#10;for (int ch=0; ch&lt;3; ++">
            <a:extLst xmlns:a="http://schemas.openxmlformats.org/drawingml/2006/main">
              <a:ext uri="{FF2B5EF4-FFF2-40B4-BE49-F238E27FC236}">
                <a16:creationId xmlns:a16="http://schemas.microsoft.com/office/drawing/2014/main" id="{54EE13AA-AB22-4B21-8D27-45587CCD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619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size_t p = 3*(size_t(y)*W + x);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for (int ch=0; ch&lt;3; ++ch) {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int v = int(in[p+ch]) + delta;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out[p+ch] = v&lt;0 ? 0 : (v&gt;255 ? 255 : v);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Excerpt after coordinate/bounds checks; valid contiguou">
            <a:extLst xmlns:a="http://schemas.openxmlformats.org/drawingml/2006/main">
              <a:ext uri="{FF2B5EF4-FFF2-40B4-BE49-F238E27FC236}">
                <a16:creationId xmlns:a16="http://schemas.microsoft.com/office/drawing/2014/main" id="{29B12017-74DB-4E25-9390-85F9C1A6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6324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Excerpt after coordinate/bounds checks; valid contiguous RGB buffers.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87CBF-6494-4B54-A2EB-AAB16978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38300"/>
            <a:ext cx="2914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Pending blocks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D3D51-EC85-491D-9A4F-86D8D6F9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00375"/>
            <a:ext cx="3667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Streaming multiprocessor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warps → execution units</a:t>
            </a:r>
          </a:p>
        </p:txBody>
      </p:sp>
      <p:sp>
        <p:nvSpPr>
          <p:cNvPr id="10" name="SIMT = single instruction, multiple threads. A warp iss">
            <a:extLst xmlns:a="http://schemas.openxmlformats.org/drawingml/2006/main">
              <a:ext uri="{FF2B5EF4-FFF2-40B4-BE49-F238E27FC236}">
                <a16:creationId xmlns:a16="http://schemas.microsoft.com/office/drawing/2014/main" id="{FB550338-70D2-4501-A318-C5211BA1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95775"/>
            <a:ext cx="386715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SIMT = single instruction, multiple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threads. A warp issues common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instructions; divergent paths can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efficiency.</a:t>
            </a:r>
          </a:p>
        </p:txBody>
      </p:sp>
      <p:sp>
        <p:nvSpPr>
          <p:cNvPr id="11" name="Resident warps hide latency; registers limit residency.">
            <a:extLst xmlns:a="http://schemas.openxmlformats.org/drawingml/2006/main">
              <a:ext uri="{FF2B5EF4-FFF2-40B4-BE49-F238E27FC236}">
                <a16:creationId xmlns:a16="http://schemas.microsoft.com/office/drawing/2014/main" id="{F458EA4B-5D0A-4CE4-90CC-64AE9B4F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6515100" cy="888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warps hide latency; registers limit residency.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Coalescing groups nearby accesses into fewer transactions;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can disrupt read locality.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1310B-3658-453F-BC5A-4DA9AE2A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Concurrency helps only when memory access and resource ">
            <a:extLst xmlns:a="http://schemas.openxmlformats.org/drawingml/2006/main">
              <a:ext uri="{FF2B5EF4-FFF2-40B4-BE49-F238E27FC236}">
                <a16:creationId xmlns:a16="http://schemas.microsoft.com/office/drawing/2014/main" id="{62E382E1-3943-41E3-B5E4-735929D6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Concurrency helps only when memory access and resource use support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68979A-3F35-4845-8CF5-88035FD1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] NVIDIA CUDA programming model; [2] NVIDIA ">
            <a:extLst xmlns:a="http://schemas.openxmlformats.org/drawingml/2006/main">
              <a:ext uri="{FF2B5EF4-FFF2-40B4-BE49-F238E27FC236}">
                <a16:creationId xmlns:a16="http://schemas.microsoft.com/office/drawing/2014/main" id="{AE74AB24-BA3A-467A-9907-DA76737A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model; [2] NVIDIA CUDA Best Practices</a:t>
            </a:r>
          </a:p>
        </p:txBody>
      </p:sp>
      <p:sp>
        <p:nvSpPr>
          <p:cNvPr id="16" name="5 / 40">
            <a:extLst xmlns:a="http://schemas.openxmlformats.org/drawingml/2006/main">
              <a:ext uri="{FF2B5EF4-FFF2-40B4-BE49-F238E27FC236}">
                <a16:creationId xmlns:a16="http://schemas.microsoft.com/office/drawing/2014/main" id="{A979ED67-902C-43B4-A3D7-CF725F25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 / 40</a:t>
            </a:r>
          </a:p>
        </p:txBody>
      </p:sp>
    </p:spTree>
    <p:extLst>
      <p:ext uri="{BB962C8B-B14F-4D97-AF65-F5344CB8AC3E}">
        <p14:creationId xmlns:p14="http://schemas.microsoft.com/office/powerpoint/2010/main" val="2699254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ask 1(b)">
            <a:extLst xmlns:a="http://schemas.openxmlformats.org/drawingml/2006/main">
              <a:ext uri="{FF2B5EF4-FFF2-40B4-BE49-F238E27FC236}">
                <a16:creationId xmlns:a16="http://schemas.microsoft.com/office/drawing/2014/main" id="{60E484B7-D37F-4106-8C29-AB653977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Expected speedup and its limits">
            <a:extLst xmlns:a="http://schemas.openxmlformats.org/drawingml/2006/main">
              <a:ext uri="{FF2B5EF4-FFF2-40B4-BE49-F238E27FC236}">
                <a16:creationId xmlns:a16="http://schemas.microsoft.com/office/drawing/2014/main" id="{D045C285-780B-4B37-A7E0-EFDC1CEA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Expected speedup and its limits</a:t>
            </a:r>
          </a:p>
        </p:txBody>
      </p:sp>
      <p:sp>
        <p:nvSpPr>
          <p:cNvPr id="3" name="Baseline: single CPU thread, same rotation and sampling">
            <a:extLst xmlns:a="http://schemas.openxmlformats.org/drawingml/2006/main">
              <a:ext uri="{FF2B5EF4-FFF2-40B4-BE49-F238E27FC236}">
                <a16:creationId xmlns:a16="http://schemas.microsoft.com/office/drawing/2014/main" id="{B53F960C-57A4-4544-8637-C9EF4AC1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Baseline: single CPU thread, same rotation and sampling</a:t>
            </a:r>
          </a:p>
        </p:txBody>
      </p:sp>
      <p:sp>
        <p:nvSpPr>
          <p:cNvPr id="4" name="Also compare a multithreaded CPU; identical output and ">
            <a:extLst xmlns:a="http://schemas.openxmlformats.org/drawingml/2006/main">
              <a:ext uri="{FF2B5EF4-FFF2-40B4-BE49-F238E27FC236}">
                <a16:creationId xmlns:a16="http://schemas.microsoft.com/office/drawing/2014/main" id="{99507463-39A7-43F4-8F16-5C5E24AA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Also compare a multithreaded CPU; identical output and timing boundaries.</a:t>
            </a:r>
          </a:p>
        </p:txBody>
      </p:sp>
      <p:sp>
        <p:nvSpPr>
          <p:cNvPr id="5" name="Speedup = TCPU / TGPU,total">
            <a:extLst xmlns:a="http://schemas.openxmlformats.org/drawingml/2006/main">
              <a:ext uri="{FF2B5EF4-FFF2-40B4-BE49-F238E27FC236}">
                <a16:creationId xmlns:a16="http://schemas.microsoft.com/office/drawing/2014/main" id="{AFA130C8-8F33-4FBA-8012-34434EDB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4396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Speedup = TCPU / TGPU,total</a:t>
            </a:r>
          </a:p>
        </p:txBody>
      </p:sp>
      <p:sp>
        <p:nvSpPr>
          <p:cNvPr id="6" name="TGPU,total = allocation/setup + H2D + kernel + D2H">
            <a:extLst xmlns:a="http://schemas.openxmlformats.org/drawingml/2006/main">
              <a:ext uri="{FF2B5EF4-FFF2-40B4-BE49-F238E27FC236}">
                <a16:creationId xmlns:a16="http://schemas.microsoft.com/office/drawing/2014/main" id="{AEDBB19F-8BB7-48C4-BDAB-6BBE6048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TGPU,total = allocation/setup + H2D + kernel + D2H</a:t>
            </a:r>
          </a:p>
        </p:txBody>
      </p:sp>
      <p:sp>
        <p:nvSpPr>
          <p:cNvPr id="7" name="Many GPU execution units and high device bandwidth favo">
            <a:extLst xmlns:a="http://schemas.openxmlformats.org/drawingml/2006/main">
              <a:ext uri="{FF2B5EF4-FFF2-40B4-BE49-F238E27FC236}">
                <a16:creationId xmlns:a16="http://schemas.microsoft.com/office/drawing/2014/main" id="{62A5E11D-5DE0-43E7-8F02-B114622B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21970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Many GPU execution units and high device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bandwidth favor parallel throughput. Large or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images amortize setup; gathered reads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limit bandwidth.</a:t>
            </a:r>
          </a:p>
        </p:txBody>
      </p:sp>
      <p:sp>
        <p:nvSpPr>
          <p:cNvPr id="8" name="Week 7: S = 1 / (s + (1−s)/a). s is the unchanged seria">
            <a:extLst xmlns:a="http://schemas.openxmlformats.org/drawingml/2006/main">
              <a:ext uri="{FF2B5EF4-FFF2-40B4-BE49-F238E27FC236}">
                <a16:creationId xmlns:a16="http://schemas.microsoft.com/office/drawing/2014/main" id="{506F0213-9EA3-4175-9149-D615EB2C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516255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Week 7: S = 1 / (s + (1−s)/a). s is the unchanged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share; a accelerates the remainder. s = 0.20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gives a 5× ideal ceiling before added transfers.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Theoretical, not measured.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E7020-6EE0-4FA4-B189-77B29D16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0" name="Expect gains for large or resident workloads; measure t">
            <a:extLst xmlns:a="http://schemas.openxmlformats.org/drawingml/2006/main">
              <a:ext uri="{FF2B5EF4-FFF2-40B4-BE49-F238E27FC236}">
                <a16:creationId xmlns:a16="http://schemas.microsoft.com/office/drawing/2014/main" id="{3D5C196F-076D-44F7-929C-CEDBFC13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Expect gains for large or resident workloads; measure the whole pipeline.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7C98D6-AAD0-409C-A607-8D92F1B1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Sources: [2] NVIDIA CUDA Best Practices">
            <a:extLst xmlns:a="http://schemas.openxmlformats.org/drawingml/2006/main">
              <a:ext uri="{FF2B5EF4-FFF2-40B4-BE49-F238E27FC236}">
                <a16:creationId xmlns:a16="http://schemas.microsoft.com/office/drawing/2014/main" id="{B266ED42-CD44-4580-985B-98F71C38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NVIDIA CUDA Best Practices</a:t>
            </a:r>
          </a:p>
        </p:txBody>
      </p:sp>
      <p:sp>
        <p:nvSpPr>
          <p:cNvPr id="13" name="6 / 40">
            <a:extLst xmlns:a="http://schemas.openxmlformats.org/drawingml/2006/main">
              <a:ext uri="{FF2B5EF4-FFF2-40B4-BE49-F238E27FC236}">
                <a16:creationId xmlns:a16="http://schemas.microsoft.com/office/drawing/2014/main" id="{CA59D809-43AF-4CAA-83AE-4C7D572A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6 / 40</a:t>
            </a:r>
          </a:p>
        </p:txBody>
      </p:sp>
    </p:spTree>
    <p:extLst>
      <p:ext uri="{BB962C8B-B14F-4D97-AF65-F5344CB8AC3E}">
        <p14:creationId xmlns:p14="http://schemas.microsoft.com/office/powerpoint/2010/main" val="4914617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6BE6D9-79C8-408D-8036-3FB8C5903DAF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086100" y="4095750"/>
            <a:ext cx="6191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6C15F-DF72-4824-8988-0BCCF5E57BB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372350" y="23431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AB7B3-9B96-4327-A57A-8AA09614A58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57475" y="234315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23" name="Task 1(c)">
            <a:extLst xmlns:a="http://schemas.openxmlformats.org/drawingml/2006/main">
              <a:ext uri="{FF2B5EF4-FFF2-40B4-BE49-F238E27FC236}">
                <a16:creationId xmlns:a16="http://schemas.microsoft.com/office/drawing/2014/main" id="{04032ED8-190A-42C0-A6B3-999CFF2E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1(c)</a:t>
            </a:r>
          </a:p>
        </p:txBody>
      </p:sp>
      <p:sp>
        <p:nvSpPr>
          <p:cNvPr id="2" name="GPUDirect Storage and rotation">
            <a:extLst xmlns:a="http://schemas.openxmlformats.org/drawingml/2006/main">
              <a:ext uri="{FF2B5EF4-FFF2-40B4-BE49-F238E27FC236}">
                <a16:creationId xmlns:a16="http://schemas.microsoft.com/office/drawing/2014/main" id="{7AC2C90B-8924-4409-B11D-9C12AF7B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GPUDirect Storage and rotation</a:t>
            </a:r>
          </a:p>
        </p:txBody>
      </p:sp>
      <p:sp>
        <p:nvSpPr>
          <p:cNvPr id="3" name="Conventional storage path">
            <a:extLst xmlns:a="http://schemas.openxmlformats.org/drawingml/2006/main">
              <a:ext uri="{FF2B5EF4-FFF2-40B4-BE49-F238E27FC236}">
                <a16:creationId xmlns:a16="http://schemas.microsoft.com/office/drawing/2014/main" id="{E4B83DCE-9321-40F5-A375-6AA70045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Conventional storage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F9B52-2AF5-41FF-BD4C-77F130F0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2047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1A2A5-E92B-4D25-B2F7-AC557D9F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71675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staging 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E4923-3908-4B55-A830-E74DB9A3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71675"/>
            <a:ext cx="2305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</p:txBody>
      </p:sp>
      <p:sp>
        <p:nvSpPr>
          <p:cNvPr id="9" name="storage read">
            <a:extLst xmlns:a="http://schemas.openxmlformats.org/drawingml/2006/main">
              <a:ext uri="{FF2B5EF4-FFF2-40B4-BE49-F238E27FC236}">
                <a16:creationId xmlns:a16="http://schemas.microsoft.com/office/drawing/2014/main" id="{D535D414-32E5-4BD8-A7C5-EFDE1C60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57400"/>
            <a:ext cx="15240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 read</a:t>
            </a:r>
          </a:p>
        </p:txBody>
      </p:sp>
      <p:sp>
        <p:nvSpPr>
          <p:cNvPr id="10" name="H2D / PCIe">
            <a:extLst xmlns:a="http://schemas.openxmlformats.org/drawingml/2006/main">
              <a:ext uri="{FF2B5EF4-FFF2-40B4-BE49-F238E27FC236}">
                <a16:creationId xmlns:a16="http://schemas.microsoft.com/office/drawing/2014/main" id="{236E1CF7-DC78-43CD-B3F4-591A97E3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57400"/>
            <a:ext cx="1628775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H2D / PCIe</a:t>
            </a:r>
          </a:p>
        </p:txBody>
      </p:sp>
      <p:sp>
        <p:nvSpPr>
          <p:cNvPr id="11" name="GDS direct path (supported configuration)">
            <a:extLst xmlns:a="http://schemas.openxmlformats.org/drawingml/2006/main">
              <a:ext uri="{FF2B5EF4-FFF2-40B4-BE49-F238E27FC236}">
                <a16:creationId xmlns:a16="http://schemas.microsoft.com/office/drawing/2014/main" id="{279F3E8A-5B64-41F6-9338-8144E23E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76200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GDS direct path (supported configuration)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08118C-5BCB-41B0-8BBC-964D057B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Storage-side DMA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NVMe / NIC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07A64F-E712-426E-8535-75A19BF6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38550"/>
            <a:ext cx="2305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</p:txBody>
      </p:sp>
      <p:sp>
        <p:nvSpPr>
          <p:cNvPr id="15" name="PCIe data path bypasses host staging">
            <a:extLst xmlns:a="http://schemas.openxmlformats.org/drawingml/2006/main">
              <a:ext uri="{FF2B5EF4-FFF2-40B4-BE49-F238E27FC236}">
                <a16:creationId xmlns:a16="http://schemas.microsoft.com/office/drawing/2014/main" id="{07B0E0B5-8DDA-4302-A727-3AAD2078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724275"/>
            <a:ext cx="49720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PCIe data path bypasses host staging</a:t>
            </a:r>
          </a:p>
        </p:txBody>
      </p:sp>
      <p:sp>
        <p:nvSpPr>
          <p:cNvPr id="16" name="CPU issues cuFile I/O; compatibility fallback may stage">
            <a:extLst xmlns:a="http://schemas.openxmlformats.org/drawingml/2006/main">
              <a:ext uri="{FF2B5EF4-FFF2-40B4-BE49-F238E27FC236}">
                <a16:creationId xmlns:a16="http://schemas.microsoft.com/office/drawing/2014/main" id="{BD777F6C-79CA-4C39-BA39-6D00AF4B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issues cuFile I/O; compatibility fallback may stage through RAM.</a:t>
            </a:r>
          </a:p>
        </p:txBody>
      </p:sp>
      <p:sp>
        <p:nvSpPr>
          <p:cNvPr id="17" name="CPU-decoded / already-in-RAM image: little benefit. Lar">
            <a:extLst xmlns:a="http://schemas.openxmlformats.org/drawingml/2006/main">
              <a:ext uri="{FF2B5EF4-FFF2-40B4-BE49-F238E27FC236}">
                <a16:creationId xmlns:a16="http://schemas.microsoft.com/office/drawing/2014/main" id="{1354F480-0C05-4618-A385-665DA63E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9728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CPU-decoded / already-in-RAM image: little benefit. Large storage-bound batches with GPU-ready data: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possible benefit, verify direct path and total time.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0B183D-B5AE-4DFE-B33B-F1358FFD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9" name="GDS can reduce storage staging; it does not accelerate ">
            <a:extLst xmlns:a="http://schemas.openxmlformats.org/drawingml/2006/main">
              <a:ext uri="{FF2B5EF4-FFF2-40B4-BE49-F238E27FC236}">
                <a16:creationId xmlns:a16="http://schemas.microsoft.com/office/drawing/2014/main" id="{26549FB6-7C36-41B2-9B68-23CBBE4C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can reduce storage staging; it does not accelerate rotation arithmetic.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98CE84-E452-4B5A-A4F8-6EEE74C3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1" name="Sources: [3] NVIDIA GDS overview; [4] NVIDIA GDS design">
            <a:extLst xmlns:a="http://schemas.openxmlformats.org/drawingml/2006/main">
              <a:ext uri="{FF2B5EF4-FFF2-40B4-BE49-F238E27FC236}">
                <a16:creationId xmlns:a16="http://schemas.microsoft.com/office/drawing/2014/main" id="{2AF3C3E5-FE36-4E5B-9236-A9A99885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[3] NVIDIA GDS overview; [4] NVIDIA GDS design</a:t>
            </a:r>
          </a:p>
        </p:txBody>
      </p:sp>
      <p:sp>
        <p:nvSpPr>
          <p:cNvPr id="22" name="7 / 40">
            <a:extLst xmlns:a="http://schemas.openxmlformats.org/drawingml/2006/main">
              <a:ext uri="{FF2B5EF4-FFF2-40B4-BE49-F238E27FC236}">
                <a16:creationId xmlns:a16="http://schemas.microsoft.com/office/drawing/2014/main" id="{46E35FB7-091A-44EE-A92D-7530E6E8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7 / 40</a:t>
            </a:r>
          </a:p>
        </p:txBody>
      </p:sp>
    </p:spTree>
    <p:extLst>
      <p:ext uri="{BB962C8B-B14F-4D97-AF65-F5344CB8AC3E}">
        <p14:creationId xmlns:p14="http://schemas.microsoft.com/office/powerpoint/2010/main" val="18518601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ask 2 • HPC and AI">
            <a:extLst xmlns:a="http://schemas.openxmlformats.org/drawingml/2006/main">
              <a:ext uri="{FF2B5EF4-FFF2-40B4-BE49-F238E27FC236}">
                <a16:creationId xmlns:a16="http://schemas.microsoft.com/office/drawing/2014/main" id="{3C3486C9-EAFB-42B6-9C24-AEA1532F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 • HPC and AI</a:t>
            </a:r>
          </a:p>
        </p:txBody>
      </p:sp>
      <p:sp>
        <p:nvSpPr>
          <p:cNvPr id="2" name="Parallel training across a compute cluster">
            <a:extLst xmlns:a="http://schemas.openxmlformats.org/drawingml/2006/main">
              <a:ext uri="{FF2B5EF4-FFF2-40B4-BE49-F238E27FC236}">
                <a16:creationId xmlns:a16="http://schemas.microsoft.com/office/drawing/2014/main" id="{8895138C-59ED-4D00-8B7B-F60AAE99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 training across a compute cluster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57C2BB-9B5C-4D52-BC8F-1FDF54C7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0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ADC15-5BAF-4691-B1AA-9372A370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1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6E2DD-FEAE-4BBE-A923-F29EEB03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2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394A4-A945-4B70-8EAE-D3B9A62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Gradient all-reduce: average + share → consistent update on every GPU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AD6AA-0210-451F-A9E9-BDB0C842FB38}"/>
              </a:ext>
            </a:extLst>
          </p:cNvPr>
          <p:cNvCxnSpPr/>
          <p:nvPr/>
        </p:nvCxnSpPr>
        <p:spPr>
          <a:xfrm xmlns:a="http://schemas.openxmlformats.org/drawingml/2006/main">
            <a:off x="2095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48C75-95F1-4D5B-8014-5E2616B69A56}"/>
              </a:ext>
            </a:extLst>
          </p:cNvPr>
          <p:cNvCxnSpPr/>
          <p:nvPr/>
        </p:nvCxnSpPr>
        <p:spPr>
          <a:xfrm xmlns:a="http://schemas.openxmlformats.org/drawingml/2006/main">
            <a:off x="60960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E558D-ED3F-47EF-840F-EF7D9E549C08}"/>
              </a:ext>
            </a:extLst>
          </p:cNvPr>
          <p:cNvCxnSpPr/>
          <p:nvPr/>
        </p:nvCxnSpPr>
        <p:spPr>
          <a:xfrm xmlns:a="http://schemas.openxmlformats.org/drawingml/2006/main">
            <a:off x="10096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sp>
        <p:nvSpPr>
          <p:cNvPr id="10" name="Interconnect:&#10;latency and bandwidth">
            <a:extLst xmlns:a="http://schemas.openxmlformats.org/drawingml/2006/main">
              <a:ext uri="{FF2B5EF4-FFF2-40B4-BE49-F238E27FC236}">
                <a16:creationId xmlns:a16="http://schemas.microsoft.com/office/drawing/2014/main" id="{59D06E26-0D33-47BB-95B5-6499F08F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38475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Interconnect: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latency and bandwidth</a:t>
            </a:r>
          </a:p>
        </p:txBody>
      </p:sp>
      <p:sp>
        <p:nvSpPr>
          <p:cNvPr id="11" name="Gradient synchronization&#10;before each update">
            <a:extLst xmlns:a="http://schemas.openxmlformats.org/drawingml/2006/main">
              <a:ext uri="{FF2B5EF4-FFF2-40B4-BE49-F238E27FC236}">
                <a16:creationId xmlns:a16="http://schemas.microsoft.com/office/drawing/2014/main" id="{2B7A17A5-0563-4724-8E87-AE141BA3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384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Gradient synchronization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before each update</a:t>
            </a:r>
          </a:p>
        </p:txBody>
      </p:sp>
      <p:sp>
        <p:nvSpPr>
          <p:cNvPr id="12" name="HPC combines processors, memory, networks and storage. ">
            <a:extLst xmlns:a="http://schemas.openxmlformats.org/drawingml/2006/main">
              <a:ext uri="{FF2B5EF4-FFF2-40B4-BE49-F238E27FC236}">
                <a16:creationId xmlns:a16="http://schemas.microsoft.com/office/drawing/2014/main" id="{CB175066-D802-4EA2-A8E5-B2877302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521970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HPC combines processors, memory, networks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storage. Tensor/pipeline parallelism can also split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model.</a:t>
            </a:r>
          </a:p>
        </p:txBody>
      </p:sp>
      <p:sp>
        <p:nvSpPr>
          <p:cNvPr id="13" name="More GPUs enable larger work; communication, serial wor">
            <a:extLst xmlns:a="http://schemas.openxmlformats.org/drawingml/2006/main">
              <a:ext uri="{FF2B5EF4-FFF2-40B4-BE49-F238E27FC236}">
                <a16:creationId xmlns:a16="http://schemas.microsoft.com/office/drawing/2014/main" id="{35EA093E-4757-4F13-AAD0-305A8AF9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52975"/>
            <a:ext cx="51625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GPUs enable larger work; communication,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work and imbalance limit speedup. Evaluate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useful output against resource cost.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5C8228-4A26-437F-BD7D-0703CFEC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Scaling adds capacity and communication: ethical costs ">
            <a:extLst xmlns:a="http://schemas.openxmlformats.org/drawingml/2006/main">
              <a:ext uri="{FF2B5EF4-FFF2-40B4-BE49-F238E27FC236}">
                <a16:creationId xmlns:a16="http://schemas.microsoft.com/office/drawing/2014/main" id="{B04B8DD0-B384-46E2-B646-1722C38A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adds capacity and communication: ethical costs depend on useful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D29220-9536-4336-B314-B143ACE2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5] NVIDIA Megatron parallelism; [2] NVIDIA CU">
            <a:extLst xmlns:a="http://schemas.openxmlformats.org/drawingml/2006/main">
              <a:ext uri="{FF2B5EF4-FFF2-40B4-BE49-F238E27FC236}">
                <a16:creationId xmlns:a16="http://schemas.microsoft.com/office/drawing/2014/main" id="{B6358B42-18B3-4997-B4E4-C53A555E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[5] NVIDIA Megatron parallelism; [2] NVIDIA CUDA Best Practices</a:t>
            </a:r>
          </a:p>
        </p:txBody>
      </p:sp>
      <p:sp>
        <p:nvSpPr>
          <p:cNvPr id="18" name="8 / 40">
            <a:extLst xmlns:a="http://schemas.openxmlformats.org/drawingml/2006/main">
              <a:ext uri="{FF2B5EF4-FFF2-40B4-BE49-F238E27FC236}">
                <a16:creationId xmlns:a16="http://schemas.microsoft.com/office/drawing/2014/main" id="{8BE5ACCD-DC0E-4CC0-9B61-30B7AC2B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8 / 40</a:t>
            </a:r>
          </a:p>
        </p:txBody>
      </p:sp>
    </p:spTree>
    <p:extLst>
      <p:ext uri="{BB962C8B-B14F-4D97-AF65-F5344CB8AC3E}">
        <p14:creationId xmlns:p14="http://schemas.microsoft.com/office/powerpoint/2010/main" val="16728594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a)">
            <a:extLst xmlns:a="http://schemas.openxmlformats.org/drawingml/2006/main">
              <a:ext uri="{FF2B5EF4-FFF2-40B4-BE49-F238E27FC236}">
                <a16:creationId xmlns:a16="http://schemas.microsoft.com/office/drawing/2014/main" id="{5DD8F971-052F-4E3F-A3D4-D145C0FD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</a:t>
            </a:r>
          </a:p>
        </p:txBody>
      </p:sp>
      <p:sp>
        <p:nvSpPr>
          <p:cNvPr id="2" name="Electricity demand and environmental costs">
            <a:extLst xmlns:a="http://schemas.openxmlformats.org/drawingml/2006/main">
              <a:ext uri="{FF2B5EF4-FFF2-40B4-BE49-F238E27FC236}">
                <a16:creationId xmlns:a16="http://schemas.microsoft.com/office/drawing/2014/main" id="{2A63CE57-9E5C-43D7-B945-D65D101E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demand and environmental costs</a:t>
            </a:r>
          </a:p>
        </p:txBody>
      </p:sp>
      <p:sp>
        <p:nvSpPr>
          <p:cNvPr id="3" name="Global data-centre electricity (TWh/year)">
            <a:extLst xmlns:a="http://schemas.openxmlformats.org/drawingml/2006/main">
              <a:ext uri="{FF2B5EF4-FFF2-40B4-BE49-F238E27FC236}">
                <a16:creationId xmlns:a16="http://schemas.microsoft.com/office/drawing/2014/main" id="{FC2C746F-0B5C-4BFC-BFB6-3599664C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data-centre electricity (TWh/year)</a:t>
            </a:r>
          </a:p>
        </p:txBody>
      </p:sp>
      <p:sp>
        <p:nvSpPr>
          <p:cNvPr id="4" name="Electricity growth during 2025">
            <a:extLst xmlns:a="http://schemas.openxmlformats.org/drawingml/2006/main">
              <a:ext uri="{FF2B5EF4-FFF2-40B4-BE49-F238E27FC236}">
                <a16:creationId xmlns:a16="http://schemas.microsoft.com/office/drawing/2014/main" id="{2154C50B-6CD2-4D33-95C4-0A928DC9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growth during 2025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3BAC8C6-BC11-4BBF-9A8E-D6B4B3523053}"/>
              </a:ext>
            </a:extLst>
          </p:cNvPr>
          <p:cNvGraphicFramePr/>
          <p:nvPr/>
        </p:nvGraphicFramePr>
        <p:xfrm>
          <a:off xmlns:a="http://schemas.openxmlformats.org/drawingml/2006/main" x="609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f7a3eac518425c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87D2268D-73A0-4D43-B5DB-862CA5DFB1C1}"/>
              </a:ext>
            </a:extLst>
          </p:cNvPr>
          <p:cNvGraphicFramePr/>
          <p:nvPr/>
        </p:nvGraphicFramePr>
        <p:xfrm>
          <a:off xmlns:a="http://schemas.openxmlformats.org/drawingml/2006/main" x="6324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8d1ca0b9744e75"/>
          </a:graphicData>
        </a:graphic>
      </p:graphicFrame>
      <p:sp>
        <p:nvSpPr>
          <p:cNvPr id="7" name="IEA 2026: ≈96% increase to 2030. These cover the whole ">
            <a:extLst xmlns:a="http://schemas.openxmlformats.org/drawingml/2006/main">
              <a:ext uri="{FF2B5EF4-FFF2-40B4-BE49-F238E27FC236}">
                <a16:creationId xmlns:a16="http://schemas.microsoft.com/office/drawing/2014/main" id="{B735FDD3-1561-4ABF-983F-2BDEFB92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2026: ≈96% increase to 2030. These cover the whole sector, not AI training alone; growth categories overlap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cannot be added.</a:t>
            </a:r>
          </a:p>
        </p:txBody>
      </p:sp>
      <p:sp>
        <p:nvSpPr>
          <p:cNvPr id="8" name="Research comparison: Green AI [10] emphasizes efficienc">
            <a:extLst xmlns:a="http://schemas.openxmlformats.org/drawingml/2006/main">
              <a:ext uri="{FF2B5EF4-FFF2-40B4-BE49-F238E27FC236}">
                <a16:creationId xmlns:a16="http://schemas.microsoft.com/office/drawing/2014/main" id="{EDFBBF18-5600-41A2-927F-7A419B80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comparison: Green AI [10] emphasizes efficiency; water research [9] adds site/time constraints. Track energy,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 and local cooling impacts.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72620-968E-4D4B-BEF9-E5F25207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6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86405F13-5402-4493-8D1F-89FF2905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IEA 2026: sector estimates and projection; [9] Li et al. 2025 revision: water impacts; [10] Schwartz et al. 2019: efficiency reporting</a:t>
            </a:r>
          </a:p>
        </p:txBody>
      </p:sp>
      <p:sp>
        <p:nvSpPr>
          <p:cNvPr id="11" name="9 / 40">
            <a:extLst xmlns:a="http://schemas.openxmlformats.org/drawingml/2006/main">
              <a:ext uri="{FF2B5EF4-FFF2-40B4-BE49-F238E27FC236}">
                <a16:creationId xmlns:a16="http://schemas.microsoft.com/office/drawing/2014/main" id="{88000590-7997-4807-BDAB-370C1C21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9 / 40</a:t>
            </a:r>
          </a:p>
        </p:txBody>
      </p:sp>
    </p:spTree>
    <p:extLst>
      <p:ext uri="{BB962C8B-B14F-4D97-AF65-F5344CB8AC3E}">
        <p14:creationId xmlns:p14="http://schemas.microsoft.com/office/powerpoint/2010/main" val="21211048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60F1A-1CAF-451F-9979-C843397A4488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95350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91A2E-5F6A-4409-AA09-F6EA83EBA9FB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21945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9" name="Task 2(b)">
            <a:extLst xmlns:a="http://schemas.openxmlformats.org/drawingml/2006/main">
              <a:ext uri="{FF2B5EF4-FFF2-40B4-BE49-F238E27FC236}">
                <a16:creationId xmlns:a16="http://schemas.microsoft.com/office/drawing/2014/main" id="{C1FF6040-D011-4A8D-93E9-1D9B701C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</a:t>
            </a:r>
          </a:p>
        </p:txBody>
      </p:sp>
      <p:sp>
        <p:nvSpPr>
          <p:cNvPr id="2" name="Privacy, security and model fairness">
            <a:extLst xmlns:a="http://schemas.openxmlformats.org/drawingml/2006/main">
              <a:ext uri="{FF2B5EF4-FFF2-40B4-BE49-F238E27FC236}">
                <a16:creationId xmlns:a16="http://schemas.microsoft.com/office/drawing/2014/main" id="{C533894B-75CD-4C26-9397-D3CFDA28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Privacy, security and model fairness</a:t>
            </a:r>
          </a:p>
        </p:txBody>
      </p:sp>
      <p:sp>
        <p:nvSpPr>
          <p:cNvPr id="3" name="Security: protect distributed intermediates">
            <a:extLst xmlns:a="http://schemas.openxmlformats.org/drawingml/2006/main">
              <a:ext uri="{FF2B5EF4-FFF2-40B4-BE49-F238E27FC236}">
                <a16:creationId xmlns:a16="http://schemas.microsoft.com/office/drawing/2014/main" id="{0AE7B913-0D75-44FB-A0A8-454AD4D6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3875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Security: protect distributed intermediates</a:t>
            </a:r>
          </a:p>
        </p:txBody>
      </p:sp>
      <p:sp>
        <p:nvSpPr>
          <p:cNvPr id="4" name="Fairness: evaluate affected groups">
            <a:extLst xmlns:a="http://schemas.openxmlformats.org/drawingml/2006/main">
              <a:ext uri="{FF2B5EF4-FFF2-40B4-BE49-F238E27FC236}">
                <a16:creationId xmlns:a16="http://schemas.microsoft.com/office/drawing/2014/main" id="{9847EB90-534A-45D0-915B-98F73B5C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5257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Fairness: evaluate affected groups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D1D24-0A70-463E-9636-BC6BDEA1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Workers exchange gradients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save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E3878-0042-4244-93B8-97C9DB9A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Least privilege, isolation,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protected transport/storage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F4805-CC5E-4F48-9014-AF6680B2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9775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coverage and model outputs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differ across groups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58EDA-688B-458D-A859-7DEC2C92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Disaggregated, harm-specific tests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mitigation and reevaluation</a:t>
            </a:r>
          </a:p>
        </p:txBody>
      </p:sp>
      <p:sp>
        <p:nvSpPr>
          <p:cNvPr id="11" name="Zhu et al. [11]: exposed gradients can reconstruct inpu">
            <a:extLst xmlns:a="http://schemas.openxmlformats.org/drawingml/2006/main">
              <a:ext uri="{FF2B5EF4-FFF2-40B4-BE49-F238E27FC236}">
                <a16:creationId xmlns:a16="http://schemas.microsoft.com/office/drawing/2014/main" id="{52051B4E-A5FC-49F3-ADA3-C93D9037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219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Zhu et al. [11]: exposed gradients can reconstruct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inputs in studied settings. Not every production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collective leaks.</a:t>
            </a:r>
          </a:p>
        </p:txBody>
      </p:sp>
      <p:sp>
        <p:nvSpPr>
          <p:cNvPr id="12" name="Gallegos et al. [12]: metrics, datasets and mitigations">
            <a:extLst xmlns:a="http://schemas.openxmlformats.org/drawingml/2006/main">
              <a:ext uri="{FF2B5EF4-FFF2-40B4-BE49-F238E27FC236}">
                <a16:creationId xmlns:a16="http://schemas.microsoft.com/office/drawing/2014/main" id="{4B940270-6AA4-4E2D-9E16-74C7673D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52578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[12]: metrics, datasets and mitigations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differ. Apply these to cluster-trained models; scale alone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does not guarantee fairness.</a:t>
            </a:r>
          </a:p>
        </p:txBody>
      </p:sp>
      <p:sp>
        <p:nvSpPr>
          <p:cNvPr id="13" name="Provenance/permissions, replica access and dual-use rev">
            <a:extLst xmlns:a="http://schemas.openxmlformats.org/drawingml/2006/main">
              <a:ext uri="{FF2B5EF4-FFF2-40B4-BE49-F238E27FC236}">
                <a16:creationId xmlns:a16="http://schemas.microsoft.com/office/drawing/2014/main" id="{872A34F1-C200-4489-B8F7-6C56A5C9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Provenance/permissions, replica access and dual-use review need owners. Encryption alone cannot establish fair outputs.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3CA96-DCBC-4D6F-8739-5E76497C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Protect distributed data and evaluate harms; more compu">
            <a:extLst xmlns:a="http://schemas.openxmlformats.org/drawingml/2006/main">
              <a:ext uri="{FF2B5EF4-FFF2-40B4-BE49-F238E27FC236}">
                <a16:creationId xmlns:a16="http://schemas.microsoft.com/office/drawing/2014/main" id="{78CB630D-DE18-446B-8B82-F1999C53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 distributed data and evaluate harms; more compute is not a fairness guarantee.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3CE88-AE11-4D40-AD73-CCD2A2F4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11] Zhu et al. 2019: exposed gradients; [12] ">
            <a:extLst xmlns:a="http://schemas.openxmlformats.org/drawingml/2006/main">
              <a:ext uri="{FF2B5EF4-FFF2-40B4-BE49-F238E27FC236}">
                <a16:creationId xmlns:a16="http://schemas.microsoft.com/office/drawing/2014/main" id="{4D96629A-AC56-4C9D-B613-AA5C6C32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[11] Zhu et al. 2019: exposed gradients; [12] Gallegos et al. 2024: fairness evaluation; [15] OECD: rights, fairness and accountability; [16] NIST: Govern, Map, Measure,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</a:t>
            </a:r>
          </a:p>
        </p:txBody>
      </p:sp>
      <p:sp>
        <p:nvSpPr>
          <p:cNvPr id="18" name="10 / 40">
            <a:extLst xmlns:a="http://schemas.openxmlformats.org/drawingml/2006/main">
              <a:ext uri="{FF2B5EF4-FFF2-40B4-BE49-F238E27FC236}">
                <a16:creationId xmlns:a16="http://schemas.microsoft.com/office/drawing/2014/main" id="{2D8E901E-CC45-417B-82DF-0ACCCC78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10 / 40</a:t>
            </a:r>
          </a:p>
        </p:txBody>
      </p:sp>
    </p:spTree>
    <p:extLst>
      <p:ext uri="{BB962C8B-B14F-4D97-AF65-F5344CB8AC3E}">
        <p14:creationId xmlns:p14="http://schemas.microsoft.com/office/powerpoint/2010/main" val="3299328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c)">
            <a:extLst xmlns:a="http://schemas.openxmlformats.org/drawingml/2006/main">
              <a:ext uri="{FF2B5EF4-FFF2-40B4-BE49-F238E27FC236}">
                <a16:creationId xmlns:a16="http://schemas.microsoft.com/office/drawing/2014/main" id="{E423D092-A06B-42F6-9ECF-A5D5C259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2(c)</a:t>
            </a:r>
          </a:p>
        </p:txBody>
      </p:sp>
      <p:sp>
        <p:nvSpPr>
          <p:cNvPr id="2" name="Unequal access to HPC resources">
            <a:extLst xmlns:a="http://schemas.openxmlformats.org/drawingml/2006/main">
              <a:ext uri="{FF2B5EF4-FFF2-40B4-BE49-F238E27FC236}">
                <a16:creationId xmlns:a16="http://schemas.microsoft.com/office/drawing/2014/main" id="{C14238B8-F7CD-46D4-B514-5CF381A9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access to HPC resources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C900D-511E-421F-A124-583DD2CEB47F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57500"/>
                <a:gridCol w="4095750"/>
                <a:gridCol w="4019550"/>
              </a:tblGrid>
              <a:tr h="53340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shows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cannot establish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Ahmed &amp; Wahed [13]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Historical research participation and compute concentration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Current worldwide access or a universal causal effect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Strubell et al. [8]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Selected NLP workload costs and financial barriers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The cost of every current AI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urrent response: NAIRR supported &gt;600 teams and &gt;6,000">
            <a:extLst xmlns:a="http://schemas.openxmlformats.org/drawingml/2006/main">
              <a:ext uri="{FF2B5EF4-FFF2-40B4-BE49-F238E27FC236}">
                <a16:creationId xmlns:a16="http://schemas.microsoft.com/office/drawing/2014/main" id="{47EA5124-8B0C-4014-B819-10C2F841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Current response: NAIRR supported &gt;600 teams and &gt;6,000 students</a:t>
            </a:r>
          </a:p>
        </p:txBody>
      </p:sp>
      <p:sp>
        <p:nvSpPr>
          <p:cNvPr id="5" name="NSF, March 2026; US programme since 2024. Reach does no">
            <a:extLst xmlns:a="http://schemas.openxmlformats.org/drawingml/2006/main">
              <a:ext uri="{FF2B5EF4-FFF2-40B4-BE49-F238E27FC236}">
                <a16:creationId xmlns:a16="http://schemas.microsoft.com/office/drawing/2014/main" id="{FD33A176-6683-42F1-A5AC-93C8091A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NSF, March 2026; US programme since 2024. Reach does not prove global equality.</a:t>
            </a:r>
          </a:p>
        </p:txBody>
      </p:sp>
      <p:sp>
        <p:nvSpPr>
          <p:cNvPr id="6" name="Proposal: transparent GPU-hour allocation, smaller-inst">
            <a:extLst xmlns:a="http://schemas.openxmlformats.org/drawingml/2006/main">
              <a:ext uri="{FF2B5EF4-FFF2-40B4-BE49-F238E27FC236}">
                <a16:creationId xmlns:a16="http://schemas.microsoft.com/office/drawing/2014/main" id="{D22BCC2B-BBCD-45B5-8439-3F6C1294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Proposal: transparent GPU-hour allocation, smaller-institution support and appeals. Trade-off: reserved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can reduce immediate utilization or delay urgent jobs.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F8F77-CD5F-4CBA-88BA-0EB32B74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8" name="Shared capacity helps; allocation, expertise and reprod">
            <a:extLst xmlns:a="http://schemas.openxmlformats.org/drawingml/2006/main">
              <a:ext uri="{FF2B5EF4-FFF2-40B4-BE49-F238E27FC236}">
                <a16:creationId xmlns:a16="http://schemas.microsoft.com/office/drawing/2014/main" id="{C3ADD262-D01F-460F-AA1E-F1DDD35C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Shared capacity helps; allocation, expertise and reproducibility still need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B32BE-DD16-4823-A781-EFED74F0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7] NSF 2026: US programme reach; [8] Strubell">
            <a:extLst xmlns:a="http://schemas.openxmlformats.org/drawingml/2006/main">
              <a:ext uri="{FF2B5EF4-FFF2-40B4-BE49-F238E27FC236}">
                <a16:creationId xmlns:a16="http://schemas.microsoft.com/office/drawing/2014/main" id="{6291A576-7496-4A57-9D25-2F7E0705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[7] NSF 2026: US programme reach; [8] Strubell et al. 2019: cost and equity; [13] Ahmed and Wahed 2020: compute divide</a:t>
            </a:r>
          </a:p>
        </p:txBody>
      </p:sp>
      <p:sp>
        <p:nvSpPr>
          <p:cNvPr id="11" name="11 / 40">
            <a:extLst xmlns:a="http://schemas.openxmlformats.org/drawingml/2006/main">
              <a:ext uri="{FF2B5EF4-FFF2-40B4-BE49-F238E27FC236}">
                <a16:creationId xmlns:a16="http://schemas.microsoft.com/office/drawing/2014/main" id="{7D428C26-17CF-4AA6-B345-212B225D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11 / 40</a:t>
            </a:r>
          </a:p>
        </p:txBody>
      </p:sp>
    </p:spTree>
    <p:extLst>
      <p:ext uri="{BB962C8B-B14F-4D97-AF65-F5344CB8AC3E}">
        <p14:creationId xmlns:p14="http://schemas.microsoft.com/office/powerpoint/2010/main" val="3133473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7C3D0-EF0A-4AB1-88C7-9BA30F34554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819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1AE0D-ED6B-45EF-B11A-376F358F7E90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814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7" name="Task 2(d)">
            <a:extLst xmlns:a="http://schemas.openxmlformats.org/drawingml/2006/main">
              <a:ext uri="{FF2B5EF4-FFF2-40B4-BE49-F238E27FC236}">
                <a16:creationId xmlns:a16="http://schemas.microsoft.com/office/drawing/2014/main" id="{943DE6B3-7C73-4CD8-9EE7-0D4C25A3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</a:t>
            </a:r>
          </a:p>
        </p:txBody>
      </p:sp>
      <p:sp>
        <p:nvSpPr>
          <p:cNvPr id="2" name="An accountable HPC approval process">
            <a:extLst xmlns:a="http://schemas.openxmlformats.org/drawingml/2006/main">
              <a:ext uri="{FF2B5EF4-FFF2-40B4-BE49-F238E27FC236}">
                <a16:creationId xmlns:a16="http://schemas.microsoft.com/office/drawing/2014/main" id="{2BB8535E-3C4E-49F3-845E-E8186AF2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An accountable HPC approval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C4EF8-01BB-490E-9584-2ED63F30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Define outcome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accountable owner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E375F-43B1-48B5-8808-F0B37C0C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 quality,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and harms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3481F2-F163-491E-B596-1DC1F6E8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/ defer /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scale / redesign</a:t>
            </a:r>
          </a:p>
        </p:txBody>
      </p:sp>
      <p:sp>
        <p:nvSpPr>
          <p:cNvPr id="8" name="Green AI: efficiency evidence [10]  •  Carbon-aware sch">
            <a:extLst xmlns:a="http://schemas.openxmlformats.org/drawingml/2006/main">
              <a:ext uri="{FF2B5EF4-FFF2-40B4-BE49-F238E27FC236}">
                <a16:creationId xmlns:a16="http://schemas.microsoft.com/office/drawing/2014/main" id="{8A5BC370-2158-4CCE-90D9-7B482547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Green AI: efficiency evidence [10] • Carbon-aware scheduling: flexible work [14]</a:t>
            </a:r>
          </a:p>
        </p:txBody>
      </p:sp>
      <p:sp>
        <p:nvSpPr>
          <p:cNvPr id="9" name="OECD: values and rights [15]  •  NIST: Govern, Map, Mea">
            <a:extLst xmlns:a="http://schemas.openxmlformats.org/drawingml/2006/main">
              <a:ext uri="{FF2B5EF4-FFF2-40B4-BE49-F238E27FC236}">
                <a16:creationId xmlns:a16="http://schemas.microsoft.com/office/drawing/2014/main" id="{42FD6C7D-3E9C-4CE4-BC4C-A87B65D9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OECD: values and rights [15] • NIST: Govern, Map, Measure, Manage [16]</a:t>
            </a:r>
          </a:p>
        </p:txBody>
      </p:sp>
      <p:sp>
        <p:nvSpPr>
          <p:cNvPr id="10" name="Use an energy budget, security/group evaluation and tra">
            <a:extLst xmlns:a="http://schemas.openxmlformats.org/drawingml/2006/main">
              <a:ext uri="{FF2B5EF4-FFF2-40B4-BE49-F238E27FC236}">
                <a16:creationId xmlns:a16="http://schemas.microsoft.com/office/drawing/2014/main" id="{1D0712C3-43CB-4516-874E-E20C95EB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an energy budget, security/group evaluation and transparent access rules. Record owner, rationale,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exceptions and outcomes.</a:t>
            </a:r>
          </a:p>
        </p:txBody>
      </p:sp>
      <p:sp>
        <p:nvSpPr>
          <p:cNvPr id="11" name="Measurement informs action: shift flexible jobs to clea">
            <a:extLst xmlns:a="http://schemas.openxmlformats.org/drawingml/2006/main">
              <a:ext uri="{FF2B5EF4-FFF2-40B4-BE49-F238E27FC236}">
                <a16:creationId xmlns:a16="http://schemas.microsoft.com/office/drawing/2014/main" id="{0B7CCE7D-9782-4732-A389-F73F5CE0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5078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Measurement informs action: shift flexible jobs to cleaner periods within deadlines/capacity. Forecast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uncertainty, water stress and urgent access can change the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3710B-7B8C-4ADA-A1FA-3CE37EAD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Approve useful work with explicit budgets, safeguards a">
            <a:extLst xmlns:a="http://schemas.openxmlformats.org/drawingml/2006/main">
              <a:ext uri="{FF2B5EF4-FFF2-40B4-BE49-F238E27FC236}">
                <a16:creationId xmlns:a16="http://schemas.microsoft.com/office/drawing/2014/main" id="{8AD364D4-7AD4-4C87-87F6-16DCB9AD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useful work with explicit budgets, safeguards and an accountable owner.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F292F7-28A4-4919-8351-9262ED1E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0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2C8474C2-9591-407D-AD11-EEF09899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Schwartz et al. 2019: efficiency reporting; [14] Radovanovic et al. 2021: flexible scheduling; [15] OECD: rights, fairness and accountability; [16]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16" name="12 / 40">
            <a:extLst xmlns:a="http://schemas.openxmlformats.org/drawingml/2006/main">
              <a:ext uri="{FF2B5EF4-FFF2-40B4-BE49-F238E27FC236}">
                <a16:creationId xmlns:a16="http://schemas.microsoft.com/office/drawing/2014/main" id="{36D41D27-067B-499D-943D-663022C5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12 / 40</a:t>
            </a:r>
          </a:p>
        </p:txBody>
      </p:sp>
    </p:spTree>
    <p:extLst>
      <p:ext uri="{BB962C8B-B14F-4D97-AF65-F5344CB8AC3E}">
        <p14:creationId xmlns:p14="http://schemas.microsoft.com/office/powerpoint/2010/main" val="9441217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Reading guide">
            <a:extLst xmlns:a="http://schemas.openxmlformats.org/drawingml/2006/main">
              <a:ext uri="{FF2B5EF4-FFF2-40B4-BE49-F238E27FC236}">
                <a16:creationId xmlns:a16="http://schemas.microsoft.com/office/drawing/2014/main" id="{FAF20E53-6DD4-4F4C-B78D-DAB0978C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Reading guide</a:t>
            </a:r>
          </a:p>
        </p:txBody>
      </p:sp>
      <p:sp>
        <p:nvSpPr>
          <p:cNvPr id="2" name="Supporting detail and limitations">
            <a:extLst xmlns:a="http://schemas.openxmlformats.org/drawingml/2006/main">
              <a:ext uri="{FF2B5EF4-FFF2-40B4-BE49-F238E27FC236}">
                <a16:creationId xmlns:a16="http://schemas.microsoft.com/office/drawing/2014/main" id="{FE68911F-FA3F-46C6-B500-D0474916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Supporting detail and limitations</a:t>
            </a:r>
          </a:p>
        </p:txBody>
      </p:sp>
      <p:sp>
        <p:nvSpPr>
          <p:cNvPr id="3" name="Task 1: design evidence">
            <a:extLst xmlns:a="http://schemas.openxmlformats.org/drawingml/2006/main">
              <a:ext uri="{FF2B5EF4-FFF2-40B4-BE49-F238E27FC236}">
                <a16:creationId xmlns:a16="http://schemas.microsoft.com/office/drawing/2014/main" id="{B6ACE023-D120-40BF-8B1C-8F8C7EA4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1: design evidence</a:t>
            </a:r>
          </a:p>
        </p:txBody>
      </p:sp>
      <p:sp>
        <p:nvSpPr>
          <p:cNvPr id="4" name="Rotation assumptions, a worked example and full CUDA te">
            <a:extLst xmlns:a="http://schemas.openxmlformats.org/drawingml/2006/main">
              <a:ext uri="{FF2B5EF4-FFF2-40B4-BE49-F238E27FC236}">
                <a16:creationId xmlns:a16="http://schemas.microsoft.com/office/drawing/2014/main" id="{6107C714-1511-4F25-9068-51CBBF1D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assumptions, a worked example and full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teaching excerpts are included on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following slides.</a:t>
            </a:r>
          </a:p>
        </p:txBody>
      </p:sp>
      <p:sp>
        <p:nvSpPr>
          <p:cNvPr id="5" name="Performance explanations use a stated CPU baseline and ">
            <a:extLst xmlns:a="http://schemas.openxmlformats.org/drawingml/2006/main">
              <a:ext uri="{FF2B5EF4-FFF2-40B4-BE49-F238E27FC236}">
                <a16:creationId xmlns:a16="http://schemas.microsoft.com/office/drawing/2014/main" id="{A661FF37-E404-4337-8969-E1488B12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Performance explanations use a stated CPU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baseline and theoretical bounds. No measured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speedup or compiled CUDA result is claimed.</a:t>
            </a:r>
          </a:p>
        </p:txBody>
      </p:sp>
      <p:sp>
        <p:nvSpPr>
          <p:cNvPr id="6" name="GDS is evaluated for the actual CPU-decoded pipeline an">
            <a:extLst xmlns:a="http://schemas.openxmlformats.org/drawingml/2006/main">
              <a:ext uri="{FF2B5EF4-FFF2-40B4-BE49-F238E27FC236}">
                <a16:creationId xmlns:a16="http://schemas.microsoft.com/office/drawing/2014/main" id="{E647822E-7943-43DC-A6E4-52B9519E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is evaluated for the actual CPU-decoded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pipeline and a conditional storage-bound batch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alternative.</a:t>
            </a:r>
          </a:p>
        </p:txBody>
      </p:sp>
      <p:sp>
        <p:nvSpPr>
          <p:cNvPr id="7" name="Task 2: research and decisions">
            <a:extLst xmlns:a="http://schemas.openxmlformats.org/drawingml/2006/main">
              <a:ext uri="{FF2B5EF4-FFF2-40B4-BE49-F238E27FC236}">
                <a16:creationId xmlns:a16="http://schemas.microsoft.com/office/drawing/2014/main" id="{FBCE2268-AD67-4EEB-B518-45758AC1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2: research and decisions</a:t>
            </a:r>
          </a:p>
        </p:txBody>
      </p:sp>
      <p:sp>
        <p:nvSpPr>
          <p:cNvPr id="8" name="Each required topic has evidence, a comparison, propose">
            <a:extLst xmlns:a="http://schemas.openxmlformats.org/drawingml/2006/main">
              <a:ext uri="{FF2B5EF4-FFF2-40B4-BE49-F238E27FC236}">
                <a16:creationId xmlns:a16="http://schemas.microsoft.com/office/drawing/2014/main" id="{C8A4BBEF-4860-4B7E-9BC4-F83DE568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Each required topic has evidence, a comparison,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measures and limitations. A cluster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scenario is illustrative, not an observed experiment.</a:t>
            </a:r>
          </a:p>
        </p:txBody>
      </p:sp>
      <p:sp>
        <p:nvSpPr>
          <p:cNvPr id="9" name="Sector electricity data do not establish a particular t">
            <a:extLst xmlns:a="http://schemas.openxmlformats.org/drawingml/2006/main">
              <a:ext uri="{FF2B5EF4-FFF2-40B4-BE49-F238E27FC236}">
                <a16:creationId xmlns:a16="http://schemas.microsoft.com/office/drawing/2014/main" id="{F43AC78F-390B-41A2-94AC-FF2770CB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Sector electricity data do not establish a particular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 job’s footprint. Historical research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distinguished from current programme reach.</a:t>
            </a:r>
          </a:p>
        </p:txBody>
      </p:sp>
      <p:sp>
        <p:nvSpPr>
          <p:cNvPr id="10" name="References and a brief AI use declaration are part of t">
            <a:extLst xmlns:a="http://schemas.openxmlformats.org/drawingml/2006/main">
              <a:ext uri="{FF2B5EF4-FFF2-40B4-BE49-F238E27FC236}">
                <a16:creationId xmlns:a16="http://schemas.microsoft.com/office/drawing/2014/main" id="{99E83111-CFF5-4EA7-9703-74C3C8D7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 and a brief AI use declaration are part of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this presentation. There is no separate report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dependency.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8EA4A1-7FE9-4886-81DB-E248176E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7E89A-E1BE-4F09-BCFE-6CC4F205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F4039CD2-8215-41A0-BDBA-6AA8891E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4" name="13 / 40">
            <a:extLst xmlns:a="http://schemas.openxmlformats.org/drawingml/2006/main">
              <a:ext uri="{FF2B5EF4-FFF2-40B4-BE49-F238E27FC236}">
                <a16:creationId xmlns:a16="http://schemas.microsoft.com/office/drawing/2014/main" id="{4D7CF061-0982-4AAA-AE31-7285FB56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13 / 40</a:t>
            </a:r>
          </a:p>
        </p:txBody>
      </p:sp>
    </p:spTree>
    <p:extLst>
      <p:ext uri="{BB962C8B-B14F-4D97-AF65-F5344CB8AC3E}">
        <p14:creationId xmlns:p14="http://schemas.microsoft.com/office/powerpoint/2010/main" val="6021148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">
            <a:extLst xmlns:a="http://schemas.openxmlformats.org/drawingml/2006/main">
              <a:ext uri="{FF2B5EF4-FFF2-40B4-BE49-F238E27FC236}">
                <a16:creationId xmlns:a16="http://schemas.microsoft.com/office/drawing/2014/main" id="{62411804-13B3-4AB4-BADC-0D2A9E7C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</a:t>
            </a:r>
          </a:p>
        </p:txBody>
      </p:sp>
      <p:sp>
        <p:nvSpPr>
          <p:cNvPr id="2" name="Rotation coordinates and sampling">
            <a:extLst xmlns:a="http://schemas.openxmlformats.org/drawingml/2006/main">
              <a:ext uri="{FF2B5EF4-FFF2-40B4-BE49-F238E27FC236}">
                <a16:creationId xmlns:a16="http://schemas.microsoft.com/office/drawing/2014/main" id="{2CD403EA-6C2F-43C9-9AE5-FA92BC46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coordinates and sampling</a:t>
            </a:r>
          </a:p>
        </p:txBody>
      </p:sp>
      <p:sp>
        <p:nvSpPr>
          <p:cNvPr id="3" name="Coordinate convention">
            <a:extLst xmlns:a="http://schemas.openxmlformats.org/drawingml/2006/main">
              <a:ext uri="{FF2B5EF4-FFF2-40B4-BE49-F238E27FC236}">
                <a16:creationId xmlns:a16="http://schemas.microsoft.com/office/drawing/2014/main" id="{B642B20B-2B3E-4421-997B-3D8731F2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Coordinate convention</a:t>
            </a:r>
          </a:p>
        </p:txBody>
      </p:sp>
      <p:sp>
        <p:nvSpPr>
          <p:cNvPr id="4" name="Input/output: contiguous 8-bit RGB; positive width W an">
            <a:extLst xmlns:a="http://schemas.openxmlformats.org/drawingml/2006/main">
              <a:ext uri="{FF2B5EF4-FFF2-40B4-BE49-F238E27FC236}">
                <a16:creationId xmlns:a16="http://schemas.microsoft.com/office/drawing/2014/main" id="{53065C8C-11CF-4E89-B566-5652067E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Input/output: contiguous 8-bit RGB; positive width 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height H; x points right and y points down. Input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output buffers are distinct.</a:t>
            </a:r>
          </a:p>
        </p:txBody>
      </p:sp>
      <p:sp>
        <p:nvSpPr>
          <p:cNvPr id="5" name="Rotate around cx = (W − 1)/2 and cy = (H − 1)/2. Positi">
            <a:extLst xmlns:a="http://schemas.openxmlformats.org/drawingml/2006/main">
              <a:ext uri="{FF2B5EF4-FFF2-40B4-BE49-F238E27FC236}">
                <a16:creationId xmlns:a16="http://schemas.microsoft.com/office/drawing/2014/main" id="{0F5E42CF-D2DA-462C-B4C9-91B0670D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Rotate around cx = (W − 1)/2 and cy = (H − 1)/2.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Positive θ is visually counterclockwise; the host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supplies c = cos θ and s = sin θ in radians.</a:t>
            </a:r>
          </a:p>
        </p:txBody>
      </p:sp>
      <p:sp>
        <p:nvSpPr>
          <p:cNvPr id="6" name="Forward image-coordinate rotation uses [c s; −s c]. Inv">
            <a:extLst xmlns:a="http://schemas.openxmlformats.org/drawingml/2006/main">
              <a:ext uri="{FF2B5EF4-FFF2-40B4-BE49-F238E27FC236}">
                <a16:creationId xmlns:a16="http://schemas.microsoft.com/office/drawing/2014/main" id="{0F3C5571-8744-4C70-9F59-ADD3DD2D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Forward image-coordinate rotation uses [c s; −s c].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Inverting it gives source offsets [c −s; s c] ×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offsets, then restores the center.</a:t>
            </a:r>
          </a:p>
        </p:txBody>
      </p:sp>
      <p:sp>
        <p:nvSpPr>
          <p:cNvPr id="7" name="Deliberate design choices">
            <a:extLst xmlns:a="http://schemas.openxmlformats.org/drawingml/2006/main">
              <a:ext uri="{FF2B5EF4-FFF2-40B4-BE49-F238E27FC236}">
                <a16:creationId xmlns:a16="http://schemas.microsoft.com/office/drawing/2014/main" id="{E5935528-038E-4D9B-8A5F-85361A48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Deliberate design choices</a:t>
            </a:r>
          </a:p>
        </p:txBody>
      </p:sp>
      <p:sp>
        <p:nvSpPr>
          <p:cNvPr id="8" name="Nearest-neighbour indices: ix = floor(sx + 0.5), iy = f">
            <a:extLst xmlns:a="http://schemas.openxmlformats.org/drawingml/2006/main">
              <a:ext uri="{FF2B5EF4-FFF2-40B4-BE49-F238E27FC236}">
                <a16:creationId xmlns:a16="http://schemas.microsoft.com/office/drawing/2014/main" id="{45B3E7AA-F35D-44C6-8C3C-D10FE332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indices: ix = floor(sx + 0.5), iy =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floor(sy + 0.5). Copy three channels if the rounded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indices are in bounds; otherwise write black.</a:t>
            </a:r>
          </a:p>
        </p:txBody>
      </p:sp>
      <p:sp>
        <p:nvSpPr>
          <p:cNvPr id="9" name="The fixed W × H canvas can crop rotated corners. Neares">
            <a:extLst xmlns:a="http://schemas.openxmlformats.org/drawingml/2006/main">
              <a:ext uri="{FF2B5EF4-FFF2-40B4-BE49-F238E27FC236}">
                <a16:creationId xmlns:a16="http://schemas.microsoft.com/office/drawing/2014/main" id="{40119779-C95E-4064-B7BD-5084E39E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fixed W × H canvas can crop rotated corners.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sampling can alias; bilinear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interpolation improves smoothness but adds 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reads/arithmetic.</a:t>
            </a:r>
          </a:p>
        </p:txBody>
      </p:sp>
      <p:sp>
        <p:nvSpPr>
          <p:cNvPr id="10" name="Forward scatter can leave holes or competing writes aft">
            <a:extLst xmlns:a="http://schemas.openxmlformats.org/drawingml/2006/main">
              <a:ext uri="{FF2B5EF4-FFF2-40B4-BE49-F238E27FC236}">
                <a16:creationId xmlns:a16="http://schemas.microsoft.com/office/drawing/2014/main" id="{82F10452-E9B3-42AE-8E08-EB80A989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Forward scatter can leave holes or competing writes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after rounding. Inverse gathering assigns every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exactly one writer. NPP offers library rotation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 explicit interpolation/ROI choices.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BA9AF-D72E-4F41-B044-284A62BF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784754-483C-45F8-AAA5-D8BA91C7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7] NVIDIA NPP: library alternative">
            <a:extLst xmlns:a="http://schemas.openxmlformats.org/drawingml/2006/main">
              <a:ext uri="{FF2B5EF4-FFF2-40B4-BE49-F238E27FC236}">
                <a16:creationId xmlns:a16="http://schemas.microsoft.com/office/drawing/2014/main" id="{A3F002B6-1469-4E9D-A17E-72F4735A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[17] NVIDIA NPP: library alternative</a:t>
            </a:r>
          </a:p>
        </p:txBody>
      </p:sp>
      <p:sp>
        <p:nvSpPr>
          <p:cNvPr id="14" name="14 / 40">
            <a:extLst xmlns:a="http://schemas.openxmlformats.org/drawingml/2006/main">
              <a:ext uri="{FF2B5EF4-FFF2-40B4-BE49-F238E27FC236}">
                <a16:creationId xmlns:a16="http://schemas.microsoft.com/office/drawing/2014/main" id="{F77B04B7-27D1-47AB-92A7-6678D1BB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14 / 40</a:t>
            </a:r>
          </a:p>
        </p:txBody>
      </p:sp>
    </p:spTree>
    <p:extLst>
      <p:ext uri="{BB962C8B-B14F-4D97-AF65-F5344CB8AC3E}">
        <p14:creationId xmlns:p14="http://schemas.microsoft.com/office/powerpoint/2010/main" val="15027979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ppendix A2">
            <a:extLst xmlns:a="http://schemas.openxmlformats.org/drawingml/2006/main">
              <a:ext uri="{FF2B5EF4-FFF2-40B4-BE49-F238E27FC236}">
                <a16:creationId xmlns:a16="http://schemas.microsoft.com/office/drawing/2014/main" id="{D13A083C-83EC-44FF-BA21-500D36D3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A2</a:t>
            </a:r>
          </a:p>
        </p:txBody>
      </p:sp>
      <p:sp>
        <p:nvSpPr>
          <p:cNvPr id="2" name="A 90-degree rotation example">
            <a:extLst xmlns:a="http://schemas.openxmlformats.org/drawingml/2006/main">
              <a:ext uri="{FF2B5EF4-FFF2-40B4-BE49-F238E27FC236}">
                <a16:creationId xmlns:a16="http://schemas.microsoft.com/office/drawing/2014/main" id="{11C8356F-A733-4247-BB8A-256CD193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90-degree rotation example</a:t>
            </a:r>
          </a:p>
        </p:txBody>
      </p:sp>
      <p:sp>
        <p:nvSpPr>
          <p:cNvPr id="3" name="Input">
            <a:extLst xmlns:a="http://schemas.openxmlformats.org/drawingml/2006/main">
              <a:ext uri="{FF2B5EF4-FFF2-40B4-BE49-F238E27FC236}">
                <a16:creationId xmlns:a16="http://schemas.microsoft.com/office/drawing/2014/main" id="{B9D4C488-9D9F-4661-BF2E-0FFFCDFD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40386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11B9F-890D-4A72-B5EF-285B732C4C0C}"/>
              </a:ext>
            </a:extLst>
          </p:cNvPr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40195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3910"/>
                <a:gridCol w="803910"/>
                <a:gridCol w="803910"/>
                <a:gridCol w="803910"/>
                <a:gridCol w="803910"/>
              </a:tblGrid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C2E7E5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utput: 90° counterclockwise">
            <a:extLst xmlns:a="http://schemas.openxmlformats.org/drawingml/2006/main">
              <a:ext uri="{FF2B5EF4-FFF2-40B4-BE49-F238E27FC236}">
                <a16:creationId xmlns:a16="http://schemas.microsoft.com/office/drawing/2014/main" id="{CC69D86F-897D-4536-8EF2-981E1E23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514475"/>
            <a:ext cx="40386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Output: 90° counterclockwise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C83BA-32A5-4F77-BBF0-18FB7D44E1A0}"/>
              </a:ext>
            </a:extLst>
          </p:cNvPr>
          <p:cNvGraphicFramePr/>
          <p:nvPr/>
        </p:nvGraphicFramePr>
        <p:xfrm>
          <a:off xmlns:a="http://schemas.openxmlformats.org/drawingml/2006/main" x="7562850" y="2019300"/>
          <a:ext xmlns:a="http://schemas.openxmlformats.org/drawingml/2006/main" cx="40195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3910"/>
                <a:gridCol w="803910"/>
                <a:gridCol w="803910"/>
                <a:gridCol w="803910"/>
                <a:gridCol w="803910"/>
              </a:tblGrid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C2E7E5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θ = 90°&#10;c = 0, s = 1&#10;center = (2,2)">
            <a:extLst xmlns:a="http://schemas.openxmlformats.org/drawingml/2006/main">
              <a:ext uri="{FF2B5EF4-FFF2-40B4-BE49-F238E27FC236}">
                <a16:creationId xmlns:a16="http://schemas.microsoft.com/office/drawing/2014/main" id="{9D460269-4887-45EB-A538-7AB33A25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2057400" cy="959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θ = 90°</a:t>
            </a:r>
          </a:p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 = 0, s = 1</a:t>
            </a:r>
          </a:p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center = (2,2)</a:t>
            </a:r>
          </a:p>
        </p:txBody>
      </p:sp>
      <p:sp>
        <p:nvSpPr>
          <p:cNvPr id="8" name="Output (0,1) → source (3,0) → value 3">
            <a:extLst xmlns:a="http://schemas.openxmlformats.org/drawingml/2006/main">
              <a:ext uri="{FF2B5EF4-FFF2-40B4-BE49-F238E27FC236}">
                <a16:creationId xmlns:a16="http://schemas.microsoft.com/office/drawing/2014/main" id="{D816874E-D923-45A2-B2D4-9D801836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(0,1) → source (3,0) → value 3</a:t>
            </a:r>
          </a:p>
        </p:txBody>
      </p:sp>
      <p:sp>
        <p:nvSpPr>
          <p:cNvPr id="9" name="The matrix values are illustrative pixel identifiers, n">
            <a:extLst xmlns:a="http://schemas.openxmlformats.org/drawingml/2006/main">
              <a:ext uri="{FF2B5EF4-FFF2-40B4-BE49-F238E27FC236}">
                <a16:creationId xmlns:a16="http://schemas.microsoft.com/office/drawing/2014/main" id="{13DC5B7F-B298-4823-86BB-09545AF2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 matrix values are illustrative pixel identifiers, not channel intensities.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B9CA14-4135-4350-B522-E01743ED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1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1C77034E-7E57-464F-B900-EFE3A8F1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2" name="15 / 40">
            <a:extLst xmlns:a="http://schemas.openxmlformats.org/drawingml/2006/main">
              <a:ext uri="{FF2B5EF4-FFF2-40B4-BE49-F238E27FC236}">
                <a16:creationId xmlns:a16="http://schemas.microsoft.com/office/drawing/2014/main" id="{0EA9438E-88B9-4228-B7A6-E9C45462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15 / 40</a:t>
            </a:r>
          </a:p>
        </p:txBody>
      </p:sp>
    </p:spTree>
    <p:extLst>
      <p:ext uri="{BB962C8B-B14F-4D97-AF65-F5344CB8AC3E}">
        <p14:creationId xmlns:p14="http://schemas.microsoft.com/office/powerpoint/2010/main" val="14407476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3">
            <a:extLst xmlns:a="http://schemas.openxmlformats.org/drawingml/2006/main">
              <a:ext uri="{FF2B5EF4-FFF2-40B4-BE49-F238E27FC236}">
                <a16:creationId xmlns:a16="http://schemas.microsoft.com/office/drawing/2014/main" id="{C8F01A36-E133-4303-A3F8-45992C54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A3</a:t>
            </a:r>
          </a:p>
        </p:txBody>
      </p:sp>
      <p:sp>
        <p:nvSpPr>
          <p:cNvPr id="2" name="Crafted CUDA example: RGB brightness">
            <a:extLst xmlns:a="http://schemas.openxmlformats.org/drawingml/2006/main">
              <a:ext uri="{FF2B5EF4-FFF2-40B4-BE49-F238E27FC236}">
                <a16:creationId xmlns:a16="http://schemas.microsoft.com/office/drawing/2014/main" id="{87F9DB6B-247C-41A5-8A67-3F54222F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RGB brightness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00B60-CD2B-474B-8686-41A6858D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13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__global__ void brightness_rgb(const unsigned char* inp">
            <a:extLst xmlns:a="http://schemas.openxmlformats.org/drawingml/2006/main">
              <a:ext uri="{FF2B5EF4-FFF2-40B4-BE49-F238E27FC236}">
                <a16:creationId xmlns:a16="http://schemas.microsoft.com/office/drawing/2014/main" id="{D3623627-E9FB-4B5D-86B5-AA9A25F3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00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__global__ void brightness_rgb(const unsigned char* 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unsigned char* 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width,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brightness)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x = blockIdx.x * blockDim.x + threadIdx.x;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y = blockIdx.y * blockDim.y + threadIdx.y;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(x &gt;= width || y &gt;=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size_t offset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(size_t(y) * size_t(width) + size_t(x)) * 3;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const int value = int(input[offset + channel]) + brightness;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output[offset + channel]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value &lt; 0 ? 0 : (value &gt; 255 ? 255 : value);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Same operation on independent pixels: a data-parallel k">
            <a:extLst xmlns:a="http://schemas.openxmlformats.org/drawingml/2006/main">
              <a:ext uri="{FF2B5EF4-FFF2-40B4-BE49-F238E27FC236}">
                <a16:creationId xmlns:a16="http://schemas.microsoft.com/office/drawing/2014/main" id="{4452BCD6-3C22-442E-AA6B-396C46E0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operation 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independent pixels: a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data-parallel kernel.</a:t>
            </a:r>
          </a:p>
        </p:txBody>
      </p:sp>
      <p:sp>
        <p:nvSpPr>
          <p:cNvPr id="6" name="Assume brightness in [−255,255]. Integer addition avoid">
            <a:extLst xmlns:a="http://schemas.openxmlformats.org/drawingml/2006/main">
              <a:ext uri="{FF2B5EF4-FFF2-40B4-BE49-F238E27FC236}">
                <a16:creationId xmlns:a16="http://schemas.microsoft.com/office/drawing/2014/main" id="{0CE8BF04-9B56-4582-BEE0-FB41D0AC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89276"/>
            <a:ext cx="293370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Assume brightness in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[−255,255]. Integer addition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avoids uint8 wrap; clamp each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channel to [0,255].</a:t>
            </a:r>
          </a:p>
        </p:txBody>
      </p:sp>
      <p:sp>
        <p:nvSpPr>
          <p:cNvPr id="7" name="Adjacent threads touch adjacent pixel locations, provid">
            <a:extLst xmlns:a="http://schemas.openxmlformats.org/drawingml/2006/main">
              <a:ext uri="{FF2B5EF4-FFF2-40B4-BE49-F238E27FC236}">
                <a16:creationId xmlns:a16="http://schemas.microsoft.com/office/drawing/2014/main" id="{ABCCDFA4-7D78-4509-960B-7791D71B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5724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Adjacent threads touch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adjacent pixel locations,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providing useful locality.</a:t>
            </a:r>
          </a:p>
        </p:txBody>
      </p:sp>
      <p:sp>
        <p:nvSpPr>
          <p:cNvPr id="8" name="Illustrative CUDA C++; uncompiled and unbenchmarked.">
            <a:extLst xmlns:a="http://schemas.openxmlformats.org/drawingml/2006/main">
              <a:ext uri="{FF2B5EF4-FFF2-40B4-BE49-F238E27FC236}">
                <a16:creationId xmlns:a16="http://schemas.microsoft.com/office/drawing/2014/main" id="{5AECC7AC-0D63-4689-84C9-08D4F165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6537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Illustrative CUDA C++;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uncompiled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unbenchmarked.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E152E-2375-43D0-8DDA-F760F498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NVIDIA CUDA programming model">
            <a:extLst xmlns:a="http://schemas.openxmlformats.org/drawingml/2006/main">
              <a:ext uri="{FF2B5EF4-FFF2-40B4-BE49-F238E27FC236}">
                <a16:creationId xmlns:a16="http://schemas.microsoft.com/office/drawing/2014/main" id="{6FC7FE08-DBBE-4C90-98C8-6CC8C456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</a:t>
            </a:r>
          </a:p>
        </p:txBody>
      </p:sp>
      <p:sp>
        <p:nvSpPr>
          <p:cNvPr id="11" name="16 / 40">
            <a:extLst xmlns:a="http://schemas.openxmlformats.org/drawingml/2006/main">
              <a:ext uri="{FF2B5EF4-FFF2-40B4-BE49-F238E27FC236}">
                <a16:creationId xmlns:a16="http://schemas.microsoft.com/office/drawing/2014/main" id="{6105D059-9F27-4990-8DB5-6B369763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16 / 40</a:t>
            </a:r>
          </a:p>
        </p:txBody>
      </p:sp>
    </p:spTree>
    <p:extLst>
      <p:ext uri="{BB962C8B-B14F-4D97-AF65-F5344CB8AC3E}">
        <p14:creationId xmlns:p14="http://schemas.microsoft.com/office/powerpoint/2010/main" val="160623371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4">
            <a:extLst xmlns:a="http://schemas.openxmlformats.org/drawingml/2006/main">
              <a:ext uri="{FF2B5EF4-FFF2-40B4-BE49-F238E27FC236}">
                <a16:creationId xmlns:a16="http://schemas.microsoft.com/office/drawing/2014/main" id="{2CC80520-DEE0-4505-845E-6755BE50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A4</a:t>
            </a:r>
          </a:p>
        </p:txBody>
      </p:sp>
      <p:sp>
        <p:nvSpPr>
          <p:cNvPr id="2" name="Crafted CUDA example: inverse mapping">
            <a:extLst xmlns:a="http://schemas.openxmlformats.org/drawingml/2006/main">
              <a:ext uri="{FF2B5EF4-FFF2-40B4-BE49-F238E27FC236}">
                <a16:creationId xmlns:a16="http://schemas.microsoft.com/office/drawing/2014/main" id="{0A3F6E7F-2832-4C32-B43A-5B75D2D3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inverse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17F04-6B23-4318-8871-F09F79C1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13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__global__ void rotate_rgb(const unsigned char* input,&#10;">
            <a:extLst xmlns:a="http://schemas.openxmlformats.org/drawingml/2006/main">
              <a:ext uri="{FF2B5EF4-FFF2-40B4-BE49-F238E27FC236}">
                <a16:creationId xmlns:a16="http://schemas.microsoft.com/office/drawing/2014/main" id="{698187E8-63D2-4B9D-B12F-3D924DD6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00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__global__ void rotate_rgb(const unsigned char* 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unsigned char* 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int width,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float c,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float s)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x = blockIdx.x * blockDim.x + threadIdx.x;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y = blockIdx.y * blockDim.y + threadIdx.y;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(x &gt;= width || y &gt;=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cx = (width - 1) * 0.5f;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cy = (height - 1) * 0.5f;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sx = c * (x - cx) - s * (y - cy) + cx;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sy = s * (x - cx) + c * (y - cy) + cy;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ix = int(floorf(sx + 0.5f));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iy = int(floorf(sy + 0.5f));</a:t>
            </a:r>
          </a:p>
        </p:txBody>
      </p:sp>
      <p:sp>
        <p:nvSpPr>
          <p:cNvPr id="5" name="Global coordinates come from block/thread indices.">
            <a:extLst xmlns:a="http://schemas.openxmlformats.org/drawingml/2006/main">
              <a:ext uri="{FF2B5EF4-FFF2-40B4-BE49-F238E27FC236}">
                <a16:creationId xmlns:a16="http://schemas.microsoft.com/office/drawing/2014/main" id="{D2673A7C-0B35-4454-B341-C71D75A2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coordinates come from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block/thread indices.</a:t>
            </a:r>
          </a:p>
        </p:txBody>
      </p:sp>
      <p:sp>
        <p:nvSpPr>
          <p:cNvPr id="6" name="The guard handles partial edge blocks before any memory">
            <a:extLst xmlns:a="http://schemas.openxmlformats.org/drawingml/2006/main">
              <a:ext uri="{FF2B5EF4-FFF2-40B4-BE49-F238E27FC236}">
                <a16:creationId xmlns:a16="http://schemas.microsoft.com/office/drawing/2014/main" id="{B71B4CB9-1495-4ED9-934E-F5653112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943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guard handles partial edge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blocks before any memory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access.</a:t>
            </a:r>
          </a:p>
        </p:txBody>
      </p:sp>
      <p:sp>
        <p:nvSpPr>
          <p:cNvPr id="7" name="The host computes sine/cosine once per angle.">
            <a:extLst xmlns:a="http://schemas.openxmlformats.org/drawingml/2006/main">
              <a:ext uri="{FF2B5EF4-FFF2-40B4-BE49-F238E27FC236}">
                <a16:creationId xmlns:a16="http://schemas.microsoft.com/office/drawing/2014/main" id="{2F7FC167-AA78-472E-94C3-CF267EC1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756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host computes sine/cosine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once per angle.</a:t>
            </a:r>
          </a:p>
        </p:txBody>
      </p:sp>
      <p:sp>
        <p:nvSpPr>
          <p:cNvPr id="8" name="Nearest-neighbour mapping uses the documented y-down co">
            <a:extLst xmlns:a="http://schemas.openxmlformats.org/drawingml/2006/main">
              <a:ext uri="{FF2B5EF4-FFF2-40B4-BE49-F238E27FC236}">
                <a16:creationId xmlns:a16="http://schemas.microsoft.com/office/drawing/2014/main" id="{A7900886-84AF-4096-8F09-B73649EF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8584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mapping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uses the documented y-down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convention.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44F3C-51C6-4135-AF9F-7A76224A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NVIDIA CUDA programming model">
            <a:extLst xmlns:a="http://schemas.openxmlformats.org/drawingml/2006/main">
              <a:ext uri="{FF2B5EF4-FFF2-40B4-BE49-F238E27FC236}">
                <a16:creationId xmlns:a16="http://schemas.microsoft.com/office/drawing/2014/main" id="{A3532EFC-6A0C-4F22-B5D5-23288871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</a:t>
            </a:r>
          </a:p>
        </p:txBody>
      </p:sp>
      <p:sp>
        <p:nvSpPr>
          <p:cNvPr id="11" name="17 / 40">
            <a:extLst xmlns:a="http://schemas.openxmlformats.org/drawingml/2006/main">
              <a:ext uri="{FF2B5EF4-FFF2-40B4-BE49-F238E27FC236}">
                <a16:creationId xmlns:a16="http://schemas.microsoft.com/office/drawing/2014/main" id="{6AF99D12-878C-418E-9AC7-EEB70F15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17 / 40</a:t>
            </a:r>
          </a:p>
        </p:txBody>
      </p:sp>
    </p:spTree>
    <p:extLst>
      <p:ext uri="{BB962C8B-B14F-4D97-AF65-F5344CB8AC3E}">
        <p14:creationId xmlns:p14="http://schemas.microsoft.com/office/powerpoint/2010/main" val="3966282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5">
            <a:extLst xmlns:a="http://schemas.openxmlformats.org/drawingml/2006/main">
              <a:ext uri="{FF2B5EF4-FFF2-40B4-BE49-F238E27FC236}">
                <a16:creationId xmlns:a16="http://schemas.microsoft.com/office/drawing/2014/main" id="{5D75147F-2217-4F3F-92A3-FC2FBF7E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A5</a:t>
            </a:r>
          </a:p>
        </p:txBody>
      </p:sp>
      <p:sp>
        <p:nvSpPr>
          <p:cNvPr id="2" name="Crafted CUDA example: safe output writes">
            <a:extLst xmlns:a="http://schemas.openxmlformats.org/drawingml/2006/main">
              <a:ext uri="{FF2B5EF4-FFF2-40B4-BE49-F238E27FC236}">
                <a16:creationId xmlns:a16="http://schemas.microsoft.com/office/drawing/2014/main" id="{0E6083BA-D908-4760-A068-E9B667C1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safe output writes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2A832-ACB0-4B31-85C7-3F0BA36D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    const size_t destination =&#10;        (size_t(y) * siz">
            <a:extLst xmlns:a="http://schemas.openxmlformats.org/drawingml/2006/main">
              <a:ext uri="{FF2B5EF4-FFF2-40B4-BE49-F238E27FC236}">
                <a16:creationId xmlns:a16="http://schemas.microsoft.com/office/drawing/2014/main" id="{1E885C48-4BBE-4ED3-8197-82ACF911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size_t destination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(size_t(y) * size_t(width) + size_t(x)) * 3;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(ix &gt;= 0 &amp;&amp; ix &lt; width &amp;&amp; iy &gt;= 0 &amp;&amp; iy &lt;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const size_t source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(size_t(iy) * size_t(width) + size_t(ix)) * 3;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output[destination + channel] = input[source + channel];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 else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output[destination + channel] = 0;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RGB address = 3 × (row × width + column).">
            <a:extLst xmlns:a="http://schemas.openxmlformats.org/drawingml/2006/main">
              <a:ext uri="{FF2B5EF4-FFF2-40B4-BE49-F238E27FC236}">
                <a16:creationId xmlns:a16="http://schemas.microsoft.com/office/drawing/2014/main" id="{F30188B8-CCEE-48A0-9587-C2B3DFFA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RGB address = 3 × (row ×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width + column).</a:t>
            </a:r>
          </a:p>
        </p:txBody>
      </p:sp>
      <p:sp>
        <p:nvSpPr>
          <p:cNvPr id="6" name="Every valid output gets three channels, including black">
            <a:extLst xmlns:a="http://schemas.openxmlformats.org/drawingml/2006/main">
              <a:ext uri="{FF2B5EF4-FFF2-40B4-BE49-F238E27FC236}">
                <a16:creationId xmlns:a16="http://schemas.microsoft.com/office/drawing/2014/main" id="{B4DA34A3-B35D-4B57-8988-27275D68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943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Every valid output gets three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channels, including black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borders.</a:t>
            </a:r>
          </a:p>
        </p:txBody>
      </p:sp>
      <p:sp>
        <p:nvSpPr>
          <p:cNvPr id="7" name="No atomics, mutex or block barrier is needed: writers h">
            <a:extLst xmlns:a="http://schemas.openxmlformats.org/drawingml/2006/main">
              <a:ext uri="{FF2B5EF4-FFF2-40B4-BE49-F238E27FC236}">
                <a16:creationId xmlns:a16="http://schemas.microsoft.com/office/drawing/2014/main" id="{40D68C8D-E2EB-4113-927A-B7B224B7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756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atomics, mutex or block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barrier is needed: writers have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disjoint destinations.</a:t>
            </a:r>
          </a:p>
        </p:txBody>
      </p:sp>
      <p:sp>
        <p:nvSpPr>
          <p:cNvPr id="8" name="Total work Θ(W × H); input/output storage Θ(W × H) each">
            <a:extLst xmlns:a="http://schemas.openxmlformats.org/drawingml/2006/main">
              <a:ext uri="{FF2B5EF4-FFF2-40B4-BE49-F238E27FC236}">
                <a16:creationId xmlns:a16="http://schemas.microsoft.com/office/drawing/2014/main" id="{E6A49F5C-C1E5-48BA-BD40-843A545F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45686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Total work Θ(W × H);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input/output storage Θ(W × H)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849C7-8E83-4A24-A413-E44E6A1E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NVIDIA CUDA programming model">
            <a:extLst xmlns:a="http://schemas.openxmlformats.org/drawingml/2006/main">
              <a:ext uri="{FF2B5EF4-FFF2-40B4-BE49-F238E27FC236}">
                <a16:creationId xmlns:a16="http://schemas.microsoft.com/office/drawing/2014/main" id="{DF09F6FA-FA87-4522-A6A0-0A6F78A8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</a:t>
            </a:r>
          </a:p>
        </p:txBody>
      </p:sp>
      <p:sp>
        <p:nvSpPr>
          <p:cNvPr id="11" name="18 / 40">
            <a:extLst xmlns:a="http://schemas.openxmlformats.org/drawingml/2006/main">
              <a:ext uri="{FF2B5EF4-FFF2-40B4-BE49-F238E27FC236}">
                <a16:creationId xmlns:a16="http://schemas.microsoft.com/office/drawing/2014/main" id="{756BB18A-DA79-4F32-8627-C8495447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18 / 40</a:t>
            </a:r>
          </a:p>
        </p:txBody>
      </p:sp>
    </p:spTree>
    <p:extLst>
      <p:ext uri="{BB962C8B-B14F-4D97-AF65-F5344CB8AC3E}">
        <p14:creationId xmlns:p14="http://schemas.microsoft.com/office/powerpoint/2010/main" val="39754771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6">
            <a:extLst xmlns:a="http://schemas.openxmlformats.org/drawingml/2006/main">
              <a:ext uri="{FF2B5EF4-FFF2-40B4-BE49-F238E27FC236}">
                <a16:creationId xmlns:a16="http://schemas.microsoft.com/office/drawing/2014/main" id="{CD21B7BD-E7A4-485C-A345-388D32FB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A6</a:t>
            </a:r>
          </a:p>
        </p:txBody>
      </p:sp>
      <p:sp>
        <p:nvSpPr>
          <p:cNvPr id="2" name="Host orchestration and completion">
            <a:extLst xmlns:a="http://schemas.openxmlformats.org/drawingml/2006/main">
              <a:ext uri="{FF2B5EF4-FFF2-40B4-BE49-F238E27FC236}">
                <a16:creationId xmlns:a16="http://schemas.microsoft.com/office/drawing/2014/main" id="{C72CF1EC-8F1B-40BE-BDF4-9AB3E343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orchestration and completion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282C8-A4CF-4A12-B5AD-729828CC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64198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dim3 block(16, 16);&#10;dim3 grid(1u + (unsigned(W)-1u)/blo">
            <a:extLst xmlns:a="http://schemas.openxmlformats.org/drawingml/2006/main">
              <a:ext uri="{FF2B5EF4-FFF2-40B4-BE49-F238E27FC236}">
                <a16:creationId xmlns:a16="http://schemas.microsoft.com/office/drawing/2014/main" id="{ED544FA6-2973-4BCC-807A-DC64A246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6191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block(16, 16);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grid(1u + (unsigned(W)-1u)/block.x,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1u + (unsigned(H)-1u)/block.y);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cudaMemcpy(d_in, h_in,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cudaMemcpyHostToDevice);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rotate_rgb&lt;&lt;&lt;grid, block&gt;&gt;&gt;(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d_in, d_out, W, H, c, s);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cudaGetLastError();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cudaMemcpy(h_out, d_out,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cudaMemcpyDeviceToHost);</a:t>
            </a:r>
          </a:p>
        </p:txBody>
      </p:sp>
      <p:sp>
        <p:nvSpPr>
          <p:cNvPr id="5" name="Illustrative excerpt, not a complete program: W/H &gt; 0; ">
            <a:extLst xmlns:a="http://schemas.openxmlformats.org/drawingml/2006/main">
              <a:ext uri="{FF2B5EF4-FFF2-40B4-BE49-F238E27FC236}">
                <a16:creationId xmlns:a16="http://schemas.microsoft.com/office/drawing/2014/main" id="{F8F07BFB-5D71-42BE-BA23-841E9FC1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6191250" cy="782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Illustrative excerpt, not a complete program: W/H &gt; 0; bytes = 3 × W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× H checked in size_t; valid separate buffers; grid/device limits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validated.</a:t>
            </a:r>
          </a:p>
        </p:txBody>
      </p:sp>
      <p:sp>
        <p:nvSpPr>
          <p:cNvPr id="6" name="CPU loads/decodes, allocates host/device buffers, check">
            <a:extLst xmlns:a="http://schemas.openxmlformats.org/drawingml/2006/main">
              <a:ext uri="{FF2B5EF4-FFF2-40B4-BE49-F238E27FC236}">
                <a16:creationId xmlns:a16="http://schemas.microsoft.com/office/drawing/2014/main" id="{86F95B4A-1F99-4409-B4C2-B56C46F6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81150"/>
            <a:ext cx="436245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loads/decodes, allocates host/device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buffers, checks every API/launch/completion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result, saves output and frees resources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safely.</a:t>
            </a:r>
          </a:p>
        </p:txBody>
      </p:sp>
      <p:sp>
        <p:nvSpPr>
          <p:cNvPr id="7" name="For this ordered synchronous-copy example, D2H supplies">
            <a:extLst xmlns:a="http://schemas.openxmlformats.org/drawingml/2006/main">
              <a:ext uri="{FF2B5EF4-FFF2-40B4-BE49-F238E27FC236}">
                <a16:creationId xmlns:a16="http://schemas.microsoft.com/office/drawing/2014/main" id="{01D942AD-706B-4BBB-BCEF-5258A5EA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30068"/>
            <a:ext cx="436245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this ordered synchronous-copy example,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D2H supplies completed host data. A launch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asynchronous; launch-error checks alone do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establish successful completion.</a:t>
            </a:r>
          </a:p>
        </p:txBody>
      </p:sp>
      <p:sp>
        <p:nvSpPr>
          <p:cNvPr id="8" name="Pinned host storage is page-locked and supports efficie">
            <a:extLst xmlns:a="http://schemas.openxmlformats.org/drawingml/2006/main">
              <a:ext uri="{FF2B5EF4-FFF2-40B4-BE49-F238E27FC236}">
                <a16:creationId xmlns:a16="http://schemas.microsoft.com/office/drawing/2014/main" id="{C57EBBEC-3383-4D2A-9EDE-E5986C13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78986"/>
            <a:ext cx="436245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Pinned host storage is page-locked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supports efficient DMA. Pageable memory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need runtime staging. Avoid excessive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90798E-ACC9-4B61-9350-0FA5C612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NVIDIA CUDA programming model; [2] NVIDIA ">
            <a:extLst xmlns:a="http://schemas.openxmlformats.org/drawingml/2006/main">
              <a:ext uri="{FF2B5EF4-FFF2-40B4-BE49-F238E27FC236}">
                <a16:creationId xmlns:a16="http://schemas.microsoft.com/office/drawing/2014/main" id="{2577BFD7-6171-4B2A-9319-7833CD33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model; [2] NVIDIA CUDA Best Practices</a:t>
            </a:r>
          </a:p>
        </p:txBody>
      </p:sp>
      <p:sp>
        <p:nvSpPr>
          <p:cNvPr id="11" name="19 / 40">
            <a:extLst xmlns:a="http://schemas.openxmlformats.org/drawingml/2006/main">
              <a:ext uri="{FF2B5EF4-FFF2-40B4-BE49-F238E27FC236}">
                <a16:creationId xmlns:a16="http://schemas.microsoft.com/office/drawing/2014/main" id="{ED3F4E27-4E02-4732-80FC-8E6D367F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19 / 40</a:t>
            </a:r>
          </a:p>
        </p:txBody>
      </p:sp>
    </p:spTree>
    <p:extLst>
      <p:ext uri="{BB962C8B-B14F-4D97-AF65-F5344CB8AC3E}">
        <p14:creationId xmlns:p14="http://schemas.microsoft.com/office/powerpoint/2010/main" val="16779726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A7">
            <a:extLst xmlns:a="http://schemas.openxmlformats.org/drawingml/2006/main">
              <a:ext uri="{FF2B5EF4-FFF2-40B4-BE49-F238E27FC236}">
                <a16:creationId xmlns:a16="http://schemas.microsoft.com/office/drawing/2014/main" id="{6238F6D8-5BAA-4383-B756-B659661C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A7</a:t>
            </a:r>
          </a:p>
        </p:txBody>
      </p:sp>
      <p:sp>
        <p:nvSpPr>
          <p:cNvPr id="2" name="Launch shape and memory access">
            <a:extLst xmlns:a="http://schemas.openxmlformats.org/drawingml/2006/main">
              <a:ext uri="{FF2B5EF4-FFF2-40B4-BE49-F238E27FC236}">
                <a16:creationId xmlns:a16="http://schemas.microsoft.com/office/drawing/2014/main" id="{CA9B7037-1EB5-46D4-934F-CCB6E076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Launch shape and memory access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A11F3-8792-4FA2-9E5B-36D20DA2EAE4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Choice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Mechanism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Performance implication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 × 16 block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256 threads; each warp spans two 16-wide rows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Reasonable 2D starting point; row edges/alignment matter.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32 × 8 block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256 threads; each warp spans one 32-wide row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May improve row-oriented access; no universal winner.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Output gathering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Adjacent x threads write adjacent RGB pixels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 write locality; per-channel byte operations still require efficient transactions.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Rotated input reads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Angle changes the source addresses visited by a warp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Irregular gathers can reduce effective read bandwidth/cache reuse.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residency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Registers, shared memory and block/thread limits constrain active warps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Helps hide latency; maximum occupancy is not automatically fastest.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ompute grid for each block shape. Profile actual tra">
            <a:extLst xmlns:a="http://schemas.openxmlformats.org/drawingml/2006/main">
              <a:ext uri="{FF2B5EF4-FFF2-40B4-BE49-F238E27FC236}">
                <a16:creationId xmlns:a16="http://schemas.microsoft.com/office/drawing/2014/main" id="{BA924960-408D-4D77-AC74-B6698265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Recompute grid for each block shape. Profile actual transactions, latency and registers before selecting a shape.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08003-3BE5-481A-B559-A6492125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] NVIDIA CUDA programming model; [2] NVIDIA ">
            <a:extLst xmlns:a="http://schemas.openxmlformats.org/drawingml/2006/main">
              <a:ext uri="{FF2B5EF4-FFF2-40B4-BE49-F238E27FC236}">
                <a16:creationId xmlns:a16="http://schemas.microsoft.com/office/drawing/2014/main" id="{B21FDB63-0843-426D-9D3A-AB31218F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model; [2] NVIDIA CUDA Best Practices</a:t>
            </a:r>
          </a:p>
        </p:txBody>
      </p:sp>
      <p:sp>
        <p:nvSpPr>
          <p:cNvPr id="7" name="20 / 40">
            <a:extLst xmlns:a="http://schemas.openxmlformats.org/drawingml/2006/main">
              <a:ext uri="{FF2B5EF4-FFF2-40B4-BE49-F238E27FC236}">
                <a16:creationId xmlns:a16="http://schemas.microsoft.com/office/drawing/2014/main" id="{CB6FBDB8-2A44-4D27-B98E-5C9AE868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20 / 40</a:t>
            </a:r>
          </a:p>
        </p:txBody>
      </p:sp>
    </p:spTree>
    <p:extLst>
      <p:ext uri="{BB962C8B-B14F-4D97-AF65-F5344CB8AC3E}">
        <p14:creationId xmlns:p14="http://schemas.microsoft.com/office/powerpoint/2010/main" val="176480978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8">
            <a:extLst xmlns:a="http://schemas.openxmlformats.org/drawingml/2006/main">
              <a:ext uri="{FF2B5EF4-FFF2-40B4-BE49-F238E27FC236}">
                <a16:creationId xmlns:a16="http://schemas.microsoft.com/office/drawing/2014/main" id="{D921386E-C580-46DD-B7A9-B51A4606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A8</a:t>
            </a:r>
          </a:p>
        </p:txBody>
      </p:sp>
      <p:sp>
        <p:nvSpPr>
          <p:cNvPr id="2" name="Asynchronous work within one stream">
            <a:extLst xmlns:a="http://schemas.openxmlformats.org/drawingml/2006/main">
              <a:ext uri="{FF2B5EF4-FFF2-40B4-BE49-F238E27FC236}">
                <a16:creationId xmlns:a16="http://schemas.microsoft.com/office/drawing/2014/main" id="{C0B61F76-B4C4-4C8E-A0AD-795479AE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Asynchronous work within one 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A4412-8DB0-4BBA-A395-61ED42AD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35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cudaError_t enqueue_rotation(const unsigned char* h_inp">
            <a:extLst xmlns:a="http://schemas.openxmlformats.org/drawingml/2006/main">
              <a:ext uri="{FF2B5EF4-FFF2-40B4-BE49-F238E27FC236}">
                <a16:creationId xmlns:a16="http://schemas.microsoft.com/office/drawing/2014/main" id="{3ADF9943-A22C-41DE-9091-3FFF0D74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22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cudaError_t enqueue_rotation(const unsigned char* h_input,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h_output,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d_input,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d_output,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size_t bytes, int width,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float c, float 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cudaStream_t stream)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dim3 block(32, 8);  // 256 threads.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dim3 grid = rotation_grid(width, height, block);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cudaError_t status = cudaMemcpyAsync(d_input, h_input,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         cudaMemcpyHostToDevice, stream);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(status != cudaSuccess) return status;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rotate_rgb&lt;&lt;&lt;grid, block, 0, stream&gt;&gt;&gt;(d_input, d_output,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          width, height, c, s);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status = cudaGetLastError();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(status != cudaSuccess) return status;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return cudaMemcpyAsync(h_output, d_output,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cudaMemcpyDeviceToHost, stream);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Full enqueue function; rotation_grid uses the ceil-divi">
            <a:extLst xmlns:a="http://schemas.openxmlformats.org/drawingml/2006/main">
              <a:ext uri="{FF2B5EF4-FFF2-40B4-BE49-F238E27FC236}">
                <a16:creationId xmlns:a16="http://schemas.microsoft.com/office/drawing/2014/main" id="{58367142-E8B0-4113-B8B5-CB40838D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Full enqueue function;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rotation_grid uses the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ceil-division shown in A6.</a:t>
            </a:r>
          </a:p>
        </p:txBody>
      </p:sp>
      <p:sp>
        <p:nvSpPr>
          <p:cNvPr id="6" name="Pinned host buffers and checked sizes are preconditions">
            <a:extLst xmlns:a="http://schemas.openxmlformats.org/drawingml/2006/main">
              <a:ext uri="{FF2B5EF4-FFF2-40B4-BE49-F238E27FC236}">
                <a16:creationId xmlns:a16="http://schemas.microsoft.com/office/drawing/2014/main" id="{31AA2EA1-FCD5-4411-AA2A-F51B2DC7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89276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Pinned host buffers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checked sizes are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preconditions.</a:t>
            </a:r>
          </a:p>
        </p:txBody>
      </p:sp>
      <p:sp>
        <p:nvSpPr>
          <p:cNvPr id="7" name="Success means submitted work; wait before reading, reus">
            <a:extLst xmlns:a="http://schemas.openxmlformats.org/drawingml/2006/main">
              <a:ext uri="{FF2B5EF4-FFF2-40B4-BE49-F238E27FC236}">
                <a16:creationId xmlns:a16="http://schemas.microsoft.com/office/drawing/2014/main" id="{508CBEDF-3026-4CBC-B100-C5754BCE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97402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Success means submitted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work; wait before reading,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reusing or freeing buffers.</a:t>
            </a:r>
          </a:p>
        </p:txBody>
      </p:sp>
      <p:sp>
        <p:nvSpPr>
          <p:cNvPr id="8" name="On error, previously enqueued work may still be pending">
            <a:extLst xmlns:a="http://schemas.openxmlformats.org/drawingml/2006/main">
              <a:ext uri="{FF2B5EF4-FFF2-40B4-BE49-F238E27FC236}">
                <a16:creationId xmlns:a16="http://schemas.microsoft.com/office/drawing/2014/main" id="{39D53D38-863D-4EA9-A0C8-9563C235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05528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 error, previously enqueued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 may still be pending.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B18EA9-867B-45F3-88AF-A87EA272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2] NVIDIA CUDA Best Practices">
            <a:extLst xmlns:a="http://schemas.openxmlformats.org/drawingml/2006/main">
              <a:ext uri="{FF2B5EF4-FFF2-40B4-BE49-F238E27FC236}">
                <a16:creationId xmlns:a16="http://schemas.microsoft.com/office/drawing/2014/main" id="{29490B59-D684-4C61-8B94-347EB9A6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NVIDIA CUDA Best Practices</a:t>
            </a:r>
          </a:p>
        </p:txBody>
      </p:sp>
      <p:sp>
        <p:nvSpPr>
          <p:cNvPr id="11" name="21 / 40">
            <a:extLst xmlns:a="http://schemas.openxmlformats.org/drawingml/2006/main">
              <a:ext uri="{FF2B5EF4-FFF2-40B4-BE49-F238E27FC236}">
                <a16:creationId xmlns:a16="http://schemas.microsoft.com/office/drawing/2014/main" id="{55E1ECC2-E452-4C36-BF29-DEA6DA66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21 / 40</a:t>
            </a:r>
          </a:p>
        </p:txBody>
      </p:sp>
    </p:spTree>
    <p:extLst>
      <p:ext uri="{BB962C8B-B14F-4D97-AF65-F5344CB8AC3E}">
        <p14:creationId xmlns:p14="http://schemas.microsoft.com/office/powerpoint/2010/main" val="123708173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0A4C5-1865-4328-9D51-40A0D3162CC5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505825" y="37909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8A9E5-5236-477D-94EB-D1F8518A1A77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353175" y="37909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6F0E9-C81F-41BD-AC42-730C93F1A36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981825" y="23907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2FE5A-074D-4FB6-8B1E-52BA5331E13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29175" y="23907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23" name="Appendix A9">
            <a:extLst xmlns:a="http://schemas.openxmlformats.org/drawingml/2006/main">
              <a:ext uri="{FF2B5EF4-FFF2-40B4-BE49-F238E27FC236}">
                <a16:creationId xmlns:a16="http://schemas.microsoft.com/office/drawing/2014/main" id="{062EC9F8-AF55-4185-B028-59F28C70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A9</a:t>
            </a:r>
          </a:p>
        </p:txBody>
      </p:sp>
      <p:sp>
        <p:nvSpPr>
          <p:cNvPr id="2" name="Batch overlap and GPU residency">
            <a:extLst xmlns:a="http://schemas.openxmlformats.org/drawingml/2006/main">
              <a:ext uri="{FF2B5EF4-FFF2-40B4-BE49-F238E27FC236}">
                <a16:creationId xmlns:a16="http://schemas.microsoft.com/office/drawing/2014/main" id="{35A47DCE-916E-45A5-90CC-FCC349F5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Batch overlap and GPU residency</a:t>
            </a:r>
          </a:p>
        </p:txBody>
      </p:sp>
      <p:sp>
        <p:nvSpPr>
          <p:cNvPr id="3" name="Same stream: H2D → kernel → D2H, in order">
            <a:extLst xmlns:a="http://schemas.openxmlformats.org/drawingml/2006/main">
              <a:ext uri="{FF2B5EF4-FFF2-40B4-BE49-F238E27FC236}">
                <a16:creationId xmlns:a16="http://schemas.microsoft.com/office/drawing/2014/main" id="{B196356B-A8DB-4E24-81FD-94D03B74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Same stream: H2D → kernel → D2H, in order</a:t>
            </a:r>
          </a:p>
        </p:txBody>
      </p:sp>
      <p:sp>
        <p:nvSpPr>
          <p:cNvPr id="4" name="Stream A / image A">
            <a:extLst xmlns:a="http://schemas.openxmlformats.org/drawingml/2006/main">
              <a:ext uri="{FF2B5EF4-FFF2-40B4-BE49-F238E27FC236}">
                <a16:creationId xmlns:a16="http://schemas.microsoft.com/office/drawing/2014/main" id="{99B3DCAB-3C48-4B10-B759-410292A7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1907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 A / image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1D88F-8E9B-44D1-8591-CFA152E6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19300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H2D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4E7EF-BB8B-4363-9C60-F48724C6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19300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3FF25-D665-426F-A2E4-235C9290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19300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D2H</a:t>
            </a:r>
          </a:p>
        </p:txBody>
      </p:sp>
      <p:sp>
        <p:nvSpPr>
          <p:cNvPr id="10" name="Stream B / image B">
            <a:extLst xmlns:a="http://schemas.openxmlformats.org/drawingml/2006/main">
              <a:ext uri="{FF2B5EF4-FFF2-40B4-BE49-F238E27FC236}">
                <a16:creationId xmlns:a16="http://schemas.microsoft.com/office/drawing/2014/main" id="{505D581F-9C56-45D2-BC64-35D87255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21907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 B / image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75BC9-C0BA-43D2-91D3-A0F16A8A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19475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H2D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D8A65-79F0-446B-BC0A-3F5E2A17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19475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F8C48A-EF13-40F8-B47A-612EF2FB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19475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D2H</a:t>
            </a:r>
          </a:p>
        </p:txBody>
      </p:sp>
      <p:sp>
        <p:nvSpPr>
          <p:cNvPr id="16" name="Schematic overlap opportunity; not measured durations o">
            <a:extLst xmlns:a="http://schemas.openxmlformats.org/drawingml/2006/main">
              <a:ext uri="{FF2B5EF4-FFF2-40B4-BE49-F238E27FC236}">
                <a16:creationId xmlns:a16="http://schemas.microsoft.com/office/drawing/2014/main" id="{098C5296-9AB5-4DAF-81E5-1BC43A80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Schematic overlap opportunity; not measured durations or guaranteed simultaneous execution.</a:t>
            </a:r>
          </a:p>
        </p:txBody>
      </p:sp>
      <p:sp>
        <p:nvSpPr>
          <p:cNvPr id="17" name="Independent streams + separate pinned/device buffers + ">
            <a:extLst xmlns:a="http://schemas.openxmlformats.org/drawingml/2006/main">
              <a:ext uri="{FF2B5EF4-FFF2-40B4-BE49-F238E27FC236}">
                <a16:creationId xmlns:a16="http://schemas.microsoft.com/office/drawing/2014/main" id="{1A270EEF-9034-4FBF-AB90-DDE163EB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Independent streams + separate pinned/device buffers + supporting copy/compute resources. Synchronize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reuse. Extra buffers consume memory; device residency avoids unnecessary round trips.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CB5C3-0E53-47CB-ACC6-2C0D3FF3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9" name="Overlap changes the critical path, not the amount of ro">
            <a:extLst xmlns:a="http://schemas.openxmlformats.org/drawingml/2006/main">
              <a:ext uri="{FF2B5EF4-FFF2-40B4-BE49-F238E27FC236}">
                <a16:creationId xmlns:a16="http://schemas.microsoft.com/office/drawing/2014/main" id="{E5F97D57-AEE8-4617-83AC-5583059C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Overlap changes the critical path, not the amount of rotation work.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57555F-A943-4073-B6EE-8E644B10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1" name="Sources: [2] NVIDIA CUDA Best Practices">
            <a:extLst xmlns:a="http://schemas.openxmlformats.org/drawingml/2006/main">
              <a:ext uri="{FF2B5EF4-FFF2-40B4-BE49-F238E27FC236}">
                <a16:creationId xmlns:a16="http://schemas.microsoft.com/office/drawing/2014/main" id="{6977C5B2-5B87-4DAA-9D05-B38A00F7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NVIDIA CUDA Best Practices</a:t>
            </a:r>
          </a:p>
        </p:txBody>
      </p:sp>
      <p:sp>
        <p:nvSpPr>
          <p:cNvPr id="22" name="22 / 40">
            <a:extLst xmlns:a="http://schemas.openxmlformats.org/drawingml/2006/main">
              <a:ext uri="{FF2B5EF4-FFF2-40B4-BE49-F238E27FC236}">
                <a16:creationId xmlns:a16="http://schemas.microsoft.com/office/drawing/2014/main" id="{1B538BB3-0D8C-48CE-B285-B5E5DB76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22 / 40</a:t>
            </a:r>
          </a:p>
        </p:txBody>
      </p:sp>
    </p:spTree>
    <p:extLst>
      <p:ext uri="{BB962C8B-B14F-4D97-AF65-F5344CB8AC3E}">
        <p14:creationId xmlns:p14="http://schemas.microsoft.com/office/powerpoint/2010/main" val="240420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0">
            <a:extLst xmlns:a="http://schemas.openxmlformats.org/drawingml/2006/main">
              <a:ext uri="{FF2B5EF4-FFF2-40B4-BE49-F238E27FC236}">
                <a16:creationId xmlns:a16="http://schemas.microsoft.com/office/drawing/2014/main" id="{4383AB3A-2733-4ED1-96B4-9392C747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A10</a:t>
            </a:r>
          </a:p>
        </p:txBody>
      </p:sp>
      <p:sp>
        <p:nvSpPr>
          <p:cNvPr id="2" name="Fair speedup comparison and profiling">
            <a:extLst xmlns:a="http://schemas.openxmlformats.org/drawingml/2006/main">
              <a:ext uri="{FF2B5EF4-FFF2-40B4-BE49-F238E27FC236}">
                <a16:creationId xmlns:a16="http://schemas.microsoft.com/office/drawing/2014/main" id="{C0BAB388-D097-43DD-A1FB-278804B3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 speedup comparison and profiling</a:t>
            </a:r>
          </a:p>
        </p:txBody>
      </p:sp>
      <p:sp>
        <p:nvSpPr>
          <p:cNvPr id="3" name="Comparable baselines">
            <a:extLst xmlns:a="http://schemas.openxmlformats.org/drawingml/2006/main">
              <a:ext uri="{FF2B5EF4-FFF2-40B4-BE49-F238E27FC236}">
                <a16:creationId xmlns:a16="http://schemas.microsoft.com/office/drawing/2014/main" id="{85F8B846-DEFB-4F28-9459-B50504BE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Comparable baselines</a:t>
            </a:r>
          </a:p>
        </p:txBody>
      </p:sp>
      <p:sp>
        <p:nvSpPr>
          <p:cNvPr id="4" name="Primary baseline: one CPU thread performs the same RGB ">
            <a:extLst xmlns:a="http://schemas.openxmlformats.org/drawingml/2006/main">
              <a:ext uri="{FF2B5EF4-FFF2-40B4-BE49-F238E27FC236}">
                <a16:creationId xmlns:a16="http://schemas.microsoft.com/office/drawing/2014/main" id="{F90BDD8F-E1CA-4424-99CC-DFB87001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Primary baseline: one CPU thread performs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RGB inverse mapping, nearest-neighbour rule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fixed canvas. Also compare a multithreaded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for a stronger practical baseline.</a:t>
            </a:r>
          </a:p>
        </p:txBody>
      </p:sp>
      <p:sp>
        <p:nvSpPr>
          <p:cNvPr id="5" name="Use identical inputs/angles and verify identical or jus">
            <a:extLst xmlns:a="http://schemas.openxmlformats.org/drawingml/2006/main">
              <a:ext uri="{FF2B5EF4-FFF2-40B4-BE49-F238E27FC236}">
                <a16:creationId xmlns:a16="http://schemas.microsoft.com/office/drawing/2014/main" id="{03F5F7D4-F42E-4876-875E-658DEAC8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identical inputs/angles and verify identical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justified numerically equivalent outputs. Include file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decoding/I/O in both paths or exclude it from both.</a:t>
            </a:r>
          </a:p>
        </p:txBody>
      </p:sp>
      <p:sp>
        <p:nvSpPr>
          <p:cNvPr id="6" name="For the stated decoded-buffer comparison, include GPU a">
            <a:extLst xmlns:a="http://schemas.openxmlformats.org/drawingml/2006/main">
              <a:ext uri="{FF2B5EF4-FFF2-40B4-BE49-F238E27FC236}">
                <a16:creationId xmlns:a16="http://schemas.microsoft.com/office/drawing/2014/main" id="{FFD3604E-BFF9-4339-A616-0091D3E0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the stated decoded-buffer comparison, include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allocation, H2D, launch, completed kernel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D2H; CPU timing covers the corresponding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 and rotation.</a:t>
            </a:r>
          </a:p>
        </p:txBody>
      </p:sp>
      <p:sp>
        <p:nvSpPr>
          <p:cNvPr id="7" name="Measure the bottleneck">
            <a:extLst xmlns:a="http://schemas.openxmlformats.org/drawingml/2006/main">
              <a:ext uri="{FF2B5EF4-FFF2-40B4-BE49-F238E27FC236}">
                <a16:creationId xmlns:a16="http://schemas.microsoft.com/office/drawing/2014/main" id="{53C5F661-DA95-4BF7-85B7-47C1D9DD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Measure the bottleneck</a:t>
            </a:r>
          </a:p>
        </p:txBody>
      </p:sp>
      <p:sp>
        <p:nvSpPr>
          <p:cNvPr id="8" name="Report cold-start and warmed repeated runs separately. ">
            <a:extLst xmlns:a="http://schemas.openxmlformats.org/drawingml/2006/main">
              <a:ext uri="{FF2B5EF4-FFF2-40B4-BE49-F238E27FC236}">
                <a16:creationId xmlns:a16="http://schemas.microsoft.com/office/drawing/2014/main" id="{8F05A381-6B65-4CE9-B8FF-1DBD9969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cold-start and warmed repeated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separately. Use CUDA events for kernel elapsed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time after completion and a host timer through final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completion for total latency.</a:t>
            </a:r>
          </a:p>
        </p:txBody>
      </p:sp>
      <p:sp>
        <p:nvSpPr>
          <p:cNvPr id="9" name="Vary image size, angle, block shape and batch size; rec">
            <a:extLst xmlns:a="http://schemas.openxmlformats.org/drawingml/2006/main">
              <a:ext uri="{FF2B5EF4-FFF2-40B4-BE49-F238E27FC236}">
                <a16:creationId xmlns:a16="http://schemas.microsoft.com/office/drawing/2014/main" id="{37340A81-B72A-4229-BC3C-0E9E3D3B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Vary image size, angle, block shape and batch size;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record hardware, transfer mode, register use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effective memory/link bandwidth.</a:t>
            </a:r>
          </a:p>
        </p:txBody>
      </p:sp>
      <p:sp>
        <p:nvSpPr>
          <p:cNvPr id="10" name="The sequential sum does not apply unchanged to overlapp">
            <a:extLst xmlns:a="http://schemas.openxmlformats.org/drawingml/2006/main">
              <a:ext uri="{FF2B5EF4-FFF2-40B4-BE49-F238E27FC236}">
                <a16:creationId xmlns:a16="http://schemas.microsoft.com/office/drawing/2014/main" id="{35B551CA-A2F4-4861-844F-EC9D190C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sequential sum does not apply unchanged to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overlapping streams: measure the completed batch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critical path. Lower kernel time alone cannot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establish end-to-end speedup.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BBA13-8680-4CEF-AAF7-E5749FD6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7D7D0-93AC-42D6-8106-B6BF6367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NVIDIA CUDA Best Practices">
            <a:extLst xmlns:a="http://schemas.openxmlformats.org/drawingml/2006/main">
              <a:ext uri="{FF2B5EF4-FFF2-40B4-BE49-F238E27FC236}">
                <a16:creationId xmlns:a16="http://schemas.microsoft.com/office/drawing/2014/main" id="{F52B662A-6B3A-4BAE-B0E0-2DB8B71F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NVIDIA CUDA Best Practices</a:t>
            </a:r>
          </a:p>
        </p:txBody>
      </p:sp>
      <p:sp>
        <p:nvSpPr>
          <p:cNvPr id="14" name="23 / 40">
            <a:extLst xmlns:a="http://schemas.openxmlformats.org/drawingml/2006/main">
              <a:ext uri="{FF2B5EF4-FFF2-40B4-BE49-F238E27FC236}">
                <a16:creationId xmlns:a16="http://schemas.microsoft.com/office/drawing/2014/main" id="{8CDBF19C-20F8-4AAF-8466-59A24FE3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23 / 40</a:t>
            </a:r>
          </a:p>
        </p:txBody>
      </p:sp>
    </p:spTree>
    <p:extLst>
      <p:ext uri="{BB962C8B-B14F-4D97-AF65-F5344CB8AC3E}">
        <p14:creationId xmlns:p14="http://schemas.microsoft.com/office/powerpoint/2010/main" val="176565741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1">
            <a:extLst xmlns:a="http://schemas.openxmlformats.org/drawingml/2006/main">
              <a:ext uri="{FF2B5EF4-FFF2-40B4-BE49-F238E27FC236}">
                <a16:creationId xmlns:a16="http://schemas.microsoft.com/office/drawing/2014/main" id="{0526AC59-8454-424E-9275-B071F13A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A11</a:t>
            </a:r>
          </a:p>
        </p:txBody>
      </p:sp>
      <p:sp>
        <p:nvSpPr>
          <p:cNvPr id="2" name="GDS decision for the proposed pipeline">
            <a:extLst xmlns:a="http://schemas.openxmlformats.org/drawingml/2006/main">
              <a:ext uri="{FF2B5EF4-FFF2-40B4-BE49-F238E27FC236}">
                <a16:creationId xmlns:a16="http://schemas.microsoft.com/office/drawing/2014/main" id="{69BF9D1D-58D7-49A4-B8FA-804AE3E3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decision for the proposed pipeline</a:t>
            </a:r>
          </a:p>
        </p:txBody>
      </p:sp>
      <p:sp>
        <p:nvSpPr>
          <p:cNvPr id="3" name="Conventional decoded-image path">
            <a:extLst xmlns:a="http://schemas.openxmlformats.org/drawingml/2006/main">
              <a:ext uri="{FF2B5EF4-FFF2-40B4-BE49-F238E27FC236}">
                <a16:creationId xmlns:a16="http://schemas.microsoft.com/office/drawing/2014/main" id="{ED28445A-7FD5-45C8-A9D1-E7546B83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Conventional decoded-image path</a:t>
            </a:r>
          </a:p>
        </p:txBody>
      </p:sp>
      <p:sp>
        <p:nvSpPr>
          <p:cNvPr id="4" name="CPU decoding requires host-visible compressed bytes and">
            <a:extLst xmlns:a="http://schemas.openxmlformats.org/drawingml/2006/main">
              <a:ext uri="{FF2B5EF4-FFF2-40B4-BE49-F238E27FC236}">
                <a16:creationId xmlns:a16="http://schemas.microsoft.com/office/drawing/2014/main" id="{049F8675-5D89-4C3A-8860-FAA2C7B6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decoding requires host-visible compressed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bytes and produces pixels in RAM. Those pixels 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copied to the GPU; the rotation kernel then runs.</a:t>
            </a:r>
          </a:p>
        </p:txBody>
      </p:sp>
      <p:sp>
        <p:nvSpPr>
          <p:cNvPr id="5" name="A single small image already in RAM gains little from b">
            <a:extLst xmlns:a="http://schemas.openxmlformats.org/drawingml/2006/main">
              <a:ext uri="{FF2B5EF4-FFF2-40B4-BE49-F238E27FC236}">
                <a16:creationId xmlns:a16="http://schemas.microsoft.com/office/drawing/2014/main" id="{A4D48FFF-B15D-42F9-A21B-062F1A17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single small image already in RAM gains little from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bypassing a storage step that is no longer on its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path.</a:t>
            </a:r>
          </a:p>
        </p:txBody>
      </p:sp>
      <p:sp>
        <p:nvSpPr>
          <p:cNvPr id="6" name="GDS does not decode an image, bypass an application’s C">
            <a:extLst xmlns:a="http://schemas.openxmlformats.org/drawingml/2006/main">
              <a:ext uri="{FF2B5EF4-FFF2-40B4-BE49-F238E27FC236}">
                <a16:creationId xmlns:a16="http://schemas.microsoft.com/office/drawing/2014/main" id="{A1DB27DD-A786-4D3E-A0F6-03A991D5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does not decode an image, bypass an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application’s CPU transformation, or make GPU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memory access itself faster.</a:t>
            </a:r>
          </a:p>
        </p:txBody>
      </p:sp>
      <p:sp>
        <p:nvSpPr>
          <p:cNvPr id="7" name="Conditional batch alternative">
            <a:extLst xmlns:a="http://schemas.openxmlformats.org/drawingml/2006/main">
              <a:ext uri="{FF2B5EF4-FFF2-40B4-BE49-F238E27FC236}">
                <a16:creationId xmlns:a16="http://schemas.microsoft.com/office/drawing/2014/main" id="{36F0B32D-B7A4-4265-81BE-534E1D9B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Conditional batch alternative</a:t>
            </a:r>
          </a:p>
        </p:txBody>
      </p:sp>
      <p:sp>
        <p:nvSpPr>
          <p:cNvPr id="8" name="Large storage-bound batches of GPU-ready pixels, or a c">
            <a:extLst xmlns:a="http://schemas.openxmlformats.org/drawingml/2006/main">
              <a:ext uri="{FF2B5EF4-FFF2-40B4-BE49-F238E27FC236}">
                <a16:creationId xmlns:a16="http://schemas.microsoft.com/office/drawing/2014/main" id="{C620225D-C2C5-4027-8CBD-C8BC256A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Large storage-bound batches of GPU-ready pixels,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or a compatible GPU decoding pipeline, may avoid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staging via cuFile and storage-side DMA.</a:t>
            </a:r>
          </a:p>
        </p:txBody>
      </p:sp>
      <p:sp>
        <p:nvSpPr>
          <p:cNvPr id="9" name="Verify the GPU, storage/filesystem, software and PCIe t">
            <a:extLst xmlns:a="http://schemas.openxmlformats.org/drawingml/2006/main">
              <a:ext uri="{FF2B5EF4-FFF2-40B4-BE49-F238E27FC236}">
                <a16:creationId xmlns:a16="http://schemas.microsoft.com/office/drawing/2014/main" id="{686891EC-D069-4F00-A797-3F33B837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Verify the GPU, storage/filesystem, software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PCIe topology support the direct path. Compatibility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fallback uses host staging and is not evidence of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direct DMA.</a:t>
            </a:r>
          </a:p>
        </p:txBody>
      </p:sp>
      <p:sp>
        <p:nvSpPr>
          <p:cNvPr id="10" name="Adopt only if completed batch time/CPU overhead improve">
            <a:extLst xmlns:a="http://schemas.openxmlformats.org/drawingml/2006/main">
              <a:ext uri="{FF2B5EF4-FFF2-40B4-BE49-F238E27FC236}">
                <a16:creationId xmlns:a16="http://schemas.microsoft.com/office/drawing/2014/main" id="{5FDEFFC4-837B-4771-A6E4-05ABF7BE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Adopt only if completed batch time/CPU overhead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improve on the real workload; include extra buffers,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decoding and storage bandwidth. Otherwise retain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conventional copies.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AE306-45E5-4065-82FC-0B6D3C4A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717FFB-2E7A-4D6E-8D76-8E7880E6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3] NVIDIA GDS overview; [4] NVIDIA GDS design">
            <a:extLst xmlns:a="http://schemas.openxmlformats.org/drawingml/2006/main">
              <a:ext uri="{FF2B5EF4-FFF2-40B4-BE49-F238E27FC236}">
                <a16:creationId xmlns:a16="http://schemas.microsoft.com/office/drawing/2014/main" id="{903093E8-77A6-4081-AB4C-58E0ACCB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[3] NVIDIA GDS overview; [4] NVIDIA GDS design</a:t>
            </a:r>
          </a:p>
        </p:txBody>
      </p:sp>
      <p:sp>
        <p:nvSpPr>
          <p:cNvPr id="14" name="24 / 40">
            <a:extLst xmlns:a="http://schemas.openxmlformats.org/drawingml/2006/main">
              <a:ext uri="{FF2B5EF4-FFF2-40B4-BE49-F238E27FC236}">
                <a16:creationId xmlns:a16="http://schemas.microsoft.com/office/drawing/2014/main" id="{7F36FE04-F930-4998-B09A-C4711140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24 / 40</a:t>
            </a:r>
          </a:p>
        </p:txBody>
      </p:sp>
    </p:spTree>
    <p:extLst>
      <p:ext uri="{BB962C8B-B14F-4D97-AF65-F5344CB8AC3E}">
        <p14:creationId xmlns:p14="http://schemas.microsoft.com/office/powerpoint/2010/main" val="41105507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1">
            <a:extLst xmlns:a="http://schemas.openxmlformats.org/drawingml/2006/main">
              <a:ext uri="{FF2B5EF4-FFF2-40B4-BE49-F238E27FC236}">
                <a16:creationId xmlns:a16="http://schemas.microsoft.com/office/drawing/2014/main" id="{D4605615-31F1-477C-8944-19ADFF45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B1</a:t>
            </a:r>
          </a:p>
        </p:txBody>
      </p:sp>
      <p:sp>
        <p:nvSpPr>
          <p:cNvPr id="2" name="Parallelism, dependencies and scaling limits">
            <a:extLst xmlns:a="http://schemas.openxmlformats.org/drawingml/2006/main">
              <a:ext uri="{FF2B5EF4-FFF2-40B4-BE49-F238E27FC236}">
                <a16:creationId xmlns:a16="http://schemas.microsoft.com/office/drawing/2014/main" id="{2F2A774C-1958-494B-BD98-7ABFCC00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Parallelism, dependencies and scaling limits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FDA1C-01BA-426A-AFA3-C519866DF97F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 and communication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Scaling limitation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Replicate model; partition batches; reduce/average gradients before a consistent update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Collective latency/bandwidth and stragglers.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Tensor parallel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Partition computations within a layer; exchange partial results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Frequent inter-device communication.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Pipeline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layers to stages; pass activations/gradients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Stage imbalance and pipeline bubbles.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Fixed workload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More GPUs reduce only the parallelizable portion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Serial work and communication bound speedup.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Larger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Scale capacity/model/data with added resources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different claim from halving a fixed job’s runtime.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ll-reduce is a collective result-sharing concept, not ">
            <a:extLst xmlns:a="http://schemas.openxmlformats.org/drawingml/2006/main">
              <a:ext uri="{FF2B5EF4-FFF2-40B4-BE49-F238E27FC236}">
                <a16:creationId xmlns:a16="http://schemas.microsoft.com/office/drawing/2014/main" id="{2DFE37BB-373D-4875-906C-11D4F4BF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All-reduce is a collective result-sharing concept, not a claim that every AI framework uses the exact classroom MPI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3241F-9DA8-4E9B-BF4E-6A5ED6CB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5] NVIDIA Megatron parallelism; [2] NVIDIA CU">
            <a:extLst xmlns:a="http://schemas.openxmlformats.org/drawingml/2006/main">
              <a:ext uri="{FF2B5EF4-FFF2-40B4-BE49-F238E27FC236}">
                <a16:creationId xmlns:a16="http://schemas.microsoft.com/office/drawing/2014/main" id="{F83E0067-0607-4BC4-BE3A-EC8DFE6C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[5] NVIDIA Megatron parallelism; [2] NVIDIA CUDA Best Practices</a:t>
            </a:r>
          </a:p>
        </p:txBody>
      </p:sp>
      <p:sp>
        <p:nvSpPr>
          <p:cNvPr id="7" name="25 / 40">
            <a:extLst xmlns:a="http://schemas.openxmlformats.org/drawingml/2006/main">
              <a:ext uri="{FF2B5EF4-FFF2-40B4-BE49-F238E27FC236}">
                <a16:creationId xmlns:a16="http://schemas.microsoft.com/office/drawing/2014/main" id="{79842532-6C54-4929-A3FD-FD54A29B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25 / 40</a:t>
            </a:r>
          </a:p>
        </p:txBody>
      </p:sp>
    </p:spTree>
    <p:extLst>
      <p:ext uri="{BB962C8B-B14F-4D97-AF65-F5344CB8AC3E}">
        <p14:creationId xmlns:p14="http://schemas.microsoft.com/office/powerpoint/2010/main" val="102065090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ppendix B2 • Illustrative calculation">
            <a:extLst xmlns:a="http://schemas.openxmlformats.org/drawingml/2006/main">
              <a:ext uri="{FF2B5EF4-FFF2-40B4-BE49-F238E27FC236}">
                <a16:creationId xmlns:a16="http://schemas.microsoft.com/office/drawing/2014/main" id="{87DC4E58-C483-4E13-92A6-A5608958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B2 • Illustrative calculation</a:t>
            </a:r>
          </a:p>
        </p:txBody>
      </p:sp>
      <p:sp>
        <p:nvSpPr>
          <p:cNvPr id="2" name="A faster job can consume more energy">
            <a:extLst xmlns:a="http://schemas.openxmlformats.org/drawingml/2006/main">
              <a:ext uri="{FF2B5EF4-FFF2-40B4-BE49-F238E27FC236}">
                <a16:creationId xmlns:a16="http://schemas.microsoft.com/office/drawing/2014/main" id="{77D0A7BA-C3F0-431E-9655-260E0148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faster job can consume more energy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841A0-0FA4-415F-9847-415AEEA278C1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Assumed configuration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 runtime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Whole-job energy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Lower parallel scale; 1 kW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2.0 hours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 × 2.0 = 2.0 kWh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parallel scale; 2 kW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1.2 hours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 × 1.2 = 2.4 kWh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Illustrative constant power assumptions, not measuremen">
            <a:extLst xmlns:a="http://schemas.openxmlformats.org/drawingml/2006/main">
              <a:ext uri="{FF2B5EF4-FFF2-40B4-BE49-F238E27FC236}">
                <a16:creationId xmlns:a16="http://schemas.microsoft.com/office/drawing/2014/main" id="{AC0365F5-5AFA-4D46-B963-0A7755A4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Illustrative constant power assumptions, not measurements. Same useful output is assumed; faster completion uses 20% more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energy here.</a:t>
            </a:r>
          </a:p>
        </p:txBody>
      </p:sp>
      <p:sp>
        <p:nvSpPr>
          <p:cNvPr id="5" name="E = ∫ P(t) dt     •     Carbon ≈ Σ Einterval × carbon i">
            <a:extLst xmlns:a="http://schemas.openxmlformats.org/drawingml/2006/main">
              <a:ext uri="{FF2B5EF4-FFF2-40B4-BE49-F238E27FC236}">
                <a16:creationId xmlns:a16="http://schemas.microsoft.com/office/drawing/2014/main" id="{B7EBEF4D-18FC-49E1-8F6D-76CF9E49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 = ∫ P(t) dt • Carbon ≈ Σ Einterval × carbon intensity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8504E-6501-4503-98C8-D0262F85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7" name="Sources: [8] Strubell et al. 2019: cost and equity; [10">
            <a:extLst xmlns:a="http://schemas.openxmlformats.org/drawingml/2006/main">
              <a:ext uri="{FF2B5EF4-FFF2-40B4-BE49-F238E27FC236}">
                <a16:creationId xmlns:a16="http://schemas.microsoft.com/office/drawing/2014/main" id="{44B3C775-D483-49DD-B29C-AE1301AE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[8] Strubell et al. 2019: cost and equity; [10] Schwartz et al. 2019: efficiency reporting; [2] NVIDIA CUDA Best Practices</a:t>
            </a:r>
          </a:p>
        </p:txBody>
      </p:sp>
      <p:sp>
        <p:nvSpPr>
          <p:cNvPr id="8" name="26 / 40">
            <a:extLst xmlns:a="http://schemas.openxmlformats.org/drawingml/2006/main">
              <a:ext uri="{FF2B5EF4-FFF2-40B4-BE49-F238E27FC236}">
                <a16:creationId xmlns:a16="http://schemas.microsoft.com/office/drawing/2014/main" id="{CE856609-7B14-49C8-88DC-3331C627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26 / 40</a:t>
            </a:r>
          </a:p>
        </p:txBody>
      </p:sp>
    </p:spTree>
    <p:extLst>
      <p:ext uri="{BB962C8B-B14F-4D97-AF65-F5344CB8AC3E}">
        <p14:creationId xmlns:p14="http://schemas.microsoft.com/office/powerpoint/2010/main" val="52919410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3">
            <a:extLst xmlns:a="http://schemas.openxmlformats.org/drawingml/2006/main">
              <a:ext uri="{FF2B5EF4-FFF2-40B4-BE49-F238E27FC236}">
                <a16:creationId xmlns:a16="http://schemas.microsoft.com/office/drawing/2014/main" id="{963964F3-0DFE-43DB-B19A-77B130CE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B3</a:t>
            </a:r>
          </a:p>
        </p:txBody>
      </p:sp>
      <p:sp>
        <p:nvSpPr>
          <p:cNvPr id="2" name="Environmental accounting and evidence limits">
            <a:extLst xmlns:a="http://schemas.openxmlformats.org/drawingml/2006/main">
              <a:ext uri="{FF2B5EF4-FFF2-40B4-BE49-F238E27FC236}">
                <a16:creationId xmlns:a16="http://schemas.microsoft.com/office/drawing/2014/main" id="{8D3CE144-6EFF-40AE-9802-185953B9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Environmental accounting and evidence limits</a:t>
            </a:r>
          </a:p>
        </p:txBody>
      </p:sp>
      <p:sp>
        <p:nvSpPr>
          <p:cNvPr id="3" name="Define what is counted">
            <a:extLst xmlns:a="http://schemas.openxmlformats.org/drawingml/2006/main">
              <a:ext uri="{FF2B5EF4-FFF2-40B4-BE49-F238E27FC236}">
                <a16:creationId xmlns:a16="http://schemas.microsoft.com/office/drawing/2014/main" id="{AF8297FC-B903-4629-8A6C-59FC217C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Define what is counted</a:t>
            </a:r>
          </a:p>
        </p:txBody>
      </p:sp>
      <p:sp>
        <p:nvSpPr>
          <p:cNvPr id="4" name="Energy (kWh) integrates power (kW) over hours. Operatio">
            <a:extLst xmlns:a="http://schemas.openxmlformats.org/drawingml/2006/main">
              <a:ext uri="{FF2B5EF4-FFF2-40B4-BE49-F238E27FC236}">
                <a16:creationId xmlns:a16="http://schemas.microsoft.com/office/drawing/2014/main" id="{F5F1619C-D491-48F4-AAF5-7C6D63BA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(kWh) integrates power (kW) over hours.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Operational emissions ≈ Σ energy in each interval ×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that interval’s carbon intensity (kg CO₂e/kWh).</a:t>
            </a:r>
          </a:p>
        </p:txBody>
      </p:sp>
      <p:sp>
        <p:nvSpPr>
          <p:cNvPr id="5" name="Report accelerators, host CPUs, storage/networking and ">
            <a:extLst xmlns:a="http://schemas.openxmlformats.org/drawingml/2006/main">
              <a:ext uri="{FF2B5EF4-FFF2-40B4-BE49-F238E27FC236}">
                <a16:creationId xmlns:a16="http://schemas.microsoft.com/office/drawing/2014/main" id="{E54068AD-7DDE-4212-9B88-993B26F5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accelerators, host CPUs, storage/networking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allocated cooling overhead; include failed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repeated tuning when evaluating a project.</a:t>
            </a:r>
          </a:p>
        </p:txBody>
      </p:sp>
      <p:sp>
        <p:nvSpPr>
          <p:cNvPr id="6" name="Hardware manufacture and disposal are embodied impacts ">
            <a:extLst xmlns:a="http://schemas.openxmlformats.org/drawingml/2006/main">
              <a:ext uri="{FF2B5EF4-FFF2-40B4-BE49-F238E27FC236}">
                <a16:creationId xmlns:a16="http://schemas.microsoft.com/office/drawing/2014/main" id="{2FAD8C5C-E1C6-448F-8837-50640159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Hardware manufacture and disposal are embodied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impacts beyond operational electricity.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withdrawal and water consumption are different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measures.</a:t>
            </a:r>
          </a:p>
        </p:txBody>
      </p:sp>
      <p:sp>
        <p:nvSpPr>
          <p:cNvPr id="7" name="Compare the evidence">
            <a:extLst xmlns:a="http://schemas.openxmlformats.org/drawingml/2006/main">
              <a:ext uri="{FF2B5EF4-FFF2-40B4-BE49-F238E27FC236}">
                <a16:creationId xmlns:a16="http://schemas.microsoft.com/office/drawing/2014/main" id="{530658A0-913A-4461-A733-C1CF2C5A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Compare the evidence</a:t>
            </a:r>
          </a:p>
        </p:txBody>
      </p:sp>
      <p:sp>
        <p:nvSpPr>
          <p:cNvPr id="8" name="Strubell et al. quantify costs for selected historical ">
            <a:extLst xmlns:a="http://schemas.openxmlformats.org/drawingml/2006/main">
              <a:ext uri="{FF2B5EF4-FFF2-40B4-BE49-F238E27FC236}">
                <a16:creationId xmlns:a16="http://schemas.microsoft.com/office/drawing/2014/main" id="{E34CD8A5-09C3-4FAB-9B39-3F073FD9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Strubell et al. quantify costs for selected historical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NLP training/development workloads; those values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not universal 2026 model footprints.</a:t>
            </a:r>
          </a:p>
        </p:txBody>
      </p:sp>
      <p:sp>
        <p:nvSpPr>
          <p:cNvPr id="9" name="Green AI motivates reporting efficiency alongside accur">
            <a:extLst xmlns:a="http://schemas.openxmlformats.org/drawingml/2006/main">
              <a:ext uri="{FF2B5EF4-FFF2-40B4-BE49-F238E27FC236}">
                <a16:creationId xmlns:a16="http://schemas.microsoft.com/office/drawing/2014/main" id="{4264D75C-4D14-4FA6-8BFF-B0F4261D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Green AI motivates reporting efficiency alongside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accuracy; Li et al. show why water varies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place/time. Carbon alone misses local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pressures.</a:t>
            </a:r>
          </a:p>
        </p:txBody>
      </p:sp>
      <p:sp>
        <p:nvSpPr>
          <p:cNvPr id="10" name="IEA sector totals provide context, not causal attributi">
            <a:extLst xmlns:a="http://schemas.openxmlformats.org/drawingml/2006/main">
              <a:ext uri="{FF2B5EF4-FFF2-40B4-BE49-F238E27FC236}">
                <a16:creationId xmlns:a16="http://schemas.microsoft.com/office/drawing/2014/main" id="{A4F706DD-B6B6-4725-B6B0-967C8B55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sector totals provide context, not causal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attribution to one model. Forecasts depend 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 and infrastructure assumptions; local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grid/cooling effects differ by site.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42727-CE68-4EC1-ADA4-8127E259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054B9-A0F0-4D17-8A9B-9E7116C2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6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85961615-C1F6-4363-8D68-ACE6F486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IEA 2026: sector estimates and projection; [8] Strubell et al. 2019: cost and equity; [9] Li et al. 2025 revision: water impacts; [10]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14" name="27 / 40">
            <a:extLst xmlns:a="http://schemas.openxmlformats.org/drawingml/2006/main">
              <a:ext uri="{FF2B5EF4-FFF2-40B4-BE49-F238E27FC236}">
                <a16:creationId xmlns:a16="http://schemas.microsoft.com/office/drawing/2014/main" id="{287CCF2A-9230-4828-B16A-01F51E1E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27 / 40</a:t>
            </a:r>
          </a:p>
        </p:txBody>
      </p:sp>
    </p:spTree>
    <p:extLst>
      <p:ext uri="{BB962C8B-B14F-4D97-AF65-F5344CB8AC3E}">
        <p14:creationId xmlns:p14="http://schemas.microsoft.com/office/powerpoint/2010/main" val="1774368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4 • Proposed cluster policy">
            <a:extLst xmlns:a="http://schemas.openxmlformats.org/drawingml/2006/main">
              <a:ext uri="{FF2B5EF4-FFF2-40B4-BE49-F238E27FC236}">
                <a16:creationId xmlns:a16="http://schemas.microsoft.com/office/drawing/2014/main" id="{4B0CE4A7-05BA-4A61-9DB5-B7A09FCF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B4 • Proposed cluster policy</a:t>
            </a:r>
          </a:p>
        </p:txBody>
      </p:sp>
      <p:sp>
        <p:nvSpPr>
          <p:cNvPr id="2" name="Governance controls and remaining risks">
            <a:extLst xmlns:a="http://schemas.openxmlformats.org/drawingml/2006/main">
              <a:ext uri="{FF2B5EF4-FFF2-40B4-BE49-F238E27FC236}">
                <a16:creationId xmlns:a16="http://schemas.microsoft.com/office/drawing/2014/main" id="{AB057212-7FF1-4CB8-9066-D3E43F1D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Governance controls and remaining risks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65686-D5D3-4BAC-99C6-0E3F652E30C6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 / stakeholder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control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Residual limitation / owner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Dataset misuse / data subjects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Provenance, permission checks, retention limits and access logs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licence alone may not justify every use; data steward reviews purpose.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Gradient/checkpoint exposure / participants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Least privilege, tenant isolation, protected transport and secure checkpoint storage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 endpoints can still see sensitive values; security owner models insider risk.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Unsafe dual use / affected public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Authorized-use review, restricted access where justified and review of deployment risks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Controls cannot prevent every misuse; accountable owner weighs benefits/restrictions.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Distributed replicas / operators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copies, deletion obligations and incident response across workers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Replication increases the number of assets to protect; operator audits recovery.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These are proposed mitigations informed by research/fra">
            <a:extLst xmlns:a="http://schemas.openxmlformats.org/drawingml/2006/main">
              <a:ext uri="{FF2B5EF4-FFF2-40B4-BE49-F238E27FC236}">
                <a16:creationId xmlns:a16="http://schemas.microsoft.com/office/drawing/2014/main" id="{65B56D94-9C00-4C63-A7E6-3E67F2FF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These are proposed mitigations informed by research/frameworks, not a proof of privacy or a compliance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BAFDA-FC1D-4B2A-914A-12C0BD4C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1] Zhu et al. 2019: exposed gradients; [15] ">
            <a:extLst xmlns:a="http://schemas.openxmlformats.org/drawingml/2006/main">
              <a:ext uri="{FF2B5EF4-FFF2-40B4-BE49-F238E27FC236}">
                <a16:creationId xmlns:a16="http://schemas.microsoft.com/office/drawing/2014/main" id="{F8420AB4-C866-4EE8-856C-86543C55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[11] Zhu et al. 2019: exposed gradients; [15] OECD: rights, fairness and accountability; [16] NIST: Govern, Map, Measure, Manage</a:t>
            </a:r>
          </a:p>
        </p:txBody>
      </p:sp>
      <p:sp>
        <p:nvSpPr>
          <p:cNvPr id="7" name="28 / 40">
            <a:extLst xmlns:a="http://schemas.openxmlformats.org/drawingml/2006/main">
              <a:ext uri="{FF2B5EF4-FFF2-40B4-BE49-F238E27FC236}">
                <a16:creationId xmlns:a16="http://schemas.microsoft.com/office/drawing/2014/main" id="{4377F137-AA0B-45AA-B0E9-2B986F85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28 / 40</a:t>
            </a:r>
          </a:p>
        </p:txBody>
      </p:sp>
    </p:spTree>
    <p:extLst>
      <p:ext uri="{BB962C8B-B14F-4D97-AF65-F5344CB8AC3E}">
        <p14:creationId xmlns:p14="http://schemas.microsoft.com/office/powerpoint/2010/main" val="179891633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5 • Proposed example">
            <a:extLst xmlns:a="http://schemas.openxmlformats.org/drawingml/2006/main">
              <a:ext uri="{FF2B5EF4-FFF2-40B4-BE49-F238E27FC236}">
                <a16:creationId xmlns:a16="http://schemas.microsoft.com/office/drawing/2014/main" id="{4098DE01-994C-4C3B-A77F-5DCAEF35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B5 • Proposed example</a:t>
            </a:r>
          </a:p>
        </p:txBody>
      </p:sp>
      <p:sp>
        <p:nvSpPr>
          <p:cNvPr id="2" name="Fairness evaluation with large-scale compute">
            <a:extLst xmlns:a="http://schemas.openxmlformats.org/drawingml/2006/main">
              <a:ext uri="{FF2B5EF4-FFF2-40B4-BE49-F238E27FC236}">
                <a16:creationId xmlns:a16="http://schemas.microsoft.com/office/drawing/2014/main" id="{76C3EA6C-5C83-49AD-9EF7-609D6797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Fairness evaluation with large-scale compute</a:t>
            </a:r>
          </a:p>
        </p:txBody>
      </p:sp>
      <p:sp>
        <p:nvSpPr>
          <p:cNvPr id="3" name="Compute connection">
            <a:extLst xmlns:a="http://schemas.openxmlformats.org/drawingml/2006/main">
              <a:ext uri="{FF2B5EF4-FFF2-40B4-BE49-F238E27FC236}">
                <a16:creationId xmlns:a16="http://schemas.microsoft.com/office/drawing/2014/main" id="{AAA3C7DB-0F64-4C5D-B9BA-6BD042B4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Compute connection</a:t>
            </a:r>
          </a:p>
        </p:txBody>
      </p:sp>
      <p:sp>
        <p:nvSpPr>
          <p:cNvPr id="4" name="An illustrative multilingual LLM service may have unequ">
            <a:extLst xmlns:a="http://schemas.openxmlformats.org/drawingml/2006/main">
              <a:ext uri="{FF2B5EF4-FFF2-40B4-BE49-F238E27FC236}">
                <a16:creationId xmlns:a16="http://schemas.microsoft.com/office/drawing/2014/main" id="{17D2441B-D42A-412A-BF02-4E49544D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 illustrative multilingual LLM service may have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performance or stereotyped outputs across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language groups. Identify the actual harm before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choosing a metric.</a:t>
            </a:r>
          </a:p>
        </p:txBody>
      </p:sp>
      <p:sp>
        <p:nvSpPr>
          <p:cNvPr id="5" name="A cluster enables larger datasets and repeated training">
            <a:extLst xmlns:a="http://schemas.openxmlformats.org/drawingml/2006/main">
              <a:ext uri="{FF2B5EF4-FFF2-40B4-BE49-F238E27FC236}">
                <a16:creationId xmlns:a16="http://schemas.microsoft.com/office/drawing/2014/main" id="{0DE09B9B-DD9F-4EF9-9131-FAC8478B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cluster enables larger datasets and repeated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training, but neither data volume nor GPU count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guarantees representative data or equitable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outcomes.</a:t>
            </a:r>
          </a:p>
        </p:txBody>
      </p:sp>
      <p:sp>
        <p:nvSpPr>
          <p:cNvPr id="6" name="Reserve evaluation compute for affected groups; documen">
            <a:extLst xmlns:a="http://schemas.openxmlformats.org/drawingml/2006/main">
              <a:ext uri="{FF2B5EF4-FFF2-40B4-BE49-F238E27FC236}">
                <a16:creationId xmlns:a16="http://schemas.microsoft.com/office/drawing/2014/main" id="{935DD410-A53A-48F2-9716-330B455B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Reserve evaluation compute for affected groups;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document dataset coverage and compare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 error or harmful-output rates using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task-appropriate test.</a:t>
            </a:r>
          </a:p>
        </p:txBody>
      </p:sp>
      <p:sp>
        <p:nvSpPr>
          <p:cNvPr id="7" name="Evidence and decision">
            <a:extLst xmlns:a="http://schemas.openxmlformats.org/drawingml/2006/main">
              <a:ext uri="{FF2B5EF4-FFF2-40B4-BE49-F238E27FC236}">
                <a16:creationId xmlns:a16="http://schemas.microsoft.com/office/drawing/2014/main" id="{02E25EBC-7732-42A3-8B9C-E06AD2C2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Evidence and decision</a:t>
            </a:r>
          </a:p>
        </p:txBody>
      </p:sp>
      <p:sp>
        <p:nvSpPr>
          <p:cNvPr id="8" name="Gallegos et al. separate metrics, evaluation datasets a">
            <a:extLst xmlns:a="http://schemas.openxmlformats.org/drawingml/2006/main">
              <a:ext uri="{FF2B5EF4-FFF2-40B4-BE49-F238E27FC236}">
                <a16:creationId xmlns:a16="http://schemas.microsoft.com/office/drawing/2014/main" id="{6B6F9F77-B9C5-4F11-AA53-0BE68B7C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separate metrics, evaluation datasets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mitigation stages. A single aggregate accuracy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score can hide a relevant subgroup harm.</a:t>
            </a:r>
          </a:p>
        </p:txBody>
      </p:sp>
      <p:sp>
        <p:nvSpPr>
          <p:cNvPr id="9" name="Specify justified acceptance criteria before training; ">
            <a:extLst xmlns:a="http://schemas.openxmlformats.org/drawingml/2006/main">
              <a:ext uri="{FF2B5EF4-FFF2-40B4-BE49-F238E27FC236}">
                <a16:creationId xmlns:a16="http://schemas.microsoft.com/office/drawing/2014/main" id="{3B618789-BAFA-46C8-8ED0-FE61E552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Specify justified acceptance criteria before training;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uncertainty and small-group sample limits.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Mitigate, reevaluate, and document unresolved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harms.</a:t>
            </a:r>
          </a:p>
        </p:txBody>
      </p:sp>
      <p:sp>
        <p:nvSpPr>
          <p:cNvPr id="10" name="Security and fairness have different objectives: encryp">
            <a:extLst xmlns:a="http://schemas.openxmlformats.org/drawingml/2006/main">
              <a:ext uri="{FF2B5EF4-FFF2-40B4-BE49-F238E27FC236}">
                <a16:creationId xmlns:a16="http://schemas.microsoft.com/office/drawing/2014/main" id="{C3AEE252-D155-44CD-82B5-796060D1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 and fairness have different objectives: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encrypted gradients do not establish fair outputs.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source supports model-bias analysis, not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claim that HPC itself causes bias.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2C4C6-798B-4C44-AB5B-FBFE5DAC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E63CE7-E51B-4709-8673-CC3FE633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2] Gallegos et al. 2024: fairness evaluation">
            <a:extLst xmlns:a="http://schemas.openxmlformats.org/drawingml/2006/main">
              <a:ext uri="{FF2B5EF4-FFF2-40B4-BE49-F238E27FC236}">
                <a16:creationId xmlns:a16="http://schemas.microsoft.com/office/drawing/2014/main" id="{80FE2DC0-DCB1-47CF-8AAB-A7C9A18F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[12] Gallegos et al. 2024: fairness evaluation; [15] OECD: rights, fairness and accountability; [16] NIST: Govern, Map, Measure, Manage</a:t>
            </a:r>
          </a:p>
        </p:txBody>
      </p:sp>
      <p:sp>
        <p:nvSpPr>
          <p:cNvPr id="14" name="29 / 40">
            <a:extLst xmlns:a="http://schemas.openxmlformats.org/drawingml/2006/main">
              <a:ext uri="{FF2B5EF4-FFF2-40B4-BE49-F238E27FC236}">
                <a16:creationId xmlns:a16="http://schemas.microsoft.com/office/drawing/2014/main" id="{07D2B8B1-1AE7-447F-86DA-D4245D95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29 / 40</a:t>
            </a:r>
          </a:p>
        </p:txBody>
      </p:sp>
    </p:spTree>
    <p:extLst>
      <p:ext uri="{BB962C8B-B14F-4D97-AF65-F5344CB8AC3E}">
        <p14:creationId xmlns:p14="http://schemas.microsoft.com/office/powerpoint/2010/main" val="55178536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6">
            <a:extLst xmlns:a="http://schemas.openxmlformats.org/drawingml/2006/main">
              <a:ext uri="{FF2B5EF4-FFF2-40B4-BE49-F238E27FC236}">
                <a16:creationId xmlns:a16="http://schemas.microsoft.com/office/drawing/2014/main" id="{10E513E7-D345-4B90-839A-2F89F407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B6</a:t>
            </a:r>
          </a:p>
        </p:txBody>
      </p:sp>
      <p:sp>
        <p:nvSpPr>
          <p:cNvPr id="2" name="Access research and allocation choices">
            <a:extLst xmlns:a="http://schemas.openxmlformats.org/drawingml/2006/main">
              <a:ext uri="{FF2B5EF4-FFF2-40B4-BE49-F238E27FC236}">
                <a16:creationId xmlns:a16="http://schemas.microsoft.com/office/drawing/2014/main" id="{35B841BD-F7F7-4932-BB3D-43281486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research and allocation choices</a:t>
            </a:r>
          </a:p>
        </p:txBody>
      </p:sp>
      <p:sp>
        <p:nvSpPr>
          <p:cNvPr id="3" name="Research comparison">
            <a:extLst xmlns:a="http://schemas.openxmlformats.org/drawingml/2006/main">
              <a:ext uri="{FF2B5EF4-FFF2-40B4-BE49-F238E27FC236}">
                <a16:creationId xmlns:a16="http://schemas.microsoft.com/office/drawing/2014/main" id="{8C380CA6-17A2-4FD7-B529-93017DAD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Research comparison</a:t>
            </a:r>
          </a:p>
        </p:txBody>
      </p:sp>
      <p:sp>
        <p:nvSpPr>
          <p:cNvPr id="4" name="Ahmed and Wahed study historical conference participati">
            <a:extLst xmlns:a="http://schemas.openxmlformats.org/drawingml/2006/main">
              <a:ext uri="{FF2B5EF4-FFF2-40B4-BE49-F238E27FC236}">
                <a16:creationId xmlns:a16="http://schemas.microsoft.com/office/drawing/2014/main" id="{BEC9058D-A75B-460E-A0C1-27EF43DF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Ahmed and Wahed study historical conference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participation and a compute divide. Strubell et al.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financial/resource barriers in selected NLP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workloads.</a:t>
            </a:r>
          </a:p>
        </p:txBody>
      </p:sp>
      <p:sp>
        <p:nvSpPr>
          <p:cNvPr id="5" name="The first concerns institutional participation; the sec">
            <a:extLst xmlns:a="http://schemas.openxmlformats.org/drawingml/2006/main">
              <a:ext uri="{FF2B5EF4-FFF2-40B4-BE49-F238E27FC236}">
                <a16:creationId xmlns:a16="http://schemas.microsoft.com/office/drawing/2014/main" id="{0FB6A0DB-6B38-40C2-9417-B98949FF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first concerns institutional participation;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second concerns workload cost. Together they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motivate access support, but neither is a current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worldwide access census.</a:t>
            </a:r>
          </a:p>
        </p:txBody>
      </p:sp>
      <p:sp>
        <p:nvSpPr>
          <p:cNvPr id="6" name="NSF’s March 2026 participation figures describe a US sh">
            <a:extLst xmlns:a="http://schemas.openxmlformats.org/drawingml/2006/main">
              <a:ext uri="{FF2B5EF4-FFF2-40B4-BE49-F238E27FC236}">
                <a16:creationId xmlns:a16="http://schemas.microsoft.com/office/drawing/2014/main" id="{33F8834E-DEB2-476D-B67D-749A78DF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NSF’s March 2026 participation figures describe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 shared-resource response. Programme reach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proof of equal allocation, global access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eliminated inequality.</a:t>
            </a:r>
          </a:p>
        </p:txBody>
      </p:sp>
      <p:sp>
        <p:nvSpPr>
          <p:cNvPr id="7" name="Proposed shared-cluster policy">
            <a:extLst xmlns:a="http://schemas.openxmlformats.org/drawingml/2006/main">
              <a:ext uri="{FF2B5EF4-FFF2-40B4-BE49-F238E27FC236}">
                <a16:creationId xmlns:a16="http://schemas.microsoft.com/office/drawing/2014/main" id="{96CFACCB-C772-47CC-930B-EAA46F6A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Proposed shared-cluster policy</a:t>
            </a:r>
          </a:p>
        </p:txBody>
      </p:sp>
      <p:sp>
        <p:nvSpPr>
          <p:cNvPr id="8" name="Publish eligibility, GPU-hour limits and allocation cri">
            <a:extLst xmlns:a="http://schemas.openxmlformats.org/drawingml/2006/main">
              <a:ext uri="{FF2B5EF4-FFF2-40B4-BE49-F238E27FC236}">
                <a16:creationId xmlns:a16="http://schemas.microsoft.com/office/drawing/2014/main" id="{AB406D02-D7B6-47BC-9074-06BEFFCE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Publish eligibility, GPU-hour limits and allocation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criteria; reserve some capacity for teaching, smaller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institutions and independent replication.</a:t>
            </a:r>
          </a:p>
        </p:txBody>
      </p:sp>
      <p:sp>
        <p:nvSpPr>
          <p:cNvPr id="9" name="Provide application support and training; allow appeals">
            <a:extLst xmlns:a="http://schemas.openxmlformats.org/drawingml/2006/main">
              <a:ext uri="{FF2B5EF4-FFF2-40B4-BE49-F238E27FC236}">
                <a16:creationId xmlns:a16="http://schemas.microsoft.com/office/drawing/2014/main" id="{EADBAF3F-7E5A-47F1-A9A4-81704E50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Provide application support and training; allow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appeals. Track applicant-to-award outcomes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waiting times across institution groups with privacy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10" name="Trade-offs: reservations may reduce immediate utilizati">
            <a:extLst xmlns:a="http://schemas.openxmlformats.org/drawingml/2006/main">
              <a:ext uri="{FF2B5EF4-FFF2-40B4-BE49-F238E27FC236}">
                <a16:creationId xmlns:a16="http://schemas.microsoft.com/office/drawing/2014/main" id="{4B5913F0-DABC-4949-8A68-7579A9A4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396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Trade-offs: reservations may reduce immediate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utilization; queueing can delay urgent work;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unrestricted access can conflict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security/budgets. Prevent repeated deferral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resource starvation.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56638-3E7E-4FCF-92B7-0F58DAF7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955AE-102F-4242-9447-4CF2A131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7] NSF 2026: US programme reach; [8] Strubell">
            <a:extLst xmlns:a="http://schemas.openxmlformats.org/drawingml/2006/main">
              <a:ext uri="{FF2B5EF4-FFF2-40B4-BE49-F238E27FC236}">
                <a16:creationId xmlns:a16="http://schemas.microsoft.com/office/drawing/2014/main" id="{01CF1308-D416-47D4-A1FF-CC06CDFD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[7] NSF 2026: US programme reach; [8] Strubell et al. 2019: cost and equity; [13] Ahmed and Wahed 2020: compute divide</a:t>
            </a:r>
          </a:p>
        </p:txBody>
      </p:sp>
      <p:sp>
        <p:nvSpPr>
          <p:cNvPr id="14" name="30 / 40">
            <a:extLst xmlns:a="http://schemas.openxmlformats.org/drawingml/2006/main">
              <a:ext uri="{FF2B5EF4-FFF2-40B4-BE49-F238E27FC236}">
                <a16:creationId xmlns:a16="http://schemas.microsoft.com/office/drawing/2014/main" id="{BAAE3533-2301-4409-9446-11B6AE1B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30 / 40</a:t>
            </a:r>
          </a:p>
        </p:txBody>
      </p:sp>
    </p:spTree>
    <p:extLst>
      <p:ext uri="{BB962C8B-B14F-4D97-AF65-F5344CB8AC3E}">
        <p14:creationId xmlns:p14="http://schemas.microsoft.com/office/powerpoint/2010/main" val="49103658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7 • Proposed application">
            <a:extLst xmlns:a="http://schemas.openxmlformats.org/drawingml/2006/main">
              <a:ext uri="{FF2B5EF4-FFF2-40B4-BE49-F238E27FC236}">
                <a16:creationId xmlns:a16="http://schemas.microsoft.com/office/drawing/2014/main" id="{44851B1B-C8E3-44C7-A162-D9730FEC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B7 • Proposed application</a:t>
            </a:r>
          </a:p>
        </p:txBody>
      </p:sp>
      <p:sp>
        <p:nvSpPr>
          <p:cNvPr id="2" name="Framework roles and accountable decisions">
            <a:extLst xmlns:a="http://schemas.openxmlformats.org/drawingml/2006/main">
              <a:ext uri="{FF2B5EF4-FFF2-40B4-BE49-F238E27FC236}">
                <a16:creationId xmlns:a16="http://schemas.microsoft.com/office/drawing/2014/main" id="{403BA011-2D9A-4838-ADBF-CC61F7AD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Framework roles and accountable decisions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0671B-2D7F-42FE-B12E-0FBAFB6F5DA9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Function / 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Concrete action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/ responsible role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Govern / OECD values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ownership, data rules, access policy and escalation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Accountable owner accepts obligations and review process.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Map /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Define use, stakeholders, misuse risks, deadline and alternatives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Data/risk stewards establish the application-specific scope.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 / Green AI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energy per useful outcome, model quality, group harms and scaling efficiency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Operator/evaluator provides evidence and uncertainty.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Manage / scheduling research +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Approve, defer, reduce scale or redesign; enforce safeguards and review outcomes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Owner authorizes exceptions or rejects unresolved risks.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Our proposal combines measurement, scheduling and risk ">
            <a:extLst xmlns:a="http://schemas.openxmlformats.org/drawingml/2006/main">
              <a:ext uri="{FF2B5EF4-FFF2-40B4-BE49-F238E27FC236}">
                <a16:creationId xmlns:a16="http://schemas.microsoft.com/office/drawing/2014/main" id="{E77960D7-F3A3-4242-85FE-20BE65DF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Our proposal combines measurement, scheduling and risk management. NIST Govern spans the other functions; risk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management is iterative, not a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89E2C-A2F4-466A-9E2D-42B1456B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0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57C09C02-85AB-410F-9575-FE7A0D95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Schwartz et al. 2019: efficiency reporting; [14] Radovanovic et al. 2021: flexible scheduling; [15] OECD: rights, fairness and accountability; [16]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7" name="31 / 40">
            <a:extLst xmlns:a="http://schemas.openxmlformats.org/drawingml/2006/main">
              <a:ext uri="{FF2B5EF4-FFF2-40B4-BE49-F238E27FC236}">
                <a16:creationId xmlns:a16="http://schemas.microsoft.com/office/drawing/2014/main" id="{5A47DC86-BA93-4614-8154-6C2D5E36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31 / 40</a:t>
            </a:r>
          </a:p>
        </p:txBody>
      </p:sp>
    </p:spTree>
    <p:extLst>
      <p:ext uri="{BB962C8B-B14F-4D97-AF65-F5344CB8AC3E}">
        <p14:creationId xmlns:p14="http://schemas.microsoft.com/office/powerpoint/2010/main" val="104328653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F2F76-510D-49BC-8CB2-4A8456E7BC8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48550" y="2314575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F0613-E0C7-491A-AD6C-9BC412E2B5A8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81350" y="23145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6" name="Appendix B8 • Illustrative policy">
            <a:extLst xmlns:a="http://schemas.openxmlformats.org/drawingml/2006/main">
              <a:ext uri="{FF2B5EF4-FFF2-40B4-BE49-F238E27FC236}">
                <a16:creationId xmlns:a16="http://schemas.microsoft.com/office/drawing/2014/main" id="{7D2F94E8-F911-4C09-9D2C-4E3FD00E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B8 • Illustrative policy</a:t>
            </a:r>
          </a:p>
        </p:txBody>
      </p:sp>
      <p:sp>
        <p:nvSpPr>
          <p:cNvPr id="2" name="Carbon-aware scheduling under constraints">
            <a:extLst xmlns:a="http://schemas.openxmlformats.org/drawingml/2006/main">
              <a:ext uri="{FF2B5EF4-FFF2-40B4-BE49-F238E27FC236}">
                <a16:creationId xmlns:a16="http://schemas.microsoft.com/office/drawing/2014/main" id="{AFC1B1F5-8B09-4CE5-AD2A-B70DE08A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Carbon-aware scheduling under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79D17-3AEB-4089-A7F4-FE6243D4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E7BC3-CD2A-4847-80CA-0AAE7A17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38325"/>
            <a:ext cx="2933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Lower-carbon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forecast window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77307-1ED2-4C78-B9E7-4FD1C9BC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86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Complete before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8" name="Research [14] demonstrates shifting temporally flexible">
            <a:extLst xmlns:a="http://schemas.openxmlformats.org/drawingml/2006/main">
              <a:ext uri="{FF2B5EF4-FFF2-40B4-BE49-F238E27FC236}">
                <a16:creationId xmlns:a16="http://schemas.microsoft.com/office/drawing/2014/main" id="{E2DC837B-465F-447A-AFAD-AFA3B437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[14] demonstrates shifting temporally flexible workloads using forecasts while preserving daily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capacity. It does not show every urgent GPU job can wait.</a:t>
            </a:r>
          </a:p>
        </p:txBody>
      </p:sp>
      <p:sp>
        <p:nvSpPr>
          <p:cNvPr id="9" name="Proposed rule: defer only if deadline, energy budget, w">
            <a:extLst xmlns:a="http://schemas.openxmlformats.org/drawingml/2006/main">
              <a:ext uri="{FF2B5EF4-FFF2-40B4-BE49-F238E27FC236}">
                <a16:creationId xmlns:a16="http://schemas.microsoft.com/office/drawing/2014/main" id="{B1B12707-23E9-409E-AEE5-87FE5352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rule: defer only if deadline, energy budget, water/site limits and equitable waiting-time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commitments remain satisfied; record exceptions.</a:t>
            </a:r>
          </a:p>
        </p:txBody>
      </p:sp>
      <p:sp>
        <p:nvSpPr>
          <p:cNvPr id="10" name="No feasible window: reduce scale, redesign or approve a">
            <a:extLst xmlns:a="http://schemas.openxmlformats.org/drawingml/2006/main">
              <a:ext uri="{FF2B5EF4-FFF2-40B4-BE49-F238E27FC236}">
                <a16:creationId xmlns:a16="http://schemas.microsoft.com/office/drawing/2014/main" id="{F038BF8D-518A-49F7-B4E3-144B0822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feasible window: reduce scale, redesign or approve a justified urgent exception. Prevent indefinite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deferral. Data residency and transfer costs constrain moving work between sites.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3068B-F182-43F7-95FA-9BBCEAB9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2" name="Flexible jobs may move; urgent jobs, water constraints ">
            <a:extLst xmlns:a="http://schemas.openxmlformats.org/drawingml/2006/main">
              <a:ext uri="{FF2B5EF4-FFF2-40B4-BE49-F238E27FC236}">
                <a16:creationId xmlns:a16="http://schemas.microsoft.com/office/drawing/2014/main" id="{0E68E3EC-334D-45FF-84F6-7CCF58C8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jobs may move; urgent jobs, water constraints and access commitments can override deferral.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B2B61A-85D3-406D-A3AA-E0F65427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4" name="Sources: [9] Li et al. 2025 revision: water impacts; [1">
            <a:extLst xmlns:a="http://schemas.openxmlformats.org/drawingml/2006/main">
              <a:ext uri="{FF2B5EF4-FFF2-40B4-BE49-F238E27FC236}">
                <a16:creationId xmlns:a16="http://schemas.microsoft.com/office/drawing/2014/main" id="{790A153D-408D-43F0-9C1A-9F94EAF7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Li et al. 2025 revision: water impacts; [14] Radovanovic et al. 2021: flexible scheduling; [16] NIST: Govern, Map, Measure, Manage</a:t>
            </a:r>
          </a:p>
        </p:txBody>
      </p:sp>
      <p:sp>
        <p:nvSpPr>
          <p:cNvPr id="15" name="32 / 40">
            <a:extLst xmlns:a="http://schemas.openxmlformats.org/drawingml/2006/main">
              <a:ext uri="{FF2B5EF4-FFF2-40B4-BE49-F238E27FC236}">
                <a16:creationId xmlns:a16="http://schemas.microsoft.com/office/drawing/2014/main" id="{D28767BF-65EA-4BDD-9DAA-F618303E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32 / 40</a:t>
            </a:r>
          </a:p>
        </p:txBody>
      </p:sp>
    </p:spTree>
    <p:extLst>
      <p:ext uri="{BB962C8B-B14F-4D97-AF65-F5344CB8AC3E}">
        <p14:creationId xmlns:p14="http://schemas.microsoft.com/office/powerpoint/2010/main" val="183656053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9">
            <a:extLst xmlns:a="http://schemas.openxmlformats.org/drawingml/2006/main">
              <a:ext uri="{FF2B5EF4-FFF2-40B4-BE49-F238E27FC236}">
                <a16:creationId xmlns:a16="http://schemas.microsoft.com/office/drawing/2014/main" id="{74785A7A-8E67-4B28-8850-417ECC93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B9</a:t>
            </a:r>
          </a:p>
        </p:txBody>
      </p:sp>
      <p:sp>
        <p:nvSpPr>
          <p:cNvPr id="2" name="Research comparisons across all four topics">
            <a:extLst xmlns:a="http://schemas.openxmlformats.org/drawingml/2006/main">
              <a:ext uri="{FF2B5EF4-FFF2-40B4-BE49-F238E27FC236}">
                <a16:creationId xmlns:a16="http://schemas.microsoft.com/office/drawing/2014/main" id="{5A0EBC1F-6205-4C01-9D93-FD68B1B4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comparisons across all four topics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91735-7518-4913-8C6F-EF106BE8970B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Topic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 / limit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(a) Environment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Cost/efficiency research [8,10] versus water-footprint research [9]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Useful-output efficiency and local resource pressure need different measures.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(b) Governance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 reconstruction [11] versus fairness evaluation survey [12]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exposure and unequal outcomes are distinct failure mechanisms.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(c)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Institutional participation [13] versus workload cost/equity [8]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Concentration and financial barriers reinforce a concern; scopes differ.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(d) Frameworks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Efficiency-reporting argument [10] versus operational scheduling [14]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Measurement motivates action; scheduling depends on flexibility and forecasts.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Current institutional evidence [6,7] and governance fra">
            <a:extLst xmlns:a="http://schemas.openxmlformats.org/drawingml/2006/main">
              <a:ext uri="{FF2B5EF4-FFF2-40B4-BE49-F238E27FC236}">
                <a16:creationId xmlns:a16="http://schemas.microsoft.com/office/drawing/2014/main" id="{0525F2EA-FD15-48C7-A74E-77702F82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Current institutional evidence [6,7] and governance frameworks [15,16] complement the research; they do not replace its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methodological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22566-03B8-4045-A5D6-D2099B0D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8] Strubell et al. 2019: cost and equity; [9]">
            <a:extLst xmlns:a="http://schemas.openxmlformats.org/drawingml/2006/main">
              <a:ext uri="{FF2B5EF4-FFF2-40B4-BE49-F238E27FC236}">
                <a16:creationId xmlns:a16="http://schemas.microsoft.com/office/drawing/2014/main" id="{C998F01F-0EDC-41E9-9515-6B2262DF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[8] Strubell et al. 2019: cost and equity; [9] Li et al. 2025 revision: water impacts; [10] Schwartz et al. 2019: efficiency reporting; [11] Zhu et al. 2019: exposed gradients; [12]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Gallegos et al. 2024: fairness evaluation; [13] Ahmed and Wahed 2020: compute divide; [14] Radovanovic et al. 2021: flexible scheduling</a:t>
            </a:r>
          </a:p>
        </p:txBody>
      </p:sp>
      <p:sp>
        <p:nvSpPr>
          <p:cNvPr id="7" name="33 / 40">
            <a:extLst xmlns:a="http://schemas.openxmlformats.org/drawingml/2006/main">
              <a:ext uri="{FF2B5EF4-FFF2-40B4-BE49-F238E27FC236}">
                <a16:creationId xmlns:a16="http://schemas.microsoft.com/office/drawing/2014/main" id="{9828894A-ECB6-41A9-9487-7528E5A7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33 / 40</a:t>
            </a:r>
          </a:p>
        </p:txBody>
      </p:sp>
    </p:spTree>
    <p:extLst>
      <p:ext uri="{BB962C8B-B14F-4D97-AF65-F5344CB8AC3E}">
        <p14:creationId xmlns:p14="http://schemas.microsoft.com/office/powerpoint/2010/main" val="208888687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Synthesis">
            <a:extLst xmlns:a="http://schemas.openxmlformats.org/drawingml/2006/main">
              <a:ext uri="{FF2B5EF4-FFF2-40B4-BE49-F238E27FC236}">
                <a16:creationId xmlns:a16="http://schemas.microsoft.com/office/drawing/2014/main" id="{5A16D32B-8051-4EB9-BE00-2289B11E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Synthesis</a:t>
            </a:r>
          </a:p>
        </p:txBody>
      </p:sp>
      <p:sp>
        <p:nvSpPr>
          <p:cNvPr id="2" name="Conclusions and next measurements">
            <a:extLst xmlns:a="http://schemas.openxmlformats.org/drawingml/2006/main">
              <a:ext uri="{FF2B5EF4-FFF2-40B4-BE49-F238E27FC236}">
                <a16:creationId xmlns:a16="http://schemas.microsoft.com/office/drawing/2014/main" id="{CA34C85F-0E0E-44DE-BED7-EB93B8E2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Conclusions and next measurements</a:t>
            </a:r>
          </a:p>
        </p:txBody>
      </p:sp>
      <p:sp>
        <p:nvSpPr>
          <p:cNvPr id="3" name="GPU rotation">
            <a:extLst xmlns:a="http://schemas.openxmlformats.org/drawingml/2006/main">
              <a:ext uri="{FF2B5EF4-FFF2-40B4-BE49-F238E27FC236}">
                <a16:creationId xmlns:a16="http://schemas.microsoft.com/office/drawing/2014/main" id="{C357BA8E-81BE-4CC0-8185-D331AB7E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GPU rotation</a:t>
            </a:r>
          </a:p>
        </p:txBody>
      </p:sp>
      <p:sp>
        <p:nvSpPr>
          <p:cNvPr id="4" name="Inverse gathering exposes independent pixel work. SM sc">
            <a:extLst xmlns:a="http://schemas.openxmlformats.org/drawingml/2006/main">
              <a:ext uri="{FF2B5EF4-FFF2-40B4-BE49-F238E27FC236}">
                <a16:creationId xmlns:a16="http://schemas.microsoft.com/office/drawing/2014/main" id="{5C2AD906-69B9-44D6-8DBB-4BEE6B7C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Inverse gathering exposes independent pixel work.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SM scheduling, memory locality and transfer costs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determine achieved performance.</a:t>
            </a:r>
          </a:p>
        </p:txBody>
      </p:sp>
      <p:sp>
        <p:nvSpPr>
          <p:cNvPr id="5" name="Choose a CPU baseline and compare completed equivalent ">
            <a:extLst xmlns:a="http://schemas.openxmlformats.org/drawingml/2006/main">
              <a:ext uri="{FF2B5EF4-FFF2-40B4-BE49-F238E27FC236}">
                <a16:creationId xmlns:a16="http://schemas.microsoft.com/office/drawing/2014/main" id="{52968C32-584D-4839-8DC2-1E583881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Choose a CPU baseline and compare completed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equivalent pipelines. GDS is conditional on storage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bottlenecks, a compatible data path and verified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support.</a:t>
            </a:r>
          </a:p>
        </p:txBody>
      </p:sp>
      <p:sp>
        <p:nvSpPr>
          <p:cNvPr id="6" name="Next: compile the teaching examples, check output again">
            <a:extLst xmlns:a="http://schemas.openxmlformats.org/drawingml/2006/main">
              <a:ext uri="{FF2B5EF4-FFF2-40B4-BE49-F238E27FC236}">
                <a16:creationId xmlns:a16="http://schemas.microsoft.com/office/drawing/2014/main" id="{F176C0E7-97C4-40CD-8FDC-6361B423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compile the teaching examples, check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against a CPU reference and profile representative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sizes/angles/batches. No result is assumed.</a:t>
            </a:r>
          </a:p>
        </p:txBody>
      </p:sp>
      <p:sp>
        <p:nvSpPr>
          <p:cNvPr id="7" name="Responsible scaling">
            <a:extLst xmlns:a="http://schemas.openxmlformats.org/drawingml/2006/main">
              <a:ext uri="{FF2B5EF4-FFF2-40B4-BE49-F238E27FC236}">
                <a16:creationId xmlns:a16="http://schemas.microsoft.com/office/drawing/2014/main" id="{1F7F5390-E2FF-42E1-966D-C5063299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Responsible scaling</a:t>
            </a:r>
          </a:p>
        </p:txBody>
      </p:sp>
      <p:sp>
        <p:nvSpPr>
          <p:cNvPr id="8" name="More compute can enable valuable research while concent">
            <a:extLst xmlns:a="http://schemas.openxmlformats.org/drawingml/2006/main">
              <a:ext uri="{FF2B5EF4-FFF2-40B4-BE49-F238E27FC236}">
                <a16:creationId xmlns:a16="http://schemas.microsoft.com/office/drawing/2014/main" id="{595C3905-231C-4123-8433-F896D286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compute can enable valuable research while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concentrating access and increasing resource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demand. Approve scale for useful outcomes,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9" name="Combine job-level energy/resource evidence, separate se">
            <a:extLst xmlns:a="http://schemas.openxmlformats.org/drawingml/2006/main">
              <a:ext uri="{FF2B5EF4-FFF2-40B4-BE49-F238E27FC236}">
                <a16:creationId xmlns:a16="http://schemas.microsoft.com/office/drawing/2014/main" id="{2DAC5D28-99A3-40A5-B464-308BD254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Combine job-level energy/resource evidence,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security/fairness evaluation, transparent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allocations and deadline-aware scheduling.</a:t>
            </a:r>
          </a:p>
        </p:txBody>
      </p:sp>
      <p:sp>
        <p:nvSpPr>
          <p:cNvPr id="10" name="Next: measure a real cluster job’s energy, quality, sca">
            <a:extLst xmlns:a="http://schemas.openxmlformats.org/drawingml/2006/main">
              <a:ext uri="{FF2B5EF4-FFF2-40B4-BE49-F238E27FC236}">
                <a16:creationId xmlns:a16="http://schemas.microsoft.com/office/drawing/2014/main" id="{66612730-38D3-4E0B-9745-69F2D706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measure a real cluster job’s energy, quality,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efficiency and allocation outcomes; revise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policy when evidence or conditions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CF42BF-A77D-493C-92FF-4B5BC084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119E2-8180-4DB7-B89E-95860680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NVIDIA CUDA Best Practices; [3] NVIDIA GDS">
            <a:extLst xmlns:a="http://schemas.openxmlformats.org/drawingml/2006/main">
              <a:ext uri="{FF2B5EF4-FFF2-40B4-BE49-F238E27FC236}">
                <a16:creationId xmlns:a16="http://schemas.microsoft.com/office/drawing/2014/main" id="{27D839E2-95BB-41D8-BF61-F8111CAF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NVIDIA CUDA Best Practices; [3] NVIDIA GDS overview; [4] NVIDIA GDS design; [10] Schwartz et al. 2019: efficiency reporting; [14] Radovanovic et al. 2021: flexible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scheduling; [16] NIST: Govern, Map, Measure, Manage</a:t>
            </a:r>
          </a:p>
        </p:txBody>
      </p:sp>
      <p:sp>
        <p:nvSpPr>
          <p:cNvPr id="14" name="34 / 40">
            <a:extLst xmlns:a="http://schemas.openxmlformats.org/drawingml/2006/main">
              <a:ext uri="{FF2B5EF4-FFF2-40B4-BE49-F238E27FC236}">
                <a16:creationId xmlns:a16="http://schemas.microsoft.com/office/drawing/2014/main" id="{3C29A970-4038-44F7-BFCA-D6DB18B9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34 / 40</a:t>
            </a:r>
          </a:p>
        </p:txBody>
      </p:sp>
    </p:spTree>
    <p:extLst>
      <p:ext uri="{BB962C8B-B14F-4D97-AF65-F5344CB8AC3E}">
        <p14:creationId xmlns:p14="http://schemas.microsoft.com/office/powerpoint/2010/main" val="68544369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1/5">
            <a:extLst xmlns:a="http://schemas.openxmlformats.org/drawingml/2006/main">
              <a:ext uri="{FF2B5EF4-FFF2-40B4-BE49-F238E27FC236}">
                <a16:creationId xmlns:a16="http://schemas.microsoft.com/office/drawing/2014/main" id="{9AF45C49-8A36-4DA8-B027-C3424C3A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1/5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1C0651C9-B2B8-49DC-BA6A-1F26C13C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] NVIDIA, “Programming model,” CUDA Programming Guide">
            <a:extLst xmlns:a="http://schemas.openxmlformats.org/drawingml/2006/main">
              <a:ext uri="{FF2B5EF4-FFF2-40B4-BE49-F238E27FC236}">
                <a16:creationId xmlns:a16="http://schemas.microsoft.com/office/drawing/2014/main" id="{750D0DAC-1E29-4323-89D9-9DE986E3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[1] NVIDIA, “Programming model,” CUDA Programming Guide, online documentation, accessed Oct. 8, 2026.</a:t>
            </a:r>
          </a:p>
        </p:txBody>
      </p:sp>
      <p:sp>
        <p:nvSpPr>
          <p:cNvPr id="4" name="https://docs.nvidia.com/cuda/cuda-programming-guide/01-">
            <a:extLst xmlns:a="http://schemas.openxmlformats.org/drawingml/2006/main">
              <a:ext uri="{FF2B5EF4-FFF2-40B4-BE49-F238E27FC236}">
                <a16:creationId xmlns:a16="http://schemas.microsoft.com/office/drawing/2014/main" id="{A1AE3E6C-B78F-4ACC-95BF-D55FB9CE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15b2e4eb77324236"/>
              </a:rPr>
              <a:t>https://docs.nvidia.com/cuda/cuda-programming-guide/01-introduction/programming-model.html</a:t>
            </a:r>
          </a:p>
        </p:txBody>
      </p:sp>
      <p:sp>
        <p:nvSpPr>
          <p:cNvPr id="5" name="[2] NVIDIA, CUDA C++ Best Practices Guide, online docum">
            <a:extLst xmlns:a="http://schemas.openxmlformats.org/drawingml/2006/main">
              <a:ext uri="{FF2B5EF4-FFF2-40B4-BE49-F238E27FC236}">
                <a16:creationId xmlns:a16="http://schemas.microsoft.com/office/drawing/2014/main" id="{C976F483-1003-4BFE-BDC3-68EA7F78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[2] NVIDIA, CUDA C++ Best Practices Guide, online documentation, accessed Oct. 8, 2026.</a:t>
            </a:r>
          </a:p>
        </p:txBody>
      </p:sp>
      <p:sp>
        <p:nvSpPr>
          <p:cNvPr id="6" name="https://docs.nvidia.com/cuda/cuda-c-best-practices-guid">
            <a:extLst xmlns:a="http://schemas.openxmlformats.org/drawingml/2006/main">
              <a:ext uri="{FF2B5EF4-FFF2-40B4-BE49-F238E27FC236}">
                <a16:creationId xmlns:a16="http://schemas.microsoft.com/office/drawing/2014/main" id="{8BC64803-5758-415F-A12E-88FAE2B9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f9d7cd7d5f5642b4"/>
              </a:rPr>
              <a:t>https://docs.nvidia.com/cuda/cuda-c-best-practices-guide/index.html</a:t>
            </a:r>
          </a:p>
        </p:txBody>
      </p:sp>
      <p:sp>
        <p:nvSpPr>
          <p:cNvPr id="7" name="[3] NVIDIA, GPUDirect Storage Overview Guide, online do">
            <a:extLst xmlns:a="http://schemas.openxmlformats.org/drawingml/2006/main">
              <a:ext uri="{FF2B5EF4-FFF2-40B4-BE49-F238E27FC236}">
                <a16:creationId xmlns:a16="http://schemas.microsoft.com/office/drawing/2014/main" id="{AE53C548-29AB-4A4C-9873-7DDBEFE5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[3] NVIDIA, GPUDirect Storage Overview Guide, online documentation, accessed Oct. 8, 2026.</a:t>
            </a:r>
          </a:p>
        </p:txBody>
      </p:sp>
      <p:sp>
        <p:nvSpPr>
          <p:cNvPr id="8" name="https://docs.nvidia.com/gpudirect-storage/overview-guid">
            <a:extLst xmlns:a="http://schemas.openxmlformats.org/drawingml/2006/main">
              <a:ext uri="{FF2B5EF4-FFF2-40B4-BE49-F238E27FC236}">
                <a16:creationId xmlns:a16="http://schemas.microsoft.com/office/drawing/2014/main" id="{28D4F278-5A0E-490C-A06B-2825559B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810e0506db814afa"/>
              </a:rPr>
              <a:t>https://docs.nvidia.com/gpudirect-storage/overview-guide/index.html</a:t>
            </a:r>
          </a:p>
        </p:txBody>
      </p:sp>
      <p:sp>
        <p:nvSpPr>
          <p:cNvPr id="9" name="[4] NVIDIA, GPUDirect Storage Design Guide, online docu">
            <a:extLst xmlns:a="http://schemas.openxmlformats.org/drawingml/2006/main">
              <a:ext uri="{FF2B5EF4-FFF2-40B4-BE49-F238E27FC236}">
                <a16:creationId xmlns:a16="http://schemas.microsoft.com/office/drawing/2014/main" id="{9C26AE0C-AB81-4702-8F55-583613F8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8387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[4] NVIDIA, GPUDirect Storage Design Guide, online documentation, accessed Oct. 8, 2026.</a:t>
            </a:r>
          </a:p>
        </p:txBody>
      </p:sp>
      <p:sp>
        <p:nvSpPr>
          <p:cNvPr id="10" name="https://docs.nvidia.com/gpudirect-storage/design-guide/">
            <a:extLst xmlns:a="http://schemas.openxmlformats.org/drawingml/2006/main">
              <a:ext uri="{FF2B5EF4-FFF2-40B4-BE49-F238E27FC236}">
                <a16:creationId xmlns:a16="http://schemas.microsoft.com/office/drawing/2014/main" id="{AC240D0A-A4B7-4D3C-834C-C12A97D3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2618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83e0f161eb14211"/>
              </a:rPr>
              <a:t>https://docs.nvidia.com/gpudirect-storage/design-guide/index.html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640DA0-BA89-47DD-BE71-D2282324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BA7B41A3-A021-4801-A43A-AE4F3DEA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5 / 40">
            <a:extLst xmlns:a="http://schemas.openxmlformats.org/drawingml/2006/main">
              <a:ext uri="{FF2B5EF4-FFF2-40B4-BE49-F238E27FC236}">
                <a16:creationId xmlns:a16="http://schemas.microsoft.com/office/drawing/2014/main" id="{7C0D77E7-C986-4E43-9354-4662ED4C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35 / 40</a:t>
            </a:r>
          </a:p>
        </p:txBody>
      </p:sp>
    </p:spTree>
    <p:extLst>
      <p:ext uri="{BB962C8B-B14F-4D97-AF65-F5344CB8AC3E}">
        <p14:creationId xmlns:p14="http://schemas.microsoft.com/office/powerpoint/2010/main" val="85522862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2/5">
            <a:extLst xmlns:a="http://schemas.openxmlformats.org/drawingml/2006/main">
              <a:ext uri="{FF2B5EF4-FFF2-40B4-BE49-F238E27FC236}">
                <a16:creationId xmlns:a16="http://schemas.microsoft.com/office/drawing/2014/main" id="{6F414C95-2160-4796-BAEE-D39CF097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2/5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81FE07CF-EC1D-4F1A-91E1-B8AFEA37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5] NVIDIA, “Parallelism strategies guide,” Megatron Co">
            <a:extLst xmlns:a="http://schemas.openxmlformats.org/drawingml/2006/main">
              <a:ext uri="{FF2B5EF4-FFF2-40B4-BE49-F238E27FC236}">
                <a16:creationId xmlns:a16="http://schemas.microsoft.com/office/drawing/2014/main" id="{2698FF0B-4400-4AD6-AE49-2F2AED79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[5] NVIDIA, “Parallelism strategies guide,” Megatron Core, online documentation, accessed Oct. 8, 2026.</a:t>
            </a:r>
          </a:p>
        </p:txBody>
      </p:sp>
      <p:sp>
        <p:nvSpPr>
          <p:cNvPr id="4" name="https://docs.nvidia.com/megatron-core/developer-guide/l">
            <a:extLst xmlns:a="http://schemas.openxmlformats.org/drawingml/2006/main">
              <a:ext uri="{FF2B5EF4-FFF2-40B4-BE49-F238E27FC236}">
                <a16:creationId xmlns:a16="http://schemas.microsoft.com/office/drawing/2014/main" id="{F41A71D9-7B48-4B26-B58E-549DF966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87503027fde4a02"/>
              </a:rPr>
              <a:t>https://docs.nvidia.com/megatron-core/developer-guide/latest/user-guide/parallelism-guide.html</a:t>
            </a:r>
          </a:p>
        </p:txBody>
      </p:sp>
      <p:sp>
        <p:nvSpPr>
          <p:cNvPr id="5" name="[6] International Energy Agency, Key Questions on Energ">
            <a:extLst xmlns:a="http://schemas.openxmlformats.org/drawingml/2006/main">
              <a:ext uri="{FF2B5EF4-FFF2-40B4-BE49-F238E27FC236}">
                <a16:creationId xmlns:a16="http://schemas.microsoft.com/office/drawing/2014/main" id="{09B5ED7B-4ECA-4CC1-834B-99BDCB6E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[6] International Energy Agency, Key Questions on Energy and AI, executive summary, Apr. 16, 2026, CC BY 4.0, accessed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Oct. 8, 2026.</a:t>
            </a:r>
          </a:p>
        </p:txBody>
      </p:sp>
      <p:sp>
        <p:nvSpPr>
          <p:cNvPr id="6" name="https://www.iea.org/reports/key-questions-on-energy-and">
            <a:extLst xmlns:a="http://schemas.openxmlformats.org/drawingml/2006/main">
              <a:ext uri="{FF2B5EF4-FFF2-40B4-BE49-F238E27FC236}">
                <a16:creationId xmlns:a16="http://schemas.microsoft.com/office/drawing/2014/main" id="{31F36A58-0736-413E-9BA2-EF77C25F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979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9a44a49ed7364b32"/>
              </a:rPr>
              <a:t>https://www.iea.org/reports/key-questions-on-energy-and-ai/executive-summary</a:t>
            </a:r>
          </a:p>
        </p:txBody>
      </p:sp>
      <p:sp>
        <p:nvSpPr>
          <p:cNvPr id="7" name="[7] U.S. National Science Foundation, “NAIRR at 2 years">
            <a:extLst xmlns:a="http://schemas.openxmlformats.org/drawingml/2006/main">
              <a:ext uri="{FF2B5EF4-FFF2-40B4-BE49-F238E27FC236}">
                <a16:creationId xmlns:a16="http://schemas.microsoft.com/office/drawing/2014/main" id="{C051D5A5-14BD-498D-96D6-33F1213C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0989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[7] U.S. National Science Foundation, “NAIRR at 2 years: Advancing American artificial intelligence innovation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leadership,” Mar. 19, 2026, accessed Oct. 8, 2026.</a:t>
            </a:r>
          </a:p>
        </p:txBody>
      </p:sp>
      <p:sp>
        <p:nvSpPr>
          <p:cNvPr id="8" name="https://www.nsf.gov/cise/updates/nairr-2-years-advancin">
            <a:extLst xmlns:a="http://schemas.openxmlformats.org/drawingml/2006/main">
              <a:ext uri="{FF2B5EF4-FFF2-40B4-BE49-F238E27FC236}">
                <a16:creationId xmlns:a16="http://schemas.microsoft.com/office/drawing/2014/main" id="{5E9FF9F3-2C1A-4356-BF50-B8722BBA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325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e265fa333f6f4542"/>
              </a:rPr>
              <a:t>https://www.nsf.gov/cise/updates/nairr-2-years-advancing-american-artificial-intelligence</a:t>
            </a:r>
          </a:p>
        </p:txBody>
      </p:sp>
      <p:sp>
        <p:nvSpPr>
          <p:cNvPr id="9" name="[8] E. Strubell, A. Ganesh, and A. McCallum, “Energy an">
            <a:extLst xmlns:a="http://schemas.openxmlformats.org/drawingml/2006/main">
              <a:ext uri="{FF2B5EF4-FFF2-40B4-BE49-F238E27FC236}">
                <a16:creationId xmlns:a16="http://schemas.microsoft.com/office/drawing/2014/main" id="{A28EBC1A-4079-450C-ABCD-380F0956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4449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[8] E. Strubell, A. Ganesh, and A. McCallum, “Energy and policy considerations for deep learning in NLP,” in Proc. ACL,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2019, pp. 3645–3650, doi: 10.18653/v1/P19-1355.</a:t>
            </a:r>
          </a:p>
        </p:txBody>
      </p:sp>
      <p:sp>
        <p:nvSpPr>
          <p:cNvPr id="10" name="https://aclanthology.org/P19-1355/">
            <a:extLst xmlns:a="http://schemas.openxmlformats.org/drawingml/2006/main">
              <a:ext uri="{FF2B5EF4-FFF2-40B4-BE49-F238E27FC236}">
                <a16:creationId xmlns:a16="http://schemas.microsoft.com/office/drawing/2014/main" id="{FF531168-D74D-430D-B583-351F5758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671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cfc09ee519f64ad1"/>
              </a:rPr>
              <a:t>https://aclanthology.org/P19-1355/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EFC83-8406-4AAD-91E2-CA447180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792D9C17-6112-4CED-8B31-C582D76E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6 / 40">
            <a:extLst xmlns:a="http://schemas.openxmlformats.org/drawingml/2006/main">
              <a:ext uri="{FF2B5EF4-FFF2-40B4-BE49-F238E27FC236}">
                <a16:creationId xmlns:a16="http://schemas.microsoft.com/office/drawing/2014/main" id="{C3CCC9F5-43AF-476B-9F4A-7BDBAFDC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36 / 40</a:t>
            </a:r>
          </a:p>
        </p:txBody>
      </p:sp>
    </p:spTree>
    <p:extLst>
      <p:ext uri="{BB962C8B-B14F-4D97-AF65-F5344CB8AC3E}">
        <p14:creationId xmlns:p14="http://schemas.microsoft.com/office/powerpoint/2010/main" val="145362268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3/5">
            <a:extLst xmlns:a="http://schemas.openxmlformats.org/drawingml/2006/main">
              <a:ext uri="{FF2B5EF4-FFF2-40B4-BE49-F238E27FC236}">
                <a16:creationId xmlns:a16="http://schemas.microsoft.com/office/drawing/2014/main" id="{AF4CCA38-F624-4D0D-9C42-106B3182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3/5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414362C0-C903-4A6C-AE15-FF82E979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9] P. Li, J. Yang, M. A. Islam, and S. Ren, “Making AI">
            <a:extLst xmlns:a="http://schemas.openxmlformats.org/drawingml/2006/main">
              <a:ext uri="{FF2B5EF4-FFF2-40B4-BE49-F238E27FC236}">
                <a16:creationId xmlns:a16="http://schemas.microsoft.com/office/drawing/2014/main" id="{631A8AF4-74EF-462C-B2F9-38C3DD05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[9] P. Li, J. Yang, M. A. Islam, and S. Ren, “Making AI less ‘thirsty’: Uncovering and addressing the secret water footprint of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models,” arXiv:2304.03271v5, Mar. 26, 2025; first submitted 2023.</a:t>
            </a:r>
          </a:p>
        </p:txBody>
      </p:sp>
      <p:sp>
        <p:nvSpPr>
          <p:cNvPr id="4" name="https://arxiv.org/abs/2304.03271v5">
            <a:extLst xmlns:a="http://schemas.openxmlformats.org/drawingml/2006/main">
              <a:ext uri="{FF2B5EF4-FFF2-40B4-BE49-F238E27FC236}">
                <a16:creationId xmlns:a16="http://schemas.microsoft.com/office/drawing/2014/main" id="{E271A496-34BD-446D-84F0-B7ECADCF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aa2210b87d9448a5"/>
              </a:rPr>
              <a:t>https://arxiv.org/abs/2304.03271v5</a:t>
            </a:r>
          </a:p>
        </p:txBody>
      </p:sp>
      <p:sp>
        <p:nvSpPr>
          <p:cNvPr id="5" name="[10] R. Schwartz, J. Dodge, N. A. Smith, and O. Etzioni">
            <a:extLst xmlns:a="http://schemas.openxmlformats.org/drawingml/2006/main">
              <a:ext uri="{FF2B5EF4-FFF2-40B4-BE49-F238E27FC236}">
                <a16:creationId xmlns:a16="http://schemas.microsoft.com/office/drawing/2014/main" id="{FFF6C5E2-AB35-481E-B29A-399FE423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[10] R. Schwartz, J. Dodge, N. A. Smith, and O. Etzioni, “Green AI,” arXiv:1907.10597, 2019.</a:t>
            </a:r>
          </a:p>
        </p:txBody>
      </p:sp>
      <p:sp>
        <p:nvSpPr>
          <p:cNvPr id="6" name="https://arxiv.org/abs/1907.10597">
            <a:extLst xmlns:a="http://schemas.openxmlformats.org/drawingml/2006/main">
              <a:ext uri="{FF2B5EF4-FFF2-40B4-BE49-F238E27FC236}">
                <a16:creationId xmlns:a16="http://schemas.microsoft.com/office/drawing/2014/main" id="{DEF8C9ED-2163-41C0-B4AD-DD540B53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979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08f22703a4c74c16"/>
              </a:rPr>
              <a:t>https://arxiv.org/abs/1907.10597</a:t>
            </a:r>
          </a:p>
        </p:txBody>
      </p:sp>
      <p:sp>
        <p:nvSpPr>
          <p:cNvPr id="7" name="[11] L. Zhu, Z. Liu, and S. Han, “Deep leakage from gra">
            <a:extLst xmlns:a="http://schemas.openxmlformats.org/drawingml/2006/main">
              <a:ext uri="{FF2B5EF4-FFF2-40B4-BE49-F238E27FC236}">
                <a16:creationId xmlns:a16="http://schemas.microsoft.com/office/drawing/2014/main" id="{B78B5679-E943-4310-9A2E-2940E852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098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[11] L. Zhu, Z. Liu, and S. Han, “Deep leakage from gradients,” arXiv:1906.08935v2, 2019.</a:t>
            </a:r>
          </a:p>
        </p:txBody>
      </p:sp>
      <p:sp>
        <p:nvSpPr>
          <p:cNvPr id="8" name="https://arxiv.org/abs/1906.08935v2">
            <a:extLst xmlns:a="http://schemas.openxmlformats.org/drawingml/2006/main">
              <a:ext uri="{FF2B5EF4-FFF2-40B4-BE49-F238E27FC236}">
                <a16:creationId xmlns:a16="http://schemas.microsoft.com/office/drawing/2014/main" id="{AB5B4D94-71FE-45E4-B304-F3D2E21A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522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76db6654e83f42a2"/>
              </a:rPr>
              <a:t>https://arxiv.org/abs/1906.08935v2</a:t>
            </a:r>
          </a:p>
        </p:txBody>
      </p:sp>
      <p:sp>
        <p:nvSpPr>
          <p:cNvPr id="9" name="[12] I. O. Gallegos et al., “Bias and fairness in large">
            <a:extLst xmlns:a="http://schemas.openxmlformats.org/drawingml/2006/main">
              <a:ext uri="{FF2B5EF4-FFF2-40B4-BE49-F238E27FC236}">
                <a16:creationId xmlns:a16="http://schemas.microsoft.com/office/drawing/2014/main" id="{A5FFA841-3894-41A7-8414-810FC8D0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41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[12] I. O. Gallegos et al., “Bias and fairness in large language models: A survey,” Computational Linguistics, vol. 50, no. 3,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pp. 1097–1179, 2024, doi: 10.1162/coli_a_00524.</a:t>
            </a:r>
          </a:p>
        </p:txBody>
      </p:sp>
      <p:sp>
        <p:nvSpPr>
          <p:cNvPr id="10" name="https://aclanthology.org/2024.cl-3.8/">
            <a:extLst xmlns:a="http://schemas.openxmlformats.org/drawingml/2006/main">
              <a:ext uri="{FF2B5EF4-FFF2-40B4-BE49-F238E27FC236}">
                <a16:creationId xmlns:a16="http://schemas.microsoft.com/office/drawing/2014/main" id="{57241750-FFF2-418B-B8FE-3ACED767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c9de2706f6994ec1"/>
              </a:rPr>
              <a:t>https://aclanthology.org/2024.cl-3.8/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185E2-F71F-40FD-A04D-9771FD1B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CFD52EB7-F19F-4018-BE9D-ACFA717D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7 / 40">
            <a:extLst xmlns:a="http://schemas.openxmlformats.org/drawingml/2006/main">
              <a:ext uri="{FF2B5EF4-FFF2-40B4-BE49-F238E27FC236}">
                <a16:creationId xmlns:a16="http://schemas.microsoft.com/office/drawing/2014/main" id="{408D978E-C3DD-4B9F-B9EF-29508332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37 / 40</a:t>
            </a:r>
          </a:p>
        </p:txBody>
      </p:sp>
    </p:spTree>
    <p:extLst>
      <p:ext uri="{BB962C8B-B14F-4D97-AF65-F5344CB8AC3E}">
        <p14:creationId xmlns:p14="http://schemas.microsoft.com/office/powerpoint/2010/main" val="52803096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4/5">
            <a:extLst xmlns:a="http://schemas.openxmlformats.org/drawingml/2006/main">
              <a:ext uri="{FF2B5EF4-FFF2-40B4-BE49-F238E27FC236}">
                <a16:creationId xmlns:a16="http://schemas.microsoft.com/office/drawing/2014/main" id="{8E90F289-42B4-4BDF-81D2-97FFB856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4/5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7D4BE8F7-D9EE-492C-8097-71254334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3] N. Ahmed and M. Wahed, “The de-democratization of ">
            <a:extLst xmlns:a="http://schemas.openxmlformats.org/drawingml/2006/main">
              <a:ext uri="{FF2B5EF4-FFF2-40B4-BE49-F238E27FC236}">
                <a16:creationId xmlns:a16="http://schemas.microsoft.com/office/drawing/2014/main" id="{3FF8DDEA-1C5E-427B-A264-CDDD5596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[13] N. Ahmed and M. Wahed, “The de-democratization of AI: Deep learning and the compute divide in artificial intelligence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research,” arXiv:2010.15581v1, 2020.</a:t>
            </a:r>
          </a:p>
        </p:txBody>
      </p:sp>
      <p:sp>
        <p:nvSpPr>
          <p:cNvPr id="4" name="https://arxiv.org/abs/2010.15581v1">
            <a:extLst xmlns:a="http://schemas.openxmlformats.org/drawingml/2006/main">
              <a:ext uri="{FF2B5EF4-FFF2-40B4-BE49-F238E27FC236}">
                <a16:creationId xmlns:a16="http://schemas.microsoft.com/office/drawing/2014/main" id="{D4A7E3C8-6B8A-4046-9A90-4B9C5AAE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3f1a6404ec864794"/>
              </a:rPr>
              <a:t>https://arxiv.org/abs/2010.15581v1</a:t>
            </a:r>
          </a:p>
        </p:txBody>
      </p:sp>
      <p:sp>
        <p:nvSpPr>
          <p:cNvPr id="5" name="[14] A. Radovanovic et al., “Carbon-aware computing for">
            <a:extLst xmlns:a="http://schemas.openxmlformats.org/drawingml/2006/main">
              <a:ext uri="{FF2B5EF4-FFF2-40B4-BE49-F238E27FC236}">
                <a16:creationId xmlns:a16="http://schemas.microsoft.com/office/drawing/2014/main" id="{B77AE309-AD8B-4C83-8EE8-179F2385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[14] A. Radovanovic et al., “Carbon-aware computing for datacenters,” arXiv:2106.11750v1, 2021.</a:t>
            </a:r>
          </a:p>
        </p:txBody>
      </p:sp>
      <p:sp>
        <p:nvSpPr>
          <p:cNvPr id="6" name="https://arxiv.org/abs/2106.11750v1">
            <a:extLst xmlns:a="http://schemas.openxmlformats.org/drawingml/2006/main">
              <a:ext uri="{FF2B5EF4-FFF2-40B4-BE49-F238E27FC236}">
                <a16:creationId xmlns:a16="http://schemas.microsoft.com/office/drawing/2014/main" id="{C6A44D9A-D5E2-4D39-A7CC-9D78A892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979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e45c79bbc4364a6a"/>
              </a:rPr>
              <a:t>https://arxiv.org/abs/2106.11750v1</a:t>
            </a:r>
          </a:p>
        </p:txBody>
      </p:sp>
      <p:sp>
        <p:nvSpPr>
          <p:cNvPr id="7" name="[15] OECD, “OECD AI Principles,” adopted 2019, updated ">
            <a:extLst xmlns:a="http://schemas.openxmlformats.org/drawingml/2006/main">
              <a:ext uri="{FF2B5EF4-FFF2-40B4-BE49-F238E27FC236}">
                <a16:creationId xmlns:a16="http://schemas.microsoft.com/office/drawing/2014/main" id="{BBED6248-828A-4CE7-87A4-A335B220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098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[15] OECD, “OECD AI Principles,” adopted 2019, updated 2024, accessed Oct. 8, 2026.</a:t>
            </a:r>
          </a:p>
        </p:txBody>
      </p:sp>
      <p:sp>
        <p:nvSpPr>
          <p:cNvPr id="8" name="https://www.oecd.org/en/topics/ai-principles.html">
            <a:extLst xmlns:a="http://schemas.openxmlformats.org/drawingml/2006/main">
              <a:ext uri="{FF2B5EF4-FFF2-40B4-BE49-F238E27FC236}">
                <a16:creationId xmlns:a16="http://schemas.microsoft.com/office/drawing/2014/main" id="{FD7515D8-47FC-455F-918B-EFE32CD5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522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bb61dc98f6844571"/>
              </a:rPr>
              <a:t>https://www.oecd.org/en/topics/ai-principles.html</a:t>
            </a:r>
          </a:p>
        </p:txBody>
      </p:sp>
      <p:sp>
        <p:nvSpPr>
          <p:cNvPr id="9" name="[16] NIST, AI Risk Management Framework 1.0 Playbook, f">
            <a:extLst xmlns:a="http://schemas.openxmlformats.org/drawingml/2006/main">
              <a:ext uri="{FF2B5EF4-FFF2-40B4-BE49-F238E27FC236}">
                <a16:creationId xmlns:a16="http://schemas.microsoft.com/office/drawing/2014/main" id="{1B5D7F78-4E32-4A3A-BF8A-2C2E394D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41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[16] NIST, AI Risk Management Framework 1.0 Playbook, framework 2023, current online resource, accessed Oct. 8, 2026.</a:t>
            </a:r>
          </a:p>
        </p:txBody>
      </p:sp>
      <p:sp>
        <p:nvSpPr>
          <p:cNvPr id="10" name="https://airc.nist.gov/airmf-resources/playbook/">
            <a:extLst xmlns:a="http://schemas.openxmlformats.org/drawingml/2006/main">
              <a:ext uri="{FF2B5EF4-FFF2-40B4-BE49-F238E27FC236}">
                <a16:creationId xmlns:a16="http://schemas.microsoft.com/office/drawing/2014/main" id="{D4800D2C-3AB0-4FFF-8888-77B36EC8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064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a97e001a528a45d9"/>
              </a:rPr>
              <a:t>https://airc.nist.gov/airmf-resources/playbook/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FAAE9-5620-431D-A522-CC79A941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C839D09D-C036-4977-BA1D-8911A28B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8 / 40">
            <a:extLst xmlns:a="http://schemas.openxmlformats.org/drawingml/2006/main">
              <a:ext uri="{FF2B5EF4-FFF2-40B4-BE49-F238E27FC236}">
                <a16:creationId xmlns:a16="http://schemas.microsoft.com/office/drawing/2014/main" id="{0B396184-2875-450C-95E4-15B9EA98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38 / 40</a:t>
            </a:r>
          </a:p>
        </p:txBody>
      </p:sp>
    </p:spTree>
    <p:extLst>
      <p:ext uri="{BB962C8B-B14F-4D97-AF65-F5344CB8AC3E}">
        <p14:creationId xmlns:p14="http://schemas.microsoft.com/office/powerpoint/2010/main" val="155078404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• References 5/5">
            <a:extLst xmlns:a="http://schemas.openxmlformats.org/drawingml/2006/main">
              <a:ext uri="{FF2B5EF4-FFF2-40B4-BE49-F238E27FC236}">
                <a16:creationId xmlns:a16="http://schemas.microsoft.com/office/drawing/2014/main" id="{FC61480C-2958-4B9B-895B-7D9F33A2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5/5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B7D873AE-ECF7-49AE-8764-8F62CE93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7] NVIDIA, “Rotate,” NPP Image Geometry Transforms, C">
            <a:extLst xmlns:a="http://schemas.openxmlformats.org/drawingml/2006/main">
              <a:ext uri="{FF2B5EF4-FFF2-40B4-BE49-F238E27FC236}">
                <a16:creationId xmlns:a16="http://schemas.microsoft.com/office/drawing/2014/main" id="{D8F21457-C45C-4EDD-8F4B-8367EDEF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[17] NVIDIA, “Rotate,” NPP Image Geometry Transforms, CUDA 13.0.3 archive documentation, accessed Oct. 8, 2026.</a:t>
            </a:r>
          </a:p>
        </p:txBody>
      </p:sp>
      <p:sp>
        <p:nvSpPr>
          <p:cNvPr id="4" name="https://docs.nvidia.com/cuda/archive/13.0.3/npp/image_g">
            <a:extLst xmlns:a="http://schemas.openxmlformats.org/drawingml/2006/main">
              <a:ext uri="{FF2B5EF4-FFF2-40B4-BE49-F238E27FC236}">
                <a16:creationId xmlns:a16="http://schemas.microsoft.com/office/drawing/2014/main" id="{12E7AA73-5525-4665-B668-49DDC574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55adf97578b84d9e"/>
              </a:rPr>
              <a:t>https://docs.nvidia.com/cuda/archive/13.0.3/npp/image_geometry_transforms.html#rotate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EEC44-BDAE-4101-8427-2912318E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C1065F82-F05B-4B8C-8E09-6D49AA6D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7" name="39 / 40">
            <a:extLst xmlns:a="http://schemas.openxmlformats.org/drawingml/2006/main">
              <a:ext uri="{FF2B5EF4-FFF2-40B4-BE49-F238E27FC236}">
                <a16:creationId xmlns:a16="http://schemas.microsoft.com/office/drawing/2014/main" id="{D77CEF2B-231D-4C4A-B513-CC951EA7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39 / 40</a:t>
            </a:r>
          </a:p>
        </p:txBody>
      </p:sp>
    </p:spTree>
    <p:extLst>
      <p:ext uri="{BB962C8B-B14F-4D97-AF65-F5344CB8AC3E}">
        <p14:creationId xmlns:p14="http://schemas.microsoft.com/office/powerpoint/2010/main" val="106257458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ppendix • AI declaration">
            <a:extLst xmlns:a="http://schemas.openxmlformats.org/drawingml/2006/main">
              <a:ext uri="{FF2B5EF4-FFF2-40B4-BE49-F238E27FC236}">
                <a16:creationId xmlns:a16="http://schemas.microsoft.com/office/drawing/2014/main" id="{F221A91A-B20F-4BA3-A791-C4A0F317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AI declaration</a:t>
            </a:r>
          </a:p>
        </p:txBody>
      </p:sp>
      <p:sp>
        <p:nvSpPr>
          <p:cNvPr id="2" name="AI use declaration">
            <a:extLst xmlns:a="http://schemas.openxmlformats.org/drawingml/2006/main">
              <a:ext uri="{FF2B5EF4-FFF2-40B4-BE49-F238E27FC236}">
                <a16:creationId xmlns:a16="http://schemas.microsoft.com/office/drawing/2014/main" id="{4E5AA39D-DDA2-49C8-9298-FF9E6914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AI use declaration</a:t>
            </a:r>
          </a:p>
        </p:txBody>
      </p:sp>
      <p:sp>
        <p:nvSpPr>
          <p:cNvPr id="3" name="AI model and tool">
            <a:extLst xmlns:a="http://schemas.openxmlformats.org/drawingml/2006/main">
              <a:ext uri="{FF2B5EF4-FFF2-40B4-BE49-F238E27FC236}">
                <a16:creationId xmlns:a16="http://schemas.microsoft.com/office/drawing/2014/main" id="{0797D544-E6CA-4073-BD87-3F47609F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AI model and tool</a:t>
            </a:r>
          </a:p>
        </p:txBody>
      </p:sp>
      <p:sp>
        <p:nvSpPr>
          <p:cNvPr id="4" name="OpenAI GPT-6, accessed through Codex.">
            <a:extLst xmlns:a="http://schemas.openxmlformats.org/drawingml/2006/main">
              <a:ext uri="{FF2B5EF4-FFF2-40B4-BE49-F238E27FC236}">
                <a16:creationId xmlns:a16="http://schemas.microsoft.com/office/drawing/2014/main" id="{762029C5-8196-48EC-BB7B-9CD96F66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OpenAI GPT-6, accessed through Codex.</a:t>
            </a:r>
          </a:p>
        </p:txBody>
      </p:sp>
      <p:sp>
        <p:nvSpPr>
          <p:cNvPr id="5" name="How AI was used">
            <a:extLst xmlns:a="http://schemas.openxmlformats.org/drawingml/2006/main">
              <a:ext uri="{FF2B5EF4-FFF2-40B4-BE49-F238E27FC236}">
                <a16:creationId xmlns:a16="http://schemas.microsoft.com/office/drawing/2014/main" id="{27BAA1FC-7124-4448-96E5-8A474C2D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How AI was used</a:t>
            </a:r>
          </a:p>
        </p:txBody>
      </p:sp>
      <p:sp>
        <p:nvSpPr>
          <p:cNvPr id="6" name="Research and source checks; drafting and revision of ex">
            <a:extLst xmlns:a="http://schemas.openxmlformats.org/drawingml/2006/main">
              <a:ext uri="{FF2B5EF4-FFF2-40B4-BE49-F238E27FC236}">
                <a16:creationId xmlns:a16="http://schemas.microsoft.com/office/drawing/2014/main" id="{4029438A-3A78-410B-998B-1A89B7AA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and source checks; drafting and revision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of explanations and CUDA teaching examples;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creation of diagrams and charts; presentation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formatting and assembly.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17FED-5AE6-4787-A277-68F56478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9A2AD-DB07-4B55-9B31-7A64B9B1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9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B80C234E-8B79-436C-A259-7498139B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0" name="40 / 40">
            <a:extLst xmlns:a="http://schemas.openxmlformats.org/drawingml/2006/main">
              <a:ext uri="{FF2B5EF4-FFF2-40B4-BE49-F238E27FC236}">
                <a16:creationId xmlns:a16="http://schemas.microsoft.com/office/drawing/2014/main" id="{12047AE7-F7E0-4AA7-8BA8-D41910BE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40 / 40</a:t>
            </a:r>
          </a:p>
        </p:txBody>
      </p:sp>
    </p:spTree>
    <p:extLst>
      <p:ext uri="{BB962C8B-B14F-4D97-AF65-F5344CB8AC3E}">
        <p14:creationId xmlns:p14="http://schemas.microsoft.com/office/powerpoint/2010/main" val="20685056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2026-10-08T12:46:17.7900000Z</dcterms:created>
  <dcterms:modified xsi:type="dcterms:W3CDTF">2026-10-08T12:46:17.7900000Z</dcterms:modified>
</coreProperties>
</file>