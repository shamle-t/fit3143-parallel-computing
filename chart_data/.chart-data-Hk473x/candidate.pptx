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2c4a3e96974c20" /><Relationship Type="http://schemas.openxmlformats.org/officeDocument/2006/relationships/extended-properties" Target="/docProps/app.xml" Id="R47f56fbd473c4910" /><Relationship Type="http://schemas.openxmlformats.org/officeDocument/2006/relationships/officeDocument" Target="/ppt/presentation.xml" Id="R5211a2cb6e3642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1bcbae2ac7464a"/>
  </p:sldMasterIdLst>
  <p:notesMasterIdLst>
    <p:notesMasterId xmlns:r="http://schemas.openxmlformats.org/officeDocument/2006/relationships" r:id="Rc12b293a91fe4513"/>
  </p:notesMasterIdLst>
  <p:sldIdLst>
    <p:sldId xmlns:r="http://schemas.openxmlformats.org/officeDocument/2006/relationships" id="256" r:id="Rea4b10aaa6d74d2e"/>
    <p:sldId xmlns:r="http://schemas.openxmlformats.org/officeDocument/2006/relationships" id="257" r:id="R7d60ef2b97e54d6d"/>
    <p:sldId xmlns:r="http://schemas.openxmlformats.org/officeDocument/2006/relationships" id="258" r:id="R260535cde8b648f4"/>
    <p:sldId xmlns:r="http://schemas.openxmlformats.org/officeDocument/2006/relationships" id="259" r:id="R98b02b572b9541dc"/>
    <p:sldId xmlns:r="http://schemas.openxmlformats.org/officeDocument/2006/relationships" id="260" r:id="R4fa412ed2b224eb3"/>
    <p:sldId xmlns:r="http://schemas.openxmlformats.org/officeDocument/2006/relationships" id="261" r:id="R97b1d9a4317d4f95"/>
    <p:sldId xmlns:r="http://schemas.openxmlformats.org/officeDocument/2006/relationships" id="262" r:id="Rf85dcdd860314340"/>
    <p:sldId xmlns:r="http://schemas.openxmlformats.org/officeDocument/2006/relationships" id="263" r:id="R66a282c860d74d5b"/>
    <p:sldId xmlns:r="http://schemas.openxmlformats.org/officeDocument/2006/relationships" id="264" r:id="R9380bb79f63141d6"/>
    <p:sldId xmlns:r="http://schemas.openxmlformats.org/officeDocument/2006/relationships" id="265" r:id="Rf802007a100142fb"/>
    <p:sldId xmlns:r="http://schemas.openxmlformats.org/officeDocument/2006/relationships" id="266" r:id="R21d6c6badea64083"/>
    <p:sldId xmlns:r="http://schemas.openxmlformats.org/officeDocument/2006/relationships" id="267" r:id="Rde9345796bbc4265"/>
    <p:sldId xmlns:r="http://schemas.openxmlformats.org/officeDocument/2006/relationships" id="268" r:id="Rfa0f72adb31e42b3"/>
    <p:sldId xmlns:r="http://schemas.openxmlformats.org/officeDocument/2006/relationships" id="269" r:id="Race9cec414d94f78"/>
    <p:sldId xmlns:r="http://schemas.openxmlformats.org/officeDocument/2006/relationships" id="270" r:id="R096105f014304d90"/>
    <p:sldId xmlns:r="http://schemas.openxmlformats.org/officeDocument/2006/relationships" id="271" r:id="R2bf437d451044ec2"/>
    <p:sldId xmlns:r="http://schemas.openxmlformats.org/officeDocument/2006/relationships" id="272" r:id="R1c787dfc76604697"/>
    <p:sldId xmlns:r="http://schemas.openxmlformats.org/officeDocument/2006/relationships" id="273" r:id="R5bf9f60210f04c6d"/>
    <p:sldId xmlns:r="http://schemas.openxmlformats.org/officeDocument/2006/relationships" id="274" r:id="Rd4315defe85a4651"/>
    <p:sldId xmlns:r="http://schemas.openxmlformats.org/officeDocument/2006/relationships" id="275" r:id="Re3a0e2f390d8467d"/>
    <p:sldId xmlns:r="http://schemas.openxmlformats.org/officeDocument/2006/relationships" id="276" r:id="R9476d592dc994655"/>
    <p:sldId xmlns:r="http://schemas.openxmlformats.org/officeDocument/2006/relationships" id="277" r:id="R716bdbcf72a44597"/>
    <p:sldId xmlns:r="http://schemas.openxmlformats.org/officeDocument/2006/relationships" id="278" r:id="R559a93b09e21476a"/>
    <p:sldId xmlns:r="http://schemas.openxmlformats.org/officeDocument/2006/relationships" id="279" r:id="Rbd56e31dba6840ae"/>
    <p:sldId xmlns:r="http://schemas.openxmlformats.org/officeDocument/2006/relationships" id="280" r:id="Rfae0acd2db6a4e35"/>
    <p:sldId xmlns:r="http://schemas.openxmlformats.org/officeDocument/2006/relationships" id="281" r:id="R0f4f02074ded4dcb"/>
    <p:sldId xmlns:r="http://schemas.openxmlformats.org/officeDocument/2006/relationships" id="282" r:id="R3047e4d6c3ac46f4"/>
    <p:sldId xmlns:r="http://schemas.openxmlformats.org/officeDocument/2006/relationships" id="283" r:id="R8ffde12c9b7547fa"/>
    <p:sldId xmlns:r="http://schemas.openxmlformats.org/officeDocument/2006/relationships" id="284" r:id="R2fa1179a050e4e41"/>
    <p:sldId xmlns:r="http://schemas.openxmlformats.org/officeDocument/2006/relationships" id="285" r:id="Rd6f395c1dc2c40d5"/>
    <p:sldId xmlns:r="http://schemas.openxmlformats.org/officeDocument/2006/relationships" id="286" r:id="R18b49087c93d4263"/>
    <p:sldId xmlns:r="http://schemas.openxmlformats.org/officeDocument/2006/relationships" id="287" r:id="Raf4568b8c85b461f"/>
    <p:sldId xmlns:r="http://schemas.openxmlformats.org/officeDocument/2006/relationships" id="288" r:id="R14bb33ee85d04590"/>
    <p:sldId xmlns:r="http://schemas.openxmlformats.org/officeDocument/2006/relationships" id="289" r:id="R1557080305494aa1"/>
    <p:sldId xmlns:r="http://schemas.openxmlformats.org/officeDocument/2006/relationships" id="290" r:id="R44c4fd036ccf411d"/>
    <p:sldId xmlns:r="http://schemas.openxmlformats.org/officeDocument/2006/relationships" id="291" r:id="Rebe2dff0114b45be"/>
    <p:sldId xmlns:r="http://schemas.openxmlformats.org/officeDocument/2006/relationships" id="292" r:id="R757337de270a46b2"/>
    <p:sldId xmlns:r="http://schemas.openxmlformats.org/officeDocument/2006/relationships" id="293" r:id="R531ae2690b084b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c559164fbc408a" /><Relationship Type="http://schemas.openxmlformats.org/officeDocument/2006/relationships/slideMaster" Target="/ppt/slideMasters/slideMaster1.xml" Id="R001bcbae2ac7464a" /><Relationship Type="http://schemas.openxmlformats.org/officeDocument/2006/relationships/notesMaster" Target="/ppt/notesMasters/notesMaster1.xml" Id="Rc12b293a91fe4513" /><Relationship Type="http://schemas.openxmlformats.org/officeDocument/2006/relationships/presProps" Target="/ppt/presProps.xml" Id="Rfe68501fd76f4ffe" /><Relationship Type="http://schemas.openxmlformats.org/officeDocument/2006/relationships/tableStyles" Target="/ppt/tableStyles.xml" Id="Rb9f90ab2f753403c" /><Relationship Type="http://schemas.openxmlformats.org/officeDocument/2006/relationships/slide" Target="/ppt/slides/slide1.xml" Id="Rea4b10aaa6d74d2e" /><Relationship Type="http://schemas.openxmlformats.org/officeDocument/2006/relationships/slide" Target="/ppt/slides/slide2.xml" Id="R7d60ef2b97e54d6d" /><Relationship Type="http://schemas.openxmlformats.org/officeDocument/2006/relationships/slide" Target="/ppt/slides/slide3.xml" Id="R260535cde8b648f4" /><Relationship Type="http://schemas.openxmlformats.org/officeDocument/2006/relationships/slide" Target="/ppt/slides/slide4.xml" Id="R98b02b572b9541dc" /><Relationship Type="http://schemas.openxmlformats.org/officeDocument/2006/relationships/slide" Target="/ppt/slides/slide5.xml" Id="R4fa412ed2b224eb3" /><Relationship Type="http://schemas.openxmlformats.org/officeDocument/2006/relationships/slide" Target="/ppt/slides/slide6.xml" Id="R97b1d9a4317d4f95" /><Relationship Type="http://schemas.openxmlformats.org/officeDocument/2006/relationships/slide" Target="/ppt/slides/slide7.xml" Id="Rf85dcdd860314340" /><Relationship Type="http://schemas.openxmlformats.org/officeDocument/2006/relationships/slide" Target="/ppt/slides/slide8.xml" Id="R66a282c860d74d5b" /><Relationship Type="http://schemas.openxmlformats.org/officeDocument/2006/relationships/slide" Target="/ppt/slides/slide9.xml" Id="R9380bb79f63141d6" /><Relationship Type="http://schemas.openxmlformats.org/officeDocument/2006/relationships/slide" Target="/ppt/slides/slide10.xml" Id="Rf802007a100142fb" /><Relationship Type="http://schemas.openxmlformats.org/officeDocument/2006/relationships/slide" Target="/ppt/slides/slide11.xml" Id="R21d6c6badea64083" /><Relationship Type="http://schemas.openxmlformats.org/officeDocument/2006/relationships/slide" Target="/ppt/slides/slide12.xml" Id="Rde9345796bbc4265" /><Relationship Type="http://schemas.openxmlformats.org/officeDocument/2006/relationships/slide" Target="/ppt/slides/slide13.xml" Id="Rfa0f72adb31e42b3" /><Relationship Type="http://schemas.openxmlformats.org/officeDocument/2006/relationships/slide" Target="/ppt/slides/slide14.xml" Id="Race9cec414d94f78" /><Relationship Type="http://schemas.openxmlformats.org/officeDocument/2006/relationships/slide" Target="/ppt/slides/slide15.xml" Id="R096105f014304d90" /><Relationship Type="http://schemas.openxmlformats.org/officeDocument/2006/relationships/slide" Target="/ppt/slides/slide16.xml" Id="R2bf437d451044ec2" /><Relationship Type="http://schemas.openxmlformats.org/officeDocument/2006/relationships/slide" Target="/ppt/slides/slide17.xml" Id="R1c787dfc76604697" /><Relationship Type="http://schemas.openxmlformats.org/officeDocument/2006/relationships/slide" Target="/ppt/slides/slide18.xml" Id="R5bf9f60210f04c6d" /><Relationship Type="http://schemas.openxmlformats.org/officeDocument/2006/relationships/slide" Target="/ppt/slides/slide19.xml" Id="Rd4315defe85a4651" /><Relationship Type="http://schemas.openxmlformats.org/officeDocument/2006/relationships/slide" Target="/ppt/slides/slide20.xml" Id="Re3a0e2f390d8467d" /><Relationship Type="http://schemas.openxmlformats.org/officeDocument/2006/relationships/slide" Target="/ppt/slides/slide21.xml" Id="R9476d592dc994655" /><Relationship Type="http://schemas.openxmlformats.org/officeDocument/2006/relationships/slide" Target="/ppt/slides/slide22.xml" Id="R716bdbcf72a44597" /><Relationship Type="http://schemas.openxmlformats.org/officeDocument/2006/relationships/slide" Target="/ppt/slides/slide23.xml" Id="R559a93b09e21476a" /><Relationship Type="http://schemas.openxmlformats.org/officeDocument/2006/relationships/slide" Target="/ppt/slides/slide24.xml" Id="Rbd56e31dba6840ae" /><Relationship Type="http://schemas.openxmlformats.org/officeDocument/2006/relationships/slide" Target="/ppt/slides/slide25.xml" Id="Rfae0acd2db6a4e35" /><Relationship Type="http://schemas.openxmlformats.org/officeDocument/2006/relationships/slide" Target="/ppt/slides/slide26.xml" Id="R0f4f02074ded4dcb" /><Relationship Type="http://schemas.openxmlformats.org/officeDocument/2006/relationships/slide" Target="/ppt/slides/slide27.xml" Id="R3047e4d6c3ac46f4" /><Relationship Type="http://schemas.openxmlformats.org/officeDocument/2006/relationships/slide" Target="/ppt/slides/slide28.xml" Id="R8ffde12c9b7547fa" /><Relationship Type="http://schemas.openxmlformats.org/officeDocument/2006/relationships/slide" Target="/ppt/slides/slide29.xml" Id="R2fa1179a050e4e41" /><Relationship Type="http://schemas.openxmlformats.org/officeDocument/2006/relationships/slide" Target="/ppt/slides/slide30.xml" Id="Rd6f395c1dc2c40d5" /><Relationship Type="http://schemas.openxmlformats.org/officeDocument/2006/relationships/slide" Target="/ppt/slides/slide31.xml" Id="R18b49087c93d4263" /><Relationship Type="http://schemas.openxmlformats.org/officeDocument/2006/relationships/slide" Target="/ppt/slides/slide32.xml" Id="Raf4568b8c85b461f" /><Relationship Type="http://schemas.openxmlformats.org/officeDocument/2006/relationships/slide" Target="/ppt/slides/slide33.xml" Id="R14bb33ee85d04590" /><Relationship Type="http://schemas.openxmlformats.org/officeDocument/2006/relationships/slide" Target="/ppt/slides/slide34.xml" Id="R1557080305494aa1" /><Relationship Type="http://schemas.openxmlformats.org/officeDocument/2006/relationships/slide" Target="/ppt/slides/slide35.xml" Id="R44c4fd036ccf411d" /><Relationship Type="http://schemas.openxmlformats.org/officeDocument/2006/relationships/slide" Target="/ppt/slides/slide36.xml" Id="Rebe2dff0114b45be" /><Relationship Type="http://schemas.openxmlformats.org/officeDocument/2006/relationships/slide" Target="/ppt/slides/slide37.xml" Id="R757337de270a46b2" /><Relationship Type="http://schemas.openxmlformats.org/officeDocument/2006/relationships/slide" Target="/ppt/slides/slide38.xml" Id="R531ae2690b084b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cc1a86561a4e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a7b00d66bd4365" /><Relationship Type="http://schemas.openxmlformats.org/officeDocument/2006/relationships/notesMaster" Target="/ppt/notesMasters/notesMaster1.xml" Id="R92fd8a612f674f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f089838b3a4870" /><Relationship Type="http://schemas.openxmlformats.org/officeDocument/2006/relationships/notesMaster" Target="/ppt/notesMasters/notesMaster1.xml" Id="Rdec9f7af9abd47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3f4d228853412b" /><Relationship Type="http://schemas.openxmlformats.org/officeDocument/2006/relationships/notesMaster" Target="/ppt/notesMasters/notesMaster1.xml" Id="R35384457530e4b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909016316245a3" /><Relationship Type="http://schemas.openxmlformats.org/officeDocument/2006/relationships/notesMaster" Target="/ppt/notesMasters/notesMaster1.xml" Id="R544f2968b77340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b2ddf64b94348" /><Relationship Type="http://schemas.openxmlformats.org/officeDocument/2006/relationships/notesMaster" Target="/ppt/notesMasters/notesMaster1.xml" Id="Ra9a832e2571849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1e041c244d4622" /><Relationship Type="http://schemas.openxmlformats.org/officeDocument/2006/relationships/notesMaster" Target="/ppt/notesMasters/notesMaster1.xml" Id="Rbfd9700817a540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3ae542af304baf" /><Relationship Type="http://schemas.openxmlformats.org/officeDocument/2006/relationships/notesMaster" Target="/ppt/notesMasters/notesMaster1.xml" Id="R5194bc34df0543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0e1fc097b04dc2" /><Relationship Type="http://schemas.openxmlformats.org/officeDocument/2006/relationships/notesMaster" Target="/ppt/notesMasters/notesMaster1.xml" Id="R6d254e6906b94e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fb28f544ee4fff" /><Relationship Type="http://schemas.openxmlformats.org/officeDocument/2006/relationships/notesMaster" Target="/ppt/notesMasters/notesMaster1.xml" Id="Readbe1daafd34e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6e19006682470b" /><Relationship Type="http://schemas.openxmlformats.org/officeDocument/2006/relationships/notesMaster" Target="/ppt/notesMasters/notesMaster1.xml" Id="Rd20db6e7021a44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6c09bd2b0c45a8" /><Relationship Type="http://schemas.openxmlformats.org/officeDocument/2006/relationships/notesMaster" Target="/ppt/notesMasters/notesMaster1.xml" Id="R794b8c1248754c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497bb3062445d2" /><Relationship Type="http://schemas.openxmlformats.org/officeDocument/2006/relationships/notesMaster" Target="/ppt/notesMasters/notesMaster1.xml" Id="R3b781d7ad2464e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7f20907623472e" /><Relationship Type="http://schemas.openxmlformats.org/officeDocument/2006/relationships/notesMaster" Target="/ppt/notesMasters/notesMaster1.xml" Id="R30dca5fae1c04f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7c3b3bd5eb4113" /><Relationship Type="http://schemas.openxmlformats.org/officeDocument/2006/relationships/notesMaster" Target="/ppt/notesMasters/notesMaster1.xml" Id="Ra16ab85c960c47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64ed1a8b28456e" /><Relationship Type="http://schemas.openxmlformats.org/officeDocument/2006/relationships/notesMaster" Target="/ppt/notesMasters/notesMaster1.xml" Id="Rbf30e9798bad4f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8575496c6a4f81" /><Relationship Type="http://schemas.openxmlformats.org/officeDocument/2006/relationships/notesMaster" Target="/ppt/notesMasters/notesMaster1.xml" Id="R56c0c36b68cd47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e0e37d55f1f40e2" /><Relationship Type="http://schemas.openxmlformats.org/officeDocument/2006/relationships/notesMaster" Target="/ppt/notesMasters/notesMaster1.xml" Id="R6a4a2ae0285c433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0be0e1fe314755" /><Relationship Type="http://schemas.openxmlformats.org/officeDocument/2006/relationships/notesMaster" Target="/ppt/notesMasters/notesMaster1.xml" Id="R93ec735d716e410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a69a74b93644c9a" /><Relationship Type="http://schemas.openxmlformats.org/officeDocument/2006/relationships/notesMaster" Target="/ppt/notesMasters/notesMaster1.xml" Id="R605f965790ba4dc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7dc8d5185a0444f" /><Relationship Type="http://schemas.openxmlformats.org/officeDocument/2006/relationships/notesMaster" Target="/ppt/notesMasters/notesMaster1.xml" Id="R64b0883e390046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accca55b8394610" /><Relationship Type="http://schemas.openxmlformats.org/officeDocument/2006/relationships/notesMaster" Target="/ppt/notesMasters/notesMaster1.xml" Id="R724e8e4b9b5045f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a07d0cb1e6147bf" /><Relationship Type="http://schemas.openxmlformats.org/officeDocument/2006/relationships/notesMaster" Target="/ppt/notesMasters/notesMaster1.xml" Id="Rd62d869928c84ff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7b03596fff7430d" /><Relationship Type="http://schemas.openxmlformats.org/officeDocument/2006/relationships/notesMaster" Target="/ppt/notesMasters/notesMaster1.xml" Id="R7830039c7244443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d670cd68f174d0a" /><Relationship Type="http://schemas.openxmlformats.org/officeDocument/2006/relationships/notesMaster" Target="/ppt/notesMasters/notesMaster1.xml" Id="R38736354fea2423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4140ee270864df4" /><Relationship Type="http://schemas.openxmlformats.org/officeDocument/2006/relationships/notesMaster" Target="/ppt/notesMasters/notesMaster1.xml" Id="Rdd5bbc286e83499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2e5cf0860ff4384" /><Relationship Type="http://schemas.openxmlformats.org/officeDocument/2006/relationships/notesMaster" Target="/ppt/notesMasters/notesMaster1.xml" Id="R7bdcfd33ef50417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ab545109feb4e47" /><Relationship Type="http://schemas.openxmlformats.org/officeDocument/2006/relationships/notesMaster" Target="/ppt/notesMasters/notesMaster1.xml" Id="R2e874da97b494a3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dbc3baf86fd49c9" /><Relationship Type="http://schemas.openxmlformats.org/officeDocument/2006/relationships/notesMaster" Target="/ppt/notesMasters/notesMaster1.xml" Id="R29475556cb7a4c6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fe7f31b17704b0d" /><Relationship Type="http://schemas.openxmlformats.org/officeDocument/2006/relationships/notesMaster" Target="/ppt/notesMasters/notesMaster1.xml" Id="Rc862253cf7e649e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cc9b027d9e644aa" /><Relationship Type="http://schemas.openxmlformats.org/officeDocument/2006/relationships/notesMaster" Target="/ppt/notesMasters/notesMaster1.xml" Id="R7853413fe2da4f8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076e464ee2741a6" /><Relationship Type="http://schemas.openxmlformats.org/officeDocument/2006/relationships/notesMaster" Target="/ppt/notesMasters/notesMaster1.xml" Id="Raec9d585fe9348e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612f6713f6749c4" /><Relationship Type="http://schemas.openxmlformats.org/officeDocument/2006/relationships/notesMaster" Target="/ppt/notesMasters/notesMaster1.xml" Id="R8de8f4959101425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58dac3fb4da4bd8" /><Relationship Type="http://schemas.openxmlformats.org/officeDocument/2006/relationships/notesMaster" Target="/ppt/notesMasters/notesMaster1.xml" Id="R5996c1ad3c354b4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b456f96bb544606" /><Relationship Type="http://schemas.openxmlformats.org/officeDocument/2006/relationships/notesMaster" Target="/ppt/notesMasters/notesMaster1.xml" Id="R67008d82bf2b42c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a9391f830da4cfa" /><Relationship Type="http://schemas.openxmlformats.org/officeDocument/2006/relationships/notesMaster" Target="/ppt/notesMasters/notesMaster1.xml" Id="R5ae99530847747b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134daa0053743f0" /><Relationship Type="http://schemas.openxmlformats.org/officeDocument/2006/relationships/notesMaster" Target="/ppt/notesMasters/notesMaster1.xml" Id="R03825c1bfae0437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97254ec9a0e4e6a" /><Relationship Type="http://schemas.openxmlformats.org/officeDocument/2006/relationships/notesMaster" Target="/ppt/notesMasters/notesMaster1.xml" Id="R65e4bba8d18e4dd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0367a5d7a054ffa" /><Relationship Type="http://schemas.openxmlformats.org/officeDocument/2006/relationships/notesMaster" Target="/ppt/notesMasters/notesMaster1.xml" Id="R7eeef3f3159e4c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27265b1b0e4e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2ee0521f6d47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d124f6c6a4d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489cbe3384f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14e4edf8a41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4caf5600c4f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0F1148-CDA8-4FA6-9119-223F37E15C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2CB4B2-2DAB-4AEC-BDE6-1129405D02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9D3665-0240-4321-B1D8-300F0C1FFC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952E5C-C93F-4D41-ADA7-9ABCCF83A1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B0A489-AE5A-43FC-AFA6-79508809B1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F72A3F-7735-4340-AA9E-F9CAB28499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EE636F-4857-4F6F-829B-1121162C02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B80F1F-11C1-4804-AFDB-BDFE8B1B44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F6A992-CC41-4856-A086-CBD06A2B50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E8A8CC-167B-4BC1-8458-3D00286526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43e7ca8b174ed2" /><Relationship Type="http://schemas.openxmlformats.org/officeDocument/2006/relationships/slideLayout" Target="/ppt/slideLayouts/slideLayout1.xml" Id="Raa0028ca79654400" /><Relationship Type="http://schemas.openxmlformats.org/officeDocument/2006/relationships/slideLayout" Target="/ppt/slideLayouts/slideLayout2.xml" Id="R2075874720f74883" /><Relationship Type="http://schemas.openxmlformats.org/officeDocument/2006/relationships/slideLayout" Target="/ppt/slideLayouts/slideLayout3.xml" Id="R4f53f77ac41a4ebb" /><Relationship Type="http://schemas.openxmlformats.org/officeDocument/2006/relationships/slideLayout" Target="/ppt/slideLayouts/slideLayout4.xml" Id="R2b7862e530004a2f" /><Relationship Type="http://schemas.openxmlformats.org/officeDocument/2006/relationships/slideLayout" Target="/ppt/slideLayouts/slideLayout5.xml" Id="R9d4f4732907c47d2" /><Relationship Type="http://schemas.openxmlformats.org/officeDocument/2006/relationships/slideLayout" Target="/ppt/slideLayouts/slideLayout6.xml" Id="R571c518e5efd4e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0028ca79654400"/>
    <p:sldLayoutId xmlns:r="http://schemas.openxmlformats.org/officeDocument/2006/relationships" id="2147483650" r:id="R2075874720f74883"/>
    <p:sldLayoutId xmlns:r="http://schemas.openxmlformats.org/officeDocument/2006/relationships" id="2147483651" r:id="R4f53f77ac41a4ebb"/>
    <p:sldLayoutId xmlns:r="http://schemas.openxmlformats.org/officeDocument/2006/relationships" id="2147483652" r:id="R2b7862e530004a2f"/>
    <p:sldLayoutId xmlns:r="http://schemas.openxmlformats.org/officeDocument/2006/relationships" id="2147483653" r:id="R9d4f4732907c47d2"/>
    <p:sldLayoutId xmlns:r="http://schemas.openxmlformats.org/officeDocument/2006/relationships" id="2147483654" r:id="R571c518e5efd4e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aa622c19954bec" /><Relationship Type="http://schemas.openxmlformats.org/officeDocument/2006/relationships/notesSlide" Target="/ppt/notesSlides/notesSlide1.xml" Id="Rd6fe1c063a8d46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19716a5b64231" /><Relationship Type="http://schemas.openxmlformats.org/officeDocument/2006/relationships/notesSlide" Target="/ppt/notesSlides/notesSlide2.xml" Id="R35d26bcbeba140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b3f759cb0a4c74" /><Relationship Type="http://schemas.openxmlformats.org/officeDocument/2006/relationships/chart" Target="/ppt/slides/charts/chart1.xml" Id="R8f14a9a1503a44c2" /><Relationship Type="http://schemas.openxmlformats.org/officeDocument/2006/relationships/chart" Target="/ppt/slides/charts/chart2.xml" Id="Rbd9358ae08ec496c" /><Relationship Type="http://schemas.openxmlformats.org/officeDocument/2006/relationships/notesSlide" Target="/ppt/notesSlides/notesSlide3.xml" Id="Rcd38c1bfcaa34c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ff86c2784845bb" /><Relationship Type="http://schemas.openxmlformats.org/officeDocument/2006/relationships/notesSlide" Target="/ppt/notesSlides/notesSlide4.xml" Id="Rc352d8fe1db54b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d25203e014fef" /><Relationship Type="http://schemas.openxmlformats.org/officeDocument/2006/relationships/notesSlide" Target="/ppt/notesSlides/notesSlide5.xml" Id="Ra2f705761db948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05a4ed731b4d69" /><Relationship Type="http://schemas.openxmlformats.org/officeDocument/2006/relationships/notesSlide" Target="/ppt/notesSlides/notesSlide6.xml" Id="R25ccdb9fffcf42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d8ca85285244f3" /><Relationship Type="http://schemas.openxmlformats.org/officeDocument/2006/relationships/notesSlide" Target="/ppt/notesSlides/notesSlide7.xml" Id="Rfa7f7bd888dd47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5defed13c74244" /><Relationship Type="http://schemas.openxmlformats.org/officeDocument/2006/relationships/notesSlide" Target="/ppt/notesSlides/notesSlide8.xml" Id="R07b19e8659274a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7492a5c364e18" /><Relationship Type="http://schemas.openxmlformats.org/officeDocument/2006/relationships/notesSlide" Target="/ppt/notesSlides/notesSlide9.xml" Id="Rd24b49fa28aa4c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973e3632044b6" /><Relationship Type="http://schemas.openxmlformats.org/officeDocument/2006/relationships/notesSlide" Target="/ppt/notesSlides/notesSlide10.xml" Id="R962a43e7496040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3eeee3eede4124" /><Relationship Type="http://schemas.openxmlformats.org/officeDocument/2006/relationships/notesSlide" Target="/ppt/notesSlides/notesSlide11.xml" Id="Rb8943b58d76242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83a72700d9490c" /><Relationship Type="http://schemas.openxmlformats.org/officeDocument/2006/relationships/notesSlide" Target="/ppt/notesSlides/notesSlide12.xml" Id="R7293e42419e845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bd8ac9b97d4241" /><Relationship Type="http://schemas.openxmlformats.org/officeDocument/2006/relationships/notesSlide" Target="/ppt/notesSlides/notesSlide13.xml" Id="R173de9bf0ba542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612eeee2f94b5e" /><Relationship Type="http://schemas.openxmlformats.org/officeDocument/2006/relationships/notesSlide" Target="/ppt/notesSlides/notesSlide14.xml" Id="R55bbbc2d223c4c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395928eb54693" /><Relationship Type="http://schemas.openxmlformats.org/officeDocument/2006/relationships/notesSlide" Target="/ppt/notesSlides/notesSlide15.xml" Id="R2daef11c0b9247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5b3e143b924a91" /><Relationship Type="http://schemas.openxmlformats.org/officeDocument/2006/relationships/notesSlide" Target="/ppt/notesSlides/notesSlide16.xml" Id="Rca3abc119dab40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99af477f7454c" /><Relationship Type="http://schemas.openxmlformats.org/officeDocument/2006/relationships/notesSlide" Target="/ppt/notesSlides/notesSlide17.xml" Id="Rc9c919e4eddc45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274b720e843d6" /><Relationship Type="http://schemas.openxmlformats.org/officeDocument/2006/relationships/hyperlink" Target="https://docs.nvidia.com/cuda/cuda-c-best-practices-guide/index.html" TargetMode="External" Id="R53f294a0a49a4f4d" /><Relationship Type="http://schemas.openxmlformats.org/officeDocument/2006/relationships/hyperlink" Target="https://docs.nvidia.com/gpudirect-storage/overview-guide/index.html" TargetMode="External" Id="R72d94ee928f94948" /><Relationship Type="http://schemas.openxmlformats.org/officeDocument/2006/relationships/notesSlide" Target="/ppt/notesSlides/notesSlide18.xml" Id="Ra14648bb13f84a9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2008542a314bc3" /><Relationship Type="http://schemas.openxmlformats.org/officeDocument/2006/relationships/hyperlink" Target="https://docs.nvidia.com/gpudirect-storage/design-guide/index.html" TargetMode="External" Id="R228a6542354e4622" /><Relationship Type="http://schemas.openxmlformats.org/officeDocument/2006/relationships/hyperlink" Target="https://docs.nvidia.com/megatron-core/developer-guide/latest/user-guide/parallelism-guide.html" TargetMode="External" Id="Rb0e4fb0914254b31" /><Relationship Type="http://schemas.openxmlformats.org/officeDocument/2006/relationships/hyperlink" Target="https://www.iea.org/reports/key-questions-on-energy-and-ai/executive-summary" TargetMode="External" Id="Rac0908a324024c6f" /><Relationship Type="http://schemas.openxmlformats.org/officeDocument/2006/relationships/hyperlink" Target="https://www.nsf.gov/cise/updates/nairr-2-years-advancing-american-artificial-intelligence" TargetMode="External" Id="R792e063411e4430f" /><Relationship Type="http://schemas.openxmlformats.org/officeDocument/2006/relationships/notesSlide" Target="/ppt/notesSlides/notesSlide19.xml" Id="Rf0df2c712e5043f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fcb39a1ad4693" /><Relationship Type="http://schemas.openxmlformats.org/officeDocument/2006/relationships/hyperlink" Target="https://aclanthology.org/P19-1355/" TargetMode="External" Id="Rb451e0fdc3b04676" /><Relationship Type="http://schemas.openxmlformats.org/officeDocument/2006/relationships/hyperlink" Target="https://arxiv.org/abs/2304.03271v5" TargetMode="External" Id="R194055bfad934dfa" /><Relationship Type="http://schemas.openxmlformats.org/officeDocument/2006/relationships/hyperlink" Target="https://arxiv.org/abs/1907.10597" TargetMode="External" Id="R951709615c6e496b" /><Relationship Type="http://schemas.openxmlformats.org/officeDocument/2006/relationships/hyperlink" Target="https://arxiv.org/abs/1906.08935v2" TargetMode="External" Id="R61a43263631f4655" /><Relationship Type="http://schemas.openxmlformats.org/officeDocument/2006/relationships/notesSlide" Target="/ppt/notesSlides/notesSlide20.xml" Id="R439185a651bd44c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b3598ecae74d03" /><Relationship Type="http://schemas.openxmlformats.org/officeDocument/2006/relationships/hyperlink" Target="https://aclanthology.org/2024.cl-3.8/" TargetMode="External" Id="R8618a0916b8b445e" /><Relationship Type="http://schemas.openxmlformats.org/officeDocument/2006/relationships/hyperlink" Target="https://arxiv.org/abs/2010.15581v1" TargetMode="External" Id="Rb8bbf8f2bc794a34" /><Relationship Type="http://schemas.openxmlformats.org/officeDocument/2006/relationships/hyperlink" Target="https://arxiv.org/abs/2106.11750v1" TargetMode="External" Id="R1a97356e966e4a8f" /><Relationship Type="http://schemas.openxmlformats.org/officeDocument/2006/relationships/hyperlink" Target="https://www.oecd.org/en/topics/ai-principles.html" TargetMode="External" Id="Rf23a3d1c028042b2" /><Relationship Type="http://schemas.openxmlformats.org/officeDocument/2006/relationships/notesSlide" Target="/ppt/notesSlides/notesSlide21.xml" Id="R070f1358dfa44e4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4ff1babbf84a95" /><Relationship Type="http://schemas.openxmlformats.org/officeDocument/2006/relationships/hyperlink" Target="https://airc.nist.gov/airmf-resources/playbook/" TargetMode="External" Id="R877e06ea9dcd462c" /><Relationship Type="http://schemas.openxmlformats.org/officeDocument/2006/relationships/notesSlide" Target="/ppt/notesSlides/notesSlide22.xml" Id="R47d0f8f0fea449c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d36e1795a54c61" /><Relationship Type="http://schemas.openxmlformats.org/officeDocument/2006/relationships/notesSlide" Target="/ppt/notesSlides/notesSlide23.xml" Id="Rd16adde58b274b7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162e0446714408" /><Relationship Type="http://schemas.openxmlformats.org/officeDocument/2006/relationships/notesSlide" Target="/ppt/notesSlides/notesSlide24.xml" Id="Ra5c0c0b772e1435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6c646889b448f9" /><Relationship Type="http://schemas.openxmlformats.org/officeDocument/2006/relationships/notesSlide" Target="/ppt/notesSlides/notesSlide25.xml" Id="R4229a994805249e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330c21ae7c4a90" /><Relationship Type="http://schemas.openxmlformats.org/officeDocument/2006/relationships/notesSlide" Target="/ppt/notesSlides/notesSlide26.xml" Id="R170e27640efa43d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c443ffbed345a9" /><Relationship Type="http://schemas.openxmlformats.org/officeDocument/2006/relationships/notesSlide" Target="/ppt/notesSlides/notesSlide27.xml" Id="Re69ca335eafa4ce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a2972cb26f435e" /><Relationship Type="http://schemas.openxmlformats.org/officeDocument/2006/relationships/notesSlide" Target="/ppt/notesSlides/notesSlide28.xml" Id="R53f3e184ce4843b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10e4d09bf40cf" /><Relationship Type="http://schemas.openxmlformats.org/officeDocument/2006/relationships/notesSlide" Target="/ppt/notesSlides/notesSlide29.xml" Id="R23a75f95c8ec4f2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0c6d16723244f8" /><Relationship Type="http://schemas.openxmlformats.org/officeDocument/2006/relationships/notesSlide" Target="/ppt/notesSlides/notesSlide30.xml" Id="R9a5b94073e1b41b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560cd848654b33" /><Relationship Type="http://schemas.openxmlformats.org/officeDocument/2006/relationships/notesSlide" Target="/ppt/notesSlides/notesSlide31.xml" Id="R2d489fa5aecf421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8c40984a67422a" /><Relationship Type="http://schemas.openxmlformats.org/officeDocument/2006/relationships/notesSlide" Target="/ppt/notesSlides/notesSlide32.xml" Id="R5e9096f019da497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cdc11e95bc4ab8" /><Relationship Type="http://schemas.openxmlformats.org/officeDocument/2006/relationships/notesSlide" Target="/ppt/notesSlides/notesSlide33.xml" Id="R4cf6cb1b121a49c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4bf4a8ef14eb2" /><Relationship Type="http://schemas.openxmlformats.org/officeDocument/2006/relationships/notesSlide" Target="/ppt/notesSlides/notesSlide34.xml" Id="R4b1c440d601d46a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9d5e6ac334a5d" /><Relationship Type="http://schemas.openxmlformats.org/officeDocument/2006/relationships/notesSlide" Target="/ppt/notesSlides/notesSlide35.xml" Id="Re7d6e43cdb054ea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5b37e75e404314" /><Relationship Type="http://schemas.openxmlformats.org/officeDocument/2006/relationships/notesSlide" Target="/ppt/notesSlides/notesSlide36.xml" Id="Rc184c27af2cd4d7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0a94e9d92f445e" /><Relationship Type="http://schemas.openxmlformats.org/officeDocument/2006/relationships/notesSlide" Target="/ppt/notesSlides/notesSlide37.xml" Id="R322992ed6b3343e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00d403e31a4110" /><Relationship Type="http://schemas.openxmlformats.org/officeDocument/2006/relationships/notesSlide" Target="/ppt/notesSlides/notesSlide38.xml" Id="R0d13d17add934d0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 2">
            <a:extLst xmlns:a="http://schemas.openxmlformats.org/drawingml/2006/main">
              <a:ext uri="{FF2B5EF4-FFF2-40B4-BE49-F238E27FC236}">
                <a16:creationId xmlns:a16="http://schemas.microsoft.com/office/drawing/2014/main" id="{42A997F6-AA09-4409-9D92-63D85311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 2</a:t>
            </a:r>
          </a:p>
        </p:txBody>
      </p:sp>
      <p:sp>
        <p:nvSpPr>
          <p:cNvPr id="2" name="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7B9521DD-F8FB-4292-824A-7CD060CA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D3517707-0383-4399-BD75-93F75E95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BF507-8960-4CCF-BB53-03A5E6E7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0641CA7B-A653-4E95-9169-590B2020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455CAB94-90FE-481B-A8BD-FB2012D2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1AC030D6-C385-4E47-9A58-A4F29D13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7625FC14-E946-4590-88B4-6A1AF159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Detailed evidence, references and AI">
            <a:extLst xmlns:a="http://schemas.openxmlformats.org/drawingml/2006/main">
              <a:ext uri="{FF2B5EF4-FFF2-40B4-BE49-F238E27FC236}">
                <a16:creationId xmlns:a16="http://schemas.microsoft.com/office/drawing/2014/main" id="{B2884363-A10C-4755-88F6-6299C47E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Detailed evidence, references and AI records follow in the appendix</a:t>
            </a:r>
          </a:p>
        </p:txBody>
      </p:sp>
    </p:spTree>
    <p:extLst>
      <p:ext uri="{BB962C8B-B14F-4D97-AF65-F5344CB8AC3E}">
        <p14:creationId xmlns:p14="http://schemas.microsoft.com/office/powerpoint/2010/main" val="169524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09F171A4-153D-467F-ABAA-B806E27B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1523C1F5-BB37-46F6-ABC8-D1F06D9B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A8EEB-6CA5-44C9-88BD-6A0A80FE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4CA79-58E6-4778-B17B-CA0CEEAA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98B81-FAC6-456F-8CCD-AF76DB19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E78F1-1BF5-42D6-A034-F9EF7451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4D151-5C3F-45DF-9C8C-8AA80BC6AA97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70210-8E69-4DF9-96CD-4381977938F1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8B343-C698-428A-AFA9-87059F97468F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9187BCC1-5C49-4073-AAE7-2706A8B8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AEEB30CF-8793-429A-8567-580628EB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238B30B7-8E6C-4151-8F53-F4B85512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2E4D38AB-2C10-4776-9310-2ADE5748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7F306-2252-4F52-8BD4-EA8E6EC4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D1127928-A7DD-4524-BA70-5AADFD26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538E6-0B57-4638-9095-8C48447D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FFA29AF4-1CB8-43C2-B00C-450461F6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18" name="2 / 38">
            <a:extLst xmlns:a="http://schemas.openxmlformats.org/drawingml/2006/main">
              <a:ext uri="{FF2B5EF4-FFF2-40B4-BE49-F238E27FC236}">
                <a16:creationId xmlns:a16="http://schemas.microsoft.com/office/drawing/2014/main" id="{8D69EC53-E3E1-4C86-B0E4-36A10548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38</a:t>
            </a:r>
          </a:p>
        </p:txBody>
      </p:sp>
    </p:spTree>
    <p:extLst>
      <p:ext uri="{BB962C8B-B14F-4D97-AF65-F5344CB8AC3E}">
        <p14:creationId xmlns:p14="http://schemas.microsoft.com/office/powerpoint/2010/main" val="787254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D2EB1EE5-7CB8-489B-B2B5-23787061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03096BC2-F1DE-4F7C-90C5-9C60BD73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487CA710-0BD0-4133-A376-43815095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1A2C562A-650C-480E-BB5D-0AE515E3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4E125EB-AB37-487F-B33B-4574D19BD08B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14a9a1503a44c2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B2D8E00-25E5-4E29-9313-7509B33F94AD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9358ae08ec496c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D6AE054E-CFF1-4981-B757-CC5973FE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3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158A528C-B9A6-49EF-80FE-E8460449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[13] emphasizes efficiency; water research [12]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21229-21B3-4471-BF18-08BCC3F5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B0F99FD5-336A-40E6-8864-95312EEB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[12] Li et al. 2025 revision: water impacts; [13] Schwartz et al. 2019: efficiency reporting</a:t>
            </a:r>
          </a:p>
        </p:txBody>
      </p:sp>
      <p:sp>
        <p:nvSpPr>
          <p:cNvPr id="11" name="3 / 38">
            <a:extLst xmlns:a="http://schemas.openxmlformats.org/drawingml/2006/main">
              <a:ext uri="{FF2B5EF4-FFF2-40B4-BE49-F238E27FC236}">
                <a16:creationId xmlns:a16="http://schemas.microsoft.com/office/drawing/2014/main" id="{05995984-6708-428F-B751-D601CD6A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38</a:t>
            </a:r>
          </a:p>
        </p:txBody>
      </p:sp>
    </p:spTree>
    <p:extLst>
      <p:ext uri="{BB962C8B-B14F-4D97-AF65-F5344CB8AC3E}">
        <p14:creationId xmlns:p14="http://schemas.microsoft.com/office/powerpoint/2010/main" val="582294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F1BC5-5D05-4D72-9F7A-229587FEDB0B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7AB91-CDE2-4B11-8B7D-36360A2451D0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69DABD2F-FFFE-4342-9A6B-612DEA81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4A564B63-612D-4B79-9912-9A207CAE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8EFA69B9-2130-4CFB-AEC1-63145D68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6C72BDB4-B5AF-4E30-9B0F-577BB043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BEDF4-61BE-467F-A00A-53C14712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54F44-1ADF-438F-ABEE-A0D28FAF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7D744-2443-4565-B98E-6488D470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00DAF-534D-476B-82FE-85EB113D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4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B89446A6-A142-4217-9986-372FDFB7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[14]: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5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82917F31-899C-444B-8EFF-0DDDCD99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[15]: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6F40F08F-DB91-4FD1-9587-DCAEDEC5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4E49C-A253-4864-9653-436F230D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1996FEDE-9439-4A58-8109-CAEA7ED9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47A99-6B3E-4DC9-A379-3DFB321E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4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CB77D3DC-F8EA-4F66-A5BA-A44D5E93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[15] Gallegos et al. 2024: fairness evaluation; [18] OECD: rights, fairness and accountability; [19]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4 / 38">
            <a:extLst xmlns:a="http://schemas.openxmlformats.org/drawingml/2006/main">
              <a:ext uri="{FF2B5EF4-FFF2-40B4-BE49-F238E27FC236}">
                <a16:creationId xmlns:a16="http://schemas.microsoft.com/office/drawing/2014/main" id="{491F18A4-39C8-4F76-8B15-385EABA8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38</a:t>
            </a:r>
          </a:p>
        </p:txBody>
      </p:sp>
    </p:spTree>
    <p:extLst>
      <p:ext uri="{BB962C8B-B14F-4D97-AF65-F5344CB8AC3E}">
        <p14:creationId xmlns:p14="http://schemas.microsoft.com/office/powerpoint/2010/main" val="12393036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A10594B9-E34A-405E-BF6E-3F8AE9DA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DFD008DF-29DE-4260-8FCD-D912A462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2ABC1-4BB5-447B-AF6E-292929124DD2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[16]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93B84A47-7684-44ED-8BEC-65E1C3AE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709CA746-8100-4F73-9353-7C74571B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B34F6744-85C4-4EB7-BA94-957DA02D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B34D4-3009-4E03-9D91-8D9FF208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5AF7724C-A3E7-4BE7-8BA7-8137B11E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B1132-247E-4716-A79D-8AF07990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1695A8C3-B4AE-48BE-9A40-5D3A73A5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</a:t>
            </a:r>
          </a:p>
        </p:txBody>
      </p:sp>
      <p:sp>
        <p:nvSpPr>
          <p:cNvPr id="11" name="5 / 38">
            <a:extLst xmlns:a="http://schemas.openxmlformats.org/drawingml/2006/main">
              <a:ext uri="{FF2B5EF4-FFF2-40B4-BE49-F238E27FC236}">
                <a16:creationId xmlns:a16="http://schemas.microsoft.com/office/drawing/2014/main" id="{9A91138C-7A09-478C-825E-A0422924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38</a:t>
            </a:r>
          </a:p>
        </p:txBody>
      </p:sp>
    </p:spTree>
    <p:extLst>
      <p:ext uri="{BB962C8B-B14F-4D97-AF65-F5344CB8AC3E}">
        <p14:creationId xmlns:p14="http://schemas.microsoft.com/office/powerpoint/2010/main" val="542967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39F32-3D43-4C4B-8799-A3B1448AEB6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546B1-1B68-4938-9F44-8B916B9131B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69527ED4-B533-4C63-9492-4F62EC1F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C25B3702-9179-47C1-A339-6ECADB65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ECD51-78FC-4564-BCC9-4F0F5C3F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DB6DE-4BAE-4AC6-85F1-824A81E5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8A216-8496-4D0C-8BBF-4C549FEC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3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233F339B-9F3C-49A1-A576-0040985A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[13] • Carbon-aware scheduling: flexible work [17]</a:t>
            </a:r>
          </a:p>
        </p:txBody>
      </p:sp>
      <p:sp>
        <p:nvSpPr>
          <p:cNvPr id="9" name="OECD: values and rights [18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657F6816-0C91-405A-8089-7D01830B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[18] • NIST: Govern, Map, Measure, Manage [19]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95DD7FC4-35DC-4BBA-94D7-194BB47E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DF5A087D-9BF6-4A7F-A9C3-C963C2C8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28694-28AA-468E-B1BE-AC6D115A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F580DE83-FC20-442F-82F5-215FADAD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84A5B-43D1-40D2-9789-E220B2E7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C5BE0E92-044C-490D-98F8-3E7FA391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6 / 38">
            <a:extLst xmlns:a="http://schemas.openxmlformats.org/drawingml/2006/main">
              <a:ext uri="{FF2B5EF4-FFF2-40B4-BE49-F238E27FC236}">
                <a16:creationId xmlns:a16="http://schemas.microsoft.com/office/drawing/2014/main" id="{01C48963-B7FC-4465-8407-52965D14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38</a:t>
            </a:r>
          </a:p>
        </p:txBody>
      </p:sp>
    </p:spTree>
    <p:extLst>
      <p:ext uri="{BB962C8B-B14F-4D97-AF65-F5344CB8AC3E}">
        <p14:creationId xmlns:p14="http://schemas.microsoft.com/office/powerpoint/2010/main" val="1890424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76CE26EC-2FB7-4725-A862-101B5A86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Supporting detail and limitations">
            <a:extLst xmlns:a="http://schemas.openxmlformats.org/drawingml/2006/main">
              <a:ext uri="{FF2B5EF4-FFF2-40B4-BE49-F238E27FC236}">
                <a16:creationId xmlns:a16="http://schemas.microsoft.com/office/drawing/2014/main" id="{0148D8CC-DD48-4BB6-9B34-C7156F3E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Supporting detail and limitations</a:t>
            </a:r>
          </a:p>
        </p:txBody>
      </p:sp>
      <p:sp>
        <p:nvSpPr>
          <p:cNvPr id="3" name="Task 1: design evidence">
            <a:extLst xmlns:a="http://schemas.openxmlformats.org/drawingml/2006/main">
              <a:ext uri="{FF2B5EF4-FFF2-40B4-BE49-F238E27FC236}">
                <a16:creationId xmlns:a16="http://schemas.microsoft.com/office/drawing/2014/main" id="{B2A70F16-F170-4D3C-9C95-116A807D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design evidence</a:t>
            </a:r>
          </a:p>
        </p:txBody>
      </p:sp>
      <p:sp>
        <p:nvSpPr>
          <p:cNvPr id="4" name="Rotation assumptions, a worked example and full CUDA te">
            <a:extLst xmlns:a="http://schemas.openxmlformats.org/drawingml/2006/main">
              <a:ext uri="{FF2B5EF4-FFF2-40B4-BE49-F238E27FC236}">
                <a16:creationId xmlns:a16="http://schemas.microsoft.com/office/drawing/2014/main" id="{FCB5BD68-69E6-4D06-ABD9-9BEAA864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assumptions, a worked example and full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excerpts are included on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following slides.</a:t>
            </a:r>
          </a:p>
        </p:txBody>
      </p:sp>
      <p:sp>
        <p:nvSpPr>
          <p:cNvPr id="5" name="Performance explanations use a stated CPU baseline and ">
            <a:extLst xmlns:a="http://schemas.openxmlformats.org/drawingml/2006/main">
              <a:ext uri="{FF2B5EF4-FFF2-40B4-BE49-F238E27FC236}">
                <a16:creationId xmlns:a16="http://schemas.microsoft.com/office/drawing/2014/main" id="{57A17FDD-EFAB-4589-B6FE-656DA3E3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explanations use a stated CPU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baseline and theoretical bounds. No measured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or compiled CUDA result is claimed.</a:t>
            </a:r>
          </a:p>
        </p:txBody>
      </p:sp>
      <p:sp>
        <p:nvSpPr>
          <p:cNvPr id="6" name="GDS is evaluated for the actual CPU-decoded pipeline an">
            <a:extLst xmlns:a="http://schemas.openxmlformats.org/drawingml/2006/main">
              <a:ext uri="{FF2B5EF4-FFF2-40B4-BE49-F238E27FC236}">
                <a16:creationId xmlns:a16="http://schemas.microsoft.com/office/drawing/2014/main" id="{6DF2181D-6036-41D0-8139-1EA5F430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is evaluated for the actual CPU-decoded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pipeline and a conditional storage-bound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alternative.</a:t>
            </a:r>
          </a:p>
        </p:txBody>
      </p:sp>
      <p:sp>
        <p:nvSpPr>
          <p:cNvPr id="7" name="Task 2: research and decisions">
            <a:extLst xmlns:a="http://schemas.openxmlformats.org/drawingml/2006/main">
              <a:ext uri="{FF2B5EF4-FFF2-40B4-BE49-F238E27FC236}">
                <a16:creationId xmlns:a16="http://schemas.microsoft.com/office/drawing/2014/main" id="{74EC117C-4CD6-49EE-816E-EAE8D5E6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research and decisions</a:t>
            </a:r>
          </a:p>
        </p:txBody>
      </p:sp>
      <p:sp>
        <p:nvSpPr>
          <p:cNvPr id="8" name="Each required topic has evidence, a comparison, propose">
            <a:extLst xmlns:a="http://schemas.openxmlformats.org/drawingml/2006/main">
              <a:ext uri="{FF2B5EF4-FFF2-40B4-BE49-F238E27FC236}">
                <a16:creationId xmlns:a16="http://schemas.microsoft.com/office/drawing/2014/main" id="{FE21DABE-1AD0-4324-8409-E659A075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 required topic has evidence, a comparison,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measures and limitations. A cluster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scenario is illustrative, not an observed experiment.</a:t>
            </a:r>
          </a:p>
        </p:txBody>
      </p:sp>
      <p:sp>
        <p:nvSpPr>
          <p:cNvPr id="9" name="Sector electricity data do not establish a particular t">
            <a:extLst xmlns:a="http://schemas.openxmlformats.org/drawingml/2006/main">
              <a:ext uri="{FF2B5EF4-FFF2-40B4-BE49-F238E27FC236}">
                <a16:creationId xmlns:a16="http://schemas.microsoft.com/office/drawing/2014/main" id="{5C750E90-F06B-42D3-8118-60ED2CDC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Sector electricity data do not establish a particular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 job’s footprint. Historical research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distinguished from current programme reach.</a:t>
            </a:r>
          </a:p>
        </p:txBody>
      </p:sp>
      <p:sp>
        <p:nvSpPr>
          <p:cNvPr id="10" name="References and AI disclosure/prompt records are part of">
            <a:extLst xmlns:a="http://schemas.openxmlformats.org/drawingml/2006/main">
              <a:ext uri="{FF2B5EF4-FFF2-40B4-BE49-F238E27FC236}">
                <a16:creationId xmlns:a16="http://schemas.microsoft.com/office/drawing/2014/main" id="{8D0DA54F-3784-4A76-8025-CD40B07D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 and AI disclosure/prompt records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of this presentation. There is no separate report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dependency.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1529F-17EA-4135-A96D-C930A081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C551E-6145-4B5C-86CD-8EE9B445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1F288A90-6DCC-430D-BF9E-9382E502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7 / 38">
            <a:extLst xmlns:a="http://schemas.openxmlformats.org/drawingml/2006/main">
              <a:ext uri="{FF2B5EF4-FFF2-40B4-BE49-F238E27FC236}">
                <a16:creationId xmlns:a16="http://schemas.microsoft.com/office/drawing/2014/main" id="{FA05BE19-2CF6-48AB-9612-221E5EF2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38</a:t>
            </a:r>
          </a:p>
        </p:txBody>
      </p:sp>
    </p:spTree>
    <p:extLst>
      <p:ext uri="{BB962C8B-B14F-4D97-AF65-F5344CB8AC3E}">
        <p14:creationId xmlns:p14="http://schemas.microsoft.com/office/powerpoint/2010/main" val="14933412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4FF2E07D-C584-4B28-8376-341ADA53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6022E9FC-CB19-4E31-9856-06975FD7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2A9BF-FBB4-4717-87F9-0553E9D59A28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74160B11-BED4-467F-A208-1924789E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011F5-A346-49BD-9FF8-37D3B0FA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0CEF975E-9566-4B8F-8362-50EEBA02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7" name="8 / 38">
            <a:extLst xmlns:a="http://schemas.openxmlformats.org/drawingml/2006/main">
              <a:ext uri="{FF2B5EF4-FFF2-40B4-BE49-F238E27FC236}">
                <a16:creationId xmlns:a16="http://schemas.microsoft.com/office/drawing/2014/main" id="{75079854-ACEC-4580-AACE-F1117581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38</a:t>
            </a:r>
          </a:p>
        </p:txBody>
      </p:sp>
    </p:spTree>
    <p:extLst>
      <p:ext uri="{BB962C8B-B14F-4D97-AF65-F5344CB8AC3E}">
        <p14:creationId xmlns:p14="http://schemas.microsoft.com/office/powerpoint/2010/main" val="6399224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endix B2 • Illustrative calculation">
            <a:extLst xmlns:a="http://schemas.openxmlformats.org/drawingml/2006/main">
              <a:ext uri="{FF2B5EF4-FFF2-40B4-BE49-F238E27FC236}">
                <a16:creationId xmlns:a16="http://schemas.microsoft.com/office/drawing/2014/main" id="{0CC46F43-86AB-423A-BC54-F4092479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 • Illustrative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FF9AEF62-022E-4B55-BA97-4D8C51E5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EEDDC-14D1-4931-802B-9A8967CD7D42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C898435D-C19A-4ACA-9C62-BC75BBDD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 more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FD7B2486-046D-4F27-9F97-C582DBD6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49970-1CDC-49BC-9BD4-162F3456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2] Topic 7A: dependencies and Amdahl; [11] St">
            <a:extLst xmlns:a="http://schemas.openxmlformats.org/drawingml/2006/main">
              <a:ext uri="{FF2B5EF4-FFF2-40B4-BE49-F238E27FC236}">
                <a16:creationId xmlns:a16="http://schemas.microsoft.com/office/drawing/2014/main" id="{07DC0B2C-D572-49A5-A3BF-04124AFA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[11] Strubell et al. 2019: cost and equity; [13] Schwartz et al. 2019: efficiency reporting</a:t>
            </a:r>
          </a:p>
        </p:txBody>
      </p:sp>
      <p:sp>
        <p:nvSpPr>
          <p:cNvPr id="8" name="9 / 38">
            <a:extLst xmlns:a="http://schemas.openxmlformats.org/drawingml/2006/main">
              <a:ext uri="{FF2B5EF4-FFF2-40B4-BE49-F238E27FC236}">
                <a16:creationId xmlns:a16="http://schemas.microsoft.com/office/drawing/2014/main" id="{FC26626F-D892-4466-82AB-037E1904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38</a:t>
            </a:r>
          </a:p>
        </p:txBody>
      </p:sp>
    </p:spTree>
    <p:extLst>
      <p:ext uri="{BB962C8B-B14F-4D97-AF65-F5344CB8AC3E}">
        <p14:creationId xmlns:p14="http://schemas.microsoft.com/office/powerpoint/2010/main" val="19026148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3">
            <a:extLst xmlns:a="http://schemas.openxmlformats.org/drawingml/2006/main">
              <a:ext uri="{FF2B5EF4-FFF2-40B4-BE49-F238E27FC236}">
                <a16:creationId xmlns:a16="http://schemas.microsoft.com/office/drawing/2014/main" id="{81F50A90-0079-47FD-A3AE-47BAE6B5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B3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C695D202-324F-4047-8B80-85321366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62CE67C9-FB74-4640-BE35-1E6BAB25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75DC47EF-A7EE-4A4B-95BA-9D4B9DAD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B865ED46-955B-46CC-B353-30B70807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590828C4-E49C-4BCE-AC64-49904E0C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A35BDC25-5D40-4B09-8725-404FD684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AA77C71E-FB80-4800-9D15-383AE8EE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9109CF6D-B0DE-448E-BC9E-3F98E26B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A5520E80-50EC-42D3-9BFE-C8637363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69DF5-A1EA-4C33-8A26-E49C26BD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5D5A0-A740-495F-8989-3112FDED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6A182DC6-A1F9-40FA-A322-22AFCC66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[11] Strubell et al. 2019: cost and equity; [12] Li et al. 2025 revision: water impacts;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10 / 38">
            <a:extLst xmlns:a="http://schemas.openxmlformats.org/drawingml/2006/main">
              <a:ext uri="{FF2B5EF4-FFF2-40B4-BE49-F238E27FC236}">
                <a16:creationId xmlns:a16="http://schemas.microsoft.com/office/drawing/2014/main" id="{168F311A-3F9C-4804-AE1B-F904D35F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38</a:t>
            </a:r>
          </a:p>
        </p:txBody>
      </p:sp>
    </p:spTree>
    <p:extLst>
      <p:ext uri="{BB962C8B-B14F-4D97-AF65-F5344CB8AC3E}">
        <p14:creationId xmlns:p14="http://schemas.microsoft.com/office/powerpoint/2010/main" val="17267167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4 • Proposed cluster policy">
            <a:extLst xmlns:a="http://schemas.openxmlformats.org/drawingml/2006/main">
              <a:ext uri="{FF2B5EF4-FFF2-40B4-BE49-F238E27FC236}">
                <a16:creationId xmlns:a16="http://schemas.microsoft.com/office/drawing/2014/main" id="{C39F512E-994C-48E3-8764-E106087A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B4 • Proposed cluster policy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0ED3CAF9-0E56-4C2B-B404-013507E5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7332F-5318-4463-AEED-63DB626EC80E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BDDBF855-6969-48F3-B2B7-1A5EAE55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3CCE8-A5F9-4293-B481-04F9EC4E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4] Zhu et al. 2019: exposed gradients; [18] ">
            <a:extLst xmlns:a="http://schemas.openxmlformats.org/drawingml/2006/main">
              <a:ext uri="{FF2B5EF4-FFF2-40B4-BE49-F238E27FC236}">
                <a16:creationId xmlns:a16="http://schemas.microsoft.com/office/drawing/2014/main" id="{AB2B2208-294B-439D-9405-4C12C4ED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[18] OECD: rights, fairness and accountability; [19] NIST: Govern, Map, Measure, Manage</a:t>
            </a:r>
          </a:p>
        </p:txBody>
      </p:sp>
      <p:sp>
        <p:nvSpPr>
          <p:cNvPr id="7" name="11 / 38">
            <a:extLst xmlns:a="http://schemas.openxmlformats.org/drawingml/2006/main">
              <a:ext uri="{FF2B5EF4-FFF2-40B4-BE49-F238E27FC236}">
                <a16:creationId xmlns:a16="http://schemas.microsoft.com/office/drawing/2014/main" id="{62B35B94-8EC1-44BA-ACAE-93EACED6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38</a:t>
            </a:r>
          </a:p>
        </p:txBody>
      </p:sp>
    </p:spTree>
    <p:extLst>
      <p:ext uri="{BB962C8B-B14F-4D97-AF65-F5344CB8AC3E}">
        <p14:creationId xmlns:p14="http://schemas.microsoft.com/office/powerpoint/2010/main" val="14760861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5 • Proposed example">
            <a:extLst xmlns:a="http://schemas.openxmlformats.org/drawingml/2006/main">
              <a:ext uri="{FF2B5EF4-FFF2-40B4-BE49-F238E27FC236}">
                <a16:creationId xmlns:a16="http://schemas.microsoft.com/office/drawing/2014/main" id="{565A62D1-8AF8-4BC1-AF62-D2FAA465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B5 • Proposed example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B30DFAA2-726F-44F3-B080-65F1E700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768EAA00-3F6C-4668-85E8-83F2C33F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LLM service may have unequ">
            <a:extLst xmlns:a="http://schemas.openxmlformats.org/drawingml/2006/main">
              <a:ext uri="{FF2B5EF4-FFF2-40B4-BE49-F238E27FC236}">
                <a16:creationId xmlns:a16="http://schemas.microsoft.com/office/drawing/2014/main" id="{E22712FE-B798-463F-8245-626CA0DE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LLM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3933F0F1-3DF6-496D-AFE0-3B892D59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72D2E85C-56D7-43D3-AEA6-2AC40F3F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546F2B7D-3481-4152-AF16-F01DEE47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1465B406-2717-478F-9275-A3FB3A64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A28B74D2-A5DE-4F45-8112-6CC36B4C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210FAE2E-2EEF-45C1-B07C-489BDDDC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FA639-0DDB-4456-BADF-B33909CC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FD528-FA51-4BB9-AB49-C3385F35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5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67FC9814-BDA1-4EDF-8185-D1BC8D77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[15] Gallegos et al. 2024: fairness evaluation; [18] OECD: rights, fairness and accountability; [19] NIST: Govern, Map, Measure, Manage</a:t>
            </a:r>
          </a:p>
        </p:txBody>
      </p:sp>
      <p:sp>
        <p:nvSpPr>
          <p:cNvPr id="14" name="12 / 38">
            <a:extLst xmlns:a="http://schemas.openxmlformats.org/drawingml/2006/main">
              <a:ext uri="{FF2B5EF4-FFF2-40B4-BE49-F238E27FC236}">
                <a16:creationId xmlns:a16="http://schemas.microsoft.com/office/drawing/2014/main" id="{3B406E1F-E94D-457C-9DBA-8BE0D692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38</a:t>
            </a:r>
          </a:p>
        </p:txBody>
      </p:sp>
    </p:spTree>
    <p:extLst>
      <p:ext uri="{BB962C8B-B14F-4D97-AF65-F5344CB8AC3E}">
        <p14:creationId xmlns:p14="http://schemas.microsoft.com/office/powerpoint/2010/main" val="7429417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6">
            <a:extLst xmlns:a="http://schemas.openxmlformats.org/drawingml/2006/main">
              <a:ext uri="{FF2B5EF4-FFF2-40B4-BE49-F238E27FC236}">
                <a16:creationId xmlns:a16="http://schemas.microsoft.com/office/drawing/2014/main" id="{EC47CDDE-E1DD-4A6D-B36A-95514060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B6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4411444B-4B6C-44C1-B568-3B89B32D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60041664-2D87-48F7-B197-8A067516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3F51B897-A3E1-46EA-A317-DC71B7AE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2437B8EF-FDA7-440D-AF01-4FA702ED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2CF088EB-0B4C-495D-8958-52275759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42AE41EB-A7BD-4BCB-945D-D2F45BDD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39698E75-6CFF-46F6-A3DB-87C90C3F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1AFAE6FF-CFFF-48BF-81AC-662729B1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A4FBBA3C-5BB7-4AA7-8EF5-1292DE9F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025DC-CE6D-4B3B-8C33-836B9594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DDF72-EDD1-4F3A-93F0-47F403C3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CA004383-C84F-437B-80BA-1650D209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divide; [22] Topic 9B: mutual exclusion and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14" name="13 / 38">
            <a:extLst xmlns:a="http://schemas.openxmlformats.org/drawingml/2006/main">
              <a:ext uri="{FF2B5EF4-FFF2-40B4-BE49-F238E27FC236}">
                <a16:creationId xmlns:a16="http://schemas.microsoft.com/office/drawing/2014/main" id="{EFF12972-CD30-4FDE-8D83-A270034E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38</a:t>
            </a:r>
          </a:p>
        </p:txBody>
      </p:sp>
    </p:spTree>
    <p:extLst>
      <p:ext uri="{BB962C8B-B14F-4D97-AF65-F5344CB8AC3E}">
        <p14:creationId xmlns:p14="http://schemas.microsoft.com/office/powerpoint/2010/main" val="6511515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7 • Proposed application">
            <a:extLst xmlns:a="http://schemas.openxmlformats.org/drawingml/2006/main">
              <a:ext uri="{FF2B5EF4-FFF2-40B4-BE49-F238E27FC236}">
                <a16:creationId xmlns:a16="http://schemas.microsoft.com/office/drawing/2014/main" id="{EF7EDFC9-45D8-4569-B7A8-86C955FB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B7 • Proposed application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AD4CAB06-4CFA-4D3D-BF67-B535AACA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061CE-BF19-43B9-8525-9E955D22ED11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Our proposal combines measurement, scheduling and risk ">
            <a:extLst xmlns:a="http://schemas.openxmlformats.org/drawingml/2006/main">
              <a:ext uri="{FF2B5EF4-FFF2-40B4-BE49-F238E27FC236}">
                <a16:creationId xmlns:a16="http://schemas.microsoft.com/office/drawing/2014/main" id="{2646AE01-72C3-46D4-9BA8-E23D9B28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Our proposal combines measurement, scheduling and risk management. NIST Govern spans the other functions; risk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 is iterative, not a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29407-F2BD-41A2-9080-9CE27BD3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689E98C3-0834-4465-8C20-36A82CA0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14 / 38">
            <a:extLst xmlns:a="http://schemas.openxmlformats.org/drawingml/2006/main">
              <a:ext uri="{FF2B5EF4-FFF2-40B4-BE49-F238E27FC236}">
                <a16:creationId xmlns:a16="http://schemas.microsoft.com/office/drawing/2014/main" id="{73E80DC0-ACB3-4AFC-8317-236B33CD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38</a:t>
            </a:r>
          </a:p>
        </p:txBody>
      </p:sp>
    </p:spTree>
    <p:extLst>
      <p:ext uri="{BB962C8B-B14F-4D97-AF65-F5344CB8AC3E}">
        <p14:creationId xmlns:p14="http://schemas.microsoft.com/office/powerpoint/2010/main" val="17881468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A9C63-6DF6-4FB2-A723-E4141882368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62900-51C8-4CBD-90E8-81F35F37AC9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Appendix B8 • Illustrative policy">
            <a:extLst xmlns:a="http://schemas.openxmlformats.org/drawingml/2006/main">
              <a:ext uri="{FF2B5EF4-FFF2-40B4-BE49-F238E27FC236}">
                <a16:creationId xmlns:a16="http://schemas.microsoft.com/office/drawing/2014/main" id="{E63F3403-D114-44FE-B365-3C5C69C6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B8 • Illustrative policy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E683545F-B9A4-4E0D-9F7A-8B5D0C2B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5EFCF-9D4F-4770-92FF-EF8623CD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139C0-69E5-489D-8768-CF9F2241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7E8DE-3F4B-4F99-827A-DD0D7DCD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7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1A09C9E8-4D15-4A88-AFF5-DBCBAE4C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[17]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92A16F59-A75F-4B9C-9CFC-A5477A0D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36F1D704-ED83-4929-9D12-DC77FB51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BA536-DF00-4A91-B4FA-D7D6BADE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82162D70-8C1A-42E2-A0AF-EA2AC4C9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1D65C-0C77-4A07-B29A-EEFFF1A5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12] Li et al. 2025 revision: water impacts; [">
            <a:extLst xmlns:a="http://schemas.openxmlformats.org/drawingml/2006/main">
              <a:ext uri="{FF2B5EF4-FFF2-40B4-BE49-F238E27FC236}">
                <a16:creationId xmlns:a16="http://schemas.microsoft.com/office/drawing/2014/main" id="{BF66507B-6C3B-4F94-802F-5D51C567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Li et al. 2025 revision: water impacts; [17] Radovanovic et al. 2021: flexible scheduling; [19] NIST: Govern, Map, Measure, Manage</a:t>
            </a:r>
          </a:p>
        </p:txBody>
      </p:sp>
      <p:sp>
        <p:nvSpPr>
          <p:cNvPr id="15" name="15 / 38">
            <a:extLst xmlns:a="http://schemas.openxmlformats.org/drawingml/2006/main">
              <a:ext uri="{FF2B5EF4-FFF2-40B4-BE49-F238E27FC236}">
                <a16:creationId xmlns:a16="http://schemas.microsoft.com/office/drawing/2014/main" id="{BA758475-E2BD-4C78-9E10-385FD27C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38</a:t>
            </a:r>
          </a:p>
        </p:txBody>
      </p:sp>
    </p:spTree>
    <p:extLst>
      <p:ext uri="{BB962C8B-B14F-4D97-AF65-F5344CB8AC3E}">
        <p14:creationId xmlns:p14="http://schemas.microsoft.com/office/powerpoint/2010/main" val="19520845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9">
            <a:extLst xmlns:a="http://schemas.openxmlformats.org/drawingml/2006/main">
              <a:ext uri="{FF2B5EF4-FFF2-40B4-BE49-F238E27FC236}">
                <a16:creationId xmlns:a16="http://schemas.microsoft.com/office/drawing/2014/main" id="{47771A42-BF6E-4751-B50A-19E6EA4A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B9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AEE4F4E7-116A-465C-95EF-37AEB65B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AD59D-0CDB-4EC7-B383-EB4E080855E2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[11,13] versus water-footprint research [12]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[14] versus fairness evaluation survey [15]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[16] versus workload cost/equity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[13] versus operational scheduling [17]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9,10] and governance fr">
            <a:extLst xmlns:a="http://schemas.openxmlformats.org/drawingml/2006/main">
              <a:ext uri="{FF2B5EF4-FFF2-40B4-BE49-F238E27FC236}">
                <a16:creationId xmlns:a16="http://schemas.microsoft.com/office/drawing/2014/main" id="{92A41A18-607F-4011-8CAB-E3041537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[9,10] and governance frameworks [18,19] complement the research; they do not replace its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7783F-C11A-402F-A176-737F87A5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Strubell et al. 2019: cost and equity; [1">
            <a:extLst xmlns:a="http://schemas.openxmlformats.org/drawingml/2006/main">
              <a:ext uri="{FF2B5EF4-FFF2-40B4-BE49-F238E27FC236}">
                <a16:creationId xmlns:a16="http://schemas.microsoft.com/office/drawing/2014/main" id="{964B0292-5AA5-430B-A68D-D221AA40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Strubell et al. 2019: cost and equity; [12] Li et al. 2025 revision: water impacts; [13] Schwartz et al. 2019: efficiency reporting; [14] Zhu et al. 2019: exposed gradients;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[15] Gallegos et al. 2024: fairness evaluation; [16] Ahmed and Wahed 2020: compute divide; [17] Radovanovic et al. 2021: flexible scheduling</a:t>
            </a:r>
          </a:p>
        </p:txBody>
      </p:sp>
      <p:sp>
        <p:nvSpPr>
          <p:cNvPr id="7" name="16 / 38">
            <a:extLst xmlns:a="http://schemas.openxmlformats.org/drawingml/2006/main">
              <a:ext uri="{FF2B5EF4-FFF2-40B4-BE49-F238E27FC236}">
                <a16:creationId xmlns:a16="http://schemas.microsoft.com/office/drawing/2014/main" id="{65213139-C1C1-4859-9EA5-FB48A163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38</a:t>
            </a:r>
          </a:p>
        </p:txBody>
      </p:sp>
    </p:spTree>
    <p:extLst>
      <p:ext uri="{BB962C8B-B14F-4D97-AF65-F5344CB8AC3E}">
        <p14:creationId xmlns:p14="http://schemas.microsoft.com/office/powerpoint/2010/main" val="1642004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Synthesis">
            <a:extLst xmlns:a="http://schemas.openxmlformats.org/drawingml/2006/main">
              <a:ext uri="{FF2B5EF4-FFF2-40B4-BE49-F238E27FC236}">
                <a16:creationId xmlns:a16="http://schemas.microsoft.com/office/drawing/2014/main" id="{86624B5F-E115-4E98-AF6C-9D2CE0EF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Synthesis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4E9E309D-FCA5-4A55-BBDD-42A19C52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6973E327-4E61-454B-B96F-0B097604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224D30D9-84CC-4325-BC1C-C2828A4D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9D265BCF-2DFD-4E3C-BC91-E4C72B54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B15193D2-64CF-4373-B1BC-7AE6F7B5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875D5011-D7AF-4165-8C48-EB8F99E0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C9704C21-2D00-4170-906D-B31230FA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60055729-03F2-4DA9-BA4A-20E8DBEC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B92BBF88-AC7B-4561-A20B-528F890A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56C9D-578F-4343-91CC-4E1B8D0C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97E0C-1676-4C50-9FD3-387284EC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D39A6840-D86D-4C8D-A1ED-030A9815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Practices; [6] NVIDIA GDS overview; [7] NVIDIA GDS design;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reporting; [17] Radovanovic et al. 2021: flexible scheduling; [19] NIST: Govern, Map, Measure, Manage</a:t>
            </a:r>
          </a:p>
        </p:txBody>
      </p:sp>
      <p:sp>
        <p:nvSpPr>
          <p:cNvPr id="14" name="17 / 38">
            <a:extLst xmlns:a="http://schemas.openxmlformats.org/drawingml/2006/main">
              <a:ext uri="{FF2B5EF4-FFF2-40B4-BE49-F238E27FC236}">
                <a16:creationId xmlns:a16="http://schemas.microsoft.com/office/drawing/2014/main" id="{FF52A0C1-495E-47FB-9C92-658332BA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38</a:t>
            </a:r>
          </a:p>
        </p:txBody>
      </p:sp>
    </p:spTree>
    <p:extLst>
      <p:ext uri="{BB962C8B-B14F-4D97-AF65-F5344CB8AC3E}">
        <p14:creationId xmlns:p14="http://schemas.microsoft.com/office/powerpoint/2010/main" val="17849774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5">
            <a:extLst xmlns:a="http://schemas.openxmlformats.org/drawingml/2006/main">
              <a:ext uri="{FF2B5EF4-FFF2-40B4-BE49-F238E27FC236}">
                <a16:creationId xmlns:a16="http://schemas.microsoft.com/office/drawing/2014/main" id="{FDC55FE9-E710-40A2-BC20-035B857B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57BF6789-5B89-4FEB-8EE9-C1404A4D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] Monash University, FIT3143 Topic 7A: Parallel perfo">
            <a:extLst xmlns:a="http://schemas.openxmlformats.org/drawingml/2006/main">
              <a:ext uri="{FF2B5EF4-FFF2-40B4-BE49-F238E27FC236}">
                <a16:creationId xmlns:a16="http://schemas.microsoft.com/office/drawing/2014/main" id="{E1FE4BE6-003F-4574-BB68-4E19377C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Monash University, FIT3143 Topic 7A: Parallel performance and Amdahl reasoning, course slides, 2024, pp. 6–15,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18–27.</a:t>
            </a:r>
          </a:p>
        </p:txBody>
      </p:sp>
      <p:sp>
        <p:nvSpPr>
          <p:cNvPr id="4" name="../../context/FIT3143-Topic-7A-2024.pdf">
            <a:extLst xmlns:a="http://schemas.openxmlformats.org/drawingml/2006/main">
              <a:ext uri="{FF2B5EF4-FFF2-40B4-BE49-F238E27FC236}">
                <a16:creationId xmlns:a16="http://schemas.microsoft.com/office/drawing/2014/main" id="{E7D80502-3B84-4655-B5D3-1D585264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../../context/FIT3143-Topic-7A-2024.pdf</a:t>
            </a:r>
          </a:p>
        </p:txBody>
      </p:sp>
      <p:sp>
        <p:nvSpPr>
          <p:cNvPr id="5" name="[3] Monash University, FIT3143 Topic 9A: Synchronizatio">
            <a:extLst xmlns:a="http://schemas.openxmlformats.org/drawingml/2006/main">
              <a:ext uri="{FF2B5EF4-FFF2-40B4-BE49-F238E27FC236}">
                <a16:creationId xmlns:a16="http://schemas.microsoft.com/office/drawing/2014/main" id="{807B23F6-FD44-4B3A-B136-DC988A72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Monash University, FIT3143 Topic 9A: Synchronization and dependencies, course slides, 2024, pp. 2–7.</a:t>
            </a:r>
          </a:p>
        </p:txBody>
      </p:sp>
      <p:sp>
        <p:nvSpPr>
          <p:cNvPr id="6" name="../../context/FIT3143-Topic-9A-2024.pdf">
            <a:extLst xmlns:a="http://schemas.openxmlformats.org/drawingml/2006/main">
              <a:ext uri="{FF2B5EF4-FFF2-40B4-BE49-F238E27FC236}">
                <a16:creationId xmlns:a16="http://schemas.microsoft.com/office/drawing/2014/main" id="{6D8A2578-74E1-4EB0-8919-A4BA9E8F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97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../../context/FIT3143-Topic-9A-2024.pdf</a:t>
            </a:r>
          </a:p>
        </p:txBody>
      </p:sp>
      <p:sp>
        <p:nvSpPr>
          <p:cNvPr id="7" name="[5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1B586BCF-5E76-4259-8CFA-8CB2B9FE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098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CUDA C++ Best Practices Guide, online documentation, accessed Oct. 8, 2026.</a:t>
            </a:r>
          </a:p>
        </p:txBody>
      </p:sp>
      <p:sp>
        <p:nvSpPr>
          <p:cNvPr id="8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7B7F71E8-D5D7-4A6B-8444-28E329F1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3f294a0a49a4f4d"/>
              </a:rPr>
              <a:t>https://docs.nvidia.com/cuda/cuda-c-best-practices-guide/index.html</a:t>
            </a:r>
          </a:p>
        </p:txBody>
      </p:sp>
      <p:sp>
        <p:nvSpPr>
          <p:cNvPr id="9" name="[6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4BB285EF-1A64-482C-9E01-77E92A4B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NVIDIA, GPUDirect Storage Overview Guide, online documentation, accessed Oct. 8, 2026.</a:t>
            </a:r>
          </a:p>
        </p:txBody>
      </p:sp>
      <p:sp>
        <p:nvSpPr>
          <p:cNvPr id="10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D37C32D7-561A-4203-9376-B02143DA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064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2d94ee928f94948"/>
              </a:rPr>
              <a:t>https://docs.nvidia.com/gpudirect-storage/overview-guide/index.html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F55A5-E0A0-4E71-9386-699F4257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84242EF-1530-4ED8-A67E-3B96BE70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8 / 38">
            <a:extLst xmlns:a="http://schemas.openxmlformats.org/drawingml/2006/main">
              <a:ext uri="{FF2B5EF4-FFF2-40B4-BE49-F238E27FC236}">
                <a16:creationId xmlns:a16="http://schemas.microsoft.com/office/drawing/2014/main" id="{78F7B292-9586-443C-9E8F-3C366B40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38</a:t>
            </a:r>
          </a:p>
        </p:txBody>
      </p:sp>
    </p:spTree>
    <p:extLst>
      <p:ext uri="{BB962C8B-B14F-4D97-AF65-F5344CB8AC3E}">
        <p14:creationId xmlns:p14="http://schemas.microsoft.com/office/powerpoint/2010/main" val="3531788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5">
            <a:extLst xmlns:a="http://schemas.openxmlformats.org/drawingml/2006/main">
              <a:ext uri="{FF2B5EF4-FFF2-40B4-BE49-F238E27FC236}">
                <a16:creationId xmlns:a16="http://schemas.microsoft.com/office/drawing/2014/main" id="{6C976274-7F7B-4029-ACEE-E0E6937E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DFEFAAB6-D960-45D3-96B3-A705C315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7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57AADE77-7E51-43C4-8DB1-E8C9C0CA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NVIDIA, GPUDirect Storage Design Guide, online documentation, accessed Oct. 8, 2026.</a:t>
            </a:r>
          </a:p>
        </p:txBody>
      </p:sp>
      <p:sp>
        <p:nvSpPr>
          <p:cNvPr id="4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FCE48E8D-328F-4970-9D1B-E6A37562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28a6542354e4622"/>
              </a:rPr>
              <a:t>https://docs.nvidia.com/gpudirect-storage/design-guide/index.html</a:t>
            </a:r>
          </a:p>
        </p:txBody>
      </p:sp>
      <p:sp>
        <p:nvSpPr>
          <p:cNvPr id="5" name="[8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9640F9AC-BF4A-4FFB-A9B2-5C162C8B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NVIDIA, “Parallelism strategies guide,” Megatron Core, online documentation, accessed Oct. 8, 2026.</a:t>
            </a:r>
          </a:p>
        </p:txBody>
      </p:sp>
      <p:sp>
        <p:nvSpPr>
          <p:cNvPr id="6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C4F9E650-031D-475D-BDE6-1148E3DD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0e4fb0914254b31"/>
              </a:rPr>
              <a:t>https://docs.nvidia.com/megatron-core/developer-guide/latest/user-guide/parallelism-guide.html</a:t>
            </a:r>
          </a:p>
        </p:txBody>
      </p:sp>
      <p:sp>
        <p:nvSpPr>
          <p:cNvPr id="7" name="[9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BC158E35-E5A3-49DD-A11E-A7F56F51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8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14E55140-55B5-455F-A5FE-F1266B73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ac0908a324024c6f"/>
              </a:rPr>
              <a:t>https://www.iea.org/reports/key-questions-on-energy-and-ai/executive-summary</a:t>
            </a:r>
          </a:p>
        </p:txBody>
      </p:sp>
      <p:sp>
        <p:nvSpPr>
          <p:cNvPr id="9" name="[10] U.S. National Science Foundation, “NAIRR at 2 year">
            <a:extLst xmlns:a="http://schemas.openxmlformats.org/drawingml/2006/main">
              <a:ext uri="{FF2B5EF4-FFF2-40B4-BE49-F238E27FC236}">
                <a16:creationId xmlns:a16="http://schemas.microsoft.com/office/drawing/2014/main" id="{F2F68F30-CB8A-4D55-8565-3E209350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10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6BE82C93-893B-4DC7-BF56-DB428345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92e063411e4430f"/>
              </a:rPr>
              <a:t>https://www.nsf.gov/cise/updates/nairr-2-years-advancing-american-artificial-intelligence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C060A-9181-45C8-BC01-59537CB0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89B594D-EB18-4340-AF6D-C2824F08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9 / 38">
            <a:extLst xmlns:a="http://schemas.openxmlformats.org/drawingml/2006/main">
              <a:ext uri="{FF2B5EF4-FFF2-40B4-BE49-F238E27FC236}">
                <a16:creationId xmlns:a16="http://schemas.microsoft.com/office/drawing/2014/main" id="{B7BD305A-0009-4658-A9FD-CB5B512E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38</a:t>
            </a:r>
          </a:p>
        </p:txBody>
      </p:sp>
    </p:spTree>
    <p:extLst>
      <p:ext uri="{BB962C8B-B14F-4D97-AF65-F5344CB8AC3E}">
        <p14:creationId xmlns:p14="http://schemas.microsoft.com/office/powerpoint/2010/main" val="6008270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5">
            <a:extLst xmlns:a="http://schemas.openxmlformats.org/drawingml/2006/main">
              <a:ext uri="{FF2B5EF4-FFF2-40B4-BE49-F238E27FC236}">
                <a16:creationId xmlns:a16="http://schemas.microsoft.com/office/drawing/2014/main" id="{916304DE-8EB5-48F9-836B-F6F53BEA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F3DEDBFE-D427-4203-8D96-645A9730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1] E. Strubell, A. Ganesh, and A. McCallum, “Energy a">
            <a:extLst xmlns:a="http://schemas.openxmlformats.org/drawingml/2006/main">
              <a:ext uri="{FF2B5EF4-FFF2-40B4-BE49-F238E27FC236}">
                <a16:creationId xmlns:a16="http://schemas.microsoft.com/office/drawing/2014/main" id="{96FADBCE-C822-4F88-BAFA-30D6943C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4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ECD3C3FA-DA38-4C0A-97DB-A9762079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451e0fdc3b04676"/>
              </a:rPr>
              <a:t>https://aclanthology.org/P19-1355/</a:t>
            </a:r>
          </a:p>
        </p:txBody>
      </p:sp>
      <p:sp>
        <p:nvSpPr>
          <p:cNvPr id="5" name="[12] P. Li, J. Yang, M. A. Islam, and S. Ren, “Making A">
            <a:extLst xmlns:a="http://schemas.openxmlformats.org/drawingml/2006/main">
              <a:ext uri="{FF2B5EF4-FFF2-40B4-BE49-F238E27FC236}">
                <a16:creationId xmlns:a16="http://schemas.microsoft.com/office/drawing/2014/main" id="{F2221447-C3F8-40DF-9B01-77B90127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6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E6822912-8DEA-4EDB-8F56-82D1DDE6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94055bfad934dfa"/>
              </a:rPr>
              <a:t>https://arxiv.org/abs/2304.03271v5</a:t>
            </a:r>
          </a:p>
        </p:txBody>
      </p:sp>
      <p:sp>
        <p:nvSpPr>
          <p:cNvPr id="7" name="[13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9994DAEF-E235-480D-9388-5C89A997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R. Schwartz, J. Dodge, N. A. Smith, and O. Etzioni, “Green AI,” arXiv:1907.10597, 2019.</a:t>
            </a:r>
          </a:p>
        </p:txBody>
      </p:sp>
      <p:sp>
        <p:nvSpPr>
          <p:cNvPr id="8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B1528011-CFCE-45C2-A57B-DE535343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51709615c6e496b"/>
              </a:rPr>
              <a:t>https://arxiv.org/abs/1907.10597</a:t>
            </a:r>
          </a:p>
        </p:txBody>
      </p:sp>
      <p:sp>
        <p:nvSpPr>
          <p:cNvPr id="9" name="[14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547B2C14-3634-4FB0-B8AF-8404FC26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L. Zhu, Z. Liu, and S. Han, “Deep leakage from gradients,” arXiv:1906.08935v2, 2019.</a:t>
            </a:r>
          </a:p>
        </p:txBody>
      </p:sp>
      <p:sp>
        <p:nvSpPr>
          <p:cNvPr id="10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F20FA764-A3BD-4780-A0C4-25C38B71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1a43263631f4655"/>
              </a:rPr>
              <a:t>https://arxiv.org/abs/1906.08935v2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3B035-350F-46F2-A7F4-77278C2D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71B1546-BCE1-464B-97B5-8B9903A7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20 / 38">
            <a:extLst xmlns:a="http://schemas.openxmlformats.org/drawingml/2006/main">
              <a:ext uri="{FF2B5EF4-FFF2-40B4-BE49-F238E27FC236}">
                <a16:creationId xmlns:a16="http://schemas.microsoft.com/office/drawing/2014/main" id="{4256FD62-D74E-4621-9F9A-461DEFA9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38</a:t>
            </a:r>
          </a:p>
        </p:txBody>
      </p:sp>
    </p:spTree>
    <p:extLst>
      <p:ext uri="{BB962C8B-B14F-4D97-AF65-F5344CB8AC3E}">
        <p14:creationId xmlns:p14="http://schemas.microsoft.com/office/powerpoint/2010/main" val="6658422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4/5">
            <a:extLst xmlns:a="http://schemas.openxmlformats.org/drawingml/2006/main">
              <a:ext uri="{FF2B5EF4-FFF2-40B4-BE49-F238E27FC236}">
                <a16:creationId xmlns:a16="http://schemas.microsoft.com/office/drawing/2014/main" id="{7238E1DB-E65A-42EE-9811-C59C02CF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2AAEA910-D4E7-4068-AAD4-1290B685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5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4446D7EA-F8B8-4ACA-B2BB-153DAAEF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4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1D214101-A9DD-4B5B-A044-E2571AB6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618a0916b8b445e"/>
              </a:rPr>
              <a:t>https://aclanthology.org/2024.cl-3.8/</a:t>
            </a:r>
          </a:p>
        </p:txBody>
      </p:sp>
      <p:sp>
        <p:nvSpPr>
          <p:cNvPr id="5" name="[16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2EBCD06C-E8B9-484E-8DCF-7738A5A9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6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0F79042D-C1F0-47BB-BE7C-894278A7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8bbf8f2bc794a34"/>
              </a:rPr>
              <a:t>https://arxiv.org/abs/2010.15581v1</a:t>
            </a:r>
          </a:p>
        </p:txBody>
      </p:sp>
      <p:sp>
        <p:nvSpPr>
          <p:cNvPr id="7" name="[17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CD6C9A5F-F85B-4439-AD76-1172E2BA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A. Radovanovic et al., “Carbon-aware computing for datacenters,” arXiv:2106.11750v1, 2021.</a:t>
            </a:r>
          </a:p>
        </p:txBody>
      </p:sp>
      <p:sp>
        <p:nvSpPr>
          <p:cNvPr id="8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98BB2319-9C31-47FC-B278-2E326156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a97356e966e4a8f"/>
              </a:rPr>
              <a:t>https://arxiv.org/abs/2106.11750v1</a:t>
            </a:r>
          </a:p>
        </p:txBody>
      </p:sp>
      <p:sp>
        <p:nvSpPr>
          <p:cNvPr id="9" name="[18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85EF8C51-C0A2-49B3-87E7-9C4E91EE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[18] OECD, “OECD AI Principles,” adopted 2019, updated 2024, accessed Oct. 8, 2026.</a:t>
            </a:r>
          </a:p>
        </p:txBody>
      </p:sp>
      <p:sp>
        <p:nvSpPr>
          <p:cNvPr id="10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48559388-9CE8-48A6-B957-B144EDC1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23a3d1c028042b2"/>
              </a:rPr>
              <a:t>https://www.oecd.org/en/topics/ai-principles.html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6D44D-3EF4-411E-B90C-CBD69064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567C61A-8DD8-49FA-AC64-1749DD86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21 / 38">
            <a:extLst xmlns:a="http://schemas.openxmlformats.org/drawingml/2006/main">
              <a:ext uri="{FF2B5EF4-FFF2-40B4-BE49-F238E27FC236}">
                <a16:creationId xmlns:a16="http://schemas.microsoft.com/office/drawing/2014/main" id="{EF059326-6867-47CD-A938-285092FD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38</a:t>
            </a:r>
          </a:p>
        </p:txBody>
      </p:sp>
    </p:spTree>
    <p:extLst>
      <p:ext uri="{BB962C8B-B14F-4D97-AF65-F5344CB8AC3E}">
        <p14:creationId xmlns:p14="http://schemas.microsoft.com/office/powerpoint/2010/main" val="13927825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• References 5/5">
            <a:extLst xmlns:a="http://schemas.openxmlformats.org/drawingml/2006/main">
              <a:ext uri="{FF2B5EF4-FFF2-40B4-BE49-F238E27FC236}">
                <a16:creationId xmlns:a16="http://schemas.microsoft.com/office/drawing/2014/main" id="{9ADF8FEF-2BA4-4470-AD40-43527825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5/5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B2744211-1FE9-4EDE-95FE-506954BE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9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4B68F4A3-AD76-438F-9D53-868567E7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[19] NIST, AI Risk Management Framework 1.0 Playbook, framework 2023, current online resource, accessed Oct. 8, 2026.</a:t>
            </a:r>
          </a:p>
        </p:txBody>
      </p:sp>
      <p:sp>
        <p:nvSpPr>
          <p:cNvPr id="4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BDE4EEC5-C2E7-4A84-BCD4-BE8EA0AF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77e06ea9dcd462c"/>
              </a:rPr>
              <a:t>https://airc.nist.gov/airmf-resources/playbook/</a:t>
            </a:r>
          </a:p>
        </p:txBody>
      </p:sp>
      <p:sp>
        <p:nvSpPr>
          <p:cNvPr id="5" name="[21] Monash University, FIT3143 Week 5 combined course ">
            <a:extLst xmlns:a="http://schemas.openxmlformats.org/drawingml/2006/main">
              <a:ext uri="{FF2B5EF4-FFF2-40B4-BE49-F238E27FC236}">
                <a16:creationId xmlns:a16="http://schemas.microsoft.com/office/drawing/2014/main" id="{6273C6C0-21B0-4798-A3DA-289FD0D9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[21] Monash University, FIT3143 Week 5 combined course material, MPI collectives, pp. 148–155.</a:t>
            </a:r>
          </a:p>
        </p:txBody>
      </p:sp>
      <p:sp>
        <p:nvSpPr>
          <p:cNvPr id="6" name="../../context/FIT3143_Week_5_Combined.pdf">
            <a:extLst xmlns:a="http://schemas.openxmlformats.org/drawingml/2006/main">
              <a:ext uri="{FF2B5EF4-FFF2-40B4-BE49-F238E27FC236}">
                <a16:creationId xmlns:a16="http://schemas.microsoft.com/office/drawing/2014/main" id="{265B11E9-D940-44D2-A5FC-9BD89A8E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../../context/FIT3143_Week_5_Combined.pdf</a:t>
            </a:r>
          </a:p>
        </p:txBody>
      </p:sp>
      <p:sp>
        <p:nvSpPr>
          <p:cNvPr id="7" name="[22] Monash University, FIT3143 Topic 9B: Mutual exclus">
            <a:extLst xmlns:a="http://schemas.openxmlformats.org/drawingml/2006/main">
              <a:ext uri="{FF2B5EF4-FFF2-40B4-BE49-F238E27FC236}">
                <a16:creationId xmlns:a16="http://schemas.microsoft.com/office/drawing/2014/main" id="{3A166DC3-BE58-48F9-A8A3-E7E58C80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[22] Monash University, FIT3143 Topic 9B: Mutual exclusion and resource allocation, course slides, 2024, pp. 4–16, 24–32.</a:t>
            </a:r>
          </a:p>
        </p:txBody>
      </p:sp>
      <p:sp>
        <p:nvSpPr>
          <p:cNvPr id="8" name="../../context/FIT3143-Topic-9B-2024.pdf">
            <a:extLst xmlns:a="http://schemas.openxmlformats.org/drawingml/2006/main">
              <a:ext uri="{FF2B5EF4-FFF2-40B4-BE49-F238E27FC236}">
                <a16:creationId xmlns:a16="http://schemas.microsoft.com/office/drawing/2014/main" id="{91A5F193-FA50-48A8-864D-DA01439E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../../context/FIT3143-Topic-9B-2024.pdf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2319A-CB85-4550-8B1E-B184C0BA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4B85836-AE1E-4709-BD46-96E19345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1" name="22 / 38">
            <a:extLst xmlns:a="http://schemas.openxmlformats.org/drawingml/2006/main">
              <a:ext uri="{FF2B5EF4-FFF2-40B4-BE49-F238E27FC236}">
                <a16:creationId xmlns:a16="http://schemas.microsoft.com/office/drawing/2014/main" id="{3FB841EB-D7E5-42DA-9676-2E4803B3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38</a:t>
            </a:r>
          </a:p>
        </p:txBody>
      </p:sp>
    </p:spTree>
    <p:extLst>
      <p:ext uri="{BB962C8B-B14F-4D97-AF65-F5344CB8AC3E}">
        <p14:creationId xmlns:p14="http://schemas.microsoft.com/office/powerpoint/2010/main" val="19633241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14A7F9A0-82DC-4921-AFF2-55C12426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assistance and prompt-record provenance">
            <a:extLst xmlns:a="http://schemas.openxmlformats.org/drawingml/2006/main">
              <a:ext uri="{FF2B5EF4-FFF2-40B4-BE49-F238E27FC236}">
                <a16:creationId xmlns:a16="http://schemas.microsoft.com/office/drawing/2014/main" id="{6FB9D915-568A-47D8-AFC9-E34EA3B8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assistance and prompt-record provenance</a:t>
            </a:r>
          </a:p>
        </p:txBody>
      </p:sp>
      <p:sp>
        <p:nvSpPr>
          <p:cNvPr id="3" name="Tools and assistance">
            <a:extLst xmlns:a="http://schemas.openxmlformats.org/drawingml/2006/main">
              <a:ext uri="{FF2B5EF4-FFF2-40B4-BE49-F238E27FC236}">
                <a16:creationId xmlns:a16="http://schemas.microsoft.com/office/drawing/2014/main" id="{75E01241-0348-4901-93BF-29F99238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Tools and assistance</a:t>
            </a:r>
          </a:p>
        </p:txBody>
      </p:sp>
      <p:sp>
        <p:nvSpPr>
          <p:cNvPr id="4" name="OpenAI Codex was used on 6 and 8 October 2026 for resea">
            <a:extLst xmlns:a="http://schemas.openxmlformats.org/drawingml/2006/main">
              <a:ext uri="{FF2B5EF4-FFF2-40B4-BE49-F238E27FC236}">
                <a16:creationId xmlns:a16="http://schemas.microsoft.com/office/drawing/2014/main" id="{2BEA1761-98ED-457F-A803-DF2E151C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Codex was used on 6 and 8 October 2026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research/source checks, drafting and revision,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examples, editable slide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diagrams/charts and presentation assembly.</a:t>
            </a:r>
          </a:p>
        </p:txBody>
      </p:sp>
      <p:sp>
        <p:nvSpPr>
          <p:cNvPr id="5" name="AI supported preparation. Students must understand and ">
            <a:extLst xmlns:a="http://schemas.openxmlformats.org/drawingml/2006/main">
              <a:ext uri="{FF2B5EF4-FFF2-40B4-BE49-F238E27FC236}">
                <a16:creationId xmlns:a16="http://schemas.microsoft.com/office/drawing/2014/main" id="{715146B0-196F-4C04-9EA6-E95A59BD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supported preparation. Students must understand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validate submitted work; no AI use is permitted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during presentation/interview.</a:t>
            </a:r>
          </a:p>
        </p:txBody>
      </p:sp>
      <p:sp>
        <p:nvSpPr>
          <p:cNvPr id="6" name="Charts are cited sector evidence. Worked examples and p">
            <a:extLst xmlns:a="http://schemas.openxmlformats.org/drawingml/2006/main">
              <a:ext uri="{FF2B5EF4-FFF2-40B4-BE49-F238E27FC236}">
                <a16:creationId xmlns:a16="http://schemas.microsoft.com/office/drawing/2014/main" id="{5A7DAC3D-9EB2-45FB-8A6F-F786258A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Charts are cited sector evidence. Worked examples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policy scenarios are labeled illustrative; CUDA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was not measured.</a:t>
            </a:r>
          </a:p>
        </p:txBody>
      </p:sp>
      <p:sp>
        <p:nvSpPr>
          <p:cNvPr id="7" name="Record included in this deck">
            <a:extLst xmlns:a="http://schemas.openxmlformats.org/drawingml/2006/main">
              <a:ext uri="{FF2B5EF4-FFF2-40B4-BE49-F238E27FC236}">
                <a16:creationId xmlns:a16="http://schemas.microsoft.com/office/drawing/2014/main" id="{57584010-581D-4DCD-99F8-AA69BD81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Record included in this deck</a:t>
            </a:r>
          </a:p>
        </p:txBody>
      </p:sp>
      <p:sp>
        <p:nvSpPr>
          <p:cNvPr id="8" name="Earlier preparation prompts are reproduced from the sav">
            <a:extLst xmlns:a="http://schemas.openxmlformats.org/drawingml/2006/main">
              <a:ext uri="{FF2B5EF4-FFF2-40B4-BE49-F238E27FC236}">
                <a16:creationId xmlns:a16="http://schemas.microsoft.com/office/drawing/2014/main" id="{2F185DC8-BD34-4E59-BEC2-2270F577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preparation prompts are reproduced from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saved Task 1 and Task 2 records with original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spelling. The continuation records the available 8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October requests and supplied details.</a:t>
            </a:r>
          </a:p>
        </p:txBody>
      </p:sp>
      <p:sp>
        <p:nvSpPr>
          <p:cNvPr id="9" name="A recorded review goal is labeled as such, separate fro">
            <a:extLst xmlns:a="http://schemas.openxmlformats.org/drawingml/2006/main">
              <a:ext uri="{FF2B5EF4-FFF2-40B4-BE49-F238E27FC236}">
                <a16:creationId xmlns:a16="http://schemas.microsoft.com/office/drawing/2014/main" id="{27A9084B-7992-4D21-9B2F-D8FAFF2F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recorded review goal is labeled as such, separate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from direct user prompts. Environment/system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 and assistant/tool output are 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presented as student prompts.</a:t>
            </a:r>
          </a:p>
        </p:txBody>
      </p:sp>
      <p:sp>
        <p:nvSpPr>
          <p:cNvPr id="10" name="The accompanying PDF contains this same presentation, i">
            <a:extLst xmlns:a="http://schemas.openxmlformats.org/drawingml/2006/main">
              <a:ext uri="{FF2B5EF4-FFF2-40B4-BE49-F238E27FC236}">
                <a16:creationId xmlns:a16="http://schemas.microsoft.com/office/drawing/2014/main" id="{0AE0015D-22FA-49DC-9CC9-55C3D074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accompanying PDF contains this same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presentation, including these records. Any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subsequent AI preparation must be appended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submission.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01900-94A2-471A-9BEE-52C25229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40489-372C-48BD-A54D-23F1AD8D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4FEFDF3-8C6D-4B5C-A944-E3D9CAB3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23 / 38">
            <a:extLst xmlns:a="http://schemas.openxmlformats.org/drawingml/2006/main">
              <a:ext uri="{FF2B5EF4-FFF2-40B4-BE49-F238E27FC236}">
                <a16:creationId xmlns:a16="http://schemas.microsoft.com/office/drawing/2014/main" id="{C060C1A9-AA7C-4459-B5FA-E3A39A75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38</a:t>
            </a:r>
          </a:p>
        </p:txBody>
      </p:sp>
    </p:spTree>
    <p:extLst>
      <p:ext uri="{BB962C8B-B14F-4D97-AF65-F5344CB8AC3E}">
        <p14:creationId xmlns:p14="http://schemas.microsoft.com/office/powerpoint/2010/main" val="6902213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1">
            <a:extLst xmlns:a="http://schemas.openxmlformats.org/drawingml/2006/main">
              <a:ext uri="{FF2B5EF4-FFF2-40B4-BE49-F238E27FC236}">
                <a16:creationId xmlns:a16="http://schemas.microsoft.com/office/drawing/2014/main" id="{0D6C97B0-7B48-48FC-86E4-40D7E863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1</a:t>
            </a:r>
          </a:p>
        </p:txBody>
      </p:sp>
      <p:sp>
        <p:nvSpPr>
          <p:cNvPr id="2" name="Earlier task1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E580418C-89C1-4B84-A796-14A70F7E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1</a:t>
            </a:r>
          </a:p>
        </p:txBody>
      </p:sp>
      <p:sp>
        <p:nvSpPr>
          <p:cNvPr id="3" name="# AGENTS.md instructions&#10;&#10;&lt;INSTRUCTIONS&gt;&#10;&quot;You are an ex">
            <a:extLst xmlns:a="http://schemas.openxmlformats.org/drawingml/2006/main">
              <a:ext uri="{FF2B5EF4-FFF2-40B4-BE49-F238E27FC236}">
                <a16:creationId xmlns:a16="http://schemas.microsoft.com/office/drawing/2014/main" id="{B69B227C-C3D6-4264-8166-21856A40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"You are an expert computer science professor and senior software engineer acting as a student mentor.Core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Guidelines:Pedagogy First: When I ask for code, don't just provide the solution. Explain the logic, data structures,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algorithmic complexity (Big O) involved.Focus on Fundamentals: Prioritize standard libraries and fundamental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concepts taught in CS curriculum (e.g., Data Structures &amp; Algorithms, Operating Systems).Academic Integrity &amp; Best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Practices: Write clean, modular, and well-commented code that adheres to industry standards (e.g., PEP8 for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Python).Edge Case Analysis: Always prompt me to think about edge cases (null inputs, empty sets, large inputs)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providing the final code.Debugging Approach: When I present code with a bug, help me trace the logic rather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than immediately providing the fix. Ask probing questions to guide me to the answer."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CBD71-A576-4CAD-B6B7-F8C0A431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1E3FF2B-46F1-4AC3-8D51-D4082041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4 / 38">
            <a:extLst xmlns:a="http://schemas.openxmlformats.org/drawingml/2006/main">
              <a:ext uri="{FF2B5EF4-FFF2-40B4-BE49-F238E27FC236}">
                <a16:creationId xmlns:a16="http://schemas.microsoft.com/office/drawing/2014/main" id="{C4884C7A-ECC8-455E-8405-CBA4F0A5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24 / 38</a:t>
            </a:r>
          </a:p>
        </p:txBody>
      </p:sp>
    </p:spTree>
    <p:extLst>
      <p:ext uri="{BB962C8B-B14F-4D97-AF65-F5344CB8AC3E}">
        <p14:creationId xmlns:p14="http://schemas.microsoft.com/office/powerpoint/2010/main" val="19997310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2">
            <a:extLst xmlns:a="http://schemas.openxmlformats.org/drawingml/2006/main">
              <a:ext uri="{FF2B5EF4-FFF2-40B4-BE49-F238E27FC236}">
                <a16:creationId xmlns:a16="http://schemas.microsoft.com/office/drawing/2014/main" id="{13C630BD-98ED-4FD9-92FD-99639C41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2</a:t>
            </a:r>
          </a:p>
        </p:txBody>
      </p:sp>
      <p:sp>
        <p:nvSpPr>
          <p:cNvPr id="2" name="Earlier task1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4D043DE7-0A09-4A24-97E8-8CC78D77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2</a:t>
            </a:r>
          </a:p>
        </p:txBody>
      </p:sp>
      <p:sp>
        <p:nvSpPr>
          <p:cNvPr id="3" name="in folder &quot;Applied 2&quot; you will have the content I want ">
            <a:extLst xmlns:a="http://schemas.openxmlformats.org/drawingml/2006/main">
              <a:ext uri="{FF2B5EF4-FFF2-40B4-BE49-F238E27FC236}">
                <a16:creationId xmlns:a16="http://schemas.microsoft.com/office/drawing/2014/main" id="{D8A841BC-C415-4686-BA42-4D4B4777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folder "Applied 2" you will have the content I want you to work on, explain me what i need to do for task 1(since task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 is done by someboday else), create evrrythign later on if your creating in this folder, you can access all the content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this folder and help me do this applied correctly, fo rthe moment only tell me what I need to do for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B628E-C27E-4580-B354-2FEFBF31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8E67432-DDE6-42A8-8514-278A8CB5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5 / 38">
            <a:extLst xmlns:a="http://schemas.openxmlformats.org/drawingml/2006/main">
              <a:ext uri="{FF2B5EF4-FFF2-40B4-BE49-F238E27FC236}">
                <a16:creationId xmlns:a16="http://schemas.microsoft.com/office/drawing/2014/main" id="{F82A3C5A-46B1-499F-8DA9-33DC0235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25 / 38</a:t>
            </a:r>
          </a:p>
        </p:txBody>
      </p:sp>
    </p:spTree>
    <p:extLst>
      <p:ext uri="{BB962C8B-B14F-4D97-AF65-F5344CB8AC3E}">
        <p14:creationId xmlns:p14="http://schemas.microsoft.com/office/powerpoint/2010/main" val="944680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1/3)">
            <a:extLst xmlns:a="http://schemas.openxmlformats.org/drawingml/2006/main">
              <a:ext uri="{FF2B5EF4-FFF2-40B4-BE49-F238E27FC236}">
                <a16:creationId xmlns:a16="http://schemas.microsoft.com/office/drawing/2014/main" id="{BABBC16E-CE8E-47F6-85A0-472BC4D4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(1/3)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5729D09B-9163-43B8-BDA2-C1E2E60D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here is some more context as well which you can add on ">
            <a:extLst xmlns:a="http://schemas.openxmlformats.org/drawingml/2006/main">
              <a:ext uri="{FF2B5EF4-FFF2-40B4-BE49-F238E27FC236}">
                <a16:creationId xmlns:a16="http://schemas.microsoft.com/office/drawing/2014/main" id="{F32126F5-104B-45CF-9E54-9D54212E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here is some more context as well which you can add on - Parallel Computer Applied 10 - Based on image rotations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Include diagrams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task 1 - (4min)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focus on the Part D of the workshop from collab - 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D: Reflection Questions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Answer the following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is the role of the host and device in CUDA?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are threads organised into blocks and grids?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is brightness adjustment considered a data-parallel problem?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does GPU acceleration generally improve as image size increases?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overhead is introduced by CPU-GPU memory transfers?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EC50A-3F8D-4D16-BF19-26BE5DAB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6BA6F1B-C835-4F33-8508-8DC1789D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6 / 38">
            <a:extLst xmlns:a="http://schemas.openxmlformats.org/drawingml/2006/main">
              <a:ext uri="{FF2B5EF4-FFF2-40B4-BE49-F238E27FC236}">
                <a16:creationId xmlns:a16="http://schemas.microsoft.com/office/drawing/2014/main" id="{287231D4-14AA-45F5-B86D-00AE5E24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26 / 38</a:t>
            </a:r>
          </a:p>
        </p:txBody>
      </p:sp>
    </p:spTree>
    <p:extLst>
      <p:ext uri="{BB962C8B-B14F-4D97-AF65-F5344CB8AC3E}">
        <p14:creationId xmlns:p14="http://schemas.microsoft.com/office/powerpoint/2010/main" val="1063052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2/3)">
            <a:extLst xmlns:a="http://schemas.openxmlformats.org/drawingml/2006/main">
              <a:ext uri="{FF2B5EF4-FFF2-40B4-BE49-F238E27FC236}">
                <a16:creationId xmlns:a16="http://schemas.microsoft.com/office/drawing/2014/main" id="{FC5A72F4-00D8-48E5-902F-4EF2F852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(2/3)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A2B2A5F8-71DE-4614-B9FB-90DE040E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How many threads are launched when using:&#10;&#10;      Image">
            <a:extLst xmlns:a="http://schemas.openxmlformats.org/drawingml/2006/main">
              <a:ext uri="{FF2B5EF4-FFF2-40B4-BE49-F238E27FC236}">
                <a16:creationId xmlns:a16="http://schemas.microsoft.com/office/drawing/2014/main" id="{F0E4E97C-5FD0-4AF9-A50C-72FB3C91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many threads are launched when using: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= 1024 x 1024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 Size = 16 x 16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If the GPU contained thousands of CUDA cores, how can they process millions of image pixels?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 2 - (3min)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how HPC is related to parallel computing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HPC relates to scaling and AI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to include statistics adn charts(make sure to get proper citation) and make sure you are able to properly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this and the trend.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make sure to cover a few points not all (out of a,b,c,d), but not all have to be in detail (since some of them overlap)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atleast 1 point is explained in detail.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A1E84-F543-4E71-A571-2280ECAD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BFDC637-9765-49AD-B033-A7DBC81A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7 / 38">
            <a:extLst xmlns:a="http://schemas.openxmlformats.org/drawingml/2006/main">
              <a:ext uri="{FF2B5EF4-FFF2-40B4-BE49-F238E27FC236}">
                <a16:creationId xmlns:a16="http://schemas.microsoft.com/office/drawing/2014/main" id="{F3440CEA-CBE3-4704-9D6F-BD74C9A5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27 / 38</a:t>
            </a:r>
          </a:p>
        </p:txBody>
      </p:sp>
    </p:spTree>
    <p:extLst>
      <p:ext uri="{BB962C8B-B14F-4D97-AF65-F5344CB8AC3E}">
        <p14:creationId xmlns:p14="http://schemas.microsoft.com/office/powerpoint/2010/main" val="19438046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3/3)">
            <a:extLst xmlns:a="http://schemas.openxmlformats.org/drawingml/2006/main">
              <a:ext uri="{FF2B5EF4-FFF2-40B4-BE49-F238E27FC236}">
                <a16:creationId xmlns:a16="http://schemas.microsoft.com/office/drawing/2014/main" id="{0DEF8B4E-3970-44BE-9C27-886A840A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(3/3)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3EA083A6-52ED-4CFC-AFE3-75F6FB74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Ex: &#10;&#10;total time to present 7 mins&#10;&#10;&#10;can task 1 be don">
            <a:extLst xmlns:a="http://schemas.openxmlformats.org/drawingml/2006/main">
              <a:ext uri="{FF2B5EF4-FFF2-40B4-BE49-F238E27FC236}">
                <a16:creationId xmlns:a16="http://schemas.microsoft.com/office/drawing/2014/main" id="{79FE69B2-5536-4043-A868-7816C6C6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time to present 7 mins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 task 1 be done by you or does it reqrueis desgnig somethign ? if you can do it go ahead and do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EFACD-724A-464A-9B45-88BEC57B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6AA90C4-F207-449F-B03E-7385C613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8 / 38">
            <a:extLst xmlns:a="http://schemas.openxmlformats.org/drawingml/2006/main">
              <a:ext uri="{FF2B5EF4-FFF2-40B4-BE49-F238E27FC236}">
                <a16:creationId xmlns:a16="http://schemas.microsoft.com/office/drawing/2014/main" id="{E44D41B1-B168-4671-80F6-D2BEE631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28 / 38</a:t>
            </a:r>
          </a:p>
        </p:txBody>
      </p:sp>
    </p:spTree>
    <p:extLst>
      <p:ext uri="{BB962C8B-B14F-4D97-AF65-F5344CB8AC3E}">
        <p14:creationId xmlns:p14="http://schemas.microsoft.com/office/powerpoint/2010/main" val="93691763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4">
            <a:extLst xmlns:a="http://schemas.openxmlformats.org/drawingml/2006/main">
              <a:ext uri="{FF2B5EF4-FFF2-40B4-BE49-F238E27FC236}">
                <a16:creationId xmlns:a16="http://schemas.microsoft.com/office/drawing/2014/main" id="{3791179F-63FF-469E-8CA4-D73676AE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4</a:t>
            </a:r>
          </a:p>
        </p:txBody>
      </p:sp>
      <p:sp>
        <p:nvSpPr>
          <p:cNvPr id="2" name="Earlier task2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2FB0D2FA-C412-4EC0-887E-09562366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1</a:t>
            </a:r>
          </a:p>
        </p:txBody>
      </p:sp>
      <p:sp>
        <p:nvSpPr>
          <p:cNvPr id="3" name="Are you able to push the changes to this git page and c">
            <a:extLst xmlns:a="http://schemas.openxmlformats.org/drawingml/2006/main">
              <a:ext uri="{FF2B5EF4-FFF2-40B4-BE49-F238E27FC236}">
                <a16:creationId xmlns:a16="http://schemas.microsoft.com/office/drawing/2014/main" id="{6B6C2712-7A48-4C6E-BDA9-7E9D1593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you able to push the changes to this git page and create a new folder named applied2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https://github.com/Shamle-T/FIT3143-Parallel-Computing dont include any refernces of codex in the naming when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your creating a new folder. Let me know whether this is possible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A4230-78EC-4F11-A100-CB88D28F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AA1F6474-0778-48B9-82D7-9583E16A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9 / 38">
            <a:extLst xmlns:a="http://schemas.openxmlformats.org/drawingml/2006/main">
              <a:ext uri="{FF2B5EF4-FFF2-40B4-BE49-F238E27FC236}">
                <a16:creationId xmlns:a16="http://schemas.microsoft.com/office/drawing/2014/main" id="{94FDDF39-6211-462C-8D5E-8248F231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29 / 38</a:t>
            </a:r>
          </a:p>
        </p:txBody>
      </p:sp>
    </p:spTree>
    <p:extLst>
      <p:ext uri="{BB962C8B-B14F-4D97-AF65-F5344CB8AC3E}">
        <p14:creationId xmlns:p14="http://schemas.microsoft.com/office/powerpoint/2010/main" val="8296391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5">
            <a:extLst xmlns:a="http://schemas.openxmlformats.org/drawingml/2006/main">
              <a:ext uri="{FF2B5EF4-FFF2-40B4-BE49-F238E27FC236}">
                <a16:creationId xmlns:a16="http://schemas.microsoft.com/office/drawing/2014/main" id="{3C924469-3967-4A8E-B078-3B5E90E6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5</a:t>
            </a:r>
          </a:p>
        </p:txBody>
      </p:sp>
      <p:sp>
        <p:nvSpPr>
          <p:cNvPr id="2" name="Earlier task2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7B7466B1-4B7D-46B4-BADB-22B524DC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2</a:t>
            </a:r>
          </a:p>
        </p:txBody>
      </p:sp>
      <p:sp>
        <p:nvSpPr>
          <p:cNvPr id="3" name="using a detailed comit message push the current changes">
            <a:extLst xmlns:a="http://schemas.openxmlformats.org/drawingml/2006/main">
              <a:ext uri="{FF2B5EF4-FFF2-40B4-BE49-F238E27FC236}">
                <a16:creationId xmlns:a16="http://schemas.microsoft.com/office/drawing/2014/main" id="{8B4B5FA4-37EE-4EEA-B695-8689E47A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using a detailed comit message push the current changes to git and also do we need to do any code for task 1?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pushed do task 2 as well, and push the task 2 to git are 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718D2-60CE-4376-AF25-F9C91FA7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CC3B979-21F3-4614-94E2-325A56A9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0 / 38">
            <a:extLst xmlns:a="http://schemas.openxmlformats.org/drawingml/2006/main">
              <a:ext uri="{FF2B5EF4-FFF2-40B4-BE49-F238E27FC236}">
                <a16:creationId xmlns:a16="http://schemas.microsoft.com/office/drawing/2014/main" id="{9158BA9A-21A3-424F-9D21-79B585C3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30 / 38</a:t>
            </a:r>
          </a:p>
        </p:txBody>
      </p:sp>
    </p:spTree>
    <p:extLst>
      <p:ext uri="{BB962C8B-B14F-4D97-AF65-F5344CB8AC3E}">
        <p14:creationId xmlns:p14="http://schemas.microsoft.com/office/powerpoint/2010/main" val="48068689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6">
            <a:extLst xmlns:a="http://schemas.openxmlformats.org/drawingml/2006/main">
              <a:ext uri="{FF2B5EF4-FFF2-40B4-BE49-F238E27FC236}">
                <a16:creationId xmlns:a16="http://schemas.microsoft.com/office/drawing/2014/main" id="{363F649C-7F3D-4765-81AF-E3286748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6</a:t>
            </a:r>
          </a:p>
        </p:txBody>
      </p:sp>
      <p:sp>
        <p:nvSpPr>
          <p:cNvPr id="2" name="Earlier task2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8C7AB650-F801-4227-8F17-119CF26A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3</a:t>
            </a:r>
          </a:p>
        </p:txBody>
      </p:sp>
      <p:sp>
        <p:nvSpPr>
          <p:cNvPr id="3" name="1)once you have compelted task 2, make sure you have ai">
            <a:extLst xmlns:a="http://schemas.openxmlformats.org/drawingml/2006/main">
              <a:ext uri="{FF2B5EF4-FFF2-40B4-BE49-F238E27FC236}">
                <a16:creationId xmlns:a16="http://schemas.microsoft.com/office/drawing/2014/main" id="{FD2A50F0-61AD-4A77-AF09-A8184F98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1)once you have compelted task 2, make sure you have aimed for HD in rubric yeah? for both task 1 and task 2 - if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update both tasks to cover HD level in the rubric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2) create a 6 minute script for both me (task1) and (task2) for my firend , make sure it doesnt sound overly robotic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since we will have to speak this 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3A83F-32BD-4942-88B0-5414B61F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9A71C6B-6BA4-4728-B0A6-12393637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1 / 38">
            <a:extLst xmlns:a="http://schemas.openxmlformats.org/drawingml/2006/main">
              <a:ext uri="{FF2B5EF4-FFF2-40B4-BE49-F238E27FC236}">
                <a16:creationId xmlns:a16="http://schemas.microsoft.com/office/drawing/2014/main" id="{3EBAB88E-35A0-4275-8075-75816750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31 / 38</a:t>
            </a:r>
          </a:p>
        </p:txBody>
      </p:sp>
    </p:spTree>
    <p:extLst>
      <p:ext uri="{BB962C8B-B14F-4D97-AF65-F5344CB8AC3E}">
        <p14:creationId xmlns:p14="http://schemas.microsoft.com/office/powerpoint/2010/main" val="5952548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7">
            <a:extLst xmlns:a="http://schemas.openxmlformats.org/drawingml/2006/main">
              <a:ext uri="{FF2B5EF4-FFF2-40B4-BE49-F238E27FC236}">
                <a16:creationId xmlns:a16="http://schemas.microsoft.com/office/drawing/2014/main" id="{FCB9CCDE-EF2F-41D0-A066-66524C79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7</a:t>
            </a:r>
          </a:p>
        </p:txBody>
      </p:sp>
      <p:sp>
        <p:nvSpPr>
          <p:cNvPr id="2" name="Earlier task2 preparation, record 4">
            <a:extLst xmlns:a="http://schemas.openxmlformats.org/drawingml/2006/main">
              <a:ext uri="{FF2B5EF4-FFF2-40B4-BE49-F238E27FC236}">
                <a16:creationId xmlns:a16="http://schemas.microsoft.com/office/drawing/2014/main" id="{3B8F79DC-E8E0-4DC9-847E-BA8D467C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4</a:t>
            </a:r>
          </a:p>
        </p:txBody>
      </p:sp>
      <p:sp>
        <p:nvSpPr>
          <p:cNvPr id="3" name="Six minutes total: 3 minutes each">
            <a:extLst xmlns:a="http://schemas.openxmlformats.org/drawingml/2006/main">
              <a:ext uri="{FF2B5EF4-FFF2-40B4-BE49-F238E27FC236}">
                <a16:creationId xmlns:a16="http://schemas.microsoft.com/office/drawing/2014/main" id="{5604DFC8-DA1E-4403-8A19-5EECDDE7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Six minutes total: 3 minutes 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5A216-FD7B-42E3-B053-FF7E121A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4BDD806-88C2-4BA7-93FC-5C7BCC4D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2 / 38">
            <a:extLst xmlns:a="http://schemas.openxmlformats.org/drawingml/2006/main">
              <a:ext uri="{FF2B5EF4-FFF2-40B4-BE49-F238E27FC236}">
                <a16:creationId xmlns:a16="http://schemas.microsoft.com/office/drawing/2014/main" id="{1BBFB177-B883-4C27-9942-E3488FC0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32 / 38</a:t>
            </a:r>
          </a:p>
        </p:txBody>
      </p:sp>
    </p:spTree>
    <p:extLst>
      <p:ext uri="{BB962C8B-B14F-4D97-AF65-F5344CB8AC3E}">
        <p14:creationId xmlns:p14="http://schemas.microsoft.com/office/powerpoint/2010/main" val="153500359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8">
            <a:extLst xmlns:a="http://schemas.openxmlformats.org/drawingml/2006/main">
              <a:ext uri="{FF2B5EF4-FFF2-40B4-BE49-F238E27FC236}">
                <a16:creationId xmlns:a16="http://schemas.microsoft.com/office/drawing/2014/main" id="{1899705E-6CFE-4008-9B0C-795FFB29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8</a:t>
            </a:r>
          </a:p>
        </p:txBody>
      </p:sp>
      <p:sp>
        <p:nvSpPr>
          <p:cNvPr id="2" name="Repository synchronization">
            <a:extLst xmlns:a="http://schemas.openxmlformats.org/drawingml/2006/main">
              <a:ext uri="{FF2B5EF4-FFF2-40B4-BE49-F238E27FC236}">
                <a16:creationId xmlns:a16="http://schemas.microsoft.com/office/drawing/2014/main" id="{603FA323-FC6C-4EAE-AB9D-80EC0CF2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Repository synchronization</a:t>
            </a:r>
          </a:p>
        </p:txBody>
      </p:sp>
      <p:sp>
        <p:nvSpPr>
          <p:cNvPr id="3" name="pull the latest from the remote repo, push any local ch">
            <a:extLst xmlns:a="http://schemas.openxmlformats.org/drawingml/2006/main">
              <a:ext uri="{FF2B5EF4-FFF2-40B4-BE49-F238E27FC236}">
                <a16:creationId xmlns:a16="http://schemas.microsoft.com/office/drawing/2014/main" id="{371E0CFD-4BE4-4136-81C7-2DD8441F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pull the latest from the remote repo, push any local changes and merge, local changes arent important. main goal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 get the latest version of the "applied2" dir from the remote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ECAA3-A289-4534-8517-3FE69F43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E6B91AA-864A-41E2-A516-EB7452E4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3 / 38">
            <a:extLst xmlns:a="http://schemas.openxmlformats.org/drawingml/2006/main">
              <a:ext uri="{FF2B5EF4-FFF2-40B4-BE49-F238E27FC236}">
                <a16:creationId xmlns:a16="http://schemas.microsoft.com/office/drawing/2014/main" id="{C52D7F17-8900-4ED4-A4F2-66EDE138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33 / 38</a:t>
            </a:r>
          </a:p>
        </p:txBody>
      </p:sp>
    </p:spTree>
    <p:extLst>
      <p:ext uri="{BB962C8B-B14F-4D97-AF65-F5344CB8AC3E}">
        <p14:creationId xmlns:p14="http://schemas.microsoft.com/office/powerpoint/2010/main" val="58285150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9">
            <a:extLst xmlns:a="http://schemas.openxmlformats.org/drawingml/2006/main">
              <a:ext uri="{FF2B5EF4-FFF2-40B4-BE49-F238E27FC236}">
                <a16:creationId xmlns:a16="http://schemas.microsoft.com/office/drawing/2014/main" id="{1C116442-A7A0-45A0-8A2E-5C264F80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9</a:t>
            </a:r>
          </a:p>
        </p:txBody>
      </p:sp>
      <p:sp>
        <p:nvSpPr>
          <p:cNvPr id="2" name="Review request">
            <a:extLst xmlns:a="http://schemas.openxmlformats.org/drawingml/2006/main">
              <a:ext uri="{FF2B5EF4-FFF2-40B4-BE49-F238E27FC236}">
                <a16:creationId xmlns:a16="http://schemas.microsoft.com/office/drawing/2014/main" id="{4D317204-BB35-40D9-AD64-1D26B481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request</a:t>
            </a:r>
          </a:p>
        </p:txBody>
      </p:sp>
      <p:sp>
        <p:nvSpPr>
          <p:cNvPr id="3" name="- review the content in the root level context folder (">
            <a:extLst xmlns:a="http://schemas.openxmlformats.org/drawingml/2006/main">
              <a:ext uri="{FF2B5EF4-FFF2-40B4-BE49-F238E27FC236}">
                <a16:creationId xmlns:a16="http://schemas.microsoft.com/office/drawing/2014/main" id="{3EFBAD7C-7832-428F-A451-F94A9BD7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content in the root level context folder (with an emphasis on week's 7-9).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solutions to task 1 and task 2 in [applied2](applied2/) based on the specification [Applied #2 -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Assessment Specification.pdf](&lt;\&lt;applied2/assessment/Applied #2 - Assessment Specification.pdf\&gt;&gt;) . Identify any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key HD blockers in the solutions based on the rubric attached.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The solutions dont need to only use the theory in the context folder but where possible, they should.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FA18E-876C-47FF-A463-473DA7D4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B4EBC77-4E27-42FA-9966-199C4172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4 / 38">
            <a:extLst xmlns:a="http://schemas.openxmlformats.org/drawingml/2006/main">
              <a:ext uri="{FF2B5EF4-FFF2-40B4-BE49-F238E27FC236}">
                <a16:creationId xmlns:a16="http://schemas.microsoft.com/office/drawing/2014/main" id="{2B3D2B6D-79C6-4703-8FD7-9061BC94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34 / 38</a:t>
            </a:r>
          </a:p>
        </p:txBody>
      </p:sp>
    </p:spTree>
    <p:extLst>
      <p:ext uri="{BB962C8B-B14F-4D97-AF65-F5344CB8AC3E}">
        <p14:creationId xmlns:p14="http://schemas.microsoft.com/office/powerpoint/2010/main" val="47439508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0">
            <a:extLst xmlns:a="http://schemas.openxmlformats.org/drawingml/2006/main">
              <a:ext uri="{FF2B5EF4-FFF2-40B4-BE49-F238E27FC236}">
                <a16:creationId xmlns:a16="http://schemas.microsoft.com/office/drawing/2014/main" id="{2212146C-DF97-4F6D-B1B5-3B26BCD9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10</a:t>
            </a:r>
          </a:p>
        </p:txBody>
      </p:sp>
      <p:sp>
        <p:nvSpPr>
          <p:cNvPr id="2" name="Current preparation instructions">
            <a:extLst xmlns:a="http://schemas.openxmlformats.org/drawingml/2006/main">
              <a:ext uri="{FF2B5EF4-FFF2-40B4-BE49-F238E27FC236}">
                <a16:creationId xmlns:a16="http://schemas.microsoft.com/office/drawing/2014/main" id="{B8C4E262-113D-4987-81E3-ED547450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Current preparation instructions</a:t>
            </a:r>
          </a:p>
        </p:txBody>
      </p:sp>
      <p:sp>
        <p:nvSpPr>
          <p:cNvPr id="3" name="# AGENTS.md instructions&#10;&#10;&lt;INSTRUCTIONS&gt;&#10;- Answer immed">
            <a:extLst xmlns:a="http://schemas.openxmlformats.org/drawingml/2006/main">
              <a:ext uri="{FF2B5EF4-FFF2-40B4-BE49-F238E27FC236}">
                <a16:creationId xmlns:a16="http://schemas.microsoft.com/office/drawing/2014/main" id="{A2B48026-CAB4-43EE-9EB3-76ADACA0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Answer immediately without intro pleasantries, prompt repetitions, or polite filler.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Be concise. Avoid conversational fluff, over-explanation, and unsolicited summaries.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Rely strictly on verified facts. Never invent URLs, names, statistics, or quotes.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If an answer cannot be verified with absolute certainty, state "I do not know" instead of guessing.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For complex logic, perform brief step-by-step reasoning before delivering the final answer.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B751C-215A-49FF-A851-308B2B67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B0D8C66-B1E9-4FAA-9025-4CC599B2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5 / 38">
            <a:extLst xmlns:a="http://schemas.openxmlformats.org/drawingml/2006/main">
              <a:ext uri="{FF2B5EF4-FFF2-40B4-BE49-F238E27FC236}">
                <a16:creationId xmlns:a16="http://schemas.microsoft.com/office/drawing/2014/main" id="{2DF9F736-FBEF-40D2-846D-45D5CE82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35 / 38</a:t>
            </a:r>
          </a:p>
        </p:txBody>
      </p:sp>
    </p:spTree>
    <p:extLst>
      <p:ext uri="{BB962C8B-B14F-4D97-AF65-F5344CB8AC3E}">
        <p14:creationId xmlns:p14="http://schemas.microsoft.com/office/powerpoint/2010/main" val="73080349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Recorded goal 11">
            <a:extLst xmlns:a="http://schemas.openxmlformats.org/drawingml/2006/main">
              <a:ext uri="{FF2B5EF4-FFF2-40B4-BE49-F238E27FC236}">
                <a16:creationId xmlns:a16="http://schemas.microsoft.com/office/drawing/2014/main" id="{2DD2640F-7A9D-4F31-B0B2-245AFDB3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Recorded goal 11</a:t>
            </a:r>
          </a:p>
        </p:txBody>
      </p:sp>
      <p:sp>
        <p:nvSpPr>
          <p:cNvPr id="2" name="Recorded review goal">
            <a:extLst xmlns:a="http://schemas.openxmlformats.org/drawingml/2006/main">
              <a:ext uri="{FF2B5EF4-FFF2-40B4-BE49-F238E27FC236}">
                <a16:creationId xmlns:a16="http://schemas.microsoft.com/office/drawing/2014/main" id="{F30589C0-3059-4386-B4B4-D3276847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Recorded review goal</a:t>
            </a:r>
          </a:p>
        </p:txBody>
      </p:sp>
      <p:sp>
        <p:nvSpPr>
          <p:cNvPr id="3" name="Review the solutions to task 1 and task 2 in [applied2]">
            <a:extLst xmlns:a="http://schemas.openxmlformats.org/drawingml/2006/main">
              <a:ext uri="{FF2B5EF4-FFF2-40B4-BE49-F238E27FC236}">
                <a16:creationId xmlns:a16="http://schemas.microsoft.com/office/drawing/2014/main" id="{1F47100F-9E11-4428-9DD6-532B5720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the solutions to task 1 and task 2 in [applied2](applied2/) based on the specification [Applied #2 - Assessment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Specification.pdf](&lt;applied2/assessment/Applied #2 - Assessment Specification.pdf&gt;) . Identify any key HD blockers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the solutions based on the rubric attached. Dont stop until you are certain you have identified every HD blocker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created an action plan which you can later execute to update the solutions to fix all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94062-EEA2-43CE-ABD0-06D16B93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8A2309E-9595-4352-B5EC-8350F27B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6 / 38">
            <a:extLst xmlns:a="http://schemas.openxmlformats.org/drawingml/2006/main">
              <a:ext uri="{FF2B5EF4-FFF2-40B4-BE49-F238E27FC236}">
                <a16:creationId xmlns:a16="http://schemas.microsoft.com/office/drawing/2014/main" id="{9A0FC893-F01D-48B4-B2B6-2DCC6704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36 / 38</a:t>
            </a:r>
          </a:p>
        </p:txBody>
      </p:sp>
    </p:spTree>
    <p:extLst>
      <p:ext uri="{BB962C8B-B14F-4D97-AF65-F5344CB8AC3E}">
        <p14:creationId xmlns:p14="http://schemas.microsoft.com/office/powerpoint/2010/main" val="58520477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2">
            <a:extLst xmlns:a="http://schemas.openxmlformats.org/drawingml/2006/main">
              <a:ext uri="{FF2B5EF4-FFF2-40B4-BE49-F238E27FC236}">
                <a16:creationId xmlns:a16="http://schemas.microsoft.com/office/drawing/2014/main" id="{7F2C9CAD-F6EE-4D2A-A847-CA5B99E8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12</a:t>
            </a:r>
          </a:p>
        </p:txBody>
      </p:sp>
      <p:sp>
        <p:nvSpPr>
          <p:cNvPr id="2" name="Revision and presentation request">
            <a:extLst xmlns:a="http://schemas.openxmlformats.org/drawingml/2006/main">
              <a:ext uri="{FF2B5EF4-FFF2-40B4-BE49-F238E27FC236}">
                <a16:creationId xmlns:a16="http://schemas.microsoft.com/office/drawing/2014/main" id="{BB9F1A60-F6E9-4F69-A719-106B685B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Revision and presentation request</a:t>
            </a:r>
          </a:p>
        </p:txBody>
      </p:sp>
      <p:sp>
        <p:nvSpPr>
          <p:cNvPr id="3" name="Now, fix all the identified problems and HD blockers. D">
            <a:extLst xmlns:a="http://schemas.openxmlformats.org/drawingml/2006/main">
              <a:ext uri="{FF2B5EF4-FFF2-40B4-BE49-F238E27FC236}">
                <a16:creationId xmlns:a16="http://schemas.microsoft.com/office/drawing/2014/main" id="{6438284F-FD3A-4DEF-A1AB-30AE1B9F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Now, fix all the identified problems and HD blockers. Don't stop until you're confident that task 1 and task 2 have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high probability of achieving an HD as per the applied-to rubric. Also refer to teaching_team_guidance.md, which is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applied2 directory. Also ignore the Q&amp;A and "Presentation Quality" in the rubric as these will be done by me. You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need to create the presentation but dont worry about presenting it. Once you are confident with the task 1 and 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solutions create a presentation as per task 3 (again dont worry about task 3 part c). Ensure the presentation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professionally formatted and contains all key details as I will not be submitting any other report, all info must be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 in the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A62FD-8269-4E8E-B86C-A5342E64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BBE4817-0AFE-4751-8E5C-8FE5DD07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7 / 38">
            <a:extLst xmlns:a="http://schemas.openxmlformats.org/drawingml/2006/main">
              <a:ext uri="{FF2B5EF4-FFF2-40B4-BE49-F238E27FC236}">
                <a16:creationId xmlns:a16="http://schemas.microsoft.com/office/drawing/2014/main" id="{CA16D211-CB5F-42C4-A9E3-B7961A4C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37 / 38</a:t>
            </a:r>
          </a:p>
        </p:txBody>
      </p:sp>
    </p:spTree>
    <p:extLst>
      <p:ext uri="{BB962C8B-B14F-4D97-AF65-F5344CB8AC3E}">
        <p14:creationId xmlns:p14="http://schemas.microsoft.com/office/powerpoint/2010/main" val="207129238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3">
            <a:extLst xmlns:a="http://schemas.openxmlformats.org/drawingml/2006/main">
              <a:ext uri="{FF2B5EF4-FFF2-40B4-BE49-F238E27FC236}">
                <a16:creationId xmlns:a16="http://schemas.microsoft.com/office/drawing/2014/main" id="{55868F77-0484-499F-B40A-E9A6FC66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13</a:t>
            </a:r>
          </a:p>
        </p:txBody>
      </p:sp>
      <p:sp>
        <p:nvSpPr>
          <p:cNvPr id="2" name="Identification details supplied">
            <a:extLst xmlns:a="http://schemas.openxmlformats.org/drawingml/2006/main">
              <a:ext uri="{FF2B5EF4-FFF2-40B4-BE49-F238E27FC236}">
                <a16:creationId xmlns:a16="http://schemas.microsoft.com/office/drawing/2014/main" id="{22596866-09A8-40CD-A7E5-0D802026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Identification details supplied</a:t>
            </a:r>
          </a:p>
        </p:txBody>
      </p:sp>
      <p:sp>
        <p:nvSpPr>
          <p:cNvPr id="3" name="Savin Vindiv De Alwis (35221631) - sdea0018@student.mon">
            <a:extLst xmlns:a="http://schemas.openxmlformats.org/drawingml/2006/main">
              <a:ext uri="{FF2B5EF4-FFF2-40B4-BE49-F238E27FC236}">
                <a16:creationId xmlns:a16="http://schemas.microsoft.com/office/drawing/2014/main" id="{92E42B99-8C1E-45A7-A2EA-AF5C0A01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Savin Vindiv De Alwis (35221631) - sdea0018@student.monash.edu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Shamle Thilaksiri (35512075) - wthi0003@student.monash.edu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AF18A-D3CA-4341-9B8E-10117183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B58B735-5A5B-43A4-9EE5-7FF634C0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8 / 38">
            <a:extLst xmlns:a="http://schemas.openxmlformats.org/drawingml/2006/main">
              <a:ext uri="{FF2B5EF4-FFF2-40B4-BE49-F238E27FC236}">
                <a16:creationId xmlns:a16="http://schemas.microsoft.com/office/drawing/2014/main" id="{65549E07-B07C-428F-8D88-5AFA6505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38 / 38</a:t>
            </a:r>
          </a:p>
        </p:txBody>
      </p:sp>
    </p:spTree>
    <p:extLst>
      <p:ext uri="{BB962C8B-B14F-4D97-AF65-F5344CB8AC3E}">
        <p14:creationId xmlns:p14="http://schemas.microsoft.com/office/powerpoint/2010/main" val="780684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2026-10-08T11:23:58.7960000Z</dcterms:created>
  <dcterms:modified xsi:type="dcterms:W3CDTF">2026-10-08T11:23:58.7960000Z</dcterms:modified>
</coreProperties>
</file>