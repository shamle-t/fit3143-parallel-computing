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feede22a574950" /><Relationship Type="http://schemas.openxmlformats.org/officeDocument/2006/relationships/extended-properties" Target="/docProps/app.xml" Id="R8fc3abadb12c4855" /><Relationship Type="http://schemas.openxmlformats.org/officeDocument/2006/relationships/officeDocument" Target="/ppt/presentation.xml" Id="Rfa44a38f119746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96740ba85b48e3"/>
  </p:sldMasterIdLst>
  <p:notesMasterIdLst>
    <p:notesMasterId xmlns:r="http://schemas.openxmlformats.org/officeDocument/2006/relationships" r:id="R509334ad264244db"/>
  </p:notesMasterIdLst>
  <p:sldIdLst>
    <p:sldId xmlns:r="http://schemas.openxmlformats.org/officeDocument/2006/relationships" id="256" r:id="Rae8c92bff4e1417b"/>
    <p:sldId xmlns:r="http://schemas.openxmlformats.org/officeDocument/2006/relationships" id="257" r:id="R0a84ed8f71854bc3"/>
    <p:sldId xmlns:r="http://schemas.openxmlformats.org/officeDocument/2006/relationships" id="258" r:id="R712a39abc8814752"/>
    <p:sldId xmlns:r="http://schemas.openxmlformats.org/officeDocument/2006/relationships" id="259" r:id="Re8d29df9a7ab4bdf"/>
    <p:sldId xmlns:r="http://schemas.openxmlformats.org/officeDocument/2006/relationships" id="260" r:id="R1782635060974403"/>
    <p:sldId xmlns:r="http://schemas.openxmlformats.org/officeDocument/2006/relationships" id="261" r:id="R105ce485a28c4c1a"/>
    <p:sldId xmlns:r="http://schemas.openxmlformats.org/officeDocument/2006/relationships" id="262" r:id="Rc9541e656ac542f1"/>
    <p:sldId xmlns:r="http://schemas.openxmlformats.org/officeDocument/2006/relationships" id="263" r:id="R822d284595ed4693"/>
    <p:sldId xmlns:r="http://schemas.openxmlformats.org/officeDocument/2006/relationships" id="264" r:id="R7407088220a9473d"/>
    <p:sldId xmlns:r="http://schemas.openxmlformats.org/officeDocument/2006/relationships" id="265" r:id="R5c9eabdafd524dad"/>
    <p:sldId xmlns:r="http://schemas.openxmlformats.org/officeDocument/2006/relationships" id="266" r:id="R190ef5d464b64e44"/>
    <p:sldId xmlns:r="http://schemas.openxmlformats.org/officeDocument/2006/relationships" id="267" r:id="Rf8764156bc454073"/>
    <p:sldId xmlns:r="http://schemas.openxmlformats.org/officeDocument/2006/relationships" id="268" r:id="R8da9b9e4513e4f10"/>
    <p:sldId xmlns:r="http://schemas.openxmlformats.org/officeDocument/2006/relationships" id="269" r:id="R0c45cd1290b7455a"/>
    <p:sldId xmlns:r="http://schemas.openxmlformats.org/officeDocument/2006/relationships" id="270" r:id="Rbcff44ece5034b7e"/>
    <p:sldId xmlns:r="http://schemas.openxmlformats.org/officeDocument/2006/relationships" id="271" r:id="R7c407bb2bf3d4742"/>
    <p:sldId xmlns:r="http://schemas.openxmlformats.org/officeDocument/2006/relationships" id="272" r:id="R9aa6802ee29c4b3c"/>
    <p:sldId xmlns:r="http://schemas.openxmlformats.org/officeDocument/2006/relationships" id="273" r:id="R6ef63178f4984de2"/>
    <p:sldId xmlns:r="http://schemas.openxmlformats.org/officeDocument/2006/relationships" id="274" r:id="Rbd50fbfba9584989"/>
    <p:sldId xmlns:r="http://schemas.openxmlformats.org/officeDocument/2006/relationships" id="275" r:id="Rbbd59873708f4465"/>
    <p:sldId xmlns:r="http://schemas.openxmlformats.org/officeDocument/2006/relationships" id="276" r:id="R25b6b46c9a984a10"/>
    <p:sldId xmlns:r="http://schemas.openxmlformats.org/officeDocument/2006/relationships" id="277" r:id="Ra4d0f4ee0d9146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46d0724ef44e67" /><Relationship Type="http://schemas.openxmlformats.org/officeDocument/2006/relationships/slideMaster" Target="/ppt/slideMasters/slideMaster1.xml" Id="R1c96740ba85b48e3" /><Relationship Type="http://schemas.openxmlformats.org/officeDocument/2006/relationships/notesMaster" Target="/ppt/notesMasters/notesMaster1.xml" Id="R509334ad264244db" /><Relationship Type="http://schemas.openxmlformats.org/officeDocument/2006/relationships/presProps" Target="/ppt/presProps.xml" Id="R924d12779b10466f" /><Relationship Type="http://schemas.openxmlformats.org/officeDocument/2006/relationships/tableStyles" Target="/ppt/tableStyles.xml" Id="R64462a20581b4190" /><Relationship Type="http://schemas.openxmlformats.org/officeDocument/2006/relationships/slide" Target="/ppt/slides/slide1.xml" Id="Rae8c92bff4e1417b" /><Relationship Type="http://schemas.openxmlformats.org/officeDocument/2006/relationships/slide" Target="/ppt/slides/slide2.xml" Id="R0a84ed8f71854bc3" /><Relationship Type="http://schemas.openxmlformats.org/officeDocument/2006/relationships/slide" Target="/ppt/slides/slide3.xml" Id="R712a39abc8814752" /><Relationship Type="http://schemas.openxmlformats.org/officeDocument/2006/relationships/slide" Target="/ppt/slides/slide4.xml" Id="Re8d29df9a7ab4bdf" /><Relationship Type="http://schemas.openxmlformats.org/officeDocument/2006/relationships/slide" Target="/ppt/slides/slide5.xml" Id="R1782635060974403" /><Relationship Type="http://schemas.openxmlformats.org/officeDocument/2006/relationships/slide" Target="/ppt/slides/slide6.xml" Id="R105ce485a28c4c1a" /><Relationship Type="http://schemas.openxmlformats.org/officeDocument/2006/relationships/slide" Target="/ppt/slides/slide7.xml" Id="Rc9541e656ac542f1" /><Relationship Type="http://schemas.openxmlformats.org/officeDocument/2006/relationships/slide" Target="/ppt/slides/slide8.xml" Id="R822d284595ed4693" /><Relationship Type="http://schemas.openxmlformats.org/officeDocument/2006/relationships/slide" Target="/ppt/slides/slide9.xml" Id="R7407088220a9473d" /><Relationship Type="http://schemas.openxmlformats.org/officeDocument/2006/relationships/slide" Target="/ppt/slides/slide10.xml" Id="R5c9eabdafd524dad" /><Relationship Type="http://schemas.openxmlformats.org/officeDocument/2006/relationships/slide" Target="/ppt/slides/slide11.xml" Id="R190ef5d464b64e44" /><Relationship Type="http://schemas.openxmlformats.org/officeDocument/2006/relationships/slide" Target="/ppt/slides/slide12.xml" Id="Rf8764156bc454073" /><Relationship Type="http://schemas.openxmlformats.org/officeDocument/2006/relationships/slide" Target="/ppt/slides/slide13.xml" Id="R8da9b9e4513e4f10" /><Relationship Type="http://schemas.openxmlformats.org/officeDocument/2006/relationships/slide" Target="/ppt/slides/slide14.xml" Id="R0c45cd1290b7455a" /><Relationship Type="http://schemas.openxmlformats.org/officeDocument/2006/relationships/slide" Target="/ppt/slides/slide15.xml" Id="Rbcff44ece5034b7e" /><Relationship Type="http://schemas.openxmlformats.org/officeDocument/2006/relationships/slide" Target="/ppt/slides/slide16.xml" Id="R7c407bb2bf3d4742" /><Relationship Type="http://schemas.openxmlformats.org/officeDocument/2006/relationships/slide" Target="/ppt/slides/slide17.xml" Id="R9aa6802ee29c4b3c" /><Relationship Type="http://schemas.openxmlformats.org/officeDocument/2006/relationships/slide" Target="/ppt/slides/slide18.xml" Id="R6ef63178f4984de2" /><Relationship Type="http://schemas.openxmlformats.org/officeDocument/2006/relationships/slide" Target="/ppt/slides/slide19.xml" Id="Rbd50fbfba9584989" /><Relationship Type="http://schemas.openxmlformats.org/officeDocument/2006/relationships/slide" Target="/ppt/slides/slide20.xml" Id="Rbbd59873708f4465" /><Relationship Type="http://schemas.openxmlformats.org/officeDocument/2006/relationships/slide" Target="/ppt/slides/slide21.xml" Id="R25b6b46c9a984a10" /><Relationship Type="http://schemas.openxmlformats.org/officeDocument/2006/relationships/slide" Target="/ppt/slides/slide22.xml" Id="Ra4d0f4ee0d9146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c05900a33d4a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b5725c8f4c4e11" /><Relationship Type="http://schemas.openxmlformats.org/officeDocument/2006/relationships/notesMaster" Target="/ppt/notesMasters/notesMaster1.xml" Id="Rff017224ba664c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a9b6d6ac1e45a4" /><Relationship Type="http://schemas.openxmlformats.org/officeDocument/2006/relationships/notesMaster" Target="/ppt/notesMasters/notesMaster1.xml" Id="R4ca7739fc0c54c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1e02e3ddd0452d" /><Relationship Type="http://schemas.openxmlformats.org/officeDocument/2006/relationships/notesMaster" Target="/ppt/notesMasters/notesMaster1.xml" Id="Rcf58427b140042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b0e04f50c841a3" /><Relationship Type="http://schemas.openxmlformats.org/officeDocument/2006/relationships/notesMaster" Target="/ppt/notesMasters/notesMaster1.xml" Id="R6b2ec379c2864f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7675bbbc994368" /><Relationship Type="http://schemas.openxmlformats.org/officeDocument/2006/relationships/notesMaster" Target="/ppt/notesMasters/notesMaster1.xml" Id="R350570b0fd5f4a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594c324a83429e" /><Relationship Type="http://schemas.openxmlformats.org/officeDocument/2006/relationships/notesMaster" Target="/ppt/notesMasters/notesMaster1.xml" Id="R98a328e5d41e4f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fa51674bab47c1" /><Relationship Type="http://schemas.openxmlformats.org/officeDocument/2006/relationships/notesMaster" Target="/ppt/notesMasters/notesMaster1.xml" Id="Rbddc60199e104f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deca76fe644183" /><Relationship Type="http://schemas.openxmlformats.org/officeDocument/2006/relationships/notesMaster" Target="/ppt/notesMasters/notesMaster1.xml" Id="Rf375ec7a953444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fa41adedff4a24" /><Relationship Type="http://schemas.openxmlformats.org/officeDocument/2006/relationships/notesMaster" Target="/ppt/notesMasters/notesMaster1.xml" Id="R2f0239006efa40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6cda99322e42b6" /><Relationship Type="http://schemas.openxmlformats.org/officeDocument/2006/relationships/notesMaster" Target="/ppt/notesMasters/notesMaster1.xml" Id="R714dbf20380940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997fdc25344aac" /><Relationship Type="http://schemas.openxmlformats.org/officeDocument/2006/relationships/notesMaster" Target="/ppt/notesMasters/notesMaster1.xml" Id="Rc01b59bcd83f40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ff146784e9412b" /><Relationship Type="http://schemas.openxmlformats.org/officeDocument/2006/relationships/notesMaster" Target="/ppt/notesMasters/notesMaster1.xml" Id="R74dfccf4651546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93950f8c0a4cac" /><Relationship Type="http://schemas.openxmlformats.org/officeDocument/2006/relationships/notesMaster" Target="/ppt/notesMasters/notesMaster1.xml" Id="Re962877ea36c423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0a5c21b514c49cc" /><Relationship Type="http://schemas.openxmlformats.org/officeDocument/2006/relationships/notesMaster" Target="/ppt/notesMasters/notesMaster1.xml" Id="Rd735d02e46f447b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179b8abb0654df3" /><Relationship Type="http://schemas.openxmlformats.org/officeDocument/2006/relationships/notesMaster" Target="/ppt/notesMasters/notesMaster1.xml" Id="Rbe2dba7bcb63479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d5ea5894c004574" /><Relationship Type="http://schemas.openxmlformats.org/officeDocument/2006/relationships/notesMaster" Target="/ppt/notesMasters/notesMaster1.xml" Id="Rde2a2d5ef95146a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dc197e2d6a1412c" /><Relationship Type="http://schemas.openxmlformats.org/officeDocument/2006/relationships/notesMaster" Target="/ppt/notesMasters/notesMaster1.xml" Id="Raa2c69aa3315443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8bfa31fcdee4939" /><Relationship Type="http://schemas.openxmlformats.org/officeDocument/2006/relationships/notesMaster" Target="/ppt/notesMasters/notesMaster1.xml" Id="Rd6cde0d07bfd447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0d5e65eda9d4ba4" /><Relationship Type="http://schemas.openxmlformats.org/officeDocument/2006/relationships/notesMaster" Target="/ppt/notesMasters/notesMaster1.xml" Id="Rcd9d59660d274a1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0baac4dd8a3440d" /><Relationship Type="http://schemas.openxmlformats.org/officeDocument/2006/relationships/notesMaster" Target="/ppt/notesMasters/notesMaster1.xml" Id="R107c2fbff23f4d7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73cfb87b9cb47c9" /><Relationship Type="http://schemas.openxmlformats.org/officeDocument/2006/relationships/notesMaster" Target="/ppt/notesMasters/notesMaster1.xml" Id="Rba26b9984f61452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0fe128f8dd847c3" /><Relationship Type="http://schemas.openxmlformats.org/officeDocument/2006/relationships/notesMaster" Target="/ppt/notesMasters/notesMaster1.xml" Id="R205cc406173047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[5]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[11]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[11]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[12]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[7]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[7]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[5]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3edddbd248423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2c0049ffe44f6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4d2a47e32a474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3256dc55e14ee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f38af9c2314bb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e4377b954d46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5985B7-9A20-42A3-A8E5-9052A93428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F11A46B-92F3-4F19-84D2-2B5E583239A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D1ED6A6-02B0-4DB4-AB90-5F8175ECCB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D79035-6FDB-43A7-B779-4EC0D7623D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E45EF67-A835-4444-BF7C-04CEE02076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7093F45-5864-4217-B47A-72B140F91D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2B9829-DF12-47D1-95B3-3FDDFD4AA9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FC7BCEE-92B1-4733-A8C7-D59D9981DCF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7CB5F9-CA31-406E-8DAB-6ED2B946B2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4EB77A-89A9-4A8E-BE4E-DC809FF78F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b27bb91c154337" /><Relationship Type="http://schemas.openxmlformats.org/officeDocument/2006/relationships/slideLayout" Target="/ppt/slideLayouts/slideLayout1.xml" Id="Rfead7e4158684528" /><Relationship Type="http://schemas.openxmlformats.org/officeDocument/2006/relationships/slideLayout" Target="/ppt/slideLayouts/slideLayout2.xml" Id="R6facea2dbd60465d" /><Relationship Type="http://schemas.openxmlformats.org/officeDocument/2006/relationships/slideLayout" Target="/ppt/slideLayouts/slideLayout3.xml" Id="R9ab0e31e91c4424c" /><Relationship Type="http://schemas.openxmlformats.org/officeDocument/2006/relationships/slideLayout" Target="/ppt/slideLayouts/slideLayout4.xml" Id="R1926b32940a543cd" /><Relationship Type="http://schemas.openxmlformats.org/officeDocument/2006/relationships/slideLayout" Target="/ppt/slideLayouts/slideLayout5.xml" Id="R414acaf16e3d4fd5" /><Relationship Type="http://schemas.openxmlformats.org/officeDocument/2006/relationships/slideLayout" Target="/ppt/slideLayouts/slideLayout6.xml" Id="R8d8463239ebc4c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ad7e4158684528"/>
    <p:sldLayoutId xmlns:r="http://schemas.openxmlformats.org/officeDocument/2006/relationships" id="2147483650" r:id="R6facea2dbd60465d"/>
    <p:sldLayoutId xmlns:r="http://schemas.openxmlformats.org/officeDocument/2006/relationships" id="2147483651" r:id="R9ab0e31e91c4424c"/>
    <p:sldLayoutId xmlns:r="http://schemas.openxmlformats.org/officeDocument/2006/relationships" id="2147483652" r:id="R1926b32940a543cd"/>
    <p:sldLayoutId xmlns:r="http://schemas.openxmlformats.org/officeDocument/2006/relationships" id="2147483653" r:id="R414acaf16e3d4fd5"/>
    <p:sldLayoutId xmlns:r="http://schemas.openxmlformats.org/officeDocument/2006/relationships" id="2147483654" r:id="R8d8463239ebc4c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91963cb7964031" /><Relationship Type="http://schemas.openxmlformats.org/officeDocument/2006/relationships/notesSlide" Target="/ppt/notesSlides/notesSlide1.xml" Id="R53cfec948b9c47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f201aa5df043ca" /><Relationship Type="http://schemas.openxmlformats.org/officeDocument/2006/relationships/notesSlide" Target="/ppt/notesSlides/notesSlide2.xml" Id="R7a6ddc81cfaa40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524c297a8d432b" /><Relationship Type="http://schemas.openxmlformats.org/officeDocument/2006/relationships/chart" Target="/ppt/slides/charts/chart1.xml" Id="R7cc41c07cf304b05" /><Relationship Type="http://schemas.openxmlformats.org/officeDocument/2006/relationships/chart" Target="/ppt/slides/charts/chart2.xml" Id="Rb1e1a1a6b60a4912" /><Relationship Type="http://schemas.openxmlformats.org/officeDocument/2006/relationships/notesSlide" Target="/ppt/notesSlides/notesSlide3.xml" Id="R98a1f14d7c5a4e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d5ec9a9c8848ce" /><Relationship Type="http://schemas.openxmlformats.org/officeDocument/2006/relationships/notesSlide" Target="/ppt/notesSlides/notesSlide4.xml" Id="Rfb885cef74e74e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b4277abac1480b" /><Relationship Type="http://schemas.openxmlformats.org/officeDocument/2006/relationships/notesSlide" Target="/ppt/notesSlides/notesSlide5.xml" Id="R3d505b3aabf246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3a7a9ac5c6425a" /><Relationship Type="http://schemas.openxmlformats.org/officeDocument/2006/relationships/notesSlide" Target="/ppt/notesSlides/notesSlide6.xml" Id="Rd112a22ba32d48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23ee5fea484bd9" /><Relationship Type="http://schemas.openxmlformats.org/officeDocument/2006/relationships/notesSlide" Target="/ppt/notesSlides/notesSlide7.xml" Id="R1e39a3c372ba42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c9cc3e0bd54fe2" /><Relationship Type="http://schemas.openxmlformats.org/officeDocument/2006/relationships/notesSlide" Target="/ppt/notesSlides/notesSlide8.xml" Id="Rf47bb332288642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80457a7896411f" /><Relationship Type="http://schemas.openxmlformats.org/officeDocument/2006/relationships/notesSlide" Target="/ppt/notesSlides/notesSlide9.xml" Id="Rb301c6448f124e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df15f5388143e6" /><Relationship Type="http://schemas.openxmlformats.org/officeDocument/2006/relationships/notesSlide" Target="/ppt/notesSlides/notesSlide10.xml" Id="Rcc9c13a540674a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1ea6fd8b854e78" /><Relationship Type="http://schemas.openxmlformats.org/officeDocument/2006/relationships/notesSlide" Target="/ppt/notesSlides/notesSlide11.xml" Id="Rbde715e3be4546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fafafb1842409b" /><Relationship Type="http://schemas.openxmlformats.org/officeDocument/2006/relationships/notesSlide" Target="/ppt/notesSlides/notesSlide12.xml" Id="Rfd1cc344515347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ffd118bcf0453a" /><Relationship Type="http://schemas.openxmlformats.org/officeDocument/2006/relationships/notesSlide" Target="/ppt/notesSlides/notesSlide13.xml" Id="R140f8a4be3a745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e96bad5af245c7" /><Relationship Type="http://schemas.openxmlformats.org/officeDocument/2006/relationships/notesSlide" Target="/ppt/notesSlides/notesSlide14.xml" Id="Rbad5d18d51d54ad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3319d452d34432" /><Relationship Type="http://schemas.openxmlformats.org/officeDocument/2006/relationships/notesSlide" Target="/ppt/notesSlides/notesSlide15.xml" Id="Ra8d48581a55a418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fb855ff02d4b7d" /><Relationship Type="http://schemas.openxmlformats.org/officeDocument/2006/relationships/notesSlide" Target="/ppt/notesSlides/notesSlide16.xml" Id="R70010b1ba57447b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cf280ad68c4c1a" /><Relationship Type="http://schemas.openxmlformats.org/officeDocument/2006/relationships/notesSlide" Target="/ppt/notesSlides/notesSlide17.xml" Id="Rd93e50883f87494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0e0354260a41aa" /><Relationship Type="http://schemas.openxmlformats.org/officeDocument/2006/relationships/hyperlink" Target="https://docs.nvidia.com/cuda/cuda-c-best-practices-guide/index.html" TargetMode="External" Id="R795753b015a04a11" /><Relationship Type="http://schemas.openxmlformats.org/officeDocument/2006/relationships/hyperlink" Target="https://docs.nvidia.com/gpudirect-storage/overview-guide/index.html" TargetMode="External" Id="R9c7c9d231f114990" /><Relationship Type="http://schemas.openxmlformats.org/officeDocument/2006/relationships/hyperlink" Target="https://docs.nvidia.com/gpudirect-storage/design-guide/index.html" TargetMode="External" Id="R80916808f0604295" /><Relationship Type="http://schemas.openxmlformats.org/officeDocument/2006/relationships/hyperlink" Target="https://docs.nvidia.com/megatron-core/developer-guide/latest/user-guide/parallelism-guide.html" TargetMode="External" Id="R75010d8d4b6c4d78" /><Relationship Type="http://schemas.openxmlformats.org/officeDocument/2006/relationships/notesSlide" Target="/ppt/notesSlides/notesSlide18.xml" Id="Rff66f2fb8931411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44acd92a6a4b5e" /><Relationship Type="http://schemas.openxmlformats.org/officeDocument/2006/relationships/hyperlink" Target="https://www.iea.org/reports/key-questions-on-energy-and-ai/executive-summary" TargetMode="External" Id="Rda6d44529e304ffa" /><Relationship Type="http://schemas.openxmlformats.org/officeDocument/2006/relationships/hyperlink" Target="https://www.nsf.gov/cise/updates/nairr-2-years-advancing-american-artificial-intelligence" TargetMode="External" Id="R2669a3f91acb4ef7" /><Relationship Type="http://schemas.openxmlformats.org/officeDocument/2006/relationships/hyperlink" Target="https://aclanthology.org/P19-1355/" TargetMode="External" Id="R4ff6e0aba36e4d63" /><Relationship Type="http://schemas.openxmlformats.org/officeDocument/2006/relationships/hyperlink" Target="https://arxiv.org/abs/2304.03271v5" TargetMode="External" Id="R4f5760b3e07d4a30" /><Relationship Type="http://schemas.openxmlformats.org/officeDocument/2006/relationships/notesSlide" Target="/ppt/notesSlides/notesSlide19.xml" Id="Rc5257a8857b2499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ad2960514c4360" /><Relationship Type="http://schemas.openxmlformats.org/officeDocument/2006/relationships/hyperlink" Target="https://arxiv.org/abs/1907.10597" TargetMode="External" Id="Rf099fc4686dc4fe9" /><Relationship Type="http://schemas.openxmlformats.org/officeDocument/2006/relationships/hyperlink" Target="https://arxiv.org/abs/1906.08935v2" TargetMode="External" Id="Rf7998b51c6cd4819" /><Relationship Type="http://schemas.openxmlformats.org/officeDocument/2006/relationships/hyperlink" Target="https://aclanthology.org/2024.cl-3.8/" TargetMode="External" Id="R7197438e7f97442c" /><Relationship Type="http://schemas.openxmlformats.org/officeDocument/2006/relationships/hyperlink" Target="https://arxiv.org/abs/2010.15581v1" TargetMode="External" Id="Ra933511f895d4d7c" /><Relationship Type="http://schemas.openxmlformats.org/officeDocument/2006/relationships/notesSlide" Target="/ppt/notesSlides/notesSlide20.xml" Id="R36d42a3f5af842b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ea681e14d84304" /><Relationship Type="http://schemas.openxmlformats.org/officeDocument/2006/relationships/hyperlink" Target="https://arxiv.org/abs/2106.11750v1" TargetMode="External" Id="R7225bb7d6f9541f1" /><Relationship Type="http://schemas.openxmlformats.org/officeDocument/2006/relationships/hyperlink" Target="https://www.oecd.org/en/topics/ai-principles.html" TargetMode="External" Id="R2ec47857c3024467" /><Relationship Type="http://schemas.openxmlformats.org/officeDocument/2006/relationships/hyperlink" Target="https://airc.nist.gov/airmf-resources/playbook/" TargetMode="External" Id="R53832ae45e854962" /><Relationship Type="http://schemas.openxmlformats.org/officeDocument/2006/relationships/notesSlide" Target="/ppt/notesSlides/notesSlide21.xml" Id="R5cc8853a899249b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868d91e4c14eb0" /><Relationship Type="http://schemas.openxmlformats.org/officeDocument/2006/relationships/notesSlide" Target="/ppt/notesSlides/notesSlide22.xml" Id="R479e1a4dad40436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Electricity (TWh)</c:v>
          </c:tx>
          <c:spPr>
            <a:solidFill xmlns:a="http://schemas.openxmlformats.org/drawingml/2006/main">
              <a:srgbClr val="007B83"/>
            </a:solidFill>
          </c:spPr>
          <c:cat>
            <c:strRef>
              <c:f>'Chart Data'!$A$2:$A$3</c:f>
              <c:strCache>
                <c:ptCount val="2"/>
                <c:pt idx="0">
                  <c:v>2025 estimate</c:v>
                </c:pt>
                <c:pt idx="1">
                  <c:v>2030 projection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485</c:v>
                </c:pt>
                <c:pt idx="1">
                  <c:v>950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2025 growth</c:v>
          </c:tx>
          <c:spPr>
            <a:solidFill xmlns:a="http://schemas.openxmlformats.org/drawingml/2006/main">
              <a:srgbClr val="B55E24"/>
            </a:solidFill>
          </c:spPr>
          <c:cat>
            <c:strRef>
              <c:f>'Chart Data'!$A$2:$A$3</c:f>
              <c:strCache>
                <c:ptCount val="2"/>
                <c:pt idx="0">
                  <c:v>All data centres</c:v>
                </c:pt>
                <c:pt idx="1">
                  <c:v>AI-focused subset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0.17</c:v>
                </c:pt>
                <c:pt idx="1">
                  <c:v>0.5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IT3143 • Applied 2 • Task 2">
            <a:extLst xmlns:a="http://schemas.openxmlformats.org/drawingml/2006/main">
              <a:ext uri="{FF2B5EF4-FFF2-40B4-BE49-F238E27FC236}">
                <a16:creationId xmlns:a16="http://schemas.microsoft.com/office/drawing/2014/main" id="{54BE4480-B9BA-4670-9D1C-B9DACAB6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D7D5"/>
                </a:solidFill>
                <a:latin typeface="Arial"/>
                <a:ea typeface="Arial"/>
                <a:cs typeface="Arial"/>
              </a:rPr>
              <a:t>FIT3143 • Applied 2 • Task 2</a:t>
            </a:r>
          </a:p>
        </p:txBody>
      </p:sp>
      <p:sp>
        <p:nvSpPr>
          <p:cNvPr id="2" name="Responsible HPC for AI">
            <a:extLst xmlns:a="http://schemas.openxmlformats.org/drawingml/2006/main">
              <a:ext uri="{FF2B5EF4-FFF2-40B4-BE49-F238E27FC236}">
                <a16:creationId xmlns:a16="http://schemas.microsoft.com/office/drawing/2014/main" id="{1FD51EAB-D67C-4441-9B84-EE3ADDB7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Responsible HPC for AI</a:t>
            </a:r>
          </a:p>
        </p:txBody>
      </p:sp>
      <p:sp>
        <p:nvSpPr>
          <p:cNvPr id="3" name="CUDA design and performance • Evidence, trade-offs and ">
            <a:extLst xmlns:a="http://schemas.openxmlformats.org/drawingml/2006/main">
              <a:ext uri="{FF2B5EF4-FFF2-40B4-BE49-F238E27FC236}">
                <a16:creationId xmlns:a16="http://schemas.microsoft.com/office/drawing/2014/main" id="{2BFC4D52-E6A3-4E8F-A43E-7A2BB5A7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CDCE4"/>
                </a:solidFill>
                <a:latin typeface="Arial"/>
                <a:ea typeface="Arial"/>
                <a:cs typeface="Arial"/>
              </a:rPr>
              <a:t>CUDA design and performance • Evidence, trade-offs and accountable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ADCD8-D4F1-4C06-979F-B34A694F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77082"/>
            </a:solidFill>
            <a:prstDash val="solid"/>
          </a:ln>
        </p:spPr>
      </p:sp>
      <p:sp>
        <p:nvSpPr>
          <p:cNvPr id="5" name="Savin Vindiv De Alwis  ·  35221631">
            <a:extLst xmlns:a="http://schemas.openxmlformats.org/drawingml/2006/main">
              <a:ext uri="{FF2B5EF4-FFF2-40B4-BE49-F238E27FC236}">
                <a16:creationId xmlns:a16="http://schemas.microsoft.com/office/drawing/2014/main" id="{D2BFC89E-171F-4A76-B1DA-BDE0B364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· 35221631</a:t>
            </a:r>
          </a:p>
        </p:txBody>
      </p:sp>
      <p:sp>
        <p:nvSpPr>
          <p:cNvPr id="6" name="sdea0018@student.monash.edu">
            <a:extLst xmlns:a="http://schemas.openxmlformats.org/drawingml/2006/main">
              <a:ext uri="{FF2B5EF4-FFF2-40B4-BE49-F238E27FC236}">
                <a16:creationId xmlns:a16="http://schemas.microsoft.com/office/drawing/2014/main" id="{A35FF1FD-4F8E-42B9-8F81-045995AB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sdea0018@student.monash.edu</a:t>
            </a:r>
          </a:p>
        </p:txBody>
      </p:sp>
      <p:sp>
        <p:nvSpPr>
          <p:cNvPr id="7" name="Shamle Thilaksiri  ·  35512075">
            <a:extLst xmlns:a="http://schemas.openxmlformats.org/drawingml/2006/main">
              <a:ext uri="{FF2B5EF4-FFF2-40B4-BE49-F238E27FC236}">
                <a16:creationId xmlns:a16="http://schemas.microsoft.com/office/drawing/2014/main" id="{11806432-0F92-4FB1-905B-F5F404DC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Shamle Thilaksiri · 35512075</a:t>
            </a:r>
          </a:p>
        </p:txBody>
      </p:sp>
      <p:sp>
        <p:nvSpPr>
          <p:cNvPr id="8" name="wthi0003@student.monash.edu">
            <a:extLst xmlns:a="http://schemas.openxmlformats.org/drawingml/2006/main">
              <a:ext uri="{FF2B5EF4-FFF2-40B4-BE49-F238E27FC236}">
                <a16:creationId xmlns:a16="http://schemas.microsoft.com/office/drawing/2014/main" id="{84449EE2-6F66-435F-BC3D-106D9419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wthi0003@student.monash.edu</a:t>
            </a:r>
          </a:p>
        </p:txBody>
      </p:sp>
      <p:sp>
        <p:nvSpPr>
          <p:cNvPr id="9" name="8 October 2026  •  Core evidence within each answer sec">
            <a:extLst xmlns:a="http://schemas.openxmlformats.org/drawingml/2006/main">
              <a:ext uri="{FF2B5EF4-FFF2-40B4-BE49-F238E27FC236}">
                <a16:creationId xmlns:a16="http://schemas.microsoft.com/office/drawing/2014/main" id="{6081102E-DCDA-4E66-9A1C-6F27F056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858500" cy="21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8 October 2026 • Core evidence within each answer section; optional supporting material follows</a:t>
            </a:r>
          </a:p>
        </p:txBody>
      </p:sp>
    </p:spTree>
    <p:extLst>
      <p:ext uri="{BB962C8B-B14F-4D97-AF65-F5344CB8AC3E}">
        <p14:creationId xmlns:p14="http://schemas.microsoft.com/office/powerpoint/2010/main" val="21250307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ask 2 • HPC and AI">
            <a:extLst xmlns:a="http://schemas.openxmlformats.org/drawingml/2006/main">
              <a:ext uri="{FF2B5EF4-FFF2-40B4-BE49-F238E27FC236}">
                <a16:creationId xmlns:a16="http://schemas.microsoft.com/office/drawing/2014/main" id="{2BB44389-5ABD-4F73-A8D3-4DCEF947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 • HPC and AI</a:t>
            </a:r>
          </a:p>
        </p:txBody>
      </p:sp>
      <p:sp>
        <p:nvSpPr>
          <p:cNvPr id="2" name="Parallel training across a compute cluster">
            <a:extLst xmlns:a="http://schemas.openxmlformats.org/drawingml/2006/main">
              <a:ext uri="{FF2B5EF4-FFF2-40B4-BE49-F238E27FC236}">
                <a16:creationId xmlns:a16="http://schemas.microsoft.com/office/drawing/2014/main" id="{61B768A1-D34E-4F73-98C0-5E61BA84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 training across a compute cluster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C5DE8-6DE4-4972-8115-5D521492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0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84748-3DA3-4B17-935F-32B0FEC4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1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934EB-425D-4E17-8133-6F78864C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2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D8FEE-DA73-42FF-861A-7107AE94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Gradient all-reduce: average + share → consistent update on every GPU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780B8-D503-44EA-87DB-50A134821E1E}"/>
              </a:ext>
            </a:extLst>
          </p:cNvPr>
          <p:cNvCxnSpPr/>
          <p:nvPr/>
        </p:nvCxnSpPr>
        <p:spPr>
          <a:xfrm xmlns:a="http://schemas.openxmlformats.org/drawingml/2006/main">
            <a:off x="2095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E3BBB-0DE0-428E-AD66-8AC328B3E52E}"/>
              </a:ext>
            </a:extLst>
          </p:cNvPr>
          <p:cNvCxnSpPr/>
          <p:nvPr/>
        </p:nvCxnSpPr>
        <p:spPr>
          <a:xfrm xmlns:a="http://schemas.openxmlformats.org/drawingml/2006/main">
            <a:off x="60960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DB87A-A0ED-4A5E-8B70-36262FFB4FA5}"/>
              </a:ext>
            </a:extLst>
          </p:cNvPr>
          <p:cNvCxnSpPr/>
          <p:nvPr/>
        </p:nvCxnSpPr>
        <p:spPr>
          <a:xfrm xmlns:a="http://schemas.openxmlformats.org/drawingml/2006/main">
            <a:off x="10096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sp>
        <p:nvSpPr>
          <p:cNvPr id="10" name="Interconnect:&#10;latency and bandwidth">
            <a:extLst xmlns:a="http://schemas.openxmlformats.org/drawingml/2006/main">
              <a:ext uri="{FF2B5EF4-FFF2-40B4-BE49-F238E27FC236}">
                <a16:creationId xmlns:a16="http://schemas.microsoft.com/office/drawing/2014/main" id="{9F772D4F-B402-4944-B808-AD2D3E5A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38475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Interconnect: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latency and bandwidth</a:t>
            </a:r>
          </a:p>
        </p:txBody>
      </p:sp>
      <p:sp>
        <p:nvSpPr>
          <p:cNvPr id="11" name="Gradient synchronization&#10;before each update">
            <a:extLst xmlns:a="http://schemas.openxmlformats.org/drawingml/2006/main">
              <a:ext uri="{FF2B5EF4-FFF2-40B4-BE49-F238E27FC236}">
                <a16:creationId xmlns:a16="http://schemas.microsoft.com/office/drawing/2014/main" id="{1ACB3D8C-133E-4BF0-8181-A15B08FC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384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Gradient synchronization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before each update</a:t>
            </a:r>
          </a:p>
        </p:txBody>
      </p:sp>
      <p:sp>
        <p:nvSpPr>
          <p:cNvPr id="12" name="HPC combines processors, memory, networks and storage. ">
            <a:extLst xmlns:a="http://schemas.openxmlformats.org/drawingml/2006/main">
              <a:ext uri="{FF2B5EF4-FFF2-40B4-BE49-F238E27FC236}">
                <a16:creationId xmlns:a16="http://schemas.microsoft.com/office/drawing/2014/main" id="{7196B95A-B9A5-49B5-9377-9E317CF5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521970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HPC combines processors, memory, networks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storage. Tensor/pipeline parallelism can also split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model.</a:t>
            </a:r>
          </a:p>
        </p:txBody>
      </p:sp>
      <p:sp>
        <p:nvSpPr>
          <p:cNvPr id="13" name="More GPUs enable larger work; communication, serial wor">
            <a:extLst xmlns:a="http://schemas.openxmlformats.org/drawingml/2006/main">
              <a:ext uri="{FF2B5EF4-FFF2-40B4-BE49-F238E27FC236}">
                <a16:creationId xmlns:a16="http://schemas.microsoft.com/office/drawing/2014/main" id="{A6C2D2F9-D216-44E9-88BE-2046023F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52975"/>
            <a:ext cx="51625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GPUs enable larger work; communication,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work and imbalance limit speedup. Evaluate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useful output against resource cost.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6451FC-A078-4F9E-AFEE-43097EB9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Scaling adds capacity and communication: ethical costs ">
            <a:extLst xmlns:a="http://schemas.openxmlformats.org/drawingml/2006/main">
              <a:ext uri="{FF2B5EF4-FFF2-40B4-BE49-F238E27FC236}">
                <a16:creationId xmlns:a16="http://schemas.microsoft.com/office/drawing/2014/main" id="{642284B1-E357-4410-B54E-1C0CDB24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adds capacity and communication: ethical costs depend on useful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B92E7A-1BE1-499F-B2EA-AD2A46F3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5] NVIDIA Megatron parallelism; [2] NVIDIA CU">
            <a:extLst xmlns:a="http://schemas.openxmlformats.org/drawingml/2006/main">
              <a:ext uri="{FF2B5EF4-FFF2-40B4-BE49-F238E27FC236}">
                <a16:creationId xmlns:a16="http://schemas.microsoft.com/office/drawing/2014/main" id="{EC451129-B118-4589-9360-96233B98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[5] NVIDIA Megatron parallelism; [2] NVIDIA CUDA Best Practices</a:t>
            </a:r>
          </a:p>
        </p:txBody>
      </p:sp>
      <p:sp>
        <p:nvSpPr>
          <p:cNvPr id="18" name="2 / 22">
            <a:extLst xmlns:a="http://schemas.openxmlformats.org/drawingml/2006/main">
              <a:ext uri="{FF2B5EF4-FFF2-40B4-BE49-F238E27FC236}">
                <a16:creationId xmlns:a16="http://schemas.microsoft.com/office/drawing/2014/main" id="{2B44020B-80FF-43CE-8890-79950542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 / 22</a:t>
            </a:r>
          </a:p>
        </p:txBody>
      </p:sp>
    </p:spTree>
    <p:extLst>
      <p:ext uri="{BB962C8B-B14F-4D97-AF65-F5344CB8AC3E}">
        <p14:creationId xmlns:p14="http://schemas.microsoft.com/office/powerpoint/2010/main" val="10065223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a)">
            <a:extLst xmlns:a="http://schemas.openxmlformats.org/drawingml/2006/main">
              <a:ext uri="{FF2B5EF4-FFF2-40B4-BE49-F238E27FC236}">
                <a16:creationId xmlns:a16="http://schemas.microsoft.com/office/drawing/2014/main" id="{88B20606-9831-4BB0-8439-647554BC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</a:t>
            </a:r>
          </a:p>
        </p:txBody>
      </p:sp>
      <p:sp>
        <p:nvSpPr>
          <p:cNvPr id="2" name="Electricity demand and environmental costs">
            <a:extLst xmlns:a="http://schemas.openxmlformats.org/drawingml/2006/main">
              <a:ext uri="{FF2B5EF4-FFF2-40B4-BE49-F238E27FC236}">
                <a16:creationId xmlns:a16="http://schemas.microsoft.com/office/drawing/2014/main" id="{CF37E999-02CB-4204-88FB-A07C59C7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demand and environmental costs</a:t>
            </a:r>
          </a:p>
        </p:txBody>
      </p:sp>
      <p:sp>
        <p:nvSpPr>
          <p:cNvPr id="3" name="Global data-centre electricity (TWh/year)">
            <a:extLst xmlns:a="http://schemas.openxmlformats.org/drawingml/2006/main">
              <a:ext uri="{FF2B5EF4-FFF2-40B4-BE49-F238E27FC236}">
                <a16:creationId xmlns:a16="http://schemas.microsoft.com/office/drawing/2014/main" id="{29B0E87F-C580-4130-A005-4C8097B3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data-centre electricity (TWh/year)</a:t>
            </a:r>
          </a:p>
        </p:txBody>
      </p:sp>
      <p:sp>
        <p:nvSpPr>
          <p:cNvPr id="4" name="Electricity growth during 2025">
            <a:extLst xmlns:a="http://schemas.openxmlformats.org/drawingml/2006/main">
              <a:ext uri="{FF2B5EF4-FFF2-40B4-BE49-F238E27FC236}">
                <a16:creationId xmlns:a16="http://schemas.microsoft.com/office/drawing/2014/main" id="{0737B19C-B467-46BF-8435-E566CB51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growth during 2025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B39F890-BE68-4EBF-90F6-A7482F779832}"/>
              </a:ext>
            </a:extLst>
          </p:cNvPr>
          <p:cNvGraphicFramePr/>
          <p:nvPr/>
        </p:nvGraphicFramePr>
        <p:xfrm>
          <a:off xmlns:a="http://schemas.openxmlformats.org/drawingml/2006/main" x="609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c41c07cf304b05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9B067E74-FE40-414B-8FD4-3D0A45D11A90}"/>
              </a:ext>
            </a:extLst>
          </p:cNvPr>
          <p:cNvGraphicFramePr/>
          <p:nvPr/>
        </p:nvGraphicFramePr>
        <p:xfrm>
          <a:off xmlns:a="http://schemas.openxmlformats.org/drawingml/2006/main" x="6324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e1a1a6b60a4912"/>
          </a:graphicData>
        </a:graphic>
      </p:graphicFrame>
      <p:sp>
        <p:nvSpPr>
          <p:cNvPr id="7" name="IEA 2026: ≈96% increase to 2030. These cover the whole ">
            <a:extLst xmlns:a="http://schemas.openxmlformats.org/drawingml/2006/main">
              <a:ext uri="{FF2B5EF4-FFF2-40B4-BE49-F238E27FC236}">
                <a16:creationId xmlns:a16="http://schemas.microsoft.com/office/drawing/2014/main" id="{2BA07B1E-C7F7-44DE-BAAF-3114BF8A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2026: ≈96% increase to 2030. These cover the whole sector, not AI training alone; growth categories overlap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cannot be added.</a:t>
            </a:r>
          </a:p>
        </p:txBody>
      </p:sp>
      <p:sp>
        <p:nvSpPr>
          <p:cNvPr id="8" name="Research comparison: Green AI [10] emphasizes efficienc">
            <a:extLst xmlns:a="http://schemas.openxmlformats.org/drawingml/2006/main">
              <a:ext uri="{FF2B5EF4-FFF2-40B4-BE49-F238E27FC236}">
                <a16:creationId xmlns:a16="http://schemas.microsoft.com/office/drawing/2014/main" id="{49AD7E82-0E2B-413C-B24C-4B3507BA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comparison: Green AI [10] emphasizes efficiency; water research [9] adds site/time constraints. Track energy,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 and local cooling impacts.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45B9B-08DF-4138-BE61-FFB63ED6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6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EFF38C0F-41C8-4D61-B4F1-64203C4B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IEA 2026: sector estimates and projection; [9] Li et al. 2025 revision: water impacts; [10] Schwartz et al. 2019: efficiency reporting</a:t>
            </a:r>
          </a:p>
        </p:txBody>
      </p:sp>
      <p:sp>
        <p:nvSpPr>
          <p:cNvPr id="11" name="3 / 22">
            <a:extLst xmlns:a="http://schemas.openxmlformats.org/drawingml/2006/main">
              <a:ext uri="{FF2B5EF4-FFF2-40B4-BE49-F238E27FC236}">
                <a16:creationId xmlns:a16="http://schemas.microsoft.com/office/drawing/2014/main" id="{D168D243-D487-4A90-89C2-5BC4FA51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 / 22</a:t>
            </a:r>
          </a:p>
        </p:txBody>
      </p:sp>
    </p:spTree>
    <p:extLst>
      <p:ext uri="{BB962C8B-B14F-4D97-AF65-F5344CB8AC3E}">
        <p14:creationId xmlns:p14="http://schemas.microsoft.com/office/powerpoint/2010/main" val="8997065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ask 2(a) • Illustrative energy calculation">
            <a:extLst xmlns:a="http://schemas.openxmlformats.org/drawingml/2006/main">
              <a:ext uri="{FF2B5EF4-FFF2-40B4-BE49-F238E27FC236}">
                <a16:creationId xmlns:a16="http://schemas.microsoft.com/office/drawing/2014/main" id="{5C4AE8D3-8398-4BFE-BEDC-AF31067E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 • Illustrative energy calculation</a:t>
            </a:r>
          </a:p>
        </p:txBody>
      </p:sp>
      <p:sp>
        <p:nvSpPr>
          <p:cNvPr id="2" name="A faster job can consume more energy">
            <a:extLst xmlns:a="http://schemas.openxmlformats.org/drawingml/2006/main">
              <a:ext uri="{FF2B5EF4-FFF2-40B4-BE49-F238E27FC236}">
                <a16:creationId xmlns:a16="http://schemas.microsoft.com/office/drawing/2014/main" id="{46DEA760-07AC-4CD6-9944-DE7F8B63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faster job can consume more energy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B2377-0605-43C5-AD7F-10F34C17D27D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Assumed configuration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Completed runtime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Whole-job energy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Lower parallel scale; 1 kW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2.0 hours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 × 2.0 = 2.0 kWh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parallel scale; 2 kW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1.2 hours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 × 1.2 = 2.4 kWh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Illustrative constant power assumptions, not measuremen">
            <a:extLst xmlns:a="http://schemas.openxmlformats.org/drawingml/2006/main">
              <a:ext uri="{FF2B5EF4-FFF2-40B4-BE49-F238E27FC236}">
                <a16:creationId xmlns:a16="http://schemas.microsoft.com/office/drawing/2014/main" id="{AE6985FC-517D-4DAA-A20C-2C1B4C30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Illustrative constant power assumptions, not measurements. Same useful output is assumed; faster completion uses 20% more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energy here.</a:t>
            </a:r>
          </a:p>
        </p:txBody>
      </p:sp>
      <p:sp>
        <p:nvSpPr>
          <p:cNvPr id="5" name="E = ∫ P(t) dt     •     Carbon ≈ Σ Einterval × carbon i">
            <a:extLst xmlns:a="http://schemas.openxmlformats.org/drawingml/2006/main">
              <a:ext uri="{FF2B5EF4-FFF2-40B4-BE49-F238E27FC236}">
                <a16:creationId xmlns:a16="http://schemas.microsoft.com/office/drawing/2014/main" id="{25C246DB-4136-45BD-8607-BB5989E1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 = ∫ P(t) dt • Carbon ≈ Σ Einterval × carbon intensity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3C294-AEDC-4BBF-8E32-AC7ACB12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7" name="Sources: [8] Strubell et al. 2019: cost and equity; [10">
            <a:extLst xmlns:a="http://schemas.openxmlformats.org/drawingml/2006/main">
              <a:ext uri="{FF2B5EF4-FFF2-40B4-BE49-F238E27FC236}">
                <a16:creationId xmlns:a16="http://schemas.microsoft.com/office/drawing/2014/main" id="{244DDD8C-1EA2-4FE6-B5B2-CD24BD35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[8] Strubell et al. 2019: cost and equity; [10] Schwartz et al. 2019: efficiency reporting; [2] NVIDIA CUDA Best Practices</a:t>
            </a:r>
          </a:p>
        </p:txBody>
      </p:sp>
      <p:sp>
        <p:nvSpPr>
          <p:cNvPr id="8" name="4 / 22">
            <a:extLst xmlns:a="http://schemas.openxmlformats.org/drawingml/2006/main">
              <a:ext uri="{FF2B5EF4-FFF2-40B4-BE49-F238E27FC236}">
                <a16:creationId xmlns:a16="http://schemas.microsoft.com/office/drawing/2014/main" id="{27D4E2CB-7593-413E-A643-3EAAAA27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 / 22</a:t>
            </a:r>
          </a:p>
        </p:txBody>
      </p:sp>
    </p:spTree>
    <p:extLst>
      <p:ext uri="{BB962C8B-B14F-4D97-AF65-F5344CB8AC3E}">
        <p14:creationId xmlns:p14="http://schemas.microsoft.com/office/powerpoint/2010/main" val="18745727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ask 2(a) • Environmental accounting">
            <a:extLst xmlns:a="http://schemas.openxmlformats.org/drawingml/2006/main">
              <a:ext uri="{FF2B5EF4-FFF2-40B4-BE49-F238E27FC236}">
                <a16:creationId xmlns:a16="http://schemas.microsoft.com/office/drawing/2014/main" id="{E9971156-794E-4E89-9B1C-DC7F3719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 • Environmental accounting</a:t>
            </a:r>
          </a:p>
        </p:txBody>
      </p:sp>
      <p:sp>
        <p:nvSpPr>
          <p:cNvPr id="2" name="Environmental accounting and evidence limits">
            <a:extLst xmlns:a="http://schemas.openxmlformats.org/drawingml/2006/main">
              <a:ext uri="{FF2B5EF4-FFF2-40B4-BE49-F238E27FC236}">
                <a16:creationId xmlns:a16="http://schemas.microsoft.com/office/drawing/2014/main" id="{7C12E77D-7416-43E2-A2A2-67215238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Environmental accounting and evidence limits</a:t>
            </a:r>
          </a:p>
        </p:txBody>
      </p:sp>
      <p:sp>
        <p:nvSpPr>
          <p:cNvPr id="3" name="Define what is counted">
            <a:extLst xmlns:a="http://schemas.openxmlformats.org/drawingml/2006/main">
              <a:ext uri="{FF2B5EF4-FFF2-40B4-BE49-F238E27FC236}">
                <a16:creationId xmlns:a16="http://schemas.microsoft.com/office/drawing/2014/main" id="{7BEF0931-F5FD-43D2-AEA1-8138DCB7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Define what is counted</a:t>
            </a:r>
          </a:p>
        </p:txBody>
      </p:sp>
      <p:sp>
        <p:nvSpPr>
          <p:cNvPr id="4" name="Energy (kWh) integrates power (kW) over hours. Operatio">
            <a:extLst xmlns:a="http://schemas.openxmlformats.org/drawingml/2006/main">
              <a:ext uri="{FF2B5EF4-FFF2-40B4-BE49-F238E27FC236}">
                <a16:creationId xmlns:a16="http://schemas.microsoft.com/office/drawing/2014/main" id="{87F090A2-5C58-448B-97B1-D5DDAAC5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(kWh) integrates power (kW) over hours.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Operational emissions ≈ Σ energy in each interval ×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that interval’s carbon intensity (kg CO₂e/kWh).</a:t>
            </a:r>
          </a:p>
        </p:txBody>
      </p:sp>
      <p:sp>
        <p:nvSpPr>
          <p:cNvPr id="5" name="Report accelerators, host CPUs, storage/networking and ">
            <a:extLst xmlns:a="http://schemas.openxmlformats.org/drawingml/2006/main">
              <a:ext uri="{FF2B5EF4-FFF2-40B4-BE49-F238E27FC236}">
                <a16:creationId xmlns:a16="http://schemas.microsoft.com/office/drawing/2014/main" id="{5F1472A8-DB4A-4748-919E-B778643A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accelerators, host CPUs, storage/networking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allocated cooling overhead; include failed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repeated tuning when evaluating a project.</a:t>
            </a:r>
          </a:p>
        </p:txBody>
      </p:sp>
      <p:sp>
        <p:nvSpPr>
          <p:cNvPr id="6" name="Hardware manufacture and disposal are embodied impacts ">
            <a:extLst xmlns:a="http://schemas.openxmlformats.org/drawingml/2006/main">
              <a:ext uri="{FF2B5EF4-FFF2-40B4-BE49-F238E27FC236}">
                <a16:creationId xmlns:a16="http://schemas.microsoft.com/office/drawing/2014/main" id="{36C85D1F-DE89-4FAD-8178-678CA5C0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Hardware manufacture and disposal are embodied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impacts beyond operational electricity.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withdrawal and water consumption are different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measures.</a:t>
            </a:r>
          </a:p>
        </p:txBody>
      </p:sp>
      <p:sp>
        <p:nvSpPr>
          <p:cNvPr id="7" name="Compare the evidence">
            <a:extLst xmlns:a="http://schemas.openxmlformats.org/drawingml/2006/main">
              <a:ext uri="{FF2B5EF4-FFF2-40B4-BE49-F238E27FC236}">
                <a16:creationId xmlns:a16="http://schemas.microsoft.com/office/drawing/2014/main" id="{4C24A070-4660-4C65-9C2B-26C8F7E3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Compare the evidence</a:t>
            </a:r>
          </a:p>
        </p:txBody>
      </p:sp>
      <p:sp>
        <p:nvSpPr>
          <p:cNvPr id="8" name="Strubell et al. quantify costs for selected historical ">
            <a:extLst xmlns:a="http://schemas.openxmlformats.org/drawingml/2006/main">
              <a:ext uri="{FF2B5EF4-FFF2-40B4-BE49-F238E27FC236}">
                <a16:creationId xmlns:a16="http://schemas.microsoft.com/office/drawing/2014/main" id="{59327319-1F2A-4D7F-924C-ECFB1C28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Strubell et al. quantify costs for selected historical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NLP training/development workloads; those values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not universal 2026 model footprints.</a:t>
            </a:r>
          </a:p>
        </p:txBody>
      </p:sp>
      <p:sp>
        <p:nvSpPr>
          <p:cNvPr id="9" name="Green AI motivates reporting efficiency alongside accur">
            <a:extLst xmlns:a="http://schemas.openxmlformats.org/drawingml/2006/main">
              <a:ext uri="{FF2B5EF4-FFF2-40B4-BE49-F238E27FC236}">
                <a16:creationId xmlns:a16="http://schemas.microsoft.com/office/drawing/2014/main" id="{733F67EA-E0E3-486B-8696-2D8BAC1D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Green AI motivates reporting efficiency alongside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accuracy; Li et al. show why water varies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place/time. Carbon alone misses local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pressures.</a:t>
            </a:r>
          </a:p>
        </p:txBody>
      </p:sp>
      <p:sp>
        <p:nvSpPr>
          <p:cNvPr id="10" name="IEA sector totals provide context, not causal attributi">
            <a:extLst xmlns:a="http://schemas.openxmlformats.org/drawingml/2006/main">
              <a:ext uri="{FF2B5EF4-FFF2-40B4-BE49-F238E27FC236}">
                <a16:creationId xmlns:a16="http://schemas.microsoft.com/office/drawing/2014/main" id="{39440C2A-E4DF-4672-AA94-A44B9495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sector totals provide context, not causal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attribution to one model. Forecasts depend 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 and infrastructure assumptions; local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grid/cooling effects differ by site.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F2A9A-B998-4470-B072-8704AA8D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48EA5-C217-471D-8350-6DAA5A78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6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F5E5FF74-36D1-4FE7-95B9-933109B3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IEA 2026: sector estimates and projection; [8] Strubell et al. 2019: cost and equity; [9] Li et al. 2025 revision: water impacts; [10]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14" name="5 / 22">
            <a:extLst xmlns:a="http://schemas.openxmlformats.org/drawingml/2006/main">
              <a:ext uri="{FF2B5EF4-FFF2-40B4-BE49-F238E27FC236}">
                <a16:creationId xmlns:a16="http://schemas.microsoft.com/office/drawing/2014/main" id="{EA72C862-D2EB-4175-84D5-C6388105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 / 22</a:t>
            </a:r>
          </a:p>
        </p:txBody>
      </p:sp>
    </p:spTree>
    <p:extLst>
      <p:ext uri="{BB962C8B-B14F-4D97-AF65-F5344CB8AC3E}">
        <p14:creationId xmlns:p14="http://schemas.microsoft.com/office/powerpoint/2010/main" val="3044373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9713CD-95C2-4433-985C-26C0EB4B93E9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95350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D710B-61C0-4E71-9268-44EFB93A246D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21945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9" name="Task 2(b)">
            <a:extLst xmlns:a="http://schemas.openxmlformats.org/drawingml/2006/main">
              <a:ext uri="{FF2B5EF4-FFF2-40B4-BE49-F238E27FC236}">
                <a16:creationId xmlns:a16="http://schemas.microsoft.com/office/drawing/2014/main" id="{82A10A39-0350-4BD7-A3E4-E2E71ECC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</a:t>
            </a:r>
          </a:p>
        </p:txBody>
      </p:sp>
      <p:sp>
        <p:nvSpPr>
          <p:cNvPr id="2" name="Privacy, security and model fairness">
            <a:extLst xmlns:a="http://schemas.openxmlformats.org/drawingml/2006/main">
              <a:ext uri="{FF2B5EF4-FFF2-40B4-BE49-F238E27FC236}">
                <a16:creationId xmlns:a16="http://schemas.microsoft.com/office/drawing/2014/main" id="{114A0B65-9228-44EC-BC94-DA9D6ACF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Privacy, security and model fairness</a:t>
            </a:r>
          </a:p>
        </p:txBody>
      </p:sp>
      <p:sp>
        <p:nvSpPr>
          <p:cNvPr id="3" name="Security: protect distributed intermediates">
            <a:extLst xmlns:a="http://schemas.openxmlformats.org/drawingml/2006/main">
              <a:ext uri="{FF2B5EF4-FFF2-40B4-BE49-F238E27FC236}">
                <a16:creationId xmlns:a16="http://schemas.microsoft.com/office/drawing/2014/main" id="{01C0E8F2-2C44-44C8-9CA6-9CB87AAA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3875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Security: protect distributed intermediates</a:t>
            </a:r>
          </a:p>
        </p:txBody>
      </p:sp>
      <p:sp>
        <p:nvSpPr>
          <p:cNvPr id="4" name="Fairness: evaluate affected groups">
            <a:extLst xmlns:a="http://schemas.openxmlformats.org/drawingml/2006/main">
              <a:ext uri="{FF2B5EF4-FFF2-40B4-BE49-F238E27FC236}">
                <a16:creationId xmlns:a16="http://schemas.microsoft.com/office/drawing/2014/main" id="{6552A470-CA6A-404E-BCF0-B313E9B7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5257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Fairness: evaluate affected groups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FE5FD-BB2A-407B-8D2C-579CB6AF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Workers exchange gradients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save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288E0-110A-4DC4-B1C3-02E2F4AA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Least privilege, isolation,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protected transport/storage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BFAA5-6140-4AC1-895A-991C5B55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9775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coverage and model outputs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differ across groups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18A0F-866B-42EB-83AB-6877A99A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Disaggregated, harm-specific tests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mitigation and reevaluation</a:t>
            </a:r>
          </a:p>
        </p:txBody>
      </p:sp>
      <p:sp>
        <p:nvSpPr>
          <p:cNvPr id="11" name="Zhu et al. [11]: exposed gradients can reconstruct inpu">
            <a:extLst xmlns:a="http://schemas.openxmlformats.org/drawingml/2006/main">
              <a:ext uri="{FF2B5EF4-FFF2-40B4-BE49-F238E27FC236}">
                <a16:creationId xmlns:a16="http://schemas.microsoft.com/office/drawing/2014/main" id="{C93A2B5B-C783-4823-8E68-FD1975E8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219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Zhu et al. [11]: exposed gradients can reconstruct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inputs in studied settings. Not every production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collective leaks.</a:t>
            </a:r>
          </a:p>
        </p:txBody>
      </p:sp>
      <p:sp>
        <p:nvSpPr>
          <p:cNvPr id="12" name="Gallegos et al. [12]: metrics, datasets and mitigations">
            <a:extLst xmlns:a="http://schemas.openxmlformats.org/drawingml/2006/main">
              <a:ext uri="{FF2B5EF4-FFF2-40B4-BE49-F238E27FC236}">
                <a16:creationId xmlns:a16="http://schemas.microsoft.com/office/drawing/2014/main" id="{6495ED42-2FD7-4866-AEF1-92976150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52578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[12]: metrics, datasets and mitigations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differ. Apply these to cluster-trained models; scale alone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does not guarantee fairness.</a:t>
            </a:r>
          </a:p>
        </p:txBody>
      </p:sp>
      <p:sp>
        <p:nvSpPr>
          <p:cNvPr id="13" name="Provenance/permissions, replica access and dual-use rev">
            <a:extLst xmlns:a="http://schemas.openxmlformats.org/drawingml/2006/main">
              <a:ext uri="{FF2B5EF4-FFF2-40B4-BE49-F238E27FC236}">
                <a16:creationId xmlns:a16="http://schemas.microsoft.com/office/drawing/2014/main" id="{4F392158-162E-4045-981A-1AACA52A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Provenance/permissions, replica access and dual-use review need owners. Encryption alone cannot establish fair outputs.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39CB92-60AC-4EA6-8B73-C2E0390C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Protect distributed data and evaluate harms; more compu">
            <a:extLst xmlns:a="http://schemas.openxmlformats.org/drawingml/2006/main">
              <a:ext uri="{FF2B5EF4-FFF2-40B4-BE49-F238E27FC236}">
                <a16:creationId xmlns:a16="http://schemas.microsoft.com/office/drawing/2014/main" id="{684D3D91-BDAF-443D-9D88-4E85A77F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 distributed data and evaluate harms; more compute is not a fairness guarantee.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F67D7D-166C-4DCB-A83E-14BCDA82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11] Zhu et al. 2019: exposed gradients; [12] ">
            <a:extLst xmlns:a="http://schemas.openxmlformats.org/drawingml/2006/main">
              <a:ext uri="{FF2B5EF4-FFF2-40B4-BE49-F238E27FC236}">
                <a16:creationId xmlns:a16="http://schemas.microsoft.com/office/drawing/2014/main" id="{623F0327-27D2-4775-A43D-B0773E89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[11] Zhu et al. 2019: exposed gradients; [12] Gallegos et al. 2024: fairness evaluation; [15] OECD: rights, fairness and accountability; [16] NIST: Govern, Map, Measure,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</a:t>
            </a:r>
          </a:p>
        </p:txBody>
      </p:sp>
      <p:sp>
        <p:nvSpPr>
          <p:cNvPr id="18" name="6 / 22">
            <a:extLst xmlns:a="http://schemas.openxmlformats.org/drawingml/2006/main">
              <a:ext uri="{FF2B5EF4-FFF2-40B4-BE49-F238E27FC236}">
                <a16:creationId xmlns:a16="http://schemas.microsoft.com/office/drawing/2014/main" id="{01CAA592-AA8F-4C29-9F1B-C29ED275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6 / 22</a:t>
            </a:r>
          </a:p>
        </p:txBody>
      </p:sp>
    </p:spTree>
    <p:extLst>
      <p:ext uri="{BB962C8B-B14F-4D97-AF65-F5344CB8AC3E}">
        <p14:creationId xmlns:p14="http://schemas.microsoft.com/office/powerpoint/2010/main" val="18194176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ask 2(b) • Proposed governance controls">
            <a:extLst xmlns:a="http://schemas.openxmlformats.org/drawingml/2006/main">
              <a:ext uri="{FF2B5EF4-FFF2-40B4-BE49-F238E27FC236}">
                <a16:creationId xmlns:a16="http://schemas.microsoft.com/office/drawing/2014/main" id="{BD875F90-B923-4B55-B8BB-910854F9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 • Proposed governance controls</a:t>
            </a:r>
          </a:p>
        </p:txBody>
      </p:sp>
      <p:sp>
        <p:nvSpPr>
          <p:cNvPr id="2" name="Governance controls and remaining risks">
            <a:extLst xmlns:a="http://schemas.openxmlformats.org/drawingml/2006/main">
              <a:ext uri="{FF2B5EF4-FFF2-40B4-BE49-F238E27FC236}">
                <a16:creationId xmlns:a16="http://schemas.microsoft.com/office/drawing/2014/main" id="{C546D6E2-44B8-4186-92C1-913A29CE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Governance controls and remaining risks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8C5BB-1622-4D74-87A6-125290064F95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 / stakeholder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control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Residual limitation / owner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Dataset misuse / data subjects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Provenance, permission checks, retention limits and access logs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licence alone may not justify every use; data steward reviews purpose.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Gradient/checkpoint exposure / participants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Least privilege, tenant isolation, protected transport and secure checkpoint storage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 endpoints can still see sensitive values; security owner models insider risk.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Unsafe dual use / affected public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Authorized-use review, restricted access where justified and review of deployment risks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Controls cannot prevent every misuse; accountable owner weighs benefits/restrictions.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Distributed replicas / operators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copies, deletion obligations and incident response across workers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Replication increases the number of assets to protect; operator audits recovery.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These are proposed mitigations informed by research/fra">
            <a:extLst xmlns:a="http://schemas.openxmlformats.org/drawingml/2006/main">
              <a:ext uri="{FF2B5EF4-FFF2-40B4-BE49-F238E27FC236}">
                <a16:creationId xmlns:a16="http://schemas.microsoft.com/office/drawing/2014/main" id="{ECEEC8C8-B1A4-46A7-9745-A7F929F6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These are proposed mitigations informed by research/frameworks, not a proof of privacy or a compliance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516E5-8709-40BE-9ABE-7106E3CA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1] Zhu et al. 2019: exposed gradients; [15] ">
            <a:extLst xmlns:a="http://schemas.openxmlformats.org/drawingml/2006/main">
              <a:ext uri="{FF2B5EF4-FFF2-40B4-BE49-F238E27FC236}">
                <a16:creationId xmlns:a16="http://schemas.microsoft.com/office/drawing/2014/main" id="{C6AD3EFC-2486-4B10-B322-A7581120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[11] Zhu et al. 2019: exposed gradients; [15] OECD: rights, fairness and accountability; [16] NIST: Govern, Map, Measure, Manage</a:t>
            </a:r>
          </a:p>
        </p:txBody>
      </p:sp>
      <p:sp>
        <p:nvSpPr>
          <p:cNvPr id="7" name="7 / 22">
            <a:extLst xmlns:a="http://schemas.openxmlformats.org/drawingml/2006/main">
              <a:ext uri="{FF2B5EF4-FFF2-40B4-BE49-F238E27FC236}">
                <a16:creationId xmlns:a16="http://schemas.microsoft.com/office/drawing/2014/main" id="{DBD6CFA7-AF66-4AB0-BEFC-8E12A8C5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7 / 22</a:t>
            </a:r>
          </a:p>
        </p:txBody>
      </p:sp>
    </p:spTree>
    <p:extLst>
      <p:ext uri="{BB962C8B-B14F-4D97-AF65-F5344CB8AC3E}">
        <p14:creationId xmlns:p14="http://schemas.microsoft.com/office/powerpoint/2010/main" val="3141616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ask 2(b) • Fairness with large-scale compute">
            <a:extLst xmlns:a="http://schemas.openxmlformats.org/drawingml/2006/main">
              <a:ext uri="{FF2B5EF4-FFF2-40B4-BE49-F238E27FC236}">
                <a16:creationId xmlns:a16="http://schemas.microsoft.com/office/drawing/2014/main" id="{8AE6F585-AE95-49AA-AA0D-396038C9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 • Fairness with large-scale compute</a:t>
            </a:r>
          </a:p>
        </p:txBody>
      </p:sp>
      <p:sp>
        <p:nvSpPr>
          <p:cNvPr id="2" name="Fairness evaluation with large-scale compute">
            <a:extLst xmlns:a="http://schemas.openxmlformats.org/drawingml/2006/main">
              <a:ext uri="{FF2B5EF4-FFF2-40B4-BE49-F238E27FC236}">
                <a16:creationId xmlns:a16="http://schemas.microsoft.com/office/drawing/2014/main" id="{ED675950-A9CC-4D75-8794-B5F2FA90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Fairness evaluation with large-scale compute</a:t>
            </a:r>
          </a:p>
        </p:txBody>
      </p:sp>
      <p:sp>
        <p:nvSpPr>
          <p:cNvPr id="3" name="Compute connection">
            <a:extLst xmlns:a="http://schemas.openxmlformats.org/drawingml/2006/main">
              <a:ext uri="{FF2B5EF4-FFF2-40B4-BE49-F238E27FC236}">
                <a16:creationId xmlns:a16="http://schemas.microsoft.com/office/drawing/2014/main" id="{C9DA4747-4F90-4BAD-9219-287CDCB4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Compute connection</a:t>
            </a:r>
          </a:p>
        </p:txBody>
      </p:sp>
      <p:sp>
        <p:nvSpPr>
          <p:cNvPr id="4" name="An illustrative multilingual LLM service may have unequ">
            <a:extLst xmlns:a="http://schemas.openxmlformats.org/drawingml/2006/main">
              <a:ext uri="{FF2B5EF4-FFF2-40B4-BE49-F238E27FC236}">
                <a16:creationId xmlns:a16="http://schemas.microsoft.com/office/drawing/2014/main" id="{DF0CE8F0-146F-4A5A-8816-6119790E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 illustrative multilingual LLM service may have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performance or stereotyped outputs across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language groups. Identify the actual harm before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choosing a metric.</a:t>
            </a:r>
          </a:p>
        </p:txBody>
      </p:sp>
      <p:sp>
        <p:nvSpPr>
          <p:cNvPr id="5" name="A cluster enables larger datasets and repeated training">
            <a:extLst xmlns:a="http://schemas.openxmlformats.org/drawingml/2006/main">
              <a:ext uri="{FF2B5EF4-FFF2-40B4-BE49-F238E27FC236}">
                <a16:creationId xmlns:a16="http://schemas.microsoft.com/office/drawing/2014/main" id="{42703FEC-8A18-46DF-9DB5-A3F0844C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cluster enables larger datasets and repeated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training, but neither data volume nor GPU count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guarantees representative data or equitable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outcomes.</a:t>
            </a:r>
          </a:p>
        </p:txBody>
      </p:sp>
      <p:sp>
        <p:nvSpPr>
          <p:cNvPr id="6" name="Reserve evaluation compute for affected groups; documen">
            <a:extLst xmlns:a="http://schemas.openxmlformats.org/drawingml/2006/main">
              <a:ext uri="{FF2B5EF4-FFF2-40B4-BE49-F238E27FC236}">
                <a16:creationId xmlns:a16="http://schemas.microsoft.com/office/drawing/2014/main" id="{2934E14D-1831-48C9-BEFC-AF926FA7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Reserve evaluation compute for affected groups;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document dataset coverage and compare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 error or harmful-output rates using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task-appropriate test.</a:t>
            </a:r>
          </a:p>
        </p:txBody>
      </p:sp>
      <p:sp>
        <p:nvSpPr>
          <p:cNvPr id="7" name="Evidence and decision">
            <a:extLst xmlns:a="http://schemas.openxmlformats.org/drawingml/2006/main">
              <a:ext uri="{FF2B5EF4-FFF2-40B4-BE49-F238E27FC236}">
                <a16:creationId xmlns:a16="http://schemas.microsoft.com/office/drawing/2014/main" id="{81277C87-BD06-42D8-A801-934126A8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Evidence and decision</a:t>
            </a:r>
          </a:p>
        </p:txBody>
      </p:sp>
      <p:sp>
        <p:nvSpPr>
          <p:cNvPr id="8" name="Gallegos et al. separate metrics, evaluation datasets a">
            <a:extLst xmlns:a="http://schemas.openxmlformats.org/drawingml/2006/main">
              <a:ext uri="{FF2B5EF4-FFF2-40B4-BE49-F238E27FC236}">
                <a16:creationId xmlns:a16="http://schemas.microsoft.com/office/drawing/2014/main" id="{6C56232E-BC55-4FF1-B86A-6377B1E7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separate metrics, evaluation datasets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mitigation stages. A single aggregate accuracy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score can hide a relevant subgroup harm.</a:t>
            </a:r>
          </a:p>
        </p:txBody>
      </p:sp>
      <p:sp>
        <p:nvSpPr>
          <p:cNvPr id="9" name="Specify justified acceptance criteria before training; ">
            <a:extLst xmlns:a="http://schemas.openxmlformats.org/drawingml/2006/main">
              <a:ext uri="{FF2B5EF4-FFF2-40B4-BE49-F238E27FC236}">
                <a16:creationId xmlns:a16="http://schemas.microsoft.com/office/drawing/2014/main" id="{4059F3EB-5A25-4606-A9AC-F0788624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Specify justified acceptance criteria before training;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uncertainty and small-group sample limits.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Mitigate, reevaluate, and document unresolved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harms.</a:t>
            </a:r>
          </a:p>
        </p:txBody>
      </p:sp>
      <p:sp>
        <p:nvSpPr>
          <p:cNvPr id="10" name="Security and fairness have different objectives: encryp">
            <a:extLst xmlns:a="http://schemas.openxmlformats.org/drawingml/2006/main">
              <a:ext uri="{FF2B5EF4-FFF2-40B4-BE49-F238E27FC236}">
                <a16:creationId xmlns:a16="http://schemas.microsoft.com/office/drawing/2014/main" id="{DC06F054-051F-4A28-8A91-5F80D5BD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 and fairness have different objectives: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encrypted gradients do not establish fair outputs.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source supports model-bias analysis, not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claim that HPC itself causes bias.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BDC90E-CC0D-42AC-9379-39078ED6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F0F52-F2A3-4454-8C0D-55A55791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2] Gallegos et al. 2024: fairness evaluation">
            <a:extLst xmlns:a="http://schemas.openxmlformats.org/drawingml/2006/main">
              <a:ext uri="{FF2B5EF4-FFF2-40B4-BE49-F238E27FC236}">
                <a16:creationId xmlns:a16="http://schemas.microsoft.com/office/drawing/2014/main" id="{7520AC6D-21AD-4423-B7F2-800FFCB4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[12] Gallegos et al. 2024: fairness evaluation; [15] OECD: rights, fairness and accountability; [16] NIST: Govern, Map, Measure, Manage</a:t>
            </a:r>
          </a:p>
        </p:txBody>
      </p:sp>
      <p:sp>
        <p:nvSpPr>
          <p:cNvPr id="14" name="8 / 22">
            <a:extLst xmlns:a="http://schemas.openxmlformats.org/drawingml/2006/main">
              <a:ext uri="{FF2B5EF4-FFF2-40B4-BE49-F238E27FC236}">
                <a16:creationId xmlns:a16="http://schemas.microsoft.com/office/drawing/2014/main" id="{724A7EEA-5FEC-4ADD-883E-42688F4B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8 / 22</a:t>
            </a:r>
          </a:p>
        </p:txBody>
      </p:sp>
    </p:spTree>
    <p:extLst>
      <p:ext uri="{BB962C8B-B14F-4D97-AF65-F5344CB8AC3E}">
        <p14:creationId xmlns:p14="http://schemas.microsoft.com/office/powerpoint/2010/main" val="8499626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c)">
            <a:extLst xmlns:a="http://schemas.openxmlformats.org/drawingml/2006/main">
              <a:ext uri="{FF2B5EF4-FFF2-40B4-BE49-F238E27FC236}">
                <a16:creationId xmlns:a16="http://schemas.microsoft.com/office/drawing/2014/main" id="{7EDF1453-A8D4-4C89-9FB7-7340D83F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2(c)</a:t>
            </a:r>
          </a:p>
        </p:txBody>
      </p:sp>
      <p:sp>
        <p:nvSpPr>
          <p:cNvPr id="2" name="Unequal access to HPC resources">
            <a:extLst xmlns:a="http://schemas.openxmlformats.org/drawingml/2006/main">
              <a:ext uri="{FF2B5EF4-FFF2-40B4-BE49-F238E27FC236}">
                <a16:creationId xmlns:a16="http://schemas.microsoft.com/office/drawing/2014/main" id="{953DBE77-BAD4-47FA-A384-204260E3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access to HPC resources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A116C-7A3E-49B9-857D-F5E4D2275EC0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857500"/>
                <a:gridCol w="4095750"/>
                <a:gridCol w="4019550"/>
              </a:tblGrid>
              <a:tr h="53340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shows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cannot establish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Ahmed &amp; Wahed [13]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Historical research participation and compute concentration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Current worldwide access or a universal causal effect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Strubell et al. [8]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Selected NLP workload costs and financial barriers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The cost of every current AI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urrent response: NAIRR supported &gt;600 teams and &gt;6,000">
            <a:extLst xmlns:a="http://schemas.openxmlformats.org/drawingml/2006/main">
              <a:ext uri="{FF2B5EF4-FFF2-40B4-BE49-F238E27FC236}">
                <a16:creationId xmlns:a16="http://schemas.microsoft.com/office/drawing/2014/main" id="{9D4854AB-CE3F-4BB1-8A41-1764407C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Current response: NAIRR supported &gt;600 teams and &gt;6,000 students</a:t>
            </a:r>
          </a:p>
        </p:txBody>
      </p:sp>
      <p:sp>
        <p:nvSpPr>
          <p:cNvPr id="5" name="NSF, March 2026; US programme since 2024. Reach does no">
            <a:extLst xmlns:a="http://schemas.openxmlformats.org/drawingml/2006/main">
              <a:ext uri="{FF2B5EF4-FFF2-40B4-BE49-F238E27FC236}">
                <a16:creationId xmlns:a16="http://schemas.microsoft.com/office/drawing/2014/main" id="{9D5EC344-150C-4233-A070-C84E0DFF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NSF, March 2026; US programme since 2024. Reach does not prove global equality.</a:t>
            </a:r>
          </a:p>
        </p:txBody>
      </p:sp>
      <p:sp>
        <p:nvSpPr>
          <p:cNvPr id="6" name="Proposal: transparent GPU-hour allocation, smaller-inst">
            <a:extLst xmlns:a="http://schemas.openxmlformats.org/drawingml/2006/main">
              <a:ext uri="{FF2B5EF4-FFF2-40B4-BE49-F238E27FC236}">
                <a16:creationId xmlns:a16="http://schemas.microsoft.com/office/drawing/2014/main" id="{20370B52-2D81-478B-832D-7AA8C88B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Proposal: transparent GPU-hour allocation, smaller-institution support and appeals. Trade-off: reserved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can reduce immediate utilization or delay urgent jobs.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45614-1FE6-4353-87B2-3264E9F2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8" name="Shared capacity helps; allocation, expertise and reprod">
            <a:extLst xmlns:a="http://schemas.openxmlformats.org/drawingml/2006/main">
              <a:ext uri="{FF2B5EF4-FFF2-40B4-BE49-F238E27FC236}">
                <a16:creationId xmlns:a16="http://schemas.microsoft.com/office/drawing/2014/main" id="{0496A0D9-6B90-437C-B9D0-6BE0424F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Shared capacity helps; allocation, expertise and reproducibility still need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4B72A3-AC64-488C-91C5-238C2D5A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7] NSF 2026: US programme reach; [8] Strubell">
            <a:extLst xmlns:a="http://schemas.openxmlformats.org/drawingml/2006/main">
              <a:ext uri="{FF2B5EF4-FFF2-40B4-BE49-F238E27FC236}">
                <a16:creationId xmlns:a16="http://schemas.microsoft.com/office/drawing/2014/main" id="{013CE12A-FD49-4EDA-9528-85AD7814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[7] NSF 2026: US programme reach; [8] Strubell et al. 2019: cost and equity; [13] Ahmed and Wahed 2020: compute divide</a:t>
            </a:r>
          </a:p>
        </p:txBody>
      </p:sp>
      <p:sp>
        <p:nvSpPr>
          <p:cNvPr id="11" name="9 / 22">
            <a:extLst xmlns:a="http://schemas.openxmlformats.org/drawingml/2006/main">
              <a:ext uri="{FF2B5EF4-FFF2-40B4-BE49-F238E27FC236}">
                <a16:creationId xmlns:a16="http://schemas.microsoft.com/office/drawing/2014/main" id="{BD5D954C-F982-409F-A655-789E4E06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9 / 22</a:t>
            </a:r>
          </a:p>
        </p:txBody>
      </p:sp>
    </p:spTree>
    <p:extLst>
      <p:ext uri="{BB962C8B-B14F-4D97-AF65-F5344CB8AC3E}">
        <p14:creationId xmlns:p14="http://schemas.microsoft.com/office/powerpoint/2010/main" val="21052653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ask 2(c) • Research and allocation decisions">
            <a:extLst xmlns:a="http://schemas.openxmlformats.org/drawingml/2006/main">
              <a:ext uri="{FF2B5EF4-FFF2-40B4-BE49-F238E27FC236}">
                <a16:creationId xmlns:a16="http://schemas.microsoft.com/office/drawing/2014/main" id="{FE37972D-B586-4A86-982D-BF125D69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2(c) • Research and allocation decisions</a:t>
            </a:r>
          </a:p>
        </p:txBody>
      </p:sp>
      <p:sp>
        <p:nvSpPr>
          <p:cNvPr id="2" name="Access research and allocation choices">
            <a:extLst xmlns:a="http://schemas.openxmlformats.org/drawingml/2006/main">
              <a:ext uri="{FF2B5EF4-FFF2-40B4-BE49-F238E27FC236}">
                <a16:creationId xmlns:a16="http://schemas.microsoft.com/office/drawing/2014/main" id="{94D9D42C-2947-45C6-8590-47944E33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research and allocation choices</a:t>
            </a:r>
          </a:p>
        </p:txBody>
      </p:sp>
      <p:sp>
        <p:nvSpPr>
          <p:cNvPr id="3" name="Research comparison">
            <a:extLst xmlns:a="http://schemas.openxmlformats.org/drawingml/2006/main">
              <a:ext uri="{FF2B5EF4-FFF2-40B4-BE49-F238E27FC236}">
                <a16:creationId xmlns:a16="http://schemas.microsoft.com/office/drawing/2014/main" id="{4BEB1F73-4D8F-4916-AA01-A0B808C0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Research comparison</a:t>
            </a:r>
          </a:p>
        </p:txBody>
      </p:sp>
      <p:sp>
        <p:nvSpPr>
          <p:cNvPr id="4" name="Ahmed and Wahed study historical conference participati">
            <a:extLst xmlns:a="http://schemas.openxmlformats.org/drawingml/2006/main">
              <a:ext uri="{FF2B5EF4-FFF2-40B4-BE49-F238E27FC236}">
                <a16:creationId xmlns:a16="http://schemas.microsoft.com/office/drawing/2014/main" id="{F557C1CC-4E2C-4408-8537-E6245ED7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Ahmed and Wahed study historical conference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participation and a compute divide. Strubell et al.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financial/resource barriers in selected NLP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workloads.</a:t>
            </a:r>
          </a:p>
        </p:txBody>
      </p:sp>
      <p:sp>
        <p:nvSpPr>
          <p:cNvPr id="5" name="The first concerns institutional participation; the sec">
            <a:extLst xmlns:a="http://schemas.openxmlformats.org/drawingml/2006/main">
              <a:ext uri="{FF2B5EF4-FFF2-40B4-BE49-F238E27FC236}">
                <a16:creationId xmlns:a16="http://schemas.microsoft.com/office/drawing/2014/main" id="{A3D9ADC3-1D9F-4E6D-9C44-9512C9FD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first concerns institutional participation;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second concerns workload cost. Together they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motivate access support, but neither is a current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worldwide access census.</a:t>
            </a:r>
          </a:p>
        </p:txBody>
      </p:sp>
      <p:sp>
        <p:nvSpPr>
          <p:cNvPr id="6" name="NSF’s March 2026 participation figures describe a US sh">
            <a:extLst xmlns:a="http://schemas.openxmlformats.org/drawingml/2006/main">
              <a:ext uri="{FF2B5EF4-FFF2-40B4-BE49-F238E27FC236}">
                <a16:creationId xmlns:a16="http://schemas.microsoft.com/office/drawing/2014/main" id="{28B69F2E-BEE4-499F-AC12-B7BDE0B1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NSF’s March 2026 participation figures describe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 shared-resource response. Programme reach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proof of equal allocation, global access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eliminated inequality.</a:t>
            </a:r>
          </a:p>
        </p:txBody>
      </p:sp>
      <p:sp>
        <p:nvSpPr>
          <p:cNvPr id="7" name="Proposed shared-cluster policy">
            <a:extLst xmlns:a="http://schemas.openxmlformats.org/drawingml/2006/main">
              <a:ext uri="{FF2B5EF4-FFF2-40B4-BE49-F238E27FC236}">
                <a16:creationId xmlns:a16="http://schemas.microsoft.com/office/drawing/2014/main" id="{F7C61F10-4DA1-4D80-9A0C-F3DC8F02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Proposed shared-cluster policy</a:t>
            </a:r>
          </a:p>
        </p:txBody>
      </p:sp>
      <p:sp>
        <p:nvSpPr>
          <p:cNvPr id="8" name="Publish eligibility, GPU-hour limits and allocation cri">
            <a:extLst xmlns:a="http://schemas.openxmlformats.org/drawingml/2006/main">
              <a:ext uri="{FF2B5EF4-FFF2-40B4-BE49-F238E27FC236}">
                <a16:creationId xmlns:a16="http://schemas.microsoft.com/office/drawing/2014/main" id="{3FBEA1AB-ECE9-4366-9DAE-4AF9DDCF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Publish eligibility, GPU-hour limits and allocation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criteria; reserve some capacity for teaching, smaller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institutions and independent replication.</a:t>
            </a:r>
          </a:p>
        </p:txBody>
      </p:sp>
      <p:sp>
        <p:nvSpPr>
          <p:cNvPr id="9" name="Provide application support and training; allow appeals">
            <a:extLst xmlns:a="http://schemas.openxmlformats.org/drawingml/2006/main">
              <a:ext uri="{FF2B5EF4-FFF2-40B4-BE49-F238E27FC236}">
                <a16:creationId xmlns:a16="http://schemas.microsoft.com/office/drawing/2014/main" id="{EEB94CEC-AD30-40A4-AC26-1E1CEF42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Provide application support and training; allow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appeals. Track applicant-to-award outcomes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waiting times across institution groups with privacy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10" name="Trade-offs: reservations may reduce immediate utilizati">
            <a:extLst xmlns:a="http://schemas.openxmlformats.org/drawingml/2006/main">
              <a:ext uri="{FF2B5EF4-FFF2-40B4-BE49-F238E27FC236}">
                <a16:creationId xmlns:a16="http://schemas.microsoft.com/office/drawing/2014/main" id="{5B329F71-30B5-4968-9086-003138F1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396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Trade-offs: reservations may reduce immediate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utilization; queueing can delay urgent work;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unrestricted access can conflict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security/budgets. Prevent repeated deferral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resource starvation.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EE0DC-3152-4F74-8A52-93360D86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D314F-3DC2-4E1F-A493-6DB194A4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7] NSF 2026: US programme reach; [8] Strubell">
            <a:extLst xmlns:a="http://schemas.openxmlformats.org/drawingml/2006/main">
              <a:ext uri="{FF2B5EF4-FFF2-40B4-BE49-F238E27FC236}">
                <a16:creationId xmlns:a16="http://schemas.microsoft.com/office/drawing/2014/main" id="{A1493D4D-918B-40BF-9635-86936965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[7] NSF 2026: US programme reach; [8] Strubell et al. 2019: cost and equity; [13] Ahmed and Wahed 2020: compute divide</a:t>
            </a:r>
          </a:p>
        </p:txBody>
      </p:sp>
      <p:sp>
        <p:nvSpPr>
          <p:cNvPr id="14" name="10 / 22">
            <a:extLst xmlns:a="http://schemas.openxmlformats.org/drawingml/2006/main">
              <a:ext uri="{FF2B5EF4-FFF2-40B4-BE49-F238E27FC236}">
                <a16:creationId xmlns:a16="http://schemas.microsoft.com/office/drawing/2014/main" id="{90E8D1EB-E996-49F1-9B41-D58AEE14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10 / 22</a:t>
            </a:r>
          </a:p>
        </p:txBody>
      </p:sp>
    </p:spTree>
    <p:extLst>
      <p:ext uri="{BB962C8B-B14F-4D97-AF65-F5344CB8AC3E}">
        <p14:creationId xmlns:p14="http://schemas.microsoft.com/office/powerpoint/2010/main" val="290881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EE97C-CE7D-41C6-B1A8-047C008C055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819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07E6A-7F99-4830-B059-0A744CF96C95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814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7" name="Task 2(d)">
            <a:extLst xmlns:a="http://schemas.openxmlformats.org/drawingml/2006/main">
              <a:ext uri="{FF2B5EF4-FFF2-40B4-BE49-F238E27FC236}">
                <a16:creationId xmlns:a16="http://schemas.microsoft.com/office/drawing/2014/main" id="{74EAFE12-C78F-46D8-9A34-A3952F84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</a:t>
            </a:r>
          </a:p>
        </p:txBody>
      </p:sp>
      <p:sp>
        <p:nvSpPr>
          <p:cNvPr id="2" name="An accountable HPC approval process">
            <a:extLst xmlns:a="http://schemas.openxmlformats.org/drawingml/2006/main">
              <a:ext uri="{FF2B5EF4-FFF2-40B4-BE49-F238E27FC236}">
                <a16:creationId xmlns:a16="http://schemas.microsoft.com/office/drawing/2014/main" id="{F89038E5-1E63-46F0-9EB0-02F7FF9C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An accountable HPC approval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1F50B-B195-4DB9-89BC-329C7F87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Define outcome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accountable owner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78CB5-800B-4D05-B6A9-8AF71938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 quality,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and harms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A918A-E437-462A-AF80-ABD5AEE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/ defer /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scale / redesign</a:t>
            </a:r>
          </a:p>
        </p:txBody>
      </p:sp>
      <p:sp>
        <p:nvSpPr>
          <p:cNvPr id="8" name="Green AI: efficiency evidence [10]  •  Carbon-aware sch">
            <a:extLst xmlns:a="http://schemas.openxmlformats.org/drawingml/2006/main">
              <a:ext uri="{FF2B5EF4-FFF2-40B4-BE49-F238E27FC236}">
                <a16:creationId xmlns:a16="http://schemas.microsoft.com/office/drawing/2014/main" id="{8AB8C92C-A27F-483C-B7C4-6419DC76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Green AI: efficiency evidence [10] • Carbon-aware scheduling: flexible work [14]</a:t>
            </a:r>
          </a:p>
        </p:txBody>
      </p:sp>
      <p:sp>
        <p:nvSpPr>
          <p:cNvPr id="9" name="OECD: values and rights [15]  •  NIST: Govern, Map, Mea">
            <a:extLst xmlns:a="http://schemas.openxmlformats.org/drawingml/2006/main">
              <a:ext uri="{FF2B5EF4-FFF2-40B4-BE49-F238E27FC236}">
                <a16:creationId xmlns:a16="http://schemas.microsoft.com/office/drawing/2014/main" id="{E7D8CDA8-0CC0-4AF1-888A-FA02C78F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OECD: values and rights [15] • NIST: Govern, Map, Measure, Manage [16]</a:t>
            </a:r>
          </a:p>
        </p:txBody>
      </p:sp>
      <p:sp>
        <p:nvSpPr>
          <p:cNvPr id="10" name="Use an energy budget, security/group evaluation and tra">
            <a:extLst xmlns:a="http://schemas.openxmlformats.org/drawingml/2006/main">
              <a:ext uri="{FF2B5EF4-FFF2-40B4-BE49-F238E27FC236}">
                <a16:creationId xmlns:a16="http://schemas.microsoft.com/office/drawing/2014/main" id="{71A02CCB-3CB3-4520-B129-4FA8E63A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an energy budget, security/group evaluation and transparent access rules. Record owner, rationale,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exceptions and outcomes.</a:t>
            </a:r>
          </a:p>
        </p:txBody>
      </p:sp>
      <p:sp>
        <p:nvSpPr>
          <p:cNvPr id="11" name="Measurement informs action: shift flexible jobs to clea">
            <a:extLst xmlns:a="http://schemas.openxmlformats.org/drawingml/2006/main">
              <a:ext uri="{FF2B5EF4-FFF2-40B4-BE49-F238E27FC236}">
                <a16:creationId xmlns:a16="http://schemas.microsoft.com/office/drawing/2014/main" id="{ED4A1E26-C7B7-4D96-AC4D-716564CB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5078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Measurement informs action: shift flexible jobs to cleaner periods within deadlines/capacity. Forecast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uncertainty, water stress and urgent access can change the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8D060E-810E-45A6-AC56-CE824953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Approve useful work with explicit budgets, safeguards a">
            <a:extLst xmlns:a="http://schemas.openxmlformats.org/drawingml/2006/main">
              <a:ext uri="{FF2B5EF4-FFF2-40B4-BE49-F238E27FC236}">
                <a16:creationId xmlns:a16="http://schemas.microsoft.com/office/drawing/2014/main" id="{DA92F1BC-A2E5-40B8-8BED-3927CBFA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useful work with explicit budgets, safeguards and an accountable owner.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1FBF9A-5512-4925-A1FE-FE661F03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0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50496367-428D-4AAA-97F3-4A98C976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Schwartz et al. 2019: efficiency reporting; [14] Radovanovic et al. 2021: flexible scheduling; [15] OECD: rights, fairness and accountability; [16]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16" name="11 / 22">
            <a:extLst xmlns:a="http://schemas.openxmlformats.org/drawingml/2006/main">
              <a:ext uri="{FF2B5EF4-FFF2-40B4-BE49-F238E27FC236}">
                <a16:creationId xmlns:a16="http://schemas.microsoft.com/office/drawing/2014/main" id="{71E8144B-B0AB-4DA0-954F-E3E3D545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11 / 22</a:t>
            </a:r>
          </a:p>
        </p:txBody>
      </p:sp>
    </p:spTree>
    <p:extLst>
      <p:ext uri="{BB962C8B-B14F-4D97-AF65-F5344CB8AC3E}">
        <p14:creationId xmlns:p14="http://schemas.microsoft.com/office/powerpoint/2010/main" val="18680048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ask 2(d) • Framework actions and owners">
            <a:extLst xmlns:a="http://schemas.openxmlformats.org/drawingml/2006/main">
              <a:ext uri="{FF2B5EF4-FFF2-40B4-BE49-F238E27FC236}">
                <a16:creationId xmlns:a16="http://schemas.microsoft.com/office/drawing/2014/main" id="{09FC4174-3942-4B1F-BA81-88DDA568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 • Framework actions and owners</a:t>
            </a:r>
          </a:p>
        </p:txBody>
      </p:sp>
      <p:sp>
        <p:nvSpPr>
          <p:cNvPr id="2" name="Framework roles and accountable decisions">
            <a:extLst xmlns:a="http://schemas.openxmlformats.org/drawingml/2006/main">
              <a:ext uri="{FF2B5EF4-FFF2-40B4-BE49-F238E27FC236}">
                <a16:creationId xmlns:a16="http://schemas.microsoft.com/office/drawing/2014/main" id="{906A226B-B7F2-47BE-AD84-3F59077D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Framework roles and accountable decisions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6BF15-9D22-4D44-B2A3-B2FC2077D2DD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Function / 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Concrete action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/ responsible role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Govern / OECD values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ownership, data rules, access policy and escalation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Accountable owner accepts obligations and review process.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Map /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Define use, stakeholders, misuse risks, deadline and alternatives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Data/risk stewards establish the application-specific scope.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 / Green AI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energy per useful outcome, model quality, group harms and scaling efficiency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Operator/evaluator provides evidence and uncertainty.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Manage / scheduling research +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Approve, defer, reduce scale or redesign; enforce safeguards and review outcomes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Owner authorizes exceptions or rejects unresolved risks.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Our proposal combines measurement, scheduling and risk ">
            <a:extLst xmlns:a="http://schemas.openxmlformats.org/drawingml/2006/main">
              <a:ext uri="{FF2B5EF4-FFF2-40B4-BE49-F238E27FC236}">
                <a16:creationId xmlns:a16="http://schemas.microsoft.com/office/drawing/2014/main" id="{E1EEC0C0-53EE-44A4-9A8A-053502F1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Our proposal combines measurement, scheduling and risk management. NIST Govern spans the other functions; risk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management is iterative, not a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A8A26-45B1-4BB0-A7E6-6DD4697C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0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AA77E3BF-17C8-450E-98EB-3A70FDF2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Schwartz et al. 2019: efficiency reporting; [14] Radovanovic et al. 2021: flexible scheduling; [15] OECD: rights, fairness and accountability; [16]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7" name="12 / 22">
            <a:extLst xmlns:a="http://schemas.openxmlformats.org/drawingml/2006/main">
              <a:ext uri="{FF2B5EF4-FFF2-40B4-BE49-F238E27FC236}">
                <a16:creationId xmlns:a16="http://schemas.microsoft.com/office/drawing/2014/main" id="{26C43490-18FF-48A0-99E3-87706FED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12 / 22</a:t>
            </a:r>
          </a:p>
        </p:txBody>
      </p:sp>
    </p:spTree>
    <p:extLst>
      <p:ext uri="{BB962C8B-B14F-4D97-AF65-F5344CB8AC3E}">
        <p14:creationId xmlns:p14="http://schemas.microsoft.com/office/powerpoint/2010/main" val="17055788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C4BD4-8CFD-494B-8B1F-9C5755525AC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48550" y="2314575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88AC6-FD1A-4455-A5EE-4CAB33586121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81350" y="23145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6" name="Task 2(d) • Carbon-aware scheduling">
            <a:extLst xmlns:a="http://schemas.openxmlformats.org/drawingml/2006/main">
              <a:ext uri="{FF2B5EF4-FFF2-40B4-BE49-F238E27FC236}">
                <a16:creationId xmlns:a16="http://schemas.microsoft.com/office/drawing/2014/main" id="{CC0C0F5C-3098-4459-9322-C130D99F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 • Carbon-aware scheduling</a:t>
            </a:r>
          </a:p>
        </p:txBody>
      </p:sp>
      <p:sp>
        <p:nvSpPr>
          <p:cNvPr id="2" name="Carbon-aware scheduling under constraints">
            <a:extLst xmlns:a="http://schemas.openxmlformats.org/drawingml/2006/main">
              <a:ext uri="{FF2B5EF4-FFF2-40B4-BE49-F238E27FC236}">
                <a16:creationId xmlns:a16="http://schemas.microsoft.com/office/drawing/2014/main" id="{88076789-6274-4835-B1FD-A5B4781D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Carbon-aware scheduling under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508AE-F2DD-417A-A428-79F84924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EABB4-B27A-4573-B8F1-823E3F52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38325"/>
            <a:ext cx="2933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Lower-carbon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forecast window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C57E9-8F8F-4C10-A6D9-91813C8A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38325"/>
            <a:ext cx="2686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Complete before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8" name="Research [14] demonstrates shifting temporally flexible">
            <a:extLst xmlns:a="http://schemas.openxmlformats.org/drawingml/2006/main">
              <a:ext uri="{FF2B5EF4-FFF2-40B4-BE49-F238E27FC236}">
                <a16:creationId xmlns:a16="http://schemas.microsoft.com/office/drawing/2014/main" id="{11251D7A-8278-4487-9ECA-F698B864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[14] demonstrates shifting temporally flexible workloads using forecasts while preserving daily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capacity. It does not show every urgent GPU job can wait.</a:t>
            </a:r>
          </a:p>
        </p:txBody>
      </p:sp>
      <p:sp>
        <p:nvSpPr>
          <p:cNvPr id="9" name="Proposed rule: defer only if deadline, energy budget, w">
            <a:extLst xmlns:a="http://schemas.openxmlformats.org/drawingml/2006/main">
              <a:ext uri="{FF2B5EF4-FFF2-40B4-BE49-F238E27FC236}">
                <a16:creationId xmlns:a16="http://schemas.microsoft.com/office/drawing/2014/main" id="{8DFFB5D8-C167-46CD-B818-C18296C6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rule: defer only if deadline, energy budget, water/site limits and equitable waiting-time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commitments remain satisfied; record exceptions.</a:t>
            </a:r>
          </a:p>
        </p:txBody>
      </p:sp>
      <p:sp>
        <p:nvSpPr>
          <p:cNvPr id="10" name="No feasible window: reduce scale, redesign or approve a">
            <a:extLst xmlns:a="http://schemas.openxmlformats.org/drawingml/2006/main">
              <a:ext uri="{FF2B5EF4-FFF2-40B4-BE49-F238E27FC236}">
                <a16:creationId xmlns:a16="http://schemas.microsoft.com/office/drawing/2014/main" id="{C424DB18-4C22-4C0F-A652-3D6DF7FC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feasible window: reduce scale, redesign or approve a justified urgent exception. Prevent indefinite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deferral. Data residency and transfer costs constrain moving work between sites.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DCFB5C-AB93-42E6-BA56-A555BEBD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2" name="Flexible jobs may move; urgent jobs, water constraints ">
            <a:extLst xmlns:a="http://schemas.openxmlformats.org/drawingml/2006/main">
              <a:ext uri="{FF2B5EF4-FFF2-40B4-BE49-F238E27FC236}">
                <a16:creationId xmlns:a16="http://schemas.microsoft.com/office/drawing/2014/main" id="{3E69FC15-DC03-47C4-A0F5-4CB04CE3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jobs may move; urgent jobs, water constraints and access commitments can override deferral.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7A4CC-AF09-4EC6-8255-B55129AF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4" name="Sources: [9] Li et al. 2025 revision: water impacts; [1">
            <a:extLst xmlns:a="http://schemas.openxmlformats.org/drawingml/2006/main">
              <a:ext uri="{FF2B5EF4-FFF2-40B4-BE49-F238E27FC236}">
                <a16:creationId xmlns:a16="http://schemas.microsoft.com/office/drawing/2014/main" id="{C2919921-F46A-46A9-A548-A5630F86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Li et al. 2025 revision: water impacts; [14] Radovanovic et al. 2021: flexible scheduling; [16] NIST: Govern, Map, Measure, Manage</a:t>
            </a:r>
          </a:p>
        </p:txBody>
      </p:sp>
      <p:sp>
        <p:nvSpPr>
          <p:cNvPr id="15" name="13 / 22">
            <a:extLst xmlns:a="http://schemas.openxmlformats.org/drawingml/2006/main">
              <a:ext uri="{FF2B5EF4-FFF2-40B4-BE49-F238E27FC236}">
                <a16:creationId xmlns:a16="http://schemas.microsoft.com/office/drawing/2014/main" id="{3F8B31E5-2C7A-4804-93AF-1FFD4D09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13 / 22</a:t>
            </a:r>
          </a:p>
        </p:txBody>
      </p:sp>
    </p:spTree>
    <p:extLst>
      <p:ext uri="{BB962C8B-B14F-4D97-AF65-F5344CB8AC3E}">
        <p14:creationId xmlns:p14="http://schemas.microsoft.com/office/powerpoint/2010/main" val="2518653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asks 1 and 2 • Conclusions and limitations">
            <a:extLst xmlns:a="http://schemas.openxmlformats.org/drawingml/2006/main">
              <a:ext uri="{FF2B5EF4-FFF2-40B4-BE49-F238E27FC236}">
                <a16:creationId xmlns:a16="http://schemas.microsoft.com/office/drawing/2014/main" id="{7946BA93-ED06-460A-AECD-6821AB7E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Tasks 1 and 2 • Conclusions and limitations</a:t>
            </a:r>
          </a:p>
        </p:txBody>
      </p:sp>
      <p:sp>
        <p:nvSpPr>
          <p:cNvPr id="2" name="Conclusions and next measurements">
            <a:extLst xmlns:a="http://schemas.openxmlformats.org/drawingml/2006/main">
              <a:ext uri="{FF2B5EF4-FFF2-40B4-BE49-F238E27FC236}">
                <a16:creationId xmlns:a16="http://schemas.microsoft.com/office/drawing/2014/main" id="{8D2584B9-6A9E-4ABE-A0ED-59D438DA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Conclusions and next measurements</a:t>
            </a:r>
          </a:p>
        </p:txBody>
      </p:sp>
      <p:sp>
        <p:nvSpPr>
          <p:cNvPr id="3" name="GPU rotation">
            <a:extLst xmlns:a="http://schemas.openxmlformats.org/drawingml/2006/main">
              <a:ext uri="{FF2B5EF4-FFF2-40B4-BE49-F238E27FC236}">
                <a16:creationId xmlns:a16="http://schemas.microsoft.com/office/drawing/2014/main" id="{8CB204B8-B591-49F2-851C-446BF91F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GPU rotation</a:t>
            </a:r>
          </a:p>
        </p:txBody>
      </p:sp>
      <p:sp>
        <p:nvSpPr>
          <p:cNvPr id="4" name="Inverse gathering exposes independent pixel work. SM sc">
            <a:extLst xmlns:a="http://schemas.openxmlformats.org/drawingml/2006/main">
              <a:ext uri="{FF2B5EF4-FFF2-40B4-BE49-F238E27FC236}">
                <a16:creationId xmlns:a16="http://schemas.microsoft.com/office/drawing/2014/main" id="{F45F0B13-8EF0-460D-81E5-874E9679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Inverse gathering exposes independent pixel work.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SM scheduling, memory locality and transfer costs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determine achieved performance.</a:t>
            </a:r>
          </a:p>
        </p:txBody>
      </p:sp>
      <p:sp>
        <p:nvSpPr>
          <p:cNvPr id="5" name="Choose a CPU baseline and compare completed equivalent ">
            <a:extLst xmlns:a="http://schemas.openxmlformats.org/drawingml/2006/main">
              <a:ext uri="{FF2B5EF4-FFF2-40B4-BE49-F238E27FC236}">
                <a16:creationId xmlns:a16="http://schemas.microsoft.com/office/drawing/2014/main" id="{9578D205-C770-4C6B-8B75-B2206734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Choose a CPU baseline and compare completed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equivalent pipelines. GDS is conditional on storage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bottlenecks, a compatible data path and verified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support.</a:t>
            </a:r>
          </a:p>
        </p:txBody>
      </p:sp>
      <p:sp>
        <p:nvSpPr>
          <p:cNvPr id="6" name="Next: compile the teaching examples, check output again">
            <a:extLst xmlns:a="http://schemas.openxmlformats.org/drawingml/2006/main">
              <a:ext uri="{FF2B5EF4-FFF2-40B4-BE49-F238E27FC236}">
                <a16:creationId xmlns:a16="http://schemas.microsoft.com/office/drawing/2014/main" id="{39FB5B50-3E19-42E5-9FF5-F506DD66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compile the teaching examples, check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against a CPU reference and profile representative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sizes/angles/batches. No result is assumed.</a:t>
            </a:r>
          </a:p>
        </p:txBody>
      </p:sp>
      <p:sp>
        <p:nvSpPr>
          <p:cNvPr id="7" name="Responsible scaling">
            <a:extLst xmlns:a="http://schemas.openxmlformats.org/drawingml/2006/main">
              <a:ext uri="{FF2B5EF4-FFF2-40B4-BE49-F238E27FC236}">
                <a16:creationId xmlns:a16="http://schemas.microsoft.com/office/drawing/2014/main" id="{025DC434-7AD1-4018-AEBF-A4FD99D8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Responsible scaling</a:t>
            </a:r>
          </a:p>
        </p:txBody>
      </p:sp>
      <p:sp>
        <p:nvSpPr>
          <p:cNvPr id="8" name="More compute can enable valuable research while concent">
            <a:extLst xmlns:a="http://schemas.openxmlformats.org/drawingml/2006/main">
              <a:ext uri="{FF2B5EF4-FFF2-40B4-BE49-F238E27FC236}">
                <a16:creationId xmlns:a16="http://schemas.microsoft.com/office/drawing/2014/main" id="{204BC7BA-5159-4180-AED7-D982361E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compute can enable valuable research while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concentrating access and increasing resource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demand. Approve scale for useful outcomes,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9" name="Combine job-level energy/resource evidence, separate se">
            <a:extLst xmlns:a="http://schemas.openxmlformats.org/drawingml/2006/main">
              <a:ext uri="{FF2B5EF4-FFF2-40B4-BE49-F238E27FC236}">
                <a16:creationId xmlns:a16="http://schemas.microsoft.com/office/drawing/2014/main" id="{2B0DFA21-CF81-42D8-AA26-93AE073A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Combine job-level energy/resource evidence,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 security/fairness evaluation, transparent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allocations and deadline-aware scheduling.</a:t>
            </a:r>
          </a:p>
        </p:txBody>
      </p:sp>
      <p:sp>
        <p:nvSpPr>
          <p:cNvPr id="10" name="Next: measure a real cluster job’s energy, quality, sca">
            <a:extLst xmlns:a="http://schemas.openxmlformats.org/drawingml/2006/main">
              <a:ext uri="{FF2B5EF4-FFF2-40B4-BE49-F238E27FC236}">
                <a16:creationId xmlns:a16="http://schemas.microsoft.com/office/drawing/2014/main" id="{99AEFADF-70FC-4138-9F41-ACE1A514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measure a real cluster job’s energy, quality,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efficiency and allocation outcomes; revise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policy when evidence or conditions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4A2B5-3E5F-4693-9671-4142E2D9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E2D028-2137-4294-955D-2F137898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NVIDIA CUDA Best Practices; [3] NVIDIA GDS">
            <a:extLst xmlns:a="http://schemas.openxmlformats.org/drawingml/2006/main">
              <a:ext uri="{FF2B5EF4-FFF2-40B4-BE49-F238E27FC236}">
                <a16:creationId xmlns:a16="http://schemas.microsoft.com/office/drawing/2014/main" id="{F1966FD6-1B12-45E9-81B7-21CC8656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NVIDIA CUDA Best Practices; [3] NVIDIA GDS overview; [4] NVIDIA GDS design; [10] Schwartz et al. 2019: efficiency reporting; [14] Radovanovic et al. 2021: flexible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scheduling; [16] NIST: Govern, Map, Measure, Manage</a:t>
            </a:r>
          </a:p>
        </p:txBody>
      </p:sp>
      <p:sp>
        <p:nvSpPr>
          <p:cNvPr id="14" name="14 / 22">
            <a:extLst xmlns:a="http://schemas.openxmlformats.org/drawingml/2006/main">
              <a:ext uri="{FF2B5EF4-FFF2-40B4-BE49-F238E27FC236}">
                <a16:creationId xmlns:a16="http://schemas.microsoft.com/office/drawing/2014/main" id="{5F472BA8-AB73-4C99-8FF0-436A7A90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14 / 22</a:t>
            </a:r>
          </a:p>
        </p:txBody>
      </p:sp>
    </p:spTree>
    <p:extLst>
      <p:ext uri="{BB962C8B-B14F-4D97-AF65-F5344CB8AC3E}">
        <p14:creationId xmlns:p14="http://schemas.microsoft.com/office/powerpoint/2010/main" val="17325422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ppendix • Reading guide">
            <a:extLst xmlns:a="http://schemas.openxmlformats.org/drawingml/2006/main">
              <a:ext uri="{FF2B5EF4-FFF2-40B4-BE49-F238E27FC236}">
                <a16:creationId xmlns:a16="http://schemas.microsoft.com/office/drawing/2014/main" id="{6830C622-4C1F-45C5-9A72-94E74972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Reading guide</a:t>
            </a:r>
          </a:p>
        </p:txBody>
      </p:sp>
      <p:sp>
        <p:nvSpPr>
          <p:cNvPr id="2" name="Optional supporting material">
            <a:extLst xmlns:a="http://schemas.openxmlformats.org/drawingml/2006/main">
              <a:ext uri="{FF2B5EF4-FFF2-40B4-BE49-F238E27FC236}">
                <a16:creationId xmlns:a16="http://schemas.microsoft.com/office/drawing/2014/main" id="{FD926F40-AE8E-481D-B49F-78781118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Optional supporting material</a:t>
            </a:r>
          </a:p>
        </p:txBody>
      </p:sp>
      <p:sp>
        <p:nvSpPr>
          <p:cNvPr id="3" name="Task 1: implementation expansions">
            <a:extLst xmlns:a="http://schemas.openxmlformats.org/drawingml/2006/main">
              <a:ext uri="{FF2B5EF4-FFF2-40B4-BE49-F238E27FC236}">
                <a16:creationId xmlns:a16="http://schemas.microsoft.com/office/drawing/2014/main" id="{51C686C3-7E64-474A-A3DA-B7F9DE24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1: implementation expansions</a:t>
            </a:r>
          </a:p>
        </p:txBody>
      </p:sp>
      <p:sp>
        <p:nvSpPr>
          <p:cNvPr id="4" name="The Task 1 answers already contain the rotation formula">
            <a:extLst xmlns:a="http://schemas.openxmlformats.org/drawingml/2006/main">
              <a:ext uri="{FF2B5EF4-FFF2-40B4-BE49-F238E27FC236}">
                <a16:creationId xmlns:a16="http://schemas.microsoft.com/office/drawing/2014/main" id="{C76A84A4-1EFC-453C-A50C-FC7738FB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Task 1 answers already contain the rotation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formula, worked calculation, kernel, host launch,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launch-shape comparison and stream/overlap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example.</a:t>
            </a:r>
          </a:p>
        </p:txBody>
      </p:sp>
      <p:sp>
        <p:nvSpPr>
          <p:cNvPr id="5" name="The following slides expand coordinate conventions and ">
            <a:extLst xmlns:a="http://schemas.openxmlformats.org/drawingml/2006/main">
              <a:ext uri="{FF2B5EF4-FFF2-40B4-BE49-F238E27FC236}">
                <a16:creationId xmlns:a16="http://schemas.microsoft.com/office/drawing/2014/main" id="{C841C5C4-CA8C-4F81-8AD1-F8EC14A0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following slides expand coordinate conventions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complete source examples, then give an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optional profiling plan and GDS background.</a:t>
            </a:r>
          </a:p>
        </p:txBody>
      </p:sp>
      <p:sp>
        <p:nvSpPr>
          <p:cNvPr id="6" name="Task 2: supplementary comparisons">
            <a:extLst xmlns:a="http://schemas.openxmlformats.org/drawingml/2006/main">
              <a:ext uri="{FF2B5EF4-FFF2-40B4-BE49-F238E27FC236}">
                <a16:creationId xmlns:a16="http://schemas.microsoft.com/office/drawing/2014/main" id="{D3A170DE-A73D-4460-B416-EB637CB0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2: supplementary comparisons</a:t>
            </a:r>
          </a:p>
        </p:txBody>
      </p:sp>
      <p:sp>
        <p:nvSpPr>
          <p:cNvPr id="7" name="The Task 2 answers already contain energy/carbon calcul">
            <a:extLst xmlns:a="http://schemas.openxmlformats.org/drawingml/2006/main">
              <a:ext uri="{FF2B5EF4-FFF2-40B4-BE49-F238E27FC236}">
                <a16:creationId xmlns:a16="http://schemas.microsoft.com/office/drawing/2014/main" id="{EAF73C0B-BFFE-46F4-B95A-4A64B365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Task 2 answers already contain energy/carbon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calculations, research comparisons, governance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fairness decisions, access policy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accountable scheduling.</a:t>
            </a:r>
          </a:p>
        </p:txBody>
      </p:sp>
      <p:sp>
        <p:nvSpPr>
          <p:cNvPr id="8" name="Additional parallelism and cross-topic comparison table">
            <a:extLst xmlns:a="http://schemas.openxmlformats.org/drawingml/2006/main">
              <a:ext uri="{FF2B5EF4-FFF2-40B4-BE49-F238E27FC236}">
                <a16:creationId xmlns:a16="http://schemas.microsoft.com/office/drawing/2014/main" id="{A75B7E54-DD88-460C-BA60-C55F1241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Additional parallelism and cross-topic comparison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tables follow. Website references and one brief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AI-use declaration complete the deck.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D6C2B7-2807-4353-9213-0C8702E7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5C2C0-13A9-4C2C-B347-E4B2BAB3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1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557233BE-D65A-453B-9B02-07359403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2" name="15 / 22">
            <a:extLst xmlns:a="http://schemas.openxmlformats.org/drawingml/2006/main">
              <a:ext uri="{FF2B5EF4-FFF2-40B4-BE49-F238E27FC236}">
                <a16:creationId xmlns:a16="http://schemas.microsoft.com/office/drawing/2014/main" id="{6F38634D-F170-456F-BC77-E5FA34C9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15 / 22</a:t>
            </a:r>
          </a:p>
        </p:txBody>
      </p:sp>
    </p:spTree>
    <p:extLst>
      <p:ext uri="{BB962C8B-B14F-4D97-AF65-F5344CB8AC3E}">
        <p14:creationId xmlns:p14="http://schemas.microsoft.com/office/powerpoint/2010/main" val="13891395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1">
            <a:extLst xmlns:a="http://schemas.openxmlformats.org/drawingml/2006/main">
              <a:ext uri="{FF2B5EF4-FFF2-40B4-BE49-F238E27FC236}">
                <a16:creationId xmlns:a16="http://schemas.microsoft.com/office/drawing/2014/main" id="{8021CF0F-FE54-4943-8BCB-1495D8F3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B1</a:t>
            </a:r>
          </a:p>
        </p:txBody>
      </p:sp>
      <p:sp>
        <p:nvSpPr>
          <p:cNvPr id="2" name="Parallelism, dependencies and scaling limits">
            <a:extLst xmlns:a="http://schemas.openxmlformats.org/drawingml/2006/main">
              <a:ext uri="{FF2B5EF4-FFF2-40B4-BE49-F238E27FC236}">
                <a16:creationId xmlns:a16="http://schemas.microsoft.com/office/drawing/2014/main" id="{009F664F-9A1D-4289-8694-BD901238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Parallelism, dependencies and scaling limits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F09FF-66AE-432D-91F3-BBE6696B55A7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Partition and communication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Scaling limitation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Replicate model; partition batches; reduce/average gradients before a consistent update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Collective latency/bandwidth and stragglers.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Tensor parallel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Partition computations within a layer; exchange partial results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Frequent inter-device communication.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Pipeline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layers to stages; pass activations/gradients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Stage imbalance and pipeline bubbles.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Fixed workload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More GPUs reduce only the parallelizable portion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Serial work and communication bound speedup.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Larger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Scale capacity/model/data with added resources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different claim from halving a fixed job’s runtime.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ll-reduce is a collective result-sharing concept, not ">
            <a:extLst xmlns:a="http://schemas.openxmlformats.org/drawingml/2006/main">
              <a:ext uri="{FF2B5EF4-FFF2-40B4-BE49-F238E27FC236}">
                <a16:creationId xmlns:a16="http://schemas.microsoft.com/office/drawing/2014/main" id="{62431B97-63BE-4B3F-83A8-EAD9B4B9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All-reduce is a collective result-sharing concept, not a claim that every AI framework uses the exact classroom MPI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CA9D3-596F-4FF5-BE8C-DDFC3CE7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5] NVIDIA Megatron parallelism; [2] NVIDIA CU">
            <a:extLst xmlns:a="http://schemas.openxmlformats.org/drawingml/2006/main">
              <a:ext uri="{FF2B5EF4-FFF2-40B4-BE49-F238E27FC236}">
                <a16:creationId xmlns:a16="http://schemas.microsoft.com/office/drawing/2014/main" id="{29F91DAA-83A4-4571-9F79-9A0E2DC2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[5] NVIDIA Megatron parallelism; [2] NVIDIA CUDA Best Practices</a:t>
            </a:r>
          </a:p>
        </p:txBody>
      </p:sp>
      <p:sp>
        <p:nvSpPr>
          <p:cNvPr id="7" name="16 / 22">
            <a:extLst xmlns:a="http://schemas.openxmlformats.org/drawingml/2006/main">
              <a:ext uri="{FF2B5EF4-FFF2-40B4-BE49-F238E27FC236}">
                <a16:creationId xmlns:a16="http://schemas.microsoft.com/office/drawing/2014/main" id="{4E43E2F1-92CF-49C9-B995-C2BCE197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16 / 22</a:t>
            </a:r>
          </a:p>
        </p:txBody>
      </p:sp>
    </p:spTree>
    <p:extLst>
      <p:ext uri="{BB962C8B-B14F-4D97-AF65-F5344CB8AC3E}">
        <p14:creationId xmlns:p14="http://schemas.microsoft.com/office/powerpoint/2010/main" val="6605886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2">
            <a:extLst xmlns:a="http://schemas.openxmlformats.org/drawingml/2006/main">
              <a:ext uri="{FF2B5EF4-FFF2-40B4-BE49-F238E27FC236}">
                <a16:creationId xmlns:a16="http://schemas.microsoft.com/office/drawing/2014/main" id="{81A69BCB-EFA9-4B2A-B2DC-E5E397A8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B2</a:t>
            </a:r>
          </a:p>
        </p:txBody>
      </p:sp>
      <p:sp>
        <p:nvSpPr>
          <p:cNvPr id="2" name="Research comparisons across all four topics">
            <a:extLst xmlns:a="http://schemas.openxmlformats.org/drawingml/2006/main">
              <a:ext uri="{FF2B5EF4-FFF2-40B4-BE49-F238E27FC236}">
                <a16:creationId xmlns:a16="http://schemas.microsoft.com/office/drawing/2014/main" id="{451962EC-22D6-4560-A16F-F0C48B78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comparisons across all four topics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641AB-12E5-45D3-9772-BB838C289289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Topic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 / limit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(a) Environment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Cost/efficiency research [8,10] versus water-footprint research [9]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Useful-output efficiency and local resource pressure need different measures.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(b) Governance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 reconstruction [11] versus fairness evaluation survey [12]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exposure and unequal outcomes are distinct failure mechanisms.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(c) Access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Institutional participation [13] versus workload cost/equity [8]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Concentration and financial barriers reinforce a concern; scopes differ.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(d) Frameworks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Efficiency-reporting argument [10] versus operational scheduling [14]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Measurement motivates action; scheduling depends on flexibility and forecasts.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Current institutional evidence [6,7] and governance fra">
            <a:extLst xmlns:a="http://schemas.openxmlformats.org/drawingml/2006/main">
              <a:ext uri="{FF2B5EF4-FFF2-40B4-BE49-F238E27FC236}">
                <a16:creationId xmlns:a16="http://schemas.microsoft.com/office/drawing/2014/main" id="{0436536C-B184-4964-8963-EA2E1212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Current institutional evidence [6,7] and governance frameworks [15,16] complement the research; they do not replace its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methodological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9F844-D889-4421-99CE-0497E1BA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8] Strubell et al. 2019: cost and equity; [9]">
            <a:extLst xmlns:a="http://schemas.openxmlformats.org/drawingml/2006/main">
              <a:ext uri="{FF2B5EF4-FFF2-40B4-BE49-F238E27FC236}">
                <a16:creationId xmlns:a16="http://schemas.microsoft.com/office/drawing/2014/main" id="{52359271-99CE-4243-90D7-940DC438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[8] Strubell et al. 2019: cost and equity; [9] Li et al. 2025 revision: water impacts; [10] Schwartz et al. 2019: efficiency reporting; [11] Zhu et al. 2019: exposed gradients; [12]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Gallegos et al. 2024: fairness evaluation; [13] Ahmed and Wahed 2020: compute divide; [14] Radovanovic et al. 2021: flexible scheduling</a:t>
            </a:r>
          </a:p>
        </p:txBody>
      </p:sp>
      <p:sp>
        <p:nvSpPr>
          <p:cNvPr id="7" name="17 / 22">
            <a:extLst xmlns:a="http://schemas.openxmlformats.org/drawingml/2006/main">
              <a:ext uri="{FF2B5EF4-FFF2-40B4-BE49-F238E27FC236}">
                <a16:creationId xmlns:a16="http://schemas.microsoft.com/office/drawing/2014/main" id="{6BC37528-8C8D-4EB1-AEF8-D3970BB8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17 / 22</a:t>
            </a:r>
          </a:p>
        </p:txBody>
      </p:sp>
    </p:spTree>
    <p:extLst>
      <p:ext uri="{BB962C8B-B14F-4D97-AF65-F5344CB8AC3E}">
        <p14:creationId xmlns:p14="http://schemas.microsoft.com/office/powerpoint/2010/main" val="2375645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1/4">
            <a:extLst xmlns:a="http://schemas.openxmlformats.org/drawingml/2006/main">
              <a:ext uri="{FF2B5EF4-FFF2-40B4-BE49-F238E27FC236}">
                <a16:creationId xmlns:a16="http://schemas.microsoft.com/office/drawing/2014/main" id="{87F94CCA-CEBD-4F71-9F98-C60B2729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1/4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212D376C-0D6A-497E-9FF7-BA7190C3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2] NVIDIA, CUDA C++ Best Practices Guide, online docum">
            <a:extLst xmlns:a="http://schemas.openxmlformats.org/drawingml/2006/main">
              <a:ext uri="{FF2B5EF4-FFF2-40B4-BE49-F238E27FC236}">
                <a16:creationId xmlns:a16="http://schemas.microsoft.com/office/drawing/2014/main" id="{D40DB3F9-65FF-4150-B2B7-6004AAFC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[2] NVIDIA, CUDA C++ Best Practices Guide, online documentation, accessed Oct. 8, 2026.</a:t>
            </a:r>
          </a:p>
        </p:txBody>
      </p:sp>
      <p:sp>
        <p:nvSpPr>
          <p:cNvPr id="4" name="https://docs.nvidia.com/cuda/cuda-c-best-practices-guid">
            <a:extLst xmlns:a="http://schemas.openxmlformats.org/drawingml/2006/main">
              <a:ext uri="{FF2B5EF4-FFF2-40B4-BE49-F238E27FC236}">
                <a16:creationId xmlns:a16="http://schemas.microsoft.com/office/drawing/2014/main" id="{F4172420-DB41-4255-BF2D-7C5A3583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795753b015a04a11"/>
              </a:rPr>
              <a:t>https://docs.nvidia.com/cuda/cuda-c-best-practices-guide/index.html</a:t>
            </a:r>
          </a:p>
        </p:txBody>
      </p:sp>
      <p:sp>
        <p:nvSpPr>
          <p:cNvPr id="5" name="[3] NVIDIA, GPUDirect Storage Overview Guide, online do">
            <a:extLst xmlns:a="http://schemas.openxmlformats.org/drawingml/2006/main">
              <a:ext uri="{FF2B5EF4-FFF2-40B4-BE49-F238E27FC236}">
                <a16:creationId xmlns:a16="http://schemas.microsoft.com/office/drawing/2014/main" id="{01328643-FD11-4BC1-A20B-74DCEFD4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[3] NVIDIA, GPUDirect Storage Overview Guide, online documentation, accessed Oct. 8, 2026.</a:t>
            </a:r>
          </a:p>
        </p:txBody>
      </p:sp>
      <p:sp>
        <p:nvSpPr>
          <p:cNvPr id="6" name="https://docs.nvidia.com/gpudirect-storage/overview-guid">
            <a:extLst xmlns:a="http://schemas.openxmlformats.org/drawingml/2006/main">
              <a:ext uri="{FF2B5EF4-FFF2-40B4-BE49-F238E27FC236}">
                <a16:creationId xmlns:a16="http://schemas.microsoft.com/office/drawing/2014/main" id="{7AE04FE5-B4A1-443A-9A0E-29BBA343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9c7c9d231f114990"/>
              </a:rPr>
              <a:t>https://docs.nvidia.com/gpudirect-storage/overview-guide/index.html</a:t>
            </a:r>
          </a:p>
        </p:txBody>
      </p:sp>
      <p:sp>
        <p:nvSpPr>
          <p:cNvPr id="7" name="[4] NVIDIA, GPUDirect Storage Design Guide, online docu">
            <a:extLst xmlns:a="http://schemas.openxmlformats.org/drawingml/2006/main">
              <a:ext uri="{FF2B5EF4-FFF2-40B4-BE49-F238E27FC236}">
                <a16:creationId xmlns:a16="http://schemas.microsoft.com/office/drawing/2014/main" id="{2C53B2C1-89C4-4BE7-8E75-414265EF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[4] NVIDIA, GPUDirect Storage Design Guide, online documentation, accessed Oct. 8, 2026.</a:t>
            </a:r>
          </a:p>
        </p:txBody>
      </p:sp>
      <p:sp>
        <p:nvSpPr>
          <p:cNvPr id="8" name="https://docs.nvidia.com/gpudirect-storage/design-guide/">
            <a:extLst xmlns:a="http://schemas.openxmlformats.org/drawingml/2006/main">
              <a:ext uri="{FF2B5EF4-FFF2-40B4-BE49-F238E27FC236}">
                <a16:creationId xmlns:a16="http://schemas.microsoft.com/office/drawing/2014/main" id="{936B011D-C78A-4D91-8986-E07C8AB6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80916808f0604295"/>
              </a:rPr>
              <a:t>https://docs.nvidia.com/gpudirect-storage/design-guide/index.html</a:t>
            </a:r>
          </a:p>
        </p:txBody>
      </p:sp>
      <p:sp>
        <p:nvSpPr>
          <p:cNvPr id="9" name="[5] NVIDIA, “Parallelism strategies guide,” Megatron Co">
            <a:extLst xmlns:a="http://schemas.openxmlformats.org/drawingml/2006/main">
              <a:ext uri="{FF2B5EF4-FFF2-40B4-BE49-F238E27FC236}">
                <a16:creationId xmlns:a16="http://schemas.microsoft.com/office/drawing/2014/main" id="{03F6733E-ABD5-449D-871A-EAAACF36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8387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[5] NVIDIA, “Parallelism strategies guide,” Megatron Core, online documentation, accessed Oct. 8, 2026.</a:t>
            </a:r>
          </a:p>
        </p:txBody>
      </p:sp>
      <p:sp>
        <p:nvSpPr>
          <p:cNvPr id="10" name="https://docs.nvidia.com/megatron-core/developer-guide/l">
            <a:extLst xmlns:a="http://schemas.openxmlformats.org/drawingml/2006/main">
              <a:ext uri="{FF2B5EF4-FFF2-40B4-BE49-F238E27FC236}">
                <a16:creationId xmlns:a16="http://schemas.microsoft.com/office/drawing/2014/main" id="{745870B4-31BA-44FF-B110-35B5DCBA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2618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75010d8d4b6c4d78"/>
              </a:rPr>
              <a:t>https://docs.nvidia.com/megatron-core/developer-guide/latest/user-guide/parallelism-guide.html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5C04B-C4B7-41C4-B21F-1D781DFA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ABB73CA6-05C0-4BBB-8D76-F3C558C3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18 / 22">
            <a:extLst xmlns:a="http://schemas.openxmlformats.org/drawingml/2006/main">
              <a:ext uri="{FF2B5EF4-FFF2-40B4-BE49-F238E27FC236}">
                <a16:creationId xmlns:a16="http://schemas.microsoft.com/office/drawing/2014/main" id="{33F59C60-975F-4B17-BE87-0176C996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18 / 22</a:t>
            </a:r>
          </a:p>
        </p:txBody>
      </p:sp>
    </p:spTree>
    <p:extLst>
      <p:ext uri="{BB962C8B-B14F-4D97-AF65-F5344CB8AC3E}">
        <p14:creationId xmlns:p14="http://schemas.microsoft.com/office/powerpoint/2010/main" val="13148883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2/4">
            <a:extLst xmlns:a="http://schemas.openxmlformats.org/drawingml/2006/main">
              <a:ext uri="{FF2B5EF4-FFF2-40B4-BE49-F238E27FC236}">
                <a16:creationId xmlns:a16="http://schemas.microsoft.com/office/drawing/2014/main" id="{66A3524D-8316-4ED5-B73D-EF786636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2/4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42015165-05DD-4DC0-B633-700FE39D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6] International Energy Agency, Key Questions on Energ">
            <a:extLst xmlns:a="http://schemas.openxmlformats.org/drawingml/2006/main">
              <a:ext uri="{FF2B5EF4-FFF2-40B4-BE49-F238E27FC236}">
                <a16:creationId xmlns:a16="http://schemas.microsoft.com/office/drawing/2014/main" id="{F3AF5DA0-F262-426F-BB8F-0B5B5B1F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[6] International Energy Agency, Key Questions on Energy and AI, executive summary, Apr. 16, 2026, CC BY 4.0, accessed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Oct. 8, 2026.</a:t>
            </a:r>
          </a:p>
        </p:txBody>
      </p:sp>
      <p:sp>
        <p:nvSpPr>
          <p:cNvPr id="4" name="https://www.iea.org/reports/key-questions-on-energy-and">
            <a:extLst xmlns:a="http://schemas.openxmlformats.org/drawingml/2006/main">
              <a:ext uri="{FF2B5EF4-FFF2-40B4-BE49-F238E27FC236}">
                <a16:creationId xmlns:a16="http://schemas.microsoft.com/office/drawing/2014/main" id="{B1E1AABB-B148-4987-B5CA-F34F1131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da6d44529e304ffa"/>
              </a:rPr>
              <a:t>https://www.iea.org/reports/key-questions-on-energy-and-ai/executive-summary</a:t>
            </a:r>
          </a:p>
        </p:txBody>
      </p:sp>
      <p:sp>
        <p:nvSpPr>
          <p:cNvPr id="5" name="[7] U.S. National Science Foundation, “NAIRR at 2 years">
            <a:extLst xmlns:a="http://schemas.openxmlformats.org/drawingml/2006/main">
              <a:ext uri="{FF2B5EF4-FFF2-40B4-BE49-F238E27FC236}">
                <a16:creationId xmlns:a16="http://schemas.microsoft.com/office/drawing/2014/main" id="{3EACE883-2AB6-4C12-973B-10C82961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[7] U.S. National Science Foundation, “NAIRR at 2 years: Advancing American artificial intelligence innovation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leadership,” Mar. 19, 2026, accessed Oct. 8, 2026.</a:t>
            </a:r>
          </a:p>
        </p:txBody>
      </p:sp>
      <p:sp>
        <p:nvSpPr>
          <p:cNvPr id="6" name="https://www.nsf.gov/cise/updates/nairr-2-years-advancin">
            <a:extLst xmlns:a="http://schemas.openxmlformats.org/drawingml/2006/main">
              <a:ext uri="{FF2B5EF4-FFF2-40B4-BE49-F238E27FC236}">
                <a16:creationId xmlns:a16="http://schemas.microsoft.com/office/drawing/2014/main" id="{0014E128-3AF1-484B-AEE7-F5F481CC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782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2669a3f91acb4ef7"/>
              </a:rPr>
              <a:t>https://www.nsf.gov/cise/updates/nairr-2-years-advancing-american-artificial-intelligence</a:t>
            </a:r>
          </a:p>
        </p:txBody>
      </p:sp>
      <p:sp>
        <p:nvSpPr>
          <p:cNvPr id="7" name="[8] E. Strubell, A. Ganesh, and A. McCallum, “Energy an">
            <a:extLst xmlns:a="http://schemas.openxmlformats.org/drawingml/2006/main">
              <a:ext uri="{FF2B5EF4-FFF2-40B4-BE49-F238E27FC236}">
                <a16:creationId xmlns:a16="http://schemas.microsoft.com/office/drawing/2014/main" id="{BC330876-59B8-45F2-AD6A-1BB11817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902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[8] E. Strubell, A. Ganesh, and A. McCallum, “Energy and policy considerations for deep learning in NLP,” in Proc. ACL,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2019, pp. 3645–3650, doi: 10.18653/v1/P19-1355.</a:t>
            </a:r>
          </a:p>
        </p:txBody>
      </p:sp>
      <p:sp>
        <p:nvSpPr>
          <p:cNvPr id="8" name="https://aclanthology.org/P19-1355/">
            <a:extLst xmlns:a="http://schemas.openxmlformats.org/drawingml/2006/main">
              <a:ext uri="{FF2B5EF4-FFF2-40B4-BE49-F238E27FC236}">
                <a16:creationId xmlns:a16="http://schemas.microsoft.com/office/drawing/2014/main" id="{ACA8C55C-FF84-48E2-A52E-61CEE6D3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128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4ff6e0aba36e4d63"/>
              </a:rPr>
              <a:t>https://aclanthology.org/P19-1355/</a:t>
            </a:r>
          </a:p>
        </p:txBody>
      </p:sp>
      <p:sp>
        <p:nvSpPr>
          <p:cNvPr id="9" name="[9] P. Li, J. Yang, M. A. Islam, and S. Ren, “Making AI">
            <a:extLst xmlns:a="http://schemas.openxmlformats.org/drawingml/2006/main">
              <a:ext uri="{FF2B5EF4-FFF2-40B4-BE49-F238E27FC236}">
                <a16:creationId xmlns:a16="http://schemas.microsoft.com/office/drawing/2014/main" id="{D33AB668-8BE2-4182-A810-BE9BCFBB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248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[9] P. Li, J. Yang, M. A. Islam, and S. Ren, “Making AI less ‘thirsty’: Uncovering and addressing the secret water footprint of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models,” arXiv:2304.03271v5, Mar. 26, 2025; first submitted 2023.</a:t>
            </a:r>
          </a:p>
        </p:txBody>
      </p:sp>
      <p:sp>
        <p:nvSpPr>
          <p:cNvPr id="10" name="https://arxiv.org/abs/2304.03271v5">
            <a:extLst xmlns:a="http://schemas.openxmlformats.org/drawingml/2006/main">
              <a:ext uri="{FF2B5EF4-FFF2-40B4-BE49-F238E27FC236}">
                <a16:creationId xmlns:a16="http://schemas.microsoft.com/office/drawing/2014/main" id="{6C77EB7F-99FA-499F-87A1-B510E1C5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474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4f5760b3e07d4a30"/>
              </a:rPr>
              <a:t>https://arxiv.org/abs/2304.03271v5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2588D-CA1E-43E3-9852-E8447733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4C07804A-495E-4E56-B996-90010D98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19 / 22">
            <a:extLst xmlns:a="http://schemas.openxmlformats.org/drawingml/2006/main">
              <a:ext uri="{FF2B5EF4-FFF2-40B4-BE49-F238E27FC236}">
                <a16:creationId xmlns:a16="http://schemas.microsoft.com/office/drawing/2014/main" id="{E940CBAE-5209-4414-B645-F50FDDFE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19 / 22</a:t>
            </a:r>
          </a:p>
        </p:txBody>
      </p:sp>
    </p:spTree>
    <p:extLst>
      <p:ext uri="{BB962C8B-B14F-4D97-AF65-F5344CB8AC3E}">
        <p14:creationId xmlns:p14="http://schemas.microsoft.com/office/powerpoint/2010/main" val="15946675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3/4">
            <a:extLst xmlns:a="http://schemas.openxmlformats.org/drawingml/2006/main">
              <a:ext uri="{FF2B5EF4-FFF2-40B4-BE49-F238E27FC236}">
                <a16:creationId xmlns:a16="http://schemas.microsoft.com/office/drawing/2014/main" id="{DCFEE9C2-9BD1-4277-8543-EAD85447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3/4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7D3867C5-21D8-4343-8365-540DB0A0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0] R. Schwartz, J. Dodge, N. A. Smith, and O. Etzioni">
            <a:extLst xmlns:a="http://schemas.openxmlformats.org/drawingml/2006/main">
              <a:ext uri="{FF2B5EF4-FFF2-40B4-BE49-F238E27FC236}">
                <a16:creationId xmlns:a16="http://schemas.microsoft.com/office/drawing/2014/main" id="{BC95AFBF-09F4-4DA6-87D4-3503A142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[10] R. Schwartz, J. Dodge, N. A. Smith, and O. Etzioni, “Green AI,” arXiv:1907.10597, 2019.</a:t>
            </a:r>
          </a:p>
        </p:txBody>
      </p:sp>
      <p:sp>
        <p:nvSpPr>
          <p:cNvPr id="4" name="https://arxiv.org/abs/1907.10597">
            <a:extLst xmlns:a="http://schemas.openxmlformats.org/drawingml/2006/main">
              <a:ext uri="{FF2B5EF4-FFF2-40B4-BE49-F238E27FC236}">
                <a16:creationId xmlns:a16="http://schemas.microsoft.com/office/drawing/2014/main" id="{14AAA5CB-0B28-4A78-9B2C-31F6ACAB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f099fc4686dc4fe9"/>
              </a:rPr>
              <a:t>https://arxiv.org/abs/1907.10597</a:t>
            </a:r>
          </a:p>
        </p:txBody>
      </p:sp>
      <p:sp>
        <p:nvSpPr>
          <p:cNvPr id="5" name="[11] L. Zhu, Z. Liu, and S. Han, “Deep leakage from gra">
            <a:extLst xmlns:a="http://schemas.openxmlformats.org/drawingml/2006/main">
              <a:ext uri="{FF2B5EF4-FFF2-40B4-BE49-F238E27FC236}">
                <a16:creationId xmlns:a16="http://schemas.microsoft.com/office/drawing/2014/main" id="{6861B7CE-D076-4D3B-B4CD-81AF0AB6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[11] L. Zhu, Z. Liu, and S. Han, “Deep leakage from gradients,” arXiv:1906.08935v2, 2019.</a:t>
            </a:r>
          </a:p>
        </p:txBody>
      </p:sp>
      <p:sp>
        <p:nvSpPr>
          <p:cNvPr id="6" name="https://arxiv.org/abs/1906.08935v2">
            <a:extLst xmlns:a="http://schemas.openxmlformats.org/drawingml/2006/main">
              <a:ext uri="{FF2B5EF4-FFF2-40B4-BE49-F238E27FC236}">
                <a16:creationId xmlns:a16="http://schemas.microsoft.com/office/drawing/2014/main" id="{90081116-2F01-4AAC-AF6D-5D3B0C41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f7998b51c6cd4819"/>
              </a:rPr>
              <a:t>https://arxiv.org/abs/1906.08935v2</a:t>
            </a:r>
          </a:p>
        </p:txBody>
      </p:sp>
      <p:sp>
        <p:nvSpPr>
          <p:cNvPr id="7" name="[12] I. O. Gallegos et al., “Bias and fairness in large">
            <a:extLst xmlns:a="http://schemas.openxmlformats.org/drawingml/2006/main">
              <a:ext uri="{FF2B5EF4-FFF2-40B4-BE49-F238E27FC236}">
                <a16:creationId xmlns:a16="http://schemas.microsoft.com/office/drawing/2014/main" id="{C2F47E53-48E1-403E-A33D-6F8E51A0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[12] I. O. Gallegos et al., “Bias and fairness in large language models: A survey,” Computational Linguistics, vol. 50, no. 3,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pp. 1097–1179, 2024, doi: 10.1162/coli_a_00524.</a:t>
            </a:r>
          </a:p>
        </p:txBody>
      </p:sp>
      <p:sp>
        <p:nvSpPr>
          <p:cNvPr id="8" name="https://aclanthology.org/2024.cl-3.8/">
            <a:extLst xmlns:a="http://schemas.openxmlformats.org/drawingml/2006/main">
              <a:ext uri="{FF2B5EF4-FFF2-40B4-BE49-F238E27FC236}">
                <a16:creationId xmlns:a16="http://schemas.microsoft.com/office/drawing/2014/main" id="{C21BA0EA-73DA-436A-BD67-C0D1C95E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522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7197438e7f97442c"/>
              </a:rPr>
              <a:t>https://aclanthology.org/2024.cl-3.8/</a:t>
            </a:r>
          </a:p>
        </p:txBody>
      </p:sp>
      <p:sp>
        <p:nvSpPr>
          <p:cNvPr id="9" name="[13] N. Ahmed and M. Wahed, “The de-democratization of ">
            <a:extLst xmlns:a="http://schemas.openxmlformats.org/drawingml/2006/main">
              <a:ext uri="{FF2B5EF4-FFF2-40B4-BE49-F238E27FC236}">
                <a16:creationId xmlns:a16="http://schemas.microsoft.com/office/drawing/2014/main" id="{37566F03-771E-4D85-BCF6-E6A3FB63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41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[13] N. Ahmed and M. Wahed, “The de-democratization of AI: Deep learning and the compute divide in artificial intelligence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research,” arXiv:2010.15581v1, 2020.</a:t>
            </a:r>
          </a:p>
        </p:txBody>
      </p:sp>
      <p:sp>
        <p:nvSpPr>
          <p:cNvPr id="10" name="https://arxiv.org/abs/2010.15581v1">
            <a:extLst xmlns:a="http://schemas.openxmlformats.org/drawingml/2006/main">
              <a:ext uri="{FF2B5EF4-FFF2-40B4-BE49-F238E27FC236}">
                <a16:creationId xmlns:a16="http://schemas.microsoft.com/office/drawing/2014/main" id="{23536EEA-95E1-4194-A05F-1DB6763A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a933511f895d4d7c"/>
              </a:rPr>
              <a:t>https://arxiv.org/abs/2010.15581v1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AF3A9-BD14-473A-84CE-8EAB5FD1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7A114711-0BAB-4906-914A-AB1D3227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20 / 22">
            <a:extLst xmlns:a="http://schemas.openxmlformats.org/drawingml/2006/main">
              <a:ext uri="{FF2B5EF4-FFF2-40B4-BE49-F238E27FC236}">
                <a16:creationId xmlns:a16="http://schemas.microsoft.com/office/drawing/2014/main" id="{FB60FA21-E367-4CBF-AA74-6E055A34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20 / 22</a:t>
            </a:r>
          </a:p>
        </p:txBody>
      </p:sp>
    </p:spTree>
    <p:extLst>
      <p:ext uri="{BB962C8B-B14F-4D97-AF65-F5344CB8AC3E}">
        <p14:creationId xmlns:p14="http://schemas.microsoft.com/office/powerpoint/2010/main" val="95776238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• References 4/4">
            <a:extLst xmlns:a="http://schemas.openxmlformats.org/drawingml/2006/main">
              <a:ext uri="{FF2B5EF4-FFF2-40B4-BE49-F238E27FC236}">
                <a16:creationId xmlns:a16="http://schemas.microsoft.com/office/drawing/2014/main" id="{FBEBC1B4-18EE-4FBE-B058-3493D6B7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4/4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1D5BE821-6B57-47CE-9BAA-947143A8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4] A. Radovanovic et al., “Carbon-aware computing for">
            <a:extLst xmlns:a="http://schemas.openxmlformats.org/drawingml/2006/main">
              <a:ext uri="{FF2B5EF4-FFF2-40B4-BE49-F238E27FC236}">
                <a16:creationId xmlns:a16="http://schemas.microsoft.com/office/drawing/2014/main" id="{DE2E4A94-D5A8-43A3-A90A-8F702ED2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[14] A. Radovanovic et al., “Carbon-aware computing for datacenters,” arXiv:2106.11750v1, 2021.</a:t>
            </a:r>
          </a:p>
        </p:txBody>
      </p:sp>
      <p:sp>
        <p:nvSpPr>
          <p:cNvPr id="4" name="https://arxiv.org/abs/2106.11750v1">
            <a:extLst xmlns:a="http://schemas.openxmlformats.org/drawingml/2006/main">
              <a:ext uri="{FF2B5EF4-FFF2-40B4-BE49-F238E27FC236}">
                <a16:creationId xmlns:a16="http://schemas.microsoft.com/office/drawing/2014/main" id="{4B4ACC1D-A2D2-4C12-B672-9DD030A8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7225bb7d6f9541f1"/>
              </a:rPr>
              <a:t>https://arxiv.org/abs/2106.11750v1</a:t>
            </a:r>
          </a:p>
        </p:txBody>
      </p:sp>
      <p:sp>
        <p:nvSpPr>
          <p:cNvPr id="5" name="[15] OECD, “OECD AI Principles,” adopted 2019, updated ">
            <a:extLst xmlns:a="http://schemas.openxmlformats.org/drawingml/2006/main">
              <a:ext uri="{FF2B5EF4-FFF2-40B4-BE49-F238E27FC236}">
                <a16:creationId xmlns:a16="http://schemas.microsoft.com/office/drawing/2014/main" id="{E5D6D23C-9743-4169-831D-6E313CAC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[15] OECD, “OECD AI Principles,” adopted 2019, updated 2024, accessed Oct. 8, 2026.</a:t>
            </a:r>
          </a:p>
        </p:txBody>
      </p:sp>
      <p:sp>
        <p:nvSpPr>
          <p:cNvPr id="6" name="https://www.oecd.org/en/topics/ai-principles.html">
            <a:extLst xmlns:a="http://schemas.openxmlformats.org/drawingml/2006/main">
              <a:ext uri="{FF2B5EF4-FFF2-40B4-BE49-F238E27FC236}">
                <a16:creationId xmlns:a16="http://schemas.microsoft.com/office/drawing/2014/main" id="{156792C4-7C88-4EF4-9D7C-AF00C676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2ec47857c3024467"/>
              </a:rPr>
              <a:t>https://www.oecd.org/en/topics/ai-principles.html</a:t>
            </a:r>
          </a:p>
        </p:txBody>
      </p:sp>
      <p:sp>
        <p:nvSpPr>
          <p:cNvPr id="7" name="[16] NIST, AI Risk Management Framework 1.0 Playbook, f">
            <a:extLst xmlns:a="http://schemas.openxmlformats.org/drawingml/2006/main">
              <a:ext uri="{FF2B5EF4-FFF2-40B4-BE49-F238E27FC236}">
                <a16:creationId xmlns:a16="http://schemas.microsoft.com/office/drawing/2014/main" id="{19A89224-E697-4520-A51A-EE040E47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[16] NIST, AI Risk Management Framework 1.0 Playbook, framework 2023, current online resource, accessed Oct. 8, 2026.</a:t>
            </a:r>
          </a:p>
        </p:txBody>
      </p:sp>
      <p:sp>
        <p:nvSpPr>
          <p:cNvPr id="8" name="https://airc.nist.gov/airmf-resources/playbook/">
            <a:extLst xmlns:a="http://schemas.openxmlformats.org/drawingml/2006/main">
              <a:ext uri="{FF2B5EF4-FFF2-40B4-BE49-F238E27FC236}">
                <a16:creationId xmlns:a16="http://schemas.microsoft.com/office/drawing/2014/main" id="{5CA73F98-3A6F-4C37-A39C-A3BCD166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53832ae45e854962"/>
              </a:rPr>
              <a:t>https://airc.nist.gov/airmf-resources/playbook/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B9574F-D1D0-4990-8BD4-2477B4F7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4D71415A-2FDB-4F22-B15E-7182F03A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1" name="21 / 22">
            <a:extLst xmlns:a="http://schemas.openxmlformats.org/drawingml/2006/main">
              <a:ext uri="{FF2B5EF4-FFF2-40B4-BE49-F238E27FC236}">
                <a16:creationId xmlns:a16="http://schemas.microsoft.com/office/drawing/2014/main" id="{F6091546-9D37-4D50-AE8B-B0653046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21 / 22</a:t>
            </a:r>
          </a:p>
        </p:txBody>
      </p:sp>
    </p:spTree>
    <p:extLst>
      <p:ext uri="{BB962C8B-B14F-4D97-AF65-F5344CB8AC3E}">
        <p14:creationId xmlns:p14="http://schemas.microsoft.com/office/powerpoint/2010/main" val="204212051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ppendix • AI declaration">
            <a:extLst xmlns:a="http://schemas.openxmlformats.org/drawingml/2006/main">
              <a:ext uri="{FF2B5EF4-FFF2-40B4-BE49-F238E27FC236}">
                <a16:creationId xmlns:a16="http://schemas.microsoft.com/office/drawing/2014/main" id="{EBD614B2-A30B-46F9-91A8-950EAC3F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AI declaration</a:t>
            </a:r>
          </a:p>
        </p:txBody>
      </p:sp>
      <p:sp>
        <p:nvSpPr>
          <p:cNvPr id="2" name="AI use declaration">
            <a:extLst xmlns:a="http://schemas.openxmlformats.org/drawingml/2006/main">
              <a:ext uri="{FF2B5EF4-FFF2-40B4-BE49-F238E27FC236}">
                <a16:creationId xmlns:a16="http://schemas.microsoft.com/office/drawing/2014/main" id="{ABEF68E6-4CAF-43F9-9456-C55114BC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AI use declaration</a:t>
            </a:r>
          </a:p>
        </p:txBody>
      </p:sp>
      <p:sp>
        <p:nvSpPr>
          <p:cNvPr id="3" name="AI model and tool">
            <a:extLst xmlns:a="http://schemas.openxmlformats.org/drawingml/2006/main">
              <a:ext uri="{FF2B5EF4-FFF2-40B4-BE49-F238E27FC236}">
                <a16:creationId xmlns:a16="http://schemas.microsoft.com/office/drawing/2014/main" id="{4387916E-2FC4-432E-923C-D5CE5F41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AI model and tool</a:t>
            </a:r>
          </a:p>
        </p:txBody>
      </p:sp>
      <p:sp>
        <p:nvSpPr>
          <p:cNvPr id="4" name="OpenAI GPT-6, accessed through Codex.">
            <a:extLst xmlns:a="http://schemas.openxmlformats.org/drawingml/2006/main">
              <a:ext uri="{FF2B5EF4-FFF2-40B4-BE49-F238E27FC236}">
                <a16:creationId xmlns:a16="http://schemas.microsoft.com/office/drawing/2014/main" id="{6833521E-9FE9-4294-94F3-D63C338E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OpenAI GPT-6, accessed through Codex.</a:t>
            </a:r>
          </a:p>
        </p:txBody>
      </p:sp>
      <p:sp>
        <p:nvSpPr>
          <p:cNvPr id="5" name="How AI was used">
            <a:extLst xmlns:a="http://schemas.openxmlformats.org/drawingml/2006/main">
              <a:ext uri="{FF2B5EF4-FFF2-40B4-BE49-F238E27FC236}">
                <a16:creationId xmlns:a16="http://schemas.microsoft.com/office/drawing/2014/main" id="{8C0E77F2-2C51-48EE-8F80-A1FE74D6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How AI was used</a:t>
            </a:r>
          </a:p>
        </p:txBody>
      </p:sp>
      <p:sp>
        <p:nvSpPr>
          <p:cNvPr id="6" name="Research and source checks; drafting and revision of ex">
            <a:extLst xmlns:a="http://schemas.openxmlformats.org/drawingml/2006/main">
              <a:ext uri="{FF2B5EF4-FFF2-40B4-BE49-F238E27FC236}">
                <a16:creationId xmlns:a16="http://schemas.microsoft.com/office/drawing/2014/main" id="{52C66B00-2B7F-4EB8-882B-37E6543D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and source checks; drafting and revision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of explanations and CUDA teaching examples;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creation of diagrams and charts; presentation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formatting and assembly.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F51B6-9AD4-461A-9DAB-473BD1A2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3873D-F375-49E1-BA16-4396E38A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9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4B210538-28EE-4B06-8779-4DB56C92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0" name="22 / 22">
            <a:extLst xmlns:a="http://schemas.openxmlformats.org/drawingml/2006/main">
              <a:ext uri="{FF2B5EF4-FFF2-40B4-BE49-F238E27FC236}">
                <a16:creationId xmlns:a16="http://schemas.microsoft.com/office/drawing/2014/main" id="{C45B6876-91A8-43E1-AC7A-85C1A00B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22 / 22</a:t>
            </a:r>
          </a:p>
        </p:txBody>
      </p:sp>
    </p:spTree>
    <p:extLst>
      <p:ext uri="{BB962C8B-B14F-4D97-AF65-F5344CB8AC3E}">
        <p14:creationId xmlns:p14="http://schemas.microsoft.com/office/powerpoint/2010/main" val="8081763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2026-10-08T13:40:56.3020000Z</dcterms:created>
  <dcterms:modified xsi:type="dcterms:W3CDTF">2026-10-08T13:40:56.3020000Z</dcterms:modified>
</coreProperties>
</file>