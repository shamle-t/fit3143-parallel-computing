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b0e883f6204b2b" /><Relationship Type="http://schemas.openxmlformats.org/officeDocument/2006/relationships/extended-properties" Target="/docProps/app.xml" Id="R712c78eb7cc044f4" /><Relationship Type="http://schemas.openxmlformats.org/officeDocument/2006/relationships/officeDocument" Target="/ppt/presentation.xml" Id="Rc1be09faa42e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e468bf28d48cf"/>
  </p:sldMasterIdLst>
  <p:notesMasterIdLst>
    <p:notesMasterId xmlns:r="http://schemas.openxmlformats.org/officeDocument/2006/relationships" r:id="R96f7c65f362f441c"/>
  </p:notesMasterIdLst>
  <p:sldIdLst>
    <p:sldId xmlns:r="http://schemas.openxmlformats.org/officeDocument/2006/relationships" id="256" r:id="R977f11d1a5484485"/>
    <p:sldId xmlns:r="http://schemas.openxmlformats.org/officeDocument/2006/relationships" id="257" r:id="Rc1fc50da3ad449dc"/>
    <p:sldId xmlns:r="http://schemas.openxmlformats.org/officeDocument/2006/relationships" id="258" r:id="Ra494b6f0a06b4447"/>
    <p:sldId xmlns:r="http://schemas.openxmlformats.org/officeDocument/2006/relationships" id="259" r:id="R78a703124c8441d0"/>
    <p:sldId xmlns:r="http://schemas.openxmlformats.org/officeDocument/2006/relationships" id="260" r:id="Rfa8d07e1aa104eee"/>
    <p:sldId xmlns:r="http://schemas.openxmlformats.org/officeDocument/2006/relationships" id="261" r:id="R35da11aa3a56455f"/>
    <p:sldId xmlns:r="http://schemas.openxmlformats.org/officeDocument/2006/relationships" id="262" r:id="Rbab261f20659453a"/>
    <p:sldId xmlns:r="http://schemas.openxmlformats.org/officeDocument/2006/relationships" id="263" r:id="Rf7af2740513c4ecc"/>
    <p:sldId xmlns:r="http://schemas.openxmlformats.org/officeDocument/2006/relationships" id="264" r:id="R64b21bdb46e244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f4b7f5832d44fb" /><Relationship Type="http://schemas.openxmlformats.org/officeDocument/2006/relationships/slideMaster" Target="/ppt/slideMasters/slideMaster1.xml" Id="Rbdbe468bf28d48cf" /><Relationship Type="http://schemas.openxmlformats.org/officeDocument/2006/relationships/notesMaster" Target="/ppt/notesMasters/notesMaster1.xml" Id="R96f7c65f362f441c" /><Relationship Type="http://schemas.openxmlformats.org/officeDocument/2006/relationships/presProps" Target="/ppt/presProps.xml" Id="Rcbd157a5c50d4cb8" /><Relationship Type="http://schemas.openxmlformats.org/officeDocument/2006/relationships/tableStyles" Target="/ppt/tableStyles.xml" Id="R270b4a1679124f2b" /><Relationship Type="http://schemas.openxmlformats.org/officeDocument/2006/relationships/slide" Target="/ppt/slides/slide1.xml" Id="R977f11d1a5484485" /><Relationship Type="http://schemas.openxmlformats.org/officeDocument/2006/relationships/slide" Target="/ppt/slides/slide2.xml" Id="Rc1fc50da3ad449dc" /><Relationship Type="http://schemas.openxmlformats.org/officeDocument/2006/relationships/slide" Target="/ppt/slides/slide3.xml" Id="Ra494b6f0a06b4447" /><Relationship Type="http://schemas.openxmlformats.org/officeDocument/2006/relationships/slide" Target="/ppt/slides/slide4.xml" Id="R78a703124c8441d0" /><Relationship Type="http://schemas.openxmlformats.org/officeDocument/2006/relationships/slide" Target="/ppt/slides/slide5.xml" Id="Rfa8d07e1aa104eee" /><Relationship Type="http://schemas.openxmlformats.org/officeDocument/2006/relationships/slide" Target="/ppt/slides/slide6.xml" Id="R35da11aa3a56455f" /><Relationship Type="http://schemas.openxmlformats.org/officeDocument/2006/relationships/slide" Target="/ppt/slides/slide7.xml" Id="Rbab261f20659453a" /><Relationship Type="http://schemas.openxmlformats.org/officeDocument/2006/relationships/slide" Target="/ppt/slides/slide8.xml" Id="Rf7af2740513c4ecc" /><Relationship Type="http://schemas.openxmlformats.org/officeDocument/2006/relationships/slide" Target="/ppt/slides/slide9.xml" Id="R64b21bdb46e244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1b8636a096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c3bd4de7e0463d" /><Relationship Type="http://schemas.openxmlformats.org/officeDocument/2006/relationships/notesMaster" Target="/ppt/notesMasters/notesMaster1.xml" Id="R0d508599c4f54a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aee9be3fe64619" /><Relationship Type="http://schemas.openxmlformats.org/officeDocument/2006/relationships/notesMaster" Target="/ppt/notesMasters/notesMaster1.xml" Id="Rd30530668d084d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0e3bf2d04f4b82" /><Relationship Type="http://schemas.openxmlformats.org/officeDocument/2006/relationships/notesMaster" Target="/ppt/notesMasters/notesMaster1.xml" Id="R3b1163d4653842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4aa794b88e4a03" /><Relationship Type="http://schemas.openxmlformats.org/officeDocument/2006/relationships/notesMaster" Target="/ppt/notesMasters/notesMaster1.xml" Id="R77338fb3790547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9bf50c19c041c3" /><Relationship Type="http://schemas.openxmlformats.org/officeDocument/2006/relationships/notesMaster" Target="/ppt/notesMasters/notesMaster1.xml" Id="R09eaac61504647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f073296f2544f2" /><Relationship Type="http://schemas.openxmlformats.org/officeDocument/2006/relationships/notesMaster" Target="/ppt/notesMasters/notesMaster1.xml" Id="R8d563543ab584f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7d9c11a1574f95" /><Relationship Type="http://schemas.openxmlformats.org/officeDocument/2006/relationships/notesMaster" Target="/ppt/notesMasters/notesMaster1.xml" Id="R3e78d9ca511148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2fa948aafa43f2" /><Relationship Type="http://schemas.openxmlformats.org/officeDocument/2006/relationships/notesMaster" Target="/ppt/notesMasters/notesMaster1.xml" Id="R43e6db1783a54c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67e8595ff9499c" /><Relationship Type="http://schemas.openxmlformats.org/officeDocument/2006/relationships/notesMaster" Target="/ppt/notesMasters/notesMaster1.xml" Id="R6ac771103d0843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results/n_scaling.csv and results/openmp_n_scaling.csv.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results/n_scaling.csv and results/openmp_n_scaling.csv.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results/task1_process_scaling.csv.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6e4d498a647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029f74c684fcf" /><Relationship Type="http://schemas.openxmlformats.org/officeDocument/2006/relationships/slideLayout" Target="/ppt/slideLayouts/slideLayout1.xml" Id="R21723b533ab6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23b533ab6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c673ef9ae4728" /><Relationship Type="http://schemas.openxmlformats.org/officeDocument/2006/relationships/notesSlide" Target="/ppt/notesSlides/notesSlide1.xml" Id="R8b745f7e6e1a42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732c8e1b040ee" /><Relationship Type="http://schemas.openxmlformats.org/officeDocument/2006/relationships/notesSlide" Target="/ppt/notesSlides/notesSlide2.xml" Id="Rce46d2b66f264f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5fed947354dac" /><Relationship Type="http://schemas.openxmlformats.org/officeDocument/2006/relationships/notesSlide" Target="/ppt/notesSlides/notesSlide3.xml" Id="R10f2402928bc47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211465a8a4502" /><Relationship Type="http://schemas.openxmlformats.org/officeDocument/2006/relationships/image" Target="/ppt/media/image.png" Id="R792c1e668ec94645" /><Relationship Type="http://schemas.openxmlformats.org/officeDocument/2006/relationships/notesSlide" Target="/ppt/notesSlides/notesSlide4.xml" Id="R670125828c1d4a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9f0581d1f438e" /><Relationship Type="http://schemas.openxmlformats.org/officeDocument/2006/relationships/image" Target="/ppt/media/image2.png" Id="Ra50bd3b48a4f4a2c" /><Relationship Type="http://schemas.openxmlformats.org/officeDocument/2006/relationships/notesSlide" Target="/ppt/notesSlides/notesSlide5.xml" Id="R82996e0375a046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b733c11b24d2f" /><Relationship Type="http://schemas.openxmlformats.org/officeDocument/2006/relationships/image" Target="/ppt/media/image3.png" Id="R7745fdfcccc4447d" /><Relationship Type="http://schemas.openxmlformats.org/officeDocument/2006/relationships/image" Target="/ppt/media/image4.png" Id="R46637d8cc6864a26" /><Relationship Type="http://schemas.openxmlformats.org/officeDocument/2006/relationships/notesSlide" Target="/ppt/notesSlides/notesSlide6.xml" Id="R993fbf80f07243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8bf410c424e82" /><Relationship Type="http://schemas.openxmlformats.org/officeDocument/2006/relationships/notesSlide" Target="/ppt/notesSlides/notesSlide7.xml" Id="Rf5a788bba3d148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ca6125aad4790" /><Relationship Type="http://schemas.openxmlformats.org/officeDocument/2006/relationships/image" Target="/ppt/media/image5.png" Id="Rb7ee71c73eae498d" /><Relationship Type="http://schemas.openxmlformats.org/officeDocument/2006/relationships/image" Target="/ppt/media/image6.png" Id="R0ec1a663bb8f4118" /><Relationship Type="http://schemas.openxmlformats.org/officeDocument/2006/relationships/notesSlide" Target="/ppt/notesSlides/notesSlide8.xml" Id="Ra65f6aab9b5443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ba859e2004d37" /><Relationship Type="http://schemas.openxmlformats.org/officeDocument/2006/relationships/image" Target="/ppt/media/image7.png" Id="Rd9b191f1960243ba" /><Relationship Type="http://schemas.openxmlformats.org/officeDocument/2006/relationships/notesSlide" Target="/ppt/notesSlides/notesSlide9.xml" Id="Raf027750794f43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7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3EE4D-47C5-4FBA-9C6E-901BF04F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FIT3143 Week 8 Lab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16205-3AF7-4C42-8CD5-F4F778EC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F0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F0EE"/>
                </a:solidFill>
                <a:latin typeface="Arial"/>
                <a:ea typeface="Arial"/>
                <a:cs typeface="Arial"/>
              </a:rPr>
              <a:t>Open MPI and Hybrid OpenMP Prime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719A3-18F9-4979-A2E9-55567BA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BF769-F354-44C9-82D3-5D763D62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F0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F0EE"/>
                </a:solidFill>
                <a:latin typeface="Arial"/>
                <a:ea typeface="Arial"/>
                <a:cs typeface="Arial"/>
              </a:rPr>
              <a:t>7-minute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56437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F1FC9-65C2-4188-967F-533F0333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F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DCD3C-812F-403B-A931-1DF8ED17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5F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F73"/>
                </a:solidFill>
                <a:latin typeface="Arial"/>
                <a:ea typeface="Arial"/>
                <a:cs typeface="Arial"/>
              </a:rPr>
              <a:t>Experimental environment and correctness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B56EF-D178-41E2-976F-0B86742C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Single-node local Open MPI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FC870-FBC6-45CE-8220-C427B4BE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533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WSL2 Ubuntu, Open MPI 4.1.6</a:t>
            </a:r>
          </a:p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Intel Core i7-13700H: 14 physical cores, 20 logical CPUs</a:t>
            </a:r>
          </a:p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n = 60,000,000; 4 MPI ranks × 2 OpenMP threads</a:t>
            </a:r>
          </a:p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Median of three end-to-end runs for scaling results</a:t>
            </a:r>
          </a:p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End-to-end time includes communication, root merge, and file writing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71DCD-E028-4651-BF0A-F89A65F8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Independent output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AB293-A63D-4F7E-839B-AD936C71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4381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Both Task 1 and Task 2 produced 3,562,115 primes.</a:t>
            </a:r>
          </a:p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A separate sieve compared every output value against all expected primes below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Result: sorted, unique, complete, and prime-only output.</a:t>
            </a:r>
          </a:p>
        </p:txBody>
      </p:sp>
    </p:spTree>
    <p:extLst>
      <p:ext uri="{BB962C8B-B14F-4D97-AF65-F5344CB8AC3E}">
        <p14:creationId xmlns:p14="http://schemas.microsoft.com/office/powerpoint/2010/main" val="390783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AAD5A-DF3C-439E-9697-6E82FEBE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F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3375E-6825-4EC2-8B0D-79D5FD7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5F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F73"/>
                </a:solidFill>
                <a:latin typeface="Arial"/>
                <a:ea typeface="Arial"/>
                <a:cs typeface="Arial"/>
              </a:rPr>
              <a:t>Task 1 workload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7A3A1-093D-41A5-A41A-4AEA0288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Odd candidates only. Rank r owns indices r, r+p, r+2p, 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240E2-B493-4643-BD4B-801D6DC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Cyclic ownership balances candidate magnitude as well as count. Each rank receives a mix of cheap composites and expensive large prime candidates. Rank 0 merges sorted rank lists in O(m log p) while writing the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44E41-A1F5-4298-B413-648B1374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Measured 4-rank balance at n = 60M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4C583-1912-4085-BDA0-5E41AA85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Rank 0: 6.418 s   Rank 1: 6.393 s</a:t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Rank 2: 6.385 s   Rank 3: 6.497 s</a:t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Candidate-count range: 7,499,999–7,500,000</a:t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Max/min computation-time ratio: 1.017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02752-3C4E-441C-9FAB-40B5BF23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Conclusion: cyclic partitioning is balanced for the non-uniform trial-division kernel.</a:t>
            </a:r>
          </a:p>
        </p:txBody>
      </p:sp>
    </p:spTree>
    <p:extLst>
      <p:ext uri="{BB962C8B-B14F-4D97-AF65-F5344CB8AC3E}">
        <p14:creationId xmlns:p14="http://schemas.microsoft.com/office/powerpoint/2010/main" val="1005907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AC196-AE3F-40FA-A9CA-E462A6EF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F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B3683-8C3E-4776-B5A2-943A707F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5F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F73"/>
                </a:solidFill>
                <a:latin typeface="Arial"/>
                <a:ea typeface="Arial"/>
                <a:cs typeface="Arial"/>
              </a:rPr>
              <a:t>Task 1 runtime as n increases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c1e668ec94645"/>
          <a:stretch xmlns:a="http://schemas.openxmlformats.org/drawingml/2006/main"/>
        </p:blipFill>
        <p:spPr>
          <a:xfrm xmlns:a="http://schemas.openxmlformats.org/drawingml/2006/main">
            <a:off x="2127250" y="1238250"/>
            <a:ext cx="79375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37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430D1-6C4D-47A4-85C5-7AF0134A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F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D9EB4-3572-43A3-813C-B6943989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5F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F73"/>
                </a:solidFill>
                <a:latin typeface="Arial"/>
                <a:ea typeface="Arial"/>
                <a:cs typeface="Arial"/>
              </a:rPr>
              <a:t>Task 1 empirical speedup as n increases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bd3b48a4f4a2c"/>
          <a:stretch xmlns:a="http://schemas.openxmlformats.org/drawingml/2006/main"/>
        </p:blipFill>
        <p:spPr>
          <a:xfrm xmlns:a="http://schemas.openxmlformats.org/drawingml/2006/main">
            <a:off x="2127250" y="1238250"/>
            <a:ext cx="79375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33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9F1BD-87A9-4BC9-B836-2C25F793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F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3526D-A523-42B2-B4F9-9B868F6C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5F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F73"/>
                </a:solidFill>
                <a:latin typeface="Arial"/>
                <a:ea typeface="Arial"/>
                <a:cs typeface="Arial"/>
              </a:rPr>
              <a:t>Task 1 process scaling and Amdahl analysis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5fdfcccc4447d"/>
          <a:stretch xmlns:a="http://schemas.openxmlformats.org/drawingml/2006/main"/>
        </p:blipFill>
        <p:spPr>
          <a:xfrm xmlns:a="http://schemas.openxmlformats.org/drawingml/2006/main">
            <a:off x="619125" y="1590675"/>
            <a:ext cx="5334000" cy="32004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37d8cc6864a26"/>
          <a:stretch xmlns:a="http://schemas.openxmlformats.org/drawingml/2006/main"/>
        </p:blipFill>
        <p:spPr>
          <a:xfrm xmlns:a="http://schemas.openxmlformats.org/drawingml/2006/main">
            <a:off x="6238875" y="1590675"/>
            <a:ext cx="5334000" cy="3200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76416-F937-4F39-9BAC-F073B80D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At 16 MPI ranks, empirical speedup is 6.66×. The Amdahl curve is higher because it does not model increasing collective latency or root-only file output.</a:t>
            </a:r>
          </a:p>
        </p:txBody>
      </p:sp>
    </p:spTree>
    <p:extLst>
      <p:ext uri="{BB962C8B-B14F-4D97-AF65-F5344CB8AC3E}">
        <p14:creationId xmlns:p14="http://schemas.microsoft.com/office/powerpoint/2010/main" val="1204642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7FFC3-2F13-4A73-971B-85A03891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F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ECF3C-12E3-453D-B794-6CB123E8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5F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F73"/>
                </a:solidFill>
                <a:latin typeface="Arial"/>
                <a:ea typeface="Arial"/>
                <a:cs typeface="Arial"/>
              </a:rPr>
              <a:t>Task 2 hybrid decomposition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E84D8-0731-4BD5-A64E-AB1043AB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MPI distributes cyclic candidate sets across processes. Each process applies OpenMP dynamic scheduling to its local candidates.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C2D0B-5985-4A43-A407-2B0A2D2C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Measured 4-rank × 2-thread balance at n = 60M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54769-2F51-4BA0-B39B-CC6AC5B8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Rank 0: 4.264 s   Rank 1: 4.434 s</a:t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Rank 2: 4.493 s   Rank 3: 4.431 s</a:t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Candidate-count range: 7,499,999–7,500,000</a:t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Max/min computation-time ratio: 1.054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B3CC4-19BC-4DD1-ABE6-2C80C8B2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Dynamic OpenMP scheduling smooths residual cost variation after MPI’s cyclic partitioning.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98FF5-18B4-45BE-B96A-406AB5B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Task 2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BC226-2244-4D44-84F0-27394E37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4 ranks × 2 threads</a:t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5.054 s representative run</a:t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6.97 s Task 1 representative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Hybrid reduces elapsed time while retaining globally ordered output.</a:t>
            </a:r>
          </a:p>
        </p:txBody>
      </p:sp>
    </p:spTree>
    <p:extLst>
      <p:ext uri="{BB962C8B-B14F-4D97-AF65-F5344CB8AC3E}">
        <p14:creationId xmlns:p14="http://schemas.microsoft.com/office/powerpoint/2010/main" val="19952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BEB51-6BFF-4E9A-BED2-B4422E4D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F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6EEC2-6579-491E-A0CB-2F6286F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5F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F73"/>
                </a:solidFill>
                <a:latin typeface="Arial"/>
                <a:ea typeface="Arial"/>
                <a:cs typeface="Arial"/>
              </a:rPr>
              <a:t>Hybrid scalability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e71c73eae498d"/>
          <a:stretch xmlns:a="http://schemas.openxmlformats.org/drawingml/2006/main"/>
        </p:blipFill>
        <p:spPr>
          <a:xfrm xmlns:a="http://schemas.openxmlformats.org/drawingml/2006/main">
            <a:off x="571500" y="1447800"/>
            <a:ext cx="5334000" cy="32004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1a663bb8f4118"/>
          <a:stretch xmlns:a="http://schemas.openxmlformats.org/drawingml/2006/main"/>
        </p:blipFill>
        <p:spPr>
          <a:xfrm xmlns:a="http://schemas.openxmlformats.org/drawingml/2006/main">
            <a:off x="6286500" y="1447800"/>
            <a:ext cx="5334000" cy="3200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8BBB5-61B8-464F-A3D0-C7B9A3B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8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Four ranks × four threads reached 6.63× speedup. Larger thread counts oversubscribe the available cores and lower efficiency.</a:t>
            </a:r>
          </a:p>
        </p:txBody>
      </p:sp>
    </p:spTree>
    <p:extLst>
      <p:ext uri="{BB962C8B-B14F-4D97-AF65-F5344CB8AC3E}">
        <p14:creationId xmlns:p14="http://schemas.microsoft.com/office/powerpoint/2010/main" val="1314207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5A3DD-221F-4227-92AE-835017EC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F7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C5C25-1AD9-447F-BCF1-4D15E3A6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5F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5F73"/>
                </a:solidFill>
                <a:latin typeface="Arial"/>
                <a:ea typeface="Arial"/>
                <a:cs typeface="Arial"/>
              </a:rPr>
              <a:t>Hybrid Amdahl analysis, limitations, and Q&amp;A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191f1960243ba"/>
          <a:stretch xmlns:a="http://schemas.openxmlformats.org/drawingml/2006/main"/>
        </p:blipFill>
        <p:spPr>
          <a:xfrm xmlns:a="http://schemas.openxmlformats.org/drawingml/2006/main">
            <a:off x="619125" y="1295400"/>
            <a:ext cx="5524500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2286F-49F7-4D54-9423-EB9AA5A7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Why empirical speedup is lower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4802B-F79C-4EB1-B370-8BD3F86A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7162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7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MPI collective latency rises with rank count</a:t>
            </a:r>
          </a:p>
          <a:p xmlns:a="http://schemas.openxmlformats.org/drawingml/2006/main">
            <a:pPr>
              <a:defRPr sz="157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Rank 0 still merges and writes the result</a:t>
            </a:r>
          </a:p>
          <a:p xmlns:a="http://schemas.openxmlformats.org/drawingml/2006/main">
            <a:pPr>
              <a:defRPr sz="157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Memory bandwidth and scheduling contend at high worker counts</a:t>
            </a:r>
          </a:p>
          <a:p xmlns:a="http://schemas.openxmlformats.org/drawingml/2006/main">
            <a:pPr>
              <a:defRPr sz="1575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• Amdahl assumes an ideal fixed serial fraction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CCB09-1C42-4F6B-A679-4AFE8B4F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4C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4C5A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070C3-02AC-4E1D-B115-D495FEB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52875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6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63A"/>
                </a:solidFill>
                <a:latin typeface="Arial"/>
                <a:ea typeface="Arial"/>
                <a:cs typeface="Arial"/>
              </a:rPr>
              <a:t>Open MPI enables distributed-memory execution across nodes, but this fine-grained kernel pays communication and root-aggregation overhead. Hybrid OpenMP improves local compute throughput; oversubscription reduces efficiency.</a:t>
            </a:r>
          </a:p>
        </p:txBody>
      </p:sp>
    </p:spTree>
    <p:extLst>
      <p:ext uri="{BB962C8B-B14F-4D97-AF65-F5344CB8AC3E}">
        <p14:creationId xmlns:p14="http://schemas.microsoft.com/office/powerpoint/2010/main" val="68726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2026-09-17T20:48:38.6460000Z</dcterms:created>
  <dcterms:modified xsi:type="dcterms:W3CDTF">2026-09-17T20:48:38.6470000Z</dcterms:modified>
</coreProperties>
</file>