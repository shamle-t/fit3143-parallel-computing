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469eac7f0e404c" /><Relationship Type="http://schemas.openxmlformats.org/officeDocument/2006/relationships/extended-properties" Target="/docProps/app.xml" Id="R5af89d1a00de42ab" /><Relationship Type="http://schemas.openxmlformats.org/officeDocument/2006/relationships/officeDocument" Target="/ppt/presentation.xml" Id="R181bea09b82d44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17a3f916fc40d0"/>
  </p:sldMasterIdLst>
  <p:notesMasterIdLst>
    <p:notesMasterId xmlns:r="http://schemas.openxmlformats.org/officeDocument/2006/relationships" r:id="Rf6e63dac634f4300"/>
  </p:notesMasterIdLst>
  <p:sldIdLst>
    <p:sldId xmlns:r="http://schemas.openxmlformats.org/officeDocument/2006/relationships" id="256" r:id="Rcbab69fcf0af4e20"/>
    <p:sldId xmlns:r="http://schemas.openxmlformats.org/officeDocument/2006/relationships" id="257" r:id="R974d4be34f5347b2"/>
    <p:sldId xmlns:r="http://schemas.openxmlformats.org/officeDocument/2006/relationships" id="258" r:id="R9793895da95045be"/>
    <p:sldId xmlns:r="http://schemas.openxmlformats.org/officeDocument/2006/relationships" id="259" r:id="Re0042c236d1c4a71"/>
    <p:sldId xmlns:r="http://schemas.openxmlformats.org/officeDocument/2006/relationships" id="260" r:id="R8ed0bfd7d4b24d51"/>
    <p:sldId xmlns:r="http://schemas.openxmlformats.org/officeDocument/2006/relationships" id="261" r:id="R5a34c7ecf24b4125"/>
    <p:sldId xmlns:r="http://schemas.openxmlformats.org/officeDocument/2006/relationships" id="262" r:id="Rb1533653e6334c17"/>
    <p:sldId xmlns:r="http://schemas.openxmlformats.org/officeDocument/2006/relationships" id="263" r:id="R9cc941e1a2c1452a"/>
    <p:sldId xmlns:r="http://schemas.openxmlformats.org/officeDocument/2006/relationships" id="264" r:id="R26a077af2cbf4f22"/>
    <p:sldId xmlns:r="http://schemas.openxmlformats.org/officeDocument/2006/relationships" id="265" r:id="R4829b838392d4874"/>
    <p:sldId xmlns:r="http://schemas.openxmlformats.org/officeDocument/2006/relationships" id="266" r:id="Ra36b7c6c78484b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41fbcceb3c4788" /><Relationship Type="http://schemas.openxmlformats.org/officeDocument/2006/relationships/slideMaster" Target="/ppt/slideMasters/slideMaster1.xml" Id="Rd717a3f916fc40d0" /><Relationship Type="http://schemas.openxmlformats.org/officeDocument/2006/relationships/notesMaster" Target="/ppt/notesMasters/notesMaster1.xml" Id="Rf6e63dac634f4300" /><Relationship Type="http://schemas.openxmlformats.org/officeDocument/2006/relationships/presProps" Target="/ppt/presProps.xml" Id="R4a0217ae7b9e453c" /><Relationship Type="http://schemas.openxmlformats.org/officeDocument/2006/relationships/tableStyles" Target="/ppt/tableStyles.xml" Id="R42c07c904f4a4f7a" /><Relationship Type="http://schemas.openxmlformats.org/officeDocument/2006/relationships/slide" Target="/ppt/slides/slide1.xml" Id="Rcbab69fcf0af4e20" /><Relationship Type="http://schemas.openxmlformats.org/officeDocument/2006/relationships/slide" Target="/ppt/slides/slide2.xml" Id="R974d4be34f5347b2" /><Relationship Type="http://schemas.openxmlformats.org/officeDocument/2006/relationships/slide" Target="/ppt/slides/slide3.xml" Id="R9793895da95045be" /><Relationship Type="http://schemas.openxmlformats.org/officeDocument/2006/relationships/slide" Target="/ppt/slides/slide4.xml" Id="Re0042c236d1c4a71" /><Relationship Type="http://schemas.openxmlformats.org/officeDocument/2006/relationships/slide" Target="/ppt/slides/slide5.xml" Id="R8ed0bfd7d4b24d51" /><Relationship Type="http://schemas.openxmlformats.org/officeDocument/2006/relationships/slide" Target="/ppt/slides/slide6.xml" Id="R5a34c7ecf24b4125" /><Relationship Type="http://schemas.openxmlformats.org/officeDocument/2006/relationships/slide" Target="/ppt/slides/slide7.xml" Id="Rb1533653e6334c17" /><Relationship Type="http://schemas.openxmlformats.org/officeDocument/2006/relationships/slide" Target="/ppt/slides/slide8.xml" Id="R9cc941e1a2c1452a" /><Relationship Type="http://schemas.openxmlformats.org/officeDocument/2006/relationships/slide" Target="/ppt/slides/slide9.xml" Id="R26a077af2cbf4f22" /><Relationship Type="http://schemas.openxmlformats.org/officeDocument/2006/relationships/slide" Target="/ppt/slides/slide10.xml" Id="R4829b838392d4874" /><Relationship Type="http://schemas.openxmlformats.org/officeDocument/2006/relationships/slide" Target="/ppt/slides/slide11.xml" Id="Ra36b7c6c78484b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143f49321941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e10f8164ea4988" /><Relationship Type="http://schemas.openxmlformats.org/officeDocument/2006/relationships/notesMaster" Target="/ppt/notesMasters/notesMaster1.xml" Id="R64f197df514d49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e4e33180ff4f1b" /><Relationship Type="http://schemas.openxmlformats.org/officeDocument/2006/relationships/notesMaster" Target="/ppt/notesMasters/notesMaster1.xml" Id="R3a4aa4d5814d4c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4063bcee304fe2" /><Relationship Type="http://schemas.openxmlformats.org/officeDocument/2006/relationships/notesMaster" Target="/ppt/notesMasters/notesMaster1.xml" Id="R63322c0d4c914f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ad53094522435c" /><Relationship Type="http://schemas.openxmlformats.org/officeDocument/2006/relationships/notesMaster" Target="/ppt/notesMasters/notesMaster1.xml" Id="Rced24f42c20941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9bc1a4a18f4301" /><Relationship Type="http://schemas.openxmlformats.org/officeDocument/2006/relationships/notesMaster" Target="/ppt/notesMasters/notesMaster1.xml" Id="Rf54e69376d4146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6a73988e54443e" /><Relationship Type="http://schemas.openxmlformats.org/officeDocument/2006/relationships/notesMaster" Target="/ppt/notesMasters/notesMaster1.xml" Id="R020aefd6f95b4e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07f755e2d546f2" /><Relationship Type="http://schemas.openxmlformats.org/officeDocument/2006/relationships/notesMaster" Target="/ppt/notesMasters/notesMaster1.xml" Id="Rd49e8042c7b847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610c04fd314fd8" /><Relationship Type="http://schemas.openxmlformats.org/officeDocument/2006/relationships/notesMaster" Target="/ppt/notesMasters/notesMaster1.xml" Id="R75e942d9bb4148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51b78c1db04848" /><Relationship Type="http://schemas.openxmlformats.org/officeDocument/2006/relationships/notesMaster" Target="/ppt/notesMasters/notesMaster1.xml" Id="Refdac67cfd5849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05b3578efe4540" /><Relationship Type="http://schemas.openxmlformats.org/officeDocument/2006/relationships/notesMaster" Target="/ppt/notesMasters/notesMaster1.xml" Id="Rd95f6b3b0a7f40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61c278dacb4714" /><Relationship Type="http://schemas.openxmlformats.org/officeDocument/2006/relationships/notesMaster" Target="/ppt/notesMasters/notesMaster1.xml" Id="R4fd557d6f5f647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results/local_cluster_execution.txt; scripts/verify_correctness.sh; results/n_scaling.csv; results/task1_process_scaling.csv;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results/partition_balance.csv. Each value is the median of three runs at n=20,000,000. The strategy comparison uses identical primality testing, merge and output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results/n_scaling.csv (current serial and MPI sweep) and results/openmp_n_scaling.csv (prior Week 4 OpenMP sweep). Both use the same machine, n values and 4 workers, but were measured in separate sessions; absolute runtime may include session noise.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MPI speedup from results/n_scaling.csv. OpenMP speedup = results/task3_n_scaling.csv serial_total divided by results/openmp_n_scaling.csv openmp_time for the same n. This avoids mixing serial baselines across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 3 sources: results/task1_process_scaling.csv and results/openmp_thread_scaling.csv. Graph 6 source: results/task1_process_scaling.csv. Process-scaling points are medians of three runs at n=60,000,000.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results/local_cluster_execution.txt. This representative run records per-rank compute times, candidate-count range, total runtime, commands and exact sorted-output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results/hybrid_scaling.csv and results/openmp_thread_scaling.csv. Hybrid points are medians of three runs at n=60,000,000. Graph 5 compares equal total worker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results/hybrid_scaling.csv. Amdahl serial fraction is measured from the one-worker hybrid run: Ts=0.411327 s, Tp=23.749574 s, fs=0.017024. Main presentation ends here; appendix slides are for Q&amp;A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results/partition_balance.csv, results/task1_process_scaling.csv and results/hybrid_scaling.csv.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distinguishes verified files from evidence that must be created by the students. The prompt-record PDF must be exported from the actual AI conversation, and execution screenshots must show an authentic CAAS or terminal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2592193774b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d088aed3d24dc6" /><Relationship Type="http://schemas.openxmlformats.org/officeDocument/2006/relationships/slideLayout" Target="/ppt/slideLayouts/slideLayout1.xml" Id="Rdb9f6cfc6efe4a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9f6cfc6efe4a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d455da0ff4602" /><Relationship Type="http://schemas.openxmlformats.org/officeDocument/2006/relationships/notesSlide" Target="/ppt/notesSlides/notesSlide1.xml" Id="Reb7a4be2aeae4a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b305e1bca4390" /><Relationship Type="http://schemas.openxmlformats.org/officeDocument/2006/relationships/notesSlide" Target="/ppt/notesSlides/notesSlide2.xml" Id="R6af381485a4f4a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64e9a45a6486f" /><Relationship Type="http://schemas.openxmlformats.org/officeDocument/2006/relationships/notesSlide" Target="/ppt/notesSlides/notesSlide3.xml" Id="Re6c492e530794c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d23c9171a40bf" /><Relationship Type="http://schemas.openxmlformats.org/officeDocument/2006/relationships/chart" Target="/ppt/slides/charts/chart1.xml" Id="Red0ab00d7127467c" /><Relationship Type="http://schemas.openxmlformats.org/officeDocument/2006/relationships/notesSlide" Target="/ppt/notesSlides/notesSlide4.xml" Id="R8bedec6fca5f4a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2263b70924a2a" /><Relationship Type="http://schemas.openxmlformats.org/officeDocument/2006/relationships/chart" Target="/ppt/slides/charts/chart2.xml" Id="R494ba48086c443e8" /><Relationship Type="http://schemas.openxmlformats.org/officeDocument/2006/relationships/notesSlide" Target="/ppt/notesSlides/notesSlide5.xml" Id="R481e71df20ab48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e1676a3524c69" /><Relationship Type="http://schemas.openxmlformats.org/officeDocument/2006/relationships/chart" Target="/ppt/slides/charts/chart3.xml" Id="Rc4b5246718d84231" /><Relationship Type="http://schemas.openxmlformats.org/officeDocument/2006/relationships/chart" Target="/ppt/slides/charts/chart4.xml" Id="R58f816994f154a44" /><Relationship Type="http://schemas.openxmlformats.org/officeDocument/2006/relationships/notesSlide" Target="/ppt/notesSlides/notesSlide6.xml" Id="R7736806a3fa749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29889688142da" /><Relationship Type="http://schemas.openxmlformats.org/officeDocument/2006/relationships/notesSlide" Target="/ppt/notesSlides/notesSlide7.xml" Id="Reac916e056b946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02c3e8b4040a9" /><Relationship Type="http://schemas.openxmlformats.org/officeDocument/2006/relationships/chart" Target="/ppt/slides/charts/chart5.xml" Id="Rb16d57f1fa834795" /><Relationship Type="http://schemas.openxmlformats.org/officeDocument/2006/relationships/chart" Target="/ppt/slides/charts/chart6.xml" Id="R305fb490c48b4b3f" /><Relationship Type="http://schemas.openxmlformats.org/officeDocument/2006/relationships/notesSlide" Target="/ppt/notesSlides/notesSlide8.xml" Id="R92db2f78498a42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01e1eb5a244a4" /><Relationship Type="http://schemas.openxmlformats.org/officeDocument/2006/relationships/chart" Target="/ppt/slides/charts/chart7.xml" Id="R053714d0d18946dd" /><Relationship Type="http://schemas.openxmlformats.org/officeDocument/2006/relationships/notesSlide" Target="/ppt/notesSlides/notesSlide9.xml" Id="R6c5f7332dbbd40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15119a57c4504" /><Relationship Type="http://schemas.openxmlformats.org/officeDocument/2006/relationships/notesSlide" Target="/ppt/notesSlides/notesSlide10.xml" Id="Ra33236ce998b40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3e782da4a4176" /><Relationship Type="http://schemas.openxmlformats.org/officeDocument/2006/relationships/notesSlide" Target="/ppt/notesSlides/notesSlide11.xml" Id="R2beb1e00f2f9483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runtime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Serial baseline</c:v>
          </c:tx>
          <c:spPr>
            <a:ln xmlns:a="http://schemas.openxmlformats.org/drawingml/2006/main" w="21908">
              <a:solidFill>
                <a:srgbClr val="3B6FB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B6FB6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</c:formatCode>
                <c:ptCount val="30"/>
                <c:pt idx="0">
                  <c:v>4.989752</c:v>
                </c:pt>
                <c:pt idx="1">
                  <c:v>5.7932</c:v>
                </c:pt>
                <c:pt idx="2">
                  <c:v>6.600539</c:v>
                </c:pt>
                <c:pt idx="3">
                  <c:v>7.58008</c:v>
                </c:pt>
                <c:pt idx="4">
                  <c:v>8.197113</c:v>
                </c:pt>
                <c:pt idx="5">
                  <c:v>8.993253</c:v>
                </c:pt>
                <c:pt idx="6">
                  <c:v>9.898929</c:v>
                </c:pt>
                <c:pt idx="7">
                  <c:v>11.25524</c:v>
                </c:pt>
                <c:pt idx="8">
                  <c:v>11.663884</c:v>
                </c:pt>
                <c:pt idx="9">
                  <c:v>12.481058</c:v>
                </c:pt>
                <c:pt idx="10">
                  <c:v>13.500245</c:v>
                </c:pt>
                <c:pt idx="11">
                  <c:v>14.407534</c:v>
                </c:pt>
                <c:pt idx="12">
                  <c:v>15.361246</c:v>
                </c:pt>
                <c:pt idx="13">
                  <c:v>16.641048</c:v>
                </c:pt>
                <c:pt idx="14">
                  <c:v>17.381228</c:v>
                </c:pt>
                <c:pt idx="15">
                  <c:v>18.39205</c:v>
                </c:pt>
                <c:pt idx="16">
                  <c:v>19.512275</c:v>
                </c:pt>
                <c:pt idx="17">
                  <c:v>20.516872</c:v>
                </c:pt>
                <c:pt idx="18">
                  <c:v>21.671941</c:v>
                </c:pt>
                <c:pt idx="19">
                  <c:v>22.681507</c:v>
                </c:pt>
                <c:pt idx="20">
                  <c:v>23.879297</c:v>
                </c:pt>
                <c:pt idx="21">
                  <c:v>24.89455</c:v>
                </c:pt>
                <c:pt idx="22">
                  <c:v>26.438953</c:v>
                </c:pt>
                <c:pt idx="23">
                  <c:v>27.724465</c:v>
                </c:pt>
                <c:pt idx="24">
                  <c:v>28.707587</c:v>
                </c:pt>
                <c:pt idx="25">
                  <c:v>30.266235</c:v>
                </c:pt>
                <c:pt idx="26">
                  <c:v>30.835879</c:v>
                </c:pt>
                <c:pt idx="27">
                  <c:v>32.094736</c:v>
                </c:pt>
                <c:pt idx="28">
                  <c:v>33.361352</c:v>
                </c:pt>
                <c:pt idx="29">
                  <c:v>34.655354</c:v>
                </c:pt>
              </c:numCache>
            </c:numRef>
          </c:yVal>
        </c:ser>
        <c:ser>
          <c:idx val="1"/>
          <c:order val="1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</c:formatCode>
                <c:ptCount val="30"/>
                <c:pt idx="0">
                  <c:v>1.506796</c:v>
                </c:pt>
                <c:pt idx="1">
                  <c:v>1.629617</c:v>
                </c:pt>
                <c:pt idx="2">
                  <c:v>1.882136</c:v>
                </c:pt>
                <c:pt idx="3">
                  <c:v>2.197054</c:v>
                </c:pt>
                <c:pt idx="4">
                  <c:v>2.351178</c:v>
                </c:pt>
                <c:pt idx="5">
                  <c:v>2.680151</c:v>
                </c:pt>
                <c:pt idx="6">
                  <c:v>2.949921</c:v>
                </c:pt>
                <c:pt idx="7">
                  <c:v>3.132021</c:v>
                </c:pt>
                <c:pt idx="8">
                  <c:v>3.511267</c:v>
                </c:pt>
                <c:pt idx="9">
                  <c:v>3.792676</c:v>
                </c:pt>
                <c:pt idx="10">
                  <c:v>3.765773</c:v>
                </c:pt>
                <c:pt idx="11">
                  <c:v>4.350641</c:v>
                </c:pt>
                <c:pt idx="12">
                  <c:v>4.371929</c:v>
                </c:pt>
                <c:pt idx="13">
                  <c:v>4.65037</c:v>
                </c:pt>
                <c:pt idx="14">
                  <c:v>4.997748</c:v>
                </c:pt>
                <c:pt idx="15">
                  <c:v>5.308287</c:v>
                </c:pt>
                <c:pt idx="16">
                  <c:v>5.542288</c:v>
                </c:pt>
                <c:pt idx="17">
                  <c:v>6.078635</c:v>
                </c:pt>
                <c:pt idx="18">
                  <c:v>6.218323</c:v>
                </c:pt>
                <c:pt idx="19">
                  <c:v>6.572295</c:v>
                </c:pt>
                <c:pt idx="20">
                  <c:v>6.834096</c:v>
                </c:pt>
                <c:pt idx="21">
                  <c:v>7.088691</c:v>
                </c:pt>
                <c:pt idx="22">
                  <c:v>7.583849</c:v>
                </c:pt>
                <c:pt idx="23">
                  <c:v>7.847521</c:v>
                </c:pt>
                <c:pt idx="24">
                  <c:v>8.563484</c:v>
                </c:pt>
                <c:pt idx="25">
                  <c:v>8.792589</c:v>
                </c:pt>
                <c:pt idx="26">
                  <c:v>8.841267</c:v>
                </c:pt>
                <c:pt idx="27">
                  <c:v>8.86051</c:v>
                </c:pt>
                <c:pt idx="28">
                  <c:v>9.36652</c:v>
                </c:pt>
                <c:pt idx="29">
                  <c:v>9.865707</c:v>
                </c:pt>
              </c:numCache>
            </c:numRef>
          </c:yVal>
        </c:ser>
        <c:ser>
          <c:idx val="2"/>
          <c:order val="2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Ref>
              <c:f>'Chart Data'!$E$2:$E$31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Data'!$F$2:$F$31</c:f>
              <c:numCache>
                <c:formatCode>0</c:formatCode>
                <c:ptCount val="30"/>
                <c:pt idx="0">
                  <c:v>2.167603</c:v>
                </c:pt>
                <c:pt idx="1">
                  <c:v>2.350731</c:v>
                </c:pt>
                <c:pt idx="2">
                  <c:v>2.771374</c:v>
                </c:pt>
                <c:pt idx="3">
                  <c:v>3.009852</c:v>
                </c:pt>
                <c:pt idx="4">
                  <c:v>3.400205</c:v>
                </c:pt>
                <c:pt idx="5">
                  <c:v>3.580981</c:v>
                </c:pt>
                <c:pt idx="6">
                  <c:v>4.065718</c:v>
                </c:pt>
                <c:pt idx="7">
                  <c:v>4.375723</c:v>
                </c:pt>
                <c:pt idx="8">
                  <c:v>5.157762</c:v>
                </c:pt>
                <c:pt idx="9">
                  <c:v>5.404324</c:v>
                </c:pt>
                <c:pt idx="10">
                  <c:v>5.817264</c:v>
                </c:pt>
                <c:pt idx="11">
                  <c:v>5.962411</c:v>
                </c:pt>
                <c:pt idx="12">
                  <c:v>7.149659</c:v>
                </c:pt>
                <c:pt idx="13">
                  <c:v>6.9077</c:v>
                </c:pt>
                <c:pt idx="14">
                  <c:v>7.469348</c:v>
                </c:pt>
                <c:pt idx="15">
                  <c:v>8.933063</c:v>
                </c:pt>
                <c:pt idx="16">
                  <c:v>10.07874</c:v>
                </c:pt>
                <c:pt idx="17">
                  <c:v>9.269982</c:v>
                </c:pt>
                <c:pt idx="18">
                  <c:v>9.573097</c:v>
                </c:pt>
                <c:pt idx="19">
                  <c:v>12.896376</c:v>
                </c:pt>
                <c:pt idx="20">
                  <c:v>9.388351</c:v>
                </c:pt>
                <c:pt idx="21">
                  <c:v>9.723761</c:v>
                </c:pt>
                <c:pt idx="22">
                  <c:v>10.887108</c:v>
                </c:pt>
                <c:pt idx="23">
                  <c:v>11.360931</c:v>
                </c:pt>
                <c:pt idx="24">
                  <c:v>11.247044</c:v>
                </c:pt>
                <c:pt idx="25">
                  <c:v>11.750655</c:v>
                </c:pt>
                <c:pt idx="26">
                  <c:v>12.900694</c:v>
                </c:pt>
                <c:pt idx="27">
                  <c:v>12.988591</c:v>
                </c:pt>
                <c:pt idx="28">
                  <c:v>13.553135</c:v>
                </c:pt>
                <c:pt idx="29">
                  <c:v>13.671737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Runtime (seconds)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Speedup against each implementation's matched serial baseline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Open MPI • 4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Data'!$B$2:$B$31</c:f>
              <c:numCache>
                <c:formatCode>0.0x</c:formatCode>
                <c:ptCount val="30"/>
                <c:pt idx="0">
                  <c:v>3.311498</c:v>
                </c:pt>
                <c:pt idx="1">
                  <c:v>3.554945</c:v>
                </c:pt>
                <c:pt idx="2">
                  <c:v>3.50694</c:v>
                </c:pt>
                <c:pt idx="3">
                  <c:v>3.450112</c:v>
                </c:pt>
                <c:pt idx="4">
                  <c:v>3.486386</c:v>
                </c:pt>
                <c:pt idx="5">
                  <c:v>3.355503</c:v>
                </c:pt>
                <c:pt idx="6">
                  <c:v>3.355659</c:v>
                </c:pt>
                <c:pt idx="7">
                  <c:v>3.593603</c:v>
                </c:pt>
                <c:pt idx="8">
                  <c:v>3.321845</c:v>
                </c:pt>
                <c:pt idx="9">
                  <c:v>3.290831</c:v>
                </c:pt>
                <c:pt idx="10">
                  <c:v>3.584986</c:v>
                </c:pt>
                <c:pt idx="11">
                  <c:v>3.311588</c:v>
                </c:pt>
                <c:pt idx="12">
                  <c:v>3.513609</c:v>
                </c:pt>
                <c:pt idx="13">
                  <c:v>3.578435</c:v>
                </c:pt>
                <c:pt idx="14">
                  <c:v>3.477812</c:v>
                </c:pt>
                <c:pt idx="15">
                  <c:v>3.46478</c:v>
                </c:pt>
                <c:pt idx="16">
                  <c:v>3.520617</c:v>
                </c:pt>
                <c:pt idx="17">
                  <c:v>3.375243</c:v>
                </c:pt>
                <c:pt idx="18">
                  <c:v>3.485175</c:v>
                </c:pt>
                <c:pt idx="19">
                  <c:v>3.451079</c:v>
                </c:pt>
                <c:pt idx="20">
                  <c:v>3.494141</c:v>
                </c:pt>
                <c:pt idx="21">
                  <c:v>3.511868</c:v>
                </c:pt>
                <c:pt idx="22">
                  <c:v>3.486218</c:v>
                </c:pt>
                <c:pt idx="23">
                  <c:v>3.532894</c:v>
                </c:pt>
                <c:pt idx="24">
                  <c:v>3.352326</c:v>
                </c:pt>
                <c:pt idx="25">
                  <c:v>3.442244</c:v>
                </c:pt>
                <c:pt idx="26">
                  <c:v>3.487722</c:v>
                </c:pt>
                <c:pt idx="27">
                  <c:v>3.622222</c:v>
                </c:pt>
                <c:pt idx="28">
                  <c:v>3.561766</c:v>
                </c:pt>
                <c:pt idx="29">
                  <c:v>3.512708</c:v>
                </c:pt>
              </c:numCache>
            </c:numRef>
          </c:yVal>
        </c:ser>
        <c:ser>
          <c:idx val="1"/>
          <c:order val="1"/>
          <c:tx>
            <c:v>OpenMP • 4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F855A"/>
              </a:solidFill>
            </c:spPr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28</c:v>
                </c:pt>
                <c:pt idx="5">
                  <c:v>30</c:v>
                </c:pt>
                <c:pt idx="6">
                  <c:v>32</c:v>
                </c:pt>
                <c:pt idx="7">
                  <c:v>34</c:v>
                </c:pt>
                <c:pt idx="8">
                  <c:v>36</c:v>
                </c:pt>
                <c:pt idx="9">
                  <c:v>38</c:v>
                </c:pt>
                <c:pt idx="10">
                  <c:v>40</c:v>
                </c:pt>
                <c:pt idx="11">
                  <c:v>42</c:v>
                </c:pt>
                <c:pt idx="12">
                  <c:v>44</c:v>
                </c:pt>
                <c:pt idx="13">
                  <c:v>46</c:v>
                </c:pt>
                <c:pt idx="14">
                  <c:v>48</c:v>
                </c:pt>
                <c:pt idx="15">
                  <c:v>50</c:v>
                </c:pt>
                <c:pt idx="16">
                  <c:v>52</c:v>
                </c:pt>
                <c:pt idx="17">
                  <c:v>54</c:v>
                </c:pt>
                <c:pt idx="18">
                  <c:v>56</c:v>
                </c:pt>
                <c:pt idx="19">
                  <c:v>58</c:v>
                </c:pt>
                <c:pt idx="20">
                  <c:v>60</c:v>
                </c:pt>
                <c:pt idx="21">
                  <c:v>62</c:v>
                </c:pt>
                <c:pt idx="22">
                  <c:v>64</c:v>
                </c:pt>
                <c:pt idx="23">
                  <c:v>66</c:v>
                </c:pt>
                <c:pt idx="24">
                  <c:v>68</c:v>
                </c:pt>
                <c:pt idx="25">
                  <c:v>70</c:v>
                </c:pt>
                <c:pt idx="26">
                  <c:v>72</c:v>
                </c:pt>
                <c:pt idx="27">
                  <c:v>74</c:v>
                </c:pt>
                <c:pt idx="28">
                  <c:v>76</c:v>
                </c:pt>
                <c:pt idx="29">
                  <c:v>78</c:v>
                </c:pt>
              </c:numCache>
            </c:numRef>
          </c:xVal>
          <c:yVal>
            <c:numRef>
              <c:f>'Chart Data'!$D$2:$D$31</c:f>
              <c:numCache>
                <c:formatCode>0.0x</c:formatCode>
                <c:ptCount val="30"/>
                <c:pt idx="0">
                  <c:v>2.706644</c:v>
                </c:pt>
                <c:pt idx="1">
                  <c:v>2.807679</c:v>
                </c:pt>
                <c:pt idx="2">
                  <c:v>2.671431</c:v>
                </c:pt>
                <c:pt idx="3">
                  <c:v>2.773163</c:v>
                </c:pt>
                <c:pt idx="4">
                  <c:v>2.717482</c:v>
                </c:pt>
                <c:pt idx="5">
                  <c:v>2.829962</c:v>
                </c:pt>
                <c:pt idx="6">
                  <c:v>2.74614</c:v>
                </c:pt>
                <c:pt idx="7">
                  <c:v>2.782729</c:v>
                </c:pt>
                <c:pt idx="8">
                  <c:v>2.495577</c:v>
                </c:pt>
                <c:pt idx="9">
                  <c:v>2.618487</c:v>
                </c:pt>
                <c:pt idx="10">
                  <c:v>2.590082</c:v>
                </c:pt>
                <c:pt idx="11">
                  <c:v>2.737466</c:v>
                </c:pt>
                <c:pt idx="12">
                  <c:v>2.549498</c:v>
                </c:pt>
                <c:pt idx="13">
                  <c:v>2.68205</c:v>
                </c:pt>
                <c:pt idx="14">
                  <c:v>2.648153</c:v>
                </c:pt>
                <c:pt idx="15">
                  <c:v>2.341455</c:v>
                </c:pt>
                <c:pt idx="16">
                  <c:v>2.206639</c:v>
                </c:pt>
                <c:pt idx="17">
                  <c:v>2.521772</c:v>
                </c:pt>
                <c:pt idx="18">
                  <c:v>2.568987</c:v>
                </c:pt>
                <c:pt idx="19">
                  <c:v>1.99623</c:v>
                </c:pt>
                <c:pt idx="20">
                  <c:v>2.890972</c:v>
                </c:pt>
                <c:pt idx="21">
                  <c:v>2.956234</c:v>
                </c:pt>
                <c:pt idx="22">
                  <c:v>2.761738</c:v>
                </c:pt>
                <c:pt idx="23">
                  <c:v>2.776618</c:v>
                </c:pt>
                <c:pt idx="24">
                  <c:v>2.879432</c:v>
                </c:pt>
                <c:pt idx="25">
                  <c:v>2.962694</c:v>
                </c:pt>
                <c:pt idx="26">
                  <c:v>2.712369</c:v>
                </c:pt>
                <c:pt idx="27">
                  <c:v>2.807667</c:v>
                </c:pt>
                <c:pt idx="28">
                  <c:v>2.789214</c:v>
                </c:pt>
                <c:pt idx="29">
                  <c:v>2.876845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80"/>
          <c:min val="2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n (millions)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3 • matching worker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MPI processes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C2413B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0.98963</c:v>
                </c:pt>
                <c:pt idx="1">
                  <c:v>1.878171</c:v>
                </c:pt>
                <c:pt idx="2">
                  <c:v>3.378454</c:v>
                </c:pt>
                <c:pt idx="3">
                  <c:v>4.618865</c:v>
                </c:pt>
                <c:pt idx="4">
                  <c:v>6.015093</c:v>
                </c:pt>
              </c:numCache>
            </c:numRef>
          </c:val>
          <c:smooth val="0"/>
        </c:ser>
        <c:ser>
          <c:idx val="1"/>
          <c:order val="1"/>
          <c:tx>
            <c:v>OpenMP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Data'!$D$2:$D$6</c:f>
              <c:numCache>
                <c:formatCode>0.0x</c:formatCode>
                <c:ptCount val="5"/>
                <c:pt idx="0">
                  <c:v>1.004932</c:v>
                </c:pt>
                <c:pt idx="1">
                  <c:v>1.550188</c:v>
                </c:pt>
                <c:pt idx="2">
                  <c:v>2.693979</c:v>
                </c:pt>
                <c:pt idx="3">
                  <c:v>4.337217</c:v>
                </c:pt>
                <c:pt idx="4">
                  <c:v>7.075541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Processes or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6 • MPI empirical vs Amdahl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C2413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413B"/>
              </a:solidFill>
            </c:spPr>
          </c:marker>
          <c:xVal>
            <c:numRef>
              <c:f>'Chart Data'!$A$2:$A$17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Data'!$B$2:$B$17</c:f>
              <c:numCache>
                <c:formatCode>0.0x</c:formatCode>
                <c:ptCount val="16"/>
                <c:pt idx="0">
                  <c:v>0.98963</c:v>
                </c:pt>
                <c:pt idx="1">
                  <c:v>1.878171</c:v>
                </c:pt>
                <c:pt idx="2">
                  <c:v>2.635082</c:v>
                </c:pt>
                <c:pt idx="3">
                  <c:v>3.378454</c:v>
                </c:pt>
                <c:pt idx="4">
                  <c:v>3.906827</c:v>
                </c:pt>
                <c:pt idx="5">
                  <c:v>4.232572</c:v>
                </c:pt>
                <c:pt idx="6">
                  <c:v>4.432161</c:v>
                </c:pt>
                <c:pt idx="7">
                  <c:v>4.618865</c:v>
                </c:pt>
                <c:pt idx="8">
                  <c:v>4.420885</c:v>
                </c:pt>
                <c:pt idx="9">
                  <c:v>4.156386</c:v>
                </c:pt>
                <c:pt idx="10">
                  <c:v>4.550334</c:v>
                </c:pt>
                <c:pt idx="11">
                  <c:v>5.308742</c:v>
                </c:pt>
                <c:pt idx="12">
                  <c:v>5.4069</c:v>
                </c:pt>
                <c:pt idx="13">
                  <c:v>5.821944</c:v>
                </c:pt>
                <c:pt idx="14">
                  <c:v>5.971313</c:v>
                </c:pt>
                <c:pt idx="15">
                  <c:v>6.015093</c:v>
                </c:pt>
              </c:numCache>
            </c:numRef>
          </c:yVal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28E2B"/>
              </a:solidFill>
            </c:spPr>
          </c:marker>
          <c:xVal>
            <c:numRef>
              <c:f>'Chart Data'!$C$2:$C$17</c:f>
              <c:numCache>
                <c:formatCode>General</c:formatCod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numCache>
            </c:numRef>
          </c:xVal>
          <c:yVal>
            <c:numRef>
              <c:f>'Chart Data'!$D$2:$D$17</c:f>
              <c:numCache>
                <c:formatCode>0.0x</c:formatCode>
                <c:ptCount val="16"/>
                <c:pt idx="0">
                  <c:v>1</c:v>
                </c:pt>
                <c:pt idx="1">
                  <c:v>1.965524</c:v>
                </c:pt>
                <c:pt idx="2">
                  <c:v>2.898324</c:v>
                </c:pt>
                <c:pt idx="3">
                  <c:v>3.800036</c:v>
                </c:pt>
                <c:pt idx="4">
                  <c:v>4.672189</c:v>
                </c:pt>
                <c:pt idx="5">
                  <c:v>5.516213</c:v>
                </c:pt>
                <c:pt idx="6">
                  <c:v>6.333447</c:v>
                </c:pt>
                <c:pt idx="7">
                  <c:v>7.125147</c:v>
                </c:pt>
                <c:pt idx="8">
                  <c:v>7.892491</c:v>
                </c:pt>
                <c:pt idx="9">
                  <c:v>8.636586</c:v>
                </c:pt>
                <c:pt idx="10">
                  <c:v>9.358472</c:v>
                </c:pt>
                <c:pt idx="11">
                  <c:v>10.05913</c:v>
                </c:pt>
                <c:pt idx="12">
                  <c:v>10.739483</c:v>
                </c:pt>
                <c:pt idx="13">
                  <c:v>11.400399</c:v>
                </c:pt>
                <c:pt idx="14">
                  <c:v>12.042701</c:v>
                </c:pt>
                <c:pt idx="15">
                  <c:v>12.667164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processes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4 • fixed 4 MPI processes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/ Task 1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1.012295</c:v>
                </c:pt>
                <c:pt idx="1">
                  <c:v>1.530386</c:v>
                </c:pt>
                <c:pt idx="2">
                  <c:v>2.386353</c:v>
                </c:pt>
                <c:pt idx="3">
                  <c:v>2.358109</c:v>
                </c:pt>
                <c:pt idx="4">
                  <c:v>2.245111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Threads per MPI process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 versus 4-rank Task 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5 • matched total workers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Hybrid MPI × OpenMP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Data'!$B$2:$B$6</c:f>
              <c:numCache>
                <c:formatCode>0.0x</c:formatCode>
                <c:ptCount val="5"/>
                <c:pt idx="0">
                  <c:v>0.996865</c:v>
                </c:pt>
                <c:pt idx="1">
                  <c:v>1.91408</c:v>
                </c:pt>
                <c:pt idx="2">
                  <c:v>3.515055</c:v>
                </c:pt>
                <c:pt idx="3">
                  <c:v>5.15</c:v>
                </c:pt>
                <c:pt idx="4">
                  <c:v>8.030471</c:v>
                </c:pt>
              </c:numCache>
            </c:numRef>
          </c:val>
          <c:smooth val="0"/>
        </c:ser>
        <c:ser>
          <c:idx val="1"/>
          <c:order val="1"/>
          <c:tx>
            <c:v>OpenMP matched threads</c:v>
          </c:tx>
          <c:spPr>
            <a:ln xmlns:a="http://schemas.openxmlformats.org/drawingml/2006/main" w="21908">
              <a:solidFill>
                <a:srgbClr val="2F855A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2F855A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</c:strCache>
            </c:strRef>
          </c:cat>
          <c:val>
            <c:numRef>
              <c:f>'Chart Data'!$D$2:$D$6</c:f>
              <c:numCache>
                <c:formatCode>0.0x</c:formatCode>
                <c:ptCount val="5"/>
                <c:pt idx="0">
                  <c:v>1.003352</c:v>
                </c:pt>
                <c:pt idx="1">
                  <c:v>1.547751</c:v>
                </c:pt>
                <c:pt idx="2">
                  <c:v>2.689743</c:v>
                </c:pt>
                <c:pt idx="3">
                  <c:v>4.330398</c:v>
                </c:pt>
                <c:pt idx="4">
                  <c:v>7.064416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Empirical 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Hybrid empirical versus ideal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02A43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Empirical</c:v>
          </c:tx>
          <c:spPr>
            <a:ln xmlns:a="http://schemas.openxmlformats.org/drawingml/2006/main" w="21908">
              <a:solidFill>
                <a:srgbClr val="7957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957A5"/>
              </a:solidFill>
            </c:spPr>
          </c:marker>
          <c:cat>
            <c:strRef>
              <c:f>'Chart Data'!$A$2:$A$8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Data'!$B$2:$B$8</c:f>
              <c:numCache>
                <c:formatCode>0.0x</c:formatCode>
                <c:ptCount val="7"/>
                <c:pt idx="0">
                  <c:v>0.996865</c:v>
                </c:pt>
                <c:pt idx="1">
                  <c:v>1.91408</c:v>
                </c:pt>
                <c:pt idx="2">
                  <c:v>3.515055</c:v>
                </c:pt>
                <c:pt idx="3">
                  <c:v>5.15</c:v>
                </c:pt>
                <c:pt idx="4">
                  <c:v>8.030471</c:v>
                </c:pt>
                <c:pt idx="5">
                  <c:v>7.935425</c:v>
                </c:pt>
                <c:pt idx="6">
                  <c:v>7.555168</c:v>
                </c:pt>
              </c:numCache>
            </c:numRef>
          </c:val>
          <c:smooth val="0"/>
        </c:ser>
        <c:ser>
          <c:idx val="1"/>
          <c:order val="1"/>
          <c:tx>
            <c:v>Amdahl ideal</c:v>
          </c:tx>
          <c:spPr>
            <a:ln xmlns:a="http://schemas.openxmlformats.org/drawingml/2006/main" w="21908">
              <a:solidFill>
                <a:srgbClr val="F28E2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8E2B"/>
              </a:solidFill>
            </c:spPr>
          </c:marker>
          <c:cat>
            <c:strRef>
              <c:f>'Chart Data'!$C$2:$C$8</c:f>
              <c:strCache>
                <c:ptCount val="7"/>
                <c:pt idx="0">
                  <c:v>1×1</c:v>
                </c:pt>
                <c:pt idx="1">
                  <c:v>2×1</c:v>
                </c:pt>
                <c:pt idx="2">
                  <c:v>2×2</c:v>
                </c:pt>
                <c:pt idx="3">
                  <c:v>4×2</c:v>
                </c:pt>
                <c:pt idx="4">
                  <c:v>4×4</c:v>
                </c:pt>
                <c:pt idx="5">
                  <c:v>4×8</c:v>
                </c:pt>
                <c:pt idx="6">
                  <c:v>4×16</c:v>
                </c:pt>
              </c:strCache>
            </c:strRef>
          </c:cat>
          <c:val>
            <c:numRef>
              <c:f>'Chart Data'!$D$2:$D$8</c:f>
              <c:numCache>
                <c:formatCode>0.0x</c:formatCode>
                <c:ptCount val="7"/>
                <c:pt idx="0">
                  <c:v>1</c:v>
                </c:pt>
                <c:pt idx="1">
                  <c:v>1.966521</c:v>
                </c:pt>
                <c:pt idx="2">
                  <c:v>3.805633</c:v>
                </c:pt>
                <c:pt idx="3">
                  <c:v>7.148145</c:v>
                </c:pt>
                <c:pt idx="4">
                  <c:v>12.745273</c:v>
                </c:pt>
                <c:pt idx="5">
                  <c:v>20.945709</c:v>
                </c:pt>
                <c:pt idx="6">
                  <c:v>30.879939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MPI ranks × threads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 b="1">
                    <a:solidFill>
                      <a:srgbClr val="486581"/>
                    </a:solidFill>
                    <a:latin typeface="Arial"/>
                    <a:ea typeface="Arial"/>
                    <a:cs typeface="Arial"/>
                  </a:rPr>
                  <a:t>Speedup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48658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EF2F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 b="0">
              <a:solidFill>
                <a:srgbClr val="48658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F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1AF6B-7E15-4BE2-80E4-BBB2B190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FD83D-AEED-4D0C-87D0-7E91B59D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FIT3143 • PARALLEL COMPUTING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CA4C3-67FB-4B79-A8C6-FD9EA766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Prime Search at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45E6E-A185-4A6B-A5D3-F4F6ABB8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4F4F2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D4F4F2"/>
                </a:solidFill>
                <a:latin typeface="Arial"/>
                <a:ea typeface="Arial"/>
                <a:cs typeface="Arial"/>
              </a:rPr>
              <a:t>Open MPI and hybrid MPI + OpenMP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C0A97-0086-4642-8E74-03AA1E5B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BB2B4-9C2A-4798-B18B-67A6A14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Correctness • workload balance • measured scalability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F53EB-EC6A-4E8B-ABAD-EBE75416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(35221631)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Willwara Arachchilage Shamle Imal Thilaksiri (35512075)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B0529-0E91-47FC-984F-3A44ED5F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E7E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7E7E5"/>
                </a:solidFill>
                <a:latin typeface="Arial"/>
                <a:ea typeface="Arial"/>
                <a:cs typeface="Arial"/>
              </a:rPr>
              <a:t>Main presentation: 6 min 25 s</a:t>
            </a:r>
          </a:p>
        </p:txBody>
      </p:sp>
    </p:spTree>
    <p:extLst>
      <p:ext uri="{BB962C8B-B14F-4D97-AF65-F5344CB8AC3E}">
        <p14:creationId xmlns:p14="http://schemas.microsoft.com/office/powerpoint/2010/main" val="1995544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E6274A-5B7E-4F63-AEBF-0696CC27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BACA6-D13C-4345-B02B-C29BB3E7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40C19-EC22-4F33-81D4-43BC845A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Experimental setup and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A2379-1EF1-4BDD-8192-136A61CF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2E32C-DB61-4EA5-8D41-672D9412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5105F-F0F4-44E9-A672-9BEC9EC1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FE036-03B7-4D21-8F1E-3A8A9316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1F74D-46FC-4D3E-8C6A-998B2549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1 node • 14C / 20T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866B3-FD11-462E-B6DF-11F40A91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WSL2 Ubuntu • Open MPI 4.1.6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Intel Core i7-13700H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B6FAB-9DC2-42A9-B2E5-8E6641D0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FBCC6-749E-4F13-B120-D82BF260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9F46E-F41D-4023-B8D7-5736E2E9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PRIMARY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E705E-C97D-48D8-8346-39DF5E14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= 60,000,000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9B5C9-ED91-4A2E-BF51-120E3935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3,562,115 primes below n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all output written by rank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2579C-6496-44DC-9931-B63921EA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AD49E-7A57-49E1-AACE-EB08278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09059-177C-4962-8734-5B5259A2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144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86D6B-3DBA-4EC7-9947-6C9AA39B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90675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30 n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AB514-03BF-4BAA-A0B6-47C9EE8F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28825"/>
            <a:ext cx="306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20M–78M • MPI ranks 1–16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OpenMP threads 1–16 • up to 64 workers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0EFCD0-52C6-4312-B008-82155ABE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4F0D3-0354-4B41-AAA9-BA1307DE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6CE26-0D69-4CC8-A966-BC799056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Process and hybrid scaling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86B0C-2931-44D8-A6FB-D8BEFF5B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Median of 3 end-to-end runs; computation, gather and root post-processing recorded separately.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747FC-7E82-4DAB-90F1-D89A2594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 sweep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E3300-B536-48F2-AFF5-124B56EA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619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One run at every required n; every runtime exceeds one second. Oversubscription is included explicitly.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BCA822-B0D9-46F3-9CA3-52EBB95B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5429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47DC0-43BB-4963-99A8-091B6D1A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Independent exact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DDDFBC-7B14-468B-951D-7B00EFC5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Both programs were compared value-for-value with a separate sieve across MPI ranks 1–5 and thread counts 1–3, including n = 0, 1, 2, 3, 4, 10 and 1000.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F2A42A-E7B8-436C-851C-B80BDB57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13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855A"/>
                </a:solidFill>
                <a:latin typeface="Arial"/>
                <a:ea typeface="Arial"/>
                <a:cs typeface="Arial"/>
              </a:rPr>
              <a:t>PASS: sorted • unique • complete • prime-only • all values below n</a:t>
            </a:r>
          </a:p>
        </p:txBody>
      </p:sp>
    </p:spTree>
    <p:extLst>
      <p:ext uri="{BB962C8B-B14F-4D97-AF65-F5344CB8AC3E}">
        <p14:creationId xmlns:p14="http://schemas.microsoft.com/office/powerpoint/2010/main" val="1629876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23F5E7-0E9C-4400-AF59-668A728E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57BC5-1DBB-4811-99DE-47614E1C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3B352-F9CC-448B-99EB-E83D54DE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1: robust block-cyclic MPI partition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90A84-69FE-4D64-BF8D-3A9997BD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3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1F705-DF2B-4E60-8038-C6B956BB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143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722D4-2351-432C-AC2F-D54F334F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Odd-candidate index 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CE451-2435-429D-BC80-B3B49958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Chunks of 64 odd candidates are assigned round-robin.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E1176-8E04-46B2-8589-66B621F1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D842F-5CE2-403B-BA6B-2A216F84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B75F1-DC4B-46BE-B55D-B01F5CFB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2E085-02E2-4504-B805-1587E81C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248C7-F2F5-40B7-94E2-090AE5D8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43811-08F2-4F10-B391-8132B707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80BAB-3A14-480C-99AE-2AEBF43C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C6F78-FA3F-48C6-94CD-A2750362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31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42672-21A7-4A40-8FD9-03FD6A3E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90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7326B-CC4F-43C6-B75C-F00566D4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rank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D2808-C481-4F72-A84A-686E878B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FAABC-0CE3-4912-9378-4D391E0E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D8D0B-E3AC-4494-B1D5-EC14FAB6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188FC5-3545-4B77-AAEE-83CD593E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E74FFF-55CB-45B2-838B-DD397BF4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2321B-B0F1-41FF-A69A-67446B42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F99084-A478-404B-9D65-9FB56F9E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B2FD52-1E3D-4714-81E2-3CFA550C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289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64620D-D6C2-4C18-AA8B-776D18E2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54B492-5253-48F2-9ADB-527D9E8B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637EC7-2CB0-43F7-882A-EF488994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F0D301-824C-4473-9C05-1CCCA33F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853A41-BF18-4D3F-9F5C-4E9131D8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41B283-DC4F-452F-B9DD-F741BF01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DE9ED1-DD82-4302-9683-D4A7AA61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CA886C-37A5-4D9A-B99E-0C39A3A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19425"/>
            <a:ext cx="590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B82130-7564-4928-93C9-9EF470BF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EB872E-B3FE-484C-A1A1-35390813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Equal-sized chunks preserve locality while mixing cheap composites and expensive large candidates across ranks.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7BDA2A-5F86-40CA-9F60-C73B7B75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 0 performs an O(m log p) k-way merge and buffered output.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FB0CBF-DC8D-4297-8EA3-59DC9679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0015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Measured computation-time imbalance (max / min)</a:t>
            </a:r>
          </a:p>
        </p:txBody>
      </p:sp>
      <p:graphicFrame>
        <p:nvGraphicFramePr>
          <p:cNvPr id="79" name=""/>
          <p:cNvGraphicFramePr/>
          <p:nvPr/>
        </p:nvGraphicFramePr>
        <p:xfrm>
          <a:off xmlns:a="http://schemas.openxmlformats.org/drawingml/2006/main" x="6057900" y="1619250"/>
          <a:ext xmlns:a="http://schemas.openxmlformats.org/drawingml/2006/main" cx="5581650" cy="2019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1190625"/>
                <a:gridCol w="1190625"/>
                <a:gridCol w="1200150"/>
              </a:tblGrid>
              <a:tr h="5048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Strategy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3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4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= 5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Block-cyclic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Pure cyclic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Contiguous block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C6A9C8-7BF7-4979-ADE3-6F410307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5581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6DDC8B-D912-4B31-8C12-924481F4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Why this is the selected partition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FD452E-DADD-4DD7-BBE6-05D8ECD9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It had the lowest worst-case imbalance among the three measured strategies: ≤ 1.06 for p = 3–5. Pure cyclic collapses at odd p because divisibility patterns align with rank strides.</a:t>
            </a:r>
          </a:p>
        </p:txBody>
      </p:sp>
    </p:spTree>
    <p:extLst>
      <p:ext uri="{BB962C8B-B14F-4D97-AF65-F5344CB8AC3E}">
        <p14:creationId xmlns:p14="http://schemas.microsoft.com/office/powerpoint/2010/main" val="1884792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84679-3605-47EF-B386-67BB5210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D4A30-EA6A-4270-9CF4-96F9626E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85D53-EBDF-4F3A-BDE8-EC692580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1 — runtime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66F87-7407-4740-BC02-B297762F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0ab00d7127467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65846-ED88-4E4C-ADF0-06ABD637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53100"/>
            <a:ext cx="714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D0D3E-17AB-4899-9725-0F60F8A7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876925"/>
            <a:ext cx="680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All 30 values are shown; no run is below one second.</a:t>
            </a:r>
          </a:p>
        </p:txBody>
      </p:sp>
    </p:spTree>
    <p:extLst>
      <p:ext uri="{BB962C8B-B14F-4D97-AF65-F5344CB8AC3E}">
        <p14:creationId xmlns:p14="http://schemas.microsoft.com/office/powerpoint/2010/main" val="989747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E8924-627D-4F9A-A993-B9373F82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0E338-CE02-403E-883B-F0C9BE6C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DEB94-7FA7-4C8B-9C51-E7C41C38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2 — speedup across 30 problem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C1C45-DAE3-498F-B4AB-26CC47ED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5 / 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1123950"/>
          <a:ext xmlns:a="http://schemas.openxmlformats.org/drawingml/2006/main" cx="10858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4ba48086c443e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C65C6-5430-401D-A4AD-25198465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53100"/>
            <a:ext cx="942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85BF5-468C-4EC8-B8B6-9C0BE040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876925"/>
            <a:ext cx="908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MPI stays near 3.3–3.6× at four processes; the OpenMP series is noisier but uses its own matched serial session.</a:t>
            </a:r>
          </a:p>
        </p:txBody>
      </p:sp>
    </p:spTree>
    <p:extLst>
      <p:ext uri="{BB962C8B-B14F-4D97-AF65-F5344CB8AC3E}">
        <p14:creationId xmlns:p14="http://schemas.microsoft.com/office/powerpoint/2010/main" val="158801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4B56F-B274-4B3D-A537-4C3BBEA4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A2358-CDFD-4782-912F-F2B96CA0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BE863-1D9B-432D-8D5E-01225C3D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3 and 6 — Task 1 scaling and Amdahl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0B423-CB3D-4B94-9D03-B9E2C8D0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6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b5246718d84231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f816994f154a4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03685-2FAD-4DD1-843C-34BF5EEC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BC572-9143-4209-906D-3F54A550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43575"/>
            <a:ext cx="965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At p = 16: 6.02× empirical versus 12.67× Amdahl — collectives, contention and root-only output are not in the ideal model.</a:t>
            </a:r>
          </a:p>
        </p:txBody>
      </p:sp>
    </p:spTree>
    <p:extLst>
      <p:ext uri="{BB962C8B-B14F-4D97-AF65-F5344CB8AC3E}">
        <p14:creationId xmlns:p14="http://schemas.microsoft.com/office/powerpoint/2010/main" val="1705564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E5A9C9-3020-4429-AF60-FD81AB8C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4947A-E91A-419A-8C80-3EBB3A60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13619-5700-40CE-9934-5B3DF03A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Task 2: hybrid decomposition and measured balance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DB017-15C9-4916-A7A9-85457F01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7 /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1D7E9-5525-4CF0-9C74-3FF2B0BC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Two-level parallelism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0E1D7-91A8-4D14-BD2B-1B59EEA8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8B34F-E11F-4F42-828F-E6240BD5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MPI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956A1-847A-4630-A13B-41F4A61A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block-cyclic chunks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processes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D7555-CA3D-4625-B31E-2473F341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52B26-CE3D-49CF-831F-EACE022C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BBF4D-1150-4C79-8805-0D1F7D7D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OpenMP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D1F2A-5AC9-4BEA-922F-BB700F0A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97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schedule(64)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inside each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B3421-0F2E-4B1E-9C70-7423F9E4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35EA4-7A26-4B54-A9C1-95255B2E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1476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2C5E6-A6F6-465F-8E68-41D4FFDD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478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Rank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307DB-A726-4815-AD7D-CAEF7FFC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38375"/>
            <a:ext cx="1247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k-way merge +</a:t>
            </a:r>
          </a:p>
          <a:p xmlns:a="http://schemas.openxmlformats.org/drawingml/2006/main">
            <a:pPr algn="ctr"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buffered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50DA1-926C-4AA6-A874-9C2257AB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9625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FFA"/>
          </a:solidFill>
          <a:ln xmlns:a="http://schemas.openxmlformats.org/drawingml/2006/main" w="9525">
            <a:solidFill>
              <a:srgbClr val="9ED9D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42FE3-C6B7-4967-BE44-F36EC084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dynamic scheduling remains useful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144FD-C3FF-49BE-AF39-30438B47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Trial division has irregular per-candidate cost. MPI chunks balance rank-level work; OpenMP dynamic scheduling smooths the remaining variation between threads without changing output order.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659C6-8CEB-4DF4-9859-653589D4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0015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Representative local execution at n = 60M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5943600" y="1638300"/>
          <a:ext xmlns:a="http://schemas.openxmlformats.org/drawingml/2006/main" cx="5695950" cy="1581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1190625"/>
                <a:gridCol w="1190625"/>
                <a:gridCol w="1190625"/>
                <a:gridCol w="1076325"/>
              </a:tblGrid>
              <a:tr h="527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compute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max/min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ranks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6.446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6.507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4.567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4.685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1.026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D7262-BDFC-4722-B1DE-B30E9589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675C2-77B6-43BA-BE0E-A225B611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9525">
            <a:solidFill>
              <a:srgbClr val="3B6FB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C9B36-634D-4A43-8656-5B045BC3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FC775-F622-4A45-8818-3A20FDA0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6.97 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170C5-E42D-4728-8C4C-2DC5E6A0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processes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7DC99B-BEF8-4C92-A493-3E33CBE5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26860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E4E0CC-C8B9-47FB-B272-392AA790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45ED22-A4A2-4E2A-A437-4CBE08AC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TASK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77F015-24FA-4E55-9E19-B5DD5C91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10025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5.16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011819-4993-483E-8D71-8FA35EA3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48175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4 MPI × 2 OpenMP</a:t>
            </a:r>
          </a:p>
          <a:p xmlns:a="http://schemas.openxmlformats.org/drawingml/2006/main">
            <a:pPr algn="l">
              <a:defRPr sz="105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exact output validation: 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6B450E-EF20-4324-93BF-3DE4543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00700"/>
            <a:ext cx="5391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B65722-D372-45B8-90D7-7AB34717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24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Hybrid speedup over the same 4-rank Task 1 run: 1.35×</a:t>
            </a:r>
          </a:p>
        </p:txBody>
      </p:sp>
    </p:spTree>
    <p:extLst>
      <p:ext uri="{BB962C8B-B14F-4D97-AF65-F5344CB8AC3E}">
        <p14:creationId xmlns:p14="http://schemas.microsoft.com/office/powerpoint/2010/main" val="9879674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80129-92D7-4015-8DEC-E2B95E75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EC659-B7DF-443C-932B-76BDEA30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089EC-6EB5-4C65-9FB1-EC48CC70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Graphs 4 and 5 — hybrid scaling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2BF40-6E73-4D0C-861D-AB9BE06E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8 / 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14350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6d57f1fa834795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00775" y="1162050"/>
          <a:ext xmlns:a="http://schemas.openxmlformats.org/drawingml/2006/main" cx="547687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5fb490c48b4b3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6DBC1-F3D9-4FAE-A3AF-1E9994C1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EA57A-063E-4294-853E-50247B8D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43575"/>
            <a:ext cx="918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Best measured hybrid point: 8.46× at 1 × 16; 32- and 64-worker configurations (4×8 and 4×16) reduce efficiency.</a:t>
            </a:r>
          </a:p>
        </p:txBody>
      </p:sp>
    </p:spTree>
    <p:extLst>
      <p:ext uri="{BB962C8B-B14F-4D97-AF65-F5344CB8AC3E}">
        <p14:creationId xmlns:p14="http://schemas.microsoft.com/office/powerpoint/2010/main" val="11273536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1837E-E074-4039-9DCD-C942ABB7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3D0F9-69B4-4FDF-B4EB-7B3CD7DF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C8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07C83"/>
                </a:solidFill>
                <a:latin typeface="Arial"/>
                <a:ea typeface="Arial"/>
                <a:cs typeface="Arial"/>
              </a:rPr>
              <a:t>FIT3143 • LAB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BC431-A946-4325-A972-49216FBA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Graph 7 — hybrid Amdahl gap and 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C8833-4E9F-44AF-A099-35F8EAAC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9 / 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76250" y="1143000"/>
          <a:ext xmlns:a="http://schemas.openxmlformats.org/drawingml/2006/main" cx="623887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3714d0d18946d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24DD2-72C3-4738-A4A7-02E88F4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162050"/>
            <a:ext cx="45339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06EB6-5090-44C6-B3DC-DE7E4F6A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371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Why the curves diverge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FE292-0FD0-406D-A01A-9C05AD1E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MPI collectives and rank-0 aggregation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Memory and scheduler contention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Oversubscription beyond 20 logical CPUs</a:t>
            </a:r>
          </a:p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Amdahl assumes a fixed, ideal serial fraction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7C4B6-BCF2-487A-AFA8-4723FAAE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45339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40CD5-3728-4834-8E3E-F36B4743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Limitations and 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D80E1-B6CD-4F20-BFF3-C96B03C0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95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Single-node local results do not quantify network cost. Next: multi-node CAAS runs, segmented-sieve work units, and distributed or parallel output to remove the rank-0 bottleneck.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B05CE-9B87-4E2D-A898-5460F581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10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279514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5C169-4166-4B7A-86E5-80A599A1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979BC-CA21-46DE-80FD-79D13E9E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0BECA-C637-4E5B-A510-7C87B363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Measured partition and Amdahl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C232C-5CF8-4AF0-9DAC-45809B97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C9C5C-4715-4703-BCEF-43C5CFB8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Partition strategy comparison • n = 20M • median of 3 runs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52450" y="1504950"/>
          <a:ext xmlns:a="http://schemas.openxmlformats.org/drawingml/2006/main" cx="11087100" cy="1866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2500"/>
                <a:gridCol w="2381250"/>
                <a:gridCol w="2381250"/>
                <a:gridCol w="2190750"/>
                <a:gridCol w="3181350"/>
              </a:tblGrid>
              <a:tr h="4667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Pure cyclic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 ratio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Block-cyclic total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1.047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627.764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2.204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1.931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1.032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2.615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1.581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1.057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491.084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2.780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1.300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AF6A5-EA4F-445C-A4E3-56DDCD61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Amdahl inputs are measured, not assumed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52450" y="4114800"/>
          <a:ext xmlns:a="http://schemas.openxmlformats.org/drawingml/2006/main" cx="6381750" cy="1485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66875"/>
                <a:gridCol w="1476375"/>
                <a:gridCol w="1571625"/>
                <a:gridCol w="1666875"/>
              </a:tblGrid>
              <a:tr h="4953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Program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fs = Ts / (Ts+Tp)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MPI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0.427566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23.948293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0.017541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hybrid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0.411327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23.749574 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0.017024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C7B31-9DE3-4CB5-96A9-4B3348F8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4343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BF4FF"/>
          </a:solidFill>
          <a:ln xmlns:a="http://schemas.openxmlformats.org/drawingml/2006/main" w="9525">
            <a:solidFill>
              <a:srgbClr val="B6D4F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F8764-BEC9-4A76-810E-8F84C6BE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6FB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6FB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C5795-EAC9-4AA9-8A50-20E23015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S(W) = (Ts + Tp) / (Ts + Tp / W)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9A6EA-EAEA-459A-A252-B3B7C5A1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8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Empirical speedup uses the Week 4 serial end-to-end baseline. Theoretical speedup uses each parallel program's measured one-worker decomposition; this difference is stated explicitly.</a:t>
            </a:r>
          </a:p>
        </p:txBody>
      </p:sp>
    </p:spTree>
    <p:extLst>
      <p:ext uri="{BB962C8B-B14F-4D97-AF65-F5344CB8AC3E}">
        <p14:creationId xmlns:p14="http://schemas.microsoft.com/office/powerpoint/2010/main" val="2882632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2FB11-095A-4AA6-9081-3430F670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9525">
            <a:solidFill>
              <a:srgbClr val="F28E2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F7E61-1D38-4B6B-80B3-264ED99C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DD836-4485-41C3-BAED-C2D8535B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and Moodle submission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5E6CA-29FB-4BD3-9FB7-ADA7E554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48658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86581"/>
                </a:solidFill>
                <a:latin typeface="Arial"/>
                <a:ea typeface="Arial"/>
                <a:cs typeface="Arial"/>
              </a:rPr>
              <a:t>Appendix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0419A-AC8F-49FC-8854-0C72B5C7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5F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5F66"/>
                </a:solidFill>
                <a:latin typeface="Arial"/>
                <a:ea typeface="Arial"/>
                <a:cs typeface="Arial"/>
              </a:rPr>
              <a:t>Verified artifacts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52450" y="1485900"/>
          <a:ext xmlns:a="http://schemas.openxmlformats.org/drawingml/2006/main" cx="110871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6191250"/>
                <a:gridCol w="2324100"/>
              </a:tblGrid>
              <a:tr h="41063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Artifact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76200" marR="76200" marT="57150" marB="57150" anchor="ctr">
                    <a:solidFill>
                      <a:srgbClr val="005F66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1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task1.c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 2 source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task2.c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Presentation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output/FIT3143_Week8_Lab2_Presentation_HD_Final.pptx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Representative scripts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scripts/run_benchmarks.sh + capture_local_execution_evidence.sh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Execution + sorted output proof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results/local_cluster_execution.txt + prime output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Text evidence 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use declaration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output/AI_Use_Declaration.pdf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Ready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AI prompt record PDF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Export from the actual AI conversation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  <a:tr h="41063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CAAS / terminal screenshot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Capture an authentic run with command, config and output visible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2413B"/>
                          </a:solidFill>
                          <a:latin typeface="Arial"/>
                          <a:ea typeface="Arial"/>
                          <a:cs typeface="Arial"/>
                        </a:rPr>
                        <a:t>ADD BEFORE MOODLE</a:t>
                      </a:r>
                    </a:p>
                  </a:txBody>
                  <a:tcPr marL="76200" marR="76200" marT="47625" marB="47625" anchor="ctr">
                    <a:solidFill>
                      <a:srgbClr val="FFF1F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040D8-A951-4466-BCCE-A27734A5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5C9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C8B54-BB44-4107-BC28-1E576DA9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67375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A4B0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A4B08"/>
                </a:solidFill>
                <a:latin typeface="Arial"/>
                <a:ea typeface="Arial"/>
                <a:cs typeface="Arial"/>
              </a:rPr>
              <a:t>Do not submit until both red items are authentic, legible and included. This review cannot fabricate them.</a:t>
            </a:r>
          </a:p>
        </p:txBody>
      </p:sp>
    </p:spTree>
    <p:extLst>
      <p:ext uri="{BB962C8B-B14F-4D97-AF65-F5344CB8AC3E}">
        <p14:creationId xmlns:p14="http://schemas.microsoft.com/office/powerpoint/2010/main" val="1936306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2026-09-17T22:04:58.7190000Z</dcterms:created>
  <dcterms:modified xsi:type="dcterms:W3CDTF">2026-09-17T22:04:58.7190000Z</dcterms:modified>
</coreProperties>
</file>