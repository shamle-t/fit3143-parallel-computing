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2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End-to-end runtime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Serial baseline</c:v>
          </c:tx>
          <c:spPr>
            <a:ln w="21908">
              <a:solidFill>
                <a:srgbClr val="3B6FB6"/>
              </a:solidFill>
              <a:prstDash val="solid"/>
            </a:ln>
          </c:spPr>
          <c:marker>
            <c:symbol val="circle"/>
            <c:size val="4"/>
            <c:spPr>
              <a:solidFill>
                <a:srgbClr val="3B6FB6"/>
              </a:solidFill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Data'!$B$2:$B$31</c:f>
              <c:numCache>
                <c:formatCode>0</c:formatCode>
                <c:ptCount val="30"/>
                <c:pt idx="0">
                  <c:v>4.9897520000000002</c:v>
                </c:pt>
                <c:pt idx="1">
                  <c:v>5.7931999999999997</c:v>
                </c:pt>
                <c:pt idx="2">
                  <c:v>6.6005390000000004</c:v>
                </c:pt>
                <c:pt idx="3">
                  <c:v>7.5800799999999997</c:v>
                </c:pt>
                <c:pt idx="4">
                  <c:v>8.1971129999999999</c:v>
                </c:pt>
                <c:pt idx="5">
                  <c:v>8.9932529999999993</c:v>
                </c:pt>
                <c:pt idx="6">
                  <c:v>9.8989290000000008</c:v>
                </c:pt>
                <c:pt idx="7">
                  <c:v>11.255240000000001</c:v>
                </c:pt>
                <c:pt idx="8">
                  <c:v>11.663883999999999</c:v>
                </c:pt>
                <c:pt idx="9">
                  <c:v>12.481058000000001</c:v>
                </c:pt>
                <c:pt idx="10">
                  <c:v>13.500245</c:v>
                </c:pt>
                <c:pt idx="11">
                  <c:v>14.407534</c:v>
                </c:pt>
                <c:pt idx="12">
                  <c:v>15.361246</c:v>
                </c:pt>
                <c:pt idx="13">
                  <c:v>16.641048000000001</c:v>
                </c:pt>
                <c:pt idx="14">
                  <c:v>17.381228</c:v>
                </c:pt>
                <c:pt idx="15">
                  <c:v>18.392050000000001</c:v>
                </c:pt>
                <c:pt idx="16">
                  <c:v>19.512274999999999</c:v>
                </c:pt>
                <c:pt idx="17">
                  <c:v>20.516871999999999</c:v>
                </c:pt>
                <c:pt idx="18">
                  <c:v>21.671941</c:v>
                </c:pt>
                <c:pt idx="19">
                  <c:v>22.681507</c:v>
                </c:pt>
                <c:pt idx="20">
                  <c:v>23.879297000000001</c:v>
                </c:pt>
                <c:pt idx="21">
                  <c:v>24.894549999999999</c:v>
                </c:pt>
                <c:pt idx="22">
                  <c:v>26.438953000000001</c:v>
                </c:pt>
                <c:pt idx="23">
                  <c:v>27.724464999999999</c:v>
                </c:pt>
                <c:pt idx="24">
                  <c:v>28.707587</c:v>
                </c:pt>
                <c:pt idx="25">
                  <c:v>30.266235000000002</c:v>
                </c:pt>
                <c:pt idx="26">
                  <c:v>30.835878999999998</c:v>
                </c:pt>
                <c:pt idx="27">
                  <c:v>32.094735999999997</c:v>
                </c:pt>
                <c:pt idx="28">
                  <c:v>33.361351999999997</c:v>
                </c:pt>
                <c:pt idx="29">
                  <c:v>34.655354000000003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793D-464E-A597-67AFF3599CE6}"/>
            </c:ext>
          </c:extLst>
        </c:ser>
        <c:ser>
          <c:idx val="1"/>
          <c:order val="1"/>
          <c:tx>
            <c:v>Open MPI • 4 processes</c:v>
          </c:tx>
          <c:spPr>
            <a:ln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>
                <a:srgbClr val="C2413B"/>
              </a:solidFill>
            </c:spPr>
          </c:marker>
          <c:xVal>
            <c:numRef>
              <c:f>'Chart Data'!$C$2:$C$31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Data'!$D$2:$D$31</c:f>
              <c:numCache>
                <c:formatCode>0</c:formatCode>
                <c:ptCount val="30"/>
                <c:pt idx="0">
                  <c:v>1.506796</c:v>
                </c:pt>
                <c:pt idx="1">
                  <c:v>1.6296170000000001</c:v>
                </c:pt>
                <c:pt idx="2">
                  <c:v>1.882136</c:v>
                </c:pt>
                <c:pt idx="3">
                  <c:v>2.1970540000000001</c:v>
                </c:pt>
                <c:pt idx="4">
                  <c:v>2.351178</c:v>
                </c:pt>
                <c:pt idx="5">
                  <c:v>2.680151</c:v>
                </c:pt>
                <c:pt idx="6">
                  <c:v>2.9499209999999998</c:v>
                </c:pt>
                <c:pt idx="7">
                  <c:v>3.1320209999999999</c:v>
                </c:pt>
                <c:pt idx="8">
                  <c:v>3.5112670000000001</c:v>
                </c:pt>
                <c:pt idx="9">
                  <c:v>3.7926760000000002</c:v>
                </c:pt>
                <c:pt idx="10">
                  <c:v>3.7657729999999998</c:v>
                </c:pt>
                <c:pt idx="11">
                  <c:v>4.3506410000000004</c:v>
                </c:pt>
                <c:pt idx="12">
                  <c:v>4.3719289999999997</c:v>
                </c:pt>
                <c:pt idx="13">
                  <c:v>4.6503699999999997</c:v>
                </c:pt>
                <c:pt idx="14">
                  <c:v>4.9977479999999996</c:v>
                </c:pt>
                <c:pt idx="15">
                  <c:v>5.308287</c:v>
                </c:pt>
                <c:pt idx="16">
                  <c:v>5.5422880000000001</c:v>
                </c:pt>
                <c:pt idx="17">
                  <c:v>6.0786350000000002</c:v>
                </c:pt>
                <c:pt idx="18">
                  <c:v>6.2183229999999998</c:v>
                </c:pt>
                <c:pt idx="19">
                  <c:v>6.5722950000000004</c:v>
                </c:pt>
                <c:pt idx="20">
                  <c:v>6.8340959999999997</c:v>
                </c:pt>
                <c:pt idx="21">
                  <c:v>7.0886909999999999</c:v>
                </c:pt>
                <c:pt idx="22">
                  <c:v>7.5838489999999998</c:v>
                </c:pt>
                <c:pt idx="23">
                  <c:v>7.8475210000000004</c:v>
                </c:pt>
                <c:pt idx="24">
                  <c:v>8.5634840000000008</c:v>
                </c:pt>
                <c:pt idx="25">
                  <c:v>8.7925889999999995</c:v>
                </c:pt>
                <c:pt idx="26">
                  <c:v>8.8412670000000002</c:v>
                </c:pt>
                <c:pt idx="27">
                  <c:v>8.8605099999999997</c:v>
                </c:pt>
                <c:pt idx="28">
                  <c:v>9.3665199999999995</c:v>
                </c:pt>
                <c:pt idx="29">
                  <c:v>9.8657070000000004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793D-464E-A597-67AFF3599CE6}"/>
            </c:ext>
          </c:extLst>
        </c:ser>
        <c:ser>
          <c:idx val="2"/>
          <c:order val="2"/>
          <c:tx>
            <c:v>OpenMP • 4 threads</c:v>
          </c:tx>
          <c:spPr>
            <a:ln w="21908">
              <a:solidFill>
                <a:srgbClr val="2F855A"/>
              </a:solidFill>
              <a:prstDash val="solid"/>
            </a:ln>
          </c:spPr>
          <c:marker>
            <c:symbol val="circle"/>
            <c:size val="4"/>
            <c:spPr>
              <a:solidFill>
                <a:srgbClr val="2F855A"/>
              </a:solidFill>
            </c:spPr>
          </c:marker>
          <c:xVal>
            <c:numRef>
              <c:f>'Chart Data'!$E$2:$E$31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Data'!$F$2:$F$31</c:f>
              <c:numCache>
                <c:formatCode>0</c:formatCode>
                <c:ptCount val="30"/>
                <c:pt idx="0">
                  <c:v>2.1676030000000002</c:v>
                </c:pt>
                <c:pt idx="1">
                  <c:v>2.3507310000000001</c:v>
                </c:pt>
                <c:pt idx="2">
                  <c:v>2.7713739999999998</c:v>
                </c:pt>
                <c:pt idx="3">
                  <c:v>3.009852</c:v>
                </c:pt>
                <c:pt idx="4">
                  <c:v>3.4002050000000001</c:v>
                </c:pt>
                <c:pt idx="5">
                  <c:v>3.580981</c:v>
                </c:pt>
                <c:pt idx="6">
                  <c:v>4.0657180000000004</c:v>
                </c:pt>
                <c:pt idx="7">
                  <c:v>4.3757229999999998</c:v>
                </c:pt>
                <c:pt idx="8">
                  <c:v>5.157762</c:v>
                </c:pt>
                <c:pt idx="9">
                  <c:v>5.4043239999999999</c:v>
                </c:pt>
                <c:pt idx="10">
                  <c:v>5.8172639999999998</c:v>
                </c:pt>
                <c:pt idx="11">
                  <c:v>5.9624110000000003</c:v>
                </c:pt>
                <c:pt idx="12">
                  <c:v>7.1496589999999998</c:v>
                </c:pt>
                <c:pt idx="13">
                  <c:v>6.9077000000000002</c:v>
                </c:pt>
                <c:pt idx="14">
                  <c:v>7.4693480000000001</c:v>
                </c:pt>
                <c:pt idx="15">
                  <c:v>8.9330630000000006</c:v>
                </c:pt>
                <c:pt idx="16">
                  <c:v>10.07874</c:v>
                </c:pt>
                <c:pt idx="17">
                  <c:v>9.2699820000000006</c:v>
                </c:pt>
                <c:pt idx="18">
                  <c:v>9.5730970000000006</c:v>
                </c:pt>
                <c:pt idx="19">
                  <c:v>12.896376</c:v>
                </c:pt>
                <c:pt idx="20">
                  <c:v>9.3883510000000001</c:v>
                </c:pt>
                <c:pt idx="21">
                  <c:v>9.7237609999999997</c:v>
                </c:pt>
                <c:pt idx="22">
                  <c:v>10.887108</c:v>
                </c:pt>
                <c:pt idx="23">
                  <c:v>11.360931000000001</c:v>
                </c:pt>
                <c:pt idx="24">
                  <c:v>11.247044000000001</c:v>
                </c:pt>
                <c:pt idx="25">
                  <c:v>11.750655</c:v>
                </c:pt>
                <c:pt idx="26">
                  <c:v>12.900694</c:v>
                </c:pt>
                <c:pt idx="27">
                  <c:v>12.988591</c:v>
                </c:pt>
                <c:pt idx="28">
                  <c:v>13.553134999999999</c:v>
                </c:pt>
                <c:pt idx="29">
                  <c:v>13.671737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793D-464E-A597-67AFF3599C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Runtime (seconds)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midCat"/>
        <c:majorUnit val="10"/>
      </c:valAx>
      <c:valAx>
        <c:axId val="48650112"/>
        <c:scaling>
          <c:orientation val="minMax"/>
          <c:max val="80"/>
          <c:min val="20"/>
        </c:scaling>
        <c:delete val="0"/>
        <c:axPos val="b"/>
        <c:title>
          <c:tx>
            <c:rich>
              <a:bodyPr/>
              <a:lstStyle/>
              <a:p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n (millions)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crossBetween val="midCat"/>
        <c:majorUnit val="10"/>
      </c:valAx>
      <c:spPr>
        <a:solidFill>
          <a:srgbClr val="FFFFFF"/>
        </a:solidFill>
        <a:ln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D9E2EC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Speedup against each implementation's matched serial baseline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Open MPI • 4 processes</c:v>
          </c:tx>
          <c:spPr>
            <a:ln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>
                <a:srgbClr val="C2413B"/>
              </a:solidFill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Data'!$B$2:$B$31</c:f>
              <c:numCache>
                <c:formatCode>0.0\x</c:formatCode>
                <c:ptCount val="30"/>
                <c:pt idx="0">
                  <c:v>3.3114979999999998</c:v>
                </c:pt>
                <c:pt idx="1">
                  <c:v>3.554945</c:v>
                </c:pt>
                <c:pt idx="2">
                  <c:v>3.5069400000000002</c:v>
                </c:pt>
                <c:pt idx="3">
                  <c:v>3.4501119999999998</c:v>
                </c:pt>
                <c:pt idx="4">
                  <c:v>3.486386</c:v>
                </c:pt>
                <c:pt idx="5">
                  <c:v>3.3555030000000001</c:v>
                </c:pt>
                <c:pt idx="6">
                  <c:v>3.3556590000000002</c:v>
                </c:pt>
                <c:pt idx="7">
                  <c:v>3.5936029999999999</c:v>
                </c:pt>
                <c:pt idx="8">
                  <c:v>3.3218450000000002</c:v>
                </c:pt>
                <c:pt idx="9">
                  <c:v>3.2908309999999998</c:v>
                </c:pt>
                <c:pt idx="10">
                  <c:v>3.5849859999999998</c:v>
                </c:pt>
                <c:pt idx="11">
                  <c:v>3.311588</c:v>
                </c:pt>
                <c:pt idx="12">
                  <c:v>3.5136090000000002</c:v>
                </c:pt>
                <c:pt idx="13">
                  <c:v>3.5784349999999998</c:v>
                </c:pt>
                <c:pt idx="14">
                  <c:v>3.4778120000000001</c:v>
                </c:pt>
                <c:pt idx="15">
                  <c:v>3.4647800000000002</c:v>
                </c:pt>
                <c:pt idx="16">
                  <c:v>3.5206170000000001</c:v>
                </c:pt>
                <c:pt idx="17">
                  <c:v>3.3752430000000002</c:v>
                </c:pt>
                <c:pt idx="18">
                  <c:v>3.4851749999999999</c:v>
                </c:pt>
                <c:pt idx="19">
                  <c:v>3.451079</c:v>
                </c:pt>
                <c:pt idx="20">
                  <c:v>3.4941409999999999</c:v>
                </c:pt>
                <c:pt idx="21">
                  <c:v>3.5118680000000002</c:v>
                </c:pt>
                <c:pt idx="22">
                  <c:v>3.486218</c:v>
                </c:pt>
                <c:pt idx="23">
                  <c:v>3.5328940000000002</c:v>
                </c:pt>
                <c:pt idx="24">
                  <c:v>3.3523260000000001</c:v>
                </c:pt>
                <c:pt idx="25">
                  <c:v>3.4422440000000001</c:v>
                </c:pt>
                <c:pt idx="26">
                  <c:v>3.4877220000000002</c:v>
                </c:pt>
                <c:pt idx="27">
                  <c:v>3.6222219999999998</c:v>
                </c:pt>
                <c:pt idx="28">
                  <c:v>3.561766</c:v>
                </c:pt>
                <c:pt idx="29">
                  <c:v>3.5127079999999999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85FD-4864-A7B5-2D0712B86FD8}"/>
            </c:ext>
          </c:extLst>
        </c:ser>
        <c:ser>
          <c:idx val="1"/>
          <c:order val="1"/>
          <c:tx>
            <c:v>OpenMP • 4 threads</c:v>
          </c:tx>
          <c:spPr>
            <a:ln w="21908">
              <a:solidFill>
                <a:srgbClr val="2F855A"/>
              </a:solidFill>
              <a:prstDash val="solid"/>
            </a:ln>
          </c:spPr>
          <c:marker>
            <c:symbol val="circle"/>
            <c:size val="4"/>
            <c:spPr>
              <a:solidFill>
                <a:srgbClr val="2F855A"/>
              </a:solidFill>
            </c:spPr>
          </c:marker>
          <c:xVal>
            <c:numRef>
              <c:f>'Chart Data'!$C$2:$C$31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Data'!$D$2:$D$31</c:f>
              <c:numCache>
                <c:formatCode>0.0\x</c:formatCode>
                <c:ptCount val="30"/>
                <c:pt idx="0">
                  <c:v>2.7066439999999998</c:v>
                </c:pt>
                <c:pt idx="1">
                  <c:v>2.8076789999999998</c:v>
                </c:pt>
                <c:pt idx="2">
                  <c:v>2.6714310000000001</c:v>
                </c:pt>
                <c:pt idx="3">
                  <c:v>2.7731629999999998</c:v>
                </c:pt>
                <c:pt idx="4">
                  <c:v>2.717482</c:v>
                </c:pt>
                <c:pt idx="5">
                  <c:v>2.8299620000000001</c:v>
                </c:pt>
                <c:pt idx="6">
                  <c:v>2.74614</c:v>
                </c:pt>
                <c:pt idx="7">
                  <c:v>2.7827289999999998</c:v>
                </c:pt>
                <c:pt idx="8">
                  <c:v>2.4955769999999999</c:v>
                </c:pt>
                <c:pt idx="9">
                  <c:v>2.618487</c:v>
                </c:pt>
                <c:pt idx="10">
                  <c:v>2.5900820000000002</c:v>
                </c:pt>
                <c:pt idx="11">
                  <c:v>2.737466</c:v>
                </c:pt>
                <c:pt idx="12">
                  <c:v>2.5494979999999998</c:v>
                </c:pt>
                <c:pt idx="13">
                  <c:v>2.6820499999999998</c:v>
                </c:pt>
                <c:pt idx="14">
                  <c:v>2.6481530000000002</c:v>
                </c:pt>
                <c:pt idx="15">
                  <c:v>2.3414549999999998</c:v>
                </c:pt>
                <c:pt idx="16">
                  <c:v>2.206639</c:v>
                </c:pt>
                <c:pt idx="17">
                  <c:v>2.5217719999999999</c:v>
                </c:pt>
                <c:pt idx="18">
                  <c:v>2.5689869999999999</c:v>
                </c:pt>
                <c:pt idx="19">
                  <c:v>1.9962299999999999</c:v>
                </c:pt>
                <c:pt idx="20">
                  <c:v>2.8909720000000001</c:v>
                </c:pt>
                <c:pt idx="21">
                  <c:v>2.9562339999999998</c:v>
                </c:pt>
                <c:pt idx="22">
                  <c:v>2.7617379999999998</c:v>
                </c:pt>
                <c:pt idx="23">
                  <c:v>2.776618</c:v>
                </c:pt>
                <c:pt idx="24">
                  <c:v>2.879432</c:v>
                </c:pt>
                <c:pt idx="25">
                  <c:v>2.9626939999999999</c:v>
                </c:pt>
                <c:pt idx="26">
                  <c:v>2.7123689999999998</c:v>
                </c:pt>
                <c:pt idx="27">
                  <c:v>2.8076669999999999</c:v>
                </c:pt>
                <c:pt idx="28">
                  <c:v>2.7892139999999999</c:v>
                </c:pt>
                <c:pt idx="29">
                  <c:v>2.8768449999999999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85FD-4864-A7B5-2D0712B86F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</c:title>
        <c:numFmt formatCode="0.0\x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midCat"/>
        <c:majorUnit val="1"/>
      </c:valAx>
      <c:valAx>
        <c:axId val="48650112"/>
        <c:scaling>
          <c:orientation val="minMax"/>
          <c:max val="80"/>
          <c:min val="20"/>
        </c:scaling>
        <c:delete val="0"/>
        <c:axPos val="b"/>
        <c:title>
          <c:tx>
            <c:rich>
              <a:bodyPr/>
              <a:lstStyle/>
              <a:p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n (millions)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crossBetween val="midCat"/>
        <c:majorUnit val="10"/>
      </c:valAx>
      <c:spPr>
        <a:solidFill>
          <a:srgbClr val="FFFFFF"/>
        </a:solidFill>
        <a:ln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D9E2EC"/>
      </a:solidFill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3 • matching worker counts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MPI processes</c:v>
          </c:tx>
          <c:spPr>
            <a:ln w="21908">
              <a:solidFill>
                <a:srgbClr val="C2413B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C2413B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'Chart Data'!$B$2:$B$6</c:f>
              <c:numCache>
                <c:formatCode>0.0\x</c:formatCode>
                <c:ptCount val="5"/>
                <c:pt idx="0">
                  <c:v>0.98963000000000001</c:v>
                </c:pt>
                <c:pt idx="1">
                  <c:v>1.878171</c:v>
                </c:pt>
                <c:pt idx="2">
                  <c:v>3.3784540000000001</c:v>
                </c:pt>
                <c:pt idx="3">
                  <c:v>4.6188650000000004</c:v>
                </c:pt>
                <c:pt idx="4">
                  <c:v>6.0150930000000002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AC7-4486-9143-90105E63C425}"/>
            </c:ext>
          </c:extLst>
        </c:ser>
        <c:ser>
          <c:idx val="1"/>
          <c:order val="1"/>
          <c:tx>
            <c:v>OpenMP threads</c:v>
          </c:tx>
          <c:spPr>
            <a:ln w="21908">
              <a:solidFill>
                <a:srgbClr val="2F855A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2F855A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'Chart Data'!$D$2:$D$6</c:f>
              <c:numCache>
                <c:formatCode>0.0\x</c:formatCode>
                <c:ptCount val="5"/>
                <c:pt idx="0">
                  <c:v>1.0049319999999999</c:v>
                </c:pt>
                <c:pt idx="1">
                  <c:v>1.5501879999999999</c:v>
                </c:pt>
                <c:pt idx="2">
                  <c:v>2.6939790000000001</c:v>
                </c:pt>
                <c:pt idx="3">
                  <c:v>4.3372169999999999</c:v>
                </c:pt>
                <c:pt idx="4">
                  <c:v>7.0755410000000003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AC7-4486-9143-90105E63C4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Processes or threads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</c:title>
        <c:numFmt formatCode="0.0\x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2"/>
      </c:valAx>
      <c:spPr>
        <a:solidFill>
          <a:srgbClr val="FFFFFF"/>
        </a:solidFill>
        <a:ln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D9E2EC"/>
      </a:solidFill>
      <a:prstDash val="solid"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6 • MPI empirical vs Amdahl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Empirical</c:v>
          </c:tx>
          <c:spPr>
            <a:ln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>
                <a:srgbClr val="C2413B"/>
              </a:solidFill>
            </c:spPr>
          </c:marker>
          <c:xVal>
            <c:numRef>
              <c:f>'Chart Data'!$A$2:$A$17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xVal>
          <c:yVal>
            <c:numRef>
              <c:f>'Chart Data'!$B$2:$B$17</c:f>
              <c:numCache>
                <c:formatCode>0.0\x</c:formatCode>
                <c:ptCount val="16"/>
                <c:pt idx="0">
                  <c:v>0.98963000000000001</c:v>
                </c:pt>
                <c:pt idx="1">
                  <c:v>1.878171</c:v>
                </c:pt>
                <c:pt idx="2">
                  <c:v>2.6350820000000001</c:v>
                </c:pt>
                <c:pt idx="3">
                  <c:v>3.3784540000000001</c:v>
                </c:pt>
                <c:pt idx="4">
                  <c:v>3.9068269999999998</c:v>
                </c:pt>
                <c:pt idx="5">
                  <c:v>4.2325720000000002</c:v>
                </c:pt>
                <c:pt idx="6">
                  <c:v>4.4321609999999998</c:v>
                </c:pt>
                <c:pt idx="7">
                  <c:v>4.6188650000000004</c:v>
                </c:pt>
                <c:pt idx="8">
                  <c:v>4.4208850000000002</c:v>
                </c:pt>
                <c:pt idx="9">
                  <c:v>4.1563860000000004</c:v>
                </c:pt>
                <c:pt idx="10">
                  <c:v>4.5503340000000003</c:v>
                </c:pt>
                <c:pt idx="11">
                  <c:v>5.3087419999999996</c:v>
                </c:pt>
                <c:pt idx="12">
                  <c:v>5.4069000000000003</c:v>
                </c:pt>
                <c:pt idx="13">
                  <c:v>5.8219440000000002</c:v>
                </c:pt>
                <c:pt idx="14">
                  <c:v>5.9713130000000003</c:v>
                </c:pt>
                <c:pt idx="15">
                  <c:v>6.0150930000000002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B6E3-439F-9DD7-2BECFEABD5E6}"/>
            </c:ext>
          </c:extLst>
        </c:ser>
        <c:ser>
          <c:idx val="1"/>
          <c:order val="1"/>
          <c:tx>
            <c:v>Amdahl ideal</c:v>
          </c:tx>
          <c:spPr>
            <a:ln w="21908">
              <a:solidFill>
                <a:srgbClr val="F28E2B"/>
              </a:solidFill>
              <a:prstDash val="solid"/>
            </a:ln>
          </c:spPr>
          <c:marker>
            <c:symbol val="circle"/>
            <c:size val="4"/>
            <c:spPr>
              <a:solidFill>
                <a:srgbClr val="F28E2B"/>
              </a:solidFill>
            </c:spPr>
          </c:marker>
          <c:xVal>
            <c:numRef>
              <c:f>'Chart Data'!$C$2:$C$17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xVal>
          <c:yVal>
            <c:numRef>
              <c:f>'Chart Data'!$D$2:$D$17</c:f>
              <c:numCache>
                <c:formatCode>0.0\x</c:formatCode>
                <c:ptCount val="16"/>
                <c:pt idx="0">
                  <c:v>1</c:v>
                </c:pt>
                <c:pt idx="1">
                  <c:v>1.965524</c:v>
                </c:pt>
                <c:pt idx="2">
                  <c:v>2.8983240000000001</c:v>
                </c:pt>
                <c:pt idx="3">
                  <c:v>3.800036</c:v>
                </c:pt>
                <c:pt idx="4">
                  <c:v>4.6721890000000004</c:v>
                </c:pt>
                <c:pt idx="5">
                  <c:v>5.5162129999999996</c:v>
                </c:pt>
                <c:pt idx="6">
                  <c:v>6.3334469999999996</c:v>
                </c:pt>
                <c:pt idx="7">
                  <c:v>7.1251470000000001</c:v>
                </c:pt>
                <c:pt idx="8">
                  <c:v>7.8924909999999997</c:v>
                </c:pt>
                <c:pt idx="9">
                  <c:v>8.6365859999999994</c:v>
                </c:pt>
                <c:pt idx="10">
                  <c:v>9.3584720000000008</c:v>
                </c:pt>
                <c:pt idx="11">
                  <c:v>10.05913</c:v>
                </c:pt>
                <c:pt idx="12">
                  <c:v>10.739483</c:v>
                </c:pt>
                <c:pt idx="13">
                  <c:v>11.400399</c:v>
                </c:pt>
                <c:pt idx="14">
                  <c:v>12.042700999999999</c:v>
                </c:pt>
                <c:pt idx="15">
                  <c:v>12.667164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B6E3-439F-9DD7-2BECFEABD5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</a:t>
                </a:r>
              </a:p>
            </c:rich>
          </c:tx>
          <c:overlay val="0"/>
        </c:title>
        <c:numFmt formatCode="0.0\x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midCat"/>
        <c:majorUnit val="2"/>
      </c:valAx>
      <c:valAx>
        <c:axId val="48650112"/>
        <c:scaling>
          <c:orientation val="minMax"/>
          <c:max val="16"/>
          <c:min val="1"/>
        </c:scaling>
        <c:delete val="0"/>
        <c:axPos val="b"/>
        <c:title>
          <c:tx>
            <c:rich>
              <a:bodyPr/>
              <a:lstStyle/>
              <a:p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processes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crossBetween val="midCat"/>
        <c:majorUnit val="3"/>
      </c:valAx>
      <c:spPr>
        <a:solidFill>
          <a:srgbClr val="FFFFFF"/>
        </a:solidFill>
        <a:ln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D9E2EC"/>
      </a:solidFill>
      <a:prstDash val="solid"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4 • fixed 4 MPI processes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Hybrid / Task 1</c:v>
          </c:tx>
          <c:spPr>
            <a:ln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7957A5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'Chart Data'!$B$2:$B$6</c:f>
              <c:numCache>
                <c:formatCode>0.0\x</c:formatCode>
                <c:ptCount val="5"/>
                <c:pt idx="0">
                  <c:v>1.0122949999999999</c:v>
                </c:pt>
                <c:pt idx="1">
                  <c:v>1.530386</c:v>
                </c:pt>
                <c:pt idx="2">
                  <c:v>2.3863530000000002</c:v>
                </c:pt>
                <c:pt idx="3">
                  <c:v>2.3581089999999998</c:v>
                </c:pt>
                <c:pt idx="4">
                  <c:v>2.2451110000000001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ABE-40D6-8828-A179D7467E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Threads per MPI process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.7"/>
          <c:min val="0"/>
        </c:scaling>
        <c:delete val="0"/>
        <c:axPos val="l"/>
        <c:majorGridlines>
          <c:spPr>
            <a:ln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 versus 4-rank Task 1</a:t>
                </a:r>
              </a:p>
            </c:rich>
          </c:tx>
          <c:overlay val="0"/>
        </c:title>
        <c:numFmt formatCode="0.0\x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0.5"/>
      </c:valAx>
      <c:spPr>
        <a:solidFill>
          <a:srgbClr val="FFFFFF"/>
        </a:solidFill>
        <a:ln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D9E2EC"/>
      </a:solidFill>
      <a:prstDash val="solid"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5 • matched total workers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Hybrid MPI × OpenMP</c:v>
          </c:tx>
          <c:spPr>
            <a:ln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7957A5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1×1</c:v>
                </c:pt>
                <c:pt idx="1">
                  <c:v>2×1</c:v>
                </c:pt>
                <c:pt idx="2">
                  <c:v>2×2</c:v>
                </c:pt>
                <c:pt idx="3">
                  <c:v>4×2</c:v>
                </c:pt>
                <c:pt idx="4">
                  <c:v>4×4</c:v>
                </c:pt>
              </c:strCache>
            </c:strRef>
          </c:cat>
          <c:val>
            <c:numRef>
              <c:f>'Chart Data'!$B$2:$B$6</c:f>
              <c:numCache>
                <c:formatCode>0.0\x</c:formatCode>
                <c:ptCount val="5"/>
                <c:pt idx="0">
                  <c:v>0.996865</c:v>
                </c:pt>
                <c:pt idx="1">
                  <c:v>1.91408</c:v>
                </c:pt>
                <c:pt idx="2">
                  <c:v>3.5150549999999998</c:v>
                </c:pt>
                <c:pt idx="3">
                  <c:v>5.15</c:v>
                </c:pt>
                <c:pt idx="4">
                  <c:v>8.0304710000000004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847-4A81-8740-5E802E5DA9B9}"/>
            </c:ext>
          </c:extLst>
        </c:ser>
        <c:ser>
          <c:idx val="1"/>
          <c:order val="1"/>
          <c:tx>
            <c:v>OpenMP matched threads</c:v>
          </c:tx>
          <c:spPr>
            <a:ln w="21908">
              <a:solidFill>
                <a:srgbClr val="2F855A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2F855A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1×1</c:v>
                </c:pt>
                <c:pt idx="1">
                  <c:v>2×1</c:v>
                </c:pt>
                <c:pt idx="2">
                  <c:v>2×2</c:v>
                </c:pt>
                <c:pt idx="3">
                  <c:v>4×2</c:v>
                </c:pt>
                <c:pt idx="4">
                  <c:v>4×4</c:v>
                </c:pt>
              </c:strCache>
            </c:strRef>
          </c:cat>
          <c:val>
            <c:numRef>
              <c:f>'Chart Data'!$D$2:$D$6</c:f>
              <c:numCache>
                <c:formatCode>0.0\x</c:formatCode>
                <c:ptCount val="5"/>
                <c:pt idx="0">
                  <c:v>1.003352</c:v>
                </c:pt>
                <c:pt idx="1">
                  <c:v>1.5477510000000001</c:v>
                </c:pt>
                <c:pt idx="2">
                  <c:v>2.689743</c:v>
                </c:pt>
                <c:pt idx="3">
                  <c:v>4.3303979999999997</c:v>
                </c:pt>
                <c:pt idx="4">
                  <c:v>7.0644159999999996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847-4A81-8740-5E802E5DA9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ranks × threads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</c:title>
        <c:numFmt formatCode="0.0\x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2"/>
      </c:valAx>
      <c:spPr>
        <a:solidFill>
          <a:srgbClr val="FFFFFF"/>
        </a:solidFill>
        <a:ln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D9E2EC"/>
      </a:solidFill>
      <a:prstDash val="solid"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Hybrid empirical versus ideal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Empirical</c:v>
          </c:tx>
          <c:spPr>
            <a:ln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7957A5"/>
              </a:solidFill>
            </c:spPr>
          </c:marker>
          <c:cat>
            <c:strRef>
              <c:f>'Chart Data'!$A$2:$A$8</c:f>
              <c:strCache>
                <c:ptCount val="7"/>
                <c:pt idx="0">
                  <c:v>1×1</c:v>
                </c:pt>
                <c:pt idx="1">
                  <c:v>2×1</c:v>
                </c:pt>
                <c:pt idx="2">
                  <c:v>2×2</c:v>
                </c:pt>
                <c:pt idx="3">
                  <c:v>4×2</c:v>
                </c:pt>
                <c:pt idx="4">
                  <c:v>4×4</c:v>
                </c:pt>
                <c:pt idx="5">
                  <c:v>4×8</c:v>
                </c:pt>
                <c:pt idx="6">
                  <c:v>4×16</c:v>
                </c:pt>
              </c:strCache>
            </c:strRef>
          </c:cat>
          <c:val>
            <c:numRef>
              <c:f>'Chart Data'!$B$2:$B$8</c:f>
              <c:numCache>
                <c:formatCode>0.0\x</c:formatCode>
                <c:ptCount val="7"/>
                <c:pt idx="0">
                  <c:v>0.996865</c:v>
                </c:pt>
                <c:pt idx="1">
                  <c:v>1.91408</c:v>
                </c:pt>
                <c:pt idx="2">
                  <c:v>3.5150549999999998</c:v>
                </c:pt>
                <c:pt idx="3">
                  <c:v>5.15</c:v>
                </c:pt>
                <c:pt idx="4">
                  <c:v>8.0304710000000004</c:v>
                </c:pt>
                <c:pt idx="5">
                  <c:v>7.9354250000000004</c:v>
                </c:pt>
                <c:pt idx="6">
                  <c:v>7.5551680000000001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D16-4CD7-BF2A-792B45BF3F16}"/>
            </c:ext>
          </c:extLst>
        </c:ser>
        <c:ser>
          <c:idx val="1"/>
          <c:order val="1"/>
          <c:tx>
            <c:v>Amdahl ideal</c:v>
          </c:tx>
          <c:spPr>
            <a:ln w="21908">
              <a:solidFill>
                <a:srgbClr val="F28E2B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F28E2B"/>
              </a:solidFill>
            </c:spPr>
          </c:marker>
          <c:cat>
            <c:strRef>
              <c:f>'Chart Data'!$C$2:$C$8</c:f>
              <c:strCache>
                <c:ptCount val="7"/>
                <c:pt idx="0">
                  <c:v>1×1</c:v>
                </c:pt>
                <c:pt idx="1">
                  <c:v>2×1</c:v>
                </c:pt>
                <c:pt idx="2">
                  <c:v>2×2</c:v>
                </c:pt>
                <c:pt idx="3">
                  <c:v>4×2</c:v>
                </c:pt>
                <c:pt idx="4">
                  <c:v>4×4</c:v>
                </c:pt>
                <c:pt idx="5">
                  <c:v>4×8</c:v>
                </c:pt>
                <c:pt idx="6">
                  <c:v>4×16</c:v>
                </c:pt>
              </c:strCache>
            </c:strRef>
          </c:cat>
          <c:val>
            <c:numRef>
              <c:f>'Chart Data'!$D$2:$D$8</c:f>
              <c:numCache>
                <c:formatCode>0.0\x</c:formatCode>
                <c:ptCount val="7"/>
                <c:pt idx="0">
                  <c:v>1</c:v>
                </c:pt>
                <c:pt idx="1">
                  <c:v>1.966521</c:v>
                </c:pt>
                <c:pt idx="2">
                  <c:v>3.8056329999999998</c:v>
                </c:pt>
                <c:pt idx="3">
                  <c:v>7.1481450000000004</c:v>
                </c:pt>
                <c:pt idx="4">
                  <c:v>12.745272999999999</c:v>
                </c:pt>
                <c:pt idx="5">
                  <c:v>20.945709000000001</c:v>
                </c:pt>
                <c:pt idx="6">
                  <c:v>30.879939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D16-4CD7-BF2A-792B45BF3F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ranks × threads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</a:t>
                </a:r>
              </a:p>
            </c:rich>
          </c:tx>
          <c:overlay val="0"/>
        </c:title>
        <c:numFmt formatCode="0.0\x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  <a:prstDash val="solid"/>
          </a:ln>
        </c:spPr>
        <c:txPr>
          <a:bodyPr anchorCtr="1"/>
          <a:lstStyle/>
          <a:p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D9E2EC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results/local_cluster_execution.txt; scripts/verify_correctness.sh; results/n_scaling.csv; results/task1_process_scaling.csv; results/hybrid_scaling.csv.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results/partition_balance.csv. Each value is the median of three runs at n=20,000,000. The strategy comparison uses identical primality testing, merge and output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results/n_scaling.csv (current serial and MPI sweep) and results/openmp_n_scaling.csv (prior Week 4 OpenMP sweep). Both use the same machine, n values and 4 workers, but were measured in separate sessions; absolute runtime may include session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MPI speedup from results/n_scaling.csv. OpenMP speedup = results/task3_n_scaling.csv serial_total divided by results/openmp_n_scaling.csv openmp_time for the same n. This avoids mixing serial baselines across sessions.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Graph 3 sources: results/task1_process_scaling.csv and results/openmp_thread_scaling.csv. Graph 6 source: results/task1_process_scaling.csv. Process-scaling points are medians of three runs at n=60,000,000.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results/local_cluster_execution.txt. This representative run records per-rank compute times, candidate-count range, total runtime, commands and exact sorted-output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results/hybrid_scaling.csv and results/openmp_thread_scaling.csv. Hybrid points are medians of three runs at n=60,000,000. Graph 5 compares equal total worker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results/hybrid_scaling.csv. The benchmark series is local single-node data. CAAS evidence in Appendices 5–6 verifies a two-node Task 1 functional test at n = 10,000 and is not graph or balance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results/partition_balance.csv, results/task1_process_scaling.csv and results/hybrid_scaling.csv.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checklist distinguishes verified files from evidence that must be created by the students. Appendix 3 and Appendix 4 contain authentic local WSL2 terminal captures. The prompt-record PDF must still be exported from the actual AI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evidence/screenshots/task1_local_mpi_execution.png. Authentic local WSL2 single-node MPI run, n=60M, 4 ranks; representative execution evidence only, not graph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evidence/screenshots/task2_local_hybrid_execution.png. Authentic local WSL2 single-node hybrid run, n=60M, 4 MPI ranks, 2 OpenMP threads per process; representative execution evidence only, not graph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evidence/screenshots/caas_login_and_setup.jpg. Authentic CAAS setup screenshot. It documents head-node access, scheduler visibility, and uploaded source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evidence/screenshots/caas_task1_two_node_execution.jpg. Authentic two-node CAAS Task 1 functional run at n = 10,000. The screenshot does not support performance or workload-balance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output/AI_Use_Declaration.pdf. This appendix reproduces a concise summary of the team's AI-use declaration. The PDF and authentic prompt/conversation record remain separate Moodle submission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3E0560C-9B5F-4444-B9CF-F5C4FD917B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F28E2B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5972E7-14C1-4DC6-A17C-FCEE1A3029A6}"/>
              </a:ext>
            </a:extLst>
          </p:cNvPr>
          <p:cNvSpPr>
            <a:spLocks noGrp="1"/>
          </p:cNvSpPr>
          <p:nvPr/>
        </p:nvSpPr>
        <p:spPr>
          <a:xfrm>
            <a:off x="704850" y="70485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000"/>
          </a:bodyPr>
          <a:lstStyle/>
          <a:p>
            <a:pPr algn="l">
              <a:buNone/>
              <a:defRPr sz="1125" b="1" i="0">
                <a:solidFill>
                  <a:srgbClr val="B7E7E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7E7E5"/>
                </a:solidFill>
                <a:latin typeface="Arial"/>
                <a:ea typeface="Arial"/>
                <a:cs typeface="Arial"/>
              </a:rPr>
              <a:t>FIT3143 • PARALLEL COMPUTING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049D99-5238-45FB-9B40-9A3C062CDA6F}"/>
              </a:ext>
            </a:extLst>
          </p:cNvPr>
          <p:cNvSpPr>
            <a:spLocks noGrp="1"/>
          </p:cNvSpPr>
          <p:nvPr/>
        </p:nvSpPr>
        <p:spPr>
          <a:xfrm>
            <a:off x="704850" y="1285875"/>
            <a:ext cx="100965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Prime Search at Scale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4D3550-A2D8-4B49-A2A7-68D6F035EDCE}"/>
              </a:ext>
            </a:extLst>
          </p:cNvPr>
          <p:cNvSpPr>
            <a:spLocks noGrp="1"/>
          </p:cNvSpPr>
          <p:nvPr/>
        </p:nvSpPr>
        <p:spPr>
          <a:xfrm>
            <a:off x="704850" y="2114550"/>
            <a:ext cx="9048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175" b="0" i="0">
                <a:solidFill>
                  <a:srgbClr val="D4F4F2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4F4F2"/>
                </a:solidFill>
                <a:latin typeface="Arial"/>
                <a:ea typeface="Arial"/>
                <a:cs typeface="Arial"/>
              </a:rPr>
              <a:t>Open MPI and hybrid MPI + OpenMP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59ECC9-EE52-47D3-8976-E2C34E0C9DF6}"/>
              </a:ext>
            </a:extLst>
          </p:cNvPr>
          <p:cNvSpPr>
            <a:spLocks noGrp="1"/>
          </p:cNvSpPr>
          <p:nvPr/>
        </p:nvSpPr>
        <p:spPr>
          <a:xfrm>
            <a:off x="704850" y="3028950"/>
            <a:ext cx="4476750" cy="47625"/>
          </a:xfrm>
          <a:prstGeom prst="rect">
            <a:avLst/>
          </a:prstGeom>
          <a:solidFill>
            <a:srgbClr val="F28E2B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FE9C5A-00EF-4DB8-A13C-982370ABE1BA}"/>
              </a:ext>
            </a:extLst>
          </p:cNvPr>
          <p:cNvSpPr>
            <a:spLocks noGrp="1"/>
          </p:cNvSpPr>
          <p:nvPr/>
        </p:nvSpPr>
        <p:spPr>
          <a:xfrm>
            <a:off x="704850" y="3333750"/>
            <a:ext cx="8763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424"/>
          </a:bodyPr>
          <a:lstStyle/>
          <a:p>
            <a:pPr algn="l">
              <a:buNone/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Correctness • workload balance • measured scalability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82A8EE-478E-434D-A8FB-8F58691F1850}"/>
              </a:ext>
            </a:extLst>
          </p:cNvPr>
          <p:cNvSpPr>
            <a:spLocks noGrp="1"/>
          </p:cNvSpPr>
          <p:nvPr/>
        </p:nvSpPr>
        <p:spPr>
          <a:xfrm>
            <a:off x="704850" y="4810125"/>
            <a:ext cx="781050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Savin Vindiv De Alwis (35221631)</a:t>
            </a:r>
          </a:p>
          <a:p>
            <a:pPr algn="l">
              <a:buNone/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Willwara Arachchilage Shamle Imal Thilaksiri (35512075)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F5BA8E-9265-46F3-AD73-C49E6B1BA085}"/>
              </a:ext>
            </a:extLst>
          </p:cNvPr>
          <p:cNvSpPr>
            <a:spLocks noGrp="1"/>
          </p:cNvSpPr>
          <p:nvPr/>
        </p:nvSpPr>
        <p:spPr>
          <a:xfrm>
            <a:off x="704850" y="590550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000"/>
          </a:bodyPr>
          <a:lstStyle/>
          <a:p>
            <a:pPr algn="l">
              <a:buNone/>
              <a:defRPr sz="1125" b="1" i="0">
                <a:solidFill>
                  <a:srgbClr val="B7E7E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7E7E5"/>
                </a:solidFill>
                <a:latin typeface="Arial"/>
                <a:ea typeface="Arial"/>
                <a:cs typeface="Arial"/>
              </a:rPr>
              <a:t>Main presentation: 6 min 25 s</a:t>
            </a:r>
          </a:p>
        </p:txBody>
      </p:sp>
    </p:spTree>
    <p:extLst>
      <p:ext uri="{BB962C8B-B14F-4D97-AF65-F5344CB8AC3E}">
        <p14:creationId xmlns:p14="http://schemas.microsoft.com/office/powerpoint/2010/main" val="728995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0D4510F-24D0-49AD-96B0-BCD1BF6097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D80DDA-D276-4CAC-B51C-B62B5349D5FE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l">
              <a:buNone/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ABEB4C-D020-4713-8FD5-F173697B961A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/>
          </a:bodyPr>
          <a:lstStyle/>
          <a:p>
            <a:pPr algn="l">
              <a:buNone/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Experimental setup and correctness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C61126-EC00-4AD4-B889-E4DA4094F6B5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2 / 9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FC2D72-0380-44E9-9363-66455AB1D371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3429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F7FA6B-61A2-432D-A7E2-03ED9BE3967A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66675" cy="1428750"/>
          </a:xfrm>
          <a:prstGeom prst="rect">
            <a:avLst/>
          </a:prstGeom>
          <a:solidFill>
            <a:srgbClr val="3B6FB6"/>
          </a:solidFill>
          <a:ln w="9525">
            <a:solidFill>
              <a:srgbClr val="3B6F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56C454-863A-4DC1-9231-C112D24ED769}"/>
              </a:ext>
            </a:extLst>
          </p:cNvPr>
          <p:cNvSpPr>
            <a:spLocks noGrp="1"/>
          </p:cNvSpPr>
          <p:nvPr/>
        </p:nvSpPr>
        <p:spPr>
          <a:xfrm>
            <a:off x="762000" y="1314450"/>
            <a:ext cx="30670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E48BF1-66F1-48A8-98B9-B7E15362253D}"/>
              </a:ext>
            </a:extLst>
          </p:cNvPr>
          <p:cNvSpPr>
            <a:spLocks noGrp="1"/>
          </p:cNvSpPr>
          <p:nvPr/>
        </p:nvSpPr>
        <p:spPr>
          <a:xfrm>
            <a:off x="762000" y="1590675"/>
            <a:ext cx="30670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1 node • 14C / 20T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35B6A2-D7E3-4B01-94B1-978C8BEC6638}"/>
              </a:ext>
            </a:extLst>
          </p:cNvPr>
          <p:cNvSpPr>
            <a:spLocks noGrp="1"/>
          </p:cNvSpPr>
          <p:nvPr/>
        </p:nvSpPr>
        <p:spPr>
          <a:xfrm>
            <a:off x="762000" y="2028825"/>
            <a:ext cx="30670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WSL2 Ubuntu • Open MPI 4.1.6</a:t>
            </a:r>
          </a:p>
          <a:p>
            <a:pPr algn="l">
              <a:buNone/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Intel Core i7-13700H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FB29FCE-07A3-4F7C-BBA8-10BF9FDA09D5}"/>
              </a:ext>
            </a:extLst>
          </p:cNvPr>
          <p:cNvSpPr>
            <a:spLocks noGrp="1"/>
          </p:cNvSpPr>
          <p:nvPr/>
        </p:nvSpPr>
        <p:spPr>
          <a:xfrm>
            <a:off x="4381500" y="1162050"/>
            <a:ext cx="3429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1AC429-4968-4F8D-BBE4-34D601917B12}"/>
              </a:ext>
            </a:extLst>
          </p:cNvPr>
          <p:cNvSpPr>
            <a:spLocks noGrp="1"/>
          </p:cNvSpPr>
          <p:nvPr/>
        </p:nvSpPr>
        <p:spPr>
          <a:xfrm>
            <a:off x="4381500" y="1162050"/>
            <a:ext cx="66675" cy="1428750"/>
          </a:xfrm>
          <a:prstGeom prst="rect">
            <a:avLst/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526DE5-204C-4CB2-ABBD-42512FF5CB5B}"/>
              </a:ext>
            </a:extLst>
          </p:cNvPr>
          <p:cNvSpPr>
            <a:spLocks noGrp="1"/>
          </p:cNvSpPr>
          <p:nvPr/>
        </p:nvSpPr>
        <p:spPr>
          <a:xfrm>
            <a:off x="4591050" y="1314450"/>
            <a:ext cx="30670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PRIMARY WORKLOAD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6C954D-B61A-4142-8E44-DEB8B0A4BDCF}"/>
              </a:ext>
            </a:extLst>
          </p:cNvPr>
          <p:cNvSpPr>
            <a:spLocks noGrp="1"/>
          </p:cNvSpPr>
          <p:nvPr/>
        </p:nvSpPr>
        <p:spPr>
          <a:xfrm>
            <a:off x="4591050" y="1590675"/>
            <a:ext cx="30670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 = 60,000,000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267467-628C-433F-B578-D739E6133ABC}"/>
              </a:ext>
            </a:extLst>
          </p:cNvPr>
          <p:cNvSpPr>
            <a:spLocks noGrp="1"/>
          </p:cNvSpPr>
          <p:nvPr/>
        </p:nvSpPr>
        <p:spPr>
          <a:xfrm>
            <a:off x="4591050" y="2028825"/>
            <a:ext cx="30670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3,562,115 primes below n</a:t>
            </a:r>
          </a:p>
          <a:p>
            <a:pPr algn="l">
              <a:buNone/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all output written by rank 0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082C76A-9BB3-498D-9EA9-D90D386C4547}"/>
              </a:ext>
            </a:extLst>
          </p:cNvPr>
          <p:cNvSpPr>
            <a:spLocks noGrp="1"/>
          </p:cNvSpPr>
          <p:nvPr/>
        </p:nvSpPr>
        <p:spPr>
          <a:xfrm>
            <a:off x="8210550" y="1162050"/>
            <a:ext cx="3429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F5D31B-176B-45B9-B3B1-D9DD47051EF2}"/>
              </a:ext>
            </a:extLst>
          </p:cNvPr>
          <p:cNvSpPr>
            <a:spLocks noGrp="1"/>
          </p:cNvSpPr>
          <p:nvPr/>
        </p:nvSpPr>
        <p:spPr>
          <a:xfrm>
            <a:off x="8210550" y="1162050"/>
            <a:ext cx="66675" cy="1428750"/>
          </a:xfrm>
          <a:prstGeom prst="rect">
            <a:avLst/>
          </a:prstGeom>
          <a:solidFill>
            <a:srgbClr val="F28E2B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974F7D-7BAB-4581-BBDF-FC9C5EDE1B0B}"/>
              </a:ext>
            </a:extLst>
          </p:cNvPr>
          <p:cNvSpPr>
            <a:spLocks noGrp="1"/>
          </p:cNvSpPr>
          <p:nvPr/>
        </p:nvSpPr>
        <p:spPr>
          <a:xfrm>
            <a:off x="8420100" y="1314450"/>
            <a:ext cx="30670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47EC91-665B-406E-B8B2-8A149D56EB6F}"/>
              </a:ext>
            </a:extLst>
          </p:cNvPr>
          <p:cNvSpPr>
            <a:spLocks noGrp="1"/>
          </p:cNvSpPr>
          <p:nvPr/>
        </p:nvSpPr>
        <p:spPr>
          <a:xfrm>
            <a:off x="8420100" y="1590675"/>
            <a:ext cx="30670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30 n values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508CAC-8EC3-4538-ACB8-D3D056F30543}"/>
              </a:ext>
            </a:extLst>
          </p:cNvPr>
          <p:cNvSpPr>
            <a:spLocks noGrp="1"/>
          </p:cNvSpPr>
          <p:nvPr/>
        </p:nvSpPr>
        <p:spPr>
          <a:xfrm>
            <a:off x="8420100" y="2028825"/>
            <a:ext cx="30670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20M–78M • MPI ranks 1–16</a:t>
            </a:r>
          </a:p>
          <a:p>
            <a:pPr algn="l">
              <a:buNone/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OpenMP threads 1–16 • up to 64 workers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BA7216D-51DC-4783-B376-4B0D7F91DEEA}"/>
              </a:ext>
            </a:extLst>
          </p:cNvPr>
          <p:cNvSpPr>
            <a:spLocks noGrp="1"/>
          </p:cNvSpPr>
          <p:nvPr/>
        </p:nvSpPr>
        <p:spPr>
          <a:xfrm>
            <a:off x="552450" y="2952750"/>
            <a:ext cx="5334000" cy="276225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5B8D5A-41ED-4F13-AFA2-55B8C86B78D7}"/>
              </a:ext>
            </a:extLst>
          </p:cNvPr>
          <p:cNvSpPr>
            <a:spLocks noGrp="1"/>
          </p:cNvSpPr>
          <p:nvPr/>
        </p:nvSpPr>
        <p:spPr>
          <a:xfrm>
            <a:off x="781050" y="31813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9697"/>
          </a:bodyPr>
          <a:lstStyle/>
          <a:p>
            <a:pPr algn="l">
              <a:buNone/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Measurement discipline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9884FA-5781-4728-A866-4B74BD2FC95A}"/>
              </a:ext>
            </a:extLst>
          </p:cNvPr>
          <p:cNvSpPr>
            <a:spLocks noGrp="1"/>
          </p:cNvSpPr>
          <p:nvPr/>
        </p:nvSpPr>
        <p:spPr>
          <a:xfrm>
            <a:off x="781050" y="3676650"/>
            <a:ext cx="21907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4583"/>
          </a:bodyPr>
          <a:lstStyle/>
          <a:p>
            <a:pPr algn="l">
              <a:buNone/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Process and hybrid scaling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04437C-185C-44F9-94D7-E273E11DF46F}"/>
              </a:ext>
            </a:extLst>
          </p:cNvPr>
          <p:cNvSpPr>
            <a:spLocks noGrp="1"/>
          </p:cNvSpPr>
          <p:nvPr/>
        </p:nvSpPr>
        <p:spPr>
          <a:xfrm>
            <a:off x="781050" y="3943350"/>
            <a:ext cx="4619625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Median of 3 end-to-end runs; computation, gather and root post-processing recorded separately.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8CEC99-B882-47DD-B565-66AD76025C80}"/>
              </a:ext>
            </a:extLst>
          </p:cNvPr>
          <p:cNvSpPr>
            <a:spLocks noGrp="1"/>
          </p:cNvSpPr>
          <p:nvPr/>
        </p:nvSpPr>
        <p:spPr>
          <a:xfrm>
            <a:off x="781050" y="4724400"/>
            <a:ext cx="21907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4583"/>
          </a:bodyPr>
          <a:lstStyle/>
          <a:p>
            <a:pPr algn="l">
              <a:buNone/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 sweep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C9484C0-9F69-4054-8801-8500352EFA00}"/>
              </a:ext>
            </a:extLst>
          </p:cNvPr>
          <p:cNvSpPr>
            <a:spLocks noGrp="1"/>
          </p:cNvSpPr>
          <p:nvPr/>
        </p:nvSpPr>
        <p:spPr>
          <a:xfrm>
            <a:off x="781050" y="4991100"/>
            <a:ext cx="4619625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One run at every required n; every runtime exceeds one second. Oversubscription is included explicitly.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F53D617-1080-41CD-8F6E-FD0681CE3A16}"/>
              </a:ext>
            </a:extLst>
          </p:cNvPr>
          <p:cNvSpPr>
            <a:spLocks noGrp="1"/>
          </p:cNvSpPr>
          <p:nvPr/>
        </p:nvSpPr>
        <p:spPr>
          <a:xfrm>
            <a:off x="6210300" y="2952750"/>
            <a:ext cx="5429250" cy="2762250"/>
          </a:xfrm>
          <a:prstGeom prst="roundRect">
            <a:avLst>
              <a:gd name="adj" fmla="val 2759"/>
            </a:avLst>
          </a:prstGeom>
          <a:solidFill>
            <a:srgbClr val="E6FFFA"/>
          </a:solidFill>
          <a:ln w="9525">
            <a:solidFill>
              <a:srgbClr val="9ED9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A7548F3-661A-46BD-B558-F830D75413E5}"/>
              </a:ext>
            </a:extLst>
          </p:cNvPr>
          <p:cNvSpPr>
            <a:spLocks noGrp="1"/>
          </p:cNvSpPr>
          <p:nvPr/>
        </p:nvSpPr>
        <p:spPr>
          <a:xfrm>
            <a:off x="6477000" y="31813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9697"/>
          </a:bodyPr>
          <a:lstStyle/>
          <a:p>
            <a:pPr algn="l">
              <a:buNone/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Independent exact validation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C6811D6-C103-4093-8C95-D303D9B25BF9}"/>
              </a:ext>
            </a:extLst>
          </p:cNvPr>
          <p:cNvSpPr>
            <a:spLocks noGrp="1"/>
          </p:cNvSpPr>
          <p:nvPr/>
        </p:nvSpPr>
        <p:spPr>
          <a:xfrm>
            <a:off x="6477000" y="3695700"/>
            <a:ext cx="4762500" cy="933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Both programs were compared value-for-value with a separate sieve across MPI ranks 1–5 and thread counts 1–3, including n = 0, 1, 2, 3, 4, 10 and 1000.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8D96C56-A085-463B-8EF9-5B7DA7324E29}"/>
              </a:ext>
            </a:extLst>
          </p:cNvPr>
          <p:cNvSpPr>
            <a:spLocks noGrp="1"/>
          </p:cNvSpPr>
          <p:nvPr/>
        </p:nvSpPr>
        <p:spPr>
          <a:xfrm>
            <a:off x="6477000" y="4972050"/>
            <a:ext cx="47625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425" b="1" i="0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F855A"/>
                </a:solidFill>
                <a:latin typeface="Arial"/>
                <a:ea typeface="Arial"/>
                <a:cs typeface="Arial"/>
              </a:rPr>
              <a:t>PASS: sorted • unique • complete • prime-only • &lt; n</a:t>
            </a:r>
          </a:p>
        </p:txBody>
      </p:sp>
    </p:spTree>
    <p:extLst>
      <p:ext uri="{BB962C8B-B14F-4D97-AF65-F5344CB8AC3E}">
        <p14:creationId xmlns:p14="http://schemas.microsoft.com/office/powerpoint/2010/main" val="2130978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6EBB7998-746B-43F0-90E1-FA9E6BE310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2630A2-0057-4363-BA5B-F11197D10874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l">
              <a:buNone/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2F137C-C327-433F-A17D-6B90201A27F9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/>
          </a:bodyPr>
          <a:lstStyle/>
          <a:p>
            <a:pPr algn="l">
              <a:buNone/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Task 1: robust block-cyclic MPI partition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E6EEF9-29FE-43FA-8461-7167D9207AB9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3 / 9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6DA2BDF-B852-47F0-BE32-C77532DC846F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51435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938746-444F-491B-B9EA-0DF68350EE8B}"/>
              </a:ext>
            </a:extLst>
          </p:cNvPr>
          <p:cNvSpPr>
            <a:spLocks noGrp="1"/>
          </p:cNvSpPr>
          <p:nvPr/>
        </p:nvSpPr>
        <p:spPr>
          <a:xfrm>
            <a:off x="781050" y="1352550"/>
            <a:ext cx="43815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4167"/>
          </a:bodyPr>
          <a:lstStyle/>
          <a:p>
            <a:pPr algn="l">
              <a:buNone/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Odd-candidate index space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1EF6EE-56C1-47E5-8A90-7B077161585C}"/>
              </a:ext>
            </a:extLst>
          </p:cNvPr>
          <p:cNvSpPr>
            <a:spLocks noGrp="1"/>
          </p:cNvSpPr>
          <p:nvPr/>
        </p:nvSpPr>
        <p:spPr>
          <a:xfrm>
            <a:off x="781050" y="1695450"/>
            <a:ext cx="4381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/>
          </a:bodyPr>
          <a:lstStyle/>
          <a:p>
            <a:pPr algn="l">
              <a:buNone/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Chunks of 64 odd candidates are assigned round-robin.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6E2FE-B02E-400F-ACAD-D4F95418FDFA}"/>
              </a:ext>
            </a:extLst>
          </p:cNvPr>
          <p:cNvSpPr>
            <a:spLocks noGrp="1"/>
          </p:cNvSpPr>
          <p:nvPr/>
        </p:nvSpPr>
        <p:spPr>
          <a:xfrm>
            <a:off x="819150" y="2190750"/>
            <a:ext cx="7239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111"/>
          </a:bodyPr>
          <a:lstStyle/>
          <a:p>
            <a:pPr algn="l">
              <a:buNone/>
              <a:defRPr sz="112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rank 0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9A3B257-EC73-43E5-A7BA-636D4D4FC92F}"/>
              </a:ext>
            </a:extLst>
          </p:cNvPr>
          <p:cNvSpPr>
            <a:spLocks noGrp="1"/>
          </p:cNvSpPr>
          <p:nvPr/>
        </p:nvSpPr>
        <p:spPr>
          <a:xfrm>
            <a:off x="1619250" y="2143125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3B6FB6"/>
          </a:solidFill>
          <a:ln w="9525">
            <a:solidFill>
              <a:srgbClr val="3B6F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5EC738-2AEB-463A-8609-D41CFD498040}"/>
              </a:ext>
            </a:extLst>
          </p:cNvPr>
          <p:cNvSpPr>
            <a:spLocks noGrp="1"/>
          </p:cNvSpPr>
          <p:nvPr/>
        </p:nvSpPr>
        <p:spPr>
          <a:xfrm>
            <a:off x="1619250" y="2190750"/>
            <a:ext cx="590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 algn="ctr"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0711FBB-D7BD-45EA-A91A-419183E2D9F5}"/>
              </a:ext>
            </a:extLst>
          </p:cNvPr>
          <p:cNvSpPr>
            <a:spLocks noGrp="1"/>
          </p:cNvSpPr>
          <p:nvPr/>
        </p:nvSpPr>
        <p:spPr>
          <a:xfrm>
            <a:off x="2400300" y="2143125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3B6FB6"/>
          </a:solidFill>
          <a:ln w="9525">
            <a:solidFill>
              <a:srgbClr val="3B6F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0098F8-5447-4E0A-B4DD-541FD4FCC42A}"/>
              </a:ext>
            </a:extLst>
          </p:cNvPr>
          <p:cNvSpPr>
            <a:spLocks noGrp="1"/>
          </p:cNvSpPr>
          <p:nvPr/>
        </p:nvSpPr>
        <p:spPr>
          <a:xfrm>
            <a:off x="2400300" y="2190750"/>
            <a:ext cx="590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 algn="ctr"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C3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5D6B3D3-C2FF-452E-8679-C6E5AA3DB320}"/>
              </a:ext>
            </a:extLst>
          </p:cNvPr>
          <p:cNvSpPr>
            <a:spLocks noGrp="1"/>
          </p:cNvSpPr>
          <p:nvPr/>
        </p:nvSpPr>
        <p:spPr>
          <a:xfrm>
            <a:off x="3181350" y="2143125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3B6FB6"/>
          </a:solidFill>
          <a:ln w="9525">
            <a:solidFill>
              <a:srgbClr val="3B6F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4BA02B-B251-4B24-B78A-C4E10894CAA1}"/>
              </a:ext>
            </a:extLst>
          </p:cNvPr>
          <p:cNvSpPr>
            <a:spLocks noGrp="1"/>
          </p:cNvSpPr>
          <p:nvPr/>
        </p:nvSpPr>
        <p:spPr>
          <a:xfrm>
            <a:off x="3181350" y="2190750"/>
            <a:ext cx="590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 algn="ctr"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C6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018E0D4-EFC4-452D-A58D-C31F80D47F9E}"/>
              </a:ext>
            </a:extLst>
          </p:cNvPr>
          <p:cNvSpPr>
            <a:spLocks noGrp="1"/>
          </p:cNvSpPr>
          <p:nvPr/>
        </p:nvSpPr>
        <p:spPr>
          <a:xfrm>
            <a:off x="3962400" y="2143125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3B6FB6"/>
          </a:solidFill>
          <a:ln w="9525">
            <a:solidFill>
              <a:srgbClr val="3B6F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A891BE-5E07-417F-ABAE-170AB6D71A4A}"/>
              </a:ext>
            </a:extLst>
          </p:cNvPr>
          <p:cNvSpPr>
            <a:spLocks noGrp="1"/>
          </p:cNvSpPr>
          <p:nvPr/>
        </p:nvSpPr>
        <p:spPr>
          <a:xfrm>
            <a:off x="3962400" y="2190750"/>
            <a:ext cx="590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 algn="ctr"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C9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B0A9B3-C508-4FCD-BB78-CD9723E7A3C5}"/>
              </a:ext>
            </a:extLst>
          </p:cNvPr>
          <p:cNvSpPr>
            <a:spLocks noGrp="1"/>
          </p:cNvSpPr>
          <p:nvPr/>
        </p:nvSpPr>
        <p:spPr>
          <a:xfrm>
            <a:off x="819150" y="2628900"/>
            <a:ext cx="7239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111"/>
          </a:bodyPr>
          <a:lstStyle/>
          <a:p>
            <a:pPr algn="l">
              <a:buNone/>
              <a:defRPr sz="1125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rank 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33EDC1D-BEAE-4F28-9C7F-5C9B7E8003CE}"/>
              </a:ext>
            </a:extLst>
          </p:cNvPr>
          <p:cNvSpPr>
            <a:spLocks noGrp="1"/>
          </p:cNvSpPr>
          <p:nvPr/>
        </p:nvSpPr>
        <p:spPr>
          <a:xfrm>
            <a:off x="1619250" y="2581275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263369-D876-46D5-8730-99CD56945F66}"/>
              </a:ext>
            </a:extLst>
          </p:cNvPr>
          <p:cNvSpPr>
            <a:spLocks noGrp="1"/>
          </p:cNvSpPr>
          <p:nvPr/>
        </p:nvSpPr>
        <p:spPr>
          <a:xfrm>
            <a:off x="1619250" y="2628900"/>
            <a:ext cx="590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 algn="ctr"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FD6329B-C313-4A9A-B58C-A844502687DE}"/>
              </a:ext>
            </a:extLst>
          </p:cNvPr>
          <p:cNvSpPr>
            <a:spLocks noGrp="1"/>
          </p:cNvSpPr>
          <p:nvPr/>
        </p:nvSpPr>
        <p:spPr>
          <a:xfrm>
            <a:off x="2400300" y="2581275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D97039-9187-497A-B8D2-CE317493737C}"/>
              </a:ext>
            </a:extLst>
          </p:cNvPr>
          <p:cNvSpPr>
            <a:spLocks noGrp="1"/>
          </p:cNvSpPr>
          <p:nvPr/>
        </p:nvSpPr>
        <p:spPr>
          <a:xfrm>
            <a:off x="2400300" y="2628900"/>
            <a:ext cx="590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 algn="ctr"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4EFDABE-2C00-4AD0-B081-50B4B38F4819}"/>
              </a:ext>
            </a:extLst>
          </p:cNvPr>
          <p:cNvSpPr>
            <a:spLocks noGrp="1"/>
          </p:cNvSpPr>
          <p:nvPr/>
        </p:nvSpPr>
        <p:spPr>
          <a:xfrm>
            <a:off x="3181350" y="2581275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6D67C0B-825D-4915-8CD3-D5C199B37D93}"/>
              </a:ext>
            </a:extLst>
          </p:cNvPr>
          <p:cNvSpPr>
            <a:spLocks noGrp="1"/>
          </p:cNvSpPr>
          <p:nvPr/>
        </p:nvSpPr>
        <p:spPr>
          <a:xfrm>
            <a:off x="3181350" y="2628900"/>
            <a:ext cx="590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 algn="ctr"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C7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945EE01-7C05-4D28-BE15-6212BE6B9BB7}"/>
              </a:ext>
            </a:extLst>
          </p:cNvPr>
          <p:cNvSpPr>
            <a:spLocks noGrp="1"/>
          </p:cNvSpPr>
          <p:nvPr/>
        </p:nvSpPr>
        <p:spPr>
          <a:xfrm>
            <a:off x="3962400" y="2581275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9B3ACB0-CE57-4414-B55C-37E617A45B9A}"/>
              </a:ext>
            </a:extLst>
          </p:cNvPr>
          <p:cNvSpPr>
            <a:spLocks noGrp="1"/>
          </p:cNvSpPr>
          <p:nvPr/>
        </p:nvSpPr>
        <p:spPr>
          <a:xfrm>
            <a:off x="3962400" y="2628900"/>
            <a:ext cx="590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 algn="ctr"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0B293E2-1580-4410-B63A-E1DD8CA1F826}"/>
              </a:ext>
            </a:extLst>
          </p:cNvPr>
          <p:cNvSpPr>
            <a:spLocks noGrp="1"/>
          </p:cNvSpPr>
          <p:nvPr/>
        </p:nvSpPr>
        <p:spPr>
          <a:xfrm>
            <a:off x="819150" y="3067050"/>
            <a:ext cx="7239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111"/>
          </a:bodyPr>
          <a:lstStyle/>
          <a:p>
            <a:pPr algn="l">
              <a:buNone/>
              <a:defRPr sz="1125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rank 2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3F4DF52-FF22-4F10-ABCA-B09655F560CD}"/>
              </a:ext>
            </a:extLst>
          </p:cNvPr>
          <p:cNvSpPr>
            <a:spLocks noGrp="1"/>
          </p:cNvSpPr>
          <p:nvPr/>
        </p:nvSpPr>
        <p:spPr>
          <a:xfrm>
            <a:off x="1619250" y="3019425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F28E2B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01D860E-59C3-4D90-804A-8DFCAA2E3E4E}"/>
              </a:ext>
            </a:extLst>
          </p:cNvPr>
          <p:cNvSpPr>
            <a:spLocks noGrp="1"/>
          </p:cNvSpPr>
          <p:nvPr/>
        </p:nvSpPr>
        <p:spPr>
          <a:xfrm>
            <a:off x="1619250" y="3067050"/>
            <a:ext cx="590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 algn="ctr"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27A5937-BD68-46F6-A134-DF72B6B4CC01}"/>
              </a:ext>
            </a:extLst>
          </p:cNvPr>
          <p:cNvSpPr>
            <a:spLocks noGrp="1"/>
          </p:cNvSpPr>
          <p:nvPr/>
        </p:nvSpPr>
        <p:spPr>
          <a:xfrm>
            <a:off x="2400300" y="3019425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F28E2B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258E877-FAFB-442C-A29A-AC2C8E06BDC5}"/>
              </a:ext>
            </a:extLst>
          </p:cNvPr>
          <p:cNvSpPr>
            <a:spLocks noGrp="1"/>
          </p:cNvSpPr>
          <p:nvPr/>
        </p:nvSpPr>
        <p:spPr>
          <a:xfrm>
            <a:off x="2400300" y="3067050"/>
            <a:ext cx="590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 algn="ctr"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C5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541F0B6-65A2-4BBA-970A-A4DD7541A8B0}"/>
              </a:ext>
            </a:extLst>
          </p:cNvPr>
          <p:cNvSpPr>
            <a:spLocks noGrp="1"/>
          </p:cNvSpPr>
          <p:nvPr/>
        </p:nvSpPr>
        <p:spPr>
          <a:xfrm>
            <a:off x="3181350" y="3019425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F28E2B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0F534A6-BDD2-4D0C-9B32-28593A89AA81}"/>
              </a:ext>
            </a:extLst>
          </p:cNvPr>
          <p:cNvSpPr>
            <a:spLocks noGrp="1"/>
          </p:cNvSpPr>
          <p:nvPr/>
        </p:nvSpPr>
        <p:spPr>
          <a:xfrm>
            <a:off x="3181350" y="3067050"/>
            <a:ext cx="590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 algn="ctr"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C8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7782B13-D261-4356-B345-DCC5821D443A}"/>
              </a:ext>
            </a:extLst>
          </p:cNvPr>
          <p:cNvSpPr>
            <a:spLocks noGrp="1"/>
          </p:cNvSpPr>
          <p:nvPr/>
        </p:nvSpPr>
        <p:spPr>
          <a:xfrm>
            <a:off x="3962400" y="3019425"/>
            <a:ext cx="590550" cy="285750"/>
          </a:xfrm>
          <a:prstGeom prst="roundRect">
            <a:avLst>
              <a:gd name="adj" fmla="val 26667"/>
            </a:avLst>
          </a:prstGeom>
          <a:solidFill>
            <a:srgbClr val="F28E2B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059E870-ECD4-4F8E-82EF-3E559705C85D}"/>
              </a:ext>
            </a:extLst>
          </p:cNvPr>
          <p:cNvSpPr>
            <a:spLocks noGrp="1"/>
          </p:cNvSpPr>
          <p:nvPr/>
        </p:nvSpPr>
        <p:spPr>
          <a:xfrm>
            <a:off x="3962400" y="3067050"/>
            <a:ext cx="590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 algn="ctr"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B87571F-7890-452E-8BCB-23F7241C937B}"/>
              </a:ext>
            </a:extLst>
          </p:cNvPr>
          <p:cNvSpPr>
            <a:spLocks noGrp="1"/>
          </p:cNvSpPr>
          <p:nvPr/>
        </p:nvSpPr>
        <p:spPr>
          <a:xfrm>
            <a:off x="781050" y="3695700"/>
            <a:ext cx="46672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Equal-sized chunks preserve locality while mixing cheap composites and expensive large candidates across ranks.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72A2C0-2527-42FE-AC72-A39520A41985}"/>
              </a:ext>
            </a:extLst>
          </p:cNvPr>
          <p:cNvSpPr>
            <a:spLocks noGrp="1"/>
          </p:cNvSpPr>
          <p:nvPr/>
        </p:nvSpPr>
        <p:spPr>
          <a:xfrm>
            <a:off x="781050" y="4457700"/>
            <a:ext cx="4667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889"/>
          </a:bodyPr>
          <a:lstStyle/>
          <a:p>
            <a:pPr algn="l">
              <a:buNone/>
              <a:defRPr sz="13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Rank 0 performs an O(m log p) k-way merge and buffered output.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9D88D45-C736-4D92-90CD-BF289C897D43}"/>
              </a:ext>
            </a:extLst>
          </p:cNvPr>
          <p:cNvSpPr>
            <a:spLocks noGrp="1"/>
          </p:cNvSpPr>
          <p:nvPr/>
        </p:nvSpPr>
        <p:spPr>
          <a:xfrm>
            <a:off x="6057900" y="1200150"/>
            <a:ext cx="55816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/>
          </a:bodyPr>
          <a:lstStyle/>
          <a:p>
            <a:pPr algn="l">
              <a:buNone/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Measured computation-time imbalance (max / min)</a:t>
            </a:r>
          </a:p>
        </p:txBody>
      </p:sp>
      <p:graphicFrame>
        <p:nvGraphicFramePr>
          <p:cNvPr id="81" name="Table 80"/>
          <p:cNvGraphicFramePr/>
          <p:nvPr/>
        </p:nvGraphicFramePr>
        <p:xfrm>
          <a:off x="6057900" y="1619250"/>
          <a:ext cx="5581650" cy="2019300"/>
        </p:xfrm>
        <a:graphic>
          <a:graphicData uri="http://schemas.openxmlformats.org/drawingml/2006/table">
            <a:tbl>
              <a:tblPr firstRow="1"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Strategy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3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4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5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Block-cyclic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Pure cyclic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627.76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491.08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Contiguous block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2.20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2.61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2.78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479C935-52DF-4CC9-B35F-74EEB6F2F9B8}"/>
              </a:ext>
            </a:extLst>
          </p:cNvPr>
          <p:cNvSpPr>
            <a:spLocks noGrp="1"/>
          </p:cNvSpPr>
          <p:nvPr/>
        </p:nvSpPr>
        <p:spPr>
          <a:xfrm>
            <a:off x="6057900" y="3943350"/>
            <a:ext cx="5581650" cy="1390650"/>
          </a:xfrm>
          <a:prstGeom prst="roundRect">
            <a:avLst>
              <a:gd name="adj" fmla="val 5479"/>
            </a:avLst>
          </a:prstGeom>
          <a:solidFill>
            <a:srgbClr val="FFF5E6"/>
          </a:solidFill>
          <a:ln w="9525">
            <a:solidFill>
              <a:srgbClr val="F5C98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813ADA4-1947-4BD1-9187-3A30553F83C8}"/>
              </a:ext>
            </a:extLst>
          </p:cNvPr>
          <p:cNvSpPr>
            <a:spLocks noGrp="1"/>
          </p:cNvSpPr>
          <p:nvPr/>
        </p:nvSpPr>
        <p:spPr>
          <a:xfrm>
            <a:off x="6286500" y="4152900"/>
            <a:ext cx="5048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7544"/>
          </a:bodyPr>
          <a:lstStyle/>
          <a:p>
            <a:pPr algn="l">
              <a:buNone/>
              <a:defRPr sz="1425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Why this is the selected partition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C743160-9705-457C-8464-B344EB6DB260}"/>
              </a:ext>
            </a:extLst>
          </p:cNvPr>
          <p:cNvSpPr>
            <a:spLocks noGrp="1"/>
          </p:cNvSpPr>
          <p:nvPr/>
        </p:nvSpPr>
        <p:spPr>
          <a:xfrm>
            <a:off x="6286500" y="4514850"/>
            <a:ext cx="50482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693"/>
          </a:bodyPr>
          <a:lstStyle/>
          <a:p>
            <a:pPr algn="l"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It had the lowest worst-case imbalance among the three measured strategies: ≤ 1.06 for p = 3–5. Pure cyclic collapses at odd p because divisibility patterns align with rank strides.</a:t>
            </a:r>
          </a:p>
        </p:txBody>
      </p:sp>
    </p:spTree>
    <p:extLst>
      <p:ext uri="{BB962C8B-B14F-4D97-AF65-F5344CB8AC3E}">
        <p14:creationId xmlns:p14="http://schemas.microsoft.com/office/powerpoint/2010/main" val="1099098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997E363-D414-4C00-A27D-6D5EF7C606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5E96EC-67A2-4119-BEB3-126D127971D3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l">
              <a:buNone/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0D999E-4F74-45D8-805D-8B7F388D7A3B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/>
          </a:bodyPr>
          <a:lstStyle/>
          <a:p>
            <a:pPr algn="l">
              <a:buNone/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1 — runtime across 30 problem sizes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0F891F-3B7B-4720-9F1D-9C821266DFB1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/ 9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="666750" y="1123950"/>
          <a:ext cx="10858500" cy="4476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4BF4945-C5DA-4268-A862-FDDA00AC2035}"/>
              </a:ext>
            </a:extLst>
          </p:cNvPr>
          <p:cNvSpPr>
            <a:spLocks noGrp="1"/>
          </p:cNvSpPr>
          <p:nvPr/>
        </p:nvSpPr>
        <p:spPr>
          <a:xfrm>
            <a:off x="2524125" y="5753100"/>
            <a:ext cx="7143750" cy="514350"/>
          </a:xfrm>
          <a:prstGeom prst="roundRect">
            <a:avLst>
              <a:gd name="adj" fmla="val 14815"/>
            </a:avLst>
          </a:prstGeom>
          <a:solidFill>
            <a:srgbClr val="FFF5E6"/>
          </a:solidFill>
          <a:ln w="9525">
            <a:solidFill>
              <a:srgbClr val="F5C98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660757-2D9A-4985-820A-B534DE3D1FF7}"/>
              </a:ext>
            </a:extLst>
          </p:cNvPr>
          <p:cNvSpPr>
            <a:spLocks noGrp="1"/>
          </p:cNvSpPr>
          <p:nvPr/>
        </p:nvSpPr>
        <p:spPr>
          <a:xfrm>
            <a:off x="2695575" y="5876925"/>
            <a:ext cx="68008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All 30 values are shown; no run is below one second.</a:t>
            </a:r>
          </a:p>
        </p:txBody>
      </p:sp>
    </p:spTree>
    <p:extLst>
      <p:ext uri="{BB962C8B-B14F-4D97-AF65-F5344CB8AC3E}">
        <p14:creationId xmlns:p14="http://schemas.microsoft.com/office/powerpoint/2010/main" val="1827850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12940B4-5327-4B2F-AD40-DD51C83629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CACFC4-4B2D-4768-8500-16A24BA66F67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l">
              <a:buNone/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132D47-828B-4335-A6B4-4CA5C8E8B665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/>
          </a:bodyPr>
          <a:lstStyle/>
          <a:p>
            <a:pPr algn="l">
              <a:buNone/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2 — speedup across 30 problem sizes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EC839A-A753-4CD6-AFF9-8F0DCCB48BDE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5 / 9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="666750" y="1123950"/>
          <a:ext cx="10858500" cy="4476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A5F43F2-2DDE-417C-8429-10AA5F6A0C06}"/>
              </a:ext>
            </a:extLst>
          </p:cNvPr>
          <p:cNvSpPr>
            <a:spLocks noGrp="1"/>
          </p:cNvSpPr>
          <p:nvPr/>
        </p:nvSpPr>
        <p:spPr>
          <a:xfrm>
            <a:off x="1381125" y="5753100"/>
            <a:ext cx="9429750" cy="514350"/>
          </a:xfrm>
          <a:prstGeom prst="roundRect">
            <a:avLst>
              <a:gd name="adj" fmla="val 14815"/>
            </a:avLst>
          </a:prstGeom>
          <a:solidFill>
            <a:srgbClr val="FFF5E6"/>
          </a:solidFill>
          <a:ln w="9525">
            <a:solidFill>
              <a:srgbClr val="F5C98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84E79D-5C7B-4263-B752-7D16FCB1ED50}"/>
              </a:ext>
            </a:extLst>
          </p:cNvPr>
          <p:cNvSpPr>
            <a:spLocks noGrp="1"/>
          </p:cNvSpPr>
          <p:nvPr/>
        </p:nvSpPr>
        <p:spPr>
          <a:xfrm>
            <a:off x="1552575" y="5876925"/>
            <a:ext cx="90868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MPI stays near 3.3–3.6× at four processes; the OpenMP series is noisier but uses its own matched serial session.</a:t>
            </a:r>
          </a:p>
        </p:txBody>
      </p:sp>
    </p:spTree>
    <p:extLst>
      <p:ext uri="{BB962C8B-B14F-4D97-AF65-F5344CB8AC3E}">
        <p14:creationId xmlns:p14="http://schemas.microsoft.com/office/powerpoint/2010/main" val="774639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270276-486C-481D-BCC1-5E33277236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6F42CD-5B85-4783-92D5-EB165F1047F0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l">
              <a:buNone/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ABD229-5BBD-49E6-87EC-911606A38559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/>
          </a:bodyPr>
          <a:lstStyle/>
          <a:p>
            <a:pPr algn="l">
              <a:buNone/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Graphs 3 and 6 — Task 1 scaling and Amdahl comparison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0AC46E-7B69-4B07-8546-F8CA6BAB7B28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6 / 9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="514350" y="1162050"/>
          <a:ext cx="5476875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="6200775" y="1162050"/>
          <a:ext cx="5476875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4F3D913-0574-4D5A-8878-46EE2CD1FAB7}"/>
              </a:ext>
            </a:extLst>
          </p:cNvPr>
          <p:cNvSpPr>
            <a:spLocks noGrp="1"/>
          </p:cNvSpPr>
          <p:nvPr/>
        </p:nvSpPr>
        <p:spPr>
          <a:xfrm>
            <a:off x="1095375" y="5619750"/>
            <a:ext cx="10001250" cy="514350"/>
          </a:xfrm>
          <a:prstGeom prst="roundRect">
            <a:avLst>
              <a:gd name="adj" fmla="val 14815"/>
            </a:avLst>
          </a:prstGeom>
          <a:solidFill>
            <a:srgbClr val="FFF5E6"/>
          </a:solidFill>
          <a:ln w="9525">
            <a:solidFill>
              <a:srgbClr val="F5C98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05AEA5-81ED-4F4F-8409-57BD2F333AC7}"/>
              </a:ext>
            </a:extLst>
          </p:cNvPr>
          <p:cNvSpPr>
            <a:spLocks noGrp="1"/>
          </p:cNvSpPr>
          <p:nvPr/>
        </p:nvSpPr>
        <p:spPr>
          <a:xfrm>
            <a:off x="1266825" y="5743575"/>
            <a:ext cx="96583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At p = 16: 6.02× empirical versus 12.67× Amdahl — collectives, contention and root-only output are not in the ideal model.</a:t>
            </a:r>
          </a:p>
        </p:txBody>
      </p:sp>
    </p:spTree>
    <p:extLst>
      <p:ext uri="{BB962C8B-B14F-4D97-AF65-F5344CB8AC3E}">
        <p14:creationId xmlns:p14="http://schemas.microsoft.com/office/powerpoint/2010/main" val="88455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E4877058-4D46-469D-8A77-3B7282D037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CD485C-2739-48EE-B357-7EA881467ED9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l">
              <a:buNone/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85213B-4A14-4752-9E24-E25C752A915C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/>
          </a:bodyPr>
          <a:lstStyle/>
          <a:p>
            <a:pPr algn="l">
              <a:buNone/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Task 2: hybrid decomposition and measured balance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59D5B1-F9C6-477E-B88B-6D081FDB250F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7 / 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61856D-A6FF-4E4C-89E5-31C5E46696F6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4857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9697"/>
          </a:bodyPr>
          <a:lstStyle/>
          <a:p>
            <a:pPr algn="l">
              <a:buNone/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Two-level parallelism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FC46731-243D-40E1-8ACC-9D887E0EBD98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1476375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3B6F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F1D241-D2D9-4BCC-9473-C7229FFC5B9E}"/>
              </a:ext>
            </a:extLst>
          </p:cNvPr>
          <p:cNvSpPr>
            <a:spLocks noGrp="1"/>
          </p:cNvSpPr>
          <p:nvPr/>
        </p:nvSpPr>
        <p:spPr>
          <a:xfrm>
            <a:off x="666750" y="1847850"/>
            <a:ext cx="1247775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9048"/>
          </a:bodyPr>
          <a:lstStyle/>
          <a:p>
            <a:pPr algn="ctr">
              <a:buNone/>
              <a:defRPr sz="157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MPI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EC4075-D3FF-4839-94F7-46A16B3DEA2F}"/>
              </a:ext>
            </a:extLst>
          </p:cNvPr>
          <p:cNvSpPr>
            <a:spLocks noGrp="1"/>
          </p:cNvSpPr>
          <p:nvPr/>
        </p:nvSpPr>
        <p:spPr>
          <a:xfrm>
            <a:off x="666750" y="2238375"/>
            <a:ext cx="1247775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630"/>
          </a:bodyPr>
          <a:lstStyle/>
          <a:p>
            <a:pPr algn="ctr">
              <a:buNone/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block-cyclic chunks</a:t>
            </a:r>
          </a:p>
          <a:p>
            <a:pPr algn="ctr">
              <a:buNone/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across processes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26A49F-A616-4F20-B788-0A2E4972077C}"/>
              </a:ext>
            </a:extLst>
          </p:cNvPr>
          <p:cNvSpPr>
            <a:spLocks noGrp="1"/>
          </p:cNvSpPr>
          <p:nvPr/>
        </p:nvSpPr>
        <p:spPr>
          <a:xfrm>
            <a:off x="2047875" y="2114550"/>
            <a:ext cx="266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31234"/>
          </a:bodyPr>
          <a:lstStyle/>
          <a:p>
            <a:pPr algn="ctr">
              <a:buNone/>
              <a:defRPr sz="2100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0EEF6C4-F465-4A7C-8469-31A4D6F4BABA}"/>
              </a:ext>
            </a:extLst>
          </p:cNvPr>
          <p:cNvSpPr>
            <a:spLocks noGrp="1"/>
          </p:cNvSpPr>
          <p:nvPr/>
        </p:nvSpPr>
        <p:spPr>
          <a:xfrm>
            <a:off x="2295525" y="1657350"/>
            <a:ext cx="1476375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05A80B-7C65-4195-95F2-543AB1A3A532}"/>
              </a:ext>
            </a:extLst>
          </p:cNvPr>
          <p:cNvSpPr>
            <a:spLocks noGrp="1"/>
          </p:cNvSpPr>
          <p:nvPr/>
        </p:nvSpPr>
        <p:spPr>
          <a:xfrm>
            <a:off x="2409825" y="1847850"/>
            <a:ext cx="1247775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9048"/>
          </a:bodyPr>
          <a:lstStyle/>
          <a:p>
            <a:pPr algn="ctr">
              <a:buNone/>
              <a:defRPr sz="1575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OpenMP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AEC9DF-C641-44D1-A307-98CFFB316FB0}"/>
              </a:ext>
            </a:extLst>
          </p:cNvPr>
          <p:cNvSpPr>
            <a:spLocks noGrp="1"/>
          </p:cNvSpPr>
          <p:nvPr/>
        </p:nvSpPr>
        <p:spPr>
          <a:xfrm>
            <a:off x="2409825" y="2238375"/>
            <a:ext cx="1247775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897"/>
          </a:bodyPr>
          <a:lstStyle/>
          <a:p>
            <a:pPr algn="ctr">
              <a:buNone/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dynamic schedule(64)</a:t>
            </a:r>
          </a:p>
          <a:p>
            <a:pPr algn="ctr">
              <a:buNone/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inside each process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33300B-0CB4-45A8-9E1F-609AB584CD23}"/>
              </a:ext>
            </a:extLst>
          </p:cNvPr>
          <p:cNvSpPr>
            <a:spLocks noGrp="1"/>
          </p:cNvSpPr>
          <p:nvPr/>
        </p:nvSpPr>
        <p:spPr>
          <a:xfrm>
            <a:off x="3790950" y="2114550"/>
            <a:ext cx="266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31234"/>
          </a:bodyPr>
          <a:lstStyle/>
          <a:p>
            <a:pPr algn="ctr">
              <a:buNone/>
              <a:defRPr sz="2100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23EB0E-CB1F-4125-8336-8AEDADD7570E}"/>
              </a:ext>
            </a:extLst>
          </p:cNvPr>
          <p:cNvSpPr>
            <a:spLocks noGrp="1"/>
          </p:cNvSpPr>
          <p:nvPr/>
        </p:nvSpPr>
        <p:spPr>
          <a:xfrm>
            <a:off x="4038600" y="1657350"/>
            <a:ext cx="1476375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74EB10-E9FA-4E4D-AFBD-B2DBA60BB700}"/>
              </a:ext>
            </a:extLst>
          </p:cNvPr>
          <p:cNvSpPr>
            <a:spLocks noGrp="1"/>
          </p:cNvSpPr>
          <p:nvPr/>
        </p:nvSpPr>
        <p:spPr>
          <a:xfrm>
            <a:off x="4152900" y="1847850"/>
            <a:ext cx="1247775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9048"/>
          </a:bodyPr>
          <a:lstStyle/>
          <a:p>
            <a:pPr algn="ctr">
              <a:buNone/>
              <a:defRPr sz="1575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Rank 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DC2862-FBCA-4E13-BA7A-F78DA790C164}"/>
              </a:ext>
            </a:extLst>
          </p:cNvPr>
          <p:cNvSpPr>
            <a:spLocks noGrp="1"/>
          </p:cNvSpPr>
          <p:nvPr/>
        </p:nvSpPr>
        <p:spPr>
          <a:xfrm>
            <a:off x="4152900" y="2238375"/>
            <a:ext cx="1247775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k-way merge +</a:t>
            </a:r>
          </a:p>
          <a:p>
            <a:pPr algn="ctr">
              <a:buNone/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buffered output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E1A9335-2D19-47CD-B8F7-35C370FD7081}"/>
              </a:ext>
            </a:extLst>
          </p:cNvPr>
          <p:cNvSpPr>
            <a:spLocks noGrp="1"/>
          </p:cNvSpPr>
          <p:nvPr/>
        </p:nvSpPr>
        <p:spPr>
          <a:xfrm>
            <a:off x="552450" y="3314700"/>
            <a:ext cx="4962525" cy="2000250"/>
          </a:xfrm>
          <a:prstGeom prst="roundRect">
            <a:avLst>
              <a:gd name="adj" fmla="val 3810"/>
            </a:avLst>
          </a:prstGeom>
          <a:solidFill>
            <a:srgbClr val="E6FFFA"/>
          </a:solidFill>
          <a:ln w="9525">
            <a:solidFill>
              <a:srgbClr val="9ED9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AF9D05-3268-45E6-B61B-7BD39EB956DB}"/>
              </a:ext>
            </a:extLst>
          </p:cNvPr>
          <p:cNvSpPr>
            <a:spLocks noGrp="1"/>
          </p:cNvSpPr>
          <p:nvPr/>
        </p:nvSpPr>
        <p:spPr>
          <a:xfrm>
            <a:off x="781050" y="3543300"/>
            <a:ext cx="44767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930"/>
          </a:bodyPr>
          <a:lstStyle/>
          <a:p>
            <a:pPr algn="l">
              <a:buNone/>
              <a:defRPr sz="142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Why dynamic scheduling remains useful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A6601BD-53D6-422D-8381-4F0102680303}"/>
              </a:ext>
            </a:extLst>
          </p:cNvPr>
          <p:cNvSpPr>
            <a:spLocks noGrp="1"/>
          </p:cNvSpPr>
          <p:nvPr/>
        </p:nvSpPr>
        <p:spPr>
          <a:xfrm>
            <a:off x="781050" y="3981450"/>
            <a:ext cx="4476750" cy="1066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Trial division has irregular per-candidate cost. MPI chunks balance rank-level work; OpenMP dynamic scheduling smooths the remaining variation between threads without changing output order.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DF5EFCD-274C-450C-8C75-C4501B37F2E1}"/>
              </a:ext>
            </a:extLst>
          </p:cNvPr>
          <p:cNvSpPr>
            <a:spLocks noGrp="1"/>
          </p:cNvSpPr>
          <p:nvPr/>
        </p:nvSpPr>
        <p:spPr>
          <a:xfrm>
            <a:off x="5943600" y="1200150"/>
            <a:ext cx="56959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/>
          </a:bodyPr>
          <a:lstStyle/>
          <a:p>
            <a:pPr algn="l">
              <a:buNone/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Representative local execution at n = 60M</a:t>
            </a:r>
          </a:p>
        </p:txBody>
      </p:sp>
      <p:graphicFrame>
        <p:nvGraphicFramePr>
          <p:cNvPr id="56" name="Table 55"/>
          <p:cNvGraphicFramePr/>
          <p:nvPr/>
        </p:nvGraphicFramePr>
        <p:xfrm>
          <a:off x="5943600" y="1638300"/>
          <a:ext cx="5695950" cy="1581150"/>
        </p:xfrm>
        <a:graphic>
          <a:graphicData uri="http://schemas.openxmlformats.org/drawingml/2006/table">
            <a:tbl>
              <a:tblPr firstRow="1"/>
              <a:tblGrid>
                <a:gridCol w="104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6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70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Program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Configuration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min compute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max compute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max/min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 ranks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6.446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6.507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1.009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 × 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4.567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4.685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1.026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B5CAE7E-61A2-41C2-9B12-E5B7F37AB5E9}"/>
              </a:ext>
            </a:extLst>
          </p:cNvPr>
          <p:cNvSpPr>
            <a:spLocks noGrp="1"/>
          </p:cNvSpPr>
          <p:nvPr/>
        </p:nvSpPr>
        <p:spPr>
          <a:xfrm>
            <a:off x="5943600" y="3581400"/>
            <a:ext cx="268605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8F0CAC-FD21-4AF6-9567-922BA53BD95B}"/>
              </a:ext>
            </a:extLst>
          </p:cNvPr>
          <p:cNvSpPr>
            <a:spLocks noGrp="1"/>
          </p:cNvSpPr>
          <p:nvPr/>
        </p:nvSpPr>
        <p:spPr>
          <a:xfrm>
            <a:off x="5943600" y="3581400"/>
            <a:ext cx="66675" cy="1714500"/>
          </a:xfrm>
          <a:prstGeom prst="rect">
            <a:avLst/>
          </a:prstGeom>
          <a:solidFill>
            <a:srgbClr val="3B6FB6"/>
          </a:solidFill>
          <a:ln w="9525">
            <a:solidFill>
              <a:srgbClr val="3B6FB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EC85864-F3C4-412C-9D14-A37092E8A0A5}"/>
              </a:ext>
            </a:extLst>
          </p:cNvPr>
          <p:cNvSpPr>
            <a:spLocks noGrp="1"/>
          </p:cNvSpPr>
          <p:nvPr/>
        </p:nvSpPr>
        <p:spPr>
          <a:xfrm>
            <a:off x="6153150" y="3733800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TASK 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0603EF-17F1-479C-A259-E4A6EC56BE27}"/>
              </a:ext>
            </a:extLst>
          </p:cNvPr>
          <p:cNvSpPr>
            <a:spLocks noGrp="1"/>
          </p:cNvSpPr>
          <p:nvPr/>
        </p:nvSpPr>
        <p:spPr>
          <a:xfrm>
            <a:off x="6153150" y="4010025"/>
            <a:ext cx="23241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6.97 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13C85E-76DD-4D68-9AAB-3223091498C4}"/>
              </a:ext>
            </a:extLst>
          </p:cNvPr>
          <p:cNvSpPr>
            <a:spLocks noGrp="1"/>
          </p:cNvSpPr>
          <p:nvPr/>
        </p:nvSpPr>
        <p:spPr>
          <a:xfrm>
            <a:off x="6153150" y="4448175"/>
            <a:ext cx="23241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MPI processes</a:t>
            </a:r>
          </a:p>
          <a:p>
            <a:pPr algn="l">
              <a:buNone/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exact output validation: PASS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5BF3AF0-0F2F-4908-BC24-073923F1EF2C}"/>
              </a:ext>
            </a:extLst>
          </p:cNvPr>
          <p:cNvSpPr>
            <a:spLocks noGrp="1"/>
          </p:cNvSpPr>
          <p:nvPr/>
        </p:nvSpPr>
        <p:spPr>
          <a:xfrm>
            <a:off x="8953500" y="3581400"/>
            <a:ext cx="268605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92CB60D-5C7D-42E3-8C60-55BE5367559B}"/>
              </a:ext>
            </a:extLst>
          </p:cNvPr>
          <p:cNvSpPr>
            <a:spLocks noGrp="1"/>
          </p:cNvSpPr>
          <p:nvPr/>
        </p:nvSpPr>
        <p:spPr>
          <a:xfrm>
            <a:off x="8953500" y="3581400"/>
            <a:ext cx="66675" cy="1714500"/>
          </a:xfrm>
          <a:prstGeom prst="rect">
            <a:avLst/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FA9B51-F805-471A-82CF-670F68EE1892}"/>
              </a:ext>
            </a:extLst>
          </p:cNvPr>
          <p:cNvSpPr>
            <a:spLocks noGrp="1"/>
          </p:cNvSpPr>
          <p:nvPr/>
        </p:nvSpPr>
        <p:spPr>
          <a:xfrm>
            <a:off x="9163050" y="3733800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487"/>
          </a:bodyPr>
          <a:lstStyle/>
          <a:p>
            <a:pPr algn="l">
              <a:buNone/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TASK 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7058AD9-DBF6-46FC-B705-E21794CDEDCB}"/>
              </a:ext>
            </a:extLst>
          </p:cNvPr>
          <p:cNvSpPr>
            <a:spLocks noGrp="1"/>
          </p:cNvSpPr>
          <p:nvPr/>
        </p:nvSpPr>
        <p:spPr>
          <a:xfrm>
            <a:off x="9163050" y="4010025"/>
            <a:ext cx="23241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5.16 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F4898C2-ACEA-4B01-981B-C196E5D5CC4E}"/>
              </a:ext>
            </a:extLst>
          </p:cNvPr>
          <p:cNvSpPr>
            <a:spLocks noGrp="1"/>
          </p:cNvSpPr>
          <p:nvPr/>
        </p:nvSpPr>
        <p:spPr>
          <a:xfrm>
            <a:off x="9163050" y="4448175"/>
            <a:ext cx="23241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MPI × 2 OpenMP</a:t>
            </a:r>
          </a:p>
          <a:p>
            <a:pPr algn="l">
              <a:buNone/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exact output validation: PASS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C4225F4-0D72-4C42-B723-325AEEC26B2C}"/>
              </a:ext>
            </a:extLst>
          </p:cNvPr>
          <p:cNvSpPr>
            <a:spLocks noGrp="1"/>
          </p:cNvSpPr>
          <p:nvPr/>
        </p:nvSpPr>
        <p:spPr>
          <a:xfrm>
            <a:off x="6096000" y="5600700"/>
            <a:ext cx="5391150" cy="514350"/>
          </a:xfrm>
          <a:prstGeom prst="roundRect">
            <a:avLst>
              <a:gd name="adj" fmla="val 14815"/>
            </a:avLst>
          </a:prstGeom>
          <a:solidFill>
            <a:srgbClr val="FFF5E6"/>
          </a:solidFill>
          <a:ln w="9525">
            <a:solidFill>
              <a:srgbClr val="F5C98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B43D4C4-3866-479E-A8D0-0D19DAD14404}"/>
              </a:ext>
            </a:extLst>
          </p:cNvPr>
          <p:cNvSpPr>
            <a:spLocks noGrp="1"/>
          </p:cNvSpPr>
          <p:nvPr/>
        </p:nvSpPr>
        <p:spPr>
          <a:xfrm>
            <a:off x="6267450" y="5724525"/>
            <a:ext cx="5048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Hybrid speedup over the same 4-rank Task 1 run: 1.35×</a:t>
            </a:r>
          </a:p>
        </p:txBody>
      </p:sp>
    </p:spTree>
    <p:extLst>
      <p:ext uri="{BB962C8B-B14F-4D97-AF65-F5344CB8AC3E}">
        <p14:creationId xmlns:p14="http://schemas.microsoft.com/office/powerpoint/2010/main" val="2100034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C0919C4-37DD-400A-91FF-FFD590C94D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FDFB05-2E72-46F2-AE11-5DA0A1F7AF67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l">
              <a:buNone/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79B8DD-F330-4F04-BBA4-5ABBC3CB9AB7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/>
          </a:bodyPr>
          <a:lstStyle/>
          <a:p>
            <a:pPr algn="l">
              <a:buNone/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Graphs 4 and 5 — hybrid scaling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B8E5BC-FC0D-4A91-8D47-0B6109A43FFA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8 / 9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="514350" y="1162050"/>
          <a:ext cx="5476875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="6200775" y="1162050"/>
          <a:ext cx="5476875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C55644C-41C0-4193-9256-BBFBD54E7955}"/>
              </a:ext>
            </a:extLst>
          </p:cNvPr>
          <p:cNvSpPr>
            <a:spLocks noGrp="1"/>
          </p:cNvSpPr>
          <p:nvPr/>
        </p:nvSpPr>
        <p:spPr>
          <a:xfrm>
            <a:off x="1333500" y="5619750"/>
            <a:ext cx="9525000" cy="514350"/>
          </a:xfrm>
          <a:prstGeom prst="roundRect">
            <a:avLst>
              <a:gd name="adj" fmla="val 14815"/>
            </a:avLst>
          </a:prstGeom>
          <a:solidFill>
            <a:srgbClr val="FFF5E6"/>
          </a:solidFill>
          <a:ln w="9525">
            <a:solidFill>
              <a:srgbClr val="F5C98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72EFE8-B2D3-4A97-A1FF-82E4367D633D}"/>
              </a:ext>
            </a:extLst>
          </p:cNvPr>
          <p:cNvSpPr>
            <a:spLocks noGrp="1"/>
          </p:cNvSpPr>
          <p:nvPr/>
        </p:nvSpPr>
        <p:spPr>
          <a:xfrm>
            <a:off x="1504950" y="5743575"/>
            <a:ext cx="91821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Best measured hybrid point: 8.46× at 1 × 16; 32- and 64-worker configurations (4×8 and 4×16) reduce efficiency.</a:t>
            </a:r>
          </a:p>
        </p:txBody>
      </p:sp>
    </p:spTree>
    <p:extLst>
      <p:ext uri="{BB962C8B-B14F-4D97-AF65-F5344CB8AC3E}">
        <p14:creationId xmlns:p14="http://schemas.microsoft.com/office/powerpoint/2010/main" val="597781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D9649F8-3349-4295-B5D9-E54050AA85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9525">
            <a:solidFill>
              <a:srgbClr val="007C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5CFF54-0ECF-4C3E-A6EA-F66CDCAACB5B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l">
              <a:buNone/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C7D4CF-15C2-4525-B638-C1FF1B2A2446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/>
          </a:bodyPr>
          <a:lstStyle/>
          <a:p>
            <a:pPr algn="l">
              <a:buNone/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7 — hybrid scaling limits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B52A07-308A-41B2-9692-915702504A04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9 / 9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="476250" y="1143000"/>
          <a:ext cx="6238875" cy="4333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FDCCDC2-1EEF-42E9-893F-78CEE4F30334}"/>
              </a:ext>
            </a:extLst>
          </p:cNvPr>
          <p:cNvSpPr>
            <a:spLocks noGrp="1"/>
          </p:cNvSpPr>
          <p:nvPr/>
        </p:nvSpPr>
        <p:spPr>
          <a:xfrm>
            <a:off x="7105650" y="1162050"/>
            <a:ext cx="45339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1DB521-0ADD-4951-9702-18CC39654D62}"/>
              </a:ext>
            </a:extLst>
          </p:cNvPr>
          <p:cNvSpPr>
            <a:spLocks noGrp="1"/>
          </p:cNvSpPr>
          <p:nvPr/>
        </p:nvSpPr>
        <p:spPr>
          <a:xfrm>
            <a:off x="7353300" y="1371600"/>
            <a:ext cx="4000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5079"/>
          </a:bodyPr>
          <a:lstStyle/>
          <a:p>
            <a:pPr algn="l">
              <a:buNone/>
              <a:defRPr sz="157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Why the curves diverge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C8728D-7584-4BA7-A9BE-84F46E0E6D4F}"/>
              </a:ext>
            </a:extLst>
          </p:cNvPr>
          <p:cNvSpPr>
            <a:spLocks noGrp="1"/>
          </p:cNvSpPr>
          <p:nvPr/>
        </p:nvSpPr>
        <p:spPr>
          <a:xfrm>
            <a:off x="7353300" y="1809750"/>
            <a:ext cx="400050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MPI collectives and rank-0 aggregation</a:t>
            </a:r>
          </a:p>
          <a:p>
            <a:pPr algn="l"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Memory and scheduler contention</a:t>
            </a:r>
          </a:p>
          <a:p>
            <a:pPr algn="l"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Oversubscription beyond 20 logical CPUs</a:t>
            </a:r>
          </a:p>
          <a:p>
            <a:pPr algn="l"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Amdahl assumes a fixed, ideal serial fraction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E2770BA-C65D-4B01-ABB7-4D9C3156CD32}"/>
              </a:ext>
            </a:extLst>
          </p:cNvPr>
          <p:cNvSpPr>
            <a:spLocks noGrp="1"/>
          </p:cNvSpPr>
          <p:nvPr/>
        </p:nvSpPr>
        <p:spPr>
          <a:xfrm>
            <a:off x="7105650" y="3371850"/>
            <a:ext cx="4533900" cy="2076450"/>
          </a:xfrm>
          <a:prstGeom prst="roundRect">
            <a:avLst>
              <a:gd name="adj" fmla="val 3670"/>
            </a:avLst>
          </a:prstGeom>
          <a:solidFill>
            <a:srgbClr val="FFF5E6"/>
          </a:solidFill>
          <a:ln w="9525">
            <a:solidFill>
              <a:srgbClr val="F5C98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F14FB8-D2D4-4E52-9E6C-0E4D30F9CB4C}"/>
              </a:ext>
            </a:extLst>
          </p:cNvPr>
          <p:cNvSpPr>
            <a:spLocks noGrp="1"/>
          </p:cNvSpPr>
          <p:nvPr/>
        </p:nvSpPr>
        <p:spPr>
          <a:xfrm>
            <a:off x="7353300" y="3581400"/>
            <a:ext cx="4000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5079"/>
          </a:bodyPr>
          <a:lstStyle/>
          <a:p>
            <a:pPr algn="l">
              <a:buNone/>
              <a:defRPr sz="1575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Limitations and future work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27BEE2-2C48-4CCB-8599-2DEBB03728CC}"/>
              </a:ext>
            </a:extLst>
          </p:cNvPr>
          <p:cNvSpPr>
            <a:spLocks noGrp="1"/>
          </p:cNvSpPr>
          <p:nvPr/>
        </p:nvSpPr>
        <p:spPr>
          <a:xfrm>
            <a:off x="7353300" y="4019550"/>
            <a:ext cx="4000500" cy="1066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Single-node benchmark results do not quantify network cost. A two-node CAAS Task 1 functional test completed successfully; full multi-node performance measurements remain future work.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BF64D2-B656-4F35-A7B8-D62F50702104}"/>
              </a:ext>
            </a:extLst>
          </p:cNvPr>
          <p:cNvSpPr>
            <a:spLocks noGrp="1"/>
          </p:cNvSpPr>
          <p:nvPr/>
        </p:nvSpPr>
        <p:spPr>
          <a:xfrm>
            <a:off x="9505950" y="581025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619"/>
          </a:bodyPr>
          <a:lstStyle/>
          <a:p>
            <a:pPr algn="r">
              <a:buNone/>
              <a:defRPr sz="21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19229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4D7E8DB-A984-4036-B42F-12223DDC16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F28E2B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DBAA7A-CE89-4F57-9ABE-C99878E9AA0B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l">
              <a:buNone/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11B95E-4202-4543-9B70-9D5F13DB0FCD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/>
          </a:bodyPr>
          <a:lstStyle/>
          <a:p>
            <a:pPr algn="l">
              <a:buNone/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Measured partition and Amdahl evidence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8C02F6-59EC-439B-8A66-F4D915F3ABBA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EBBC63-9B0C-41D7-B20C-1B5CDF61CD93}"/>
              </a:ext>
            </a:extLst>
          </p:cNvPr>
          <p:cNvSpPr>
            <a:spLocks noGrp="1"/>
          </p:cNvSpPr>
          <p:nvPr/>
        </p:nvSpPr>
        <p:spPr>
          <a:xfrm>
            <a:off x="552450" y="1104900"/>
            <a:ext cx="110490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8333"/>
          </a:bodyPr>
          <a:lstStyle/>
          <a:p>
            <a:pPr algn="l">
              <a:buNone/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Partition strategy comparison • n = 20M • median of 3 runs</a:t>
            </a:r>
          </a:p>
        </p:txBody>
      </p:sp>
      <p:graphicFrame>
        <p:nvGraphicFramePr>
          <p:cNvPr id="21" name="Table 20"/>
          <p:cNvGraphicFramePr/>
          <p:nvPr/>
        </p:nvGraphicFramePr>
        <p:xfrm>
          <a:off x="552450" y="1504950"/>
          <a:ext cx="11087100" cy="1866900"/>
        </p:xfrm>
        <a:graphic>
          <a:graphicData uri="http://schemas.openxmlformats.org/drawingml/2006/table">
            <a:tbl>
              <a:tblPr firstRow="1"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81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67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Block-cyclic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Pure cyclic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Block-cyclic total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1.047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627.764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2.204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1.931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1.032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2.615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1.581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491.084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2.780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1.300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46F1954-A427-418D-9E57-240993926244}"/>
              </a:ext>
            </a:extLst>
          </p:cNvPr>
          <p:cNvSpPr>
            <a:spLocks noGrp="1"/>
          </p:cNvSpPr>
          <p:nvPr/>
        </p:nvSpPr>
        <p:spPr>
          <a:xfrm>
            <a:off x="552450" y="3733800"/>
            <a:ext cx="5143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8333"/>
          </a:bodyPr>
          <a:lstStyle/>
          <a:p>
            <a:pPr algn="l">
              <a:buNone/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Amdahl inputs are measured, not assumed</a:t>
            </a:r>
          </a:p>
        </p:txBody>
      </p:sp>
      <p:graphicFrame>
        <p:nvGraphicFramePr>
          <p:cNvPr id="23" name="Table 22"/>
          <p:cNvGraphicFramePr/>
          <p:nvPr/>
        </p:nvGraphicFramePr>
        <p:xfrm>
          <a:off x="552450" y="4114800"/>
          <a:ext cx="6381750" cy="1485900"/>
        </p:xfrm>
        <a:graphic>
          <a:graphicData uri="http://schemas.openxmlformats.org/drawingml/2006/table">
            <a:tbl>
              <a:tblPr firstRow="1"/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Program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Ts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Tp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fs = Ts / (Ts+Tp)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 MPI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0.427566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23.948293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0.017541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 hybrid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0.411327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23.749574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0.017024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17877BE-A23F-47AB-87BF-714E31B78031}"/>
              </a:ext>
            </a:extLst>
          </p:cNvPr>
          <p:cNvSpPr>
            <a:spLocks noGrp="1"/>
          </p:cNvSpPr>
          <p:nvPr/>
        </p:nvSpPr>
        <p:spPr>
          <a:xfrm>
            <a:off x="7296150" y="3733800"/>
            <a:ext cx="4343400" cy="1866900"/>
          </a:xfrm>
          <a:prstGeom prst="roundRect">
            <a:avLst>
              <a:gd name="adj" fmla="val 4082"/>
            </a:avLst>
          </a:prstGeom>
          <a:solidFill>
            <a:srgbClr val="EBF4FF"/>
          </a:solidFill>
          <a:ln w="9525">
            <a:solidFill>
              <a:srgbClr val="B6D4F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3FE8DF-C444-40B4-A85C-3066A8D3F4C9}"/>
              </a:ext>
            </a:extLst>
          </p:cNvPr>
          <p:cNvSpPr>
            <a:spLocks noGrp="1"/>
          </p:cNvSpPr>
          <p:nvPr/>
        </p:nvSpPr>
        <p:spPr>
          <a:xfrm>
            <a:off x="7543800" y="3943350"/>
            <a:ext cx="3714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158"/>
          </a:bodyPr>
          <a:lstStyle/>
          <a:p>
            <a:pPr algn="l">
              <a:buNone/>
              <a:defRPr sz="142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Formula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5725B2-CE16-4185-B0C4-016113F242A2}"/>
              </a:ext>
            </a:extLst>
          </p:cNvPr>
          <p:cNvSpPr>
            <a:spLocks noGrp="1"/>
          </p:cNvSpPr>
          <p:nvPr/>
        </p:nvSpPr>
        <p:spPr>
          <a:xfrm>
            <a:off x="7543800" y="4362450"/>
            <a:ext cx="37147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6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S(W) = (Ts + Tp) / (Ts + Tp / W)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F0CFDE-7B63-4522-87F0-C9DDEA0EAC70}"/>
              </a:ext>
            </a:extLst>
          </p:cNvPr>
          <p:cNvSpPr>
            <a:spLocks noGrp="1"/>
          </p:cNvSpPr>
          <p:nvPr/>
        </p:nvSpPr>
        <p:spPr>
          <a:xfrm>
            <a:off x="7543800" y="4876800"/>
            <a:ext cx="371475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383"/>
          </a:bodyPr>
          <a:lstStyle/>
          <a:p>
            <a:pPr algn="l">
              <a:buNone/>
              <a:defRPr sz="112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Empirical speedup uses the Week 4 serial end-to-end baseline. Theoretical speedup uses each parallel program's measured one-worker decomposition; this difference is stated explicitly.</a:t>
            </a:r>
          </a:p>
        </p:txBody>
      </p:sp>
    </p:spTree>
    <p:extLst>
      <p:ext uri="{BB962C8B-B14F-4D97-AF65-F5344CB8AC3E}">
        <p14:creationId xmlns:p14="http://schemas.microsoft.com/office/powerpoint/2010/main" val="527175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03309B4-B076-4D09-BA03-C8A123CE61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F28E2B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DF2D00-3587-4912-8033-2D3C110DCDC0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l">
              <a:buNone/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7EAD2F-0D90-4241-9FD6-B8E6BD2484A8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/>
          </a:bodyPr>
          <a:lstStyle/>
          <a:p>
            <a:pPr algn="l">
              <a:buNone/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and Moodle submission readiness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B905D4-46AB-48D9-B786-A19015C6449E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94D41E-29CC-412C-9050-B50EE923575D}"/>
              </a:ext>
            </a:extLst>
          </p:cNvPr>
          <p:cNvSpPr>
            <a:spLocks noGrp="1"/>
          </p:cNvSpPr>
          <p:nvPr/>
        </p:nvSpPr>
        <p:spPr>
          <a:xfrm>
            <a:off x="552450" y="1104900"/>
            <a:ext cx="110490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8333"/>
          </a:bodyPr>
          <a:lstStyle/>
          <a:p>
            <a:pPr algn="l">
              <a:buNone/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Verified artifacts</a:t>
            </a:r>
          </a:p>
        </p:txBody>
      </p:sp>
      <p:graphicFrame>
        <p:nvGraphicFramePr>
          <p:cNvPr id="16" name="Table 15"/>
          <p:cNvGraphicFramePr/>
          <p:nvPr>
            <p:extLst>
              <p:ext uri="{D42A27DB-BD31-4B8C-83A1-F6EECF244321}">
                <p14:modId xmlns:p14="http://schemas.microsoft.com/office/powerpoint/2010/main" val="1389773268"/>
              </p:ext>
            </p:extLst>
          </p:nvPr>
        </p:nvGraphicFramePr>
        <p:xfrm>
          <a:off x="552450" y="1485900"/>
          <a:ext cx="11087100" cy="3285064"/>
        </p:xfrm>
        <a:graphic>
          <a:graphicData uri="http://schemas.openxmlformats.org/drawingml/2006/table">
            <a:tbl>
              <a:tblPr firstRow="1"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063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Requirement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Artifact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 source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task1.c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 source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task2.c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Presentation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output/FIT3143_Week8_Lab2_Presentation_HD_Submission_With_Evidence_And_AI_Declaration.pptx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Representative scripts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scripts/run_benchmarks.sh + capture_local_execution_evidence.sh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Execution + sorted output proof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results/local_cluster_execution.txt + prime output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Text evidence 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AI use declaration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dirty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output/AI_Use_Declaration.pdf and Appendix 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0633">
                <a:tc>
                  <a:txBody>
                    <a:bodyPr/>
                    <a:lstStyle/>
                    <a:p>
                      <a:r>
                        <a:rPr sz="900" dirty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Execution screenshots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dirty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App. 3–6: local and CAAS Task 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dirty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5512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74372A8-0EA6-4921-9303-286E650137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F28E2B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0C8A05-2709-44A3-BB04-F3948C775033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l">
              <a:buNone/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C69735-BC19-43F1-A383-2A9BCD876E06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/>
          </a:bodyPr>
          <a:lstStyle/>
          <a:p>
            <a:pPr algn="l">
              <a:buNone/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Execution evidence — Task 1 Open MPI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9C10E3-8F3D-49A6-AE8E-562E43FFC891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3225E1-7A86-4422-AF75-5F8B29A03FB0}"/>
              </a:ext>
            </a:extLst>
          </p:cNvPr>
          <p:cNvSpPr>
            <a:spLocks noGrp="1"/>
          </p:cNvSpPr>
          <p:nvPr/>
        </p:nvSpPr>
        <p:spPr>
          <a:xfrm>
            <a:off x="552450" y="1104900"/>
            <a:ext cx="6762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/>
          </a:bodyPr>
          <a:lstStyle/>
          <a:p>
            <a:pPr algn="l">
              <a:buNone/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Representative local WSL2 terminal capture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57912" y="1447800"/>
            <a:ext cx="4580325" cy="447675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4286EE-1B3D-471F-88CF-51259B990B49}"/>
              </a:ext>
            </a:extLst>
          </p:cNvPr>
          <p:cNvSpPr>
            <a:spLocks noGrp="1"/>
          </p:cNvSpPr>
          <p:nvPr/>
        </p:nvSpPr>
        <p:spPr>
          <a:xfrm>
            <a:off x="7124700" y="1581150"/>
            <a:ext cx="4305300" cy="3295650"/>
          </a:xfrm>
          <a:prstGeom prst="roundRect">
            <a:avLst>
              <a:gd name="adj" fmla="val 2312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05266B-E48C-48A6-9230-B8AF8F7D4C79}"/>
              </a:ext>
            </a:extLst>
          </p:cNvPr>
          <p:cNvSpPr>
            <a:spLocks noGrp="1"/>
          </p:cNvSpPr>
          <p:nvPr/>
        </p:nvSpPr>
        <p:spPr>
          <a:xfrm>
            <a:off x="7410450" y="1847850"/>
            <a:ext cx="35242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8333"/>
          </a:bodyPr>
          <a:lstStyle/>
          <a:p>
            <a:pPr algn="l">
              <a:buNone/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What this proves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F5C35F-9946-45C4-9E07-CE85AC839189}"/>
              </a:ext>
            </a:extLst>
          </p:cNvPr>
          <p:cNvSpPr>
            <a:spLocks noGrp="1"/>
          </p:cNvSpPr>
          <p:nvPr/>
        </p:nvSpPr>
        <p:spPr>
          <a:xfrm>
            <a:off x="7410450" y="2286000"/>
            <a:ext cx="3524250" cy="1809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Local WSL2, one node, 4 MPI ranks</a:t>
            </a:r>
          </a:p>
          <a:p>
            <a:pPr algn="l"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n = 60,000,000; block-cyclic partitioning</a:t>
            </a:r>
          </a:p>
          <a:p>
            <a:pPr algn="l"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Prime count = 3,562,115</a:t>
            </a:r>
          </a:p>
          <a:p>
            <a:pPr algn="l"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Per-rank candidate counts and computation times</a:t>
            </a:r>
          </a:p>
          <a:p>
            <a:pPr algn="l"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Imbalance ratio = 1.012429</a:t>
            </a:r>
          </a:p>
          <a:p>
            <a:pPr algn="l"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Output file produced: task1_mpi_primes.txt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0C65EAC-8A96-4B1B-AE98-44A1C8FC998A}"/>
              </a:ext>
            </a:extLst>
          </p:cNvPr>
          <p:cNvSpPr>
            <a:spLocks noGrp="1"/>
          </p:cNvSpPr>
          <p:nvPr/>
        </p:nvSpPr>
        <p:spPr>
          <a:xfrm>
            <a:off x="990600" y="6057900"/>
            <a:ext cx="10210800" cy="514350"/>
          </a:xfrm>
          <a:prstGeom prst="roundRect">
            <a:avLst>
              <a:gd name="adj" fmla="val 14815"/>
            </a:avLst>
          </a:prstGeom>
          <a:solidFill>
            <a:srgbClr val="FFF5E6"/>
          </a:solidFill>
          <a:ln w="9525">
            <a:solidFill>
              <a:srgbClr val="F5C98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0F585C-34D5-41C6-8D8D-AE38905E8896}"/>
              </a:ext>
            </a:extLst>
          </p:cNvPr>
          <p:cNvSpPr>
            <a:spLocks noGrp="1"/>
          </p:cNvSpPr>
          <p:nvPr/>
        </p:nvSpPr>
        <p:spPr>
          <a:xfrm>
            <a:off x="1162050" y="6181725"/>
            <a:ext cx="98679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Authentic execution evidence only; the benchmark charts use the documented CSV measurements, not this single run.</a:t>
            </a:r>
          </a:p>
        </p:txBody>
      </p:sp>
    </p:spTree>
    <p:extLst>
      <p:ext uri="{BB962C8B-B14F-4D97-AF65-F5344CB8AC3E}">
        <p14:creationId xmlns:p14="http://schemas.microsoft.com/office/powerpoint/2010/main" val="1808794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3EC3811-260A-4B1F-A552-66C9158B23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F28E2B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77BBAB-F0AA-423B-BBE3-D4F34E04D1A0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l">
              <a:buNone/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5824B9-9CF6-47DE-869F-F21DA5C84E1A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/>
          </a:bodyPr>
          <a:lstStyle/>
          <a:p>
            <a:pPr algn="l">
              <a:buNone/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Execution evidence — Task 2 MPI + OpenMP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96441F-6A58-439A-BDA9-0F48991BCE97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20FE65-1283-4806-80CD-2936367A73E8}"/>
              </a:ext>
            </a:extLst>
          </p:cNvPr>
          <p:cNvSpPr>
            <a:spLocks noGrp="1"/>
          </p:cNvSpPr>
          <p:nvPr/>
        </p:nvSpPr>
        <p:spPr>
          <a:xfrm>
            <a:off x="552450" y="1104900"/>
            <a:ext cx="6762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/>
          </a:bodyPr>
          <a:lstStyle/>
          <a:p>
            <a:pPr algn="l">
              <a:buNone/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Representative local WSL2 terminal capture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09198" y="1447800"/>
            <a:ext cx="7773605" cy="414337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83569FF-2338-444C-92F3-C7B7A6044996}"/>
              </a:ext>
            </a:extLst>
          </p:cNvPr>
          <p:cNvSpPr>
            <a:spLocks noGrp="1"/>
          </p:cNvSpPr>
          <p:nvPr/>
        </p:nvSpPr>
        <p:spPr>
          <a:xfrm>
            <a:off x="990600" y="5905500"/>
            <a:ext cx="10210800" cy="514350"/>
          </a:xfrm>
          <a:prstGeom prst="roundRect">
            <a:avLst>
              <a:gd name="adj" fmla="val 14815"/>
            </a:avLst>
          </a:prstGeom>
          <a:solidFill>
            <a:srgbClr val="FFF5E6"/>
          </a:solidFill>
          <a:ln w="9525">
            <a:solidFill>
              <a:srgbClr val="F5C98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C9DB07-BB08-4270-AC86-027F22A6876F}"/>
              </a:ext>
            </a:extLst>
          </p:cNvPr>
          <p:cNvSpPr>
            <a:spLocks noGrp="1"/>
          </p:cNvSpPr>
          <p:nvPr/>
        </p:nvSpPr>
        <p:spPr>
          <a:xfrm>
            <a:off x="1162050" y="6029325"/>
            <a:ext cx="98679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Authentic local run: 1 node, 4 MPI ranks × 2 OpenMP threads = 8 workers; graph data remains in the documented CSV files.</a:t>
            </a:r>
          </a:p>
        </p:txBody>
      </p:sp>
    </p:spTree>
    <p:extLst>
      <p:ext uri="{BB962C8B-B14F-4D97-AF65-F5344CB8AC3E}">
        <p14:creationId xmlns:p14="http://schemas.microsoft.com/office/powerpoint/2010/main" val="1414701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74372A8-0EA6-4921-9303-286E650137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F28E2B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0C8A05-2709-44A3-BB04-F3948C775033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l">
              <a:buNone/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C69735-BC19-43F1-A383-2A9BCD876E06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/>
          </a:bodyPr>
          <a:lstStyle/>
          <a:p>
            <a:pPr algn="l">
              <a:buNone/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CAAS evidence — access and job setup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9C10E3-8F3D-49A6-AE8E-562E43FFC891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3225E1-7A86-4422-AF75-5F8B29A03FB0}"/>
              </a:ext>
            </a:extLst>
          </p:cNvPr>
          <p:cNvSpPr>
            <a:spLocks noGrp="1"/>
          </p:cNvSpPr>
          <p:nvPr/>
        </p:nvSpPr>
        <p:spPr>
          <a:xfrm>
            <a:off x="552450" y="1104900"/>
            <a:ext cx="6762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/>
          </a:bodyPr>
          <a:lstStyle/>
          <a:p>
            <a:pPr algn="l">
              <a:buNone/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CAAS head-node access and source upload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4286EE-1B3D-471F-88CF-51259B990B49}"/>
              </a:ext>
            </a:extLst>
          </p:cNvPr>
          <p:cNvSpPr>
            <a:spLocks noGrp="1"/>
          </p:cNvSpPr>
          <p:nvPr/>
        </p:nvSpPr>
        <p:spPr>
          <a:xfrm>
            <a:off x="7124700" y="1581150"/>
            <a:ext cx="4305300" cy="3295650"/>
          </a:xfrm>
          <a:prstGeom prst="roundRect">
            <a:avLst>
              <a:gd name="adj" fmla="val 2312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05266B-E48C-48A6-9230-B8AF8F7D4C79}"/>
              </a:ext>
            </a:extLst>
          </p:cNvPr>
          <p:cNvSpPr>
            <a:spLocks noGrp="1"/>
          </p:cNvSpPr>
          <p:nvPr/>
        </p:nvSpPr>
        <p:spPr>
          <a:xfrm>
            <a:off x="7410450" y="1847850"/>
            <a:ext cx="35242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8333"/>
          </a:bodyPr>
          <a:lstStyle/>
          <a:p>
            <a:pPr algn="l">
              <a:buNone/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What this proves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F5C35F-9946-45C4-9E07-CE85AC839189}"/>
              </a:ext>
            </a:extLst>
          </p:cNvPr>
          <p:cNvSpPr>
            <a:spLocks noGrp="1"/>
          </p:cNvSpPr>
          <p:nvPr/>
        </p:nvSpPr>
        <p:spPr>
          <a:xfrm>
            <a:off x="7410450" y="2286000"/>
            <a:ext cx="3524250" cy="1809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Authenticated CAAS head-node access</a:t>
            </a:r>
          </a:p>
          <a:p>
            <a:pPr algn="l"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SLURM defq reported idle compute nodes</a:t>
            </a:r>
          </a:p>
          <a:p>
            <a:pPr algn="l"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Task 1 and Task 2 sources uploaded</a:t>
            </a:r>
          </a:p>
          <a:p>
            <a:pPr algn="l"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Setup evidence only; no performance claim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0C65EAC-8A96-4B1B-AE98-44A1C8FC998A}"/>
              </a:ext>
            </a:extLst>
          </p:cNvPr>
          <p:cNvSpPr>
            <a:spLocks noGrp="1"/>
          </p:cNvSpPr>
          <p:nvPr/>
        </p:nvSpPr>
        <p:spPr>
          <a:xfrm>
            <a:off x="990600" y="6057900"/>
            <a:ext cx="10210800" cy="514350"/>
          </a:xfrm>
          <a:prstGeom prst="roundRect">
            <a:avLst>
              <a:gd name="adj" fmla="val 14815"/>
            </a:avLst>
          </a:prstGeom>
          <a:solidFill>
            <a:srgbClr val="FFF5E6"/>
          </a:solidFill>
          <a:ln w="9525">
            <a:solidFill>
              <a:srgbClr val="F5C98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0F585C-34D5-41C6-8D8D-AE38905E8896}"/>
              </a:ext>
            </a:extLst>
          </p:cNvPr>
          <p:cNvSpPr>
            <a:spLocks noGrp="1"/>
          </p:cNvSpPr>
          <p:nvPr/>
        </p:nvSpPr>
        <p:spPr>
          <a:xfrm>
            <a:off x="1162050" y="6181725"/>
            <a:ext cx="98679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This capture establishes the CAAS environment before the submitted two-node Task 1 job shown in Appendix 6.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57912" y="1670344"/>
            <a:ext cx="4580325" cy="403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7944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74372A8-0EA6-4921-9303-286E650137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F28E2B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0C8A05-2709-44A3-BB04-F3948C775033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l">
              <a:buNone/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C69735-BC19-43F1-A383-2A9BCD876E06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/>
          </a:bodyPr>
          <a:lstStyle/>
          <a:p>
            <a:pPr algn="l">
              <a:buNone/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CAAS evidence — two-node Task 1 run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9C10E3-8F3D-49A6-AE8E-562E43FFC891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3225E1-7A86-4422-AF75-5F8B29A03FB0}"/>
              </a:ext>
            </a:extLst>
          </p:cNvPr>
          <p:cNvSpPr>
            <a:spLocks noGrp="1"/>
          </p:cNvSpPr>
          <p:nvPr/>
        </p:nvSpPr>
        <p:spPr>
          <a:xfrm>
            <a:off x="552450" y="1104900"/>
            <a:ext cx="6762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/>
          </a:bodyPr>
          <a:lstStyle/>
          <a:p>
            <a:pPr algn="l">
              <a:buNone/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Two-node CAAS Task 1 functional execution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4286EE-1B3D-471F-88CF-51259B990B49}"/>
              </a:ext>
            </a:extLst>
          </p:cNvPr>
          <p:cNvSpPr>
            <a:spLocks noGrp="1"/>
          </p:cNvSpPr>
          <p:nvPr/>
        </p:nvSpPr>
        <p:spPr>
          <a:xfrm>
            <a:off x="7124700" y="1581150"/>
            <a:ext cx="4305300" cy="3295650"/>
          </a:xfrm>
          <a:prstGeom prst="roundRect">
            <a:avLst>
              <a:gd name="adj" fmla="val 2312"/>
            </a:avLst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05266B-E48C-48A6-9230-B8AF8F7D4C79}"/>
              </a:ext>
            </a:extLst>
          </p:cNvPr>
          <p:cNvSpPr>
            <a:spLocks noGrp="1"/>
          </p:cNvSpPr>
          <p:nvPr/>
        </p:nvSpPr>
        <p:spPr>
          <a:xfrm>
            <a:off x="7410450" y="1847850"/>
            <a:ext cx="35242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8333"/>
          </a:bodyPr>
          <a:lstStyle/>
          <a:p>
            <a:pPr algn="l">
              <a:buNone/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What this proves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F5C35F-9946-45C4-9E07-CE85AC839189}"/>
              </a:ext>
            </a:extLst>
          </p:cNvPr>
          <p:cNvSpPr>
            <a:spLocks noGrp="1"/>
          </p:cNvSpPr>
          <p:nvPr/>
        </p:nvSpPr>
        <p:spPr>
          <a:xfrm>
            <a:off x="7410450" y="2286000"/>
            <a:ext cx="3524250" cy="1809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Allocated nodes: student-caas-n03 and n04</a:t>
            </a:r>
          </a:p>
          <a:p>
            <a:pPr algn="l"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8 MPI ranks, 4 ranks on each node</a:t>
            </a:r>
          </a:p>
          <a:p>
            <a:pPr algn="l"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Task 1 at n = 10,000 returned 1,229 primes</a:t>
            </a:r>
          </a:p>
          <a:p>
            <a:pPr algn="l"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Functional proof only; not performance or balance data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0C65EAC-8A96-4B1B-AE98-44A1C8FC998A}"/>
              </a:ext>
            </a:extLst>
          </p:cNvPr>
          <p:cNvSpPr>
            <a:spLocks noGrp="1"/>
          </p:cNvSpPr>
          <p:nvPr/>
        </p:nvSpPr>
        <p:spPr>
          <a:xfrm>
            <a:off x="990600" y="6057900"/>
            <a:ext cx="10210800" cy="514350"/>
          </a:xfrm>
          <a:prstGeom prst="roundRect">
            <a:avLst>
              <a:gd name="adj" fmla="val 14815"/>
            </a:avLst>
          </a:prstGeom>
          <a:solidFill>
            <a:srgbClr val="FFF5E6"/>
          </a:solidFill>
          <a:ln w="9525">
            <a:solidFill>
              <a:srgbClr val="F5C98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0F585C-34D5-41C6-8D8D-AE38905E8896}"/>
              </a:ext>
            </a:extLst>
          </p:cNvPr>
          <p:cNvSpPr>
            <a:spLocks noGrp="1"/>
          </p:cNvSpPr>
          <p:nvPr/>
        </p:nvSpPr>
        <p:spPr>
          <a:xfrm>
            <a:off x="1162050" y="6181725"/>
            <a:ext cx="98679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buNone/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CAAS functional evidence. The existing graphs and balance findings remain based on the documented local measurement files.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5018" y="1447800"/>
            <a:ext cx="3866114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7944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77DC7E3-08B8-4768-948C-3AAE8EC3E4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F28E2B"/>
          </a:solidFill>
          <a:ln w="9525">
            <a:solidFill>
              <a:srgbClr val="F28E2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F58F88-1851-45A6-898E-31690793A640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l">
              <a:buNone/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351796-A5E9-4ADE-87B7-29F24B7C7665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107632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/>
          </a:bodyPr>
          <a:lstStyle/>
          <a:p>
            <a:pPr algn="l">
              <a:buNone/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Generative AI use declaration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9E1EDB-7D60-4FAE-B61D-5D34A7E74CCC}"/>
              </a:ext>
            </a:extLst>
          </p:cNvPr>
          <p:cNvSpPr>
            <a:spLocks noGrp="1"/>
          </p:cNvSpPr>
          <p:nvPr/>
        </p:nvSpPr>
        <p:spPr>
          <a:xfrm>
            <a:off x="10953750" y="6438900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222"/>
          </a:bodyPr>
          <a:lstStyle/>
          <a:p>
            <a:pPr algn="r">
              <a:buNone/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19EAFE-A1DC-4A3A-8404-DA43440D78FA}"/>
              </a:ext>
            </a:extLst>
          </p:cNvPr>
          <p:cNvSpPr>
            <a:spLocks noGrp="1"/>
          </p:cNvSpPr>
          <p:nvPr/>
        </p:nvSpPr>
        <p:spPr>
          <a:xfrm>
            <a:off x="552450" y="1104900"/>
            <a:ext cx="5905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667"/>
          </a:bodyPr>
          <a:lstStyle/>
          <a:p>
            <a:pPr algn="l">
              <a:buNone/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Summary of the separate declaration PDF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01809A-15C9-4D02-981B-E362B42BDE9D}"/>
              </a:ext>
            </a:extLst>
          </p:cNvPr>
          <p:cNvSpPr>
            <a:spLocks noGrp="1"/>
          </p:cNvSpPr>
          <p:nvPr/>
        </p:nvSpPr>
        <p:spPr>
          <a:xfrm>
            <a:off x="742950" y="1676400"/>
            <a:ext cx="2857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5079"/>
          </a:bodyPr>
          <a:lstStyle/>
          <a:p>
            <a:pPr algn="l">
              <a:buNone/>
              <a:defRPr sz="157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Scope of assistance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700D65-A93C-4B39-963E-74228BFFF24A}"/>
              </a:ext>
            </a:extLst>
          </p:cNvPr>
          <p:cNvSpPr>
            <a:spLocks noGrp="1"/>
          </p:cNvSpPr>
          <p:nvPr/>
        </p:nvSpPr>
        <p:spPr>
          <a:xfrm>
            <a:off x="742950" y="2047875"/>
            <a:ext cx="5048250" cy="1028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Generative AI assisted with interpreting the specification and rubric, reviewing the MPI and hybrid implementation, planning experiments, drafting charts and slides, and preparing documentation.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E08BCD-441B-40CB-A005-C44E0614FCAF}"/>
              </a:ext>
            </a:extLst>
          </p:cNvPr>
          <p:cNvSpPr>
            <a:spLocks noGrp="1"/>
          </p:cNvSpPr>
          <p:nvPr/>
        </p:nvSpPr>
        <p:spPr>
          <a:xfrm>
            <a:off x="6096000" y="1562100"/>
            <a:ext cx="19050" cy="1581150"/>
          </a:xfrm>
          <a:prstGeom prst="rect">
            <a:avLst/>
          </a:prstGeom>
          <a:solidFill>
            <a:srgbClr val="D9E2EC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8BD21F-8B41-42B0-85B9-4D8AF30F9A28}"/>
              </a:ext>
            </a:extLst>
          </p:cNvPr>
          <p:cNvSpPr>
            <a:spLocks noGrp="1"/>
          </p:cNvSpPr>
          <p:nvPr/>
        </p:nvSpPr>
        <p:spPr>
          <a:xfrm>
            <a:off x="6457950" y="1676400"/>
            <a:ext cx="2857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5079"/>
          </a:bodyPr>
          <a:lstStyle/>
          <a:p>
            <a:pPr algn="l">
              <a:buNone/>
              <a:defRPr sz="157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Team responsibility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B101EE-319E-44F6-BBA0-E5C0C5413E6B}"/>
              </a:ext>
            </a:extLst>
          </p:cNvPr>
          <p:cNvSpPr>
            <a:spLocks noGrp="1"/>
          </p:cNvSpPr>
          <p:nvPr/>
        </p:nvSpPr>
        <p:spPr>
          <a:xfrm>
            <a:off x="6457950" y="2047875"/>
            <a:ext cx="4953000" cy="1028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team reviewed the material against the supplied requirements, compiled and executed the programs locally, validated prime output independently, and accepts responsibility for every submitted claim and result.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203D4E-9F2A-4F2C-8628-6E687E2512E6}"/>
              </a:ext>
            </a:extLst>
          </p:cNvPr>
          <p:cNvSpPr>
            <a:spLocks noGrp="1"/>
          </p:cNvSpPr>
          <p:nvPr/>
        </p:nvSpPr>
        <p:spPr>
          <a:xfrm>
            <a:off x="742950" y="3524250"/>
            <a:ext cx="10687050" cy="19050"/>
          </a:xfrm>
          <a:prstGeom prst="rect">
            <a:avLst/>
          </a:prstGeom>
          <a:solidFill>
            <a:srgbClr val="D9E2EC"/>
          </a:solidFill>
          <a:ln w="9525">
            <a:solidFill>
              <a:srgbClr val="D9E2EC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12326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2008</Words>
  <Application>Microsoft Office PowerPoint</Application>
  <DocSecurity>0</DocSecurity>
  <PresentationFormat>Widescreen</PresentationFormat>
  <Paragraphs>289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Savin de Alwis</cp:lastModifiedBy>
  <cp:revision>1</cp:revision>
  <dcterms:created xsi:type="dcterms:W3CDTF">2026-09-18T06:09:43Z</dcterms:created>
  <dcterms:modified xsi:type="dcterms:W3CDTF">2026-09-18T06:14:35Z</dcterms:modified>
</cp:coreProperties>
</file>