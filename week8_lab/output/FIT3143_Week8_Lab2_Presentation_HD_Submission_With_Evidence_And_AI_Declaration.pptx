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7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cb270c73504253" /><Relationship Type="http://schemas.openxmlformats.org/officeDocument/2006/relationships/extended-properties" Target="/docProps/app.xml" Id="Rfe2f418d06644043" /><Relationship Type="http://schemas.openxmlformats.org/officeDocument/2006/relationships/officeDocument" Target="/ppt/presentation.xml" Id="R5628d2375ba740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ddc312254d409f"/>
  </p:sldMasterIdLst>
  <p:notesMasterIdLst>
    <p:notesMasterId xmlns:r="http://schemas.openxmlformats.org/officeDocument/2006/relationships" r:id="R829437fe0e0546fb"/>
  </p:notesMasterIdLst>
  <p:sldIdLst>
    <p:sldId xmlns:r="http://schemas.openxmlformats.org/officeDocument/2006/relationships" id="256" r:id="Ra1d4e1740f26491b"/>
    <p:sldId xmlns:r="http://schemas.openxmlformats.org/officeDocument/2006/relationships" id="257" r:id="R1cc45845ae244e1f"/>
    <p:sldId xmlns:r="http://schemas.openxmlformats.org/officeDocument/2006/relationships" id="258" r:id="Ra3050797173942d0"/>
    <p:sldId xmlns:r="http://schemas.openxmlformats.org/officeDocument/2006/relationships" id="259" r:id="R6ca7a0352c6f4a39"/>
    <p:sldId xmlns:r="http://schemas.openxmlformats.org/officeDocument/2006/relationships" id="260" r:id="R89321303ba054b18"/>
    <p:sldId xmlns:r="http://schemas.openxmlformats.org/officeDocument/2006/relationships" id="261" r:id="R0e5ecfaa984c4093"/>
    <p:sldId xmlns:r="http://schemas.openxmlformats.org/officeDocument/2006/relationships" id="262" r:id="Ra42a96743bd04bb8"/>
    <p:sldId xmlns:r="http://schemas.openxmlformats.org/officeDocument/2006/relationships" id="263" r:id="R9a4f73d9d0464e89"/>
    <p:sldId xmlns:r="http://schemas.openxmlformats.org/officeDocument/2006/relationships" id="264" r:id="Rbf1f886fd30649d5"/>
    <p:sldId xmlns:r="http://schemas.openxmlformats.org/officeDocument/2006/relationships" id="265" r:id="R5cb87ee51ed04e7c"/>
    <p:sldId xmlns:r="http://schemas.openxmlformats.org/officeDocument/2006/relationships" id="266" r:id="R6d23d0796cc34e47"/>
    <p:sldId xmlns:r="http://schemas.openxmlformats.org/officeDocument/2006/relationships" id="267" r:id="R4803cdc6c58c41d4"/>
    <p:sldId xmlns:r="http://schemas.openxmlformats.org/officeDocument/2006/relationships" id="268" r:id="R2120baeab2ee443f"/>
    <p:sldId xmlns:r="http://schemas.openxmlformats.org/officeDocument/2006/relationships" id="269" r:id="Rf03aeac79bd241c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b6d47908624f97" /><Relationship Type="http://schemas.openxmlformats.org/officeDocument/2006/relationships/slideMaster" Target="/ppt/slideMasters/slideMaster1.xml" Id="R05ddc312254d409f" /><Relationship Type="http://schemas.openxmlformats.org/officeDocument/2006/relationships/notesMaster" Target="/ppt/notesMasters/notesMaster1.xml" Id="R829437fe0e0546fb" /><Relationship Type="http://schemas.openxmlformats.org/officeDocument/2006/relationships/presProps" Target="/ppt/presProps.xml" Id="R39a1a15dadcf4949" /><Relationship Type="http://schemas.openxmlformats.org/officeDocument/2006/relationships/tableStyles" Target="/ppt/tableStyles.xml" Id="Re9c8f89c75d542c5" /><Relationship Type="http://schemas.openxmlformats.org/officeDocument/2006/relationships/slide" Target="/ppt/slides/slide1.xml" Id="Ra1d4e1740f26491b" /><Relationship Type="http://schemas.openxmlformats.org/officeDocument/2006/relationships/slide" Target="/ppt/slides/slide2.xml" Id="R1cc45845ae244e1f" /><Relationship Type="http://schemas.openxmlformats.org/officeDocument/2006/relationships/slide" Target="/ppt/slides/slide3.xml" Id="Ra3050797173942d0" /><Relationship Type="http://schemas.openxmlformats.org/officeDocument/2006/relationships/slide" Target="/ppt/slides/slide4.xml" Id="R6ca7a0352c6f4a39" /><Relationship Type="http://schemas.openxmlformats.org/officeDocument/2006/relationships/slide" Target="/ppt/slides/slide5.xml" Id="R89321303ba054b18" /><Relationship Type="http://schemas.openxmlformats.org/officeDocument/2006/relationships/slide" Target="/ppt/slides/slide6.xml" Id="R0e5ecfaa984c4093" /><Relationship Type="http://schemas.openxmlformats.org/officeDocument/2006/relationships/slide" Target="/ppt/slides/slide7.xml" Id="Ra42a96743bd04bb8" /><Relationship Type="http://schemas.openxmlformats.org/officeDocument/2006/relationships/slide" Target="/ppt/slides/slide8.xml" Id="R9a4f73d9d0464e89" /><Relationship Type="http://schemas.openxmlformats.org/officeDocument/2006/relationships/slide" Target="/ppt/slides/slide9.xml" Id="Rbf1f886fd30649d5" /><Relationship Type="http://schemas.openxmlformats.org/officeDocument/2006/relationships/slide" Target="/ppt/slides/slide10.xml" Id="R5cb87ee51ed04e7c" /><Relationship Type="http://schemas.openxmlformats.org/officeDocument/2006/relationships/slide" Target="/ppt/slides/slide11.xml" Id="R6d23d0796cc34e47" /><Relationship Type="http://schemas.openxmlformats.org/officeDocument/2006/relationships/slide" Target="/ppt/slides/slide12.xml" Id="R4803cdc6c58c41d4" /><Relationship Type="http://schemas.openxmlformats.org/officeDocument/2006/relationships/slide" Target="/ppt/slides/slide13.xml" Id="R2120baeab2ee443f" /><Relationship Type="http://schemas.openxmlformats.org/officeDocument/2006/relationships/slide" Target="/ppt/slides/slide14.xml" Id="Rf03aeac79bd241c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1da93ef06df48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05c3e385d24d74" /><Relationship Type="http://schemas.openxmlformats.org/officeDocument/2006/relationships/notesMaster" Target="/ppt/notesMasters/notesMaster1.xml" Id="Rc9db12659269453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06b404d20049a1" /><Relationship Type="http://schemas.openxmlformats.org/officeDocument/2006/relationships/notesMaster" Target="/ppt/notesMasters/notesMaster1.xml" Id="R83d9b50b0c8b4c7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2b32fb86634fff" /><Relationship Type="http://schemas.openxmlformats.org/officeDocument/2006/relationships/notesMaster" Target="/ppt/notesMasters/notesMaster1.xml" Id="R74a36376096548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d43bf84a7254c86" /><Relationship Type="http://schemas.openxmlformats.org/officeDocument/2006/relationships/notesMaster" Target="/ppt/notesMasters/notesMaster1.xml" Id="R8d873518e12a48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4f186d3bcdc4efc" /><Relationship Type="http://schemas.openxmlformats.org/officeDocument/2006/relationships/notesMaster" Target="/ppt/notesMasters/notesMaster1.xml" Id="Ra37961845288481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8e7cdc0ad7a4fdc" /><Relationship Type="http://schemas.openxmlformats.org/officeDocument/2006/relationships/notesMaster" Target="/ppt/notesMasters/notesMaster1.xml" Id="R8702512959fd4cd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1d1c06cf6854d57" /><Relationship Type="http://schemas.openxmlformats.org/officeDocument/2006/relationships/notesMaster" Target="/ppt/notesMasters/notesMaster1.xml" Id="R3c7e23661c8644c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904ad9420fc4067" /><Relationship Type="http://schemas.openxmlformats.org/officeDocument/2006/relationships/notesMaster" Target="/ppt/notesMasters/notesMaster1.xml" Id="Rf4a4436efcba4ce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2c2b03c3a0d4648" /><Relationship Type="http://schemas.openxmlformats.org/officeDocument/2006/relationships/notesMaster" Target="/ppt/notesMasters/notesMaster1.xml" Id="R2c7a5ee9848d4f2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d26b3b5c3b64f6a" /><Relationship Type="http://schemas.openxmlformats.org/officeDocument/2006/relationships/notesMaster" Target="/ppt/notesMasters/notesMaster1.xml" Id="R6ca886bdabf54bf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76d755d2d8f4832" /><Relationship Type="http://schemas.openxmlformats.org/officeDocument/2006/relationships/notesMaster" Target="/ppt/notesMasters/notesMaster1.xml" Id="Re3c7fec217ad44a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ddc21d08fa64dcc" /><Relationship Type="http://schemas.openxmlformats.org/officeDocument/2006/relationships/notesMaster" Target="/ppt/notesMasters/notesMaster1.xml" Id="Re9be08aa49824f9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847ebb4c25449a4" /><Relationship Type="http://schemas.openxmlformats.org/officeDocument/2006/relationships/notesMaster" Target="/ppt/notesMasters/notesMaster1.xml" Id="R6a5aa94e84ec4fb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b6cb8119a2b4d35" /><Relationship Type="http://schemas.openxmlformats.org/officeDocument/2006/relationships/notesMaster" Target="/ppt/notesMasters/notesMaster1.xml" Id="R7fb87e0235134c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results/local_cluster_execution.txt; scripts/verify_correctness.sh; results/n_scaling.csv; results/task1_process_scaling.csv; results/hybrid_scaling.csv.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results/partition_balance.csv. Each value is the median of three runs at n=20,000,000. The strategy comparison uses identical primality testing, merge and output code.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results/n_scaling.csv (current serial and MPI sweep) and results/openmp_n_scaling.csv (prior Week 4 OpenMP sweep). Both use the same machine, n values and 4 workers, but were measured in separate sessions; absolute runtime may include session noise.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MPI speedup from results/n_scaling.csv. OpenMP speedup = results/task3_n_scaling.csv serial_total divided by results/openmp_n_scaling.csv openmp_time for the same n. This avoids mixing serial baselines across sessions.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Graph 3 sources: results/task1_process_scaling.csv and results/openmp_thread_scaling.csv. Graph 6 source: results/task1_process_scaling.csv. Process-scaling points are medians of three runs at n=60,000,000.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results/local_cluster_execution.txt. This representative run records per-rank compute times, candidate-count range, total runtime, commands and exact sorted-output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results/hybrid_scaling.csv and results/openmp_thread_scaling.csv. Hybrid points are medians of three runs at n=60,000,000. Graph 5 compares equal total worker counts.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results/hybrid_scaling.csv. Amdahl serial fraction is measured from the one-worker hybrid run: Ts=0.411327 s, Tp=23.749574 s, fs=0.017024. Main presentation ends here; appendix slides are for Q&amp;A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results/partition_balance.csv, results/task1_process_scaling.csv and results/hybrid_scaling.csv.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checklist distinguishes verified files from evidence that must be created by the students. Appendix 3 and Appendix 4 contain authentic local WSL2 terminal captures. The prompt-record PDF must still be exported from the actual AI conversation.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evidence/screenshots/task1_local_mpi_execution.png. Authentic local WSL2 single-node MPI run, n=60M, 4 ranks; representative execution evidence only, not graph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evidence/screenshots/task2_local_hybrid_execution.png. Authentic local WSL2 single-node hybrid run, n=60M, 4 MPI ranks, 2 OpenMP threads per process; representative execution evidence only, not graph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output/AI_Use_Declaration.pdf. This appendix reproduces a concise summary of the team's AI-use declaration. The PDF and authentic prompt/conversation record remain separate Moodle submission items.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73de681ed849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ef5902a19e74813" /><Relationship Type="http://schemas.openxmlformats.org/officeDocument/2006/relationships/slideLayout" Target="/ppt/slideLayouts/slideLayout1.xml" Id="R4c1f68bc699e4a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1f68bc699e4a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6f148d4f3d4a6f" /><Relationship Type="http://schemas.openxmlformats.org/officeDocument/2006/relationships/notesSlide" Target="/ppt/notesSlides/notesSlide1.xml" Id="Ra8ea0aeb563f4c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0e323625d54aca" /><Relationship Type="http://schemas.openxmlformats.org/officeDocument/2006/relationships/notesSlide" Target="/ppt/notesSlides/notesSlide2.xml" Id="Rc094e958779a48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6aa7a5c481437f" /><Relationship Type="http://schemas.openxmlformats.org/officeDocument/2006/relationships/notesSlide" Target="/ppt/notesSlides/notesSlide3.xml" Id="R3192ddd4937b4cb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8e3d0c284b4fec" /><Relationship Type="http://schemas.openxmlformats.org/officeDocument/2006/relationships/chart" Target="/ppt/slides/charts/chart1.xml" Id="Rbe9c826a6c00484f" /><Relationship Type="http://schemas.openxmlformats.org/officeDocument/2006/relationships/notesSlide" Target="/ppt/notesSlides/notesSlide4.xml" Id="R819d08e4927b4f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5ba658f4f1464b" /><Relationship Type="http://schemas.openxmlformats.org/officeDocument/2006/relationships/chart" Target="/ppt/slides/charts/chart2.xml" Id="Rc4f5ceda5d8d4711" /><Relationship Type="http://schemas.openxmlformats.org/officeDocument/2006/relationships/notesSlide" Target="/ppt/notesSlides/notesSlide5.xml" Id="R839ca8e81aba4e3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4c0776123248b8" /><Relationship Type="http://schemas.openxmlformats.org/officeDocument/2006/relationships/chart" Target="/ppt/slides/charts/chart3.xml" Id="Rf0e66a97b75e4215" /><Relationship Type="http://schemas.openxmlformats.org/officeDocument/2006/relationships/chart" Target="/ppt/slides/charts/chart4.xml" Id="R43fbc887ae0d4997" /><Relationship Type="http://schemas.openxmlformats.org/officeDocument/2006/relationships/notesSlide" Target="/ppt/notesSlides/notesSlide6.xml" Id="Red4095c6ef6e48d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344eb76a64468b" /><Relationship Type="http://schemas.openxmlformats.org/officeDocument/2006/relationships/notesSlide" Target="/ppt/notesSlides/notesSlide7.xml" Id="R62dbfd3787de4a6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e383d21b394de6" /><Relationship Type="http://schemas.openxmlformats.org/officeDocument/2006/relationships/chart" Target="/ppt/slides/charts/chart5.xml" Id="Rda9b3c07321f49ec" /><Relationship Type="http://schemas.openxmlformats.org/officeDocument/2006/relationships/chart" Target="/ppt/slides/charts/chart6.xml" Id="Rc20c07bcb31f42ee" /><Relationship Type="http://schemas.openxmlformats.org/officeDocument/2006/relationships/notesSlide" Target="/ppt/notesSlides/notesSlide8.xml" Id="R6e550d3278084eb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6fb7fce41e4e1f" /><Relationship Type="http://schemas.openxmlformats.org/officeDocument/2006/relationships/chart" Target="/ppt/slides/charts/chart7.xml" Id="R247a3a951d3a4374" /><Relationship Type="http://schemas.openxmlformats.org/officeDocument/2006/relationships/notesSlide" Target="/ppt/notesSlides/notesSlide9.xml" Id="Rf7c6c390f54b474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2bebd2a34943c6" /><Relationship Type="http://schemas.openxmlformats.org/officeDocument/2006/relationships/notesSlide" Target="/ppt/notesSlides/notesSlide10.xml" Id="Ra7e7a646d1cf479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06bc9ecb644864" /><Relationship Type="http://schemas.openxmlformats.org/officeDocument/2006/relationships/notesSlide" Target="/ppt/notesSlides/notesSlide11.xml" Id="Rfd11db7dbda2410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481a1d59c64ad6" /><Relationship Type="http://schemas.openxmlformats.org/officeDocument/2006/relationships/image" Target="/ppt/media/image.png" Id="Rd29e8adefe9046ec" /><Relationship Type="http://schemas.openxmlformats.org/officeDocument/2006/relationships/notesSlide" Target="/ppt/notesSlides/notesSlide12.xml" Id="Rf2d2109a46094d7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2b0da6d5c64d72" /><Relationship Type="http://schemas.openxmlformats.org/officeDocument/2006/relationships/image" Target="/ppt/media/image2.png" Id="Rd8e06f05059b4ca3" /><Relationship Type="http://schemas.openxmlformats.org/officeDocument/2006/relationships/notesSlide" Target="/ppt/notesSlides/notesSlide13.xml" Id="R789c0fdc317e4cf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f625c36d774d21" /><Relationship Type="http://schemas.openxmlformats.org/officeDocument/2006/relationships/notesSlide" Target="/ppt/notesSlides/notesSlide14.xml" Id="R53a00c8af4034ea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End-to-end runtime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02A43"/>
              </a:solidFill>
              <a:latin typeface="Arial"/>
              <a:ea typeface="Arial"/>
              <a:cs typeface="Arial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Serial baseline</c:v>
          </c:tx>
          <c:spPr>
            <a:ln xmlns:a="http://schemas.openxmlformats.org/drawingml/2006/main" w="21908">
              <a:solidFill>
                <a:srgbClr val="3B6FB6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3B6FB6"/>
              </a:solidFill>
            </c:spPr>
          </c:marker>
          <c:xVal>
            <c:numRef>
              <c:f>'Chart Data'!$A$2:$A$31</c:f>
              <c:numCache>
                <c:formatCode>General</c:formatCode>
                <c:ptCount val="30"/>
                <c:pt idx="0">
                  <c:v>20</c:v>
                </c:pt>
                <c:pt idx="1">
                  <c:v>22</c:v>
                </c:pt>
                <c:pt idx="2">
                  <c:v>24</c:v>
                </c:pt>
                <c:pt idx="3">
                  <c:v>26</c:v>
                </c:pt>
                <c:pt idx="4">
                  <c:v>28</c:v>
                </c:pt>
                <c:pt idx="5">
                  <c:v>30</c:v>
                </c:pt>
                <c:pt idx="6">
                  <c:v>32</c:v>
                </c:pt>
                <c:pt idx="7">
                  <c:v>34</c:v>
                </c:pt>
                <c:pt idx="8">
                  <c:v>36</c:v>
                </c:pt>
                <c:pt idx="9">
                  <c:v>38</c:v>
                </c:pt>
                <c:pt idx="10">
                  <c:v>40</c:v>
                </c:pt>
                <c:pt idx="11">
                  <c:v>42</c:v>
                </c:pt>
                <c:pt idx="12">
                  <c:v>44</c:v>
                </c:pt>
                <c:pt idx="13">
                  <c:v>46</c:v>
                </c:pt>
                <c:pt idx="14">
                  <c:v>48</c:v>
                </c:pt>
                <c:pt idx="15">
                  <c:v>50</c:v>
                </c:pt>
                <c:pt idx="16">
                  <c:v>52</c:v>
                </c:pt>
                <c:pt idx="17">
                  <c:v>54</c:v>
                </c:pt>
                <c:pt idx="18">
                  <c:v>56</c:v>
                </c:pt>
                <c:pt idx="19">
                  <c:v>58</c:v>
                </c:pt>
                <c:pt idx="20">
                  <c:v>60</c:v>
                </c:pt>
                <c:pt idx="21">
                  <c:v>62</c:v>
                </c:pt>
                <c:pt idx="22">
                  <c:v>64</c:v>
                </c:pt>
                <c:pt idx="23">
                  <c:v>66</c:v>
                </c:pt>
                <c:pt idx="24">
                  <c:v>68</c:v>
                </c:pt>
                <c:pt idx="25">
                  <c:v>70</c:v>
                </c:pt>
                <c:pt idx="26">
                  <c:v>72</c:v>
                </c:pt>
                <c:pt idx="27">
                  <c:v>74</c:v>
                </c:pt>
                <c:pt idx="28">
                  <c:v>76</c:v>
                </c:pt>
                <c:pt idx="29">
                  <c:v>78</c:v>
                </c:pt>
              </c:numCache>
            </c:numRef>
          </c:xVal>
          <c:yVal>
            <c:numRef>
              <c:f>'Chart Data'!$B$2:$B$31</c:f>
              <c:numCache>
                <c:formatCode>0</c:formatCode>
                <c:ptCount val="30"/>
                <c:pt idx="0">
                  <c:v>4.989752</c:v>
                </c:pt>
                <c:pt idx="1">
                  <c:v>5.7932</c:v>
                </c:pt>
                <c:pt idx="2">
                  <c:v>6.600539</c:v>
                </c:pt>
                <c:pt idx="3">
                  <c:v>7.58008</c:v>
                </c:pt>
                <c:pt idx="4">
                  <c:v>8.197113</c:v>
                </c:pt>
                <c:pt idx="5">
                  <c:v>8.993253</c:v>
                </c:pt>
                <c:pt idx="6">
                  <c:v>9.898929</c:v>
                </c:pt>
                <c:pt idx="7">
                  <c:v>11.25524</c:v>
                </c:pt>
                <c:pt idx="8">
                  <c:v>11.663884</c:v>
                </c:pt>
                <c:pt idx="9">
                  <c:v>12.481058</c:v>
                </c:pt>
                <c:pt idx="10">
                  <c:v>13.500245</c:v>
                </c:pt>
                <c:pt idx="11">
                  <c:v>14.407534</c:v>
                </c:pt>
                <c:pt idx="12">
                  <c:v>15.361246</c:v>
                </c:pt>
                <c:pt idx="13">
                  <c:v>16.641048</c:v>
                </c:pt>
                <c:pt idx="14">
                  <c:v>17.381228</c:v>
                </c:pt>
                <c:pt idx="15">
                  <c:v>18.39205</c:v>
                </c:pt>
                <c:pt idx="16">
                  <c:v>19.512275</c:v>
                </c:pt>
                <c:pt idx="17">
                  <c:v>20.516872</c:v>
                </c:pt>
                <c:pt idx="18">
                  <c:v>21.671941</c:v>
                </c:pt>
                <c:pt idx="19">
                  <c:v>22.681507</c:v>
                </c:pt>
                <c:pt idx="20">
                  <c:v>23.879297</c:v>
                </c:pt>
                <c:pt idx="21">
                  <c:v>24.89455</c:v>
                </c:pt>
                <c:pt idx="22">
                  <c:v>26.438953</c:v>
                </c:pt>
                <c:pt idx="23">
                  <c:v>27.724465</c:v>
                </c:pt>
                <c:pt idx="24">
                  <c:v>28.707587</c:v>
                </c:pt>
                <c:pt idx="25">
                  <c:v>30.266235</c:v>
                </c:pt>
                <c:pt idx="26">
                  <c:v>30.835879</c:v>
                </c:pt>
                <c:pt idx="27">
                  <c:v>32.094736</c:v>
                </c:pt>
                <c:pt idx="28">
                  <c:v>33.361352</c:v>
                </c:pt>
                <c:pt idx="29">
                  <c:v>34.655354</c:v>
                </c:pt>
              </c:numCache>
            </c:numRef>
          </c:yVal>
        </c:ser>
        <c:ser>
          <c:idx val="1"/>
          <c:order val="1"/>
          <c:tx>
            <c:v>Open MPI • 4 processes</c:v>
          </c:tx>
          <c:spPr>
            <a:ln xmlns:a="http://schemas.openxmlformats.org/drawingml/2006/main" w="21908">
              <a:solidFill>
                <a:srgbClr val="C2413B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C2413B"/>
              </a:solidFill>
            </c:spPr>
          </c:marker>
          <c:xVal>
            <c:numRef>
              <c:f>'Chart Data'!$C$2:$C$31</c:f>
              <c:numCache>
                <c:formatCode>General</c:formatCode>
                <c:ptCount val="30"/>
                <c:pt idx="0">
                  <c:v>20</c:v>
                </c:pt>
                <c:pt idx="1">
                  <c:v>22</c:v>
                </c:pt>
                <c:pt idx="2">
                  <c:v>24</c:v>
                </c:pt>
                <c:pt idx="3">
                  <c:v>26</c:v>
                </c:pt>
                <c:pt idx="4">
                  <c:v>28</c:v>
                </c:pt>
                <c:pt idx="5">
                  <c:v>30</c:v>
                </c:pt>
                <c:pt idx="6">
                  <c:v>32</c:v>
                </c:pt>
                <c:pt idx="7">
                  <c:v>34</c:v>
                </c:pt>
                <c:pt idx="8">
                  <c:v>36</c:v>
                </c:pt>
                <c:pt idx="9">
                  <c:v>38</c:v>
                </c:pt>
                <c:pt idx="10">
                  <c:v>40</c:v>
                </c:pt>
                <c:pt idx="11">
                  <c:v>42</c:v>
                </c:pt>
                <c:pt idx="12">
                  <c:v>44</c:v>
                </c:pt>
                <c:pt idx="13">
                  <c:v>46</c:v>
                </c:pt>
                <c:pt idx="14">
                  <c:v>48</c:v>
                </c:pt>
                <c:pt idx="15">
                  <c:v>50</c:v>
                </c:pt>
                <c:pt idx="16">
                  <c:v>52</c:v>
                </c:pt>
                <c:pt idx="17">
                  <c:v>54</c:v>
                </c:pt>
                <c:pt idx="18">
                  <c:v>56</c:v>
                </c:pt>
                <c:pt idx="19">
                  <c:v>58</c:v>
                </c:pt>
                <c:pt idx="20">
                  <c:v>60</c:v>
                </c:pt>
                <c:pt idx="21">
                  <c:v>62</c:v>
                </c:pt>
                <c:pt idx="22">
                  <c:v>64</c:v>
                </c:pt>
                <c:pt idx="23">
                  <c:v>66</c:v>
                </c:pt>
                <c:pt idx="24">
                  <c:v>68</c:v>
                </c:pt>
                <c:pt idx="25">
                  <c:v>70</c:v>
                </c:pt>
                <c:pt idx="26">
                  <c:v>72</c:v>
                </c:pt>
                <c:pt idx="27">
                  <c:v>74</c:v>
                </c:pt>
                <c:pt idx="28">
                  <c:v>76</c:v>
                </c:pt>
                <c:pt idx="29">
                  <c:v>78</c:v>
                </c:pt>
              </c:numCache>
            </c:numRef>
          </c:xVal>
          <c:yVal>
            <c:numRef>
              <c:f>'Chart Data'!$D$2:$D$31</c:f>
              <c:numCache>
                <c:formatCode>0</c:formatCode>
                <c:ptCount val="30"/>
                <c:pt idx="0">
                  <c:v>1.506796</c:v>
                </c:pt>
                <c:pt idx="1">
                  <c:v>1.629617</c:v>
                </c:pt>
                <c:pt idx="2">
                  <c:v>1.882136</c:v>
                </c:pt>
                <c:pt idx="3">
                  <c:v>2.197054</c:v>
                </c:pt>
                <c:pt idx="4">
                  <c:v>2.351178</c:v>
                </c:pt>
                <c:pt idx="5">
                  <c:v>2.680151</c:v>
                </c:pt>
                <c:pt idx="6">
                  <c:v>2.949921</c:v>
                </c:pt>
                <c:pt idx="7">
                  <c:v>3.132021</c:v>
                </c:pt>
                <c:pt idx="8">
                  <c:v>3.511267</c:v>
                </c:pt>
                <c:pt idx="9">
                  <c:v>3.792676</c:v>
                </c:pt>
                <c:pt idx="10">
                  <c:v>3.765773</c:v>
                </c:pt>
                <c:pt idx="11">
                  <c:v>4.350641</c:v>
                </c:pt>
                <c:pt idx="12">
                  <c:v>4.371929</c:v>
                </c:pt>
                <c:pt idx="13">
                  <c:v>4.65037</c:v>
                </c:pt>
                <c:pt idx="14">
                  <c:v>4.997748</c:v>
                </c:pt>
                <c:pt idx="15">
                  <c:v>5.308287</c:v>
                </c:pt>
                <c:pt idx="16">
                  <c:v>5.542288</c:v>
                </c:pt>
                <c:pt idx="17">
                  <c:v>6.078635</c:v>
                </c:pt>
                <c:pt idx="18">
                  <c:v>6.218323</c:v>
                </c:pt>
                <c:pt idx="19">
                  <c:v>6.572295</c:v>
                </c:pt>
                <c:pt idx="20">
                  <c:v>6.834096</c:v>
                </c:pt>
                <c:pt idx="21">
                  <c:v>7.088691</c:v>
                </c:pt>
                <c:pt idx="22">
                  <c:v>7.583849</c:v>
                </c:pt>
                <c:pt idx="23">
                  <c:v>7.847521</c:v>
                </c:pt>
                <c:pt idx="24">
                  <c:v>8.563484</c:v>
                </c:pt>
                <c:pt idx="25">
                  <c:v>8.792589</c:v>
                </c:pt>
                <c:pt idx="26">
                  <c:v>8.841267</c:v>
                </c:pt>
                <c:pt idx="27">
                  <c:v>8.86051</c:v>
                </c:pt>
                <c:pt idx="28">
                  <c:v>9.36652</c:v>
                </c:pt>
                <c:pt idx="29">
                  <c:v>9.865707</c:v>
                </c:pt>
              </c:numCache>
            </c:numRef>
          </c:yVal>
        </c:ser>
        <c:ser>
          <c:idx val="2"/>
          <c:order val="2"/>
          <c:tx>
            <c:v>OpenMP • 4 threads</c:v>
          </c:tx>
          <c:spPr>
            <a:ln xmlns:a="http://schemas.openxmlformats.org/drawingml/2006/main" w="21908">
              <a:solidFill>
                <a:srgbClr val="2F855A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2F855A"/>
              </a:solidFill>
            </c:spPr>
          </c:marker>
          <c:xVal>
            <c:numRef>
              <c:f>'Chart Data'!$E$2:$E$31</c:f>
              <c:numCache>
                <c:formatCode>General</c:formatCode>
                <c:ptCount val="30"/>
                <c:pt idx="0">
                  <c:v>20</c:v>
                </c:pt>
                <c:pt idx="1">
                  <c:v>22</c:v>
                </c:pt>
                <c:pt idx="2">
                  <c:v>24</c:v>
                </c:pt>
                <c:pt idx="3">
                  <c:v>26</c:v>
                </c:pt>
                <c:pt idx="4">
                  <c:v>28</c:v>
                </c:pt>
                <c:pt idx="5">
                  <c:v>30</c:v>
                </c:pt>
                <c:pt idx="6">
                  <c:v>32</c:v>
                </c:pt>
                <c:pt idx="7">
                  <c:v>34</c:v>
                </c:pt>
                <c:pt idx="8">
                  <c:v>36</c:v>
                </c:pt>
                <c:pt idx="9">
                  <c:v>38</c:v>
                </c:pt>
                <c:pt idx="10">
                  <c:v>40</c:v>
                </c:pt>
                <c:pt idx="11">
                  <c:v>42</c:v>
                </c:pt>
                <c:pt idx="12">
                  <c:v>44</c:v>
                </c:pt>
                <c:pt idx="13">
                  <c:v>46</c:v>
                </c:pt>
                <c:pt idx="14">
                  <c:v>48</c:v>
                </c:pt>
                <c:pt idx="15">
                  <c:v>50</c:v>
                </c:pt>
                <c:pt idx="16">
                  <c:v>52</c:v>
                </c:pt>
                <c:pt idx="17">
                  <c:v>54</c:v>
                </c:pt>
                <c:pt idx="18">
                  <c:v>56</c:v>
                </c:pt>
                <c:pt idx="19">
                  <c:v>58</c:v>
                </c:pt>
                <c:pt idx="20">
                  <c:v>60</c:v>
                </c:pt>
                <c:pt idx="21">
                  <c:v>62</c:v>
                </c:pt>
                <c:pt idx="22">
                  <c:v>64</c:v>
                </c:pt>
                <c:pt idx="23">
                  <c:v>66</c:v>
                </c:pt>
                <c:pt idx="24">
                  <c:v>68</c:v>
                </c:pt>
                <c:pt idx="25">
                  <c:v>70</c:v>
                </c:pt>
                <c:pt idx="26">
                  <c:v>72</c:v>
                </c:pt>
                <c:pt idx="27">
                  <c:v>74</c:v>
                </c:pt>
                <c:pt idx="28">
                  <c:v>76</c:v>
                </c:pt>
                <c:pt idx="29">
                  <c:v>78</c:v>
                </c:pt>
              </c:numCache>
            </c:numRef>
          </c:xVal>
          <c:yVal>
            <c:numRef>
              <c:f>'Chart Data'!$F$2:$F$31</c:f>
              <c:numCache>
                <c:formatCode>0</c:formatCode>
                <c:ptCount val="30"/>
                <c:pt idx="0">
                  <c:v>2.167603</c:v>
                </c:pt>
                <c:pt idx="1">
                  <c:v>2.350731</c:v>
                </c:pt>
                <c:pt idx="2">
                  <c:v>2.771374</c:v>
                </c:pt>
                <c:pt idx="3">
                  <c:v>3.009852</c:v>
                </c:pt>
                <c:pt idx="4">
                  <c:v>3.400205</c:v>
                </c:pt>
                <c:pt idx="5">
                  <c:v>3.580981</c:v>
                </c:pt>
                <c:pt idx="6">
                  <c:v>4.065718</c:v>
                </c:pt>
                <c:pt idx="7">
                  <c:v>4.375723</c:v>
                </c:pt>
                <c:pt idx="8">
                  <c:v>5.157762</c:v>
                </c:pt>
                <c:pt idx="9">
                  <c:v>5.404324</c:v>
                </c:pt>
                <c:pt idx="10">
                  <c:v>5.817264</c:v>
                </c:pt>
                <c:pt idx="11">
                  <c:v>5.962411</c:v>
                </c:pt>
                <c:pt idx="12">
                  <c:v>7.149659</c:v>
                </c:pt>
                <c:pt idx="13">
                  <c:v>6.9077</c:v>
                </c:pt>
                <c:pt idx="14">
                  <c:v>7.469348</c:v>
                </c:pt>
                <c:pt idx="15">
                  <c:v>8.933063</c:v>
                </c:pt>
                <c:pt idx="16">
                  <c:v>10.07874</c:v>
                </c:pt>
                <c:pt idx="17">
                  <c:v>9.269982</c:v>
                </c:pt>
                <c:pt idx="18">
                  <c:v>9.573097</c:v>
                </c:pt>
                <c:pt idx="19">
                  <c:v>12.896376</c:v>
                </c:pt>
                <c:pt idx="20">
                  <c:v>9.388351</c:v>
                </c:pt>
                <c:pt idx="21">
                  <c:v>9.723761</c:v>
                </c:pt>
                <c:pt idx="22">
                  <c:v>10.887108</c:v>
                </c:pt>
                <c:pt idx="23">
                  <c:v>11.360931</c:v>
                </c:pt>
                <c:pt idx="24">
                  <c:v>11.247044</c:v>
                </c:pt>
                <c:pt idx="25">
                  <c:v>11.750655</c:v>
                </c:pt>
                <c:pt idx="26">
                  <c:v>12.900694</c:v>
                </c:pt>
                <c:pt idx="27">
                  <c:v>12.988591</c:v>
                </c:pt>
                <c:pt idx="28">
                  <c:v>13.553135</c:v>
                </c:pt>
                <c:pt idx="29">
                  <c:v>13.671737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Runtime (seconds)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10"/>
      </c:valAx>
      <c:valAx>
        <c:axId val="48650112"/>
        <c:scaling>
          <c:orientation val="minMax"/>
          <c:max val="80"/>
          <c:min val="2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n (millions)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Speedup against each implementation's matched serial baseline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02A43"/>
              </a:solidFill>
              <a:latin typeface="Arial"/>
              <a:ea typeface="Arial"/>
              <a:cs typeface="Arial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Open MPI • 4 processes</c:v>
          </c:tx>
          <c:spPr>
            <a:ln xmlns:a="http://schemas.openxmlformats.org/drawingml/2006/main" w="21908">
              <a:solidFill>
                <a:srgbClr val="C2413B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C2413B"/>
              </a:solidFill>
            </c:spPr>
          </c:marker>
          <c:xVal>
            <c:numRef>
              <c:f>'Chart Data'!$A$2:$A$31</c:f>
              <c:numCache>
                <c:formatCode>General</c:formatCode>
                <c:ptCount val="30"/>
                <c:pt idx="0">
                  <c:v>20</c:v>
                </c:pt>
                <c:pt idx="1">
                  <c:v>22</c:v>
                </c:pt>
                <c:pt idx="2">
                  <c:v>24</c:v>
                </c:pt>
                <c:pt idx="3">
                  <c:v>26</c:v>
                </c:pt>
                <c:pt idx="4">
                  <c:v>28</c:v>
                </c:pt>
                <c:pt idx="5">
                  <c:v>30</c:v>
                </c:pt>
                <c:pt idx="6">
                  <c:v>32</c:v>
                </c:pt>
                <c:pt idx="7">
                  <c:v>34</c:v>
                </c:pt>
                <c:pt idx="8">
                  <c:v>36</c:v>
                </c:pt>
                <c:pt idx="9">
                  <c:v>38</c:v>
                </c:pt>
                <c:pt idx="10">
                  <c:v>40</c:v>
                </c:pt>
                <c:pt idx="11">
                  <c:v>42</c:v>
                </c:pt>
                <c:pt idx="12">
                  <c:v>44</c:v>
                </c:pt>
                <c:pt idx="13">
                  <c:v>46</c:v>
                </c:pt>
                <c:pt idx="14">
                  <c:v>48</c:v>
                </c:pt>
                <c:pt idx="15">
                  <c:v>50</c:v>
                </c:pt>
                <c:pt idx="16">
                  <c:v>52</c:v>
                </c:pt>
                <c:pt idx="17">
                  <c:v>54</c:v>
                </c:pt>
                <c:pt idx="18">
                  <c:v>56</c:v>
                </c:pt>
                <c:pt idx="19">
                  <c:v>58</c:v>
                </c:pt>
                <c:pt idx="20">
                  <c:v>60</c:v>
                </c:pt>
                <c:pt idx="21">
                  <c:v>62</c:v>
                </c:pt>
                <c:pt idx="22">
                  <c:v>64</c:v>
                </c:pt>
                <c:pt idx="23">
                  <c:v>66</c:v>
                </c:pt>
                <c:pt idx="24">
                  <c:v>68</c:v>
                </c:pt>
                <c:pt idx="25">
                  <c:v>70</c:v>
                </c:pt>
                <c:pt idx="26">
                  <c:v>72</c:v>
                </c:pt>
                <c:pt idx="27">
                  <c:v>74</c:v>
                </c:pt>
                <c:pt idx="28">
                  <c:v>76</c:v>
                </c:pt>
                <c:pt idx="29">
                  <c:v>78</c:v>
                </c:pt>
              </c:numCache>
            </c:numRef>
          </c:xVal>
          <c:yVal>
            <c:numRef>
              <c:f>'Chart Data'!$B$2:$B$31</c:f>
              <c:numCache>
                <c:formatCode>0.0x</c:formatCode>
                <c:ptCount val="30"/>
                <c:pt idx="0">
                  <c:v>3.311498</c:v>
                </c:pt>
                <c:pt idx="1">
                  <c:v>3.554945</c:v>
                </c:pt>
                <c:pt idx="2">
                  <c:v>3.50694</c:v>
                </c:pt>
                <c:pt idx="3">
                  <c:v>3.450112</c:v>
                </c:pt>
                <c:pt idx="4">
                  <c:v>3.486386</c:v>
                </c:pt>
                <c:pt idx="5">
                  <c:v>3.355503</c:v>
                </c:pt>
                <c:pt idx="6">
                  <c:v>3.355659</c:v>
                </c:pt>
                <c:pt idx="7">
                  <c:v>3.593603</c:v>
                </c:pt>
                <c:pt idx="8">
                  <c:v>3.321845</c:v>
                </c:pt>
                <c:pt idx="9">
                  <c:v>3.290831</c:v>
                </c:pt>
                <c:pt idx="10">
                  <c:v>3.584986</c:v>
                </c:pt>
                <c:pt idx="11">
                  <c:v>3.311588</c:v>
                </c:pt>
                <c:pt idx="12">
                  <c:v>3.513609</c:v>
                </c:pt>
                <c:pt idx="13">
                  <c:v>3.578435</c:v>
                </c:pt>
                <c:pt idx="14">
                  <c:v>3.477812</c:v>
                </c:pt>
                <c:pt idx="15">
                  <c:v>3.46478</c:v>
                </c:pt>
                <c:pt idx="16">
                  <c:v>3.520617</c:v>
                </c:pt>
                <c:pt idx="17">
                  <c:v>3.375243</c:v>
                </c:pt>
                <c:pt idx="18">
                  <c:v>3.485175</c:v>
                </c:pt>
                <c:pt idx="19">
                  <c:v>3.451079</c:v>
                </c:pt>
                <c:pt idx="20">
                  <c:v>3.494141</c:v>
                </c:pt>
                <c:pt idx="21">
                  <c:v>3.511868</c:v>
                </c:pt>
                <c:pt idx="22">
                  <c:v>3.486218</c:v>
                </c:pt>
                <c:pt idx="23">
                  <c:v>3.532894</c:v>
                </c:pt>
                <c:pt idx="24">
                  <c:v>3.352326</c:v>
                </c:pt>
                <c:pt idx="25">
                  <c:v>3.442244</c:v>
                </c:pt>
                <c:pt idx="26">
                  <c:v>3.487722</c:v>
                </c:pt>
                <c:pt idx="27">
                  <c:v>3.622222</c:v>
                </c:pt>
                <c:pt idx="28">
                  <c:v>3.561766</c:v>
                </c:pt>
                <c:pt idx="29">
                  <c:v>3.512708</c:v>
                </c:pt>
              </c:numCache>
            </c:numRef>
          </c:yVal>
        </c:ser>
        <c:ser>
          <c:idx val="1"/>
          <c:order val="1"/>
          <c:tx>
            <c:v>OpenMP • 4 threads</c:v>
          </c:tx>
          <c:spPr>
            <a:ln xmlns:a="http://schemas.openxmlformats.org/drawingml/2006/main" w="21908">
              <a:solidFill>
                <a:srgbClr val="2F855A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2F855A"/>
              </a:solidFill>
            </c:spPr>
          </c:marker>
          <c:xVal>
            <c:numRef>
              <c:f>'Chart Data'!$C$2:$C$31</c:f>
              <c:numCache>
                <c:formatCode>General</c:formatCode>
                <c:ptCount val="30"/>
                <c:pt idx="0">
                  <c:v>20</c:v>
                </c:pt>
                <c:pt idx="1">
                  <c:v>22</c:v>
                </c:pt>
                <c:pt idx="2">
                  <c:v>24</c:v>
                </c:pt>
                <c:pt idx="3">
                  <c:v>26</c:v>
                </c:pt>
                <c:pt idx="4">
                  <c:v>28</c:v>
                </c:pt>
                <c:pt idx="5">
                  <c:v>30</c:v>
                </c:pt>
                <c:pt idx="6">
                  <c:v>32</c:v>
                </c:pt>
                <c:pt idx="7">
                  <c:v>34</c:v>
                </c:pt>
                <c:pt idx="8">
                  <c:v>36</c:v>
                </c:pt>
                <c:pt idx="9">
                  <c:v>38</c:v>
                </c:pt>
                <c:pt idx="10">
                  <c:v>40</c:v>
                </c:pt>
                <c:pt idx="11">
                  <c:v>42</c:v>
                </c:pt>
                <c:pt idx="12">
                  <c:v>44</c:v>
                </c:pt>
                <c:pt idx="13">
                  <c:v>46</c:v>
                </c:pt>
                <c:pt idx="14">
                  <c:v>48</c:v>
                </c:pt>
                <c:pt idx="15">
                  <c:v>50</c:v>
                </c:pt>
                <c:pt idx="16">
                  <c:v>52</c:v>
                </c:pt>
                <c:pt idx="17">
                  <c:v>54</c:v>
                </c:pt>
                <c:pt idx="18">
                  <c:v>56</c:v>
                </c:pt>
                <c:pt idx="19">
                  <c:v>58</c:v>
                </c:pt>
                <c:pt idx="20">
                  <c:v>60</c:v>
                </c:pt>
                <c:pt idx="21">
                  <c:v>62</c:v>
                </c:pt>
                <c:pt idx="22">
                  <c:v>64</c:v>
                </c:pt>
                <c:pt idx="23">
                  <c:v>66</c:v>
                </c:pt>
                <c:pt idx="24">
                  <c:v>68</c:v>
                </c:pt>
                <c:pt idx="25">
                  <c:v>70</c:v>
                </c:pt>
                <c:pt idx="26">
                  <c:v>72</c:v>
                </c:pt>
                <c:pt idx="27">
                  <c:v>74</c:v>
                </c:pt>
                <c:pt idx="28">
                  <c:v>76</c:v>
                </c:pt>
                <c:pt idx="29">
                  <c:v>78</c:v>
                </c:pt>
              </c:numCache>
            </c:numRef>
          </c:xVal>
          <c:yVal>
            <c:numRef>
              <c:f>'Chart Data'!$D$2:$D$31</c:f>
              <c:numCache>
                <c:formatCode>0.0x</c:formatCode>
                <c:ptCount val="30"/>
                <c:pt idx="0">
                  <c:v>2.706644</c:v>
                </c:pt>
                <c:pt idx="1">
                  <c:v>2.807679</c:v>
                </c:pt>
                <c:pt idx="2">
                  <c:v>2.671431</c:v>
                </c:pt>
                <c:pt idx="3">
                  <c:v>2.773163</c:v>
                </c:pt>
                <c:pt idx="4">
                  <c:v>2.717482</c:v>
                </c:pt>
                <c:pt idx="5">
                  <c:v>2.829962</c:v>
                </c:pt>
                <c:pt idx="6">
                  <c:v>2.74614</c:v>
                </c:pt>
                <c:pt idx="7">
                  <c:v>2.782729</c:v>
                </c:pt>
                <c:pt idx="8">
                  <c:v>2.495577</c:v>
                </c:pt>
                <c:pt idx="9">
                  <c:v>2.618487</c:v>
                </c:pt>
                <c:pt idx="10">
                  <c:v>2.590082</c:v>
                </c:pt>
                <c:pt idx="11">
                  <c:v>2.737466</c:v>
                </c:pt>
                <c:pt idx="12">
                  <c:v>2.549498</c:v>
                </c:pt>
                <c:pt idx="13">
                  <c:v>2.68205</c:v>
                </c:pt>
                <c:pt idx="14">
                  <c:v>2.648153</c:v>
                </c:pt>
                <c:pt idx="15">
                  <c:v>2.341455</c:v>
                </c:pt>
                <c:pt idx="16">
                  <c:v>2.206639</c:v>
                </c:pt>
                <c:pt idx="17">
                  <c:v>2.521772</c:v>
                </c:pt>
                <c:pt idx="18">
                  <c:v>2.568987</c:v>
                </c:pt>
                <c:pt idx="19">
                  <c:v>1.99623</c:v>
                </c:pt>
                <c:pt idx="20">
                  <c:v>2.890972</c:v>
                </c:pt>
                <c:pt idx="21">
                  <c:v>2.956234</c:v>
                </c:pt>
                <c:pt idx="22">
                  <c:v>2.761738</c:v>
                </c:pt>
                <c:pt idx="23">
                  <c:v>2.776618</c:v>
                </c:pt>
                <c:pt idx="24">
                  <c:v>2.879432</c:v>
                </c:pt>
                <c:pt idx="25">
                  <c:v>2.962694</c:v>
                </c:pt>
                <c:pt idx="26">
                  <c:v>2.712369</c:v>
                </c:pt>
                <c:pt idx="27">
                  <c:v>2.807667</c:v>
                </c:pt>
                <c:pt idx="28">
                  <c:v>2.789214</c:v>
                </c:pt>
                <c:pt idx="29">
                  <c:v>2.876845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Empirical speedup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x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80"/>
          <c:min val="2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n (millions)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3 • matching worker counts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02A43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MPI processes</c:v>
          </c:tx>
          <c:spPr>
            <a:ln xmlns:a="http://schemas.openxmlformats.org/drawingml/2006/main" w="21908">
              <a:solidFill>
                <a:srgbClr val="C2413B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C2413B"/>
              </a:solidFill>
            </c:spPr>
          </c:marker>
          <c:cat>
            <c:numRef>
              <c:f>'Chart Data'!$A$2:$A$6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cat>
          <c:val>
            <c:numRef>
              <c:f>'Chart Data'!$B$2:$B$6</c:f>
              <c:numCache>
                <c:formatCode>0.0x</c:formatCode>
                <c:ptCount val="5"/>
                <c:pt idx="0">
                  <c:v>0.98963</c:v>
                </c:pt>
                <c:pt idx="1">
                  <c:v>1.878171</c:v>
                </c:pt>
                <c:pt idx="2">
                  <c:v>3.378454</c:v>
                </c:pt>
                <c:pt idx="3">
                  <c:v>4.618865</c:v>
                </c:pt>
                <c:pt idx="4">
                  <c:v>6.015093</c:v>
                </c:pt>
              </c:numCache>
            </c:numRef>
          </c:val>
          <c:smooth val="0"/>
        </c:ser>
        <c:ser>
          <c:idx val="1"/>
          <c:order val="1"/>
          <c:tx>
            <c:v>OpenMP threads</c:v>
          </c:tx>
          <c:spPr>
            <a:ln xmlns:a="http://schemas.openxmlformats.org/drawingml/2006/main" w="21908">
              <a:solidFill>
                <a:srgbClr val="2F855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2F855A"/>
              </a:solidFill>
            </c:spPr>
          </c:marker>
          <c:cat>
            <c:numRef>
              <c:f>'Chart Data'!$C$2:$C$6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cat>
          <c:val>
            <c:numRef>
              <c:f>'Chart Data'!$D$2:$D$6</c:f>
              <c:numCache>
                <c:formatCode>0.0x</c:formatCode>
                <c:ptCount val="5"/>
                <c:pt idx="0">
                  <c:v>1.004932</c:v>
                </c:pt>
                <c:pt idx="1">
                  <c:v>1.550188</c:v>
                </c:pt>
                <c:pt idx="2">
                  <c:v>2.693979</c:v>
                </c:pt>
                <c:pt idx="3">
                  <c:v>4.337217</c:v>
                </c:pt>
                <c:pt idx="4">
                  <c:v>7.075541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Processes or threads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9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Empirical speedup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x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6 • MPI empirical vs Amdahl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02A43"/>
              </a:solidFill>
              <a:latin typeface="Arial"/>
              <a:ea typeface="Arial"/>
              <a:cs typeface="Arial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Empirical</c:v>
          </c:tx>
          <c:spPr>
            <a:ln xmlns:a="http://schemas.openxmlformats.org/drawingml/2006/main" w="21908">
              <a:solidFill>
                <a:srgbClr val="C2413B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C2413B"/>
              </a:solidFill>
            </c:spPr>
          </c:marker>
          <c:xVal>
            <c:numRef>
              <c:f>'Chart Data'!$A$2:$A$17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numCache>
            </c:numRef>
          </c:xVal>
          <c:yVal>
            <c:numRef>
              <c:f>'Chart Data'!$B$2:$B$17</c:f>
              <c:numCache>
                <c:formatCode>0.0x</c:formatCode>
                <c:ptCount val="16"/>
                <c:pt idx="0">
                  <c:v>0.98963</c:v>
                </c:pt>
                <c:pt idx="1">
                  <c:v>1.878171</c:v>
                </c:pt>
                <c:pt idx="2">
                  <c:v>2.635082</c:v>
                </c:pt>
                <c:pt idx="3">
                  <c:v>3.378454</c:v>
                </c:pt>
                <c:pt idx="4">
                  <c:v>3.906827</c:v>
                </c:pt>
                <c:pt idx="5">
                  <c:v>4.232572</c:v>
                </c:pt>
                <c:pt idx="6">
                  <c:v>4.432161</c:v>
                </c:pt>
                <c:pt idx="7">
                  <c:v>4.618865</c:v>
                </c:pt>
                <c:pt idx="8">
                  <c:v>4.420885</c:v>
                </c:pt>
                <c:pt idx="9">
                  <c:v>4.156386</c:v>
                </c:pt>
                <c:pt idx="10">
                  <c:v>4.550334</c:v>
                </c:pt>
                <c:pt idx="11">
                  <c:v>5.308742</c:v>
                </c:pt>
                <c:pt idx="12">
                  <c:v>5.4069</c:v>
                </c:pt>
                <c:pt idx="13">
                  <c:v>5.821944</c:v>
                </c:pt>
                <c:pt idx="14">
                  <c:v>5.971313</c:v>
                </c:pt>
                <c:pt idx="15">
                  <c:v>6.015093</c:v>
                </c:pt>
              </c:numCache>
            </c:numRef>
          </c:yVal>
        </c:ser>
        <c:ser>
          <c:idx val="1"/>
          <c:order val="1"/>
          <c:tx>
            <c:v>Amdahl ideal</c:v>
          </c:tx>
          <c:spPr>
            <a:ln xmlns:a="http://schemas.openxmlformats.org/drawingml/2006/main" w="21908">
              <a:solidFill>
                <a:srgbClr val="F28E2B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F28E2B"/>
              </a:solidFill>
            </c:spPr>
          </c:marker>
          <c:xVal>
            <c:numRef>
              <c:f>'Chart Data'!$C$2:$C$17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numCache>
            </c:numRef>
          </c:xVal>
          <c:yVal>
            <c:numRef>
              <c:f>'Chart Data'!$D$2:$D$17</c:f>
              <c:numCache>
                <c:formatCode>0.0x</c:formatCode>
                <c:ptCount val="16"/>
                <c:pt idx="0">
                  <c:v>1</c:v>
                </c:pt>
                <c:pt idx="1">
                  <c:v>1.965524</c:v>
                </c:pt>
                <c:pt idx="2">
                  <c:v>2.898324</c:v>
                </c:pt>
                <c:pt idx="3">
                  <c:v>3.800036</c:v>
                </c:pt>
                <c:pt idx="4">
                  <c:v>4.672189</c:v>
                </c:pt>
                <c:pt idx="5">
                  <c:v>5.516213</c:v>
                </c:pt>
                <c:pt idx="6">
                  <c:v>6.333447</c:v>
                </c:pt>
                <c:pt idx="7">
                  <c:v>7.125147</c:v>
                </c:pt>
                <c:pt idx="8">
                  <c:v>7.892491</c:v>
                </c:pt>
                <c:pt idx="9">
                  <c:v>8.636586</c:v>
                </c:pt>
                <c:pt idx="10">
                  <c:v>9.358472</c:v>
                </c:pt>
                <c:pt idx="11">
                  <c:v>10.05913</c:v>
                </c:pt>
                <c:pt idx="12">
                  <c:v>10.739483</c:v>
                </c:pt>
                <c:pt idx="13">
                  <c:v>11.400399</c:v>
                </c:pt>
                <c:pt idx="14">
                  <c:v>12.042701</c:v>
                </c:pt>
                <c:pt idx="15">
                  <c:v>12.667164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4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Speedup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x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"/>
      </c:valAx>
      <c:valAx>
        <c:axId val="48650112"/>
        <c:scaling>
          <c:orientation val="minMax"/>
          <c:max val="16"/>
          <c:min val="1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MPI processes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3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4 • fixed 4 MPI processes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02A43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Hybrid / Task 1</c:v>
          </c:tx>
          <c:spPr>
            <a:ln xmlns:a="http://schemas.openxmlformats.org/drawingml/2006/main" w="21908">
              <a:solidFill>
                <a:srgbClr val="7957A5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7957A5"/>
              </a:solidFill>
            </c:spPr>
          </c:marker>
          <c:cat>
            <c:numRef>
              <c:f>'Chart Data'!$A$2:$A$6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cat>
          <c:val>
            <c:numRef>
              <c:f>'Chart Data'!$B$2:$B$6</c:f>
              <c:numCache>
                <c:formatCode>0.0x</c:formatCode>
                <c:ptCount val="5"/>
                <c:pt idx="0">
                  <c:v>1.012295</c:v>
                </c:pt>
                <c:pt idx="1">
                  <c:v>1.530386</c:v>
                </c:pt>
                <c:pt idx="2">
                  <c:v>2.386353</c:v>
                </c:pt>
                <c:pt idx="3">
                  <c:v>2.358109</c:v>
                </c:pt>
                <c:pt idx="4">
                  <c:v>2.245111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Threads per MPI process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2.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Speedup versus 4-rank Task 1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x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5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5 • matched total workers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02A43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Hybrid MPI × OpenMP</c:v>
          </c:tx>
          <c:spPr>
            <a:ln xmlns:a="http://schemas.openxmlformats.org/drawingml/2006/main" w="21908">
              <a:solidFill>
                <a:srgbClr val="7957A5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7957A5"/>
              </a:solidFill>
            </c:spPr>
          </c:marker>
          <c:cat>
            <c:strRef>
              <c:f>'Chart Data'!$A$2:$A$6</c:f>
              <c:strCache>
                <c:ptCount val="5"/>
                <c:pt idx="0">
                  <c:v>1×1</c:v>
                </c:pt>
                <c:pt idx="1">
                  <c:v>2×1</c:v>
                </c:pt>
                <c:pt idx="2">
                  <c:v>2×2</c:v>
                </c:pt>
                <c:pt idx="3">
                  <c:v>4×2</c:v>
                </c:pt>
                <c:pt idx="4">
                  <c:v>4×4</c:v>
                </c:pt>
              </c:strCache>
            </c:strRef>
          </c:cat>
          <c:val>
            <c:numRef>
              <c:f>'Chart Data'!$B$2:$B$6</c:f>
              <c:numCache>
                <c:formatCode>0.0x</c:formatCode>
                <c:ptCount val="5"/>
                <c:pt idx="0">
                  <c:v>0.996865</c:v>
                </c:pt>
                <c:pt idx="1">
                  <c:v>1.91408</c:v>
                </c:pt>
                <c:pt idx="2">
                  <c:v>3.515055</c:v>
                </c:pt>
                <c:pt idx="3">
                  <c:v>5.15</c:v>
                </c:pt>
                <c:pt idx="4">
                  <c:v>8.030471</c:v>
                </c:pt>
              </c:numCache>
            </c:numRef>
          </c:val>
          <c:smooth val="0"/>
        </c:ser>
        <c:ser>
          <c:idx val="1"/>
          <c:order val="1"/>
          <c:tx>
            <c:v>OpenMP matched threads</c:v>
          </c:tx>
          <c:spPr>
            <a:ln xmlns:a="http://schemas.openxmlformats.org/drawingml/2006/main" w="21908">
              <a:solidFill>
                <a:srgbClr val="2F855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2F855A"/>
              </a:solidFill>
            </c:spPr>
          </c:marker>
          <c:cat>
            <c:strRef>
              <c:f>'Chart Data'!$C$2:$C$6</c:f>
              <c:strCache>
                <c:ptCount val="5"/>
                <c:pt idx="0">
                  <c:v>1×1</c:v>
                </c:pt>
                <c:pt idx="1">
                  <c:v>2×1</c:v>
                </c:pt>
                <c:pt idx="2">
                  <c:v>2×2</c:v>
                </c:pt>
                <c:pt idx="3">
                  <c:v>4×2</c:v>
                </c:pt>
                <c:pt idx="4">
                  <c:v>4×4</c:v>
                </c:pt>
              </c:strCache>
            </c:strRef>
          </c:cat>
          <c:val>
            <c:numRef>
              <c:f>'Chart Data'!$D$2:$D$6</c:f>
              <c:numCache>
                <c:formatCode>0.0x</c:formatCode>
                <c:ptCount val="5"/>
                <c:pt idx="0">
                  <c:v>1.003352</c:v>
                </c:pt>
                <c:pt idx="1">
                  <c:v>1.547751</c:v>
                </c:pt>
                <c:pt idx="2">
                  <c:v>2.689743</c:v>
                </c:pt>
                <c:pt idx="3">
                  <c:v>4.330398</c:v>
                </c:pt>
                <c:pt idx="4">
                  <c:v>7.064416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MPI ranks × threads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9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Empirical speedup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x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Hybrid empirical versus ideal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02A43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Empirical</c:v>
          </c:tx>
          <c:spPr>
            <a:ln xmlns:a="http://schemas.openxmlformats.org/drawingml/2006/main" w="21908">
              <a:solidFill>
                <a:srgbClr val="7957A5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7957A5"/>
              </a:solidFill>
            </c:spPr>
          </c:marker>
          <c:cat>
            <c:strRef>
              <c:f>'Chart Data'!$A$2:$A$8</c:f>
              <c:strCache>
                <c:ptCount val="7"/>
                <c:pt idx="0">
                  <c:v>1×1</c:v>
                </c:pt>
                <c:pt idx="1">
                  <c:v>2×1</c:v>
                </c:pt>
                <c:pt idx="2">
                  <c:v>2×2</c:v>
                </c:pt>
                <c:pt idx="3">
                  <c:v>4×2</c:v>
                </c:pt>
                <c:pt idx="4">
                  <c:v>4×4</c:v>
                </c:pt>
                <c:pt idx="5">
                  <c:v>4×8</c:v>
                </c:pt>
                <c:pt idx="6">
                  <c:v>4×16</c:v>
                </c:pt>
              </c:strCache>
            </c:strRef>
          </c:cat>
          <c:val>
            <c:numRef>
              <c:f>'Chart Data'!$B$2:$B$8</c:f>
              <c:numCache>
                <c:formatCode>0.0x</c:formatCode>
                <c:ptCount val="7"/>
                <c:pt idx="0">
                  <c:v>0.996865</c:v>
                </c:pt>
                <c:pt idx="1">
                  <c:v>1.91408</c:v>
                </c:pt>
                <c:pt idx="2">
                  <c:v>3.515055</c:v>
                </c:pt>
                <c:pt idx="3">
                  <c:v>5.15</c:v>
                </c:pt>
                <c:pt idx="4">
                  <c:v>8.030471</c:v>
                </c:pt>
                <c:pt idx="5">
                  <c:v>7.935425</c:v>
                </c:pt>
                <c:pt idx="6">
                  <c:v>7.555168</c:v>
                </c:pt>
              </c:numCache>
            </c:numRef>
          </c:val>
          <c:smooth val="0"/>
        </c:ser>
        <c:ser>
          <c:idx val="1"/>
          <c:order val="1"/>
          <c:tx>
            <c:v>Amdahl ideal</c:v>
          </c:tx>
          <c:spPr>
            <a:ln xmlns:a="http://schemas.openxmlformats.org/drawingml/2006/main" w="21908">
              <a:solidFill>
                <a:srgbClr val="F28E2B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F28E2B"/>
              </a:solidFill>
            </c:spPr>
          </c:marker>
          <c:cat>
            <c:strRef>
              <c:f>'Chart Data'!$C$2:$C$8</c:f>
              <c:strCache>
                <c:ptCount val="7"/>
                <c:pt idx="0">
                  <c:v>1×1</c:v>
                </c:pt>
                <c:pt idx="1">
                  <c:v>2×1</c:v>
                </c:pt>
                <c:pt idx="2">
                  <c:v>2×2</c:v>
                </c:pt>
                <c:pt idx="3">
                  <c:v>4×2</c:v>
                </c:pt>
                <c:pt idx="4">
                  <c:v>4×4</c:v>
                </c:pt>
                <c:pt idx="5">
                  <c:v>4×8</c:v>
                </c:pt>
                <c:pt idx="6">
                  <c:v>4×16</c:v>
                </c:pt>
              </c:strCache>
            </c:strRef>
          </c:cat>
          <c:val>
            <c:numRef>
              <c:f>'Chart Data'!$D$2:$D$8</c:f>
              <c:numCache>
                <c:formatCode>0.0x</c:formatCode>
                <c:ptCount val="7"/>
                <c:pt idx="0">
                  <c:v>1</c:v>
                </c:pt>
                <c:pt idx="1">
                  <c:v>1.966521</c:v>
                </c:pt>
                <c:pt idx="2">
                  <c:v>3.805633</c:v>
                </c:pt>
                <c:pt idx="3">
                  <c:v>7.148145</c:v>
                </c:pt>
                <c:pt idx="4">
                  <c:v>12.745273</c:v>
                </c:pt>
                <c:pt idx="5">
                  <c:v>20.945709</c:v>
                </c:pt>
                <c:pt idx="6">
                  <c:v>30.879939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MPI ranks × threads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Speedup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x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5F6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E0560C-9B5F-4444-B9CF-F5C4FD917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5972E7-14C1-4DC6-A17C-FCEE1A30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04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7E7E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7E7E5"/>
                </a:solidFill>
                <a:latin typeface="Arial"/>
                <a:ea typeface="Arial"/>
                <a:cs typeface="Arial"/>
              </a:rPr>
              <a:t>FIT3143 • PARALLEL COMPUTING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049D99-5238-45FB-9B40-9A3C062CD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85875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Prime Search at Scale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4D3550-A2D8-4B49-A2A7-68D6F035E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4F4F2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4F4F2"/>
                </a:solidFill>
                <a:latin typeface="Arial"/>
                <a:ea typeface="Arial"/>
                <a:cs typeface="Arial"/>
              </a:rPr>
              <a:t>Open MPI and hybrid MPI + OpenMP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59ECC9-EE52-47D3-8976-E2C34E0C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447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FE9C5A-00EF-4DB8-A13C-982370ABE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Correctness • workload balance • measured scalability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82A8EE-478E-434D-A8FB-8F58691F1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0125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Savin Vindiv De Alwis (35221631)</a:t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Willwara Arachchilage Shamle Imal Thilaksiri (35512075)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F5BA8E-9265-46F3-AD73-C49E6B1BA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7E7E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7E7E5"/>
                </a:solidFill>
                <a:latin typeface="Arial"/>
                <a:ea typeface="Arial"/>
                <a:cs typeface="Arial"/>
              </a:rPr>
              <a:t>Main presentation: 6 min 25 s</a:t>
            </a:r>
          </a:p>
        </p:txBody>
      </p:sp>
    </p:spTree>
    <p:extLst>
      <p:ext uri="{BB962C8B-B14F-4D97-AF65-F5344CB8AC3E}">
        <p14:creationId xmlns:p14="http://schemas.microsoft.com/office/powerpoint/2010/main" val="7289955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D4510F-24D0-49AD-96B0-BCD1BF60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D80DDA-D276-4CAC-B51C-B62B5349D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ABEB4C-D020-4713-8FD5-F173697B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Experimental setup and correctness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C61126-EC00-4AD4-B889-E4DA4094F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2 / 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FC2D72-0380-44E9-9363-66455AB1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3429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F7FA6B-61A2-432D-A7E2-03ED9BE3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56C454-863A-4DC1-9231-C112D24E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14450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PLATFORM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E48BF1-66F1-48A8-98B9-B7E153622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1 node • 14C / 20T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35B6A2-D7E3-4B01-94B1-978C8BEC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3067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WSL2 Ubuntu • Open MPI 4.1.6</a:t>
            </a:r>
          </a:p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Intel Core i7-13700H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B29FCE-07A3-4F7C-BBA8-10BF9FDA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162050"/>
            <a:ext cx="3429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1AC429-4968-4F8D-BBE4-34D601917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1620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526DE5-204C-4CB2-ABBD-42512FF5C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314450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PRIMARY WORKLOAD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6C954D-B61A-4142-8E44-DEB8B0A4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590675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n = 60,000,000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267467-628C-433F-B578-D739E6133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28825"/>
            <a:ext cx="3067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3,562,115 primes below n</a:t>
            </a:r>
          </a:p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all output written by rank 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82C76A-9BB3-498D-9EA9-D90D386C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162050"/>
            <a:ext cx="3429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F5D31B-176B-45B9-B3B1-D9DD47051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1620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974F7D-7BAB-4581-BBDF-FC9C5EDE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314450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COVERAGE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47EC91-665B-406E-B8B2-8A149D56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590675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30 n values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508CAC-8EC3-4538-ACB8-D3D056F30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28825"/>
            <a:ext cx="3067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20M–78M • MPI ranks 1–16</a:t>
            </a:r>
          </a:p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OpenMP threads 1–16 • up to 64 workers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A7216D-51DC-4783-B376-4B0D7F91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0"/>
            <a:ext cx="53340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5B8D5A-41ED-4F13-AFA2-55B8C86B7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Measurement discipline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9884FA-5781-4728-A866-4B74BD2F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Process and hybrid scaling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04437C-185C-44F9-94D7-E273E11D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4619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Median of 3 end-to-end runs; computation, gather and root post-processing recorded separately.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8CEC99-B882-47DD-B565-66AD7602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244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n sweep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9484C0-9F69-4054-8801-8500352E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4619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One run at every required n; every runtime exceeds one second. Oversubscription is included explicitly.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53D617-1080-41CD-8F6E-FD0681CE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52750"/>
            <a:ext cx="54292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E6FFFA"/>
          </a:solidFill>
          <a:ln xmlns:a="http://schemas.openxmlformats.org/drawingml/2006/main" w="9525">
            <a:solidFill>
              <a:srgbClr val="9ED9D5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7548F3-661A-46BD-B558-F830D754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813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Independent exact validation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6811D6-C103-4093-8C95-D303D9B2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95700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Both programs were compared value-for-value with a separate sieve across MPI ranks 1–5 and thread counts 1–3, including n = 0, 1, 2, 3, 4, 10 and 1000.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D96C56-A085-463B-8EF9-5B7DA7324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720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F855A"/>
                </a:solidFill>
                <a:latin typeface="Arial"/>
                <a:ea typeface="Arial"/>
                <a:cs typeface="Arial"/>
              </a:rPr>
              <a:t>PASS: sorted • unique • complete • prime-only • &lt; n</a:t>
            </a:r>
          </a:p>
        </p:txBody>
      </p:sp>
    </p:spTree>
    <p:extLst>
      <p:ext uri="{BB962C8B-B14F-4D97-AF65-F5344CB8AC3E}">
        <p14:creationId xmlns:p14="http://schemas.microsoft.com/office/powerpoint/2010/main" val="21309785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EBB7998-746B-43F0-90E1-FA9E6BE3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2630A2-0057-4363-BA5B-F11197D1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2F137C-C327-433F-A17D-6B90201A2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Task 1: robust block-cyclic MPI partition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E6EEF9-29FE-43FA-8461-7167D9207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3 / 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DA2BDF-B852-47F0-BE32-C77532DC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43000"/>
            <a:ext cx="5143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938746-444F-491B-B9EA-0DF68350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52550"/>
            <a:ext cx="438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1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Odd-candidate index space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1EF6EE-56C1-47E5-8A90-7B0771615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Chunks of 64 odd candidates are assigned round-robin.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E6E2FE-B02E-400F-ACAD-D4F95418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B6FB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B6FB6"/>
                </a:solidFill>
                <a:latin typeface="Arial"/>
                <a:ea typeface="Arial"/>
                <a:cs typeface="Arial"/>
              </a:rPr>
              <a:t>rank 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A3B257-EC73-43E5-A7BA-636D4D4FC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431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5EC738-2AEB-463A-8609-D41CFD49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907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711FBB-D7BD-45EA-A91A-419183E2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431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0098F8-5447-4E0A-B4DD-541FD4FCC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907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D6B3D3-C2FF-452E-8679-C6E5AA3D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431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4BA02B-B251-4B24-B78A-C4E10894C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907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8E0D4-EFC4-452D-A58D-C31F80D4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1431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A891BE-5E07-417F-ABAE-170AB6D7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1907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B0A9B3-C508-4FCD-BB78-CD9723E7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rank 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3EDC1D-BEAE-4F28-9C7F-5C9B7E800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8127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263369-D876-46D5-8730-99CD5694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2890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D6329B-C313-4A9A-B58C-A84450268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58127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D97039-9187-497A-B8D2-CE317493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2890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EFDABE-2C00-4AD0-B081-50B4B38F4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58127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D67C0B-825D-4915-8CD3-D5C199B3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62890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45EE01-7C05-4D28-BE15-6212BE6B9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58127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B3ACB0-CE57-4414-B55C-37E617A4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62890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C10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B293E2-1580-4410-B63A-E1DD8CA1F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rank 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F4DF52-FF22-4F10-ABCA-B09655F56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194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1D860E-59C3-4D90-804A-8DFCAA2E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67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7A5937-BD68-46F6-A134-DF72B6B4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0194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58E877-FAFB-442C-A29A-AC2C8E06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067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41F0B6-65A2-4BBA-970A-A4DD7541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0194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F534A6-BDD2-4D0C-9B32-28593A89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067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782B13-D261-4356-B345-DCC5821D4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0194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59E870-ECD4-4F8E-82EF-3E559705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067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C11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87571F-7890-452E-8BCB-23F7241C9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Equal-sized chunks preserve locality while mixing cheap composites and expensive large candidates across ranks.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C72A2C0-2527-42FE-AC72-A39520A4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Rank 0 performs an O(m log p) k-way merge and buffered output.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9D88D45-C736-4D92-90CD-BF289C897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200150"/>
            <a:ext cx="558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Measured computation-time imbalance (max / min)</a:t>
            </a:r>
          </a:p>
        </p:txBody>
      </p:sp>
      <p:graphicFrame>
        <p:nvGraphicFramePr>
          <p:cNvPr id="79" name=""/>
          <p:cNvGraphicFramePr/>
          <p:nvPr/>
        </p:nvGraphicFramePr>
        <p:xfrm>
          <a:off xmlns:a="http://schemas.openxmlformats.org/drawingml/2006/main" x="6057900" y="1619250"/>
          <a:ext xmlns:a="http://schemas.openxmlformats.org/drawingml/2006/main" cx="5581650" cy="20193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00250"/>
                <a:gridCol w="1190625"/>
                <a:gridCol w="1190625"/>
                <a:gridCol w="1200150"/>
              </a:tblGrid>
              <a:tr h="50482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Strategy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= 3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= 4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= 5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Block-cyclic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1.05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1.06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1.06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Pure cyclic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627.76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1.03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491.08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Contiguous block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2.20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2.61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2.78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479C935-52DF-4CC9-B35F-74EEB6F2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943350"/>
            <a:ext cx="55816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813ADA4-1947-4BD1-9187-3A30553F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52900"/>
            <a:ext cx="504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7544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Why this is the selected partition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C743160-9705-457C-8464-B344EB6DB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14850"/>
            <a:ext cx="504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693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It had the lowest worst-case imbalance among the three measured strategies: ≤ 1.06 for p = 3–5. Pure cyclic collapses at odd p because divisibility patterns align with rank strides.</a:t>
            </a:r>
          </a:p>
        </p:txBody>
      </p:sp>
    </p:spTree>
    <p:extLst>
      <p:ext uri="{BB962C8B-B14F-4D97-AF65-F5344CB8AC3E}">
        <p14:creationId xmlns:p14="http://schemas.microsoft.com/office/powerpoint/2010/main" val="10990984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97E363-D414-4C00-A27D-6D5EF7C6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5E96EC-67A2-4119-BEB3-126D1279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0D999E-4F74-45D8-805D-8B7F388D7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1 — runtime across 30 problem sizes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0F891F-3B7B-4720-9F1D-9C821266D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4 / 9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66750" y="1123950"/>
          <a:ext xmlns:a="http://schemas.openxmlformats.org/drawingml/2006/main" cx="1085850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e9c826a6c00484f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BF4945-C5DA-4268-A862-FDDA00AC2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753100"/>
            <a:ext cx="7143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660757-2D9A-4985-820A-B534DE3D1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5876925"/>
            <a:ext cx="680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All 30 values are shown; no run is below one second.</a:t>
            </a:r>
          </a:p>
        </p:txBody>
      </p:sp>
    </p:spTree>
    <p:extLst>
      <p:ext uri="{BB962C8B-B14F-4D97-AF65-F5344CB8AC3E}">
        <p14:creationId xmlns:p14="http://schemas.microsoft.com/office/powerpoint/2010/main" val="18278506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2940B4-5327-4B2F-AD40-DD51C836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CACFC4-4B2D-4768-8500-16A24BA6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132D47-828B-4335-A6B4-4CA5C8E8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2 — speedup across 30 problem sizes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EC839A-A753-4CD6-AFF9-8F0DCCB48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5 / 9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66750" y="1123950"/>
          <a:ext xmlns:a="http://schemas.openxmlformats.org/drawingml/2006/main" cx="1085850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4f5ceda5d8d4711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5F43F2-2DDE-417C-8429-10AA5F6A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753100"/>
            <a:ext cx="9429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84E79D-5C7B-4263-B752-7D16FCB1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5876925"/>
            <a:ext cx="908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MPI stays near 3.3–3.6× at four processes; the OpenMP series is noisier but uses its own matched serial session.</a:t>
            </a:r>
          </a:p>
        </p:txBody>
      </p:sp>
    </p:spTree>
    <p:extLst>
      <p:ext uri="{BB962C8B-B14F-4D97-AF65-F5344CB8AC3E}">
        <p14:creationId xmlns:p14="http://schemas.microsoft.com/office/powerpoint/2010/main" val="7746391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270276-486C-481D-BCC1-5E332772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6F42CD-5B85-4783-92D5-EB165F104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ABD229-5BBD-49E6-87EC-911606A3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Graphs 3 and 6 — Task 1 scaling and Amdahl comparison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0AC46E-7B69-4B07-8546-F8CA6BAB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6 / 9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514350" y="1162050"/>
          <a:ext xmlns:a="http://schemas.openxmlformats.org/drawingml/2006/main" cx="5476875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0e66a97b75e4215"/>
          </a:graphicData>
        </a:graphic>
      </p:graphicFrame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200775" y="1162050"/>
          <a:ext xmlns:a="http://schemas.openxmlformats.org/drawingml/2006/main" cx="5476875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3fbc887ae0d4997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F3D913-0574-4D5A-8878-46EE2CD1F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619750"/>
            <a:ext cx="10001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05AEA5-81ED-4F4F-8409-57BD2F33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5743575"/>
            <a:ext cx="965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At p = 16: 6.02× empirical versus 12.67× Amdahl — collectives, contention and root-only output are not in the ideal model.</a:t>
            </a:r>
          </a:p>
        </p:txBody>
      </p:sp>
    </p:spTree>
    <p:extLst>
      <p:ext uri="{BB962C8B-B14F-4D97-AF65-F5344CB8AC3E}">
        <p14:creationId xmlns:p14="http://schemas.microsoft.com/office/powerpoint/2010/main" val="884550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4877058-4D46-469D-8A77-3B7282D03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CD485C-2739-48EE-B357-7EA88146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85213B-4A14-4752-9E24-E25C752A9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Task 2: hybrid decomposition and measured balance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59D5B1-F9C6-477E-B88B-6D081FDB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7 / 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61856D-A6FF-4E4C-89E5-31C5E4669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Two-level parallelism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C46731-243D-40E1-8ACC-9D887E0EB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147637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B6FB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F1D241-D2D9-4BCC-9473-C7229FFC5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1247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048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3B6FB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3B6FB6"/>
                </a:solidFill>
                <a:latin typeface="Arial"/>
                <a:ea typeface="Arial"/>
                <a:cs typeface="Arial"/>
              </a:rPr>
              <a:t>MPI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EC4075-D3FF-4839-94F7-46A16B3DE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2477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63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block-cyclic chunks</a:t>
            </a:r>
          </a:p>
          <a:p xmlns:a="http://schemas.openxmlformats.org/drawingml/2006/main">
            <a:pPr algn="ctr"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across processes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26A49F-A616-4F20-B788-0A2E4972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1145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31234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EEF6C4-F465-4A7C-8469-31A4D6F4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1657350"/>
            <a:ext cx="147637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05A80B-7C65-4195-95F2-543AB1A3A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1847850"/>
            <a:ext cx="1247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048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OpenMP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AEC9DF-C641-44D1-A307-98CFFB316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238375"/>
            <a:ext cx="12477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897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dynamic schedule(64)</a:t>
            </a:r>
          </a:p>
          <a:p xmlns:a="http://schemas.openxmlformats.org/drawingml/2006/main">
            <a:pPr algn="ctr"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inside each process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33300B-0CB4-45A8-9E1F-609AB584C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145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31234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23EB0E-CB1F-4125-8336-8AEDADD75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657350"/>
            <a:ext cx="147637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74EB10-E9FA-4E4D-AFBD-B2DBA60B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847850"/>
            <a:ext cx="1247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048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Rank 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DC2862-FBCA-4E13-BA7A-F78DA790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238375"/>
            <a:ext cx="12477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k-way merge +</a:t>
            </a:r>
          </a:p>
          <a:p xmlns:a="http://schemas.openxmlformats.org/drawingml/2006/main">
            <a:pPr algn="ctr"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buffered output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1A9335-2D19-47CD-B8F7-35C370FD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14700"/>
            <a:ext cx="49625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6FFFA"/>
          </a:solidFill>
          <a:ln xmlns:a="http://schemas.openxmlformats.org/drawingml/2006/main" w="9525">
            <a:solidFill>
              <a:srgbClr val="9ED9D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AF9D05-3268-45E6-B61B-7BD39EB9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Why dynamic scheduling remains useful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6601BD-53D6-422D-8381-4F010268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81450"/>
            <a:ext cx="4476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Trial division has irregular per-candidate cost. MPI chunks balance rank-level work; OpenMP dynamic scheduling smooths the remaining variation between threads without changing output order.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F5EFCD-274C-450C-8C75-C4501B37F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200150"/>
            <a:ext cx="569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Representative local execution at n = 60M</a:t>
            </a:r>
          </a:p>
        </p:txBody>
      </p:sp>
      <p:graphicFrame>
        <p:nvGraphicFramePr>
          <p:cNvPr id="54" name=""/>
          <p:cNvGraphicFramePr/>
          <p:nvPr/>
        </p:nvGraphicFramePr>
        <p:xfrm>
          <a:off xmlns:a="http://schemas.openxmlformats.org/drawingml/2006/main" x="5943600" y="1638300"/>
          <a:ext xmlns:a="http://schemas.openxmlformats.org/drawingml/2006/main" cx="5695950" cy="1581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047750"/>
                <a:gridCol w="1190625"/>
                <a:gridCol w="1190625"/>
                <a:gridCol w="1190625"/>
                <a:gridCol w="1076325"/>
              </a:tblGrid>
              <a:tr h="52705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Program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Configuration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min compute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max compute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max/min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</a:tr>
              <a:tr h="5270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 1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 ranks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6.446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6.507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1.009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5270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 2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 × 2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4.567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4.685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1.026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5CAE7E-61A2-41C2-9B12-E5B7F37A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81400"/>
            <a:ext cx="26860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8F0CAC-FD21-4AF6-9567-922BA53BD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814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C85864-F3C4-412C-9D14-A37092E8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33800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TASK 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0603EF-17F1-479C-A259-E4A6EC56B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10025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6.97 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13C85E-76DD-4D68-9AAB-32230914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48175"/>
            <a:ext cx="2324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4 MPI processes</a:t>
            </a:r>
          </a:p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exact output validation: PASS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BF3AF0-0F2F-4908-BC24-073923F1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81400"/>
            <a:ext cx="26860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2CB60D-5C7D-42E3-8C60-55BE5367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814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FA9B51-F805-471A-82CF-670F68EE1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733800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TASK 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058AD9-DBF6-46FC-B705-E21794CDE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010025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5.16 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4898C2-ACEA-4B01-981B-C196E5D5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448175"/>
            <a:ext cx="2324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4 MPI × 2 OpenMP</a:t>
            </a:r>
          </a:p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exact output validation: PASS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4225F4-0D72-4C42-B723-325AEEC26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600700"/>
            <a:ext cx="53911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43D4C4-3866-479E-A8D0-0D19DAD1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72452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Hybrid speedup over the same 4-rank Task 1 run: 1.35×</a:t>
            </a:r>
          </a:p>
        </p:txBody>
      </p:sp>
    </p:spTree>
    <p:extLst>
      <p:ext uri="{BB962C8B-B14F-4D97-AF65-F5344CB8AC3E}">
        <p14:creationId xmlns:p14="http://schemas.microsoft.com/office/powerpoint/2010/main" val="21000347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0919C4-37DD-400A-91FF-FFD590C94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FDFB05-2E72-46F2-AE11-5DA0A1F7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79B8DD-F330-4F04-BBA4-5ABBC3CB9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Graphs 4 and 5 — hybrid scaling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B8E5BC-FC0D-4A91-8D47-0B6109A4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8 / 9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514350" y="1162050"/>
          <a:ext xmlns:a="http://schemas.openxmlformats.org/drawingml/2006/main" cx="5476875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a9b3c07321f49ec"/>
          </a:graphicData>
        </a:graphic>
      </p:graphicFrame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200775" y="1162050"/>
          <a:ext xmlns:a="http://schemas.openxmlformats.org/drawingml/2006/main" cx="5476875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20c07bcb31f42ee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55644C-41C0-4193-9256-BBFBD54E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19750"/>
            <a:ext cx="9525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72EFE8-B2D3-4A97-A1FF-82E4367D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743575"/>
            <a:ext cx="918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Best measured hybrid point: 8.46× at 1 × 16; 32- and 64-worker configurations (4×8 and 4×16) reduce efficiency.</a:t>
            </a:r>
          </a:p>
        </p:txBody>
      </p:sp>
    </p:spTree>
    <p:extLst>
      <p:ext uri="{BB962C8B-B14F-4D97-AF65-F5344CB8AC3E}">
        <p14:creationId xmlns:p14="http://schemas.microsoft.com/office/powerpoint/2010/main" val="5977814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9649F8-3349-4295-B5D9-E54050AA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5CFF54-0ECF-4C3E-A6EA-F66CDCAAC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C7D4CF-15C2-4525-B638-C1FF1B2A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7 — hybrid scaling limits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B52A07-308A-41B2-9692-915702504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9 / 9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476250" y="1143000"/>
          <a:ext xmlns:a="http://schemas.openxmlformats.org/drawingml/2006/main" cx="6238875" cy="4333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47a3a951d3a4374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DCCDC2-1EEF-42E9-893F-78CEE4F30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162050"/>
            <a:ext cx="45339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1DB521-0ADD-4951-9702-18CC3965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3716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079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Why the curves diverge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C8728D-7584-4BA7-A9BE-84F46E0E6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809750"/>
            <a:ext cx="4000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MPI collectives and rank-0 aggregation</a:t>
            </a:r>
          </a:p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Memory and scheduler contention</a:t>
            </a:r>
          </a:p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Oversubscription beyond 20 logical CPUs</a:t>
            </a:r>
          </a:p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Amdahl assumes a fixed, ideal serial fraction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2770BA-C65D-4B01-ABB7-4D9C3156C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371850"/>
            <a:ext cx="453390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F14FB8-D2D4-4E52-9E6C-0E4D30F9C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5814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079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Limitations and future work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27BEE2-2C48-4CCB-8599-2DEBB037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019550"/>
            <a:ext cx="400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Single-node local results do not quantify network cost. Next: multi-node CAAS runs, segmented-sieve work units, and distributed or parallel output to remove the rank-0 bottleneck.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BF64D2-B656-4F35-A7B8-D62F5070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8102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619"/>
          </a:bodyPr>
          <a:lstStyle xmlns:a="http://schemas.openxmlformats.org/drawingml/2006/main"/>
          <a:p xmlns:a="http://schemas.openxmlformats.org/drawingml/2006/main">
            <a:pPr algn="r">
              <a:defRPr sz="21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2192293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D7E8DB-A984-4036-B42F-12223DDC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DBAA7A-CE89-4F57-9ABE-C99878E9A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11B95E-4202-4543-9B70-9D5F13DB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Measured partition and Amdahl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8C02F6-59EC-439B-8A66-F4D915F3A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Appendix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EBBC63-9B0C-41D7-B20C-1B5CDF61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Partition strategy comparison • n = 20M • median of 3 runs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552450" y="1504950"/>
          <a:ext xmlns:a="http://schemas.openxmlformats.org/drawingml/2006/main" cx="11087100" cy="1866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952500"/>
                <a:gridCol w="2381250"/>
                <a:gridCol w="2381250"/>
                <a:gridCol w="2190750"/>
                <a:gridCol w="3181350"/>
              </a:tblGrid>
              <a:tr h="46672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Block-cyclic ratio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Pure cyclic ratio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Block ratio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Block-cyclic total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1.047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627.764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2.204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1.931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1.058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1.032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2.615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1.581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1.057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491.084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2.780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1.300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6F1954-A427-418D-9E57-24099392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338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Amdahl inputs are measured, not assumed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552450" y="4114800"/>
          <a:ext xmlns:a="http://schemas.openxmlformats.org/drawingml/2006/main" cx="6381750" cy="1485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666875"/>
                <a:gridCol w="1476375"/>
                <a:gridCol w="1571625"/>
                <a:gridCol w="1666875"/>
              </a:tblGrid>
              <a:tr h="4953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Program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Ts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Tp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fs = Ts / (Ts+Tp)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 1 MPI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0.427566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23.948293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0.017541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 2 hybrid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0.411327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23.749574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0.017024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7877BE-A23F-47AB-87BF-714E31B78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733800"/>
            <a:ext cx="43434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EBF4FF"/>
          </a:solidFill>
          <a:ln xmlns:a="http://schemas.openxmlformats.org/drawingml/2006/main" w="9525">
            <a:solidFill>
              <a:srgbClr val="B6D4F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3FE8DF-C444-40B4-A85C-3066A8D3F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9433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158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3B6FB6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3B6FB6"/>
                </a:solidFill>
                <a:latin typeface="Arial"/>
                <a:ea typeface="Arial"/>
                <a:cs typeface="Arial"/>
              </a:rPr>
              <a:t>Formula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5725B2-CE16-4185-B0C4-016113F2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3624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S(W) = (Ts + Tp) / (Ts + Tp / W)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F0CFDE-7B63-4522-87F0-C9DDEA0E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876800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383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Empirical speedup uses the Week 4 serial end-to-end baseline. Theoretical speedup uses each parallel program's measured one-worker decomposition; this difference is stated explicitly.</a:t>
            </a:r>
          </a:p>
        </p:txBody>
      </p:sp>
    </p:spTree>
    <p:extLst>
      <p:ext uri="{BB962C8B-B14F-4D97-AF65-F5344CB8AC3E}">
        <p14:creationId xmlns:p14="http://schemas.microsoft.com/office/powerpoint/2010/main" val="5271755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3309B4-B076-4D09-BA03-C8A123CE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DF2D00-3587-4912-8033-2D3C110DC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7EAD2F-0D90-4241-9FD6-B8E6BD248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Evidence and Moodle submission readiness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B905D4-46AB-48D9-B786-A19015C64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Appendix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94D41E-29CC-412C-9050-B50EE9235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Verified artifacts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52450" y="1485900"/>
          <a:ext xmlns:a="http://schemas.openxmlformats.org/drawingml/2006/main" cx="11087100" cy="36957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571750"/>
                <a:gridCol w="6191250"/>
                <a:gridCol w="2324100"/>
              </a:tblGrid>
              <a:tr h="410633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Requirement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Artifact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Status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 1 source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task1.c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Ready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 2 source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task2.c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Ready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Presentation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output/FIT3143_Week8_Lab2_Presentation_HD_Submission_With_Evidence_And_AI_Declaration.pptx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Ready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Representative scripts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scripts/run_benchmarks.sh + capture_local_execution_evidence.sh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Ready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Execution + sorted output proof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results/local_cluster_execution.txt + prime output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Text evidence ready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AI use declaration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output/AI_Use_Declaration.pdf and Appendix 5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Ready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AI prompt record PDF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Export from the actual AI conversation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2413B"/>
                          </a:solidFill>
                          <a:latin typeface="Arial"/>
                          <a:ea typeface="Arial"/>
                          <a:cs typeface="Arial"/>
                        </a:rPr>
                        <a:t>ADD BEFORE MOODLE</a:t>
                      </a:r>
                    </a:p>
                  </a:txBody>
                  <a:tcPr marL="76200" marR="76200" marT="47625" marB="47625" anchor="ctr">
                    <a:solidFill>
                      <a:srgbClr val="FFF1F0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Local terminal screenshots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Appendices 3–4: Task 1 MPI and Task 2 hybrid runs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Ready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7CF121-75BD-49E3-BC5F-53BC4E4B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43550"/>
            <a:ext cx="895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D86309-1C7B-4072-B059-B0E22BAA9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667375"/>
            <a:ext cx="861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Do not submit until the red item is authentic, legible and included. This review cannot fabricate it.</a:t>
            </a:r>
          </a:p>
        </p:txBody>
      </p:sp>
    </p:spTree>
    <p:extLst>
      <p:ext uri="{BB962C8B-B14F-4D97-AF65-F5344CB8AC3E}">
        <p14:creationId xmlns:p14="http://schemas.microsoft.com/office/powerpoint/2010/main" val="131551224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4372A8-0EA6-4921-9303-286E65013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0C8A05-2709-44A3-BB04-F3948C77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C69735-BC19-43F1-A383-2A9BCD87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Execution evidence — Task 1 Open MPI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9C10E3-8F3D-49A6-AE8E-562E43FF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Appendix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3225E1-7A86-4422-AF75-5F8B29A0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676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Representative local WSL2 terminal capture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9e8adefe9046ec"/>
          <a:stretch xmlns:a="http://schemas.openxmlformats.org/drawingml/2006/main"/>
        </p:blipFill>
        <p:spPr>
          <a:xfrm xmlns:a="http://schemas.openxmlformats.org/drawingml/2006/main">
            <a:off x="1357912" y="1447800"/>
            <a:ext cx="4580325" cy="4476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4286EE-1B3D-471F-88CF-51259B990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581150"/>
            <a:ext cx="4305300" cy="3295650"/>
          </a:xfrm>
          <a:prstGeom xmlns:a="http://schemas.openxmlformats.org/drawingml/2006/main" prst="roundRect">
            <a:avLst>
              <a:gd name="adj" fmla="val 23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05266B-E48C-48A6-9230-B8AF8F7D4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84785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What this proves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F5C35F-9946-45C4-9E07-CE85AC839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286000"/>
            <a:ext cx="3524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Local WSL2, one node, 4 MPI ranks</a:t>
            </a:r>
          </a:p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n = 60,000,000; block-cyclic partitioning</a:t>
            </a:r>
          </a:p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Prime count = 3,562,115</a:t>
            </a:r>
          </a:p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Per-rank candidate counts and computation times</a:t>
            </a:r>
          </a:p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Imbalance ratio = 1.012429</a:t>
            </a:r>
          </a:p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Output file produced: task1_mpi_primes.txt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C65EAC-8A96-4B1B-AE98-44A1C8FC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057900"/>
            <a:ext cx="10210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0F585C-34D5-41C6-8D8D-AE38905E8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181725"/>
            <a:ext cx="986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Authentic execution evidence only; the benchmark charts use the documented CSV measurements, not this single run.</a:t>
            </a:r>
          </a:p>
        </p:txBody>
      </p:sp>
    </p:spTree>
    <p:extLst>
      <p:ext uri="{BB962C8B-B14F-4D97-AF65-F5344CB8AC3E}">
        <p14:creationId xmlns:p14="http://schemas.microsoft.com/office/powerpoint/2010/main" val="180879448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EC3811-260A-4B1F-A552-66C9158B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77BBAB-F0AA-423B-BBE3-D4F34E04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5824B9-9CF6-47DE-869F-F21DA5C8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Execution evidence — Task 2 MPI + OpenMP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96441F-6A58-439A-BDA9-0F48991B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Appendix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20FE65-1283-4806-80CD-2936367A7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676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Representative local WSL2 terminal capture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e06f05059b4ca3"/>
          <a:stretch xmlns:a="http://schemas.openxmlformats.org/drawingml/2006/main"/>
        </p:blipFill>
        <p:spPr>
          <a:xfrm xmlns:a="http://schemas.openxmlformats.org/drawingml/2006/main">
            <a:off x="2209198" y="1447800"/>
            <a:ext cx="7773605" cy="41433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3569FF-2338-444C-92F3-C7B7A604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905500"/>
            <a:ext cx="10210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C9DB07-BB08-4270-AC86-027F22A6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029325"/>
            <a:ext cx="986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Authentic local run: 1 node, 4 MPI ranks × 2 OpenMP threads = 8 workers; graph data remains in the documented CSV files.</a:t>
            </a:r>
          </a:p>
        </p:txBody>
      </p:sp>
    </p:spTree>
    <p:extLst>
      <p:ext uri="{BB962C8B-B14F-4D97-AF65-F5344CB8AC3E}">
        <p14:creationId xmlns:p14="http://schemas.microsoft.com/office/powerpoint/2010/main" val="141470179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7DC7E3-08B8-4768-948C-3AAE8EC3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F58F88-1851-45A6-898E-31690793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351796-A5E9-4ADE-87B7-29F24B7C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Generative AI use declaration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9E1EDB-7D60-4FAE-B61D-5D34A7E74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Appendix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19EAFE-A1DC-4A3A-8404-DA43440D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Summary of the separate declaration PDF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01809A-15C9-4D02-981B-E362B42BD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079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Scope of assistance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700D65-A93C-4B39-963E-74228BFFF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5048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Generative AI assisted with interpreting the specification and rubric, reviewing the MPI and hybrid implementation, planning experiments, drafting charts and slides, and preparing documentation.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E08BCD-441B-40CB-A005-C44E0614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62100"/>
            <a:ext cx="190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8BD21F-8B41-42B0-85B9-4D8AF30F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764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079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Team responsibility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B101EE-319E-44F6-BBA0-E5C0C541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47875"/>
            <a:ext cx="4953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team reviewed the material against the supplied requirements, compiled and executed the programs locally, validated prime output independently, and accepts responsibility for every submitted claim and result.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203D4E-9F2A-4F2C-8628-6E687E25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10687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6041F5-5CC9-4A7F-BFE8-0C97251D6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481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079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Presentation and Q&amp;A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7D1FF9-3DB6-4849-9C93-A4CB12CB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291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603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team will explain the partitioning decision, MPI collectives, OpenMP scheduling, timing method, and performance observations without external tools.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54BED4-1B9B-47D9-8594-AC06DD580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81600"/>
            <a:ext cx="10210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FC2D89-051B-4435-8A13-0B99FFFD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305425"/>
            <a:ext cx="986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628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Submit output/AI_Use_Declaration.pdf and the authentic prompt/conversation-record PDF separately. This slide summarises the declaration and does not replace either file.</a:t>
            </a:r>
          </a:p>
        </p:txBody>
      </p:sp>
    </p:spTree>
    <p:extLst>
      <p:ext uri="{BB962C8B-B14F-4D97-AF65-F5344CB8AC3E}">
        <p14:creationId xmlns:p14="http://schemas.microsoft.com/office/powerpoint/2010/main" val="5031232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2026-09-18T05:35:03.2440000Z</dcterms:created>
  <dcterms:modified xsi:type="dcterms:W3CDTF">2026-09-18T05:35:03.2440000Z</dcterms:modified>
</coreProperties>
</file>