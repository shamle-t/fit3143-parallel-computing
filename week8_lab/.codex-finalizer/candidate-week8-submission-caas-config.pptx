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417c7b84974ade" /><Relationship Type="http://schemas.openxmlformats.org/officeDocument/2006/relationships/extended-properties" Target="/docProps/app.xml" Id="R036f3b9e57c04888" /><Relationship Type="http://schemas.openxmlformats.org/officeDocument/2006/relationships/officeDocument" Target="/ppt/presentation.xml" Id="R917d322a5d464f0a" /></Relationships>
</file>

<file path=ppt/presentation.xml><?xml version="1.0" encoding="utf-8"?>
<p:presentation xmlns:p="http://schemas.openxmlformats.org/presentationml/2006/main">
  <p:sldMasterIdLst>
    <p:sldMasterId xmlns:r="http://schemas.openxmlformats.org/officeDocument/2006/relationships" id="2147483648" r:id="R4c4539360b974bde"/>
  </p:sldMasterIdLst>
  <p:notesMasterIdLst>
    <p:notesMasterId xmlns:r="http://schemas.openxmlformats.org/officeDocument/2006/relationships" r:id="Rb8698fbe99814dee"/>
  </p:notesMasterIdLst>
  <p:sldIdLst>
    <p:sldId xmlns:r="http://schemas.openxmlformats.org/officeDocument/2006/relationships" id="256" r:id="Rfe24ff2f86304456"/>
    <p:sldId xmlns:r="http://schemas.openxmlformats.org/officeDocument/2006/relationships" id="257" r:id="R7e198ff2af4542df"/>
    <p:sldId xmlns:r="http://schemas.openxmlformats.org/officeDocument/2006/relationships" id="258" r:id="Rbbebc14f3b8a45dd"/>
    <p:sldId xmlns:r="http://schemas.openxmlformats.org/officeDocument/2006/relationships" id="259" r:id="Rad9051641b5e4fee"/>
    <p:sldId xmlns:r="http://schemas.openxmlformats.org/officeDocument/2006/relationships" id="260" r:id="R6e9c5174b9054213"/>
    <p:sldId xmlns:r="http://schemas.openxmlformats.org/officeDocument/2006/relationships" id="261" r:id="R1569694c71a246df"/>
    <p:sldId xmlns:r="http://schemas.openxmlformats.org/officeDocument/2006/relationships" id="262" r:id="R7a567182434a4f2f"/>
    <p:sldId xmlns:r="http://schemas.openxmlformats.org/officeDocument/2006/relationships" id="263" r:id="R68e8e8ebc03f488e"/>
    <p:sldId xmlns:r="http://schemas.openxmlformats.org/officeDocument/2006/relationships" id="264" r:id="Rdbef730ad4484b57"/>
    <p:sldId xmlns:r="http://schemas.openxmlformats.org/officeDocument/2006/relationships" id="265" r:id="Re7d3be4be77f4a3b"/>
    <p:sldId xmlns:r="http://schemas.openxmlformats.org/officeDocument/2006/relationships" id="266" r:id="R56ee0792f3444a80"/>
    <p:sldId xmlns:r="http://schemas.openxmlformats.org/officeDocument/2006/relationships" id="267" r:id="Re5ed6c1b68ba417e"/>
    <p:sldId xmlns:r="http://schemas.openxmlformats.org/officeDocument/2006/relationships" id="268" r:id="R3e30becf62ca4948"/>
    <p:sldId xmlns:r="http://schemas.openxmlformats.org/officeDocument/2006/relationships" id="269" r:id="Ra1d746821fe04e3b"/>
    <p:sldId xmlns:r="http://schemas.openxmlformats.org/officeDocument/2006/relationships" id="270" r:id="R1cc689b079294dac"/>
    <p:sldId xmlns:r="http://schemas.openxmlformats.org/officeDocument/2006/relationships" id="271" r:id="R35f6135225cc44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d28a6e6fb64672" /><Relationship Type="http://schemas.openxmlformats.org/officeDocument/2006/relationships/slideMaster" Target="/ppt/slideMasters/slideMaster1.xml" Id="R4c4539360b974bde" /><Relationship Type="http://schemas.openxmlformats.org/officeDocument/2006/relationships/notesMaster" Target="/ppt/notesMasters/notesMaster1.xml" Id="Rb8698fbe99814dee" /><Relationship Type="http://schemas.openxmlformats.org/officeDocument/2006/relationships/presProps" Target="/ppt/presProps.xml" Id="R2e7594004762472d" /><Relationship Type="http://schemas.openxmlformats.org/officeDocument/2006/relationships/tableStyles" Target="/ppt/tableStyles.xml" Id="R591b2df456f94b03" /><Relationship Type="http://schemas.openxmlformats.org/officeDocument/2006/relationships/slide" Target="/ppt/slides/slide1.xml" Id="Rfe24ff2f86304456" /><Relationship Type="http://schemas.openxmlformats.org/officeDocument/2006/relationships/slide" Target="/ppt/slides/slide2.xml" Id="R7e198ff2af4542df" /><Relationship Type="http://schemas.openxmlformats.org/officeDocument/2006/relationships/slide" Target="/ppt/slides/slide3.xml" Id="Rbbebc14f3b8a45dd" /><Relationship Type="http://schemas.openxmlformats.org/officeDocument/2006/relationships/slide" Target="/ppt/slides/slide4.xml" Id="Rad9051641b5e4fee" /><Relationship Type="http://schemas.openxmlformats.org/officeDocument/2006/relationships/slide" Target="/ppt/slides/slide5.xml" Id="R6e9c5174b9054213" /><Relationship Type="http://schemas.openxmlformats.org/officeDocument/2006/relationships/slide" Target="/ppt/slides/slide6.xml" Id="R1569694c71a246df" /><Relationship Type="http://schemas.openxmlformats.org/officeDocument/2006/relationships/slide" Target="/ppt/slides/slide7.xml" Id="R7a567182434a4f2f" /><Relationship Type="http://schemas.openxmlformats.org/officeDocument/2006/relationships/slide" Target="/ppt/slides/slide8.xml" Id="R68e8e8ebc03f488e" /><Relationship Type="http://schemas.openxmlformats.org/officeDocument/2006/relationships/slide" Target="/ppt/slides/slide9.xml" Id="Rdbef730ad4484b57" /><Relationship Type="http://schemas.openxmlformats.org/officeDocument/2006/relationships/slide" Target="/ppt/slides/slide10.xml" Id="Re7d3be4be77f4a3b" /><Relationship Type="http://schemas.openxmlformats.org/officeDocument/2006/relationships/slide" Target="/ppt/slides/slide11.xml" Id="R56ee0792f3444a80" /><Relationship Type="http://schemas.openxmlformats.org/officeDocument/2006/relationships/slide" Target="/ppt/slides/slide12.xml" Id="Re5ed6c1b68ba417e" /><Relationship Type="http://schemas.openxmlformats.org/officeDocument/2006/relationships/slide" Target="/ppt/slides/slide13.xml" Id="R3e30becf62ca4948" /><Relationship Type="http://schemas.openxmlformats.org/officeDocument/2006/relationships/slide" Target="/ppt/slides/slide14.xml" Id="Ra1d746821fe04e3b" /><Relationship Type="http://schemas.openxmlformats.org/officeDocument/2006/relationships/slide" Target="/ppt/slides/slide15.xml" Id="R1cc689b079294dac" /><Relationship Type="http://schemas.openxmlformats.org/officeDocument/2006/relationships/slide" Target="/ppt/slides/slide16.xml" Id="R35f6135225cc44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53d5ee71c847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8fc110d255474c" /><Relationship Type="http://schemas.openxmlformats.org/officeDocument/2006/relationships/notesMaster" Target="/ppt/notesMasters/notesMaster1.xml" Id="R2bceb43e444448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51fd37ff8d4050" /><Relationship Type="http://schemas.openxmlformats.org/officeDocument/2006/relationships/notesMaster" Target="/ppt/notesMasters/notesMaster1.xml" Id="R33b0afe186f74a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e40ac95aec42c1" /><Relationship Type="http://schemas.openxmlformats.org/officeDocument/2006/relationships/notesMaster" Target="/ppt/notesMasters/notesMaster1.xml" Id="R5ebd917f8d684b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82ea23c2354893" /><Relationship Type="http://schemas.openxmlformats.org/officeDocument/2006/relationships/notesMaster" Target="/ppt/notesMasters/notesMaster1.xml" Id="R9707e732fc2e43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a48e4b7aa24499" /><Relationship Type="http://schemas.openxmlformats.org/officeDocument/2006/relationships/notesMaster" Target="/ppt/notesMasters/notesMaster1.xml" Id="R94cc022dc3554d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81f128ef864108" /><Relationship Type="http://schemas.openxmlformats.org/officeDocument/2006/relationships/notesMaster" Target="/ppt/notesMasters/notesMaster1.xml" Id="R5ab039b0acb641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46991167a7436a" /><Relationship Type="http://schemas.openxmlformats.org/officeDocument/2006/relationships/notesMaster" Target="/ppt/notesMasters/notesMaster1.xml" Id="Rdd872a6fdb984c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f137380b1b4e87" /><Relationship Type="http://schemas.openxmlformats.org/officeDocument/2006/relationships/notesMaster" Target="/ppt/notesMasters/notesMaster1.xml" Id="Rc94dbe3673744d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50c59a2b2a48ab" /><Relationship Type="http://schemas.openxmlformats.org/officeDocument/2006/relationships/notesMaster" Target="/ppt/notesMasters/notesMaster1.xml" Id="R8ab09675a5084b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d06a41ccce4d19" /><Relationship Type="http://schemas.openxmlformats.org/officeDocument/2006/relationships/notesMaster" Target="/ppt/notesMasters/notesMaster1.xml" Id="Rf8a1ec9ae75a4a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f3ddb510a84055" /><Relationship Type="http://schemas.openxmlformats.org/officeDocument/2006/relationships/notesMaster" Target="/ppt/notesMasters/notesMaster1.xml" Id="R0d98917b908c4d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c2701d2aa348b7" /><Relationship Type="http://schemas.openxmlformats.org/officeDocument/2006/relationships/notesMaster" Target="/ppt/notesMasters/notesMaster1.xml" Id="R0fa2e59269fb43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102c95a2284a02" /><Relationship Type="http://schemas.openxmlformats.org/officeDocument/2006/relationships/notesMaster" Target="/ppt/notesMasters/notesMaster1.xml" Id="Rfa79d580111a4f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4de6ca8d7e4048" /><Relationship Type="http://schemas.openxmlformats.org/officeDocument/2006/relationships/notesMaster" Target="/ppt/notesMasters/notesMaster1.xml" Id="R1bc94985c81841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d1311baf7c44b3" /><Relationship Type="http://schemas.openxmlformats.org/officeDocument/2006/relationships/notesMaster" Target="/ppt/notesMasters/notesMaster1.xml" Id="R13ce49a4069a4a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6cc626e4864075" /><Relationship Type="http://schemas.openxmlformats.org/officeDocument/2006/relationships/notesMaster" Target="/ppt/notesMasters/notesMaster1.xml" Id="Rf293818162cd4d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results/local_cluster_execution.txt; scripts/verify_correctness.sh; results/n_scaling.csv; results/task1_process_scaling.csv;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results/partition_balance.csv. Each value is the median of three runs at n=20,000,000. The strategy comparison uses identical primality testing, merge and output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results/n_scaling.csv (current serial and MPI sweep) and results/openmp_n_scaling.csv (prior Week 4 OpenMP sweep). Both use the same machine, n values and 4 workers, but were measured in separate sessions; absolute runtime may include session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MPI speedup from results/n_scaling.csv. OpenMP speedup = results/task3_n_scaling.csv serial_total divided by results/openmp_n_scaling.csv openmp_time for the same n. This avoids mixing serial baselines across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3 sources: results/task1_process_scaling.csv and results/openmp_thread_scaling.csv. Graph 6 source: results/task1_process_scaling.csv. Process-scaling points are medians of three runs at n=60,000,000.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results/local_cluster_execution.txt. This representative run records per-rank compute times, candidate-count range, total runtime, commands and exact sorted-output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results/hybrid_scaling.csv and results/openmp_thread_scaling.csv. Hybrid points are medians of three runs at n=60,000,000. Graph 5 compares equal total worker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results/hybrid_scaling.csv. Amdahl serial fraction is measured from the one-worker hybrid run: Ts=0.411327 s, Tp=23.749574 s, fs=0.017024. CAAS evidence in Appendices 3-6 verifies setup, Task 1 configuration and execution, and Task 2 configuration; it is not graph or balance data. Main presentation ends here; appendix slides are for Q&amp;A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results/partition_balance.csv, results/task1_process_scaling.csv and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Moodle files are task1.c, task2.c, and the presentation. Supporting scripts, results, CSVs, and screenshots are retained for inspection but are not listed as compulsory uploads in the assessment specification. The prompt/conversation record must still be exported authentically if AI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evidence/screenshots/caas_login_and_setup.jpg. Authentic CAAS setup screenshot. It documents head-node access, scheduler visibility, and uploaded source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evidence/screenshots/caas_task1_job_configuration.jpg. Authentic Task 1 SLURM job configuration. It documents the requested two nodes, eight MPI tasks, four tasks per node, compilation command, and srun invocation.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evidence/screenshots/caas_task1_two_node_execution_with_line_count.jpg. Authentic two-node CAAS Task 1 functional run at n = 10,000. It verifies allocation of student-caas-n03 and student-caas-n04, eight MPI ranks, the correct 1,229-prime result, sorted output generation, and the 1,229-line output check. It does not support the local benchmark or balance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evidence/screenshots/caas_task2_job_configuration.jpg. Authentic Task 2 hybrid SLURM job configuration. It documents the requested two nodes, four MPI tasks, two tasks per node, four CPUs per task, OMP_NUM_THREADS export, and srun invocation. It does not demonstrate a completed CAAS Task 2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declares the use of generative AI within the presentation itself. The assessment specification also requires the team to upload an authentic prompt/conversation record if AI was used. No separate AI declaration PDF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036ce2f6ab4b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db8a1b7092474d" /><Relationship Type="http://schemas.openxmlformats.org/officeDocument/2006/relationships/slideLayout" Target="/ppt/slideLayouts/slideLayout1.xml" Id="R2f2ccd323c3d4b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2ccd323c3d4b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c67cfd95b14c3b" /><Relationship Type="http://schemas.openxmlformats.org/officeDocument/2006/relationships/notesSlide" Target="/ppt/notesSlides/notesSlide1.xml" Id="R8c2dd681a11140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d9e784a35f47b0" /><Relationship Type="http://schemas.openxmlformats.org/officeDocument/2006/relationships/notesSlide" Target="/ppt/notesSlides/notesSlide2.xml" Id="Rff4a3ce5b24348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5d262e654a4cf2" /><Relationship Type="http://schemas.openxmlformats.org/officeDocument/2006/relationships/notesSlide" Target="/ppt/notesSlides/notesSlide3.xml" Id="R516af63eda9845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10d48c1bae47e2" /><Relationship Type="http://schemas.openxmlformats.org/officeDocument/2006/relationships/chart" Target="/ppt/slides/charts/chart1.xml" Id="Re7b2edff003a4ef0" /><Relationship Type="http://schemas.openxmlformats.org/officeDocument/2006/relationships/notesSlide" Target="/ppt/notesSlides/notesSlide4.xml" Id="Rd73ba7fbc50d4a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8c7f912c6e42c8" /><Relationship Type="http://schemas.openxmlformats.org/officeDocument/2006/relationships/chart" Target="/ppt/slides/charts/chart2.xml" Id="R2720fb6b84834eeb" /><Relationship Type="http://schemas.openxmlformats.org/officeDocument/2006/relationships/notesSlide" Target="/ppt/notesSlides/notesSlide5.xml" Id="R7fb89c8e219345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57c5ca831d44eb" /><Relationship Type="http://schemas.openxmlformats.org/officeDocument/2006/relationships/chart" Target="/ppt/slides/charts/chart3.xml" Id="Ra98a6c41a1ca42ed" /><Relationship Type="http://schemas.openxmlformats.org/officeDocument/2006/relationships/chart" Target="/ppt/slides/charts/chart4.xml" Id="R29acba26cc0a4229" /><Relationship Type="http://schemas.openxmlformats.org/officeDocument/2006/relationships/notesSlide" Target="/ppt/notesSlides/notesSlide6.xml" Id="R22c786ad6c624f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8dca6405bd43f2" /><Relationship Type="http://schemas.openxmlformats.org/officeDocument/2006/relationships/notesSlide" Target="/ppt/notesSlides/notesSlide7.xml" Id="R45e01f0eec8e4d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659baf9c10478a" /><Relationship Type="http://schemas.openxmlformats.org/officeDocument/2006/relationships/chart" Target="/ppt/slides/charts/chart5.xml" Id="R945d28111c6648cf" /><Relationship Type="http://schemas.openxmlformats.org/officeDocument/2006/relationships/chart" Target="/ppt/slides/charts/chart6.xml" Id="R41ae971c8a9b4f85" /><Relationship Type="http://schemas.openxmlformats.org/officeDocument/2006/relationships/notesSlide" Target="/ppt/notesSlides/notesSlide8.xml" Id="R57adc4bd3ab644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65423ae84c438a" /><Relationship Type="http://schemas.openxmlformats.org/officeDocument/2006/relationships/chart" Target="/ppt/slides/charts/chart7.xml" Id="Rc5c3ff002cf2466c" /><Relationship Type="http://schemas.openxmlformats.org/officeDocument/2006/relationships/notesSlide" Target="/ppt/notesSlides/notesSlide9.xml" Id="Rb1f7635e889041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19a7fc14504f39" /><Relationship Type="http://schemas.openxmlformats.org/officeDocument/2006/relationships/notesSlide" Target="/ppt/notesSlides/notesSlide10.xml" Id="Re66a563dbefa4d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cd003b1ad04ef1" /><Relationship Type="http://schemas.openxmlformats.org/officeDocument/2006/relationships/notesSlide" Target="/ppt/notesSlides/notesSlide11.xml" Id="Rd80c54c57b4c47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53c6690fe6b40ce" /><Relationship Type="http://schemas.openxmlformats.org/officeDocument/2006/relationships/image" Target="/ppt/media/image.jpeg" Id="R026bc60887d74256" /><Relationship Type="http://schemas.openxmlformats.org/officeDocument/2006/relationships/notesSlide" Target="/ppt/notesSlides/notesSlide12.xml" Id="Rb254aa0be64e47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bd1d04f57b40ba" /><Relationship Type="http://schemas.openxmlformats.org/officeDocument/2006/relationships/image" Target="/ppt/media/image2.jpeg" Id="Rc21b02543ae74160" /><Relationship Type="http://schemas.openxmlformats.org/officeDocument/2006/relationships/notesSlide" Target="/ppt/notesSlides/notesSlide13.xml" Id="Rda5e7b9e75fb49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b986e9daefb4ea0" /><Relationship Type="http://schemas.openxmlformats.org/officeDocument/2006/relationships/image" Target="/ppt/media/image3.jpeg" Id="R01da50a220374509" /><Relationship Type="http://schemas.openxmlformats.org/officeDocument/2006/relationships/notesSlide" Target="/ppt/notesSlides/notesSlide14.xml" Id="Rae55c3932da14f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4b3f5e9d10f42ac" /><Relationship Type="http://schemas.openxmlformats.org/officeDocument/2006/relationships/image" Target="/ppt/media/image4.jpeg" Id="R09081eff16fc4a6a" /><Relationship Type="http://schemas.openxmlformats.org/officeDocument/2006/relationships/notesSlide" Target="/ppt/notesSlides/notesSlide15.xml" Id="Rc4a06083aa8d4b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3b16be01bfa45bb" /><Relationship Type="http://schemas.openxmlformats.org/officeDocument/2006/relationships/notesSlide" Target="/ppt/notesSlides/notesSlide16.xml" Id="R04c5cf5e56834832"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End-to-end runtime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Serial baseline</c:v>
          </c:tx>
          <c:spPr>
            <a:ln xmlns:a="http://schemas.openxmlformats.org/drawingml/2006/main" w="21908">
              <a:solidFill>
                <a:srgbClr val="3B6FB6"/>
              </a:solidFill>
              <a:prstDash val="solid"/>
            </a:ln>
          </c:spPr>
          <c:marker>
            <c:symbol val="circle"/>
            <c:size val="4"/>
            <c:spPr>
              <a:solidFill xmlns:a="http://schemas.openxmlformats.org/drawingml/2006/main">
                <a:srgbClr val="3B6FB6"/>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c:formatCode>
              <c:ptCount val="30"/>
              <c:pt idx="0">
                <c:v>4.989752</c:v>
              </c:pt>
              <c:pt idx="1">
                <c:v>5.7932</c:v>
              </c:pt>
              <c:pt idx="2">
                <c:v>6.600539</c:v>
              </c:pt>
              <c:pt idx="3">
                <c:v>7.58008</c:v>
              </c:pt>
              <c:pt idx="4">
                <c:v>8.197113</c:v>
              </c:pt>
              <c:pt idx="5">
                <c:v>8.993253</c:v>
              </c:pt>
              <c:pt idx="6">
                <c:v>9.898929</c:v>
              </c:pt>
              <c:pt idx="7">
                <c:v>11.25524</c:v>
              </c:pt>
              <c:pt idx="8">
                <c:v>11.663884</c:v>
              </c:pt>
              <c:pt idx="9">
                <c:v>12.481058</c:v>
              </c:pt>
              <c:pt idx="10">
                <c:v>13.500245</c:v>
              </c:pt>
              <c:pt idx="11">
                <c:v>14.407534</c:v>
              </c:pt>
              <c:pt idx="12">
                <c:v>15.361246</c:v>
              </c:pt>
              <c:pt idx="13">
                <c:v>16.641048</c:v>
              </c:pt>
              <c:pt idx="14">
                <c:v>17.381228</c:v>
              </c:pt>
              <c:pt idx="15">
                <c:v>18.39205</c:v>
              </c:pt>
              <c:pt idx="16">
                <c:v>19.512275</c:v>
              </c:pt>
              <c:pt idx="17">
                <c:v>20.516872</c:v>
              </c:pt>
              <c:pt idx="18">
                <c:v>21.671941</c:v>
              </c:pt>
              <c:pt idx="19">
                <c:v>22.681507</c:v>
              </c:pt>
              <c:pt idx="20">
                <c:v>23.879297</c:v>
              </c:pt>
              <c:pt idx="21">
                <c:v>24.89455</c:v>
              </c:pt>
              <c:pt idx="22">
                <c:v>26.438953</c:v>
              </c:pt>
              <c:pt idx="23">
                <c:v>27.724465</c:v>
              </c:pt>
              <c:pt idx="24">
                <c:v>28.707587</c:v>
              </c:pt>
              <c:pt idx="25">
                <c:v>30.266235</c:v>
              </c:pt>
              <c:pt idx="26">
                <c:v>30.835879</c:v>
              </c:pt>
              <c:pt idx="27">
                <c:v>32.094736</c:v>
              </c:pt>
              <c:pt idx="28">
                <c:v>33.361352</c:v>
              </c:pt>
              <c:pt idx="29">
                <c:v>34.655354</c:v>
              </c:pt>
            </c:numLit>
          </c:yVal>
        </c:ser>
        <c:ser>
          <c:idx val="1"/>
          <c:order val="1"/>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c:formatCode>
              <c:ptCount val="30"/>
              <c:pt idx="0">
                <c:v>1.506796</c:v>
              </c:pt>
              <c:pt idx="1">
                <c:v>1.629617</c:v>
              </c:pt>
              <c:pt idx="2">
                <c:v>1.882136</c:v>
              </c:pt>
              <c:pt idx="3">
                <c:v>2.197054</c:v>
              </c:pt>
              <c:pt idx="4">
                <c:v>2.351178</c:v>
              </c:pt>
              <c:pt idx="5">
                <c:v>2.680151</c:v>
              </c:pt>
              <c:pt idx="6">
                <c:v>2.949921</c:v>
              </c:pt>
              <c:pt idx="7">
                <c:v>3.132021</c:v>
              </c:pt>
              <c:pt idx="8">
                <c:v>3.511267</c:v>
              </c:pt>
              <c:pt idx="9">
                <c:v>3.792676</c:v>
              </c:pt>
              <c:pt idx="10">
                <c:v>3.765773</c:v>
              </c:pt>
              <c:pt idx="11">
                <c:v>4.350641</c:v>
              </c:pt>
              <c:pt idx="12">
                <c:v>4.371929</c:v>
              </c:pt>
              <c:pt idx="13">
                <c:v>4.65037</c:v>
              </c:pt>
              <c:pt idx="14">
                <c:v>4.997748</c:v>
              </c:pt>
              <c:pt idx="15">
                <c:v>5.308287</c:v>
              </c:pt>
              <c:pt idx="16">
                <c:v>5.542288</c:v>
              </c:pt>
              <c:pt idx="17">
                <c:v>6.078635</c:v>
              </c:pt>
              <c:pt idx="18">
                <c:v>6.218323</c:v>
              </c:pt>
              <c:pt idx="19">
                <c:v>6.572295</c:v>
              </c:pt>
              <c:pt idx="20">
                <c:v>6.834096</c:v>
              </c:pt>
              <c:pt idx="21">
                <c:v>7.088691</c:v>
              </c:pt>
              <c:pt idx="22">
                <c:v>7.583849</c:v>
              </c:pt>
              <c:pt idx="23">
                <c:v>7.847521</c:v>
              </c:pt>
              <c:pt idx="24">
                <c:v>8.563484</c:v>
              </c:pt>
              <c:pt idx="25">
                <c:v>8.792589</c:v>
              </c:pt>
              <c:pt idx="26">
                <c:v>8.841267</c:v>
              </c:pt>
              <c:pt idx="27">
                <c:v>8.86051</c:v>
              </c:pt>
              <c:pt idx="28">
                <c:v>9.36652</c:v>
              </c:pt>
              <c:pt idx="29">
                <c:v>9.865707</c:v>
              </c:pt>
            </c:numLit>
          </c:yVal>
        </c:ser>
        <c:ser>
          <c:idx val="2"/>
          <c:order val="2"/>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c:formatCode>
              <c:ptCount val="30"/>
              <c:pt idx="0">
                <c:v>2.167603</c:v>
              </c:pt>
              <c:pt idx="1">
                <c:v>2.350731</c:v>
              </c:pt>
              <c:pt idx="2">
                <c:v>2.771374</c:v>
              </c:pt>
              <c:pt idx="3">
                <c:v>3.009852</c:v>
              </c:pt>
              <c:pt idx="4">
                <c:v>3.400205</c:v>
              </c:pt>
              <c:pt idx="5">
                <c:v>3.580981</c:v>
              </c:pt>
              <c:pt idx="6">
                <c:v>4.065718</c:v>
              </c:pt>
              <c:pt idx="7">
                <c:v>4.375723</c:v>
              </c:pt>
              <c:pt idx="8">
                <c:v>5.157762</c:v>
              </c:pt>
              <c:pt idx="9">
                <c:v>5.404324</c:v>
              </c:pt>
              <c:pt idx="10">
                <c:v>5.817264</c:v>
              </c:pt>
              <c:pt idx="11">
                <c:v>5.962411</c:v>
              </c:pt>
              <c:pt idx="12">
                <c:v>7.149659</c:v>
              </c:pt>
              <c:pt idx="13">
                <c:v>6.9077</c:v>
              </c:pt>
              <c:pt idx="14">
                <c:v>7.469348</c:v>
              </c:pt>
              <c:pt idx="15">
                <c:v>8.933063</c:v>
              </c:pt>
              <c:pt idx="16">
                <c:v>10.07874</c:v>
              </c:pt>
              <c:pt idx="17">
                <c:v>9.269982</c:v>
              </c:pt>
              <c:pt idx="18">
                <c:v>9.573097</c:v>
              </c:pt>
              <c:pt idx="19">
                <c:v>12.896376</c:v>
              </c:pt>
              <c:pt idx="20">
                <c:v>9.388351</c:v>
              </c:pt>
              <c:pt idx="21">
                <c:v>9.723761</c:v>
              </c:pt>
              <c:pt idx="22">
                <c:v>10.887108</c:v>
              </c:pt>
              <c:pt idx="23">
                <c:v>11.360931</c:v>
              </c:pt>
              <c:pt idx="24">
                <c:v>11.247044</c:v>
              </c:pt>
              <c:pt idx="25">
                <c:v>11.750655</c:v>
              </c:pt>
              <c:pt idx="26">
                <c:v>12.900694</c:v>
              </c:pt>
              <c:pt idx="27">
                <c:v>12.988591</c:v>
              </c:pt>
              <c:pt idx="28">
                <c:v>13.553135</c:v>
              </c:pt>
              <c:pt idx="29">
                <c:v>13.671737</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Runtime (seconds)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0"/>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Speedup against each implementation's matched serial baseline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0.0x</c:formatCode>
              <c:ptCount val="30"/>
              <c:pt idx="0">
                <c:v>3.311498</c:v>
              </c:pt>
              <c:pt idx="1">
                <c:v>3.554945</c:v>
              </c:pt>
              <c:pt idx="2">
                <c:v>3.50694</c:v>
              </c:pt>
              <c:pt idx="3">
                <c:v>3.450112</c:v>
              </c:pt>
              <c:pt idx="4">
                <c:v>3.486386</c:v>
              </c:pt>
              <c:pt idx="5">
                <c:v>3.355503</c:v>
              </c:pt>
              <c:pt idx="6">
                <c:v>3.355659</c:v>
              </c:pt>
              <c:pt idx="7">
                <c:v>3.593603</c:v>
              </c:pt>
              <c:pt idx="8">
                <c:v>3.321845</c:v>
              </c:pt>
              <c:pt idx="9">
                <c:v>3.290831</c:v>
              </c:pt>
              <c:pt idx="10">
                <c:v>3.584986</c:v>
              </c:pt>
              <c:pt idx="11">
                <c:v>3.311588</c:v>
              </c:pt>
              <c:pt idx="12">
                <c:v>3.513609</c:v>
              </c:pt>
              <c:pt idx="13">
                <c:v>3.578435</c:v>
              </c:pt>
              <c:pt idx="14">
                <c:v>3.477812</c:v>
              </c:pt>
              <c:pt idx="15">
                <c:v>3.46478</c:v>
              </c:pt>
              <c:pt idx="16">
                <c:v>3.520617</c:v>
              </c:pt>
              <c:pt idx="17">
                <c:v>3.375243</c:v>
              </c:pt>
              <c:pt idx="18">
                <c:v>3.485175</c:v>
              </c:pt>
              <c:pt idx="19">
                <c:v>3.451079</c:v>
              </c:pt>
              <c:pt idx="20">
                <c:v>3.494141</c:v>
              </c:pt>
              <c:pt idx="21">
                <c:v>3.511868</c:v>
              </c:pt>
              <c:pt idx="22">
                <c:v>3.486218</c:v>
              </c:pt>
              <c:pt idx="23">
                <c:v>3.532894</c:v>
              </c:pt>
              <c:pt idx="24">
                <c:v>3.352326</c:v>
              </c:pt>
              <c:pt idx="25">
                <c:v>3.442244</c:v>
              </c:pt>
              <c:pt idx="26">
                <c:v>3.487722</c:v>
              </c:pt>
              <c:pt idx="27">
                <c:v>3.622222</c:v>
              </c:pt>
              <c:pt idx="28">
                <c:v>3.561766</c:v>
              </c:pt>
              <c:pt idx="29">
                <c:v>3.512708</c:v>
              </c:pt>
            </c:numLit>
          </c:yVal>
        </c:ser>
        <c:ser>
          <c:idx val="1"/>
          <c:order val="1"/>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0.0x</c:formatCode>
              <c:ptCount val="30"/>
              <c:pt idx="0">
                <c:v>2.706644</c:v>
              </c:pt>
              <c:pt idx="1">
                <c:v>2.807679</c:v>
              </c:pt>
              <c:pt idx="2">
                <c:v>2.671431</c:v>
              </c:pt>
              <c:pt idx="3">
                <c:v>2.773163</c:v>
              </c:pt>
              <c:pt idx="4">
                <c:v>2.717482</c:v>
              </c:pt>
              <c:pt idx="5">
                <c:v>2.829962</c:v>
              </c:pt>
              <c:pt idx="6">
                <c:v>2.74614</c:v>
              </c:pt>
              <c:pt idx="7">
                <c:v>2.782729</c:v>
              </c:pt>
              <c:pt idx="8">
                <c:v>2.495577</c:v>
              </c:pt>
              <c:pt idx="9">
                <c:v>2.618487</c:v>
              </c:pt>
              <c:pt idx="10">
                <c:v>2.590082</c:v>
              </c:pt>
              <c:pt idx="11">
                <c:v>2.737466</c:v>
              </c:pt>
              <c:pt idx="12">
                <c:v>2.549498</c:v>
              </c:pt>
              <c:pt idx="13">
                <c:v>2.68205</c:v>
              </c:pt>
              <c:pt idx="14">
                <c:v>2.648153</c:v>
              </c:pt>
              <c:pt idx="15">
                <c:v>2.341455</c:v>
              </c:pt>
              <c:pt idx="16">
                <c:v>2.206639</c:v>
              </c:pt>
              <c:pt idx="17">
                <c:v>2.521772</c:v>
              </c:pt>
              <c:pt idx="18">
                <c:v>2.568987</c:v>
              </c:pt>
              <c:pt idx="19">
                <c:v>1.99623</c:v>
              </c:pt>
              <c:pt idx="20">
                <c:v>2.890972</c:v>
              </c:pt>
              <c:pt idx="21">
                <c:v>2.956234</c:v>
              </c:pt>
              <c:pt idx="22">
                <c:v>2.761738</c:v>
              </c:pt>
              <c:pt idx="23">
                <c:v>2.776618</c:v>
              </c:pt>
              <c:pt idx="24">
                <c:v>2.879432</c:v>
              </c:pt>
              <c:pt idx="25">
                <c:v>2.962694</c:v>
              </c:pt>
              <c:pt idx="26">
                <c:v>2.712369</c:v>
              </c:pt>
              <c:pt idx="27">
                <c:v>2.807667</c:v>
              </c:pt>
              <c:pt idx="28">
                <c:v>2.789214</c:v>
              </c:pt>
              <c:pt idx="29">
                <c:v>2.876845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3 • matching worker counts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MPI processes</c:v>
          </c:tx>
          <c:spPr>
            <a:ln xmlns:a="http://schemas.openxmlformats.org/drawingml/2006/main" w="21908">
              <a:solidFill>
                <a:srgbClr val="C2413B"/>
              </a:solidFill>
              <a:prstDash val="solid"/>
            </a:ln>
          </c:spPr>
          <c:marker>
            <c:symbol val="circle"/>
            <c:size val="5"/>
            <c:spPr>
              <a:solidFill xmlns:a="http://schemas.openxmlformats.org/drawingml/2006/main">
                <a:srgbClr val="C2413B"/>
              </a:solidFill>
            </c:spPr>
          </c:marker>
          <c:cat>
            <c:numLit>
              <c:formatCode>General</c:formatCode>
              <c:ptCount val="5"/>
              <c:pt idx="0">
                <c:v>1</c:v>
              </c:pt>
              <c:pt idx="1">
                <c:v>2</c:v>
              </c:pt>
              <c:pt idx="2">
                <c:v>4</c:v>
              </c:pt>
              <c:pt idx="3">
                <c:v>8</c:v>
              </c:pt>
              <c:pt idx="4">
                <c:v>16</c:v>
              </c:pt>
            </c:numLit>
          </c:cat>
          <c:val>
            <c:numLit>
              <c:formatCode>0.0x</c:formatCode>
              <c:ptCount val="5"/>
              <c:pt idx="0">
                <c:v>0.98963</c:v>
              </c:pt>
              <c:pt idx="1">
                <c:v>1.878171</c:v>
              </c:pt>
              <c:pt idx="2">
                <c:v>3.378454</c:v>
              </c:pt>
              <c:pt idx="3">
                <c:v>4.618865</c:v>
              </c:pt>
              <c:pt idx="4">
                <c:v>6.015093</c:v>
              </c:pt>
            </c:numLit>
          </c:val>
          <c:smooth val="0"/>
        </c:ser>
        <c:ser>
          <c:idx val="1"/>
          <c:order val="1"/>
          <c:tx>
            <c:v>OpenMP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numLit>
              <c:formatCode>General</c:formatCode>
              <c:ptCount val="5"/>
              <c:pt idx="0">
                <c:v>1</c:v>
              </c:pt>
              <c:pt idx="1">
                <c:v>2</c:v>
              </c:pt>
              <c:pt idx="2">
                <c:v>4</c:v>
              </c:pt>
              <c:pt idx="3">
                <c:v>8</c:v>
              </c:pt>
              <c:pt idx="4">
                <c:v>16</c:v>
              </c:pt>
            </c:numLit>
          </c:cat>
          <c:val>
            <c:numLit>
              <c:formatCode>0.0x</c:formatCode>
              <c:ptCount val="5"/>
              <c:pt idx="0">
                <c:v>1.004932</c:v>
              </c:pt>
              <c:pt idx="1">
                <c:v>1.550188</c:v>
              </c:pt>
              <c:pt idx="2">
                <c:v>2.693979</c:v>
              </c:pt>
              <c:pt idx="3">
                <c:v>4.337217</c:v>
              </c:pt>
              <c:pt idx="4">
                <c:v>7.075541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Processes or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6 • MPI empirical vs Amdahl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Empirical</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Lit>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Lit>
          </c:xVal>
          <c:yVal>
            <c:numLit>
              <c:formatCode>0.0x</c:formatCode>
              <c:ptCount val="16"/>
              <c:pt idx="0">
                <c:v>0.98963</c:v>
              </c:pt>
              <c:pt idx="1">
                <c:v>1.878171</c:v>
              </c:pt>
              <c:pt idx="2">
                <c:v>2.635082</c:v>
              </c:pt>
              <c:pt idx="3">
                <c:v>3.378454</c:v>
              </c:pt>
              <c:pt idx="4">
                <c:v>3.906827</c:v>
              </c:pt>
              <c:pt idx="5">
                <c:v>4.232572</c:v>
              </c:pt>
              <c:pt idx="6">
                <c:v>4.432161</c:v>
              </c:pt>
              <c:pt idx="7">
                <c:v>4.618865</c:v>
              </c:pt>
              <c:pt idx="8">
                <c:v>4.420885</c:v>
              </c:pt>
              <c:pt idx="9">
                <c:v>4.156386</c:v>
              </c:pt>
              <c:pt idx="10">
                <c:v>4.550334</c:v>
              </c:pt>
              <c:pt idx="11">
                <c:v>5.308742</c:v>
              </c:pt>
              <c:pt idx="12">
                <c:v>5.4069</c:v>
              </c:pt>
              <c:pt idx="13">
                <c:v>5.821944</c:v>
              </c:pt>
              <c:pt idx="14">
                <c:v>5.971313</c:v>
              </c:pt>
              <c:pt idx="15">
                <c:v>6.015093</c:v>
              </c:pt>
            </c:numLit>
          </c:yVal>
        </c:ser>
        <c:ser>
          <c:idx val="1"/>
          <c:order val="1"/>
          <c:tx>
            <c:v>Amdahl ideal</c:v>
          </c:tx>
          <c:spPr>
            <a:ln xmlns:a="http://schemas.openxmlformats.org/drawingml/2006/main" w="21908">
              <a:solidFill>
                <a:srgbClr val="F28E2B"/>
              </a:solidFill>
              <a:prstDash val="solid"/>
            </a:ln>
          </c:spPr>
          <c:marker>
            <c:symbol val="circle"/>
            <c:size val="4"/>
            <c:spPr>
              <a:solidFill xmlns:a="http://schemas.openxmlformats.org/drawingml/2006/main">
                <a:srgbClr val="F28E2B"/>
              </a:solidFill>
            </c:spPr>
          </c:marker>
          <c:xVal>
            <c:numLit>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Lit>
          </c:xVal>
          <c:yVal>
            <c:numLit>
              <c:formatCode>0.0x</c:formatCode>
              <c:ptCount val="16"/>
              <c:pt idx="0">
                <c:v>1</c:v>
              </c:pt>
              <c:pt idx="1">
                <c:v>1.965524</c:v>
              </c:pt>
              <c:pt idx="2">
                <c:v>2.898324</c:v>
              </c:pt>
              <c:pt idx="3">
                <c:v>3.800036</c:v>
              </c:pt>
              <c:pt idx="4">
                <c:v>4.672189</c:v>
              </c:pt>
              <c:pt idx="5">
                <c:v>5.516213</c:v>
              </c:pt>
              <c:pt idx="6">
                <c:v>6.333447</c:v>
              </c:pt>
              <c:pt idx="7">
                <c:v>7.125147</c:v>
              </c:pt>
              <c:pt idx="8">
                <c:v>7.892491</c:v>
              </c:pt>
              <c:pt idx="9">
                <c:v>8.636586</c:v>
              </c:pt>
              <c:pt idx="10">
                <c:v>9.358472</c:v>
              </c:pt>
              <c:pt idx="11">
                <c:v>10.05913</c:v>
              </c:pt>
              <c:pt idx="12">
                <c:v>10.739483</c:v>
              </c:pt>
              <c:pt idx="13">
                <c:v>11.400399</c:v>
              </c:pt>
              <c:pt idx="14">
                <c:v>12.042701</c:v>
              </c:pt>
              <c:pt idx="15">
                <c:v>12.667164</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2"/>
      </c:valAx>
      <c:valAx>
        <c:axId val="48650112"/>
        <c:scaling>
          <c:orientation val="minMax"/>
          <c:max val="16"/>
          <c:min val="1"/>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processes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3"/>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4 • fixed 4 MPI processes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 Task 1</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numLit>
              <c:formatCode>General</c:formatCode>
              <c:ptCount val="5"/>
              <c:pt idx="0">
                <c:v>1</c:v>
              </c:pt>
              <c:pt idx="1">
                <c:v>2</c:v>
              </c:pt>
              <c:pt idx="2">
                <c:v>4</c:v>
              </c:pt>
              <c:pt idx="3">
                <c:v>8</c:v>
              </c:pt>
              <c:pt idx="4">
                <c:v>16</c:v>
              </c:pt>
            </c:numLit>
          </c:cat>
          <c:val>
            <c:numLit>
              <c:formatCode>0.0x</c:formatCode>
              <c:ptCount val="5"/>
              <c:pt idx="0">
                <c:v>1.012295</c:v>
              </c:pt>
              <c:pt idx="1">
                <c:v>1.530386</c:v>
              </c:pt>
              <c:pt idx="2">
                <c:v>2.386353</c:v>
              </c:pt>
              <c:pt idx="3">
                <c:v>2.358109</c:v>
              </c:pt>
              <c:pt idx="4">
                <c:v>2.245111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Threads per MPI process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2.7"/>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 versus 4-rank Task 1</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0.5"/>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5 • matched total workers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MPI × OpenMP</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Lit>
              <c:ptCount val="5"/>
              <c:pt idx="0">
                <c:v>1×1</c:v>
              </c:pt>
              <c:pt idx="1">
                <c:v>2×1</c:v>
              </c:pt>
              <c:pt idx="2">
                <c:v>2×2</c:v>
              </c:pt>
              <c:pt idx="3">
                <c:v>4×2</c:v>
              </c:pt>
              <c:pt idx="4">
                <c:v>4×4</c:v>
              </c:pt>
            </c:strLit>
          </c:cat>
          <c:val>
            <c:numLit>
              <c:formatCode>0.0x</c:formatCode>
              <c:ptCount val="5"/>
              <c:pt idx="0">
                <c:v>0.996865</c:v>
              </c:pt>
              <c:pt idx="1">
                <c:v>1.91408</c:v>
              </c:pt>
              <c:pt idx="2">
                <c:v>3.515055</c:v>
              </c:pt>
              <c:pt idx="3">
                <c:v>5.15</c:v>
              </c:pt>
              <c:pt idx="4">
                <c:v>8.030471</c:v>
              </c:pt>
            </c:numLit>
          </c:val>
          <c:smooth val="0"/>
        </c:ser>
        <c:ser>
          <c:idx val="1"/>
          <c:order val="1"/>
          <c:tx>
            <c:v>OpenMP matched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strLit>
              <c:ptCount val="5"/>
              <c:pt idx="0">
                <c:v>1×1</c:v>
              </c:pt>
              <c:pt idx="1">
                <c:v>2×1</c:v>
              </c:pt>
              <c:pt idx="2">
                <c:v>2×2</c:v>
              </c:pt>
              <c:pt idx="3">
                <c:v>4×2</c:v>
              </c:pt>
              <c:pt idx="4">
                <c:v>4×4</c:v>
              </c:pt>
            </c:strLit>
          </c:cat>
          <c:val>
            <c:numLit>
              <c:formatCode>0.0x</c:formatCode>
              <c:ptCount val="5"/>
              <c:pt idx="0">
                <c:v>1.003352</c:v>
              </c:pt>
              <c:pt idx="1">
                <c:v>1.547751</c:v>
              </c:pt>
              <c:pt idx="2">
                <c:v>2.689743</c:v>
              </c:pt>
              <c:pt idx="3">
                <c:v>4.330398</c:v>
              </c:pt>
              <c:pt idx="4">
                <c:v>7.064416</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Hybrid empirical versus ideal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Empirical</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Lit>
              <c:ptCount val="7"/>
              <c:pt idx="0">
                <c:v>1×1</c:v>
              </c:pt>
              <c:pt idx="1">
                <c:v>2×1</c:v>
              </c:pt>
              <c:pt idx="2">
                <c:v>2×2</c:v>
              </c:pt>
              <c:pt idx="3">
                <c:v>4×2</c:v>
              </c:pt>
              <c:pt idx="4">
                <c:v>4×4</c:v>
              </c:pt>
              <c:pt idx="5">
                <c:v>4×8</c:v>
              </c:pt>
              <c:pt idx="6">
                <c:v>4×16</c:v>
              </c:pt>
            </c:strLit>
          </c:cat>
          <c:val>
            <c:numLit>
              <c:formatCode>0.0x</c:formatCode>
              <c:ptCount val="7"/>
              <c:pt idx="0">
                <c:v>0.996865</c:v>
              </c:pt>
              <c:pt idx="1">
                <c:v>1.91408</c:v>
              </c:pt>
              <c:pt idx="2">
                <c:v>3.515055</c:v>
              </c:pt>
              <c:pt idx="3">
                <c:v>5.15</c:v>
              </c:pt>
              <c:pt idx="4">
                <c:v>8.030471</c:v>
              </c:pt>
              <c:pt idx="5">
                <c:v>7.935425</c:v>
              </c:pt>
              <c:pt idx="6">
                <c:v>7.555168</c:v>
              </c:pt>
            </c:numLit>
          </c:val>
          <c:smooth val="0"/>
        </c:ser>
        <c:ser>
          <c:idx val="1"/>
          <c:order val="1"/>
          <c:tx>
            <c:v>Amdahl ideal</c:v>
          </c:tx>
          <c:spPr>
            <a:ln xmlns:a="http://schemas.openxmlformats.org/drawingml/2006/main" w="21908">
              <a:solidFill>
                <a:srgbClr val="F28E2B"/>
              </a:solidFill>
              <a:prstDash val="solid"/>
            </a:ln>
          </c:spPr>
          <c:marker>
            <c:symbol val="circle"/>
            <c:size val="5"/>
            <c:spPr>
              <a:solidFill xmlns:a="http://schemas.openxmlformats.org/drawingml/2006/main">
                <a:srgbClr val="F28E2B"/>
              </a:solidFill>
            </c:spPr>
          </c:marker>
          <c:cat>
            <c:strLit>
              <c:ptCount val="7"/>
              <c:pt idx="0">
                <c:v>1×1</c:v>
              </c:pt>
              <c:pt idx="1">
                <c:v>2×1</c:v>
              </c:pt>
              <c:pt idx="2">
                <c:v>2×2</c:v>
              </c:pt>
              <c:pt idx="3">
                <c:v>4×2</c:v>
              </c:pt>
              <c:pt idx="4">
                <c:v>4×4</c:v>
              </c:pt>
              <c:pt idx="5">
                <c:v>4×8</c:v>
              </c:pt>
              <c:pt idx="6">
                <c:v>4×16</c:v>
              </c:pt>
            </c:strLit>
          </c:cat>
          <c:val>
            <c:numLit>
              <c:formatCode>0.0x</c:formatCode>
              <c:ptCount val="7"/>
              <c:pt idx="0">
                <c:v>1</c:v>
              </c:pt>
              <c:pt idx="1">
                <c:v>1.966521</c:v>
              </c:pt>
              <c:pt idx="2">
                <c:v>3.805633</c:v>
              </c:pt>
              <c:pt idx="3">
                <c:v>7.148145</c:v>
              </c:pt>
              <c:pt idx="4">
                <c:v>12.745273</c:v>
              </c:pt>
              <c:pt idx="5">
                <c:v>20.945709</c:v>
              </c:pt>
              <c:pt idx="6">
                <c:v>30.879939</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slide1.xml><?xml version="1.0" encoding="utf-8"?>
<p:sld xmlns:p="http://schemas.openxmlformats.org/presentationml/2006/main">
  <p:cSld>
    <p:bg>
      <p:bgPr>
        <a:solidFill xmlns:a="http://schemas.openxmlformats.org/drawingml/2006/main">
          <a:srgbClr val="005F6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A894F1-B751-42C9-96BF-CA95B556753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FBA516DB-8312-4516-AE24-33E44C0C22E6}"/>
              </a:ext>
            </a:extLst>
          </p:cNvPr>
          <p:cNvSpPr>
            <a:spLocks xmlns:a="http://schemas.openxmlformats.org/drawingml/2006/main" noGrp="1"/>
          </p:cNvSpPr>
          <p:nvPr/>
        </p:nvSpPr>
        <p:spPr>
          <a:xfrm xmlns:a="http://schemas.openxmlformats.org/drawingml/2006/main">
            <a:off x="704850" y="704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FIT3143 • PARALLEL COMPUTING</a:t>
            </a:r>
          </a:p>
        </p:txBody>
      </p:sp>
      <p:sp>
        <p:nvSpPr>
          <p:cNvPr id="3" name="">
            <a:extLst xmlns:a="http://schemas.openxmlformats.org/drawingml/2006/main">
              <a:ext uri="{FF2B5EF4-FFF2-40B4-BE49-F238E27FC236}">
                <a16:creationId xmlns:a16="http://schemas.microsoft.com/office/drawing/2014/main" id="{1AABEB6A-40DA-4E70-8B98-A25D8CCE50F0}"/>
              </a:ext>
            </a:extLst>
          </p:cNvPr>
          <p:cNvSpPr>
            <a:spLocks xmlns:a="http://schemas.openxmlformats.org/drawingml/2006/main" noGrp="1"/>
          </p:cNvSpPr>
          <p:nvPr/>
        </p:nvSpPr>
        <p:spPr>
          <a:xfrm xmlns:a="http://schemas.openxmlformats.org/drawingml/2006/main">
            <a:off x="704850" y="1285875"/>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Prime Search at Scale</a:t>
            </a:r>
          </a:p>
        </p:txBody>
      </p:sp>
      <p:sp>
        <p:nvSpPr>
          <p:cNvPr id="4" name="">
            <a:extLst xmlns:a="http://schemas.openxmlformats.org/drawingml/2006/main">
              <a:ext uri="{FF2B5EF4-FFF2-40B4-BE49-F238E27FC236}">
                <a16:creationId xmlns:a16="http://schemas.microsoft.com/office/drawing/2014/main" id="{F68EC451-4FDC-4D9B-880A-1B4DB5AA10A0}"/>
              </a:ext>
            </a:extLst>
          </p:cNvPr>
          <p:cNvSpPr>
            <a:spLocks xmlns:a="http://schemas.openxmlformats.org/drawingml/2006/main" noGrp="1"/>
          </p:cNvSpPr>
          <p:nvPr/>
        </p:nvSpPr>
        <p:spPr>
          <a:xfrm xmlns:a="http://schemas.openxmlformats.org/drawingml/2006/main">
            <a:off x="704850" y="2114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0" i="0">
                <a:solidFill>
                  <a:srgbClr val="D4F4F2"/>
                </a:solidFill>
                <a:latin typeface="Arial"/>
                <a:ea typeface="Arial"/>
                <a:cs typeface="Arial"/>
              </a:defRPr>
            </a:pPr>
            <a:r>
              <a:rPr sz="2175" b="0" i="0">
                <a:solidFill>
                  <a:srgbClr val="D4F4F2"/>
                </a:solidFill>
                <a:latin typeface="Arial"/>
                <a:ea typeface="Arial"/>
                <a:cs typeface="Arial"/>
              </a:rPr>
              <a:t>Open MPI and hybrid MPI + OpenMP</a:t>
            </a:r>
          </a:p>
        </p:txBody>
      </p:sp>
      <p:sp>
        <p:nvSpPr>
          <p:cNvPr id="5" name="">
            <a:extLst xmlns:a="http://schemas.openxmlformats.org/drawingml/2006/main">
              <a:ext uri="{FF2B5EF4-FFF2-40B4-BE49-F238E27FC236}">
                <a16:creationId xmlns:a16="http://schemas.microsoft.com/office/drawing/2014/main" id="{3EDA32EE-7D7D-439D-8778-BF1C999F7357}"/>
              </a:ext>
            </a:extLst>
          </p:cNvPr>
          <p:cNvSpPr>
            <a:spLocks xmlns:a="http://schemas.openxmlformats.org/drawingml/2006/main" noGrp="1"/>
          </p:cNvSpPr>
          <p:nvPr/>
        </p:nvSpPr>
        <p:spPr>
          <a:xfrm xmlns:a="http://schemas.openxmlformats.org/drawingml/2006/main">
            <a:off x="704850" y="3028950"/>
            <a:ext cx="4476750" cy="47625"/>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6" name="">
            <a:extLst xmlns:a="http://schemas.openxmlformats.org/drawingml/2006/main">
              <a:ext uri="{FF2B5EF4-FFF2-40B4-BE49-F238E27FC236}">
                <a16:creationId xmlns:a16="http://schemas.microsoft.com/office/drawing/2014/main" id="{504AD6E9-9651-4164-BB38-9C7631A321C0}"/>
              </a:ext>
            </a:extLst>
          </p:cNvPr>
          <p:cNvSpPr>
            <a:spLocks xmlns:a="http://schemas.openxmlformats.org/drawingml/2006/main" noGrp="1"/>
          </p:cNvSpPr>
          <p:nvPr/>
        </p:nvSpPr>
        <p:spPr>
          <a:xfrm xmlns:a="http://schemas.openxmlformats.org/drawingml/2006/main">
            <a:off x="704850" y="33337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0" i="0">
                <a:solidFill>
                  <a:srgbClr val="FFFFFF"/>
                </a:solidFill>
                <a:latin typeface="Arial"/>
                <a:ea typeface="Arial"/>
                <a:cs typeface="Arial"/>
              </a:defRPr>
            </a:pPr>
            <a:r>
              <a:rPr sz="1650" b="0" i="0">
                <a:solidFill>
                  <a:srgbClr val="FFFFFF"/>
                </a:solidFill>
                <a:latin typeface="Arial"/>
                <a:ea typeface="Arial"/>
                <a:cs typeface="Arial"/>
              </a:rPr>
              <a:t>Correctness • workload balance • measured scalability</a:t>
            </a:r>
          </a:p>
        </p:txBody>
      </p:sp>
      <p:sp>
        <p:nvSpPr>
          <p:cNvPr id="7" name="">
            <a:extLst xmlns:a="http://schemas.openxmlformats.org/drawingml/2006/main">
              <a:ext uri="{FF2B5EF4-FFF2-40B4-BE49-F238E27FC236}">
                <a16:creationId xmlns:a16="http://schemas.microsoft.com/office/drawing/2014/main" id="{D6B7DE56-53E0-442F-B0E3-F668AC717CCF}"/>
              </a:ext>
            </a:extLst>
          </p:cNvPr>
          <p:cNvSpPr>
            <a:spLocks xmlns:a="http://schemas.openxmlformats.org/drawingml/2006/main" noGrp="1"/>
          </p:cNvSpPr>
          <p:nvPr/>
        </p:nvSpPr>
        <p:spPr>
          <a:xfrm xmlns:a="http://schemas.openxmlformats.org/drawingml/2006/main">
            <a:off x="704850" y="4810125"/>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Savin Vindiv De Alwis (35221631)</a:t>
            </a:r>
          </a:p>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Willwara Arachchilage Shamle Imal Thilaksiri (35512075)</a:t>
            </a:r>
          </a:p>
        </p:txBody>
      </p:sp>
      <p:sp>
        <p:nvSpPr>
          <p:cNvPr id="8" name="">
            <a:extLst xmlns:a="http://schemas.openxmlformats.org/drawingml/2006/main">
              <a:ext uri="{FF2B5EF4-FFF2-40B4-BE49-F238E27FC236}">
                <a16:creationId xmlns:a16="http://schemas.microsoft.com/office/drawing/2014/main" id="{D4DD46AF-6C6B-45CE-916B-0409390EE8B2}"/>
              </a:ext>
            </a:extLst>
          </p:cNvPr>
          <p:cNvSpPr>
            <a:spLocks xmlns:a="http://schemas.openxmlformats.org/drawingml/2006/main" noGrp="1"/>
          </p:cNvSpPr>
          <p:nvPr/>
        </p:nvSpPr>
        <p:spPr>
          <a:xfrm xmlns:a="http://schemas.openxmlformats.org/drawingml/2006/main">
            <a:off x="704850" y="59055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Main presentation: 6 min 25 s</a:t>
            </a:r>
          </a:p>
        </p:txBody>
      </p:sp>
    </p:spTree>
    <p:extLst>
      <p:ext uri="{BB962C8B-B14F-4D97-AF65-F5344CB8AC3E}">
        <p14:creationId xmlns:p14="http://schemas.microsoft.com/office/powerpoint/2010/main" val="2118125963"/>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A397F9A-E1EE-49EE-98E7-059AE73EE92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E77EE3D9-17A5-48DB-8109-74C0EBBCFEB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27CE7E81-24AC-406D-9487-8EEF9C082BED}"/>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Experimental setup and correctness</a:t>
            </a:r>
          </a:p>
        </p:txBody>
      </p:sp>
      <p:sp>
        <p:nvSpPr>
          <p:cNvPr id="4" name="">
            <a:extLst xmlns:a="http://schemas.openxmlformats.org/drawingml/2006/main">
              <a:ext uri="{FF2B5EF4-FFF2-40B4-BE49-F238E27FC236}">
                <a16:creationId xmlns:a16="http://schemas.microsoft.com/office/drawing/2014/main" id="{68E9E5CE-E78F-422A-BBAC-A96467F75655}"/>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2 / 9</a:t>
            </a:r>
          </a:p>
        </p:txBody>
      </p:sp>
      <p:sp>
        <p:nvSpPr>
          <p:cNvPr id="5" name="">
            <a:extLst xmlns:a="http://schemas.openxmlformats.org/drawingml/2006/main">
              <a:ext uri="{FF2B5EF4-FFF2-40B4-BE49-F238E27FC236}">
                <a16:creationId xmlns:a16="http://schemas.microsoft.com/office/drawing/2014/main" id="{C700405E-345E-49B4-813A-57E08F01FF49}"/>
              </a:ext>
            </a:extLst>
          </p:cNvPr>
          <p:cNvSpPr>
            <a:spLocks xmlns:a="http://schemas.openxmlformats.org/drawingml/2006/main" noGrp="1"/>
          </p:cNvSpPr>
          <p:nvPr/>
        </p:nvSpPr>
        <p:spPr>
          <a:xfrm xmlns:a="http://schemas.openxmlformats.org/drawingml/2006/main">
            <a:off x="5524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B6DFB0D2-CFD5-498D-A4AE-F06C66BAB62C}"/>
              </a:ext>
            </a:extLst>
          </p:cNvPr>
          <p:cNvSpPr>
            <a:spLocks xmlns:a="http://schemas.openxmlformats.org/drawingml/2006/main" noGrp="1"/>
          </p:cNvSpPr>
          <p:nvPr/>
        </p:nvSpPr>
        <p:spPr>
          <a:xfrm xmlns:a="http://schemas.openxmlformats.org/drawingml/2006/main">
            <a:off x="552450" y="1162050"/>
            <a:ext cx="66675" cy="142875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116A8F07-51C4-49F5-A9EF-FD7A37A37237}"/>
              </a:ext>
            </a:extLst>
          </p:cNvPr>
          <p:cNvSpPr>
            <a:spLocks xmlns:a="http://schemas.openxmlformats.org/drawingml/2006/main" noGrp="1"/>
          </p:cNvSpPr>
          <p:nvPr/>
        </p:nvSpPr>
        <p:spPr>
          <a:xfrm xmlns:a="http://schemas.openxmlformats.org/drawingml/2006/main">
            <a:off x="7620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PLATFORM</a:t>
            </a:r>
          </a:p>
        </p:txBody>
      </p:sp>
      <p:sp>
        <p:nvSpPr>
          <p:cNvPr id="8" name="">
            <a:extLst xmlns:a="http://schemas.openxmlformats.org/drawingml/2006/main">
              <a:ext uri="{FF2B5EF4-FFF2-40B4-BE49-F238E27FC236}">
                <a16:creationId xmlns:a16="http://schemas.microsoft.com/office/drawing/2014/main" id="{FFE5B9FC-3A6A-4C00-BDF6-021120ADE885}"/>
              </a:ext>
            </a:extLst>
          </p:cNvPr>
          <p:cNvSpPr>
            <a:spLocks xmlns:a="http://schemas.openxmlformats.org/drawingml/2006/main" noGrp="1"/>
          </p:cNvSpPr>
          <p:nvPr/>
        </p:nvSpPr>
        <p:spPr>
          <a:xfrm xmlns:a="http://schemas.openxmlformats.org/drawingml/2006/main">
            <a:off x="7620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1 node • 14C / 20T</a:t>
            </a:r>
          </a:p>
        </p:txBody>
      </p:sp>
      <p:sp>
        <p:nvSpPr>
          <p:cNvPr id="9" name="">
            <a:extLst xmlns:a="http://schemas.openxmlformats.org/drawingml/2006/main">
              <a:ext uri="{FF2B5EF4-FFF2-40B4-BE49-F238E27FC236}">
                <a16:creationId xmlns:a16="http://schemas.microsoft.com/office/drawing/2014/main" id="{10ACE31E-7999-411C-8AA8-B3DE7492DE85}"/>
              </a:ext>
            </a:extLst>
          </p:cNvPr>
          <p:cNvSpPr>
            <a:spLocks xmlns:a="http://schemas.openxmlformats.org/drawingml/2006/main" noGrp="1"/>
          </p:cNvSpPr>
          <p:nvPr/>
        </p:nvSpPr>
        <p:spPr>
          <a:xfrm xmlns:a="http://schemas.openxmlformats.org/drawingml/2006/main">
            <a:off x="7620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WSL2 Ubuntu • Open MPI 4.1.6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Intel Core i7-13700H</a:t>
            </a:r>
          </a:p>
        </p:txBody>
      </p:sp>
      <p:sp>
        <p:nvSpPr>
          <p:cNvPr id="10" name="">
            <a:extLst xmlns:a="http://schemas.openxmlformats.org/drawingml/2006/main">
              <a:ext uri="{FF2B5EF4-FFF2-40B4-BE49-F238E27FC236}">
                <a16:creationId xmlns:a16="http://schemas.microsoft.com/office/drawing/2014/main" id="{74F33D70-A743-4F4C-890B-EDE1E2B58731}"/>
              </a:ext>
            </a:extLst>
          </p:cNvPr>
          <p:cNvSpPr>
            <a:spLocks xmlns:a="http://schemas.openxmlformats.org/drawingml/2006/main" noGrp="1"/>
          </p:cNvSpPr>
          <p:nvPr/>
        </p:nvSpPr>
        <p:spPr>
          <a:xfrm xmlns:a="http://schemas.openxmlformats.org/drawingml/2006/main">
            <a:off x="438150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1" name="">
            <a:extLst xmlns:a="http://schemas.openxmlformats.org/drawingml/2006/main">
              <a:ext uri="{FF2B5EF4-FFF2-40B4-BE49-F238E27FC236}">
                <a16:creationId xmlns:a16="http://schemas.microsoft.com/office/drawing/2014/main" id="{31A5A0CA-D403-47AA-B207-D3F723A758AB}"/>
              </a:ext>
            </a:extLst>
          </p:cNvPr>
          <p:cNvSpPr>
            <a:spLocks xmlns:a="http://schemas.openxmlformats.org/drawingml/2006/main" noGrp="1"/>
          </p:cNvSpPr>
          <p:nvPr/>
        </p:nvSpPr>
        <p:spPr>
          <a:xfrm xmlns:a="http://schemas.openxmlformats.org/drawingml/2006/main">
            <a:off x="4381500" y="1162050"/>
            <a:ext cx="66675" cy="14287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12" name="">
            <a:extLst xmlns:a="http://schemas.openxmlformats.org/drawingml/2006/main">
              <a:ext uri="{FF2B5EF4-FFF2-40B4-BE49-F238E27FC236}">
                <a16:creationId xmlns:a16="http://schemas.microsoft.com/office/drawing/2014/main" id="{DEC680AF-F0BA-4CDF-A801-495616B2E64E}"/>
              </a:ext>
            </a:extLst>
          </p:cNvPr>
          <p:cNvSpPr>
            <a:spLocks xmlns:a="http://schemas.openxmlformats.org/drawingml/2006/main" noGrp="1"/>
          </p:cNvSpPr>
          <p:nvPr/>
        </p:nvSpPr>
        <p:spPr>
          <a:xfrm xmlns:a="http://schemas.openxmlformats.org/drawingml/2006/main">
            <a:off x="459105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PRIMARY WORKLOAD</a:t>
            </a:r>
          </a:p>
        </p:txBody>
      </p:sp>
      <p:sp>
        <p:nvSpPr>
          <p:cNvPr id="13" name="">
            <a:extLst xmlns:a="http://schemas.openxmlformats.org/drawingml/2006/main">
              <a:ext uri="{FF2B5EF4-FFF2-40B4-BE49-F238E27FC236}">
                <a16:creationId xmlns:a16="http://schemas.microsoft.com/office/drawing/2014/main" id="{84E2623A-C06F-4493-B812-2854380368CA}"/>
              </a:ext>
            </a:extLst>
          </p:cNvPr>
          <p:cNvSpPr>
            <a:spLocks xmlns:a="http://schemas.openxmlformats.org/drawingml/2006/main" noGrp="1"/>
          </p:cNvSpPr>
          <p:nvPr/>
        </p:nvSpPr>
        <p:spPr>
          <a:xfrm xmlns:a="http://schemas.openxmlformats.org/drawingml/2006/main">
            <a:off x="459105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n = 60,000,000</a:t>
            </a:r>
          </a:p>
        </p:txBody>
      </p:sp>
      <p:sp>
        <p:nvSpPr>
          <p:cNvPr id="14" name="">
            <a:extLst xmlns:a="http://schemas.openxmlformats.org/drawingml/2006/main">
              <a:ext uri="{FF2B5EF4-FFF2-40B4-BE49-F238E27FC236}">
                <a16:creationId xmlns:a16="http://schemas.microsoft.com/office/drawing/2014/main" id="{C70F5DC1-2246-4E4F-A632-D5B66777CE56}"/>
              </a:ext>
            </a:extLst>
          </p:cNvPr>
          <p:cNvSpPr>
            <a:spLocks xmlns:a="http://schemas.openxmlformats.org/drawingml/2006/main" noGrp="1"/>
          </p:cNvSpPr>
          <p:nvPr/>
        </p:nvSpPr>
        <p:spPr>
          <a:xfrm xmlns:a="http://schemas.openxmlformats.org/drawingml/2006/main">
            <a:off x="459105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3,562,115 primes below n</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all output written by rank 0</a:t>
            </a:r>
          </a:p>
        </p:txBody>
      </p:sp>
      <p:sp>
        <p:nvSpPr>
          <p:cNvPr id="15" name="">
            <a:extLst xmlns:a="http://schemas.openxmlformats.org/drawingml/2006/main">
              <a:ext uri="{FF2B5EF4-FFF2-40B4-BE49-F238E27FC236}">
                <a16:creationId xmlns:a16="http://schemas.microsoft.com/office/drawing/2014/main" id="{65E5AAC6-3775-4AB2-8E48-23F07835959F}"/>
              </a:ext>
            </a:extLst>
          </p:cNvPr>
          <p:cNvSpPr>
            <a:spLocks xmlns:a="http://schemas.openxmlformats.org/drawingml/2006/main" noGrp="1"/>
          </p:cNvSpPr>
          <p:nvPr/>
        </p:nvSpPr>
        <p:spPr>
          <a:xfrm xmlns:a="http://schemas.openxmlformats.org/drawingml/2006/main">
            <a:off x="82105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6" name="">
            <a:extLst xmlns:a="http://schemas.openxmlformats.org/drawingml/2006/main">
              <a:ext uri="{FF2B5EF4-FFF2-40B4-BE49-F238E27FC236}">
                <a16:creationId xmlns:a16="http://schemas.microsoft.com/office/drawing/2014/main" id="{FA593FC6-4FD1-43C6-AE80-762A761F0EA9}"/>
              </a:ext>
            </a:extLst>
          </p:cNvPr>
          <p:cNvSpPr>
            <a:spLocks xmlns:a="http://schemas.openxmlformats.org/drawingml/2006/main" noGrp="1"/>
          </p:cNvSpPr>
          <p:nvPr/>
        </p:nvSpPr>
        <p:spPr>
          <a:xfrm xmlns:a="http://schemas.openxmlformats.org/drawingml/2006/main">
            <a:off x="8210550" y="1162050"/>
            <a:ext cx="66675" cy="14287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17" name="">
            <a:extLst xmlns:a="http://schemas.openxmlformats.org/drawingml/2006/main">
              <a:ext uri="{FF2B5EF4-FFF2-40B4-BE49-F238E27FC236}">
                <a16:creationId xmlns:a16="http://schemas.microsoft.com/office/drawing/2014/main" id="{43A6950B-7E5A-4E6E-AC7D-4FBBA6AD9740}"/>
              </a:ext>
            </a:extLst>
          </p:cNvPr>
          <p:cNvSpPr>
            <a:spLocks xmlns:a="http://schemas.openxmlformats.org/drawingml/2006/main" noGrp="1"/>
          </p:cNvSpPr>
          <p:nvPr/>
        </p:nvSpPr>
        <p:spPr>
          <a:xfrm xmlns:a="http://schemas.openxmlformats.org/drawingml/2006/main">
            <a:off x="84201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COVERAGE</a:t>
            </a:r>
          </a:p>
        </p:txBody>
      </p:sp>
      <p:sp>
        <p:nvSpPr>
          <p:cNvPr id="18" name="">
            <a:extLst xmlns:a="http://schemas.openxmlformats.org/drawingml/2006/main">
              <a:ext uri="{FF2B5EF4-FFF2-40B4-BE49-F238E27FC236}">
                <a16:creationId xmlns:a16="http://schemas.microsoft.com/office/drawing/2014/main" id="{365EF5BA-2DC7-47E0-A4FE-CEEFCD54C35C}"/>
              </a:ext>
            </a:extLst>
          </p:cNvPr>
          <p:cNvSpPr>
            <a:spLocks xmlns:a="http://schemas.openxmlformats.org/drawingml/2006/main" noGrp="1"/>
          </p:cNvSpPr>
          <p:nvPr/>
        </p:nvSpPr>
        <p:spPr>
          <a:xfrm xmlns:a="http://schemas.openxmlformats.org/drawingml/2006/main">
            <a:off x="84201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30 n values</a:t>
            </a:r>
          </a:p>
        </p:txBody>
      </p:sp>
      <p:sp>
        <p:nvSpPr>
          <p:cNvPr id="19" name="">
            <a:extLst xmlns:a="http://schemas.openxmlformats.org/drawingml/2006/main">
              <a:ext uri="{FF2B5EF4-FFF2-40B4-BE49-F238E27FC236}">
                <a16:creationId xmlns:a16="http://schemas.microsoft.com/office/drawing/2014/main" id="{427F119C-A92B-48EA-BC43-2670277DD51D}"/>
              </a:ext>
            </a:extLst>
          </p:cNvPr>
          <p:cNvSpPr>
            <a:spLocks xmlns:a="http://schemas.openxmlformats.org/drawingml/2006/main" noGrp="1"/>
          </p:cNvSpPr>
          <p:nvPr/>
        </p:nvSpPr>
        <p:spPr>
          <a:xfrm xmlns:a="http://schemas.openxmlformats.org/drawingml/2006/main">
            <a:off x="84201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20M–78M • MPI ranks 1–16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OpenMP threads 1–16 • up to 64 workers</a:t>
            </a:r>
          </a:p>
        </p:txBody>
      </p:sp>
      <p:sp>
        <p:nvSpPr>
          <p:cNvPr id="20" name="">
            <a:extLst xmlns:a="http://schemas.openxmlformats.org/drawingml/2006/main">
              <a:ext uri="{FF2B5EF4-FFF2-40B4-BE49-F238E27FC236}">
                <a16:creationId xmlns:a16="http://schemas.microsoft.com/office/drawing/2014/main" id="{6B12B32E-7816-467B-8CDC-5C15B119FF35}"/>
              </a:ext>
            </a:extLst>
          </p:cNvPr>
          <p:cNvSpPr>
            <a:spLocks xmlns:a="http://schemas.openxmlformats.org/drawingml/2006/main" noGrp="1"/>
          </p:cNvSpPr>
          <p:nvPr/>
        </p:nvSpPr>
        <p:spPr>
          <a:xfrm xmlns:a="http://schemas.openxmlformats.org/drawingml/2006/main">
            <a:off x="552450" y="2952750"/>
            <a:ext cx="53340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9E2EC"/>
            </a:solidFill>
          </a:ln>
        </p:spPr>
      </p:sp>
      <p:sp>
        <p:nvSpPr>
          <p:cNvPr id="21" name="">
            <a:extLst xmlns:a="http://schemas.openxmlformats.org/drawingml/2006/main">
              <a:ext uri="{FF2B5EF4-FFF2-40B4-BE49-F238E27FC236}">
                <a16:creationId xmlns:a16="http://schemas.microsoft.com/office/drawing/2014/main" id="{0AD0627F-7C65-43B8-8964-ED272915CB40}"/>
              </a:ext>
            </a:extLst>
          </p:cNvPr>
          <p:cNvSpPr>
            <a:spLocks xmlns:a="http://schemas.openxmlformats.org/drawingml/2006/main" noGrp="1"/>
          </p:cNvSpPr>
          <p:nvPr/>
        </p:nvSpPr>
        <p:spPr>
          <a:xfrm xmlns:a="http://schemas.openxmlformats.org/drawingml/2006/main">
            <a:off x="78105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Measurement discipline</a:t>
            </a:r>
          </a:p>
        </p:txBody>
      </p:sp>
      <p:sp>
        <p:nvSpPr>
          <p:cNvPr id="22" name="">
            <a:extLst xmlns:a="http://schemas.openxmlformats.org/drawingml/2006/main">
              <a:ext uri="{FF2B5EF4-FFF2-40B4-BE49-F238E27FC236}">
                <a16:creationId xmlns:a16="http://schemas.microsoft.com/office/drawing/2014/main" id="{35F0B2B8-EBAC-4E64-8B40-AA96D5E17CC6}"/>
              </a:ext>
            </a:extLst>
          </p:cNvPr>
          <p:cNvSpPr>
            <a:spLocks xmlns:a="http://schemas.openxmlformats.org/drawingml/2006/main" noGrp="1"/>
          </p:cNvSpPr>
          <p:nvPr/>
        </p:nvSpPr>
        <p:spPr>
          <a:xfrm xmlns:a="http://schemas.openxmlformats.org/drawingml/2006/main">
            <a:off x="781050" y="36766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Process and hybrid scaling</a:t>
            </a:r>
          </a:p>
        </p:txBody>
      </p:sp>
      <p:sp>
        <p:nvSpPr>
          <p:cNvPr id="23" name="">
            <a:extLst xmlns:a="http://schemas.openxmlformats.org/drawingml/2006/main">
              <a:ext uri="{FF2B5EF4-FFF2-40B4-BE49-F238E27FC236}">
                <a16:creationId xmlns:a16="http://schemas.microsoft.com/office/drawing/2014/main" id="{55453A56-A67D-4C45-B7BD-E0A1AA9B5A9A}"/>
              </a:ext>
            </a:extLst>
          </p:cNvPr>
          <p:cNvSpPr>
            <a:spLocks xmlns:a="http://schemas.openxmlformats.org/drawingml/2006/main" noGrp="1"/>
          </p:cNvSpPr>
          <p:nvPr/>
        </p:nvSpPr>
        <p:spPr>
          <a:xfrm xmlns:a="http://schemas.openxmlformats.org/drawingml/2006/main">
            <a:off x="781050" y="394335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Median of 3 end-to-end runs; computation, gather and root post-processing recorded separately.</a:t>
            </a:r>
          </a:p>
        </p:txBody>
      </p:sp>
      <p:sp>
        <p:nvSpPr>
          <p:cNvPr id="24" name="">
            <a:extLst xmlns:a="http://schemas.openxmlformats.org/drawingml/2006/main">
              <a:ext uri="{FF2B5EF4-FFF2-40B4-BE49-F238E27FC236}">
                <a16:creationId xmlns:a16="http://schemas.microsoft.com/office/drawing/2014/main" id="{701445E2-31A7-4F3C-B1EA-014292DDC35F}"/>
              </a:ext>
            </a:extLst>
          </p:cNvPr>
          <p:cNvSpPr>
            <a:spLocks xmlns:a="http://schemas.openxmlformats.org/drawingml/2006/main" noGrp="1"/>
          </p:cNvSpPr>
          <p:nvPr/>
        </p:nvSpPr>
        <p:spPr>
          <a:xfrm xmlns:a="http://schemas.openxmlformats.org/drawingml/2006/main">
            <a:off x="781050" y="47244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n sweep</a:t>
            </a:r>
          </a:p>
        </p:txBody>
      </p:sp>
      <p:sp>
        <p:nvSpPr>
          <p:cNvPr id="25" name="">
            <a:extLst xmlns:a="http://schemas.openxmlformats.org/drawingml/2006/main">
              <a:ext uri="{FF2B5EF4-FFF2-40B4-BE49-F238E27FC236}">
                <a16:creationId xmlns:a16="http://schemas.microsoft.com/office/drawing/2014/main" id="{041D4AB8-617C-466F-B6CA-0AAE86D78802}"/>
              </a:ext>
            </a:extLst>
          </p:cNvPr>
          <p:cNvSpPr>
            <a:spLocks xmlns:a="http://schemas.openxmlformats.org/drawingml/2006/main" noGrp="1"/>
          </p:cNvSpPr>
          <p:nvPr/>
        </p:nvSpPr>
        <p:spPr>
          <a:xfrm xmlns:a="http://schemas.openxmlformats.org/drawingml/2006/main">
            <a:off x="781050" y="499110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One run at every required n; every runtime exceeds one second. Oversubscription is included explicitly.</a:t>
            </a:r>
          </a:p>
        </p:txBody>
      </p:sp>
      <p:sp>
        <p:nvSpPr>
          <p:cNvPr id="26" name="">
            <a:extLst xmlns:a="http://schemas.openxmlformats.org/drawingml/2006/main">
              <a:ext uri="{FF2B5EF4-FFF2-40B4-BE49-F238E27FC236}">
                <a16:creationId xmlns:a16="http://schemas.microsoft.com/office/drawing/2014/main" id="{096B43F1-F912-495E-B49B-0036A2A8E440}"/>
              </a:ext>
            </a:extLst>
          </p:cNvPr>
          <p:cNvSpPr>
            <a:spLocks xmlns:a="http://schemas.openxmlformats.org/drawingml/2006/main" noGrp="1"/>
          </p:cNvSpPr>
          <p:nvPr/>
        </p:nvSpPr>
        <p:spPr>
          <a:xfrm xmlns:a="http://schemas.openxmlformats.org/drawingml/2006/main">
            <a:off x="6210300" y="2952750"/>
            <a:ext cx="5429250" cy="2762250"/>
          </a:xfrm>
          <a:prstGeom xmlns:a="http://schemas.openxmlformats.org/drawingml/2006/main" prst="roundRect">
            <a:avLst>
              <a:gd name="adj" fmla="val 2759"/>
            </a:avLst>
          </a:prstGeom>
          <a:solidFill xmlns:a="http://schemas.openxmlformats.org/drawingml/2006/main">
            <a:srgbClr val="E6FFFA"/>
          </a:solidFill>
          <a:ln xmlns:a="http://schemas.openxmlformats.org/drawingml/2006/main" w="9525">
            <a:solidFill>
              <a:srgbClr val="9ED9D5"/>
            </a:solidFill>
          </a:ln>
        </p:spPr>
      </p:sp>
      <p:sp>
        <p:nvSpPr>
          <p:cNvPr id="27" name="">
            <a:extLst xmlns:a="http://schemas.openxmlformats.org/drawingml/2006/main">
              <a:ext uri="{FF2B5EF4-FFF2-40B4-BE49-F238E27FC236}">
                <a16:creationId xmlns:a16="http://schemas.microsoft.com/office/drawing/2014/main" id="{D84314D1-E8D7-4FED-B73A-74526983891B}"/>
              </a:ext>
            </a:extLst>
          </p:cNvPr>
          <p:cNvSpPr>
            <a:spLocks xmlns:a="http://schemas.openxmlformats.org/drawingml/2006/main" noGrp="1"/>
          </p:cNvSpPr>
          <p:nvPr/>
        </p:nvSpPr>
        <p:spPr>
          <a:xfrm xmlns:a="http://schemas.openxmlformats.org/drawingml/2006/main">
            <a:off x="647700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Independent exact validation</a:t>
            </a:r>
          </a:p>
        </p:txBody>
      </p:sp>
      <p:sp>
        <p:nvSpPr>
          <p:cNvPr id="28" name="">
            <a:extLst xmlns:a="http://schemas.openxmlformats.org/drawingml/2006/main">
              <a:ext uri="{FF2B5EF4-FFF2-40B4-BE49-F238E27FC236}">
                <a16:creationId xmlns:a16="http://schemas.microsoft.com/office/drawing/2014/main" id="{71BEF019-0749-4D66-A48A-AF60FBFF87B9}"/>
              </a:ext>
            </a:extLst>
          </p:cNvPr>
          <p:cNvSpPr>
            <a:spLocks xmlns:a="http://schemas.openxmlformats.org/drawingml/2006/main" noGrp="1"/>
          </p:cNvSpPr>
          <p:nvPr/>
        </p:nvSpPr>
        <p:spPr>
          <a:xfrm xmlns:a="http://schemas.openxmlformats.org/drawingml/2006/main">
            <a:off x="6477000" y="36957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Both programs were compared value-for-value with a separate sieve across MPI ranks 1–5 and thread counts 1–3, including n = 0, 1, 2, 3, 4, 10 and 1000.</a:t>
            </a:r>
          </a:p>
        </p:txBody>
      </p:sp>
      <p:sp>
        <p:nvSpPr>
          <p:cNvPr id="29" name="">
            <a:extLst xmlns:a="http://schemas.openxmlformats.org/drawingml/2006/main">
              <a:ext uri="{FF2B5EF4-FFF2-40B4-BE49-F238E27FC236}">
                <a16:creationId xmlns:a16="http://schemas.microsoft.com/office/drawing/2014/main" id="{381350A8-09FF-49C2-8E97-568B0F85D707}"/>
              </a:ext>
            </a:extLst>
          </p:cNvPr>
          <p:cNvSpPr>
            <a:spLocks xmlns:a="http://schemas.openxmlformats.org/drawingml/2006/main" noGrp="1"/>
          </p:cNvSpPr>
          <p:nvPr/>
        </p:nvSpPr>
        <p:spPr>
          <a:xfrm xmlns:a="http://schemas.openxmlformats.org/drawingml/2006/main">
            <a:off x="6477000" y="4972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2F855A"/>
                </a:solidFill>
                <a:latin typeface="Arial"/>
                <a:ea typeface="Arial"/>
                <a:cs typeface="Arial"/>
              </a:defRPr>
            </a:pPr>
            <a:r>
              <a:rPr sz="1425" b="1" i="0">
                <a:solidFill>
                  <a:srgbClr val="2F855A"/>
                </a:solidFill>
                <a:latin typeface="Arial"/>
                <a:ea typeface="Arial"/>
                <a:cs typeface="Arial"/>
              </a:rPr>
              <a:t>PASS: sorted • unique • complete • prime-only • &lt; n</a:t>
            </a:r>
          </a:p>
        </p:txBody>
      </p:sp>
    </p:spTree>
    <p:extLst>
      <p:ext uri="{BB962C8B-B14F-4D97-AF65-F5344CB8AC3E}">
        <p14:creationId xmlns:p14="http://schemas.microsoft.com/office/powerpoint/2010/main" val="1293764160"/>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554F58C3-BB1C-436A-8966-DAA6C77CDFD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94C74D39-6D8A-405B-975B-D58CD0291F86}"/>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141E9D3E-8492-44FB-BBDA-595E61DF8BC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1: robust block-cyclic MPI partition</a:t>
            </a:r>
          </a:p>
        </p:txBody>
      </p:sp>
      <p:sp>
        <p:nvSpPr>
          <p:cNvPr id="4" name="">
            <a:extLst xmlns:a="http://schemas.openxmlformats.org/drawingml/2006/main">
              <a:ext uri="{FF2B5EF4-FFF2-40B4-BE49-F238E27FC236}">
                <a16:creationId xmlns:a16="http://schemas.microsoft.com/office/drawing/2014/main" id="{FFF0A74B-1C96-499A-AE26-76E2B6C44869}"/>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3 / 9</a:t>
            </a:r>
          </a:p>
        </p:txBody>
      </p:sp>
      <p:sp>
        <p:nvSpPr>
          <p:cNvPr id="5" name="">
            <a:extLst xmlns:a="http://schemas.openxmlformats.org/drawingml/2006/main">
              <a:ext uri="{FF2B5EF4-FFF2-40B4-BE49-F238E27FC236}">
                <a16:creationId xmlns:a16="http://schemas.microsoft.com/office/drawing/2014/main" id="{E93902EE-6C51-43A3-BC99-B06E2725523F}"/>
              </a:ext>
            </a:extLst>
          </p:cNvPr>
          <p:cNvSpPr>
            <a:spLocks xmlns:a="http://schemas.openxmlformats.org/drawingml/2006/main" noGrp="1"/>
          </p:cNvSpPr>
          <p:nvPr/>
        </p:nvSpPr>
        <p:spPr>
          <a:xfrm xmlns:a="http://schemas.openxmlformats.org/drawingml/2006/main">
            <a:off x="552450" y="1143000"/>
            <a:ext cx="5143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13B71AD4-2E72-42EA-B144-91380BA241BD}"/>
              </a:ext>
            </a:extLst>
          </p:cNvPr>
          <p:cNvSpPr>
            <a:spLocks xmlns:a="http://schemas.openxmlformats.org/drawingml/2006/main" noGrp="1"/>
          </p:cNvSpPr>
          <p:nvPr/>
        </p:nvSpPr>
        <p:spPr>
          <a:xfrm xmlns:a="http://schemas.openxmlformats.org/drawingml/2006/main">
            <a:off x="781050" y="135255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1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Odd-candidate index space</a:t>
            </a:r>
          </a:p>
        </p:txBody>
      </p:sp>
      <p:sp>
        <p:nvSpPr>
          <p:cNvPr id="7" name="">
            <a:extLst xmlns:a="http://schemas.openxmlformats.org/drawingml/2006/main">
              <a:ext uri="{FF2B5EF4-FFF2-40B4-BE49-F238E27FC236}">
                <a16:creationId xmlns:a16="http://schemas.microsoft.com/office/drawing/2014/main" id="{E5B7B7E7-143B-47E9-A6B5-3907B529DCB8}"/>
              </a:ext>
            </a:extLst>
          </p:cNvPr>
          <p:cNvSpPr>
            <a:spLocks xmlns:a="http://schemas.openxmlformats.org/drawingml/2006/main" noGrp="1"/>
          </p:cNvSpPr>
          <p:nvPr/>
        </p:nvSpPr>
        <p:spPr>
          <a:xfrm xmlns:a="http://schemas.openxmlformats.org/drawingml/2006/main">
            <a:off x="781050" y="16954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Chunks of 64 odd candidates are assigned round-robin.</a:t>
            </a:r>
          </a:p>
        </p:txBody>
      </p:sp>
      <p:sp>
        <p:nvSpPr>
          <p:cNvPr id="8" name="">
            <a:extLst xmlns:a="http://schemas.openxmlformats.org/drawingml/2006/main">
              <a:ext uri="{FF2B5EF4-FFF2-40B4-BE49-F238E27FC236}">
                <a16:creationId xmlns:a16="http://schemas.microsoft.com/office/drawing/2014/main" id="{8458636B-850F-431F-BA55-9E0B032813C5}"/>
              </a:ext>
            </a:extLst>
          </p:cNvPr>
          <p:cNvSpPr>
            <a:spLocks xmlns:a="http://schemas.openxmlformats.org/drawingml/2006/main" noGrp="1"/>
          </p:cNvSpPr>
          <p:nvPr/>
        </p:nvSpPr>
        <p:spPr>
          <a:xfrm xmlns:a="http://schemas.openxmlformats.org/drawingml/2006/main">
            <a:off x="819150" y="21907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3B6FB6"/>
                </a:solidFill>
                <a:latin typeface="Arial"/>
                <a:ea typeface="Arial"/>
                <a:cs typeface="Arial"/>
              </a:defRPr>
            </a:pPr>
            <a:r>
              <a:rPr sz="1125" b="1" i="0">
                <a:solidFill>
                  <a:srgbClr val="3B6FB6"/>
                </a:solidFill>
                <a:latin typeface="Arial"/>
                <a:ea typeface="Arial"/>
                <a:cs typeface="Arial"/>
              </a:rPr>
              <a:t>rank 0</a:t>
            </a:r>
          </a:p>
        </p:txBody>
      </p:sp>
      <p:sp>
        <p:nvSpPr>
          <p:cNvPr id="9" name="">
            <a:extLst xmlns:a="http://schemas.openxmlformats.org/drawingml/2006/main">
              <a:ext uri="{FF2B5EF4-FFF2-40B4-BE49-F238E27FC236}">
                <a16:creationId xmlns:a16="http://schemas.microsoft.com/office/drawing/2014/main" id="{AECD334D-71CB-47AB-B58F-791661CBE374}"/>
              </a:ext>
            </a:extLst>
          </p:cNvPr>
          <p:cNvSpPr>
            <a:spLocks xmlns:a="http://schemas.openxmlformats.org/drawingml/2006/main" noGrp="1"/>
          </p:cNvSpPr>
          <p:nvPr/>
        </p:nvSpPr>
        <p:spPr>
          <a:xfrm xmlns:a="http://schemas.openxmlformats.org/drawingml/2006/main">
            <a:off x="16192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0" name="">
            <a:extLst xmlns:a="http://schemas.openxmlformats.org/drawingml/2006/main">
              <a:ext uri="{FF2B5EF4-FFF2-40B4-BE49-F238E27FC236}">
                <a16:creationId xmlns:a16="http://schemas.microsoft.com/office/drawing/2014/main" id="{ADCC39F4-33F3-460A-892A-A3F162A28791}"/>
              </a:ext>
            </a:extLst>
          </p:cNvPr>
          <p:cNvSpPr>
            <a:spLocks xmlns:a="http://schemas.openxmlformats.org/drawingml/2006/main" noGrp="1"/>
          </p:cNvSpPr>
          <p:nvPr/>
        </p:nvSpPr>
        <p:spPr>
          <a:xfrm xmlns:a="http://schemas.openxmlformats.org/drawingml/2006/main">
            <a:off x="16192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C0</a:t>
            </a:r>
          </a:p>
        </p:txBody>
      </p:sp>
      <p:sp>
        <p:nvSpPr>
          <p:cNvPr id="11" name="">
            <a:extLst xmlns:a="http://schemas.openxmlformats.org/drawingml/2006/main">
              <a:ext uri="{FF2B5EF4-FFF2-40B4-BE49-F238E27FC236}">
                <a16:creationId xmlns:a16="http://schemas.microsoft.com/office/drawing/2014/main" id="{EEFFF1F5-2846-475E-AB78-FFD6B69FF10E}"/>
              </a:ext>
            </a:extLst>
          </p:cNvPr>
          <p:cNvSpPr>
            <a:spLocks xmlns:a="http://schemas.openxmlformats.org/drawingml/2006/main" noGrp="1"/>
          </p:cNvSpPr>
          <p:nvPr/>
        </p:nvSpPr>
        <p:spPr>
          <a:xfrm xmlns:a="http://schemas.openxmlformats.org/drawingml/2006/main">
            <a:off x="24003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2" name="">
            <a:extLst xmlns:a="http://schemas.openxmlformats.org/drawingml/2006/main">
              <a:ext uri="{FF2B5EF4-FFF2-40B4-BE49-F238E27FC236}">
                <a16:creationId xmlns:a16="http://schemas.microsoft.com/office/drawing/2014/main" id="{27A9B6A8-68D8-46B6-94C2-688D31D5784D}"/>
              </a:ext>
            </a:extLst>
          </p:cNvPr>
          <p:cNvSpPr>
            <a:spLocks xmlns:a="http://schemas.openxmlformats.org/drawingml/2006/main" noGrp="1"/>
          </p:cNvSpPr>
          <p:nvPr/>
        </p:nvSpPr>
        <p:spPr>
          <a:xfrm xmlns:a="http://schemas.openxmlformats.org/drawingml/2006/main">
            <a:off x="24003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C3</a:t>
            </a:r>
          </a:p>
        </p:txBody>
      </p:sp>
      <p:sp>
        <p:nvSpPr>
          <p:cNvPr id="13" name="">
            <a:extLst xmlns:a="http://schemas.openxmlformats.org/drawingml/2006/main">
              <a:ext uri="{FF2B5EF4-FFF2-40B4-BE49-F238E27FC236}">
                <a16:creationId xmlns:a16="http://schemas.microsoft.com/office/drawing/2014/main" id="{A1E4B45A-7DE2-4F3B-AE82-F8D73ACA6328}"/>
              </a:ext>
            </a:extLst>
          </p:cNvPr>
          <p:cNvSpPr>
            <a:spLocks xmlns:a="http://schemas.openxmlformats.org/drawingml/2006/main" noGrp="1"/>
          </p:cNvSpPr>
          <p:nvPr/>
        </p:nvSpPr>
        <p:spPr>
          <a:xfrm xmlns:a="http://schemas.openxmlformats.org/drawingml/2006/main">
            <a:off x="31813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4" name="">
            <a:extLst xmlns:a="http://schemas.openxmlformats.org/drawingml/2006/main">
              <a:ext uri="{FF2B5EF4-FFF2-40B4-BE49-F238E27FC236}">
                <a16:creationId xmlns:a16="http://schemas.microsoft.com/office/drawing/2014/main" id="{6C536A2D-61D0-4B92-8756-D404E17DB987}"/>
              </a:ext>
            </a:extLst>
          </p:cNvPr>
          <p:cNvSpPr>
            <a:spLocks xmlns:a="http://schemas.openxmlformats.org/drawingml/2006/main" noGrp="1"/>
          </p:cNvSpPr>
          <p:nvPr/>
        </p:nvSpPr>
        <p:spPr>
          <a:xfrm xmlns:a="http://schemas.openxmlformats.org/drawingml/2006/main">
            <a:off x="31813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C6</a:t>
            </a:r>
          </a:p>
        </p:txBody>
      </p:sp>
      <p:sp>
        <p:nvSpPr>
          <p:cNvPr id="15" name="">
            <a:extLst xmlns:a="http://schemas.openxmlformats.org/drawingml/2006/main">
              <a:ext uri="{FF2B5EF4-FFF2-40B4-BE49-F238E27FC236}">
                <a16:creationId xmlns:a16="http://schemas.microsoft.com/office/drawing/2014/main" id="{12559FD6-ACC5-4F82-8B16-58BD27325D77}"/>
              </a:ext>
            </a:extLst>
          </p:cNvPr>
          <p:cNvSpPr>
            <a:spLocks xmlns:a="http://schemas.openxmlformats.org/drawingml/2006/main" noGrp="1"/>
          </p:cNvSpPr>
          <p:nvPr/>
        </p:nvSpPr>
        <p:spPr>
          <a:xfrm xmlns:a="http://schemas.openxmlformats.org/drawingml/2006/main">
            <a:off x="39624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6" name="">
            <a:extLst xmlns:a="http://schemas.openxmlformats.org/drawingml/2006/main">
              <a:ext uri="{FF2B5EF4-FFF2-40B4-BE49-F238E27FC236}">
                <a16:creationId xmlns:a16="http://schemas.microsoft.com/office/drawing/2014/main" id="{D58CE835-73ED-495A-A0E2-DFD1CB2390E7}"/>
              </a:ext>
            </a:extLst>
          </p:cNvPr>
          <p:cNvSpPr>
            <a:spLocks xmlns:a="http://schemas.openxmlformats.org/drawingml/2006/main" noGrp="1"/>
          </p:cNvSpPr>
          <p:nvPr/>
        </p:nvSpPr>
        <p:spPr>
          <a:xfrm xmlns:a="http://schemas.openxmlformats.org/drawingml/2006/main">
            <a:off x="39624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C9</a:t>
            </a:r>
          </a:p>
        </p:txBody>
      </p:sp>
      <p:sp>
        <p:nvSpPr>
          <p:cNvPr id="17" name="">
            <a:extLst xmlns:a="http://schemas.openxmlformats.org/drawingml/2006/main">
              <a:ext uri="{FF2B5EF4-FFF2-40B4-BE49-F238E27FC236}">
                <a16:creationId xmlns:a16="http://schemas.microsoft.com/office/drawing/2014/main" id="{76B29AFB-91A3-4574-9DA3-6EA4A28D9878}"/>
              </a:ext>
            </a:extLst>
          </p:cNvPr>
          <p:cNvSpPr>
            <a:spLocks xmlns:a="http://schemas.openxmlformats.org/drawingml/2006/main" noGrp="1"/>
          </p:cNvSpPr>
          <p:nvPr/>
        </p:nvSpPr>
        <p:spPr>
          <a:xfrm xmlns:a="http://schemas.openxmlformats.org/drawingml/2006/main">
            <a:off x="819150" y="262890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007C83"/>
                </a:solidFill>
                <a:latin typeface="Arial"/>
                <a:ea typeface="Arial"/>
                <a:cs typeface="Arial"/>
              </a:defRPr>
            </a:pPr>
            <a:r>
              <a:rPr sz="1125" b="1" i="0">
                <a:solidFill>
                  <a:srgbClr val="007C83"/>
                </a:solidFill>
                <a:latin typeface="Arial"/>
                <a:ea typeface="Arial"/>
                <a:cs typeface="Arial"/>
              </a:rPr>
              <a:t>rank 1</a:t>
            </a:r>
          </a:p>
        </p:txBody>
      </p:sp>
      <p:sp>
        <p:nvSpPr>
          <p:cNvPr id="18" name="">
            <a:extLst xmlns:a="http://schemas.openxmlformats.org/drawingml/2006/main">
              <a:ext uri="{FF2B5EF4-FFF2-40B4-BE49-F238E27FC236}">
                <a16:creationId xmlns:a16="http://schemas.microsoft.com/office/drawing/2014/main" id="{939EEEAA-C60A-4A2E-9B36-9B52A87B0A64}"/>
              </a:ext>
            </a:extLst>
          </p:cNvPr>
          <p:cNvSpPr>
            <a:spLocks xmlns:a="http://schemas.openxmlformats.org/drawingml/2006/main" noGrp="1"/>
          </p:cNvSpPr>
          <p:nvPr/>
        </p:nvSpPr>
        <p:spPr>
          <a:xfrm xmlns:a="http://schemas.openxmlformats.org/drawingml/2006/main">
            <a:off x="16192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19" name="">
            <a:extLst xmlns:a="http://schemas.openxmlformats.org/drawingml/2006/main">
              <a:ext uri="{FF2B5EF4-FFF2-40B4-BE49-F238E27FC236}">
                <a16:creationId xmlns:a16="http://schemas.microsoft.com/office/drawing/2014/main" id="{CEECF378-B264-4E57-8DB6-7DE66D046221}"/>
              </a:ext>
            </a:extLst>
          </p:cNvPr>
          <p:cNvSpPr>
            <a:spLocks xmlns:a="http://schemas.openxmlformats.org/drawingml/2006/main" noGrp="1"/>
          </p:cNvSpPr>
          <p:nvPr/>
        </p:nvSpPr>
        <p:spPr>
          <a:xfrm xmlns:a="http://schemas.openxmlformats.org/drawingml/2006/main">
            <a:off x="16192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a:t>
            </a:r>
          </a:p>
        </p:txBody>
      </p:sp>
      <p:sp>
        <p:nvSpPr>
          <p:cNvPr id="20" name="">
            <a:extLst xmlns:a="http://schemas.openxmlformats.org/drawingml/2006/main">
              <a:ext uri="{FF2B5EF4-FFF2-40B4-BE49-F238E27FC236}">
                <a16:creationId xmlns:a16="http://schemas.microsoft.com/office/drawing/2014/main" id="{3E7871EB-CA75-4146-A931-45ED499D7BC6}"/>
              </a:ext>
            </a:extLst>
          </p:cNvPr>
          <p:cNvSpPr>
            <a:spLocks xmlns:a="http://schemas.openxmlformats.org/drawingml/2006/main" noGrp="1"/>
          </p:cNvSpPr>
          <p:nvPr/>
        </p:nvSpPr>
        <p:spPr>
          <a:xfrm xmlns:a="http://schemas.openxmlformats.org/drawingml/2006/main">
            <a:off x="24003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1" name="">
            <a:extLst xmlns:a="http://schemas.openxmlformats.org/drawingml/2006/main">
              <a:ext uri="{FF2B5EF4-FFF2-40B4-BE49-F238E27FC236}">
                <a16:creationId xmlns:a16="http://schemas.microsoft.com/office/drawing/2014/main" id="{70AD2039-B162-4C38-91E9-C65F6C2F75D5}"/>
              </a:ext>
            </a:extLst>
          </p:cNvPr>
          <p:cNvSpPr>
            <a:spLocks xmlns:a="http://schemas.openxmlformats.org/drawingml/2006/main" noGrp="1"/>
          </p:cNvSpPr>
          <p:nvPr/>
        </p:nvSpPr>
        <p:spPr>
          <a:xfrm xmlns:a="http://schemas.openxmlformats.org/drawingml/2006/main">
            <a:off x="24003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C4</a:t>
            </a:r>
          </a:p>
        </p:txBody>
      </p:sp>
      <p:sp>
        <p:nvSpPr>
          <p:cNvPr id="22" name="">
            <a:extLst xmlns:a="http://schemas.openxmlformats.org/drawingml/2006/main">
              <a:ext uri="{FF2B5EF4-FFF2-40B4-BE49-F238E27FC236}">
                <a16:creationId xmlns:a16="http://schemas.microsoft.com/office/drawing/2014/main" id="{BF0D4EA4-FD28-471A-84CD-A23E25186B31}"/>
              </a:ext>
            </a:extLst>
          </p:cNvPr>
          <p:cNvSpPr>
            <a:spLocks xmlns:a="http://schemas.openxmlformats.org/drawingml/2006/main" noGrp="1"/>
          </p:cNvSpPr>
          <p:nvPr/>
        </p:nvSpPr>
        <p:spPr>
          <a:xfrm xmlns:a="http://schemas.openxmlformats.org/drawingml/2006/main">
            <a:off x="31813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3" name="">
            <a:extLst xmlns:a="http://schemas.openxmlformats.org/drawingml/2006/main">
              <a:ext uri="{FF2B5EF4-FFF2-40B4-BE49-F238E27FC236}">
                <a16:creationId xmlns:a16="http://schemas.microsoft.com/office/drawing/2014/main" id="{DAF42D24-0909-45CA-A411-8E32F4572D62}"/>
              </a:ext>
            </a:extLst>
          </p:cNvPr>
          <p:cNvSpPr>
            <a:spLocks xmlns:a="http://schemas.openxmlformats.org/drawingml/2006/main" noGrp="1"/>
          </p:cNvSpPr>
          <p:nvPr/>
        </p:nvSpPr>
        <p:spPr>
          <a:xfrm xmlns:a="http://schemas.openxmlformats.org/drawingml/2006/main">
            <a:off x="31813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C7</a:t>
            </a:r>
          </a:p>
        </p:txBody>
      </p:sp>
      <p:sp>
        <p:nvSpPr>
          <p:cNvPr id="24" name="">
            <a:extLst xmlns:a="http://schemas.openxmlformats.org/drawingml/2006/main">
              <a:ext uri="{FF2B5EF4-FFF2-40B4-BE49-F238E27FC236}">
                <a16:creationId xmlns:a16="http://schemas.microsoft.com/office/drawing/2014/main" id="{BDDCB151-0FBE-4BE6-93F7-F68D2767E6C6}"/>
              </a:ext>
            </a:extLst>
          </p:cNvPr>
          <p:cNvSpPr>
            <a:spLocks xmlns:a="http://schemas.openxmlformats.org/drawingml/2006/main" noGrp="1"/>
          </p:cNvSpPr>
          <p:nvPr/>
        </p:nvSpPr>
        <p:spPr>
          <a:xfrm xmlns:a="http://schemas.openxmlformats.org/drawingml/2006/main">
            <a:off x="39624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5" name="">
            <a:extLst xmlns:a="http://schemas.openxmlformats.org/drawingml/2006/main">
              <a:ext uri="{FF2B5EF4-FFF2-40B4-BE49-F238E27FC236}">
                <a16:creationId xmlns:a16="http://schemas.microsoft.com/office/drawing/2014/main" id="{D4D484FB-0171-45A1-9CAF-22C98C0DE2CE}"/>
              </a:ext>
            </a:extLst>
          </p:cNvPr>
          <p:cNvSpPr>
            <a:spLocks xmlns:a="http://schemas.openxmlformats.org/drawingml/2006/main" noGrp="1"/>
          </p:cNvSpPr>
          <p:nvPr/>
        </p:nvSpPr>
        <p:spPr>
          <a:xfrm xmlns:a="http://schemas.openxmlformats.org/drawingml/2006/main">
            <a:off x="39624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C10</a:t>
            </a:r>
          </a:p>
        </p:txBody>
      </p:sp>
      <p:sp>
        <p:nvSpPr>
          <p:cNvPr id="26" name="">
            <a:extLst xmlns:a="http://schemas.openxmlformats.org/drawingml/2006/main">
              <a:ext uri="{FF2B5EF4-FFF2-40B4-BE49-F238E27FC236}">
                <a16:creationId xmlns:a16="http://schemas.microsoft.com/office/drawing/2014/main" id="{85F2FEAA-2098-44AB-833D-110E1CCBD804}"/>
              </a:ext>
            </a:extLst>
          </p:cNvPr>
          <p:cNvSpPr>
            <a:spLocks xmlns:a="http://schemas.openxmlformats.org/drawingml/2006/main" noGrp="1"/>
          </p:cNvSpPr>
          <p:nvPr/>
        </p:nvSpPr>
        <p:spPr>
          <a:xfrm xmlns:a="http://schemas.openxmlformats.org/drawingml/2006/main">
            <a:off x="819150" y="30670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F28E2B"/>
                </a:solidFill>
                <a:latin typeface="Arial"/>
                <a:ea typeface="Arial"/>
                <a:cs typeface="Arial"/>
              </a:defRPr>
            </a:pPr>
            <a:r>
              <a:rPr sz="1125" b="1" i="0">
                <a:solidFill>
                  <a:srgbClr val="F28E2B"/>
                </a:solidFill>
                <a:latin typeface="Arial"/>
                <a:ea typeface="Arial"/>
                <a:cs typeface="Arial"/>
              </a:rPr>
              <a:t>rank 2</a:t>
            </a:r>
          </a:p>
        </p:txBody>
      </p:sp>
      <p:sp>
        <p:nvSpPr>
          <p:cNvPr id="27" name="">
            <a:extLst xmlns:a="http://schemas.openxmlformats.org/drawingml/2006/main">
              <a:ext uri="{FF2B5EF4-FFF2-40B4-BE49-F238E27FC236}">
                <a16:creationId xmlns:a16="http://schemas.microsoft.com/office/drawing/2014/main" id="{18DA338F-AC89-4BC6-A50C-8FBCBC1BF190}"/>
              </a:ext>
            </a:extLst>
          </p:cNvPr>
          <p:cNvSpPr>
            <a:spLocks xmlns:a="http://schemas.openxmlformats.org/drawingml/2006/main" noGrp="1"/>
          </p:cNvSpPr>
          <p:nvPr/>
        </p:nvSpPr>
        <p:spPr>
          <a:xfrm xmlns:a="http://schemas.openxmlformats.org/drawingml/2006/main">
            <a:off x="16192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28" name="">
            <a:extLst xmlns:a="http://schemas.openxmlformats.org/drawingml/2006/main">
              <a:ext uri="{FF2B5EF4-FFF2-40B4-BE49-F238E27FC236}">
                <a16:creationId xmlns:a16="http://schemas.microsoft.com/office/drawing/2014/main" id="{8B2FB4A5-4167-4EB8-AA57-819722302242}"/>
              </a:ext>
            </a:extLst>
          </p:cNvPr>
          <p:cNvSpPr>
            <a:spLocks xmlns:a="http://schemas.openxmlformats.org/drawingml/2006/main" noGrp="1"/>
          </p:cNvSpPr>
          <p:nvPr/>
        </p:nvSpPr>
        <p:spPr>
          <a:xfrm xmlns:a="http://schemas.openxmlformats.org/drawingml/2006/main">
            <a:off x="16192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C2</a:t>
            </a:r>
          </a:p>
        </p:txBody>
      </p:sp>
      <p:sp>
        <p:nvSpPr>
          <p:cNvPr id="29" name="">
            <a:extLst xmlns:a="http://schemas.openxmlformats.org/drawingml/2006/main">
              <a:ext uri="{FF2B5EF4-FFF2-40B4-BE49-F238E27FC236}">
                <a16:creationId xmlns:a16="http://schemas.microsoft.com/office/drawing/2014/main" id="{4213E155-F88F-482B-B333-BC45D439C9D6}"/>
              </a:ext>
            </a:extLst>
          </p:cNvPr>
          <p:cNvSpPr>
            <a:spLocks xmlns:a="http://schemas.openxmlformats.org/drawingml/2006/main" noGrp="1"/>
          </p:cNvSpPr>
          <p:nvPr/>
        </p:nvSpPr>
        <p:spPr>
          <a:xfrm xmlns:a="http://schemas.openxmlformats.org/drawingml/2006/main">
            <a:off x="24003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0" name="">
            <a:extLst xmlns:a="http://schemas.openxmlformats.org/drawingml/2006/main">
              <a:ext uri="{FF2B5EF4-FFF2-40B4-BE49-F238E27FC236}">
                <a16:creationId xmlns:a16="http://schemas.microsoft.com/office/drawing/2014/main" id="{8ACD8753-0A9C-4F78-B115-2DCD19C01F1C}"/>
              </a:ext>
            </a:extLst>
          </p:cNvPr>
          <p:cNvSpPr>
            <a:spLocks xmlns:a="http://schemas.openxmlformats.org/drawingml/2006/main" noGrp="1"/>
          </p:cNvSpPr>
          <p:nvPr/>
        </p:nvSpPr>
        <p:spPr>
          <a:xfrm xmlns:a="http://schemas.openxmlformats.org/drawingml/2006/main">
            <a:off x="24003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C5</a:t>
            </a:r>
          </a:p>
        </p:txBody>
      </p:sp>
      <p:sp>
        <p:nvSpPr>
          <p:cNvPr id="31" name="">
            <a:extLst xmlns:a="http://schemas.openxmlformats.org/drawingml/2006/main">
              <a:ext uri="{FF2B5EF4-FFF2-40B4-BE49-F238E27FC236}">
                <a16:creationId xmlns:a16="http://schemas.microsoft.com/office/drawing/2014/main" id="{537F112B-EDC7-4B1C-846C-3C3E6005860A}"/>
              </a:ext>
            </a:extLst>
          </p:cNvPr>
          <p:cNvSpPr>
            <a:spLocks xmlns:a="http://schemas.openxmlformats.org/drawingml/2006/main" noGrp="1"/>
          </p:cNvSpPr>
          <p:nvPr/>
        </p:nvSpPr>
        <p:spPr>
          <a:xfrm xmlns:a="http://schemas.openxmlformats.org/drawingml/2006/main">
            <a:off x="31813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2" name="">
            <a:extLst xmlns:a="http://schemas.openxmlformats.org/drawingml/2006/main">
              <a:ext uri="{FF2B5EF4-FFF2-40B4-BE49-F238E27FC236}">
                <a16:creationId xmlns:a16="http://schemas.microsoft.com/office/drawing/2014/main" id="{9AE27266-A00D-4F2B-9C0E-1C82996C0C59}"/>
              </a:ext>
            </a:extLst>
          </p:cNvPr>
          <p:cNvSpPr>
            <a:spLocks xmlns:a="http://schemas.openxmlformats.org/drawingml/2006/main" noGrp="1"/>
          </p:cNvSpPr>
          <p:nvPr/>
        </p:nvSpPr>
        <p:spPr>
          <a:xfrm xmlns:a="http://schemas.openxmlformats.org/drawingml/2006/main">
            <a:off x="31813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C8</a:t>
            </a:r>
          </a:p>
        </p:txBody>
      </p:sp>
      <p:sp>
        <p:nvSpPr>
          <p:cNvPr id="33" name="">
            <a:extLst xmlns:a="http://schemas.openxmlformats.org/drawingml/2006/main">
              <a:ext uri="{FF2B5EF4-FFF2-40B4-BE49-F238E27FC236}">
                <a16:creationId xmlns:a16="http://schemas.microsoft.com/office/drawing/2014/main" id="{BBD620EB-E1D1-4227-948E-103359FED214}"/>
              </a:ext>
            </a:extLst>
          </p:cNvPr>
          <p:cNvSpPr>
            <a:spLocks xmlns:a="http://schemas.openxmlformats.org/drawingml/2006/main" noGrp="1"/>
          </p:cNvSpPr>
          <p:nvPr/>
        </p:nvSpPr>
        <p:spPr>
          <a:xfrm xmlns:a="http://schemas.openxmlformats.org/drawingml/2006/main">
            <a:off x="39624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4" name="">
            <a:extLst xmlns:a="http://schemas.openxmlformats.org/drawingml/2006/main">
              <a:ext uri="{FF2B5EF4-FFF2-40B4-BE49-F238E27FC236}">
                <a16:creationId xmlns:a16="http://schemas.microsoft.com/office/drawing/2014/main" id="{2664D820-7957-4212-AD18-4BA3A4DF2B92}"/>
              </a:ext>
            </a:extLst>
          </p:cNvPr>
          <p:cNvSpPr>
            <a:spLocks xmlns:a="http://schemas.openxmlformats.org/drawingml/2006/main" noGrp="1"/>
          </p:cNvSpPr>
          <p:nvPr/>
        </p:nvSpPr>
        <p:spPr>
          <a:xfrm xmlns:a="http://schemas.openxmlformats.org/drawingml/2006/main">
            <a:off x="39624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C11</a:t>
            </a:r>
          </a:p>
        </p:txBody>
      </p:sp>
      <p:sp>
        <p:nvSpPr>
          <p:cNvPr id="35" name="">
            <a:extLst xmlns:a="http://schemas.openxmlformats.org/drawingml/2006/main">
              <a:ext uri="{FF2B5EF4-FFF2-40B4-BE49-F238E27FC236}">
                <a16:creationId xmlns:a16="http://schemas.microsoft.com/office/drawing/2014/main" id="{82D8E31F-5423-4B48-8E41-F0452B3E262C}"/>
              </a:ext>
            </a:extLst>
          </p:cNvPr>
          <p:cNvSpPr>
            <a:spLocks xmlns:a="http://schemas.openxmlformats.org/drawingml/2006/main" noGrp="1"/>
          </p:cNvSpPr>
          <p:nvPr/>
        </p:nvSpPr>
        <p:spPr>
          <a:xfrm xmlns:a="http://schemas.openxmlformats.org/drawingml/2006/main">
            <a:off x="781050" y="36957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Equal-sized chunks preserve locality while mixing cheap composites and expensive large candidates across ranks.</a:t>
            </a:r>
          </a:p>
        </p:txBody>
      </p:sp>
      <p:sp>
        <p:nvSpPr>
          <p:cNvPr id="36" name="">
            <a:extLst xmlns:a="http://schemas.openxmlformats.org/drawingml/2006/main">
              <a:ext uri="{FF2B5EF4-FFF2-40B4-BE49-F238E27FC236}">
                <a16:creationId xmlns:a16="http://schemas.microsoft.com/office/drawing/2014/main" id="{99B8A4FA-27E8-4AB6-9A32-B67FABDB5160}"/>
              </a:ext>
            </a:extLst>
          </p:cNvPr>
          <p:cNvSpPr>
            <a:spLocks xmlns:a="http://schemas.openxmlformats.org/drawingml/2006/main" noGrp="1"/>
          </p:cNvSpPr>
          <p:nvPr/>
        </p:nvSpPr>
        <p:spPr>
          <a:xfrm xmlns:a="http://schemas.openxmlformats.org/drawingml/2006/main">
            <a:off x="781050" y="4457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defRPr sz="1350" b="1" i="0">
                <a:solidFill>
                  <a:srgbClr val="102A43"/>
                </a:solidFill>
                <a:latin typeface="Arial"/>
                <a:ea typeface="Arial"/>
                <a:cs typeface="Arial"/>
              </a:defRPr>
            </a:pPr>
            <a:r>
              <a:rPr sz="1350" b="1" i="0">
                <a:solidFill>
                  <a:srgbClr val="102A43"/>
                </a:solidFill>
                <a:latin typeface="Arial"/>
                <a:ea typeface="Arial"/>
                <a:cs typeface="Arial"/>
              </a:rPr>
              <a:t>Rank 0 performs an O(m log p) k-way merge and buffered output.</a:t>
            </a:r>
          </a:p>
        </p:txBody>
      </p:sp>
      <p:sp>
        <p:nvSpPr>
          <p:cNvPr id="37" name="">
            <a:extLst xmlns:a="http://schemas.openxmlformats.org/drawingml/2006/main">
              <a:ext uri="{FF2B5EF4-FFF2-40B4-BE49-F238E27FC236}">
                <a16:creationId xmlns:a16="http://schemas.microsoft.com/office/drawing/2014/main" id="{1494532D-1987-46FD-AA3C-D3D2DD4DF540}"/>
              </a:ext>
            </a:extLst>
          </p:cNvPr>
          <p:cNvSpPr>
            <a:spLocks xmlns:a="http://schemas.openxmlformats.org/drawingml/2006/main" noGrp="1"/>
          </p:cNvSpPr>
          <p:nvPr/>
        </p:nvSpPr>
        <p:spPr>
          <a:xfrm xmlns:a="http://schemas.openxmlformats.org/drawingml/2006/main">
            <a:off x="6057900" y="1200150"/>
            <a:ext cx="558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Measured computation-time imbalance (max / min)</a:t>
            </a:r>
          </a:p>
        </p:txBody>
      </p:sp>
      <p:graphicFrame>
        <p:nvGraphicFramePr>
          <p:cNvPr id="79" name=""/>
          <p:cNvGraphicFramePr/>
          <p:nvPr/>
        </p:nvGraphicFramePr>
        <p:xfrm>
          <a:off xmlns:a="http://schemas.openxmlformats.org/drawingml/2006/main" x="6057900" y="1619250"/>
          <a:ext xmlns:a="http://schemas.openxmlformats.org/drawingml/2006/main" cx="5581650" cy="2019300"/>
        </p:xfrm>
        <a:graphic xmlns:a="http://schemas.openxmlformats.org/drawingml/2006/main">
          <a:graphicData uri="http://schemas.openxmlformats.org/drawingml/2006/table">
            <a:tbl>
              <a:tblPr firstRow="1" bandRow="0"/>
              <a:tblGrid>
                <a:gridCol w="2000250"/>
                <a:gridCol w="1190625"/>
                <a:gridCol w="1190625"/>
                <a:gridCol w="1200150"/>
              </a:tblGrid>
              <a:tr h="504825">
                <a:tc>
                  <a:txBody>
                    <a:bodyPr/>
                    <a:lstStyle/>
                    <a:p>
                      <a:r>
                        <a:rPr sz="900" b="1">
                          <a:solidFill>
                            <a:srgbClr val="FFFFFF"/>
                          </a:solidFill>
                          <a:latin typeface="Arial"/>
                          <a:ea typeface="Arial"/>
                          <a:cs typeface="Arial"/>
                        </a:rPr>
                        <a:t>Strategy</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3</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4</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5</a:t>
                      </a:r>
                    </a:p>
                  </a:txBody>
                  <a:tcPr marL="76200" marR="76200" marT="57150" marB="57150" anchor="ctr">
                    <a:solidFill>
                      <a:srgbClr val="005F66"/>
                    </a:solidFill>
                  </a:tcPr>
                </a:tc>
              </a:tr>
              <a:tr h="504825">
                <a:tc>
                  <a:txBody>
                    <a:bodyPr/>
                    <a:lstStyle/>
                    <a:p>
                      <a:r>
                        <a:rPr sz="975">
                          <a:solidFill>
                            <a:srgbClr val="102A43"/>
                          </a:solidFill>
                          <a:latin typeface="Arial"/>
                          <a:ea typeface="Arial"/>
                          <a:cs typeface="Arial"/>
                        </a:rPr>
                        <a:t>Block-cyclic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1.05</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Pure 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a:t>
                      </a:r>
                    </a:p>
                  </a:txBody>
                  <a:tcPr marL="76200" marR="76200" marT="47625" marB="47625" anchor="ctr">
                    <a:solidFill>
                      <a:srgbClr val="FFFFFF"/>
                    </a:solidFill>
                  </a:tcPr>
                </a:tc>
                <a:tc>
                  <a:txBody>
                    <a:bodyPr/>
                    <a:lstStyle/>
                    <a:p>
                      <a:r>
                        <a:rPr sz="975">
                          <a:solidFill>
                            <a:srgbClr val="102A43"/>
                          </a:solidFill>
                          <a:latin typeface="Arial"/>
                          <a:ea typeface="Arial"/>
                          <a:cs typeface="Arial"/>
                        </a:rPr>
                        <a:t>1.03</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Contiguous block</a:t>
                      </a:r>
                    </a:p>
                  </a:txBody>
                  <a:tcPr marL="76200" marR="76200" marT="47625" marB="47625" anchor="ctr">
                    <a:solidFill>
                      <a:srgbClr val="FFFFFF"/>
                    </a:solidFill>
                  </a:tcPr>
                </a:tc>
                <a:tc>
                  <a:txBody>
                    <a:bodyPr/>
                    <a:lstStyle/>
                    <a:p>
                      <a:r>
                        <a:rPr sz="975">
                          <a:solidFill>
                            <a:srgbClr val="102A43"/>
                          </a:solidFill>
                          <a:latin typeface="Arial"/>
                          <a:ea typeface="Arial"/>
                          <a:cs typeface="Arial"/>
                        </a:rPr>
                        <a:t>2.20</a:t>
                      </a:r>
                    </a:p>
                  </a:txBody>
                  <a:tcPr marL="76200" marR="76200" marT="47625" marB="47625" anchor="ctr">
                    <a:solidFill>
                      <a:srgbClr val="FFFFFF"/>
                    </a:solidFill>
                  </a:tcPr>
                </a:tc>
                <a:tc>
                  <a:txBody>
                    <a:bodyPr/>
                    <a:lstStyle/>
                    <a:p>
                      <a:r>
                        <a:rPr sz="975">
                          <a:solidFill>
                            <a:srgbClr val="102A43"/>
                          </a:solidFill>
                          <a:latin typeface="Arial"/>
                          <a:ea typeface="Arial"/>
                          <a:cs typeface="Arial"/>
                        </a:rPr>
                        <a:t>2.61</a:t>
                      </a:r>
                    </a:p>
                  </a:txBody>
                  <a:tcPr marL="76200" marR="76200" marT="47625" marB="47625" anchor="ctr">
                    <a:solidFill>
                      <a:srgbClr val="FFFFFF"/>
                    </a:solidFill>
                  </a:tcPr>
                </a:tc>
                <a:tc>
                  <a:txBody>
                    <a:bodyPr/>
                    <a:lstStyle/>
                    <a:p>
                      <a:r>
                        <a:rPr sz="975">
                          <a:solidFill>
                            <a:srgbClr val="102A43"/>
                          </a:solidFill>
                          <a:latin typeface="Arial"/>
                          <a:ea typeface="Arial"/>
                          <a:cs typeface="Arial"/>
                        </a:rPr>
                        <a:t>2.78</a:t>
                      </a:r>
                    </a:p>
                  </a:txBody>
                  <a:tcPr marL="76200" marR="76200" marT="47625" marB="47625" anchor="ctr">
                    <a:solidFill>
                      <a:srgbClr val="FFFFFF"/>
                    </a:solidFill>
                  </a:tcPr>
                </a:tc>
              </a:tr>
            </a:tbl>
          </a:graphicData>
        </a:graphic>
      </p:graphicFrame>
      <p:sp>
        <p:nvSpPr>
          <p:cNvPr id="39" name="">
            <a:extLst xmlns:a="http://schemas.openxmlformats.org/drawingml/2006/main">
              <a:ext uri="{FF2B5EF4-FFF2-40B4-BE49-F238E27FC236}">
                <a16:creationId xmlns:a16="http://schemas.microsoft.com/office/drawing/2014/main" id="{ED006B84-A96E-499E-A845-74C388C54D0F}"/>
              </a:ext>
            </a:extLst>
          </p:cNvPr>
          <p:cNvSpPr>
            <a:spLocks xmlns:a="http://schemas.openxmlformats.org/drawingml/2006/main" noGrp="1"/>
          </p:cNvSpPr>
          <p:nvPr/>
        </p:nvSpPr>
        <p:spPr>
          <a:xfrm xmlns:a="http://schemas.openxmlformats.org/drawingml/2006/main">
            <a:off x="6057900" y="3943350"/>
            <a:ext cx="5581650" cy="1390650"/>
          </a:xfrm>
          <a:prstGeom xmlns:a="http://schemas.openxmlformats.org/drawingml/2006/main" prst="roundRect">
            <a:avLst>
              <a:gd name="adj" fmla="val 5479"/>
            </a:avLst>
          </a:prstGeom>
          <a:solidFill xmlns:a="http://schemas.openxmlformats.org/drawingml/2006/main">
            <a:srgbClr val="FFF5E6"/>
          </a:solidFill>
          <a:ln xmlns:a="http://schemas.openxmlformats.org/drawingml/2006/main" w="9525">
            <a:solidFill>
              <a:srgbClr val="F5C98A"/>
            </a:solidFill>
          </a:ln>
        </p:spPr>
      </p:sp>
      <p:sp>
        <p:nvSpPr>
          <p:cNvPr id="40" name="">
            <a:extLst xmlns:a="http://schemas.openxmlformats.org/drawingml/2006/main">
              <a:ext uri="{FF2B5EF4-FFF2-40B4-BE49-F238E27FC236}">
                <a16:creationId xmlns:a16="http://schemas.microsoft.com/office/drawing/2014/main" id="{EC9B2480-33A0-4FBA-8671-5911B468A6F2}"/>
              </a:ext>
            </a:extLst>
          </p:cNvPr>
          <p:cNvSpPr>
            <a:spLocks xmlns:a="http://schemas.openxmlformats.org/drawingml/2006/main" noGrp="1"/>
          </p:cNvSpPr>
          <p:nvPr/>
        </p:nvSpPr>
        <p:spPr>
          <a:xfrm xmlns:a="http://schemas.openxmlformats.org/drawingml/2006/main">
            <a:off x="6286500" y="415290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7544"/>
          </a:bodyPr>
          <a:lstStyle xmlns:a="http://schemas.openxmlformats.org/drawingml/2006/main"/>
          <a:p xmlns:a="http://schemas.openxmlformats.org/drawingml/2006/main">
            <a:pPr algn="l">
              <a:defRPr sz="1425" b="1" i="0">
                <a:solidFill>
                  <a:srgbClr val="8A4B08"/>
                </a:solidFill>
                <a:latin typeface="Arial"/>
                <a:ea typeface="Arial"/>
                <a:cs typeface="Arial"/>
              </a:defRPr>
            </a:pPr>
            <a:r>
              <a:rPr sz="1425" b="1" i="0">
                <a:solidFill>
                  <a:srgbClr val="8A4B08"/>
                </a:solidFill>
                <a:latin typeface="Arial"/>
                <a:ea typeface="Arial"/>
                <a:cs typeface="Arial"/>
              </a:rPr>
              <a:t>Why this is the selected partition</a:t>
            </a:r>
          </a:p>
        </p:txBody>
      </p:sp>
      <p:sp>
        <p:nvSpPr>
          <p:cNvPr id="41" name="">
            <a:extLst xmlns:a="http://schemas.openxmlformats.org/drawingml/2006/main">
              <a:ext uri="{FF2B5EF4-FFF2-40B4-BE49-F238E27FC236}">
                <a16:creationId xmlns:a16="http://schemas.microsoft.com/office/drawing/2014/main" id="{F4405964-B965-4665-9B6D-5680240F3273}"/>
              </a:ext>
            </a:extLst>
          </p:cNvPr>
          <p:cNvSpPr>
            <a:spLocks xmlns:a="http://schemas.openxmlformats.org/drawingml/2006/main" noGrp="1"/>
          </p:cNvSpPr>
          <p:nvPr/>
        </p:nvSpPr>
        <p:spPr>
          <a:xfrm xmlns:a="http://schemas.openxmlformats.org/drawingml/2006/main">
            <a:off x="6286500" y="45148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It had the lowest worst-case imbalance among the three measured strategies: ≤ 1.06 for p = 3–5. Pure cyclic collapses at odd p because divisibility patterns align with rank strides.</a:t>
            </a:r>
          </a:p>
        </p:txBody>
      </p:sp>
    </p:spTree>
    <p:extLst>
      <p:ext uri="{BB962C8B-B14F-4D97-AF65-F5344CB8AC3E}">
        <p14:creationId xmlns:p14="http://schemas.microsoft.com/office/powerpoint/2010/main" val="1441409996"/>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09F6C8-A24A-4DBF-AA00-757427AB961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2C396C3B-61CF-419D-936B-34FDA1F8697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7BB52CDE-2E3E-4C5C-ABC1-D73599065E5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1 — runtime across 30 problem sizes</a:t>
            </a:r>
          </a:p>
        </p:txBody>
      </p:sp>
      <p:sp>
        <p:nvSpPr>
          <p:cNvPr id="4" name="">
            <a:extLst xmlns:a="http://schemas.openxmlformats.org/drawingml/2006/main">
              <a:ext uri="{FF2B5EF4-FFF2-40B4-BE49-F238E27FC236}">
                <a16:creationId xmlns:a16="http://schemas.microsoft.com/office/drawing/2014/main" id="{49CCE6FA-B0D6-48B7-9952-62BFB3AD036C}"/>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4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e7b2edff003a4ef0"/>
          </a:graphicData>
        </a:graphic>
      </p:graphicFrame>
      <p:sp>
        <p:nvSpPr>
          <p:cNvPr id="6" name="">
            <a:extLst xmlns:a="http://schemas.openxmlformats.org/drawingml/2006/main">
              <a:ext uri="{FF2B5EF4-FFF2-40B4-BE49-F238E27FC236}">
                <a16:creationId xmlns:a16="http://schemas.microsoft.com/office/drawing/2014/main" id="{C70F90B6-CB52-4321-83F4-F1D37EA7DAB9}"/>
              </a:ext>
            </a:extLst>
          </p:cNvPr>
          <p:cNvSpPr>
            <a:spLocks xmlns:a="http://schemas.openxmlformats.org/drawingml/2006/main" noGrp="1"/>
          </p:cNvSpPr>
          <p:nvPr/>
        </p:nvSpPr>
        <p:spPr>
          <a:xfrm xmlns:a="http://schemas.openxmlformats.org/drawingml/2006/main">
            <a:off x="2524125" y="5753100"/>
            <a:ext cx="7143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66BE7979-0309-4086-99B5-2FEB99A8A68E}"/>
              </a:ext>
            </a:extLst>
          </p:cNvPr>
          <p:cNvSpPr>
            <a:spLocks xmlns:a="http://schemas.openxmlformats.org/drawingml/2006/main" noGrp="1"/>
          </p:cNvSpPr>
          <p:nvPr/>
        </p:nvSpPr>
        <p:spPr>
          <a:xfrm xmlns:a="http://schemas.openxmlformats.org/drawingml/2006/main">
            <a:off x="2695575" y="58769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All 30 values are shown; no run is below one second.</a:t>
            </a:r>
          </a:p>
        </p:txBody>
      </p:sp>
    </p:spTree>
    <p:extLst>
      <p:ext uri="{BB962C8B-B14F-4D97-AF65-F5344CB8AC3E}">
        <p14:creationId xmlns:p14="http://schemas.microsoft.com/office/powerpoint/2010/main" val="1715319804"/>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257026-7FF4-41EA-8B95-FED2DC83692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359F78A2-2E8A-4868-A35D-A22552CE1E1D}"/>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975C0A00-8E72-42D8-A092-4F2BDB343651}"/>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2 — speedup across 30 problem sizes</a:t>
            </a:r>
          </a:p>
        </p:txBody>
      </p:sp>
      <p:sp>
        <p:nvSpPr>
          <p:cNvPr id="4" name="">
            <a:extLst xmlns:a="http://schemas.openxmlformats.org/drawingml/2006/main">
              <a:ext uri="{FF2B5EF4-FFF2-40B4-BE49-F238E27FC236}">
                <a16:creationId xmlns:a16="http://schemas.microsoft.com/office/drawing/2014/main" id="{31DB4CC7-56FC-46C8-9183-5E309DC597B9}"/>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5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2720fb6b84834eeb"/>
          </a:graphicData>
        </a:graphic>
      </p:graphicFrame>
      <p:sp>
        <p:nvSpPr>
          <p:cNvPr id="6" name="">
            <a:extLst xmlns:a="http://schemas.openxmlformats.org/drawingml/2006/main">
              <a:ext uri="{FF2B5EF4-FFF2-40B4-BE49-F238E27FC236}">
                <a16:creationId xmlns:a16="http://schemas.microsoft.com/office/drawing/2014/main" id="{43A16A0B-DF79-4DF7-AF41-5F60E3956A72}"/>
              </a:ext>
            </a:extLst>
          </p:cNvPr>
          <p:cNvSpPr>
            <a:spLocks xmlns:a="http://schemas.openxmlformats.org/drawingml/2006/main" noGrp="1"/>
          </p:cNvSpPr>
          <p:nvPr/>
        </p:nvSpPr>
        <p:spPr>
          <a:xfrm xmlns:a="http://schemas.openxmlformats.org/drawingml/2006/main">
            <a:off x="1381125" y="5753100"/>
            <a:ext cx="9429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0DEDF18B-115C-4434-873A-461A62B939DC}"/>
              </a:ext>
            </a:extLst>
          </p:cNvPr>
          <p:cNvSpPr>
            <a:spLocks xmlns:a="http://schemas.openxmlformats.org/drawingml/2006/main" noGrp="1"/>
          </p:cNvSpPr>
          <p:nvPr/>
        </p:nvSpPr>
        <p:spPr>
          <a:xfrm xmlns:a="http://schemas.openxmlformats.org/drawingml/2006/main">
            <a:off x="1552575" y="5876925"/>
            <a:ext cx="908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MPI stays near 3.3–3.6× at four processes; the OpenMP series is noisier but uses its own matched serial session.</a:t>
            </a:r>
          </a:p>
        </p:txBody>
      </p:sp>
    </p:spTree>
    <p:extLst>
      <p:ext uri="{BB962C8B-B14F-4D97-AF65-F5344CB8AC3E}">
        <p14:creationId xmlns:p14="http://schemas.microsoft.com/office/powerpoint/2010/main" val="1794418865"/>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C08E43-FA35-4AAF-95E1-9949779DF33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8267DF97-4848-42E3-BADA-F105D6691615}"/>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7B0E73E1-C0FA-44D4-B64F-CA1C2A542101}"/>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3 and 6 — Task 1 scaling and Amdahl comparison</a:t>
            </a:r>
          </a:p>
        </p:txBody>
      </p:sp>
      <p:sp>
        <p:nvSpPr>
          <p:cNvPr id="4" name="">
            <a:extLst xmlns:a="http://schemas.openxmlformats.org/drawingml/2006/main">
              <a:ext uri="{FF2B5EF4-FFF2-40B4-BE49-F238E27FC236}">
                <a16:creationId xmlns:a16="http://schemas.microsoft.com/office/drawing/2014/main" id="{16E5355A-DD19-4D0D-9445-8CB838DDE10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6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a98a6c41a1ca42ed"/>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29acba26cc0a4229"/>
          </a:graphicData>
        </a:graphic>
      </p:graphicFrame>
      <p:sp>
        <p:nvSpPr>
          <p:cNvPr id="7" name="">
            <a:extLst xmlns:a="http://schemas.openxmlformats.org/drawingml/2006/main">
              <a:ext uri="{FF2B5EF4-FFF2-40B4-BE49-F238E27FC236}">
                <a16:creationId xmlns:a16="http://schemas.microsoft.com/office/drawing/2014/main" id="{BECD5C75-3A5E-48FB-BC14-57EC45F1BA71}"/>
              </a:ext>
            </a:extLst>
          </p:cNvPr>
          <p:cNvSpPr>
            <a:spLocks xmlns:a="http://schemas.openxmlformats.org/drawingml/2006/main" noGrp="1"/>
          </p:cNvSpPr>
          <p:nvPr/>
        </p:nvSpPr>
        <p:spPr>
          <a:xfrm xmlns:a="http://schemas.openxmlformats.org/drawingml/2006/main">
            <a:off x="1095375" y="5619750"/>
            <a:ext cx="100012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CBC56CE8-C88A-44CD-A269-528B498F0D9D}"/>
              </a:ext>
            </a:extLst>
          </p:cNvPr>
          <p:cNvSpPr>
            <a:spLocks xmlns:a="http://schemas.openxmlformats.org/drawingml/2006/main" noGrp="1"/>
          </p:cNvSpPr>
          <p:nvPr/>
        </p:nvSpPr>
        <p:spPr>
          <a:xfrm xmlns:a="http://schemas.openxmlformats.org/drawingml/2006/main">
            <a:off x="1266825" y="5743575"/>
            <a:ext cx="965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At p = 16: 6.02× empirical versus 12.67× Amdahl — collectives, contention and root-only output are not in the ideal model.</a:t>
            </a:r>
          </a:p>
        </p:txBody>
      </p:sp>
    </p:spTree>
    <p:extLst>
      <p:ext uri="{BB962C8B-B14F-4D97-AF65-F5344CB8AC3E}">
        <p14:creationId xmlns:p14="http://schemas.microsoft.com/office/powerpoint/2010/main" val="34888887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AF6014B-D74A-496B-8078-567B834CB58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81E6C1E6-73D7-4F04-8BD6-877A0B557C59}"/>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519DDE02-317C-447E-A016-6ACA08EFFD6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2: hybrid decomposition and measured balance</a:t>
            </a:r>
          </a:p>
        </p:txBody>
      </p:sp>
      <p:sp>
        <p:nvSpPr>
          <p:cNvPr id="4" name="">
            <a:extLst xmlns:a="http://schemas.openxmlformats.org/drawingml/2006/main">
              <a:ext uri="{FF2B5EF4-FFF2-40B4-BE49-F238E27FC236}">
                <a16:creationId xmlns:a16="http://schemas.microsoft.com/office/drawing/2014/main" id="{76B13B87-25D6-465B-9244-AC41499A3D1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7 / 9</a:t>
            </a:r>
          </a:p>
        </p:txBody>
      </p:sp>
      <p:sp>
        <p:nvSpPr>
          <p:cNvPr id="5" name="">
            <a:extLst xmlns:a="http://schemas.openxmlformats.org/drawingml/2006/main">
              <a:ext uri="{FF2B5EF4-FFF2-40B4-BE49-F238E27FC236}">
                <a16:creationId xmlns:a16="http://schemas.microsoft.com/office/drawing/2014/main" id="{CA7F404E-6701-403F-AA62-7C87C7F9D7CF}"/>
              </a:ext>
            </a:extLst>
          </p:cNvPr>
          <p:cNvSpPr>
            <a:spLocks xmlns:a="http://schemas.openxmlformats.org/drawingml/2006/main" noGrp="1"/>
          </p:cNvSpPr>
          <p:nvPr/>
        </p:nvSpPr>
        <p:spPr>
          <a:xfrm xmlns:a="http://schemas.openxmlformats.org/drawingml/2006/main">
            <a:off x="552450" y="1162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Two-level parallelism</a:t>
            </a:r>
          </a:p>
        </p:txBody>
      </p:sp>
      <p:sp>
        <p:nvSpPr>
          <p:cNvPr id="6" name="">
            <a:extLst xmlns:a="http://schemas.openxmlformats.org/drawingml/2006/main">
              <a:ext uri="{FF2B5EF4-FFF2-40B4-BE49-F238E27FC236}">
                <a16:creationId xmlns:a16="http://schemas.microsoft.com/office/drawing/2014/main" id="{1CF979FB-6303-4119-8A0E-9A38EBD26FF1}"/>
              </a:ext>
            </a:extLst>
          </p:cNvPr>
          <p:cNvSpPr>
            <a:spLocks xmlns:a="http://schemas.openxmlformats.org/drawingml/2006/main" noGrp="1"/>
          </p:cNvSpPr>
          <p:nvPr/>
        </p:nvSpPr>
        <p:spPr>
          <a:xfrm xmlns:a="http://schemas.openxmlformats.org/drawingml/2006/main">
            <a:off x="55245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FDED5502-5FEB-46E9-82F8-471EC8DB42A9}"/>
              </a:ext>
            </a:extLst>
          </p:cNvPr>
          <p:cNvSpPr>
            <a:spLocks xmlns:a="http://schemas.openxmlformats.org/drawingml/2006/main" noGrp="1"/>
          </p:cNvSpPr>
          <p:nvPr/>
        </p:nvSpPr>
        <p:spPr>
          <a:xfrm xmlns:a="http://schemas.openxmlformats.org/drawingml/2006/main">
            <a:off x="66675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3B6FB6"/>
                </a:solidFill>
                <a:latin typeface="Arial"/>
                <a:ea typeface="Arial"/>
                <a:cs typeface="Arial"/>
              </a:defRPr>
            </a:pPr>
            <a:r>
              <a:rPr sz="1575" b="1" i="0">
                <a:solidFill>
                  <a:srgbClr val="3B6FB6"/>
                </a:solidFill>
                <a:latin typeface="Arial"/>
                <a:ea typeface="Arial"/>
                <a:cs typeface="Arial"/>
              </a:rPr>
              <a:t>MPI</a:t>
            </a:r>
          </a:p>
        </p:txBody>
      </p:sp>
      <p:sp>
        <p:nvSpPr>
          <p:cNvPr id="8" name="">
            <a:extLst xmlns:a="http://schemas.openxmlformats.org/drawingml/2006/main">
              <a:ext uri="{FF2B5EF4-FFF2-40B4-BE49-F238E27FC236}">
                <a16:creationId xmlns:a16="http://schemas.microsoft.com/office/drawing/2014/main" id="{398B1C14-15C3-4A35-8FE7-CAA4A55E97E4}"/>
              </a:ext>
            </a:extLst>
          </p:cNvPr>
          <p:cNvSpPr>
            <a:spLocks xmlns:a="http://schemas.openxmlformats.org/drawingml/2006/main" noGrp="1"/>
          </p:cNvSpPr>
          <p:nvPr/>
        </p:nvSpPr>
        <p:spPr>
          <a:xfrm xmlns:a="http://schemas.openxmlformats.org/drawingml/2006/main">
            <a:off x="66675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63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block-cyclic chunks</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across processes</a:t>
            </a:r>
          </a:p>
        </p:txBody>
      </p:sp>
      <p:sp>
        <p:nvSpPr>
          <p:cNvPr id="9" name="">
            <a:extLst xmlns:a="http://schemas.openxmlformats.org/drawingml/2006/main">
              <a:ext uri="{FF2B5EF4-FFF2-40B4-BE49-F238E27FC236}">
                <a16:creationId xmlns:a16="http://schemas.microsoft.com/office/drawing/2014/main" id="{A3A73575-E408-4B6D-AAE6-8B4C7FD638AF}"/>
              </a:ext>
            </a:extLst>
          </p:cNvPr>
          <p:cNvSpPr>
            <a:spLocks xmlns:a="http://schemas.openxmlformats.org/drawingml/2006/main" noGrp="1"/>
          </p:cNvSpPr>
          <p:nvPr/>
        </p:nvSpPr>
        <p:spPr>
          <a:xfrm xmlns:a="http://schemas.openxmlformats.org/drawingml/2006/main">
            <a:off x="2047875"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6B975890-4C87-4997-96B3-4D96E7A19908}"/>
              </a:ext>
            </a:extLst>
          </p:cNvPr>
          <p:cNvSpPr>
            <a:spLocks xmlns:a="http://schemas.openxmlformats.org/drawingml/2006/main" noGrp="1"/>
          </p:cNvSpPr>
          <p:nvPr/>
        </p:nvSpPr>
        <p:spPr>
          <a:xfrm xmlns:a="http://schemas.openxmlformats.org/drawingml/2006/main">
            <a:off x="2295525"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007C83"/>
            </a:solidFill>
          </a:ln>
        </p:spPr>
      </p:sp>
      <p:sp>
        <p:nvSpPr>
          <p:cNvPr id="11" name="">
            <a:extLst xmlns:a="http://schemas.openxmlformats.org/drawingml/2006/main">
              <a:ext uri="{FF2B5EF4-FFF2-40B4-BE49-F238E27FC236}">
                <a16:creationId xmlns:a16="http://schemas.microsoft.com/office/drawing/2014/main" id="{5B76215A-AECF-4428-9ACE-1919BBA8762E}"/>
              </a:ext>
            </a:extLst>
          </p:cNvPr>
          <p:cNvSpPr>
            <a:spLocks xmlns:a="http://schemas.openxmlformats.org/drawingml/2006/main" noGrp="1"/>
          </p:cNvSpPr>
          <p:nvPr/>
        </p:nvSpPr>
        <p:spPr>
          <a:xfrm xmlns:a="http://schemas.openxmlformats.org/drawingml/2006/main">
            <a:off x="2409825"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007C83"/>
                </a:solidFill>
                <a:latin typeface="Arial"/>
                <a:ea typeface="Arial"/>
                <a:cs typeface="Arial"/>
              </a:defRPr>
            </a:pPr>
            <a:r>
              <a:rPr sz="1575" b="1" i="0">
                <a:solidFill>
                  <a:srgbClr val="007C83"/>
                </a:solidFill>
                <a:latin typeface="Arial"/>
                <a:ea typeface="Arial"/>
                <a:cs typeface="Arial"/>
              </a:rPr>
              <a:t>OpenMP</a:t>
            </a:r>
          </a:p>
        </p:txBody>
      </p:sp>
      <p:sp>
        <p:nvSpPr>
          <p:cNvPr id="12" name="">
            <a:extLst xmlns:a="http://schemas.openxmlformats.org/drawingml/2006/main">
              <a:ext uri="{FF2B5EF4-FFF2-40B4-BE49-F238E27FC236}">
                <a16:creationId xmlns:a16="http://schemas.microsoft.com/office/drawing/2014/main" id="{5EBD9723-9E07-4257-8EE7-702FF19C4EC0}"/>
              </a:ext>
            </a:extLst>
          </p:cNvPr>
          <p:cNvSpPr>
            <a:spLocks xmlns:a="http://schemas.openxmlformats.org/drawingml/2006/main" noGrp="1"/>
          </p:cNvSpPr>
          <p:nvPr/>
        </p:nvSpPr>
        <p:spPr>
          <a:xfrm xmlns:a="http://schemas.openxmlformats.org/drawingml/2006/main">
            <a:off x="2409825"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97"/>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dynamic schedule(64)</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inside each process</a:t>
            </a:r>
          </a:p>
        </p:txBody>
      </p:sp>
      <p:sp>
        <p:nvSpPr>
          <p:cNvPr id="13" name="">
            <a:extLst xmlns:a="http://schemas.openxmlformats.org/drawingml/2006/main">
              <a:ext uri="{FF2B5EF4-FFF2-40B4-BE49-F238E27FC236}">
                <a16:creationId xmlns:a16="http://schemas.microsoft.com/office/drawing/2014/main" id="{EA3E3962-5A4F-4E64-B95A-73144F28FF2D}"/>
              </a:ext>
            </a:extLst>
          </p:cNvPr>
          <p:cNvSpPr>
            <a:spLocks xmlns:a="http://schemas.openxmlformats.org/drawingml/2006/main" noGrp="1"/>
          </p:cNvSpPr>
          <p:nvPr/>
        </p:nvSpPr>
        <p:spPr>
          <a:xfrm xmlns:a="http://schemas.openxmlformats.org/drawingml/2006/main">
            <a:off x="3790950"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777DEEC3-704D-4BCA-9983-4384418C29D8}"/>
              </a:ext>
            </a:extLst>
          </p:cNvPr>
          <p:cNvSpPr>
            <a:spLocks xmlns:a="http://schemas.openxmlformats.org/drawingml/2006/main" noGrp="1"/>
          </p:cNvSpPr>
          <p:nvPr/>
        </p:nvSpPr>
        <p:spPr>
          <a:xfrm xmlns:a="http://schemas.openxmlformats.org/drawingml/2006/main">
            <a:off x="403860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F28E2B"/>
            </a:solidFill>
          </a:ln>
        </p:spPr>
      </p:sp>
      <p:sp>
        <p:nvSpPr>
          <p:cNvPr id="15" name="">
            <a:extLst xmlns:a="http://schemas.openxmlformats.org/drawingml/2006/main">
              <a:ext uri="{FF2B5EF4-FFF2-40B4-BE49-F238E27FC236}">
                <a16:creationId xmlns:a16="http://schemas.microsoft.com/office/drawing/2014/main" id="{76ECFFDC-3A17-4F46-AF03-F51489BF2534}"/>
              </a:ext>
            </a:extLst>
          </p:cNvPr>
          <p:cNvSpPr>
            <a:spLocks xmlns:a="http://schemas.openxmlformats.org/drawingml/2006/main" noGrp="1"/>
          </p:cNvSpPr>
          <p:nvPr/>
        </p:nvSpPr>
        <p:spPr>
          <a:xfrm xmlns:a="http://schemas.openxmlformats.org/drawingml/2006/main">
            <a:off x="415290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F28E2B"/>
                </a:solidFill>
                <a:latin typeface="Arial"/>
                <a:ea typeface="Arial"/>
                <a:cs typeface="Arial"/>
              </a:defRPr>
            </a:pPr>
            <a:r>
              <a:rPr sz="1575" b="1" i="0">
                <a:solidFill>
                  <a:srgbClr val="F28E2B"/>
                </a:solidFill>
                <a:latin typeface="Arial"/>
                <a:ea typeface="Arial"/>
                <a:cs typeface="Arial"/>
              </a:rPr>
              <a:t>Rank 0</a:t>
            </a:r>
          </a:p>
        </p:txBody>
      </p:sp>
      <p:sp>
        <p:nvSpPr>
          <p:cNvPr id="16" name="">
            <a:extLst xmlns:a="http://schemas.openxmlformats.org/drawingml/2006/main">
              <a:ext uri="{FF2B5EF4-FFF2-40B4-BE49-F238E27FC236}">
                <a16:creationId xmlns:a16="http://schemas.microsoft.com/office/drawing/2014/main" id="{374ED8A4-4B5F-4D75-A41B-F49DB91E9AB4}"/>
              </a:ext>
            </a:extLst>
          </p:cNvPr>
          <p:cNvSpPr>
            <a:spLocks xmlns:a="http://schemas.openxmlformats.org/drawingml/2006/main" noGrp="1"/>
          </p:cNvSpPr>
          <p:nvPr/>
        </p:nvSpPr>
        <p:spPr>
          <a:xfrm xmlns:a="http://schemas.openxmlformats.org/drawingml/2006/main">
            <a:off x="415290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k-way merge +</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buffered output</a:t>
            </a:r>
          </a:p>
        </p:txBody>
      </p:sp>
      <p:sp>
        <p:nvSpPr>
          <p:cNvPr id="17" name="">
            <a:extLst xmlns:a="http://schemas.openxmlformats.org/drawingml/2006/main">
              <a:ext uri="{FF2B5EF4-FFF2-40B4-BE49-F238E27FC236}">
                <a16:creationId xmlns:a16="http://schemas.microsoft.com/office/drawing/2014/main" id="{05C816C7-E33B-40D9-93F1-C2FFF5AB8B8C}"/>
              </a:ext>
            </a:extLst>
          </p:cNvPr>
          <p:cNvSpPr>
            <a:spLocks xmlns:a="http://schemas.openxmlformats.org/drawingml/2006/main" noGrp="1"/>
          </p:cNvSpPr>
          <p:nvPr/>
        </p:nvSpPr>
        <p:spPr>
          <a:xfrm xmlns:a="http://schemas.openxmlformats.org/drawingml/2006/main">
            <a:off x="552450" y="3314700"/>
            <a:ext cx="4962525" cy="2000250"/>
          </a:xfrm>
          <a:prstGeom xmlns:a="http://schemas.openxmlformats.org/drawingml/2006/main" prst="roundRect">
            <a:avLst>
              <a:gd name="adj" fmla="val 3810"/>
            </a:avLst>
          </a:prstGeom>
          <a:solidFill xmlns:a="http://schemas.openxmlformats.org/drawingml/2006/main">
            <a:srgbClr val="E6FFFA"/>
          </a:solidFill>
          <a:ln xmlns:a="http://schemas.openxmlformats.org/drawingml/2006/main" w="9525">
            <a:solidFill>
              <a:srgbClr val="9ED9D5"/>
            </a:solidFill>
          </a:ln>
        </p:spPr>
      </p:sp>
      <p:sp>
        <p:nvSpPr>
          <p:cNvPr id="18" name="">
            <a:extLst xmlns:a="http://schemas.openxmlformats.org/drawingml/2006/main">
              <a:ext uri="{FF2B5EF4-FFF2-40B4-BE49-F238E27FC236}">
                <a16:creationId xmlns:a16="http://schemas.microsoft.com/office/drawing/2014/main" id="{92B5E21D-B0C1-40B1-8D63-A8FB4B42AE00}"/>
              </a:ext>
            </a:extLst>
          </p:cNvPr>
          <p:cNvSpPr>
            <a:spLocks xmlns:a="http://schemas.openxmlformats.org/drawingml/2006/main" noGrp="1"/>
          </p:cNvSpPr>
          <p:nvPr/>
        </p:nvSpPr>
        <p:spPr>
          <a:xfrm xmlns:a="http://schemas.openxmlformats.org/drawingml/2006/main">
            <a:off x="781050" y="35433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005F66"/>
                </a:solidFill>
                <a:latin typeface="Arial"/>
                <a:ea typeface="Arial"/>
                <a:cs typeface="Arial"/>
              </a:defRPr>
            </a:pPr>
            <a:r>
              <a:rPr sz="1425" b="1" i="0">
                <a:solidFill>
                  <a:srgbClr val="005F66"/>
                </a:solidFill>
                <a:latin typeface="Arial"/>
                <a:ea typeface="Arial"/>
                <a:cs typeface="Arial"/>
              </a:rPr>
              <a:t>Why dynamic scheduling remains useful</a:t>
            </a:r>
          </a:p>
        </p:txBody>
      </p:sp>
      <p:sp>
        <p:nvSpPr>
          <p:cNvPr id="19" name="">
            <a:extLst xmlns:a="http://schemas.openxmlformats.org/drawingml/2006/main">
              <a:ext uri="{FF2B5EF4-FFF2-40B4-BE49-F238E27FC236}">
                <a16:creationId xmlns:a16="http://schemas.microsoft.com/office/drawing/2014/main" id="{6B5210E5-6469-4C60-B68A-8058A0370D09}"/>
              </a:ext>
            </a:extLst>
          </p:cNvPr>
          <p:cNvSpPr>
            <a:spLocks xmlns:a="http://schemas.openxmlformats.org/drawingml/2006/main" noGrp="1"/>
          </p:cNvSpPr>
          <p:nvPr/>
        </p:nvSpPr>
        <p:spPr>
          <a:xfrm xmlns:a="http://schemas.openxmlformats.org/drawingml/2006/main">
            <a:off x="781050" y="39814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Trial division has irregular per-candidate cost. MPI chunks balance rank-level work; OpenMP dynamic scheduling smooths the remaining variation between threads without changing output order.</a:t>
            </a:r>
          </a:p>
        </p:txBody>
      </p:sp>
      <p:sp>
        <p:nvSpPr>
          <p:cNvPr id="20" name="">
            <a:extLst xmlns:a="http://schemas.openxmlformats.org/drawingml/2006/main">
              <a:ext uri="{FF2B5EF4-FFF2-40B4-BE49-F238E27FC236}">
                <a16:creationId xmlns:a16="http://schemas.microsoft.com/office/drawing/2014/main" id="{C82C0533-1C9A-448E-9A5C-C85063AA7DE9}"/>
              </a:ext>
            </a:extLst>
          </p:cNvPr>
          <p:cNvSpPr>
            <a:spLocks xmlns:a="http://schemas.openxmlformats.org/drawingml/2006/main" noGrp="1"/>
          </p:cNvSpPr>
          <p:nvPr/>
        </p:nvSpPr>
        <p:spPr>
          <a:xfrm xmlns:a="http://schemas.openxmlformats.org/drawingml/2006/main">
            <a:off x="5943600" y="1200150"/>
            <a:ext cx="569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Representative local execution at n = 60M</a:t>
            </a:r>
          </a:p>
        </p:txBody>
      </p:sp>
      <p:graphicFrame>
        <p:nvGraphicFramePr>
          <p:cNvPr id="54" name=""/>
          <p:cNvGraphicFramePr/>
          <p:nvPr/>
        </p:nvGraphicFramePr>
        <p:xfrm>
          <a:off xmlns:a="http://schemas.openxmlformats.org/drawingml/2006/main" x="5943600" y="1638300"/>
          <a:ext xmlns:a="http://schemas.openxmlformats.org/drawingml/2006/main" cx="5695950" cy="1581150"/>
        </p:xfrm>
        <a:graphic xmlns:a="http://schemas.openxmlformats.org/drawingml/2006/main">
          <a:graphicData uri="http://schemas.openxmlformats.org/drawingml/2006/table">
            <a:tbl>
              <a:tblPr firstRow="1" bandRow="0"/>
              <a:tblGrid>
                <a:gridCol w="1047750"/>
                <a:gridCol w="1190625"/>
                <a:gridCol w="1190625"/>
                <a:gridCol w="1190625"/>
                <a:gridCol w="1076325"/>
              </a:tblGrid>
              <a:tr h="52705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Configuration</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min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max/min</a:t>
                      </a:r>
                    </a:p>
                  </a:txBody>
                  <a:tcPr marL="76200" marR="76200" marT="57150" marB="57150" anchor="ctr">
                    <a:solidFill>
                      <a:srgbClr val="005F66"/>
                    </a:solidFill>
                  </a:tcPr>
                </a:tc>
              </a:tr>
              <a:tr h="527050">
                <a:tc>
                  <a:txBody>
                    <a:bodyPr/>
                    <a:lstStyle/>
                    <a:p>
                      <a:r>
                        <a:rPr sz="900">
                          <a:solidFill>
                            <a:srgbClr val="102A43"/>
                          </a:solidFill>
                          <a:latin typeface="Arial"/>
                          <a:ea typeface="Arial"/>
                          <a:cs typeface="Arial"/>
                        </a:rPr>
                        <a:t>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4 ranks</a:t>
                      </a:r>
                    </a:p>
                  </a:txBody>
                  <a:tcPr marL="76200" marR="76200" marT="47625" marB="47625" anchor="ctr">
                    <a:solidFill>
                      <a:srgbClr val="FFFFFF"/>
                    </a:solidFill>
                  </a:tcPr>
                </a:tc>
                <a:tc>
                  <a:txBody>
                    <a:bodyPr/>
                    <a:lstStyle/>
                    <a:p>
                      <a:r>
                        <a:rPr sz="900">
                          <a:solidFill>
                            <a:srgbClr val="102A43"/>
                          </a:solidFill>
                          <a:latin typeface="Arial"/>
                          <a:ea typeface="Arial"/>
                          <a:cs typeface="Arial"/>
                        </a:rPr>
                        <a:t>6.446 s</a:t>
                      </a:r>
                    </a:p>
                  </a:txBody>
                  <a:tcPr marL="76200" marR="76200" marT="47625" marB="47625" anchor="ctr">
                    <a:solidFill>
                      <a:srgbClr val="FFFFFF"/>
                    </a:solidFill>
                  </a:tcPr>
                </a:tc>
                <a:tc>
                  <a:txBody>
                    <a:bodyPr/>
                    <a:lstStyle/>
                    <a:p>
                      <a:r>
                        <a:rPr sz="900">
                          <a:solidFill>
                            <a:srgbClr val="102A43"/>
                          </a:solidFill>
                          <a:latin typeface="Arial"/>
                          <a:ea typeface="Arial"/>
                          <a:cs typeface="Arial"/>
                        </a:rPr>
                        <a:t>6.507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1.009</a:t>
                      </a:r>
                    </a:p>
                  </a:txBody>
                  <a:tcPr marL="76200" marR="76200" marT="47625" marB="47625" anchor="ctr">
                    <a:solidFill>
                      <a:srgbClr val="FFFFFF"/>
                    </a:solidFill>
                  </a:tcPr>
                </a:tc>
              </a:tr>
              <a:tr h="527050">
                <a:tc>
                  <a:txBody>
                    <a:bodyPr/>
                    <a:lstStyle/>
                    <a:p>
                      <a:r>
                        <a:rPr sz="900">
                          <a:solidFill>
                            <a:srgbClr val="102A43"/>
                          </a:solidFill>
                          <a:latin typeface="Arial"/>
                          <a:ea typeface="Arial"/>
                          <a:cs typeface="Arial"/>
                        </a:rPr>
                        <a:t>Task 2</a:t>
                      </a:r>
                    </a:p>
                  </a:txBody>
                  <a:tcPr marL="76200" marR="76200" marT="47625" marB="47625" anchor="ctr">
                    <a:solidFill>
                      <a:srgbClr val="FFFFFF"/>
                    </a:solidFill>
                  </a:tcPr>
                </a:tc>
                <a:tc>
                  <a:txBody>
                    <a:bodyPr/>
                    <a:lstStyle/>
                    <a:p>
                      <a:r>
                        <a:rPr sz="900">
                          <a:solidFill>
                            <a:srgbClr val="102A43"/>
                          </a:solidFill>
                          <a:latin typeface="Arial"/>
                          <a:ea typeface="Arial"/>
                          <a:cs typeface="Arial"/>
                        </a:rPr>
                        <a:t>4 × 2</a:t>
                      </a:r>
                    </a:p>
                  </a:txBody>
                  <a:tcPr marL="76200" marR="76200" marT="47625" marB="47625" anchor="ctr">
                    <a:solidFill>
                      <a:srgbClr val="FFFFFF"/>
                    </a:solidFill>
                  </a:tcPr>
                </a:tc>
                <a:tc>
                  <a:txBody>
                    <a:bodyPr/>
                    <a:lstStyle/>
                    <a:p>
                      <a:r>
                        <a:rPr sz="900">
                          <a:solidFill>
                            <a:srgbClr val="102A43"/>
                          </a:solidFill>
                          <a:latin typeface="Arial"/>
                          <a:ea typeface="Arial"/>
                          <a:cs typeface="Arial"/>
                        </a:rPr>
                        <a:t>4.567 s</a:t>
                      </a:r>
                    </a:p>
                  </a:txBody>
                  <a:tcPr marL="76200" marR="76200" marT="47625" marB="47625" anchor="ctr">
                    <a:solidFill>
                      <a:srgbClr val="FFFFFF"/>
                    </a:solidFill>
                  </a:tcPr>
                </a:tc>
                <a:tc>
                  <a:txBody>
                    <a:bodyPr/>
                    <a:lstStyle/>
                    <a:p>
                      <a:r>
                        <a:rPr sz="900">
                          <a:solidFill>
                            <a:srgbClr val="102A43"/>
                          </a:solidFill>
                          <a:latin typeface="Arial"/>
                          <a:ea typeface="Arial"/>
                          <a:cs typeface="Arial"/>
                        </a:rPr>
                        <a:t>4.685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1.026</a:t>
                      </a:r>
                    </a:p>
                  </a:txBody>
                  <a:tcPr marL="76200" marR="76200" marT="47625" marB="47625" anchor="ctr">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B7720B8A-F406-4663-87FC-F82A59B57954}"/>
              </a:ext>
            </a:extLst>
          </p:cNvPr>
          <p:cNvSpPr>
            <a:spLocks xmlns:a="http://schemas.openxmlformats.org/drawingml/2006/main" noGrp="1"/>
          </p:cNvSpPr>
          <p:nvPr/>
        </p:nvSpPr>
        <p:spPr>
          <a:xfrm xmlns:a="http://schemas.openxmlformats.org/drawingml/2006/main">
            <a:off x="59436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3" name="">
            <a:extLst xmlns:a="http://schemas.openxmlformats.org/drawingml/2006/main">
              <a:ext uri="{FF2B5EF4-FFF2-40B4-BE49-F238E27FC236}">
                <a16:creationId xmlns:a16="http://schemas.microsoft.com/office/drawing/2014/main" id="{CF5EE7A3-DE65-411D-BADF-A2BF06287F2B}"/>
              </a:ext>
            </a:extLst>
          </p:cNvPr>
          <p:cNvSpPr>
            <a:spLocks xmlns:a="http://schemas.openxmlformats.org/drawingml/2006/main" noGrp="1"/>
          </p:cNvSpPr>
          <p:nvPr/>
        </p:nvSpPr>
        <p:spPr>
          <a:xfrm xmlns:a="http://schemas.openxmlformats.org/drawingml/2006/main">
            <a:off x="5943600" y="3581400"/>
            <a:ext cx="66675" cy="171450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24" name="">
            <a:extLst xmlns:a="http://schemas.openxmlformats.org/drawingml/2006/main">
              <a:ext uri="{FF2B5EF4-FFF2-40B4-BE49-F238E27FC236}">
                <a16:creationId xmlns:a16="http://schemas.microsoft.com/office/drawing/2014/main" id="{8A62AA4A-4CDB-45AE-9B06-C754D2D98FA2}"/>
              </a:ext>
            </a:extLst>
          </p:cNvPr>
          <p:cNvSpPr>
            <a:spLocks xmlns:a="http://schemas.openxmlformats.org/drawingml/2006/main" noGrp="1"/>
          </p:cNvSpPr>
          <p:nvPr/>
        </p:nvSpPr>
        <p:spPr>
          <a:xfrm xmlns:a="http://schemas.openxmlformats.org/drawingml/2006/main">
            <a:off x="61531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1</a:t>
            </a:r>
          </a:p>
        </p:txBody>
      </p:sp>
      <p:sp>
        <p:nvSpPr>
          <p:cNvPr id="25" name="">
            <a:extLst xmlns:a="http://schemas.openxmlformats.org/drawingml/2006/main">
              <a:ext uri="{FF2B5EF4-FFF2-40B4-BE49-F238E27FC236}">
                <a16:creationId xmlns:a16="http://schemas.microsoft.com/office/drawing/2014/main" id="{FB01C56A-7A43-402F-90A3-4759ED88E6A5}"/>
              </a:ext>
            </a:extLst>
          </p:cNvPr>
          <p:cNvSpPr>
            <a:spLocks xmlns:a="http://schemas.openxmlformats.org/drawingml/2006/main" noGrp="1"/>
          </p:cNvSpPr>
          <p:nvPr/>
        </p:nvSpPr>
        <p:spPr>
          <a:xfrm xmlns:a="http://schemas.openxmlformats.org/drawingml/2006/main">
            <a:off x="61531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6.97 s</a:t>
            </a:r>
          </a:p>
        </p:txBody>
      </p:sp>
      <p:sp>
        <p:nvSpPr>
          <p:cNvPr id="26" name="">
            <a:extLst xmlns:a="http://schemas.openxmlformats.org/drawingml/2006/main">
              <a:ext uri="{FF2B5EF4-FFF2-40B4-BE49-F238E27FC236}">
                <a16:creationId xmlns:a16="http://schemas.microsoft.com/office/drawing/2014/main" id="{76AB41AE-1259-4E4A-BE7C-C1A761DDB167}"/>
              </a:ext>
            </a:extLst>
          </p:cNvPr>
          <p:cNvSpPr>
            <a:spLocks xmlns:a="http://schemas.openxmlformats.org/drawingml/2006/main" noGrp="1"/>
          </p:cNvSpPr>
          <p:nvPr/>
        </p:nvSpPr>
        <p:spPr>
          <a:xfrm xmlns:a="http://schemas.openxmlformats.org/drawingml/2006/main">
            <a:off x="61531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processes</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27" name="">
            <a:extLst xmlns:a="http://schemas.openxmlformats.org/drawingml/2006/main">
              <a:ext uri="{FF2B5EF4-FFF2-40B4-BE49-F238E27FC236}">
                <a16:creationId xmlns:a16="http://schemas.microsoft.com/office/drawing/2014/main" id="{A7B61CB6-529A-4B88-98D5-F44988767EC8}"/>
              </a:ext>
            </a:extLst>
          </p:cNvPr>
          <p:cNvSpPr>
            <a:spLocks xmlns:a="http://schemas.openxmlformats.org/drawingml/2006/main" noGrp="1"/>
          </p:cNvSpPr>
          <p:nvPr/>
        </p:nvSpPr>
        <p:spPr>
          <a:xfrm xmlns:a="http://schemas.openxmlformats.org/drawingml/2006/main">
            <a:off x="89535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8" name="">
            <a:extLst xmlns:a="http://schemas.openxmlformats.org/drawingml/2006/main">
              <a:ext uri="{FF2B5EF4-FFF2-40B4-BE49-F238E27FC236}">
                <a16:creationId xmlns:a16="http://schemas.microsoft.com/office/drawing/2014/main" id="{70BDB332-4813-41F6-B8D3-7AA66AB2081C}"/>
              </a:ext>
            </a:extLst>
          </p:cNvPr>
          <p:cNvSpPr>
            <a:spLocks xmlns:a="http://schemas.openxmlformats.org/drawingml/2006/main" noGrp="1"/>
          </p:cNvSpPr>
          <p:nvPr/>
        </p:nvSpPr>
        <p:spPr>
          <a:xfrm xmlns:a="http://schemas.openxmlformats.org/drawingml/2006/main">
            <a:off x="8953500" y="3581400"/>
            <a:ext cx="66675" cy="171450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9" name="">
            <a:extLst xmlns:a="http://schemas.openxmlformats.org/drawingml/2006/main">
              <a:ext uri="{FF2B5EF4-FFF2-40B4-BE49-F238E27FC236}">
                <a16:creationId xmlns:a16="http://schemas.microsoft.com/office/drawing/2014/main" id="{217C09FB-7C56-4AC7-AE27-0B80BA745A1A}"/>
              </a:ext>
            </a:extLst>
          </p:cNvPr>
          <p:cNvSpPr>
            <a:spLocks xmlns:a="http://schemas.openxmlformats.org/drawingml/2006/main" noGrp="1"/>
          </p:cNvSpPr>
          <p:nvPr/>
        </p:nvSpPr>
        <p:spPr>
          <a:xfrm xmlns:a="http://schemas.openxmlformats.org/drawingml/2006/main">
            <a:off x="91630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2</a:t>
            </a:r>
          </a:p>
        </p:txBody>
      </p:sp>
      <p:sp>
        <p:nvSpPr>
          <p:cNvPr id="30" name="">
            <a:extLst xmlns:a="http://schemas.openxmlformats.org/drawingml/2006/main">
              <a:ext uri="{FF2B5EF4-FFF2-40B4-BE49-F238E27FC236}">
                <a16:creationId xmlns:a16="http://schemas.microsoft.com/office/drawing/2014/main" id="{409D1D27-A409-47B3-AA36-0908B2E0D703}"/>
              </a:ext>
            </a:extLst>
          </p:cNvPr>
          <p:cNvSpPr>
            <a:spLocks xmlns:a="http://schemas.openxmlformats.org/drawingml/2006/main" noGrp="1"/>
          </p:cNvSpPr>
          <p:nvPr/>
        </p:nvSpPr>
        <p:spPr>
          <a:xfrm xmlns:a="http://schemas.openxmlformats.org/drawingml/2006/main">
            <a:off x="91630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5.16 s</a:t>
            </a:r>
          </a:p>
        </p:txBody>
      </p:sp>
      <p:sp>
        <p:nvSpPr>
          <p:cNvPr id="31" name="">
            <a:extLst xmlns:a="http://schemas.openxmlformats.org/drawingml/2006/main">
              <a:ext uri="{FF2B5EF4-FFF2-40B4-BE49-F238E27FC236}">
                <a16:creationId xmlns:a16="http://schemas.microsoft.com/office/drawing/2014/main" id="{BD081BAD-AA1E-411D-B266-FA311F553226}"/>
              </a:ext>
            </a:extLst>
          </p:cNvPr>
          <p:cNvSpPr>
            <a:spLocks xmlns:a="http://schemas.openxmlformats.org/drawingml/2006/main" noGrp="1"/>
          </p:cNvSpPr>
          <p:nvPr/>
        </p:nvSpPr>
        <p:spPr>
          <a:xfrm xmlns:a="http://schemas.openxmlformats.org/drawingml/2006/main">
            <a:off x="91630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 2 OpenMP</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32" name="">
            <a:extLst xmlns:a="http://schemas.openxmlformats.org/drawingml/2006/main">
              <a:ext uri="{FF2B5EF4-FFF2-40B4-BE49-F238E27FC236}">
                <a16:creationId xmlns:a16="http://schemas.microsoft.com/office/drawing/2014/main" id="{E3E29E47-2BF7-43B3-8E71-15103C403BDF}"/>
              </a:ext>
            </a:extLst>
          </p:cNvPr>
          <p:cNvSpPr>
            <a:spLocks xmlns:a="http://schemas.openxmlformats.org/drawingml/2006/main" noGrp="1"/>
          </p:cNvSpPr>
          <p:nvPr/>
        </p:nvSpPr>
        <p:spPr>
          <a:xfrm xmlns:a="http://schemas.openxmlformats.org/drawingml/2006/main">
            <a:off x="6096000" y="5600700"/>
            <a:ext cx="53911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33" name="">
            <a:extLst xmlns:a="http://schemas.openxmlformats.org/drawingml/2006/main">
              <a:ext uri="{FF2B5EF4-FFF2-40B4-BE49-F238E27FC236}">
                <a16:creationId xmlns:a16="http://schemas.microsoft.com/office/drawing/2014/main" id="{9EC6BA46-75D1-49C8-BFAF-370C174753E7}"/>
              </a:ext>
            </a:extLst>
          </p:cNvPr>
          <p:cNvSpPr>
            <a:spLocks xmlns:a="http://schemas.openxmlformats.org/drawingml/2006/main" noGrp="1"/>
          </p:cNvSpPr>
          <p:nvPr/>
        </p:nvSpPr>
        <p:spPr>
          <a:xfrm xmlns:a="http://schemas.openxmlformats.org/drawingml/2006/main">
            <a:off x="6267450" y="57245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Hybrid speedup over the same 4-rank Task 1 run: 1.35×</a:t>
            </a:r>
          </a:p>
        </p:txBody>
      </p:sp>
    </p:spTree>
    <p:extLst>
      <p:ext uri="{BB962C8B-B14F-4D97-AF65-F5344CB8AC3E}">
        <p14:creationId xmlns:p14="http://schemas.microsoft.com/office/powerpoint/2010/main" val="1735521841"/>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D8F5D6-6136-4AEA-B6B7-13E712020DB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F0514C93-F8A1-4277-AE71-7285C5F3931D}"/>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4818DD88-1A9F-4AFD-A44F-1405DE475CFE}"/>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4 and 5 — hybrid scaling</a:t>
            </a:r>
          </a:p>
        </p:txBody>
      </p:sp>
      <p:sp>
        <p:nvSpPr>
          <p:cNvPr id="4" name="">
            <a:extLst xmlns:a="http://schemas.openxmlformats.org/drawingml/2006/main">
              <a:ext uri="{FF2B5EF4-FFF2-40B4-BE49-F238E27FC236}">
                <a16:creationId xmlns:a16="http://schemas.microsoft.com/office/drawing/2014/main" id="{972BC166-645B-4125-B41D-C410AB01485A}"/>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8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945d28111c6648cf"/>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41ae971c8a9b4f85"/>
          </a:graphicData>
        </a:graphic>
      </p:graphicFrame>
      <p:sp>
        <p:nvSpPr>
          <p:cNvPr id="7" name="">
            <a:extLst xmlns:a="http://schemas.openxmlformats.org/drawingml/2006/main">
              <a:ext uri="{FF2B5EF4-FFF2-40B4-BE49-F238E27FC236}">
                <a16:creationId xmlns:a16="http://schemas.microsoft.com/office/drawing/2014/main" id="{61D93E63-6B3C-4004-90AC-5ABA5A9E9223}"/>
              </a:ext>
            </a:extLst>
          </p:cNvPr>
          <p:cNvSpPr>
            <a:spLocks xmlns:a="http://schemas.openxmlformats.org/drawingml/2006/main" noGrp="1"/>
          </p:cNvSpPr>
          <p:nvPr/>
        </p:nvSpPr>
        <p:spPr>
          <a:xfrm xmlns:a="http://schemas.openxmlformats.org/drawingml/2006/main">
            <a:off x="1333500" y="5619750"/>
            <a:ext cx="95250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F5A89365-A355-4C08-94CB-03DB21CF5AFF}"/>
              </a:ext>
            </a:extLst>
          </p:cNvPr>
          <p:cNvSpPr>
            <a:spLocks xmlns:a="http://schemas.openxmlformats.org/drawingml/2006/main" noGrp="1"/>
          </p:cNvSpPr>
          <p:nvPr/>
        </p:nvSpPr>
        <p:spPr>
          <a:xfrm xmlns:a="http://schemas.openxmlformats.org/drawingml/2006/main">
            <a:off x="1504950" y="5743575"/>
            <a:ext cx="9182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Best measured hybrid point: 8.46× at 1 × 16; 32- and 64-worker configurations (4×8 and 4×16) reduce efficiency.</a:t>
            </a:r>
          </a:p>
        </p:txBody>
      </p:sp>
    </p:spTree>
    <p:extLst>
      <p:ext uri="{BB962C8B-B14F-4D97-AF65-F5344CB8AC3E}">
        <p14:creationId xmlns:p14="http://schemas.microsoft.com/office/powerpoint/2010/main" val="1811915567"/>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B76D34-E584-419E-AF03-A91A8ACF5CE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257B61C5-EC2C-444C-A78A-0ABC656AF07D}"/>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2811912D-1CAA-4703-96A6-45071EC092A1}"/>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7 — hybrid scaling limits</a:t>
            </a:r>
          </a:p>
        </p:txBody>
      </p:sp>
      <p:sp>
        <p:nvSpPr>
          <p:cNvPr id="4" name="">
            <a:extLst xmlns:a="http://schemas.openxmlformats.org/drawingml/2006/main">
              <a:ext uri="{FF2B5EF4-FFF2-40B4-BE49-F238E27FC236}">
                <a16:creationId xmlns:a16="http://schemas.microsoft.com/office/drawing/2014/main" id="{B18C01C6-25A1-40F7-A4D0-1C94B5A321A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9 / 9</a:t>
            </a:r>
          </a:p>
        </p:txBody>
      </p:sp>
      <p:graphicFrame>
        <p:nvGraphicFramePr>
          <p:cNvPr id="17" name="Chart"/>
          <p:cNvGraphicFramePr/>
          <p:nvPr/>
        </p:nvGraphicFramePr>
        <p:xfrm>
          <a:off xmlns:a="http://schemas.openxmlformats.org/drawingml/2006/main" x="476250" y="1143000"/>
          <a:ext xmlns:a="http://schemas.openxmlformats.org/drawingml/2006/main" cx="6238875" cy="4333875"/>
        </p:xfrm>
        <a:graphic xmlns:a="http://schemas.openxmlformats.org/drawingml/2006/main">
          <a:graphicData uri="http://schemas.openxmlformats.org/drawingml/2006/chart">
            <c:chart xmlns:r="http://schemas.openxmlformats.org/officeDocument/2006/relationships" xmlns:c="http://schemas.openxmlformats.org/drawingml/2006/chart" r:id="Rc5c3ff002cf2466c"/>
          </a:graphicData>
        </a:graphic>
      </p:graphicFrame>
      <p:sp>
        <p:nvSpPr>
          <p:cNvPr id="6" name="">
            <a:extLst xmlns:a="http://schemas.openxmlformats.org/drawingml/2006/main">
              <a:ext uri="{FF2B5EF4-FFF2-40B4-BE49-F238E27FC236}">
                <a16:creationId xmlns:a16="http://schemas.microsoft.com/office/drawing/2014/main" id="{E17A345A-4E96-4232-AA45-FB69B3A400F8}"/>
              </a:ext>
            </a:extLst>
          </p:cNvPr>
          <p:cNvSpPr>
            <a:spLocks xmlns:a="http://schemas.openxmlformats.org/drawingml/2006/main" noGrp="1"/>
          </p:cNvSpPr>
          <p:nvPr/>
        </p:nvSpPr>
        <p:spPr>
          <a:xfrm xmlns:a="http://schemas.openxmlformats.org/drawingml/2006/main">
            <a:off x="7105650" y="1162050"/>
            <a:ext cx="45339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E2EC"/>
            </a:solidFill>
          </a:ln>
        </p:spPr>
      </p:sp>
      <p:sp>
        <p:nvSpPr>
          <p:cNvPr id="7" name="">
            <a:extLst xmlns:a="http://schemas.openxmlformats.org/drawingml/2006/main">
              <a:ext uri="{FF2B5EF4-FFF2-40B4-BE49-F238E27FC236}">
                <a16:creationId xmlns:a16="http://schemas.microsoft.com/office/drawing/2014/main" id="{C9EB0895-6EEB-431C-807E-DD7F2CDC84CB}"/>
              </a:ext>
            </a:extLst>
          </p:cNvPr>
          <p:cNvSpPr>
            <a:spLocks xmlns:a="http://schemas.openxmlformats.org/drawingml/2006/main" noGrp="1"/>
          </p:cNvSpPr>
          <p:nvPr/>
        </p:nvSpPr>
        <p:spPr>
          <a:xfrm xmlns:a="http://schemas.openxmlformats.org/drawingml/2006/main">
            <a:off x="7353300" y="13716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Why the curves diverge</a:t>
            </a:r>
          </a:p>
        </p:txBody>
      </p:sp>
      <p:sp>
        <p:nvSpPr>
          <p:cNvPr id="8" name="">
            <a:extLst xmlns:a="http://schemas.openxmlformats.org/drawingml/2006/main">
              <a:ext uri="{FF2B5EF4-FFF2-40B4-BE49-F238E27FC236}">
                <a16:creationId xmlns:a16="http://schemas.microsoft.com/office/drawing/2014/main" id="{609A9E56-9614-4CAD-BA59-F16DBC9E0492}"/>
              </a:ext>
            </a:extLst>
          </p:cNvPr>
          <p:cNvSpPr>
            <a:spLocks xmlns:a="http://schemas.openxmlformats.org/drawingml/2006/main" noGrp="1"/>
          </p:cNvSpPr>
          <p:nvPr/>
        </p:nvSpPr>
        <p:spPr>
          <a:xfrm xmlns:a="http://schemas.openxmlformats.org/drawingml/2006/main">
            <a:off x="7353300" y="1809750"/>
            <a:ext cx="400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MPI collectives and rank-0 aggregation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Memory and scheduler contention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Oversubscription beyond 20 logical CPUs</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Amdahl assumes a fixed, ideal serial fraction</a:t>
            </a:r>
          </a:p>
        </p:txBody>
      </p:sp>
      <p:sp>
        <p:nvSpPr>
          <p:cNvPr id="9" name="">
            <a:extLst xmlns:a="http://schemas.openxmlformats.org/drawingml/2006/main">
              <a:ext uri="{FF2B5EF4-FFF2-40B4-BE49-F238E27FC236}">
                <a16:creationId xmlns:a16="http://schemas.microsoft.com/office/drawing/2014/main" id="{BA59F8CB-7255-4A59-B327-C102315E42EA}"/>
              </a:ext>
            </a:extLst>
          </p:cNvPr>
          <p:cNvSpPr>
            <a:spLocks xmlns:a="http://schemas.openxmlformats.org/drawingml/2006/main" noGrp="1"/>
          </p:cNvSpPr>
          <p:nvPr/>
        </p:nvSpPr>
        <p:spPr>
          <a:xfrm xmlns:a="http://schemas.openxmlformats.org/drawingml/2006/main">
            <a:off x="7105650" y="3371850"/>
            <a:ext cx="4533900" cy="2076450"/>
          </a:xfrm>
          <a:prstGeom xmlns:a="http://schemas.openxmlformats.org/drawingml/2006/main" prst="roundRect">
            <a:avLst>
              <a:gd name="adj" fmla="val 3670"/>
            </a:avLst>
          </a:prstGeom>
          <a:solidFill xmlns:a="http://schemas.openxmlformats.org/drawingml/2006/main">
            <a:srgbClr val="FFF5E6"/>
          </a:solidFill>
          <a:ln xmlns:a="http://schemas.openxmlformats.org/drawingml/2006/main" w="9525">
            <a:solidFill>
              <a:srgbClr val="F5C98A"/>
            </a:solidFill>
          </a:ln>
        </p:spPr>
      </p:sp>
      <p:sp>
        <p:nvSpPr>
          <p:cNvPr id="10" name="">
            <a:extLst xmlns:a="http://schemas.openxmlformats.org/drawingml/2006/main">
              <a:ext uri="{FF2B5EF4-FFF2-40B4-BE49-F238E27FC236}">
                <a16:creationId xmlns:a16="http://schemas.microsoft.com/office/drawing/2014/main" id="{6CB778F3-9F75-4298-8E25-1CCB8E530BCA}"/>
              </a:ext>
            </a:extLst>
          </p:cNvPr>
          <p:cNvSpPr>
            <a:spLocks xmlns:a="http://schemas.openxmlformats.org/drawingml/2006/main" noGrp="1"/>
          </p:cNvSpPr>
          <p:nvPr/>
        </p:nvSpPr>
        <p:spPr>
          <a:xfrm xmlns:a="http://schemas.openxmlformats.org/drawingml/2006/main">
            <a:off x="7353300" y="3581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8A4B08"/>
                </a:solidFill>
                <a:latin typeface="Arial"/>
                <a:ea typeface="Arial"/>
                <a:cs typeface="Arial"/>
              </a:defRPr>
            </a:pPr>
            <a:r>
              <a:rPr sz="1575" b="1" i="0">
                <a:solidFill>
                  <a:srgbClr val="8A4B08"/>
                </a:solidFill>
                <a:latin typeface="Arial"/>
                <a:ea typeface="Arial"/>
                <a:cs typeface="Arial"/>
              </a:rPr>
              <a:t>Limitations and future work</a:t>
            </a:r>
          </a:p>
        </p:txBody>
      </p:sp>
      <p:sp>
        <p:nvSpPr>
          <p:cNvPr id="11" name="">
            <a:extLst xmlns:a="http://schemas.openxmlformats.org/drawingml/2006/main">
              <a:ext uri="{FF2B5EF4-FFF2-40B4-BE49-F238E27FC236}">
                <a16:creationId xmlns:a16="http://schemas.microsoft.com/office/drawing/2014/main" id="{0FF57B4A-E6CC-4592-8325-F9C141F4DE67}"/>
              </a:ext>
            </a:extLst>
          </p:cNvPr>
          <p:cNvSpPr>
            <a:spLocks xmlns:a="http://schemas.openxmlformats.org/drawingml/2006/main" noGrp="1"/>
          </p:cNvSpPr>
          <p:nvPr/>
        </p:nvSpPr>
        <p:spPr>
          <a:xfrm xmlns:a="http://schemas.openxmlformats.org/drawingml/2006/main">
            <a:off x="7353300" y="40195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15"/>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benchmark series is single-node data, so it does not quantify network cost. A two-node CAAS functional run completed successfully. Next: multi-node CAAS measurements, segmented-sieve work units, and distributed output.</a:t>
            </a:r>
          </a:p>
        </p:txBody>
      </p:sp>
      <p:sp>
        <p:nvSpPr>
          <p:cNvPr id="12" name="">
            <a:extLst xmlns:a="http://schemas.openxmlformats.org/drawingml/2006/main">
              <a:ext uri="{FF2B5EF4-FFF2-40B4-BE49-F238E27FC236}">
                <a16:creationId xmlns:a16="http://schemas.microsoft.com/office/drawing/2014/main" id="{828B3DB6-E733-4DA1-B572-0F3F3E999CA7}"/>
              </a:ext>
            </a:extLst>
          </p:cNvPr>
          <p:cNvSpPr>
            <a:spLocks xmlns:a="http://schemas.openxmlformats.org/drawingml/2006/main" noGrp="1"/>
          </p:cNvSpPr>
          <p:nvPr/>
        </p:nvSpPr>
        <p:spPr>
          <a:xfrm xmlns:a="http://schemas.openxmlformats.org/drawingml/2006/main">
            <a:off x="9505950" y="58102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619"/>
          </a:bodyPr>
          <a:lstStyle xmlns:a="http://schemas.openxmlformats.org/drawingml/2006/main"/>
          <a:p xmlns:a="http://schemas.openxmlformats.org/drawingml/2006/main">
            <a:pPr algn="r">
              <a:defRPr sz="2100" b="1" i="0">
                <a:solidFill>
                  <a:srgbClr val="005F66"/>
                </a:solidFill>
                <a:latin typeface="Arial"/>
                <a:ea typeface="Arial"/>
                <a:cs typeface="Arial"/>
              </a:defRPr>
            </a:pPr>
            <a:r>
              <a:rPr sz="2100" b="1" i="0">
                <a:solidFill>
                  <a:srgbClr val="005F66"/>
                </a:solidFill>
                <a:latin typeface="Arial"/>
                <a:ea typeface="Arial"/>
                <a:cs typeface="Arial"/>
              </a:rPr>
              <a:t>Q&amp;A</a:t>
            </a:r>
          </a:p>
        </p:txBody>
      </p:sp>
    </p:spTree>
    <p:extLst>
      <p:ext uri="{BB962C8B-B14F-4D97-AF65-F5344CB8AC3E}">
        <p14:creationId xmlns:p14="http://schemas.microsoft.com/office/powerpoint/2010/main" val="1177222548"/>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875940-193C-4908-808C-4D1DB27DFD3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AA1CF1C9-043E-4F0E-9D4F-2CF23974168C}"/>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E99B30F8-A81F-4136-9875-ABBD8B45C404}"/>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Measured partition and Amdahl evidence</a:t>
            </a:r>
          </a:p>
        </p:txBody>
      </p:sp>
      <p:sp>
        <p:nvSpPr>
          <p:cNvPr id="4" name="">
            <a:extLst xmlns:a="http://schemas.openxmlformats.org/drawingml/2006/main">
              <a:ext uri="{FF2B5EF4-FFF2-40B4-BE49-F238E27FC236}">
                <a16:creationId xmlns:a16="http://schemas.microsoft.com/office/drawing/2014/main" id="{3E8AB11E-F111-4FD4-9E4B-59F69D8DC628}"/>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1</a:t>
            </a:r>
          </a:p>
        </p:txBody>
      </p:sp>
      <p:sp>
        <p:nvSpPr>
          <p:cNvPr id="5" name="">
            <a:extLst xmlns:a="http://schemas.openxmlformats.org/drawingml/2006/main">
              <a:ext uri="{FF2B5EF4-FFF2-40B4-BE49-F238E27FC236}">
                <a16:creationId xmlns:a16="http://schemas.microsoft.com/office/drawing/2014/main" id="{8375A6B5-8F70-4FE1-B78F-48DAD7CE277A}"/>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Partition strategy comparison • n = 20M • median of 3 runs</a:t>
            </a:r>
          </a:p>
        </p:txBody>
      </p:sp>
      <p:graphicFrame>
        <p:nvGraphicFramePr>
          <p:cNvPr id="18" name=""/>
          <p:cNvGraphicFramePr/>
          <p:nvPr/>
        </p:nvGraphicFramePr>
        <p:xfrm>
          <a:off xmlns:a="http://schemas.openxmlformats.org/drawingml/2006/main" x="552450" y="1504950"/>
          <a:ext xmlns:a="http://schemas.openxmlformats.org/drawingml/2006/main" cx="11087100" cy="1866900"/>
        </p:xfrm>
        <a:graphic xmlns:a="http://schemas.openxmlformats.org/drawingml/2006/main">
          <a:graphicData uri="http://schemas.openxmlformats.org/drawingml/2006/table">
            <a:tbl>
              <a:tblPr firstRow="1" bandRow="0"/>
              <a:tblGrid>
                <a:gridCol w="952500"/>
                <a:gridCol w="2381250"/>
                <a:gridCol w="2381250"/>
                <a:gridCol w="2190750"/>
                <a:gridCol w="3181350"/>
              </a:tblGrid>
              <a:tr h="466725">
                <a:tc>
                  <a:txBody>
                    <a:bodyPr/>
                    <a:lstStyle/>
                    <a:p>
                      <a:r>
                        <a:rPr sz="900" b="1">
                          <a:solidFill>
                            <a:srgbClr val="FFFFFF"/>
                          </a:solidFill>
                          <a:latin typeface="Arial"/>
                          <a:ea typeface="Arial"/>
                          <a:cs typeface="Arial"/>
                        </a:rPr>
                        <a: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Pure 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total</a:t>
                      </a:r>
                    </a:p>
                  </a:txBody>
                  <a:tcPr marL="76200" marR="76200" marT="57150" marB="57150" anchor="ctr">
                    <a:solidFill>
                      <a:srgbClr val="005F66"/>
                    </a:solidFill>
                  </a:tcPr>
                </a:tc>
              </a:tr>
              <a:tr h="466725">
                <a:tc>
                  <a:txBody>
                    <a:bodyPr/>
                    <a:lstStyle/>
                    <a:p>
                      <a:r>
                        <a:rPr sz="975">
                          <a:solidFill>
                            <a:srgbClr val="102A43"/>
                          </a:solidFill>
                          <a:latin typeface="Arial"/>
                          <a:ea typeface="Arial"/>
                          <a:cs typeface="Arial"/>
                        </a:rPr>
                        <a:t>3</a:t>
                      </a:r>
                    </a:p>
                  </a:txBody>
                  <a:tcPr marL="76200" marR="76200" marT="47625" marB="47625" anchor="ctr">
                    <a:solidFill>
                      <a:srgbClr val="FFFFFF"/>
                    </a:solidFill>
                  </a:tcPr>
                </a:tc>
                <a:tc>
                  <a:txBody>
                    <a:bodyPr/>
                    <a:lstStyle/>
                    <a:p>
                      <a:r>
                        <a:rPr sz="975">
                          <a:solidFill>
                            <a:srgbClr val="102A43"/>
                          </a:solidFill>
                          <a:latin typeface="Arial"/>
                          <a:ea typeface="Arial"/>
                          <a:cs typeface="Arial"/>
                        </a:rPr>
                        <a:t>1.047</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627.764</a:t>
                      </a:r>
                    </a:p>
                  </a:txBody>
                  <a:tcPr marL="76200" marR="76200" marT="47625" marB="47625" anchor="ctr">
                    <a:solidFill>
                      <a:srgbClr val="FFFFFF"/>
                    </a:solidFill>
                  </a:tcPr>
                </a:tc>
                <a:tc>
                  <a:txBody>
                    <a:bodyPr/>
                    <a:lstStyle/>
                    <a:p>
                      <a:r>
                        <a:rPr sz="975">
                          <a:solidFill>
                            <a:srgbClr val="102A43"/>
                          </a:solidFill>
                          <a:latin typeface="Arial"/>
                          <a:ea typeface="Arial"/>
                          <a:cs typeface="Arial"/>
                        </a:rPr>
                        <a:t>2.204</a:t>
                      </a:r>
                    </a:p>
                  </a:txBody>
                  <a:tcPr marL="76200" marR="76200" marT="47625" marB="47625" anchor="ctr">
                    <a:solidFill>
                      <a:srgbClr val="FFFFFF"/>
                    </a:solidFill>
                  </a:tcPr>
                </a:tc>
                <a:tc>
                  <a:txBody>
                    <a:bodyPr/>
                    <a:lstStyle/>
                    <a:p>
                      <a:r>
                        <a:rPr sz="975">
                          <a:solidFill>
                            <a:srgbClr val="102A43"/>
                          </a:solidFill>
                          <a:latin typeface="Arial"/>
                          <a:ea typeface="Arial"/>
                          <a:cs typeface="Arial"/>
                        </a:rPr>
                        <a:t>1.931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4</a:t>
                      </a:r>
                    </a:p>
                  </a:txBody>
                  <a:tcPr marL="76200" marR="76200" marT="47625" marB="47625" anchor="ctr">
                    <a:solidFill>
                      <a:srgbClr val="FFFFFF"/>
                    </a:solidFill>
                  </a:tcPr>
                </a:tc>
                <a:tc>
                  <a:txBody>
                    <a:bodyPr/>
                    <a:lstStyle/>
                    <a:p>
                      <a:r>
                        <a:rPr sz="975">
                          <a:solidFill>
                            <a:srgbClr val="102A43"/>
                          </a:solidFill>
                          <a:latin typeface="Arial"/>
                          <a:ea typeface="Arial"/>
                          <a:cs typeface="Arial"/>
                        </a:rPr>
                        <a:t>1.058</a:t>
                      </a:r>
                    </a:p>
                  </a:txBody>
                  <a:tcPr marL="76200" marR="76200" marT="47625" marB="47625" anchor="ctr">
                    <a:solidFill>
                      <a:srgbClr val="FFFFFF"/>
                    </a:solidFill>
                  </a:tcPr>
                </a:tc>
                <a:tc>
                  <a:txBody>
                    <a:bodyPr/>
                    <a:lstStyle/>
                    <a:p>
                      <a:r>
                        <a:rPr sz="975">
                          <a:solidFill>
                            <a:srgbClr val="102A43"/>
                          </a:solidFill>
                          <a:latin typeface="Arial"/>
                          <a:ea typeface="Arial"/>
                          <a:cs typeface="Arial"/>
                        </a:rPr>
                        <a:t>1.032</a:t>
                      </a:r>
                    </a:p>
                  </a:txBody>
                  <a:tcPr marL="76200" marR="76200" marT="47625" marB="47625" anchor="ctr">
                    <a:solidFill>
                      <a:srgbClr val="FFFFFF"/>
                    </a:solidFill>
                  </a:tcPr>
                </a:tc>
                <a:tc>
                  <a:txBody>
                    <a:bodyPr/>
                    <a:lstStyle/>
                    <a:p>
                      <a:r>
                        <a:rPr sz="975">
                          <a:solidFill>
                            <a:srgbClr val="102A43"/>
                          </a:solidFill>
                          <a:latin typeface="Arial"/>
                          <a:ea typeface="Arial"/>
                          <a:cs typeface="Arial"/>
                        </a:rPr>
                        <a:t>2.615</a:t>
                      </a:r>
                    </a:p>
                  </a:txBody>
                  <a:tcPr marL="76200" marR="76200" marT="47625" marB="47625" anchor="ctr">
                    <a:solidFill>
                      <a:srgbClr val="FFFFFF"/>
                    </a:solidFill>
                  </a:tcPr>
                </a:tc>
                <a:tc>
                  <a:txBody>
                    <a:bodyPr/>
                    <a:lstStyle/>
                    <a:p>
                      <a:r>
                        <a:rPr sz="975">
                          <a:solidFill>
                            <a:srgbClr val="102A43"/>
                          </a:solidFill>
                          <a:latin typeface="Arial"/>
                          <a:ea typeface="Arial"/>
                          <a:cs typeface="Arial"/>
                        </a:rPr>
                        <a:t>1.581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5</a:t>
                      </a:r>
                    </a:p>
                  </a:txBody>
                  <a:tcPr marL="76200" marR="76200" marT="47625" marB="47625" anchor="ctr">
                    <a:solidFill>
                      <a:srgbClr val="FFFFFF"/>
                    </a:solidFill>
                  </a:tcPr>
                </a:tc>
                <a:tc>
                  <a:txBody>
                    <a:bodyPr/>
                    <a:lstStyle/>
                    <a:p>
                      <a:r>
                        <a:rPr sz="975">
                          <a:solidFill>
                            <a:srgbClr val="102A43"/>
                          </a:solidFill>
                          <a:latin typeface="Arial"/>
                          <a:ea typeface="Arial"/>
                          <a:cs typeface="Arial"/>
                        </a:rPr>
                        <a:t>1.057</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491.084</a:t>
                      </a:r>
                    </a:p>
                  </a:txBody>
                  <a:tcPr marL="76200" marR="76200" marT="47625" marB="47625" anchor="ctr">
                    <a:solidFill>
                      <a:srgbClr val="FFFFFF"/>
                    </a:solidFill>
                  </a:tcPr>
                </a:tc>
                <a:tc>
                  <a:txBody>
                    <a:bodyPr/>
                    <a:lstStyle/>
                    <a:p>
                      <a:r>
                        <a:rPr sz="975">
                          <a:solidFill>
                            <a:srgbClr val="102A43"/>
                          </a:solidFill>
                          <a:latin typeface="Arial"/>
                          <a:ea typeface="Arial"/>
                          <a:cs typeface="Arial"/>
                        </a:rPr>
                        <a:t>2.780</a:t>
                      </a:r>
                    </a:p>
                  </a:txBody>
                  <a:tcPr marL="76200" marR="76200" marT="47625" marB="47625" anchor="ctr">
                    <a:solidFill>
                      <a:srgbClr val="FFFFFF"/>
                    </a:solidFill>
                  </a:tcPr>
                </a:tc>
                <a:tc>
                  <a:txBody>
                    <a:bodyPr/>
                    <a:lstStyle/>
                    <a:p>
                      <a:r>
                        <a:rPr sz="975">
                          <a:solidFill>
                            <a:srgbClr val="102A43"/>
                          </a:solidFill>
                          <a:latin typeface="Arial"/>
                          <a:ea typeface="Arial"/>
                          <a:cs typeface="Arial"/>
                        </a:rPr>
                        <a:t>1.300 s</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D21D57E-D705-4A71-B8C8-35DC00F57FB6}"/>
              </a:ext>
            </a:extLst>
          </p:cNvPr>
          <p:cNvSpPr>
            <a:spLocks xmlns:a="http://schemas.openxmlformats.org/drawingml/2006/main" noGrp="1"/>
          </p:cNvSpPr>
          <p:nvPr/>
        </p:nvSpPr>
        <p:spPr>
          <a:xfrm xmlns:a="http://schemas.openxmlformats.org/drawingml/2006/main">
            <a:off x="552450" y="37338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Amdahl inputs are measured, not assumed</a:t>
            </a:r>
          </a:p>
        </p:txBody>
      </p:sp>
      <p:graphicFrame>
        <p:nvGraphicFramePr>
          <p:cNvPr id="20" name=""/>
          <p:cNvGraphicFramePr/>
          <p:nvPr/>
        </p:nvGraphicFramePr>
        <p:xfrm>
          <a:off xmlns:a="http://schemas.openxmlformats.org/drawingml/2006/main" x="552450" y="4114800"/>
          <a:ext xmlns:a="http://schemas.openxmlformats.org/drawingml/2006/main" cx="6381750" cy="1485900"/>
        </p:xfrm>
        <a:graphic xmlns:a="http://schemas.openxmlformats.org/drawingml/2006/main">
          <a:graphicData uri="http://schemas.openxmlformats.org/drawingml/2006/table">
            <a:tbl>
              <a:tblPr firstRow="1" bandRow="0"/>
              <a:tblGrid>
                <a:gridCol w="1666875"/>
                <a:gridCol w="1476375"/>
                <a:gridCol w="1571625"/>
                <a:gridCol w="1666875"/>
              </a:tblGrid>
              <a:tr h="49530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Ts</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fs = Ts / (Ts+Tp)</a:t>
                      </a:r>
                    </a:p>
                  </a:txBody>
                  <a:tcPr marL="76200" marR="76200" marT="57150" marB="57150" anchor="ctr">
                    <a:solidFill>
                      <a:srgbClr val="005F66"/>
                    </a:solidFill>
                  </a:tcPr>
                </a:tc>
              </a:tr>
              <a:tr h="495300">
                <a:tc>
                  <a:txBody>
                    <a:bodyPr/>
                    <a:lstStyle/>
                    <a:p>
                      <a:r>
                        <a:rPr sz="975">
                          <a:solidFill>
                            <a:srgbClr val="102A43"/>
                          </a:solidFill>
                          <a:latin typeface="Arial"/>
                          <a:ea typeface="Arial"/>
                          <a:cs typeface="Arial"/>
                        </a:rPr>
                        <a:t>Task 1 MPI</a:t>
                      </a:r>
                    </a:p>
                  </a:txBody>
                  <a:tcPr marL="76200" marR="76200" marT="47625" marB="47625" anchor="ctr">
                    <a:solidFill>
                      <a:srgbClr val="FFFFFF"/>
                    </a:solidFill>
                  </a:tcPr>
                </a:tc>
                <a:tc>
                  <a:txBody>
                    <a:bodyPr/>
                    <a:lstStyle/>
                    <a:p>
                      <a:r>
                        <a:rPr sz="975">
                          <a:solidFill>
                            <a:srgbClr val="102A43"/>
                          </a:solidFill>
                          <a:latin typeface="Arial"/>
                          <a:ea typeface="Arial"/>
                          <a:cs typeface="Arial"/>
                        </a:rPr>
                        <a:t>0.427566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23.948293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0.017541</a:t>
                      </a:r>
                    </a:p>
                  </a:txBody>
                  <a:tcPr marL="76200" marR="76200" marT="47625" marB="47625" anchor="ctr">
                    <a:solidFill>
                      <a:srgbClr val="FFFFFF"/>
                    </a:solidFill>
                  </a:tcPr>
                </a:tc>
              </a:tr>
              <a:tr h="495300">
                <a:tc>
                  <a:txBody>
                    <a:bodyPr/>
                    <a:lstStyle/>
                    <a:p>
                      <a:r>
                        <a:rPr sz="975">
                          <a:solidFill>
                            <a:srgbClr val="102A43"/>
                          </a:solidFill>
                          <a:latin typeface="Arial"/>
                          <a:ea typeface="Arial"/>
                          <a:cs typeface="Arial"/>
                        </a:rPr>
                        <a:t>Task 2 hybrid</a:t>
                      </a:r>
                    </a:p>
                  </a:txBody>
                  <a:tcPr marL="76200" marR="76200" marT="47625" marB="47625" anchor="ctr">
                    <a:solidFill>
                      <a:srgbClr val="FFFFFF"/>
                    </a:solidFill>
                  </a:tcPr>
                </a:tc>
                <a:tc>
                  <a:txBody>
                    <a:bodyPr/>
                    <a:lstStyle/>
                    <a:p>
                      <a:r>
                        <a:rPr sz="975">
                          <a:solidFill>
                            <a:srgbClr val="102A43"/>
                          </a:solidFill>
                          <a:latin typeface="Arial"/>
                          <a:ea typeface="Arial"/>
                          <a:cs typeface="Arial"/>
                        </a:rPr>
                        <a:t>0.411327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23.749574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0.017024</a:t>
                      </a:r>
                    </a:p>
                  </a:txBody>
                  <a:tcPr marL="76200" marR="76200" marT="47625" marB="476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15A9ACA7-D48B-486B-BF0A-A7AAC5F2C358}"/>
              </a:ext>
            </a:extLst>
          </p:cNvPr>
          <p:cNvSpPr>
            <a:spLocks xmlns:a="http://schemas.openxmlformats.org/drawingml/2006/main" noGrp="1"/>
          </p:cNvSpPr>
          <p:nvPr/>
        </p:nvSpPr>
        <p:spPr>
          <a:xfrm xmlns:a="http://schemas.openxmlformats.org/drawingml/2006/main">
            <a:off x="7296150" y="3733800"/>
            <a:ext cx="4343400" cy="1866900"/>
          </a:xfrm>
          <a:prstGeom xmlns:a="http://schemas.openxmlformats.org/drawingml/2006/main" prst="roundRect">
            <a:avLst>
              <a:gd name="adj" fmla="val 4082"/>
            </a:avLst>
          </a:prstGeom>
          <a:solidFill xmlns:a="http://schemas.openxmlformats.org/drawingml/2006/main">
            <a:srgbClr val="EBF4FF"/>
          </a:solidFill>
          <a:ln xmlns:a="http://schemas.openxmlformats.org/drawingml/2006/main" w="9525">
            <a:solidFill>
              <a:srgbClr val="B6D4FE"/>
            </a:solidFill>
          </a:ln>
        </p:spPr>
      </p:sp>
      <p:sp>
        <p:nvSpPr>
          <p:cNvPr id="10" name="">
            <a:extLst xmlns:a="http://schemas.openxmlformats.org/drawingml/2006/main">
              <a:ext uri="{FF2B5EF4-FFF2-40B4-BE49-F238E27FC236}">
                <a16:creationId xmlns:a16="http://schemas.microsoft.com/office/drawing/2014/main" id="{8282ED16-83AD-4BA3-A94C-3DCB1BA621AC}"/>
              </a:ext>
            </a:extLst>
          </p:cNvPr>
          <p:cNvSpPr>
            <a:spLocks xmlns:a="http://schemas.openxmlformats.org/drawingml/2006/main" noGrp="1"/>
          </p:cNvSpPr>
          <p:nvPr/>
        </p:nvSpPr>
        <p:spPr>
          <a:xfrm xmlns:a="http://schemas.openxmlformats.org/drawingml/2006/main">
            <a:off x="7543800" y="3943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158"/>
          </a:bodyPr>
          <a:lstStyle xmlns:a="http://schemas.openxmlformats.org/drawingml/2006/main"/>
          <a:p xmlns:a="http://schemas.openxmlformats.org/drawingml/2006/main">
            <a:pPr algn="l">
              <a:defRPr sz="1425" b="1" i="0">
                <a:solidFill>
                  <a:srgbClr val="3B6FB6"/>
                </a:solidFill>
                <a:latin typeface="Arial"/>
                <a:ea typeface="Arial"/>
                <a:cs typeface="Arial"/>
              </a:defRPr>
            </a:pPr>
            <a:r>
              <a:rPr sz="1425" b="1" i="0">
                <a:solidFill>
                  <a:srgbClr val="3B6FB6"/>
                </a:solidFill>
                <a:latin typeface="Arial"/>
                <a:ea typeface="Arial"/>
                <a:cs typeface="Arial"/>
              </a:rPr>
              <a:t>Formula</a:t>
            </a:r>
          </a:p>
        </p:txBody>
      </p:sp>
      <p:sp>
        <p:nvSpPr>
          <p:cNvPr id="11" name="">
            <a:extLst xmlns:a="http://schemas.openxmlformats.org/drawingml/2006/main">
              <a:ext uri="{FF2B5EF4-FFF2-40B4-BE49-F238E27FC236}">
                <a16:creationId xmlns:a16="http://schemas.microsoft.com/office/drawing/2014/main" id="{BFC12DEB-D151-4B6C-A9F0-72EB0FF5C8AD}"/>
              </a:ext>
            </a:extLst>
          </p:cNvPr>
          <p:cNvSpPr>
            <a:spLocks xmlns:a="http://schemas.openxmlformats.org/drawingml/2006/main" noGrp="1"/>
          </p:cNvSpPr>
          <p:nvPr/>
        </p:nvSpPr>
        <p:spPr>
          <a:xfrm xmlns:a="http://schemas.openxmlformats.org/drawingml/2006/main">
            <a:off x="7543800" y="4362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102A43"/>
                </a:solidFill>
                <a:latin typeface="Arial"/>
                <a:ea typeface="Arial"/>
                <a:cs typeface="Arial"/>
              </a:defRPr>
            </a:pPr>
            <a:r>
              <a:rPr sz="1650" b="1" i="0">
                <a:solidFill>
                  <a:srgbClr val="102A43"/>
                </a:solidFill>
                <a:latin typeface="Arial"/>
                <a:ea typeface="Arial"/>
                <a:cs typeface="Arial"/>
              </a:rPr>
              <a:t>S(W) = (Ts + Tp) / (Ts + Tp / W)</a:t>
            </a:r>
          </a:p>
        </p:txBody>
      </p:sp>
      <p:sp>
        <p:nvSpPr>
          <p:cNvPr id="12" name="">
            <a:extLst xmlns:a="http://schemas.openxmlformats.org/drawingml/2006/main">
              <a:ext uri="{FF2B5EF4-FFF2-40B4-BE49-F238E27FC236}">
                <a16:creationId xmlns:a16="http://schemas.microsoft.com/office/drawing/2014/main" id="{3630C4B3-E315-4275-8730-3CE3D7356761}"/>
              </a:ext>
            </a:extLst>
          </p:cNvPr>
          <p:cNvSpPr>
            <a:spLocks xmlns:a="http://schemas.openxmlformats.org/drawingml/2006/main" noGrp="1"/>
          </p:cNvSpPr>
          <p:nvPr/>
        </p:nvSpPr>
        <p:spPr>
          <a:xfrm xmlns:a="http://schemas.openxmlformats.org/drawingml/2006/main">
            <a:off x="7543800" y="48768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383"/>
          </a:bodyPr>
          <a:lstStyle xmlns:a="http://schemas.openxmlformats.org/drawingml/2006/main"/>
          <a:p xmlns:a="http://schemas.openxmlformats.org/drawingml/2006/main">
            <a:pPr algn="l">
              <a:defRPr sz="1125" b="0" i="0">
                <a:solidFill>
                  <a:srgbClr val="486581"/>
                </a:solidFill>
                <a:latin typeface="Arial"/>
                <a:ea typeface="Arial"/>
                <a:cs typeface="Arial"/>
              </a:defRPr>
            </a:pPr>
            <a:r>
              <a:rPr sz="1125" b="0" i="0">
                <a:solidFill>
                  <a:srgbClr val="486581"/>
                </a:solidFill>
                <a:latin typeface="Arial"/>
                <a:ea typeface="Arial"/>
                <a:cs typeface="Arial"/>
              </a:rPr>
              <a:t>Empirical speedup uses the Week 4 serial end-to-end baseline. Theoretical speedup uses each parallel program's measured one-worker decomposition; this difference is stated explicitly.</a:t>
            </a:r>
          </a:p>
        </p:txBody>
      </p:sp>
    </p:spTree>
    <p:extLst>
      <p:ext uri="{BB962C8B-B14F-4D97-AF65-F5344CB8AC3E}">
        <p14:creationId xmlns:p14="http://schemas.microsoft.com/office/powerpoint/2010/main" val="407215466"/>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00525C-272D-49B6-A643-DB80CE9AFE0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23A1AFA3-10E3-4181-B086-D302E794FE01}"/>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4A0ACCCB-BCC8-4C61-9A64-951FD36BFA18}"/>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Evidence and Moodle submission readiness</a:t>
            </a:r>
          </a:p>
        </p:txBody>
      </p:sp>
      <p:sp>
        <p:nvSpPr>
          <p:cNvPr id="4" name="">
            <a:extLst xmlns:a="http://schemas.openxmlformats.org/drawingml/2006/main">
              <a:ext uri="{FF2B5EF4-FFF2-40B4-BE49-F238E27FC236}">
                <a16:creationId xmlns:a16="http://schemas.microsoft.com/office/drawing/2014/main" id="{3995F029-88A9-47EC-946A-4EDC0D51721A}"/>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2</a:t>
            </a:r>
          </a:p>
        </p:txBody>
      </p:sp>
      <p:sp>
        <p:nvSpPr>
          <p:cNvPr id="5" name="">
            <a:extLst xmlns:a="http://schemas.openxmlformats.org/drawingml/2006/main">
              <a:ext uri="{FF2B5EF4-FFF2-40B4-BE49-F238E27FC236}">
                <a16:creationId xmlns:a16="http://schemas.microsoft.com/office/drawing/2014/main" id="{5B784508-C680-49B9-985A-A6BE4B1FB1C3}"/>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Verified artifacts</a:t>
            </a:r>
          </a:p>
        </p:txBody>
      </p:sp>
      <p:graphicFrame>
        <p:nvGraphicFramePr>
          <p:cNvPr id="14" name=""/>
          <p:cNvGraphicFramePr/>
          <p:nvPr/>
        </p:nvGraphicFramePr>
        <p:xfrm>
          <a:off xmlns:a="http://schemas.openxmlformats.org/drawingml/2006/main" x="552450" y="1485900"/>
          <a:ext xmlns:a="http://schemas.openxmlformats.org/drawingml/2006/main" cx="11087100" cy="3695700"/>
        </p:xfrm>
        <a:graphic xmlns:a="http://schemas.openxmlformats.org/drawingml/2006/main">
          <a:graphicData uri="http://schemas.openxmlformats.org/drawingml/2006/table">
            <a:tbl>
              <a:tblPr firstRow="1" bandRow="0"/>
              <a:tblGrid>
                <a:gridCol w="2571750"/>
                <a:gridCol w="6191250"/>
                <a:gridCol w="2324100"/>
              </a:tblGrid>
              <a:tr h="410633">
                <a:tc>
                  <a:txBody>
                    <a:bodyPr/>
                    <a:lstStyle/>
                    <a:p>
                      <a:r>
                        <a:rPr sz="900" b="1">
                          <a:solidFill>
                            <a:srgbClr val="FFFFFF"/>
                          </a:solidFill>
                          <a:latin typeface="Arial"/>
                          <a:ea typeface="Arial"/>
                          <a:cs typeface="Arial"/>
                        </a:rPr>
                        <a:t>Requirement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Artifact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Status</a:t>
                      </a:r>
                    </a:p>
                  </a:txBody>
                  <a:tcPr marL="76200" marR="76200" marT="57150" marB="57150" anchor="ctr">
                    <a:solidFill>
                      <a:srgbClr val="005F66"/>
                    </a:solidFill>
                  </a:tcPr>
                </a:tc>
              </a:tr>
              <a:tr h="410633">
                <a:tc>
                  <a:txBody>
                    <a:bodyPr/>
                    <a:lstStyle/>
                    <a:p>
                      <a:r>
                        <a:rPr sz="900">
                          <a:solidFill>
                            <a:srgbClr val="102A43"/>
                          </a:solidFill>
                          <a:latin typeface="Arial"/>
                          <a:ea typeface="Arial"/>
                          <a:cs typeface="Arial"/>
                        </a:rPr>
                        <a:t>Task 1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task1.c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Task 2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task2.c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FIT3143_Week8_Lab2_Presentation_Submission.pptx</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scripts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supporting/scripts/ (retained for inspection)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results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supporting/results/ and supporting/evidence/</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use declaration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Appendix 7 in this 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prompt record PDF</a:t>
                      </a:r>
                    </a:p>
                  </a:txBody>
                  <a:tcPr marL="76200" marR="76200" marT="47625" marB="47625" anchor="ctr">
                    <a:solidFill>
                      <a:srgbClr val="FFFFFF"/>
                    </a:solidFill>
                  </a:tcPr>
                </a:tc>
                <a:tc>
                  <a:txBody>
                    <a:bodyPr/>
                    <a:lstStyle/>
                    <a:p>
                      <a:r>
                        <a:rPr sz="900">
                          <a:solidFill>
                            <a:srgbClr val="102A43"/>
                          </a:solidFill>
                          <a:latin typeface="Arial"/>
                          <a:ea typeface="Arial"/>
                          <a:cs typeface="Arial"/>
                        </a:rPr>
                        <a:t>Export from the actual AI conversation</a:t>
                      </a:r>
                    </a:p>
                  </a:txBody>
                  <a:tcPr marL="76200" marR="76200" marT="47625" marB="47625" anchor="ctr">
                    <a:solidFill>
                      <a:srgbClr val="FFFFFF"/>
                    </a:solidFill>
                  </a:tcPr>
                </a:tc>
                <a:tc>
                  <a:txBody>
                    <a:bodyPr/>
                    <a:lstStyle/>
                    <a:p>
                      <a:r>
                        <a:rPr sz="900" b="1">
                          <a:solidFill>
                            <a:srgbClr val="C2413B"/>
                          </a:solidFill>
                          <a:latin typeface="Arial"/>
                          <a:ea typeface="Arial"/>
                          <a:cs typeface="Arial"/>
                        </a:rPr>
                        <a:t>ADD BEFORE MOODLE</a:t>
                      </a:r>
                    </a:p>
                  </a:txBody>
                  <a:tcPr marL="76200" marR="76200" marT="47625" marB="47625" anchor="ctr">
                    <a:solidFill>
                      <a:srgbClr val="FFF1F0"/>
                    </a:solidFill>
                  </a:tcPr>
                </a:tc>
              </a:tr>
              <a:tr h="410633">
                <a:tc>
                  <a:txBody>
                    <a:bodyPr/>
                    <a:lstStyle/>
                    <a:p>
                      <a:r>
                        <a:rPr sz="900">
                          <a:solidFill>
                            <a:srgbClr val="102A43"/>
                          </a:solidFill>
                          <a:latin typeface="Arial"/>
                          <a:ea typeface="Arial"/>
                          <a:cs typeface="Arial"/>
                        </a:rPr>
                        <a:t>CAAS screenshots</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Appendices 3-6: setup, Task 1 config/run, Task 2 config</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CF589D7-CCEF-4F51-8F42-54641AAD6016}"/>
              </a:ext>
            </a:extLst>
          </p:cNvPr>
          <p:cNvSpPr>
            <a:spLocks xmlns:a="http://schemas.openxmlformats.org/drawingml/2006/main" noGrp="1"/>
          </p:cNvSpPr>
          <p:nvPr/>
        </p:nvSpPr>
        <p:spPr>
          <a:xfrm xmlns:a="http://schemas.openxmlformats.org/drawingml/2006/main">
            <a:off x="1619250" y="5543550"/>
            <a:ext cx="89535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BF9FF585-03A8-46AA-BF9E-8CF8C09F38DC}"/>
              </a:ext>
            </a:extLst>
          </p:cNvPr>
          <p:cNvSpPr>
            <a:spLocks xmlns:a="http://schemas.openxmlformats.org/drawingml/2006/main" noGrp="1"/>
          </p:cNvSpPr>
          <p:nvPr/>
        </p:nvSpPr>
        <p:spPr>
          <a:xfrm xmlns:a="http://schemas.openxmlformats.org/drawingml/2006/main">
            <a:off x="1790700" y="5667375"/>
            <a:ext cx="861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Do not submit until the red item is authentic, legible and included. This review cannot fabricate it.</a:t>
            </a:r>
          </a:p>
        </p:txBody>
      </p:sp>
    </p:spTree>
    <p:extLst>
      <p:ext uri="{BB962C8B-B14F-4D97-AF65-F5344CB8AC3E}">
        <p14:creationId xmlns:p14="http://schemas.microsoft.com/office/powerpoint/2010/main" val="1801376873"/>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907AD3-FD59-4A1C-AA7E-EA5599945A3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D6D82EF8-54A2-423F-9E08-1D9A519BDBC4}"/>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58EE6971-FD1E-4FFE-B09D-EB1AE7433E34}"/>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access and job setup</a:t>
            </a:r>
          </a:p>
        </p:txBody>
      </p:sp>
      <p:sp>
        <p:nvSpPr>
          <p:cNvPr id="4" name="">
            <a:extLst xmlns:a="http://schemas.openxmlformats.org/drawingml/2006/main">
              <a:ext uri="{FF2B5EF4-FFF2-40B4-BE49-F238E27FC236}">
                <a16:creationId xmlns:a16="http://schemas.microsoft.com/office/drawing/2014/main" id="{BC987E73-FF52-4D37-8CB6-F339AFCA98D5}"/>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3</a:t>
            </a:r>
          </a:p>
        </p:txBody>
      </p:sp>
      <p:sp>
        <p:nvSpPr>
          <p:cNvPr id="5" name="">
            <a:extLst xmlns:a="http://schemas.openxmlformats.org/drawingml/2006/main">
              <a:ext uri="{FF2B5EF4-FFF2-40B4-BE49-F238E27FC236}">
                <a16:creationId xmlns:a16="http://schemas.microsoft.com/office/drawing/2014/main" id="{69BA13DB-3997-4DFC-A435-CA79223D3C58}"/>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CAAS head-node access and source upload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26bc60887d74256"/>
          <a:stretch xmlns:a="http://schemas.openxmlformats.org/drawingml/2006/main"/>
        </p:blipFill>
        <p:spPr>
          <a:xfrm xmlns:a="http://schemas.openxmlformats.org/drawingml/2006/main">
            <a:off x="1105082" y="1447800"/>
            <a:ext cx="5085985"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985B25D-3F8D-4CCB-9971-2CE399396C5E}"/>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5FC18636-641F-492B-B17B-38DAA6C195C6}"/>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FA84CCAE-D7D1-4B94-AA69-7CC7C883E0EF}"/>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Authenticated CAAS head-node access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SLURM defq reported idle compute nodes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and Task 2 sources uploaded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Setup evidence only; no performance claim</a:t>
            </a:r>
          </a:p>
        </p:txBody>
      </p:sp>
      <p:sp>
        <p:nvSpPr>
          <p:cNvPr id="10" name="">
            <a:extLst xmlns:a="http://schemas.openxmlformats.org/drawingml/2006/main">
              <a:ext uri="{FF2B5EF4-FFF2-40B4-BE49-F238E27FC236}">
                <a16:creationId xmlns:a16="http://schemas.microsoft.com/office/drawing/2014/main" id="{CBB29667-C7F4-40F2-9787-FAC0546014B2}"/>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C6B6241E-3654-4F05-9A47-3F8693F517E4}"/>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capture establishes the CAAS environment before the Task 1 job configuration and functional run in Appendices 4-5.</a:t>
            </a:r>
          </a:p>
        </p:txBody>
      </p:sp>
    </p:spTree>
    <p:extLst>
      <p:ext uri="{BB962C8B-B14F-4D97-AF65-F5344CB8AC3E}">
        <p14:creationId xmlns:p14="http://schemas.microsoft.com/office/powerpoint/2010/main" val="1933566207"/>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1C9D32-1305-4180-8216-B518CD28C81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5013AB1E-E348-498B-8424-BF6B78BEAAD1}"/>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75F92EA5-254F-4B99-A36E-646F9601623E}"/>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Task 1 job configuration</a:t>
            </a:r>
          </a:p>
        </p:txBody>
      </p:sp>
      <p:sp>
        <p:nvSpPr>
          <p:cNvPr id="4" name="">
            <a:extLst xmlns:a="http://schemas.openxmlformats.org/drawingml/2006/main">
              <a:ext uri="{FF2B5EF4-FFF2-40B4-BE49-F238E27FC236}">
                <a16:creationId xmlns:a16="http://schemas.microsoft.com/office/drawing/2014/main" id="{AF3E7551-2D5E-42F2-A51B-B93DA22FA640}"/>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4</a:t>
            </a:r>
          </a:p>
        </p:txBody>
      </p:sp>
      <p:sp>
        <p:nvSpPr>
          <p:cNvPr id="5" name="">
            <a:extLst xmlns:a="http://schemas.openxmlformats.org/drawingml/2006/main">
              <a:ext uri="{FF2B5EF4-FFF2-40B4-BE49-F238E27FC236}">
                <a16:creationId xmlns:a16="http://schemas.microsoft.com/office/drawing/2014/main" id="{9222B65D-04C7-4E62-AD58-3B32D92828FD}"/>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SLURM script for the two-node Task 1 run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21b02543ae74160"/>
          <a:stretch xmlns:a="http://schemas.openxmlformats.org/drawingml/2006/main"/>
        </p:blipFill>
        <p:spPr>
          <a:xfrm xmlns:a="http://schemas.openxmlformats.org/drawingml/2006/main">
            <a:off x="552450" y="2048547"/>
            <a:ext cx="6191250" cy="32752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386642-8BAF-432D-941C-6D173908E8C1}"/>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BD5061F1-02E3-4EC8-9801-A723733E9CD9}"/>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5C589798-7581-4A20-8A01-938E2E3AF88F}"/>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nodes and 8 MPI tasks requested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4 MPI ranks per node, 1 CPU per rank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Open MPI module loaded before compilation</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srun executes Task 1 at n = 10,000</a:t>
            </a:r>
          </a:p>
        </p:txBody>
      </p:sp>
      <p:sp>
        <p:nvSpPr>
          <p:cNvPr id="10" name="">
            <a:extLst xmlns:a="http://schemas.openxmlformats.org/drawingml/2006/main">
              <a:ext uri="{FF2B5EF4-FFF2-40B4-BE49-F238E27FC236}">
                <a16:creationId xmlns:a16="http://schemas.microsoft.com/office/drawing/2014/main" id="{AFFBABE2-610F-484C-A79F-4781AFB470BA}"/>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7E58F5E9-BF57-4ED7-AFF7-E4381948E9B2}"/>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Configuration evidence for the submitted CAAS Task 1 run shown in Appendix 5.</a:t>
            </a:r>
          </a:p>
        </p:txBody>
      </p:sp>
    </p:spTree>
    <p:extLst>
      <p:ext uri="{BB962C8B-B14F-4D97-AF65-F5344CB8AC3E}">
        <p14:creationId xmlns:p14="http://schemas.microsoft.com/office/powerpoint/2010/main" val="2107408074"/>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5EC891-3F33-429E-91CE-66976BECAB7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8C10B7B3-BCF9-42C9-A9C0-978660A0E213}"/>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CCF5E05C-21C3-4047-B7CA-4BDC8472FD7F}"/>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two-node Task 1 run</a:t>
            </a:r>
          </a:p>
        </p:txBody>
      </p:sp>
      <p:sp>
        <p:nvSpPr>
          <p:cNvPr id="4" name="">
            <a:extLst xmlns:a="http://schemas.openxmlformats.org/drawingml/2006/main">
              <a:ext uri="{FF2B5EF4-FFF2-40B4-BE49-F238E27FC236}">
                <a16:creationId xmlns:a16="http://schemas.microsoft.com/office/drawing/2014/main" id="{E0B3EF7D-F69F-4F02-895F-AC165F72B0ED}"/>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5</a:t>
            </a:r>
          </a:p>
        </p:txBody>
      </p:sp>
      <p:sp>
        <p:nvSpPr>
          <p:cNvPr id="5" name="">
            <a:extLst xmlns:a="http://schemas.openxmlformats.org/drawingml/2006/main">
              <a:ext uri="{FF2B5EF4-FFF2-40B4-BE49-F238E27FC236}">
                <a16:creationId xmlns:a16="http://schemas.microsoft.com/office/drawing/2014/main" id="{6159E4CF-AEBC-4E7A-AC28-2F8E5573D696}"/>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Two-node CAAS Task 1 functional execution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1da50a220374509"/>
          <a:stretch xmlns:a="http://schemas.openxmlformats.org/drawingml/2006/main"/>
        </p:blipFill>
        <p:spPr>
          <a:xfrm xmlns:a="http://schemas.openxmlformats.org/drawingml/2006/main">
            <a:off x="1486822" y="1447800"/>
            <a:ext cx="4322506"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3A55624-5B1E-4EE1-A9BB-9C6CA8CEB039}"/>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78C5648A-1728-4E4A-88DC-C945F3FE9072}"/>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1125F499-DE4D-4C51-8888-0D315471E971}"/>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Allocated nodes: student-caas-n03 and n04</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8 MPI ranks, 4 ranks on each node</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at n = 10,000 returned 1,229 primes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wc -l confirms 1,229 output lines</a:t>
            </a:r>
          </a:p>
        </p:txBody>
      </p:sp>
      <p:sp>
        <p:nvSpPr>
          <p:cNvPr id="10" name="">
            <a:extLst xmlns:a="http://schemas.openxmlformats.org/drawingml/2006/main">
              <a:ext uri="{FF2B5EF4-FFF2-40B4-BE49-F238E27FC236}">
                <a16:creationId xmlns:a16="http://schemas.microsoft.com/office/drawing/2014/main" id="{37F7DE98-B4FF-470F-ACA9-68B163083DEF}"/>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150A3C01-2B60-45BC-A777-5CACBCC2BA95}"/>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CAAS functional evidence. The existing graphs and balance findings remain based on the documented local measurement files.</a:t>
            </a:r>
          </a:p>
        </p:txBody>
      </p:sp>
    </p:spTree>
    <p:extLst>
      <p:ext uri="{BB962C8B-B14F-4D97-AF65-F5344CB8AC3E}">
        <p14:creationId xmlns:p14="http://schemas.microsoft.com/office/powerpoint/2010/main" val="243113985"/>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1A3E01-F9CA-4E8E-AE3F-D3D926A889B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B0D078A6-8019-416A-9E27-2C3F40BA79D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7758BCD5-8861-4684-9A6C-B10DBD23503C}"/>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Task 2 job configuration</a:t>
            </a:r>
          </a:p>
        </p:txBody>
      </p:sp>
      <p:sp>
        <p:nvSpPr>
          <p:cNvPr id="4" name="">
            <a:extLst xmlns:a="http://schemas.openxmlformats.org/drawingml/2006/main">
              <a:ext uri="{FF2B5EF4-FFF2-40B4-BE49-F238E27FC236}">
                <a16:creationId xmlns:a16="http://schemas.microsoft.com/office/drawing/2014/main" id="{C515B866-245F-4444-B3CE-A8BF0762DE73}"/>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6</a:t>
            </a:r>
          </a:p>
        </p:txBody>
      </p:sp>
      <p:sp>
        <p:nvSpPr>
          <p:cNvPr id="5" name="">
            <a:extLst xmlns:a="http://schemas.openxmlformats.org/drawingml/2006/main">
              <a:ext uri="{FF2B5EF4-FFF2-40B4-BE49-F238E27FC236}">
                <a16:creationId xmlns:a16="http://schemas.microsoft.com/office/drawing/2014/main" id="{8AB78AA5-AB2E-4965-9537-9A2BBEDD8D31}"/>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SLURM script for the two-node hybrid Task 2 run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9081eff16fc4a6a"/>
          <a:stretch xmlns:a="http://schemas.openxmlformats.org/drawingml/2006/main"/>
        </p:blipFill>
        <p:spPr>
          <a:xfrm xmlns:a="http://schemas.openxmlformats.org/drawingml/2006/main">
            <a:off x="552450" y="1531347"/>
            <a:ext cx="6191250" cy="430965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E54654F-B922-42D4-AEB5-1CEEDA10726C}"/>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1AA479E2-2C1A-4F8C-BAFB-1A4B5B695A44}"/>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3944C25D-EF97-4A85-AC9E-16523F9368A9}"/>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nodes and 4 MPI tasks requested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MPI ranks per node, 4 CPUs per rank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OMP_NUM_THREADS derives from SLURM_CPUS_PER_TASK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Configuration only; no CAAS Task 2 output claim</a:t>
            </a:r>
          </a:p>
        </p:txBody>
      </p:sp>
      <p:sp>
        <p:nvSpPr>
          <p:cNvPr id="10" name="">
            <a:extLst xmlns:a="http://schemas.openxmlformats.org/drawingml/2006/main">
              <a:ext uri="{FF2B5EF4-FFF2-40B4-BE49-F238E27FC236}">
                <a16:creationId xmlns:a16="http://schemas.microsoft.com/office/drawing/2014/main" id="{B8FAE385-97F6-41E9-969E-10D400E6EABC}"/>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5214EF8C-C324-42A4-9BB7-01D8BAAE38CD}"/>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Task 2 configuration evidence: the hybrid launch uses 4 MPI ranks × 4 OpenMP threads when scheduled as shown.</a:t>
            </a:r>
          </a:p>
        </p:txBody>
      </p:sp>
    </p:spTree>
    <p:extLst>
      <p:ext uri="{BB962C8B-B14F-4D97-AF65-F5344CB8AC3E}">
        <p14:creationId xmlns:p14="http://schemas.microsoft.com/office/powerpoint/2010/main" val="1321058938"/>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819A11-FA95-4131-A0CB-C566CFE43BE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A13A6D22-C4B3-449E-8075-DA3E9A72FEF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804560D2-6FA4-4D03-A2B8-B5E398BEDB6E}"/>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Generative AI use declaration</a:t>
            </a:r>
          </a:p>
        </p:txBody>
      </p:sp>
      <p:sp>
        <p:nvSpPr>
          <p:cNvPr id="4" name="">
            <a:extLst xmlns:a="http://schemas.openxmlformats.org/drawingml/2006/main">
              <a:ext uri="{FF2B5EF4-FFF2-40B4-BE49-F238E27FC236}">
                <a16:creationId xmlns:a16="http://schemas.microsoft.com/office/drawing/2014/main" id="{6298284E-E29A-476E-9244-5114AB6694F6}"/>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7</a:t>
            </a:r>
          </a:p>
        </p:txBody>
      </p:sp>
      <p:sp>
        <p:nvSpPr>
          <p:cNvPr id="5" name="">
            <a:extLst xmlns:a="http://schemas.openxmlformats.org/drawingml/2006/main">
              <a:ext uri="{FF2B5EF4-FFF2-40B4-BE49-F238E27FC236}">
                <a16:creationId xmlns:a16="http://schemas.microsoft.com/office/drawing/2014/main" id="{500BEA7E-AF97-4DBF-960C-51993537DB12}"/>
              </a:ext>
            </a:extLst>
          </p:cNvPr>
          <p:cNvSpPr>
            <a:spLocks xmlns:a="http://schemas.openxmlformats.org/drawingml/2006/main" noGrp="1"/>
          </p:cNvSpPr>
          <p:nvPr/>
        </p:nvSpPr>
        <p:spPr>
          <a:xfrm xmlns:a="http://schemas.openxmlformats.org/drawingml/2006/main">
            <a:off x="552450" y="110490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Included in this presentation</a:t>
            </a:r>
          </a:p>
        </p:txBody>
      </p:sp>
      <p:sp>
        <p:nvSpPr>
          <p:cNvPr id="6" name="">
            <a:extLst xmlns:a="http://schemas.openxmlformats.org/drawingml/2006/main">
              <a:ext uri="{FF2B5EF4-FFF2-40B4-BE49-F238E27FC236}">
                <a16:creationId xmlns:a16="http://schemas.microsoft.com/office/drawing/2014/main" id="{123FF944-AAE0-4630-BE7B-BE4E0613F48C}"/>
              </a:ext>
            </a:extLst>
          </p:cNvPr>
          <p:cNvSpPr>
            <a:spLocks xmlns:a="http://schemas.openxmlformats.org/drawingml/2006/main" noGrp="1"/>
          </p:cNvSpPr>
          <p:nvPr/>
        </p:nvSpPr>
        <p:spPr>
          <a:xfrm xmlns:a="http://schemas.openxmlformats.org/drawingml/2006/main">
            <a:off x="742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Scope of assistance</a:t>
            </a:r>
          </a:p>
        </p:txBody>
      </p:sp>
      <p:sp>
        <p:nvSpPr>
          <p:cNvPr id="7" name="">
            <a:extLst xmlns:a="http://schemas.openxmlformats.org/drawingml/2006/main">
              <a:ext uri="{FF2B5EF4-FFF2-40B4-BE49-F238E27FC236}">
                <a16:creationId xmlns:a16="http://schemas.microsoft.com/office/drawing/2014/main" id="{EF88BF08-D2F7-42F0-8E2A-D57D129CC74D}"/>
              </a:ext>
            </a:extLst>
          </p:cNvPr>
          <p:cNvSpPr>
            <a:spLocks xmlns:a="http://schemas.openxmlformats.org/drawingml/2006/main" noGrp="1"/>
          </p:cNvSpPr>
          <p:nvPr/>
        </p:nvSpPr>
        <p:spPr>
          <a:xfrm xmlns:a="http://schemas.openxmlformats.org/drawingml/2006/main">
            <a:off x="742950" y="20478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Generative AI assisted with interpreting the specification and rubric, reviewing the MPI and hybrid implementation, planning experiments, drafting charts and slides, and preparing documentation.</a:t>
            </a:r>
          </a:p>
        </p:txBody>
      </p:sp>
      <p:sp>
        <p:nvSpPr>
          <p:cNvPr id="8" name="">
            <a:extLst xmlns:a="http://schemas.openxmlformats.org/drawingml/2006/main">
              <a:ext uri="{FF2B5EF4-FFF2-40B4-BE49-F238E27FC236}">
                <a16:creationId xmlns:a16="http://schemas.microsoft.com/office/drawing/2014/main" id="{63F28121-1E7A-4D5E-95C3-6B08AE8FE4A2}"/>
              </a:ext>
            </a:extLst>
          </p:cNvPr>
          <p:cNvSpPr>
            <a:spLocks xmlns:a="http://schemas.openxmlformats.org/drawingml/2006/main" noGrp="1"/>
          </p:cNvSpPr>
          <p:nvPr/>
        </p:nvSpPr>
        <p:spPr>
          <a:xfrm xmlns:a="http://schemas.openxmlformats.org/drawingml/2006/main">
            <a:off x="6096000" y="1562100"/>
            <a:ext cx="19050" cy="15811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9" name="">
            <a:extLst xmlns:a="http://schemas.openxmlformats.org/drawingml/2006/main">
              <a:ext uri="{FF2B5EF4-FFF2-40B4-BE49-F238E27FC236}">
                <a16:creationId xmlns:a16="http://schemas.microsoft.com/office/drawing/2014/main" id="{5D742BEF-BDAC-4040-BD49-5D03850A3F7E}"/>
              </a:ext>
            </a:extLst>
          </p:cNvPr>
          <p:cNvSpPr>
            <a:spLocks xmlns:a="http://schemas.openxmlformats.org/drawingml/2006/main" noGrp="1"/>
          </p:cNvSpPr>
          <p:nvPr/>
        </p:nvSpPr>
        <p:spPr>
          <a:xfrm xmlns:a="http://schemas.openxmlformats.org/drawingml/2006/main">
            <a:off x="6457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Team responsibility</a:t>
            </a:r>
          </a:p>
        </p:txBody>
      </p:sp>
      <p:sp>
        <p:nvSpPr>
          <p:cNvPr id="10" name="">
            <a:extLst xmlns:a="http://schemas.openxmlformats.org/drawingml/2006/main">
              <a:ext uri="{FF2B5EF4-FFF2-40B4-BE49-F238E27FC236}">
                <a16:creationId xmlns:a16="http://schemas.microsoft.com/office/drawing/2014/main" id="{3014A37A-1643-43D8-A5A9-A5FC5DFB6476}"/>
              </a:ext>
            </a:extLst>
          </p:cNvPr>
          <p:cNvSpPr>
            <a:spLocks xmlns:a="http://schemas.openxmlformats.org/drawingml/2006/main" noGrp="1"/>
          </p:cNvSpPr>
          <p:nvPr/>
        </p:nvSpPr>
        <p:spPr>
          <a:xfrm xmlns:a="http://schemas.openxmlformats.org/drawingml/2006/main">
            <a:off x="6457950" y="2047875"/>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reviewed the material against the supplied requirements, compiled and executed the programs locally, validated prime output independently, and accepts responsibility for every submitted claim and result.</a:t>
            </a:r>
          </a:p>
        </p:txBody>
      </p:sp>
      <p:sp>
        <p:nvSpPr>
          <p:cNvPr id="11" name="">
            <a:extLst xmlns:a="http://schemas.openxmlformats.org/drawingml/2006/main">
              <a:ext uri="{FF2B5EF4-FFF2-40B4-BE49-F238E27FC236}">
                <a16:creationId xmlns:a16="http://schemas.microsoft.com/office/drawing/2014/main" id="{B2A1D844-FD3E-4200-ADF2-9C70ED7F33ED}"/>
              </a:ext>
            </a:extLst>
          </p:cNvPr>
          <p:cNvSpPr>
            <a:spLocks xmlns:a="http://schemas.openxmlformats.org/drawingml/2006/main" noGrp="1"/>
          </p:cNvSpPr>
          <p:nvPr/>
        </p:nvSpPr>
        <p:spPr>
          <a:xfrm xmlns:a="http://schemas.openxmlformats.org/drawingml/2006/main">
            <a:off x="742950" y="3524250"/>
            <a:ext cx="10687050" cy="190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12" name="">
            <a:extLst xmlns:a="http://schemas.openxmlformats.org/drawingml/2006/main">
              <a:ext uri="{FF2B5EF4-FFF2-40B4-BE49-F238E27FC236}">
                <a16:creationId xmlns:a16="http://schemas.microsoft.com/office/drawing/2014/main" id="{44D803C1-335E-4BB5-B47F-7F5B09CF1F47}"/>
              </a:ext>
            </a:extLst>
          </p:cNvPr>
          <p:cNvSpPr>
            <a:spLocks xmlns:a="http://schemas.openxmlformats.org/drawingml/2006/main" noGrp="1"/>
          </p:cNvSpPr>
          <p:nvPr/>
        </p:nvSpPr>
        <p:spPr>
          <a:xfrm xmlns:a="http://schemas.openxmlformats.org/drawingml/2006/main">
            <a:off x="742950" y="38481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Presentation and Q&amp;A</a:t>
            </a:r>
          </a:p>
        </p:txBody>
      </p:sp>
      <p:sp>
        <p:nvSpPr>
          <p:cNvPr id="13" name="">
            <a:extLst xmlns:a="http://schemas.openxmlformats.org/drawingml/2006/main">
              <a:ext uri="{FF2B5EF4-FFF2-40B4-BE49-F238E27FC236}">
                <a16:creationId xmlns:a16="http://schemas.microsoft.com/office/drawing/2014/main" id="{5A304137-3107-4CF8-BE58-E84BF0C28809}"/>
              </a:ext>
            </a:extLst>
          </p:cNvPr>
          <p:cNvSpPr>
            <a:spLocks xmlns:a="http://schemas.openxmlformats.org/drawingml/2006/main" noGrp="1"/>
          </p:cNvSpPr>
          <p:nvPr/>
        </p:nvSpPr>
        <p:spPr>
          <a:xfrm xmlns:a="http://schemas.openxmlformats.org/drawingml/2006/main">
            <a:off x="742950" y="42291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03"/>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will explain the partitioning decision, MPI collectives, OpenMP scheduling, timing method, and performance observations without external tools.</a:t>
            </a:r>
          </a:p>
        </p:txBody>
      </p:sp>
      <p:sp>
        <p:nvSpPr>
          <p:cNvPr id="14" name="">
            <a:extLst xmlns:a="http://schemas.openxmlformats.org/drawingml/2006/main">
              <a:ext uri="{FF2B5EF4-FFF2-40B4-BE49-F238E27FC236}">
                <a16:creationId xmlns:a16="http://schemas.microsoft.com/office/drawing/2014/main" id="{F5B568BF-AD46-4371-A091-FB83A9BB3318}"/>
              </a:ext>
            </a:extLst>
          </p:cNvPr>
          <p:cNvSpPr>
            <a:spLocks xmlns:a="http://schemas.openxmlformats.org/drawingml/2006/main" noGrp="1"/>
          </p:cNvSpPr>
          <p:nvPr/>
        </p:nvSpPr>
        <p:spPr>
          <a:xfrm xmlns:a="http://schemas.openxmlformats.org/drawingml/2006/main">
            <a:off x="990600" y="51816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5" name="">
            <a:extLst xmlns:a="http://schemas.openxmlformats.org/drawingml/2006/main">
              <a:ext uri="{FF2B5EF4-FFF2-40B4-BE49-F238E27FC236}">
                <a16:creationId xmlns:a16="http://schemas.microsoft.com/office/drawing/2014/main" id="{86E93057-6FD2-419A-B0E3-1C8E572BA27F}"/>
              </a:ext>
            </a:extLst>
          </p:cNvPr>
          <p:cNvSpPr>
            <a:spLocks xmlns:a="http://schemas.openxmlformats.org/drawingml/2006/main" noGrp="1"/>
          </p:cNvSpPr>
          <p:nvPr/>
        </p:nvSpPr>
        <p:spPr>
          <a:xfrm xmlns:a="http://schemas.openxmlformats.org/drawingml/2006/main">
            <a:off x="1162050" y="53054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897"/>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presentation records the AI-use declaration. Export the authentic prompt/conversation record from the AI service before Moodle submission.</a:t>
            </a:r>
          </a:p>
        </p:txBody>
      </p:sp>
    </p:spTree>
    <p:extLst>
      <p:ext uri="{BB962C8B-B14F-4D97-AF65-F5344CB8AC3E}">
        <p14:creationId xmlns:p14="http://schemas.microsoft.com/office/powerpoint/2010/main" val="13559209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2026-09-18T07:02:22.9170000Z</dcterms:created>
  <dcterms:modified xsi:type="dcterms:W3CDTF">2026-09-18T07:02:22.9170000Z</dcterms:modified>
</coreProperties>
</file>