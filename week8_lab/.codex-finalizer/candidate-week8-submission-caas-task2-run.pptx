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db082c340b4eb9" /><Relationship Type="http://schemas.openxmlformats.org/officeDocument/2006/relationships/extended-properties" Target="/docProps/app.xml" Id="R497d93bf2ab54e7f" /><Relationship Type="http://schemas.openxmlformats.org/officeDocument/2006/relationships/officeDocument" Target="/ppt/presentation.xml" Id="Rd3eeaac93ce347b8" /></Relationships>
</file>

<file path=ppt/presentation.xml><?xml version="1.0" encoding="utf-8"?>
<p:presentation xmlns:p="http://schemas.openxmlformats.org/presentationml/2006/main">
  <p:sldMasterIdLst>
    <p:sldMasterId xmlns:r="http://schemas.openxmlformats.org/officeDocument/2006/relationships" id="2147483648" r:id="R37b09fb778824dda"/>
  </p:sldMasterIdLst>
  <p:notesMasterIdLst>
    <p:notesMasterId xmlns:r="http://schemas.openxmlformats.org/officeDocument/2006/relationships" r:id="R6e13d7cba5464206"/>
  </p:notesMasterIdLst>
  <p:sldIdLst>
    <p:sldId xmlns:r="http://schemas.openxmlformats.org/officeDocument/2006/relationships" id="256" r:id="R38f59a6445724b37"/>
    <p:sldId xmlns:r="http://schemas.openxmlformats.org/officeDocument/2006/relationships" id="257" r:id="Re650f854d2e947c9"/>
    <p:sldId xmlns:r="http://schemas.openxmlformats.org/officeDocument/2006/relationships" id="258" r:id="R263c5ee6dc284a9b"/>
    <p:sldId xmlns:r="http://schemas.openxmlformats.org/officeDocument/2006/relationships" id="259" r:id="R9c8d238fd1f6490f"/>
    <p:sldId xmlns:r="http://schemas.openxmlformats.org/officeDocument/2006/relationships" id="260" r:id="Rea61f06b8f854f5d"/>
    <p:sldId xmlns:r="http://schemas.openxmlformats.org/officeDocument/2006/relationships" id="261" r:id="Rbf567fab104b4b93"/>
    <p:sldId xmlns:r="http://schemas.openxmlformats.org/officeDocument/2006/relationships" id="262" r:id="R76e3f3ead6944f44"/>
    <p:sldId xmlns:r="http://schemas.openxmlformats.org/officeDocument/2006/relationships" id="263" r:id="R753cf0f0b8b542a1"/>
    <p:sldId xmlns:r="http://schemas.openxmlformats.org/officeDocument/2006/relationships" id="264" r:id="R0ea1d6e735b448bd"/>
    <p:sldId xmlns:r="http://schemas.openxmlformats.org/officeDocument/2006/relationships" id="265" r:id="Rb18c13d952fa4fef"/>
    <p:sldId xmlns:r="http://schemas.openxmlformats.org/officeDocument/2006/relationships" id="266" r:id="R434da1f87128497f"/>
    <p:sldId xmlns:r="http://schemas.openxmlformats.org/officeDocument/2006/relationships" id="267" r:id="R3d36a81715514bc5"/>
    <p:sldId xmlns:r="http://schemas.openxmlformats.org/officeDocument/2006/relationships" id="268" r:id="R13e7cd2349734b05"/>
    <p:sldId xmlns:r="http://schemas.openxmlformats.org/officeDocument/2006/relationships" id="269" r:id="Re08d2f38c4334c52"/>
    <p:sldId xmlns:r="http://schemas.openxmlformats.org/officeDocument/2006/relationships" id="270" r:id="R2aed51ecffcb4cf5"/>
    <p:sldId xmlns:r="http://schemas.openxmlformats.org/officeDocument/2006/relationships" id="271" r:id="Rb77ef0c59c7b41d9"/>
    <p:sldId xmlns:r="http://schemas.openxmlformats.org/officeDocument/2006/relationships" id="272" r:id="R78a6513855534d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b6c4fe04654aee" /><Relationship Type="http://schemas.openxmlformats.org/officeDocument/2006/relationships/slideMaster" Target="/ppt/slideMasters/slideMaster1.xml" Id="R37b09fb778824dda" /><Relationship Type="http://schemas.openxmlformats.org/officeDocument/2006/relationships/notesMaster" Target="/ppt/notesMasters/notesMaster1.xml" Id="R6e13d7cba5464206" /><Relationship Type="http://schemas.openxmlformats.org/officeDocument/2006/relationships/presProps" Target="/ppt/presProps.xml" Id="Rc40449d6e7a84d6a" /><Relationship Type="http://schemas.openxmlformats.org/officeDocument/2006/relationships/tableStyles" Target="/ppt/tableStyles.xml" Id="R7dceb9dfa8114053" /><Relationship Type="http://schemas.openxmlformats.org/officeDocument/2006/relationships/slide" Target="/ppt/slides/slide1.xml" Id="R38f59a6445724b37" /><Relationship Type="http://schemas.openxmlformats.org/officeDocument/2006/relationships/slide" Target="/ppt/slides/slide2.xml" Id="Re650f854d2e947c9" /><Relationship Type="http://schemas.openxmlformats.org/officeDocument/2006/relationships/slide" Target="/ppt/slides/slide3.xml" Id="R263c5ee6dc284a9b" /><Relationship Type="http://schemas.openxmlformats.org/officeDocument/2006/relationships/slide" Target="/ppt/slides/slide4.xml" Id="R9c8d238fd1f6490f" /><Relationship Type="http://schemas.openxmlformats.org/officeDocument/2006/relationships/slide" Target="/ppt/slides/slide5.xml" Id="Rea61f06b8f854f5d" /><Relationship Type="http://schemas.openxmlformats.org/officeDocument/2006/relationships/slide" Target="/ppt/slides/slide6.xml" Id="Rbf567fab104b4b93" /><Relationship Type="http://schemas.openxmlformats.org/officeDocument/2006/relationships/slide" Target="/ppt/slides/slide7.xml" Id="R76e3f3ead6944f44" /><Relationship Type="http://schemas.openxmlformats.org/officeDocument/2006/relationships/slide" Target="/ppt/slides/slide8.xml" Id="R753cf0f0b8b542a1" /><Relationship Type="http://schemas.openxmlformats.org/officeDocument/2006/relationships/slide" Target="/ppt/slides/slide9.xml" Id="R0ea1d6e735b448bd" /><Relationship Type="http://schemas.openxmlformats.org/officeDocument/2006/relationships/slide" Target="/ppt/slides/slide10.xml" Id="Rb18c13d952fa4fef" /><Relationship Type="http://schemas.openxmlformats.org/officeDocument/2006/relationships/slide" Target="/ppt/slides/slide11.xml" Id="R434da1f87128497f" /><Relationship Type="http://schemas.openxmlformats.org/officeDocument/2006/relationships/slide" Target="/ppt/slides/slide12.xml" Id="R3d36a81715514bc5" /><Relationship Type="http://schemas.openxmlformats.org/officeDocument/2006/relationships/slide" Target="/ppt/slides/slide13.xml" Id="R13e7cd2349734b05" /><Relationship Type="http://schemas.openxmlformats.org/officeDocument/2006/relationships/slide" Target="/ppt/slides/slide14.xml" Id="Re08d2f38c4334c52" /><Relationship Type="http://schemas.openxmlformats.org/officeDocument/2006/relationships/slide" Target="/ppt/slides/slide15.xml" Id="R2aed51ecffcb4cf5" /><Relationship Type="http://schemas.openxmlformats.org/officeDocument/2006/relationships/slide" Target="/ppt/slides/slide16.xml" Id="Rb77ef0c59c7b41d9" /><Relationship Type="http://schemas.openxmlformats.org/officeDocument/2006/relationships/slide" Target="/ppt/slides/slide17.xml" Id="R78a6513855534d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02f96f6ed740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c7db7ce8f649c2" /><Relationship Type="http://schemas.openxmlformats.org/officeDocument/2006/relationships/notesMaster" Target="/ppt/notesMasters/notesMaster1.xml" Id="R5184b84549c046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e939a93e044d49" /><Relationship Type="http://schemas.openxmlformats.org/officeDocument/2006/relationships/notesMaster" Target="/ppt/notesMasters/notesMaster1.xml" Id="R2cb5948ffc4344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1ca7e96518411d" /><Relationship Type="http://schemas.openxmlformats.org/officeDocument/2006/relationships/notesMaster" Target="/ppt/notesMasters/notesMaster1.xml" Id="R06f3eca4fe1942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2393b987174da1" /><Relationship Type="http://schemas.openxmlformats.org/officeDocument/2006/relationships/notesMaster" Target="/ppt/notesMasters/notesMaster1.xml" Id="Ra98226cdf2fa40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a5e8f76277492a" /><Relationship Type="http://schemas.openxmlformats.org/officeDocument/2006/relationships/notesMaster" Target="/ppt/notesMasters/notesMaster1.xml" Id="Rcc8af1c31db349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35d248a1aa40eb" /><Relationship Type="http://schemas.openxmlformats.org/officeDocument/2006/relationships/notesMaster" Target="/ppt/notesMasters/notesMaster1.xml" Id="R7680ca16c32c48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b970aa8c904bfb" /><Relationship Type="http://schemas.openxmlformats.org/officeDocument/2006/relationships/notesMaster" Target="/ppt/notesMasters/notesMaster1.xml" Id="Rf89b05fc266249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3c1f8d61f241c0" /><Relationship Type="http://schemas.openxmlformats.org/officeDocument/2006/relationships/notesMaster" Target="/ppt/notesMasters/notesMaster1.xml" Id="R4169c69946484d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fdd1708fde44a4" /><Relationship Type="http://schemas.openxmlformats.org/officeDocument/2006/relationships/notesMaster" Target="/ppt/notesMasters/notesMaster1.xml" Id="Raf8e50577e3d4d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a7b80931c84338" /><Relationship Type="http://schemas.openxmlformats.org/officeDocument/2006/relationships/notesMaster" Target="/ppt/notesMasters/notesMaster1.xml" Id="R448c6d3095f645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271fc53cb64159" /><Relationship Type="http://schemas.openxmlformats.org/officeDocument/2006/relationships/notesMaster" Target="/ppt/notesMasters/notesMaster1.xml" Id="Rd78c5810e6be4c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d78488edfa4b67" /><Relationship Type="http://schemas.openxmlformats.org/officeDocument/2006/relationships/notesMaster" Target="/ppt/notesMasters/notesMaster1.xml" Id="Rfd19888234d745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cb9bbf99ab4653" /><Relationship Type="http://schemas.openxmlformats.org/officeDocument/2006/relationships/notesMaster" Target="/ppt/notesMasters/notesMaster1.xml" Id="Rbd2773eac5db48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9bae457a3f48ea" /><Relationship Type="http://schemas.openxmlformats.org/officeDocument/2006/relationships/notesMaster" Target="/ppt/notesMasters/notesMaster1.xml" Id="Rd422db44f39640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4f7a6ff0984791" /><Relationship Type="http://schemas.openxmlformats.org/officeDocument/2006/relationships/notesMaster" Target="/ppt/notesMasters/notesMaster1.xml" Id="Rb8837c9de8254ed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ddaba6cbca4726" /><Relationship Type="http://schemas.openxmlformats.org/officeDocument/2006/relationships/notesMaster" Target="/ppt/notesMasters/notesMaster1.xml" Id="R2d8ff03d910e4a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33cfbac44646c4" /><Relationship Type="http://schemas.openxmlformats.org/officeDocument/2006/relationships/notesMaster" Target="/ppt/notesMasters/notesMaster1.xml" Id="R8851d8048c3241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results/local_cluster_execution.txt; scripts/verify_correctness.sh; results/n_scaling.csv; results/task1_process_scaling.csv;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results/partition_balance.csv. Each value is the median of three runs at n=20,000,000. The strategy comparison uses identical primality testing, merge and output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results/n_scaling.csv (current serial and MPI sweep) and results/openmp_n_scaling.csv (prior Week 4 OpenMP sweep). Both use the same machine, n values and 4 workers, but were measured in separate sessions; absolute runtime may include session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MPI speedup from results/n_scaling.csv. OpenMP speedup = results/task3_n_scaling.csv serial_total divided by results/openmp_n_scaling.csv openmp_time for the same n. This avoids mixing serial baselines across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3 sources: results/task1_process_scaling.csv and results/openmp_thread_scaling.csv. Graph 6 source: results/task1_process_scaling.csv. Process-scaling points are medians of three runs at n=60,000,000.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results/local_cluster_execution.txt. This representative run records per-rank compute times, candidate-count range, total runtime, commands and exact sorted-output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results/hybrid_scaling.csv and results/openmp_thread_scaling.csv. Hybrid points are medians of three runs at n=60,000,000. Graph 5 compares equal total worker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results/hybrid_scaling.csv. Amdahl serial fraction is measured from the one-worker hybrid run: Ts=0.411327 s, Tp=23.749574 s, fs=0.017024. CAAS evidence in Appendices 3-6 verifies setup, Task 1 configuration and execution, and Task 2 configuration; it is not graph or balance data. Main presentation ends here; appendix slides are for Q&amp;A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results/partition_balance.csv, results/task1_process_scaling.csv and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Moodle files are task1.c, task2.c, and the presentation. Supporting scripts, results, CSVs, and screenshots are retained for inspection but are not listed as compulsory uploads in the assessment specification. The prompt/conversation record must still be exported authentically if AI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evidence/screenshots/caas_login_and_setup.jpg. Authentic CAAS setup screenshot. It documents head-node access, scheduler visibility, and uploaded source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evidence/screenshots/caas_task1_job_configuration.jpg. Authentic Task 1 SLURM job configuration. It documents the requested two nodes, eight MPI tasks, four tasks per node, compilation command, and srun invocation.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evidence/screenshots/caas_task1_two_node_execution_with_line_count.jpg. Authentic two-node CAAS Task 1 functional run at n = 10,000. It verifies allocation of student-caas-n03 and student-caas-n04, eight MPI ranks, the correct 1,229-prime result, sorted output generation, and the 1,229-line output check. It does not support the local benchmark or balance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evidence/screenshots/caas_task2_job_configuration.jpg. Authentic Task 2 hybrid SLURM job configuration. It documents the requested two nodes, four MPI tasks, two tasks per node, four CPUs per task, OMP_NUM_THREADS export, and srun invocation. It does not demonstrate a completed CAAS Task 2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declares the use of generative AI within the presentation itself. The assessment specification also requires the team to upload an authentic prompt/conversation record if AI was used. No separate AI declaration PDF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evidence/screenshots/caas_task2_two_node_execution.png. Authentic two-node CAAS Task 2 functional run at n = 10,000. It verifies allocation of student-caas-n03 and student-caas-n04, four MPI ranks, four OpenMP threads per process, the correct 1,229-prime result, output generation, and the 1,229-line output check. It does not support the local benchmark or balance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f0e5983c4541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4e477b58764c7e" /><Relationship Type="http://schemas.openxmlformats.org/officeDocument/2006/relationships/slideLayout" Target="/ppt/slideLayouts/slideLayout1.xml" Id="R043465245fd442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3465245fd442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9ff9df8a47438d" /><Relationship Type="http://schemas.openxmlformats.org/officeDocument/2006/relationships/notesSlide" Target="/ppt/notesSlides/notesSlide1.xml" Id="Rae345e01ab1e44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abd41ceea546f2" /><Relationship Type="http://schemas.openxmlformats.org/officeDocument/2006/relationships/notesSlide" Target="/ppt/notesSlides/notesSlide2.xml" Id="R48b34296dcc64c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bd3f2ea926465a" /><Relationship Type="http://schemas.openxmlformats.org/officeDocument/2006/relationships/notesSlide" Target="/ppt/notesSlides/notesSlide3.xml" Id="R8e55bd15a01949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79b7ce842d4abb" /><Relationship Type="http://schemas.openxmlformats.org/officeDocument/2006/relationships/chart" Target="/ppt/slides/charts/chart1.xml" Id="R7dd6ddefb6cc4010" /><Relationship Type="http://schemas.openxmlformats.org/officeDocument/2006/relationships/notesSlide" Target="/ppt/notesSlides/notesSlide4.xml" Id="Re7f760f963e94a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85701d1f7b4571" /><Relationship Type="http://schemas.openxmlformats.org/officeDocument/2006/relationships/chart" Target="/ppt/slides/charts/chart2.xml" Id="R1b0d1feff0dc4554" /><Relationship Type="http://schemas.openxmlformats.org/officeDocument/2006/relationships/notesSlide" Target="/ppt/notesSlides/notesSlide5.xml" Id="Rf70de0e433c04c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a1e7cbec044b0f" /><Relationship Type="http://schemas.openxmlformats.org/officeDocument/2006/relationships/chart" Target="/ppt/slides/charts/chart3.xml" Id="R8af83397bd984c7e" /><Relationship Type="http://schemas.openxmlformats.org/officeDocument/2006/relationships/chart" Target="/ppt/slides/charts/chart4.xml" Id="R734ab18f124b4187" /><Relationship Type="http://schemas.openxmlformats.org/officeDocument/2006/relationships/notesSlide" Target="/ppt/notesSlides/notesSlide6.xml" Id="R35bed7870c6247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7844ad197f4832" /><Relationship Type="http://schemas.openxmlformats.org/officeDocument/2006/relationships/notesSlide" Target="/ppt/notesSlides/notesSlide7.xml" Id="R3b4c88ee951f43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07b6eb090a549d1" /><Relationship Type="http://schemas.openxmlformats.org/officeDocument/2006/relationships/chart" Target="/ppt/slides/charts/chart5.xml" Id="R9a3339ee544842e5" /><Relationship Type="http://schemas.openxmlformats.org/officeDocument/2006/relationships/chart" Target="/ppt/slides/charts/chart6.xml" Id="Rcb9a84ce2a22429e" /><Relationship Type="http://schemas.openxmlformats.org/officeDocument/2006/relationships/notesSlide" Target="/ppt/notesSlides/notesSlide8.xml" Id="R5fcb5e4e0af540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b90aa266574c4f" /><Relationship Type="http://schemas.openxmlformats.org/officeDocument/2006/relationships/chart" Target="/ppt/slides/charts/chart7.xml" Id="R955bb767d55f42ef" /><Relationship Type="http://schemas.openxmlformats.org/officeDocument/2006/relationships/notesSlide" Target="/ppt/notesSlides/notesSlide9.xml" Id="Rbaf7b8c2afac4a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beb622cc0440e0" /><Relationship Type="http://schemas.openxmlformats.org/officeDocument/2006/relationships/notesSlide" Target="/ppt/notesSlides/notesSlide10.xml" Id="R686ae62c1a5340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c50576ef2e14853" /><Relationship Type="http://schemas.openxmlformats.org/officeDocument/2006/relationships/notesSlide" Target="/ppt/notesSlides/notesSlide11.xml" Id="R81f9f3eded404f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d2b1c027e2340b4" /><Relationship Type="http://schemas.openxmlformats.org/officeDocument/2006/relationships/image" Target="/ppt/media/image.jpeg" Id="Ra8b42c94f9be4567" /><Relationship Type="http://schemas.openxmlformats.org/officeDocument/2006/relationships/notesSlide" Target="/ppt/notesSlides/notesSlide12.xml" Id="R804736d083054c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a5846691b664016" /><Relationship Type="http://schemas.openxmlformats.org/officeDocument/2006/relationships/image" Target="/ppt/media/image2.jpeg" Id="R16e4405b013c4468" /><Relationship Type="http://schemas.openxmlformats.org/officeDocument/2006/relationships/notesSlide" Target="/ppt/notesSlides/notesSlide13.xml" Id="R07647478cf4746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a8799bed6b40cd" /><Relationship Type="http://schemas.openxmlformats.org/officeDocument/2006/relationships/image" Target="/ppt/media/image3.jpeg" Id="R193f76f222dc45e0" /><Relationship Type="http://schemas.openxmlformats.org/officeDocument/2006/relationships/notesSlide" Target="/ppt/notesSlides/notesSlide14.xml" Id="R05d37ff78cd54d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c65d9231264ccc" /><Relationship Type="http://schemas.openxmlformats.org/officeDocument/2006/relationships/image" Target="/ppt/media/image4.jpeg" Id="Rfd4936e5d9444d26" /><Relationship Type="http://schemas.openxmlformats.org/officeDocument/2006/relationships/notesSlide" Target="/ppt/notesSlides/notesSlide15.xml" Id="Rd828fe6e219646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79b869933b34d35" /><Relationship Type="http://schemas.openxmlformats.org/officeDocument/2006/relationships/notesSlide" Target="/ppt/notesSlides/notesSlide16.xml" Id="R2ca4bf1f67de4be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dd78880049c4655" /><Relationship Type="http://schemas.openxmlformats.org/officeDocument/2006/relationships/image" Target="/ppt/media/image.png" Id="R245df1deafd449d3" /><Relationship Type="http://schemas.openxmlformats.org/officeDocument/2006/relationships/notesSlide" Target="/ppt/notesSlides/notesSlide17.xml" Id="R9de13602ff4f4ec1"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End-to-end runtime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Serial baseline</c:v>
          </c:tx>
          <c:spPr>
            <a:ln xmlns:a="http://schemas.openxmlformats.org/drawingml/2006/main" w="21908">
              <a:solidFill>
                <a:srgbClr val="3B6FB6"/>
              </a:solidFill>
              <a:prstDash val="solid"/>
            </a:ln>
          </c:spPr>
          <c:marker>
            <c:symbol val="circle"/>
            <c:size val="4"/>
            <c:spPr>
              <a:solidFill xmlns:a="http://schemas.openxmlformats.org/drawingml/2006/main">
                <a:srgbClr val="3B6FB6"/>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c:formatCode>
              <c:ptCount val="30"/>
              <c:pt idx="0">
                <c:v>4.989752</c:v>
              </c:pt>
              <c:pt idx="1">
                <c:v>5.7932</c:v>
              </c:pt>
              <c:pt idx="2">
                <c:v>6.600539</c:v>
              </c:pt>
              <c:pt idx="3">
                <c:v>7.58008</c:v>
              </c:pt>
              <c:pt idx="4">
                <c:v>8.197113</c:v>
              </c:pt>
              <c:pt idx="5">
                <c:v>8.993253</c:v>
              </c:pt>
              <c:pt idx="6">
                <c:v>9.898929</c:v>
              </c:pt>
              <c:pt idx="7">
                <c:v>11.25524</c:v>
              </c:pt>
              <c:pt idx="8">
                <c:v>11.663884</c:v>
              </c:pt>
              <c:pt idx="9">
                <c:v>12.481058</c:v>
              </c:pt>
              <c:pt idx="10">
                <c:v>13.500245</c:v>
              </c:pt>
              <c:pt idx="11">
                <c:v>14.407534</c:v>
              </c:pt>
              <c:pt idx="12">
                <c:v>15.361246</c:v>
              </c:pt>
              <c:pt idx="13">
                <c:v>16.641048</c:v>
              </c:pt>
              <c:pt idx="14">
                <c:v>17.381228</c:v>
              </c:pt>
              <c:pt idx="15">
                <c:v>18.39205</c:v>
              </c:pt>
              <c:pt idx="16">
                <c:v>19.512275</c:v>
              </c:pt>
              <c:pt idx="17">
                <c:v>20.516872</c:v>
              </c:pt>
              <c:pt idx="18">
                <c:v>21.671941</c:v>
              </c:pt>
              <c:pt idx="19">
                <c:v>22.681507</c:v>
              </c:pt>
              <c:pt idx="20">
                <c:v>23.879297</c:v>
              </c:pt>
              <c:pt idx="21">
                <c:v>24.89455</c:v>
              </c:pt>
              <c:pt idx="22">
                <c:v>26.438953</c:v>
              </c:pt>
              <c:pt idx="23">
                <c:v>27.724465</c:v>
              </c:pt>
              <c:pt idx="24">
                <c:v>28.707587</c:v>
              </c:pt>
              <c:pt idx="25">
                <c:v>30.266235</c:v>
              </c:pt>
              <c:pt idx="26">
                <c:v>30.835879</c:v>
              </c:pt>
              <c:pt idx="27">
                <c:v>32.094736</c:v>
              </c:pt>
              <c:pt idx="28">
                <c:v>33.361352</c:v>
              </c:pt>
              <c:pt idx="29">
                <c:v>34.655354</c:v>
              </c:pt>
            </c:numLit>
          </c:yVal>
        </c:ser>
        <c:ser>
          <c:idx val="1"/>
          <c:order val="1"/>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c:formatCode>
              <c:ptCount val="30"/>
              <c:pt idx="0">
                <c:v>1.506796</c:v>
              </c:pt>
              <c:pt idx="1">
                <c:v>1.629617</c:v>
              </c:pt>
              <c:pt idx="2">
                <c:v>1.882136</c:v>
              </c:pt>
              <c:pt idx="3">
                <c:v>2.197054</c:v>
              </c:pt>
              <c:pt idx="4">
                <c:v>2.351178</c:v>
              </c:pt>
              <c:pt idx="5">
                <c:v>2.680151</c:v>
              </c:pt>
              <c:pt idx="6">
                <c:v>2.949921</c:v>
              </c:pt>
              <c:pt idx="7">
                <c:v>3.132021</c:v>
              </c:pt>
              <c:pt idx="8">
                <c:v>3.511267</c:v>
              </c:pt>
              <c:pt idx="9">
                <c:v>3.792676</c:v>
              </c:pt>
              <c:pt idx="10">
                <c:v>3.765773</c:v>
              </c:pt>
              <c:pt idx="11">
                <c:v>4.350641</c:v>
              </c:pt>
              <c:pt idx="12">
                <c:v>4.371929</c:v>
              </c:pt>
              <c:pt idx="13">
                <c:v>4.65037</c:v>
              </c:pt>
              <c:pt idx="14">
                <c:v>4.997748</c:v>
              </c:pt>
              <c:pt idx="15">
                <c:v>5.308287</c:v>
              </c:pt>
              <c:pt idx="16">
                <c:v>5.542288</c:v>
              </c:pt>
              <c:pt idx="17">
                <c:v>6.078635</c:v>
              </c:pt>
              <c:pt idx="18">
                <c:v>6.218323</c:v>
              </c:pt>
              <c:pt idx="19">
                <c:v>6.572295</c:v>
              </c:pt>
              <c:pt idx="20">
                <c:v>6.834096</c:v>
              </c:pt>
              <c:pt idx="21">
                <c:v>7.088691</c:v>
              </c:pt>
              <c:pt idx="22">
                <c:v>7.583849</c:v>
              </c:pt>
              <c:pt idx="23">
                <c:v>7.847521</c:v>
              </c:pt>
              <c:pt idx="24">
                <c:v>8.563484</c:v>
              </c:pt>
              <c:pt idx="25">
                <c:v>8.792589</c:v>
              </c:pt>
              <c:pt idx="26">
                <c:v>8.841267</c:v>
              </c:pt>
              <c:pt idx="27">
                <c:v>8.86051</c:v>
              </c:pt>
              <c:pt idx="28">
                <c:v>9.36652</c:v>
              </c:pt>
              <c:pt idx="29">
                <c:v>9.865707</c:v>
              </c:pt>
            </c:numLit>
          </c:yVal>
        </c:ser>
        <c:ser>
          <c:idx val="2"/>
          <c:order val="2"/>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c:formatCode>
              <c:ptCount val="30"/>
              <c:pt idx="0">
                <c:v>2.167603</c:v>
              </c:pt>
              <c:pt idx="1">
                <c:v>2.350731</c:v>
              </c:pt>
              <c:pt idx="2">
                <c:v>2.771374</c:v>
              </c:pt>
              <c:pt idx="3">
                <c:v>3.009852</c:v>
              </c:pt>
              <c:pt idx="4">
                <c:v>3.400205</c:v>
              </c:pt>
              <c:pt idx="5">
                <c:v>3.580981</c:v>
              </c:pt>
              <c:pt idx="6">
                <c:v>4.065718</c:v>
              </c:pt>
              <c:pt idx="7">
                <c:v>4.375723</c:v>
              </c:pt>
              <c:pt idx="8">
                <c:v>5.157762</c:v>
              </c:pt>
              <c:pt idx="9">
                <c:v>5.404324</c:v>
              </c:pt>
              <c:pt idx="10">
                <c:v>5.817264</c:v>
              </c:pt>
              <c:pt idx="11">
                <c:v>5.962411</c:v>
              </c:pt>
              <c:pt idx="12">
                <c:v>7.149659</c:v>
              </c:pt>
              <c:pt idx="13">
                <c:v>6.9077</c:v>
              </c:pt>
              <c:pt idx="14">
                <c:v>7.469348</c:v>
              </c:pt>
              <c:pt idx="15">
                <c:v>8.933063</c:v>
              </c:pt>
              <c:pt idx="16">
                <c:v>10.07874</c:v>
              </c:pt>
              <c:pt idx="17">
                <c:v>9.269982</c:v>
              </c:pt>
              <c:pt idx="18">
                <c:v>9.573097</c:v>
              </c:pt>
              <c:pt idx="19">
                <c:v>12.896376</c:v>
              </c:pt>
              <c:pt idx="20">
                <c:v>9.388351</c:v>
              </c:pt>
              <c:pt idx="21">
                <c:v>9.723761</c:v>
              </c:pt>
              <c:pt idx="22">
                <c:v>10.887108</c:v>
              </c:pt>
              <c:pt idx="23">
                <c:v>11.360931</c:v>
              </c:pt>
              <c:pt idx="24">
                <c:v>11.247044</c:v>
              </c:pt>
              <c:pt idx="25">
                <c:v>11.750655</c:v>
              </c:pt>
              <c:pt idx="26">
                <c:v>12.900694</c:v>
              </c:pt>
              <c:pt idx="27">
                <c:v>12.988591</c:v>
              </c:pt>
              <c:pt idx="28">
                <c:v>13.553135</c:v>
              </c:pt>
              <c:pt idx="29">
                <c:v>13.671737</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Runtime (seconds)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0"/>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Speedup against each implementation's matched serial baseline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0.0x</c:formatCode>
              <c:ptCount val="30"/>
              <c:pt idx="0">
                <c:v>3.311498</c:v>
              </c:pt>
              <c:pt idx="1">
                <c:v>3.554945</c:v>
              </c:pt>
              <c:pt idx="2">
                <c:v>3.50694</c:v>
              </c:pt>
              <c:pt idx="3">
                <c:v>3.450112</c:v>
              </c:pt>
              <c:pt idx="4">
                <c:v>3.486386</c:v>
              </c:pt>
              <c:pt idx="5">
                <c:v>3.355503</c:v>
              </c:pt>
              <c:pt idx="6">
                <c:v>3.355659</c:v>
              </c:pt>
              <c:pt idx="7">
                <c:v>3.593603</c:v>
              </c:pt>
              <c:pt idx="8">
                <c:v>3.321845</c:v>
              </c:pt>
              <c:pt idx="9">
                <c:v>3.290831</c:v>
              </c:pt>
              <c:pt idx="10">
                <c:v>3.584986</c:v>
              </c:pt>
              <c:pt idx="11">
                <c:v>3.311588</c:v>
              </c:pt>
              <c:pt idx="12">
                <c:v>3.513609</c:v>
              </c:pt>
              <c:pt idx="13">
                <c:v>3.578435</c:v>
              </c:pt>
              <c:pt idx="14">
                <c:v>3.477812</c:v>
              </c:pt>
              <c:pt idx="15">
                <c:v>3.46478</c:v>
              </c:pt>
              <c:pt idx="16">
                <c:v>3.520617</c:v>
              </c:pt>
              <c:pt idx="17">
                <c:v>3.375243</c:v>
              </c:pt>
              <c:pt idx="18">
                <c:v>3.485175</c:v>
              </c:pt>
              <c:pt idx="19">
                <c:v>3.451079</c:v>
              </c:pt>
              <c:pt idx="20">
                <c:v>3.494141</c:v>
              </c:pt>
              <c:pt idx="21">
                <c:v>3.511868</c:v>
              </c:pt>
              <c:pt idx="22">
                <c:v>3.486218</c:v>
              </c:pt>
              <c:pt idx="23">
                <c:v>3.532894</c:v>
              </c:pt>
              <c:pt idx="24">
                <c:v>3.352326</c:v>
              </c:pt>
              <c:pt idx="25">
                <c:v>3.442244</c:v>
              </c:pt>
              <c:pt idx="26">
                <c:v>3.487722</c:v>
              </c:pt>
              <c:pt idx="27">
                <c:v>3.622222</c:v>
              </c:pt>
              <c:pt idx="28">
                <c:v>3.561766</c:v>
              </c:pt>
              <c:pt idx="29">
                <c:v>3.512708</c:v>
              </c:pt>
            </c:numLit>
          </c:yVal>
        </c:ser>
        <c:ser>
          <c:idx val="1"/>
          <c:order val="1"/>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0.0x</c:formatCode>
              <c:ptCount val="30"/>
              <c:pt idx="0">
                <c:v>2.706644</c:v>
              </c:pt>
              <c:pt idx="1">
                <c:v>2.807679</c:v>
              </c:pt>
              <c:pt idx="2">
                <c:v>2.671431</c:v>
              </c:pt>
              <c:pt idx="3">
                <c:v>2.773163</c:v>
              </c:pt>
              <c:pt idx="4">
                <c:v>2.717482</c:v>
              </c:pt>
              <c:pt idx="5">
                <c:v>2.829962</c:v>
              </c:pt>
              <c:pt idx="6">
                <c:v>2.74614</c:v>
              </c:pt>
              <c:pt idx="7">
                <c:v>2.782729</c:v>
              </c:pt>
              <c:pt idx="8">
                <c:v>2.495577</c:v>
              </c:pt>
              <c:pt idx="9">
                <c:v>2.618487</c:v>
              </c:pt>
              <c:pt idx="10">
                <c:v>2.590082</c:v>
              </c:pt>
              <c:pt idx="11">
                <c:v>2.737466</c:v>
              </c:pt>
              <c:pt idx="12">
                <c:v>2.549498</c:v>
              </c:pt>
              <c:pt idx="13">
                <c:v>2.68205</c:v>
              </c:pt>
              <c:pt idx="14">
                <c:v>2.648153</c:v>
              </c:pt>
              <c:pt idx="15">
                <c:v>2.341455</c:v>
              </c:pt>
              <c:pt idx="16">
                <c:v>2.206639</c:v>
              </c:pt>
              <c:pt idx="17">
                <c:v>2.521772</c:v>
              </c:pt>
              <c:pt idx="18">
                <c:v>2.568987</c:v>
              </c:pt>
              <c:pt idx="19">
                <c:v>1.99623</c:v>
              </c:pt>
              <c:pt idx="20">
                <c:v>2.890972</c:v>
              </c:pt>
              <c:pt idx="21">
                <c:v>2.956234</c:v>
              </c:pt>
              <c:pt idx="22">
                <c:v>2.761738</c:v>
              </c:pt>
              <c:pt idx="23">
                <c:v>2.776618</c:v>
              </c:pt>
              <c:pt idx="24">
                <c:v>2.879432</c:v>
              </c:pt>
              <c:pt idx="25">
                <c:v>2.962694</c:v>
              </c:pt>
              <c:pt idx="26">
                <c:v>2.712369</c:v>
              </c:pt>
              <c:pt idx="27">
                <c:v>2.807667</c:v>
              </c:pt>
              <c:pt idx="28">
                <c:v>2.789214</c:v>
              </c:pt>
              <c:pt idx="29">
                <c:v>2.876845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3 • matching worker counts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MPI processes</c:v>
          </c:tx>
          <c:spPr>
            <a:ln xmlns:a="http://schemas.openxmlformats.org/drawingml/2006/main" w="21908">
              <a:solidFill>
                <a:srgbClr val="C2413B"/>
              </a:solidFill>
              <a:prstDash val="solid"/>
            </a:ln>
          </c:spPr>
          <c:marker>
            <c:symbol val="circle"/>
            <c:size val="5"/>
            <c:spPr>
              <a:solidFill xmlns:a="http://schemas.openxmlformats.org/drawingml/2006/main">
                <a:srgbClr val="C2413B"/>
              </a:solidFill>
            </c:spPr>
          </c:marker>
          <c:cat>
            <c:numLit>
              <c:formatCode>General</c:formatCode>
              <c:ptCount val="5"/>
              <c:pt idx="0">
                <c:v>1</c:v>
              </c:pt>
              <c:pt idx="1">
                <c:v>2</c:v>
              </c:pt>
              <c:pt idx="2">
                <c:v>4</c:v>
              </c:pt>
              <c:pt idx="3">
                <c:v>8</c:v>
              </c:pt>
              <c:pt idx="4">
                <c:v>16</c:v>
              </c:pt>
            </c:numLit>
          </c:cat>
          <c:val>
            <c:numLit>
              <c:formatCode>0.0x</c:formatCode>
              <c:ptCount val="5"/>
              <c:pt idx="0">
                <c:v>0.98963</c:v>
              </c:pt>
              <c:pt idx="1">
                <c:v>1.878171</c:v>
              </c:pt>
              <c:pt idx="2">
                <c:v>3.378454</c:v>
              </c:pt>
              <c:pt idx="3">
                <c:v>4.618865</c:v>
              </c:pt>
              <c:pt idx="4">
                <c:v>6.015093</c:v>
              </c:pt>
            </c:numLit>
          </c:val>
          <c:smooth val="0"/>
        </c:ser>
        <c:ser>
          <c:idx val="1"/>
          <c:order val="1"/>
          <c:tx>
            <c:v>OpenMP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numLit>
              <c:formatCode>General</c:formatCode>
              <c:ptCount val="5"/>
              <c:pt idx="0">
                <c:v>1</c:v>
              </c:pt>
              <c:pt idx="1">
                <c:v>2</c:v>
              </c:pt>
              <c:pt idx="2">
                <c:v>4</c:v>
              </c:pt>
              <c:pt idx="3">
                <c:v>8</c:v>
              </c:pt>
              <c:pt idx="4">
                <c:v>16</c:v>
              </c:pt>
            </c:numLit>
          </c:cat>
          <c:val>
            <c:numLit>
              <c:formatCode>0.0x</c:formatCode>
              <c:ptCount val="5"/>
              <c:pt idx="0">
                <c:v>1.004932</c:v>
              </c:pt>
              <c:pt idx="1">
                <c:v>1.550188</c:v>
              </c:pt>
              <c:pt idx="2">
                <c:v>2.693979</c:v>
              </c:pt>
              <c:pt idx="3">
                <c:v>4.337217</c:v>
              </c:pt>
              <c:pt idx="4">
                <c:v>7.075541</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Processes or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6 • MPI empirical vs Amdahl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Empirical</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Lit>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Lit>
          </c:xVal>
          <c:yVal>
            <c:numLit>
              <c:formatCode>0.0x</c:formatCode>
              <c:ptCount val="16"/>
              <c:pt idx="0">
                <c:v>0.98963</c:v>
              </c:pt>
              <c:pt idx="1">
                <c:v>1.878171</c:v>
              </c:pt>
              <c:pt idx="2">
                <c:v>2.635082</c:v>
              </c:pt>
              <c:pt idx="3">
                <c:v>3.378454</c:v>
              </c:pt>
              <c:pt idx="4">
                <c:v>3.906827</c:v>
              </c:pt>
              <c:pt idx="5">
                <c:v>4.232572</c:v>
              </c:pt>
              <c:pt idx="6">
                <c:v>4.432161</c:v>
              </c:pt>
              <c:pt idx="7">
                <c:v>4.618865</c:v>
              </c:pt>
              <c:pt idx="8">
                <c:v>4.420885</c:v>
              </c:pt>
              <c:pt idx="9">
                <c:v>4.156386</c:v>
              </c:pt>
              <c:pt idx="10">
                <c:v>4.550334</c:v>
              </c:pt>
              <c:pt idx="11">
                <c:v>5.308742</c:v>
              </c:pt>
              <c:pt idx="12">
                <c:v>5.4069</c:v>
              </c:pt>
              <c:pt idx="13">
                <c:v>5.821944</c:v>
              </c:pt>
              <c:pt idx="14">
                <c:v>5.971313</c:v>
              </c:pt>
              <c:pt idx="15">
                <c:v>6.015093</c:v>
              </c:pt>
            </c:numLit>
          </c:yVal>
        </c:ser>
        <c:ser>
          <c:idx val="1"/>
          <c:order val="1"/>
          <c:tx>
            <c:v>Amdahl ideal</c:v>
          </c:tx>
          <c:spPr>
            <a:ln xmlns:a="http://schemas.openxmlformats.org/drawingml/2006/main" w="21908">
              <a:solidFill>
                <a:srgbClr val="F28E2B"/>
              </a:solidFill>
              <a:prstDash val="solid"/>
            </a:ln>
          </c:spPr>
          <c:marker>
            <c:symbol val="circle"/>
            <c:size val="4"/>
            <c:spPr>
              <a:solidFill xmlns:a="http://schemas.openxmlformats.org/drawingml/2006/main">
                <a:srgbClr val="F28E2B"/>
              </a:solidFill>
            </c:spPr>
          </c:marker>
          <c:xVal>
            <c:numLit>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Lit>
          </c:xVal>
          <c:yVal>
            <c:numLit>
              <c:formatCode>0.0x</c:formatCode>
              <c:ptCount val="16"/>
              <c:pt idx="0">
                <c:v>1</c:v>
              </c:pt>
              <c:pt idx="1">
                <c:v>1.965524</c:v>
              </c:pt>
              <c:pt idx="2">
                <c:v>2.898324</c:v>
              </c:pt>
              <c:pt idx="3">
                <c:v>3.800036</c:v>
              </c:pt>
              <c:pt idx="4">
                <c:v>4.672189</c:v>
              </c:pt>
              <c:pt idx="5">
                <c:v>5.516213</c:v>
              </c:pt>
              <c:pt idx="6">
                <c:v>6.333447</c:v>
              </c:pt>
              <c:pt idx="7">
                <c:v>7.125147</c:v>
              </c:pt>
              <c:pt idx="8">
                <c:v>7.892491</c:v>
              </c:pt>
              <c:pt idx="9">
                <c:v>8.636586</c:v>
              </c:pt>
              <c:pt idx="10">
                <c:v>9.358472</c:v>
              </c:pt>
              <c:pt idx="11">
                <c:v>10.05913</c:v>
              </c:pt>
              <c:pt idx="12">
                <c:v>10.739483</c:v>
              </c:pt>
              <c:pt idx="13">
                <c:v>11.400399</c:v>
              </c:pt>
              <c:pt idx="14">
                <c:v>12.042701</c:v>
              </c:pt>
              <c:pt idx="15">
                <c:v>12.667164</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2"/>
      </c:valAx>
      <c:valAx>
        <c:axId val="48650112"/>
        <c:scaling>
          <c:orientation val="minMax"/>
          <c:max val="16"/>
          <c:min val="1"/>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processes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3"/>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4 • fixed 4 MPI processes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 Task 1</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numLit>
              <c:formatCode>General</c:formatCode>
              <c:ptCount val="5"/>
              <c:pt idx="0">
                <c:v>1</c:v>
              </c:pt>
              <c:pt idx="1">
                <c:v>2</c:v>
              </c:pt>
              <c:pt idx="2">
                <c:v>4</c:v>
              </c:pt>
              <c:pt idx="3">
                <c:v>8</c:v>
              </c:pt>
              <c:pt idx="4">
                <c:v>16</c:v>
              </c:pt>
            </c:numLit>
          </c:cat>
          <c:val>
            <c:numLit>
              <c:formatCode>0.0x</c:formatCode>
              <c:ptCount val="5"/>
              <c:pt idx="0">
                <c:v>1.012295</c:v>
              </c:pt>
              <c:pt idx="1">
                <c:v>1.530386</c:v>
              </c:pt>
              <c:pt idx="2">
                <c:v>2.386353</c:v>
              </c:pt>
              <c:pt idx="3">
                <c:v>2.358109</c:v>
              </c:pt>
              <c:pt idx="4">
                <c:v>2.245111</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Threads per MPI process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2.7"/>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 versus 4-rank Task 1</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0.5"/>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5 • matched total workers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MPI × OpenMP</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Lit>
              <c:ptCount val="5"/>
              <c:pt idx="0">
                <c:v>1×1</c:v>
              </c:pt>
              <c:pt idx="1">
                <c:v>2×1</c:v>
              </c:pt>
              <c:pt idx="2">
                <c:v>2×2</c:v>
              </c:pt>
              <c:pt idx="3">
                <c:v>4×2</c:v>
              </c:pt>
              <c:pt idx="4">
                <c:v>4×4</c:v>
              </c:pt>
            </c:strLit>
          </c:cat>
          <c:val>
            <c:numLit>
              <c:formatCode>0.0x</c:formatCode>
              <c:ptCount val="5"/>
              <c:pt idx="0">
                <c:v>0.996865</c:v>
              </c:pt>
              <c:pt idx="1">
                <c:v>1.91408</c:v>
              </c:pt>
              <c:pt idx="2">
                <c:v>3.515055</c:v>
              </c:pt>
              <c:pt idx="3">
                <c:v>5.15</c:v>
              </c:pt>
              <c:pt idx="4">
                <c:v>8.030471</c:v>
              </c:pt>
            </c:numLit>
          </c:val>
          <c:smooth val="0"/>
        </c:ser>
        <c:ser>
          <c:idx val="1"/>
          <c:order val="1"/>
          <c:tx>
            <c:v>OpenMP matched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strLit>
              <c:ptCount val="5"/>
              <c:pt idx="0">
                <c:v>1×1</c:v>
              </c:pt>
              <c:pt idx="1">
                <c:v>2×1</c:v>
              </c:pt>
              <c:pt idx="2">
                <c:v>2×2</c:v>
              </c:pt>
              <c:pt idx="3">
                <c:v>4×2</c:v>
              </c:pt>
              <c:pt idx="4">
                <c:v>4×4</c:v>
              </c:pt>
            </c:strLit>
          </c:cat>
          <c:val>
            <c:numLit>
              <c:formatCode>0.0x</c:formatCode>
              <c:ptCount val="5"/>
              <c:pt idx="0">
                <c:v>1.003352</c:v>
              </c:pt>
              <c:pt idx="1">
                <c:v>1.547751</c:v>
              </c:pt>
              <c:pt idx="2">
                <c:v>2.689743</c:v>
              </c:pt>
              <c:pt idx="3">
                <c:v>4.330398</c:v>
              </c:pt>
              <c:pt idx="4">
                <c:v>7.064416</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Hybrid empirical versus ideal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Empirical</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Lit>
              <c:ptCount val="7"/>
              <c:pt idx="0">
                <c:v>1×1</c:v>
              </c:pt>
              <c:pt idx="1">
                <c:v>2×1</c:v>
              </c:pt>
              <c:pt idx="2">
                <c:v>2×2</c:v>
              </c:pt>
              <c:pt idx="3">
                <c:v>4×2</c:v>
              </c:pt>
              <c:pt idx="4">
                <c:v>4×4</c:v>
              </c:pt>
              <c:pt idx="5">
                <c:v>4×8</c:v>
              </c:pt>
              <c:pt idx="6">
                <c:v>4×16</c:v>
              </c:pt>
            </c:strLit>
          </c:cat>
          <c:val>
            <c:numLit>
              <c:formatCode>0.0x</c:formatCode>
              <c:ptCount val="7"/>
              <c:pt idx="0">
                <c:v>0.996865</c:v>
              </c:pt>
              <c:pt idx="1">
                <c:v>1.91408</c:v>
              </c:pt>
              <c:pt idx="2">
                <c:v>3.515055</c:v>
              </c:pt>
              <c:pt idx="3">
                <c:v>5.15</c:v>
              </c:pt>
              <c:pt idx="4">
                <c:v>8.030471</c:v>
              </c:pt>
              <c:pt idx="5">
                <c:v>7.935425</c:v>
              </c:pt>
              <c:pt idx="6">
                <c:v>7.555168</c:v>
              </c:pt>
            </c:numLit>
          </c:val>
          <c:smooth val="0"/>
        </c:ser>
        <c:ser>
          <c:idx val="1"/>
          <c:order val="1"/>
          <c:tx>
            <c:v>Amdahl ideal</c:v>
          </c:tx>
          <c:spPr>
            <a:ln xmlns:a="http://schemas.openxmlformats.org/drawingml/2006/main" w="21908">
              <a:solidFill>
                <a:srgbClr val="F28E2B"/>
              </a:solidFill>
              <a:prstDash val="solid"/>
            </a:ln>
          </c:spPr>
          <c:marker>
            <c:symbol val="circle"/>
            <c:size val="5"/>
            <c:spPr>
              <a:solidFill xmlns:a="http://schemas.openxmlformats.org/drawingml/2006/main">
                <a:srgbClr val="F28E2B"/>
              </a:solidFill>
            </c:spPr>
          </c:marker>
          <c:cat>
            <c:strLit>
              <c:ptCount val="7"/>
              <c:pt idx="0">
                <c:v>1×1</c:v>
              </c:pt>
              <c:pt idx="1">
                <c:v>2×1</c:v>
              </c:pt>
              <c:pt idx="2">
                <c:v>2×2</c:v>
              </c:pt>
              <c:pt idx="3">
                <c:v>4×2</c:v>
              </c:pt>
              <c:pt idx="4">
                <c:v>4×4</c:v>
              </c:pt>
              <c:pt idx="5">
                <c:v>4×8</c:v>
              </c:pt>
              <c:pt idx="6">
                <c:v>4×16</c:v>
              </c:pt>
            </c:strLit>
          </c:cat>
          <c:val>
            <c:numLit>
              <c:formatCode>0.0x</c:formatCode>
              <c:ptCount val="7"/>
              <c:pt idx="0">
                <c:v>1</c:v>
              </c:pt>
              <c:pt idx="1">
                <c:v>1.966521</c:v>
              </c:pt>
              <c:pt idx="2">
                <c:v>3.805633</c:v>
              </c:pt>
              <c:pt idx="3">
                <c:v>7.148145</c:v>
              </c:pt>
              <c:pt idx="4">
                <c:v>12.745273</c:v>
              </c:pt>
              <c:pt idx="5">
                <c:v>20.945709</c:v>
              </c:pt>
              <c:pt idx="6">
                <c:v>30.879939</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slide1.xml><?xml version="1.0" encoding="utf-8"?>
<p:sld xmlns:p="http://schemas.openxmlformats.org/presentationml/2006/main">
  <p:cSld>
    <p:bg>
      <p:bgPr>
        <a:solidFill xmlns:a="http://schemas.openxmlformats.org/drawingml/2006/main">
          <a:srgbClr val="005F6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6D60F3-59F2-4F0B-969A-02DB2BEEFDE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F791390C-E32F-4442-B4E4-B2DE030C9972}"/>
              </a:ext>
            </a:extLst>
          </p:cNvPr>
          <p:cNvSpPr>
            <a:spLocks xmlns:a="http://schemas.openxmlformats.org/drawingml/2006/main" noGrp="1"/>
          </p:cNvSpPr>
          <p:nvPr/>
        </p:nvSpPr>
        <p:spPr>
          <a:xfrm xmlns:a="http://schemas.openxmlformats.org/drawingml/2006/main">
            <a:off x="704850" y="704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FIT3143 • PARALLEL COMPUTING</a:t>
            </a:r>
          </a:p>
        </p:txBody>
      </p:sp>
      <p:sp>
        <p:nvSpPr>
          <p:cNvPr id="3" name="">
            <a:extLst xmlns:a="http://schemas.openxmlformats.org/drawingml/2006/main">
              <a:ext uri="{FF2B5EF4-FFF2-40B4-BE49-F238E27FC236}">
                <a16:creationId xmlns:a16="http://schemas.microsoft.com/office/drawing/2014/main" id="{9586A4DF-5920-4750-AB8B-46BE6B21217D}"/>
              </a:ext>
            </a:extLst>
          </p:cNvPr>
          <p:cNvSpPr>
            <a:spLocks xmlns:a="http://schemas.openxmlformats.org/drawingml/2006/main" noGrp="1"/>
          </p:cNvSpPr>
          <p:nvPr/>
        </p:nvSpPr>
        <p:spPr>
          <a:xfrm xmlns:a="http://schemas.openxmlformats.org/drawingml/2006/main">
            <a:off x="704850" y="1285875"/>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900" b="1" i="0">
                <a:solidFill>
                  <a:srgbClr val="FFFFFF"/>
                </a:solidFill>
                <a:latin typeface="Arial"/>
                <a:ea typeface="Arial"/>
                <a:cs typeface="Arial"/>
              </a:defRPr>
            </a:pPr>
            <a:r>
              <a:rPr sz="3900" b="1" i="0">
                <a:solidFill>
                  <a:srgbClr val="FFFFFF"/>
                </a:solidFill>
                <a:latin typeface="Arial"/>
                <a:ea typeface="Arial"/>
                <a:cs typeface="Arial"/>
              </a:rPr>
              <a:t>Prime Search at Scale</a:t>
            </a:r>
          </a:p>
        </p:txBody>
      </p:sp>
      <p:sp>
        <p:nvSpPr>
          <p:cNvPr id="4" name="">
            <a:extLst xmlns:a="http://schemas.openxmlformats.org/drawingml/2006/main">
              <a:ext uri="{FF2B5EF4-FFF2-40B4-BE49-F238E27FC236}">
                <a16:creationId xmlns:a16="http://schemas.microsoft.com/office/drawing/2014/main" id="{6236E4C4-1EA8-4A06-89C0-1163817EFF6D}"/>
              </a:ext>
            </a:extLst>
          </p:cNvPr>
          <p:cNvSpPr>
            <a:spLocks xmlns:a="http://schemas.openxmlformats.org/drawingml/2006/main" noGrp="1"/>
          </p:cNvSpPr>
          <p:nvPr/>
        </p:nvSpPr>
        <p:spPr>
          <a:xfrm xmlns:a="http://schemas.openxmlformats.org/drawingml/2006/main">
            <a:off x="704850" y="21145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0" i="0">
                <a:solidFill>
                  <a:srgbClr val="D4F4F2"/>
                </a:solidFill>
                <a:latin typeface="Arial"/>
                <a:ea typeface="Arial"/>
                <a:cs typeface="Arial"/>
              </a:defRPr>
            </a:pPr>
            <a:r>
              <a:rPr sz="2175" b="0" i="0">
                <a:solidFill>
                  <a:srgbClr val="D4F4F2"/>
                </a:solidFill>
                <a:latin typeface="Arial"/>
                <a:ea typeface="Arial"/>
                <a:cs typeface="Arial"/>
              </a:rPr>
              <a:t>Open MPI and hybrid MPI + OpenMP</a:t>
            </a:r>
          </a:p>
        </p:txBody>
      </p:sp>
      <p:sp>
        <p:nvSpPr>
          <p:cNvPr id="5" name="">
            <a:extLst xmlns:a="http://schemas.openxmlformats.org/drawingml/2006/main">
              <a:ext uri="{FF2B5EF4-FFF2-40B4-BE49-F238E27FC236}">
                <a16:creationId xmlns:a16="http://schemas.microsoft.com/office/drawing/2014/main" id="{18269966-3D19-4E14-A350-E558208892EE}"/>
              </a:ext>
            </a:extLst>
          </p:cNvPr>
          <p:cNvSpPr>
            <a:spLocks xmlns:a="http://schemas.openxmlformats.org/drawingml/2006/main" noGrp="1"/>
          </p:cNvSpPr>
          <p:nvPr/>
        </p:nvSpPr>
        <p:spPr>
          <a:xfrm xmlns:a="http://schemas.openxmlformats.org/drawingml/2006/main">
            <a:off x="704850" y="3028950"/>
            <a:ext cx="4476750" cy="47625"/>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6" name="">
            <a:extLst xmlns:a="http://schemas.openxmlformats.org/drawingml/2006/main">
              <a:ext uri="{FF2B5EF4-FFF2-40B4-BE49-F238E27FC236}">
                <a16:creationId xmlns:a16="http://schemas.microsoft.com/office/drawing/2014/main" id="{53CCF626-6E0E-415F-8C8B-5077F6CC6578}"/>
              </a:ext>
            </a:extLst>
          </p:cNvPr>
          <p:cNvSpPr>
            <a:spLocks xmlns:a="http://schemas.openxmlformats.org/drawingml/2006/main" noGrp="1"/>
          </p:cNvSpPr>
          <p:nvPr/>
        </p:nvSpPr>
        <p:spPr>
          <a:xfrm xmlns:a="http://schemas.openxmlformats.org/drawingml/2006/main">
            <a:off x="704850" y="33337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0" i="0">
                <a:solidFill>
                  <a:srgbClr val="FFFFFF"/>
                </a:solidFill>
                <a:latin typeface="Arial"/>
                <a:ea typeface="Arial"/>
                <a:cs typeface="Arial"/>
              </a:defRPr>
            </a:pPr>
            <a:r>
              <a:rPr sz="1650" b="0" i="0">
                <a:solidFill>
                  <a:srgbClr val="FFFFFF"/>
                </a:solidFill>
                <a:latin typeface="Arial"/>
                <a:ea typeface="Arial"/>
                <a:cs typeface="Arial"/>
              </a:rPr>
              <a:t>Correctness • workload balance • measured scalability</a:t>
            </a:r>
          </a:p>
        </p:txBody>
      </p:sp>
      <p:sp>
        <p:nvSpPr>
          <p:cNvPr id="7" name="">
            <a:extLst xmlns:a="http://schemas.openxmlformats.org/drawingml/2006/main">
              <a:ext uri="{FF2B5EF4-FFF2-40B4-BE49-F238E27FC236}">
                <a16:creationId xmlns:a16="http://schemas.microsoft.com/office/drawing/2014/main" id="{DAAAB625-8606-42B1-B7CA-3EDD44BC7F68}"/>
              </a:ext>
            </a:extLst>
          </p:cNvPr>
          <p:cNvSpPr>
            <a:spLocks xmlns:a="http://schemas.openxmlformats.org/drawingml/2006/main" noGrp="1"/>
          </p:cNvSpPr>
          <p:nvPr/>
        </p:nvSpPr>
        <p:spPr>
          <a:xfrm xmlns:a="http://schemas.openxmlformats.org/drawingml/2006/main">
            <a:off x="704850" y="4810125"/>
            <a:ext cx="781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Savin Vindiv De Alwis (35221631)</a:t>
            </a:r>
          </a:p>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Willwara Arachchilage Shamle Imal Thilaksiri (35512075)</a:t>
            </a:r>
          </a:p>
        </p:txBody>
      </p:sp>
      <p:sp>
        <p:nvSpPr>
          <p:cNvPr id="8" name="">
            <a:extLst xmlns:a="http://schemas.openxmlformats.org/drawingml/2006/main">
              <a:ext uri="{FF2B5EF4-FFF2-40B4-BE49-F238E27FC236}">
                <a16:creationId xmlns:a16="http://schemas.microsoft.com/office/drawing/2014/main" id="{D7923E41-F996-4FB7-BDFD-987BB48DB1C9}"/>
              </a:ext>
            </a:extLst>
          </p:cNvPr>
          <p:cNvSpPr>
            <a:spLocks xmlns:a="http://schemas.openxmlformats.org/drawingml/2006/main" noGrp="1"/>
          </p:cNvSpPr>
          <p:nvPr/>
        </p:nvSpPr>
        <p:spPr>
          <a:xfrm xmlns:a="http://schemas.openxmlformats.org/drawingml/2006/main">
            <a:off x="704850" y="59055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Main presentation: 6 min 25 s</a:t>
            </a:r>
          </a:p>
        </p:txBody>
      </p:sp>
    </p:spTree>
    <p:extLst>
      <p:ext uri="{BB962C8B-B14F-4D97-AF65-F5344CB8AC3E}">
        <p14:creationId xmlns:p14="http://schemas.microsoft.com/office/powerpoint/2010/main" val="2039083254"/>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6D75893-93CA-48CA-B39D-F4CD0A8B431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5D48F589-5274-437A-8D92-47EAD3FB9221}"/>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C3B1CEC9-57AF-40D8-B5E7-AF609A537CEE}"/>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Experimental setup and correctness</a:t>
            </a:r>
          </a:p>
        </p:txBody>
      </p:sp>
      <p:sp>
        <p:nvSpPr>
          <p:cNvPr id="4" name="">
            <a:extLst xmlns:a="http://schemas.openxmlformats.org/drawingml/2006/main">
              <a:ext uri="{FF2B5EF4-FFF2-40B4-BE49-F238E27FC236}">
                <a16:creationId xmlns:a16="http://schemas.microsoft.com/office/drawing/2014/main" id="{12DED049-E93D-4690-ABE6-3FF85F4D96A0}"/>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2 / 9</a:t>
            </a:r>
          </a:p>
        </p:txBody>
      </p:sp>
      <p:sp>
        <p:nvSpPr>
          <p:cNvPr id="5" name="">
            <a:extLst xmlns:a="http://schemas.openxmlformats.org/drawingml/2006/main">
              <a:ext uri="{FF2B5EF4-FFF2-40B4-BE49-F238E27FC236}">
                <a16:creationId xmlns:a16="http://schemas.microsoft.com/office/drawing/2014/main" id="{504A4598-65CA-4E91-8E54-8E464C5260D2}"/>
              </a:ext>
            </a:extLst>
          </p:cNvPr>
          <p:cNvSpPr>
            <a:spLocks xmlns:a="http://schemas.openxmlformats.org/drawingml/2006/main" noGrp="1"/>
          </p:cNvSpPr>
          <p:nvPr/>
        </p:nvSpPr>
        <p:spPr>
          <a:xfrm xmlns:a="http://schemas.openxmlformats.org/drawingml/2006/main">
            <a:off x="5524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18B087C5-8192-43D5-B819-4815283AEF53}"/>
              </a:ext>
            </a:extLst>
          </p:cNvPr>
          <p:cNvSpPr>
            <a:spLocks xmlns:a="http://schemas.openxmlformats.org/drawingml/2006/main" noGrp="1"/>
          </p:cNvSpPr>
          <p:nvPr/>
        </p:nvSpPr>
        <p:spPr>
          <a:xfrm xmlns:a="http://schemas.openxmlformats.org/drawingml/2006/main">
            <a:off x="552450" y="1162050"/>
            <a:ext cx="66675" cy="142875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5CBC2E4D-3BC8-4193-BD20-ED602C75CC48}"/>
              </a:ext>
            </a:extLst>
          </p:cNvPr>
          <p:cNvSpPr>
            <a:spLocks xmlns:a="http://schemas.openxmlformats.org/drawingml/2006/main" noGrp="1"/>
          </p:cNvSpPr>
          <p:nvPr/>
        </p:nvSpPr>
        <p:spPr>
          <a:xfrm xmlns:a="http://schemas.openxmlformats.org/drawingml/2006/main">
            <a:off x="7620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PLATFORM</a:t>
            </a:r>
          </a:p>
        </p:txBody>
      </p:sp>
      <p:sp>
        <p:nvSpPr>
          <p:cNvPr id="8" name="">
            <a:extLst xmlns:a="http://schemas.openxmlformats.org/drawingml/2006/main">
              <a:ext uri="{FF2B5EF4-FFF2-40B4-BE49-F238E27FC236}">
                <a16:creationId xmlns:a16="http://schemas.microsoft.com/office/drawing/2014/main" id="{FFE7F769-6A15-450E-9826-A3DBE3770115}"/>
              </a:ext>
            </a:extLst>
          </p:cNvPr>
          <p:cNvSpPr>
            <a:spLocks xmlns:a="http://schemas.openxmlformats.org/drawingml/2006/main" noGrp="1"/>
          </p:cNvSpPr>
          <p:nvPr/>
        </p:nvSpPr>
        <p:spPr>
          <a:xfrm xmlns:a="http://schemas.openxmlformats.org/drawingml/2006/main">
            <a:off x="7620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1 node • 14C / 20T</a:t>
            </a:r>
          </a:p>
        </p:txBody>
      </p:sp>
      <p:sp>
        <p:nvSpPr>
          <p:cNvPr id="9" name="">
            <a:extLst xmlns:a="http://schemas.openxmlformats.org/drawingml/2006/main">
              <a:ext uri="{FF2B5EF4-FFF2-40B4-BE49-F238E27FC236}">
                <a16:creationId xmlns:a16="http://schemas.microsoft.com/office/drawing/2014/main" id="{8DDA1AC8-63DB-47EA-8FAD-DBF952686007}"/>
              </a:ext>
            </a:extLst>
          </p:cNvPr>
          <p:cNvSpPr>
            <a:spLocks xmlns:a="http://schemas.openxmlformats.org/drawingml/2006/main" noGrp="1"/>
          </p:cNvSpPr>
          <p:nvPr/>
        </p:nvSpPr>
        <p:spPr>
          <a:xfrm xmlns:a="http://schemas.openxmlformats.org/drawingml/2006/main">
            <a:off x="7620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WSL2 Ubuntu • Open MPI 4.1.6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Intel Core i7-13700H</a:t>
            </a:r>
          </a:p>
        </p:txBody>
      </p:sp>
      <p:sp>
        <p:nvSpPr>
          <p:cNvPr id="10" name="">
            <a:extLst xmlns:a="http://schemas.openxmlformats.org/drawingml/2006/main">
              <a:ext uri="{FF2B5EF4-FFF2-40B4-BE49-F238E27FC236}">
                <a16:creationId xmlns:a16="http://schemas.microsoft.com/office/drawing/2014/main" id="{50DC2CE0-1B15-4F03-9D77-8548AD80E370}"/>
              </a:ext>
            </a:extLst>
          </p:cNvPr>
          <p:cNvSpPr>
            <a:spLocks xmlns:a="http://schemas.openxmlformats.org/drawingml/2006/main" noGrp="1"/>
          </p:cNvSpPr>
          <p:nvPr/>
        </p:nvSpPr>
        <p:spPr>
          <a:xfrm xmlns:a="http://schemas.openxmlformats.org/drawingml/2006/main">
            <a:off x="438150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1" name="">
            <a:extLst xmlns:a="http://schemas.openxmlformats.org/drawingml/2006/main">
              <a:ext uri="{FF2B5EF4-FFF2-40B4-BE49-F238E27FC236}">
                <a16:creationId xmlns:a16="http://schemas.microsoft.com/office/drawing/2014/main" id="{750C483A-CC15-4501-A722-CA4E5602541C}"/>
              </a:ext>
            </a:extLst>
          </p:cNvPr>
          <p:cNvSpPr>
            <a:spLocks xmlns:a="http://schemas.openxmlformats.org/drawingml/2006/main" noGrp="1"/>
          </p:cNvSpPr>
          <p:nvPr/>
        </p:nvSpPr>
        <p:spPr>
          <a:xfrm xmlns:a="http://schemas.openxmlformats.org/drawingml/2006/main">
            <a:off x="4381500" y="1162050"/>
            <a:ext cx="66675" cy="14287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12" name="">
            <a:extLst xmlns:a="http://schemas.openxmlformats.org/drawingml/2006/main">
              <a:ext uri="{FF2B5EF4-FFF2-40B4-BE49-F238E27FC236}">
                <a16:creationId xmlns:a16="http://schemas.microsoft.com/office/drawing/2014/main" id="{95D74708-8DAD-4622-B4F9-A3B2E90464E5}"/>
              </a:ext>
            </a:extLst>
          </p:cNvPr>
          <p:cNvSpPr>
            <a:spLocks xmlns:a="http://schemas.openxmlformats.org/drawingml/2006/main" noGrp="1"/>
          </p:cNvSpPr>
          <p:nvPr/>
        </p:nvSpPr>
        <p:spPr>
          <a:xfrm xmlns:a="http://schemas.openxmlformats.org/drawingml/2006/main">
            <a:off x="459105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PRIMARY WORKLOAD</a:t>
            </a:r>
          </a:p>
        </p:txBody>
      </p:sp>
      <p:sp>
        <p:nvSpPr>
          <p:cNvPr id="13" name="">
            <a:extLst xmlns:a="http://schemas.openxmlformats.org/drawingml/2006/main">
              <a:ext uri="{FF2B5EF4-FFF2-40B4-BE49-F238E27FC236}">
                <a16:creationId xmlns:a16="http://schemas.microsoft.com/office/drawing/2014/main" id="{E52FD5B7-A981-431F-A887-6E6FE6FEA2B8}"/>
              </a:ext>
            </a:extLst>
          </p:cNvPr>
          <p:cNvSpPr>
            <a:spLocks xmlns:a="http://schemas.openxmlformats.org/drawingml/2006/main" noGrp="1"/>
          </p:cNvSpPr>
          <p:nvPr/>
        </p:nvSpPr>
        <p:spPr>
          <a:xfrm xmlns:a="http://schemas.openxmlformats.org/drawingml/2006/main">
            <a:off x="459105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n = 60,000,000</a:t>
            </a:r>
          </a:p>
        </p:txBody>
      </p:sp>
      <p:sp>
        <p:nvSpPr>
          <p:cNvPr id="14" name="">
            <a:extLst xmlns:a="http://schemas.openxmlformats.org/drawingml/2006/main">
              <a:ext uri="{FF2B5EF4-FFF2-40B4-BE49-F238E27FC236}">
                <a16:creationId xmlns:a16="http://schemas.microsoft.com/office/drawing/2014/main" id="{4D092E99-DBA8-4B68-A4FF-54C2F1B1BD3D}"/>
              </a:ext>
            </a:extLst>
          </p:cNvPr>
          <p:cNvSpPr>
            <a:spLocks xmlns:a="http://schemas.openxmlformats.org/drawingml/2006/main" noGrp="1"/>
          </p:cNvSpPr>
          <p:nvPr/>
        </p:nvSpPr>
        <p:spPr>
          <a:xfrm xmlns:a="http://schemas.openxmlformats.org/drawingml/2006/main">
            <a:off x="459105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3,562,115 primes below n</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all output written by rank 0</a:t>
            </a:r>
          </a:p>
        </p:txBody>
      </p:sp>
      <p:sp>
        <p:nvSpPr>
          <p:cNvPr id="15" name="">
            <a:extLst xmlns:a="http://schemas.openxmlformats.org/drawingml/2006/main">
              <a:ext uri="{FF2B5EF4-FFF2-40B4-BE49-F238E27FC236}">
                <a16:creationId xmlns:a16="http://schemas.microsoft.com/office/drawing/2014/main" id="{D2830A7A-47F6-4A72-B413-886F500A7DE1}"/>
              </a:ext>
            </a:extLst>
          </p:cNvPr>
          <p:cNvSpPr>
            <a:spLocks xmlns:a="http://schemas.openxmlformats.org/drawingml/2006/main" noGrp="1"/>
          </p:cNvSpPr>
          <p:nvPr/>
        </p:nvSpPr>
        <p:spPr>
          <a:xfrm xmlns:a="http://schemas.openxmlformats.org/drawingml/2006/main">
            <a:off x="82105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6" name="">
            <a:extLst xmlns:a="http://schemas.openxmlformats.org/drawingml/2006/main">
              <a:ext uri="{FF2B5EF4-FFF2-40B4-BE49-F238E27FC236}">
                <a16:creationId xmlns:a16="http://schemas.microsoft.com/office/drawing/2014/main" id="{FC0BC9AA-861D-4B81-BFA0-30AD1AB1ED5F}"/>
              </a:ext>
            </a:extLst>
          </p:cNvPr>
          <p:cNvSpPr>
            <a:spLocks xmlns:a="http://schemas.openxmlformats.org/drawingml/2006/main" noGrp="1"/>
          </p:cNvSpPr>
          <p:nvPr/>
        </p:nvSpPr>
        <p:spPr>
          <a:xfrm xmlns:a="http://schemas.openxmlformats.org/drawingml/2006/main">
            <a:off x="8210550" y="1162050"/>
            <a:ext cx="66675" cy="14287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17" name="">
            <a:extLst xmlns:a="http://schemas.openxmlformats.org/drawingml/2006/main">
              <a:ext uri="{FF2B5EF4-FFF2-40B4-BE49-F238E27FC236}">
                <a16:creationId xmlns:a16="http://schemas.microsoft.com/office/drawing/2014/main" id="{FBD8CB7A-B3BC-45AD-982F-F9FAA5D9605C}"/>
              </a:ext>
            </a:extLst>
          </p:cNvPr>
          <p:cNvSpPr>
            <a:spLocks xmlns:a="http://schemas.openxmlformats.org/drawingml/2006/main" noGrp="1"/>
          </p:cNvSpPr>
          <p:nvPr/>
        </p:nvSpPr>
        <p:spPr>
          <a:xfrm xmlns:a="http://schemas.openxmlformats.org/drawingml/2006/main">
            <a:off x="84201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COVERAGE</a:t>
            </a:r>
          </a:p>
        </p:txBody>
      </p:sp>
      <p:sp>
        <p:nvSpPr>
          <p:cNvPr id="18" name="">
            <a:extLst xmlns:a="http://schemas.openxmlformats.org/drawingml/2006/main">
              <a:ext uri="{FF2B5EF4-FFF2-40B4-BE49-F238E27FC236}">
                <a16:creationId xmlns:a16="http://schemas.microsoft.com/office/drawing/2014/main" id="{E56738F7-47B8-4D11-957D-2D7E47A5C4A1}"/>
              </a:ext>
            </a:extLst>
          </p:cNvPr>
          <p:cNvSpPr>
            <a:spLocks xmlns:a="http://schemas.openxmlformats.org/drawingml/2006/main" noGrp="1"/>
          </p:cNvSpPr>
          <p:nvPr/>
        </p:nvSpPr>
        <p:spPr>
          <a:xfrm xmlns:a="http://schemas.openxmlformats.org/drawingml/2006/main">
            <a:off x="84201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30 n values</a:t>
            </a:r>
          </a:p>
        </p:txBody>
      </p:sp>
      <p:sp>
        <p:nvSpPr>
          <p:cNvPr id="19" name="">
            <a:extLst xmlns:a="http://schemas.openxmlformats.org/drawingml/2006/main">
              <a:ext uri="{FF2B5EF4-FFF2-40B4-BE49-F238E27FC236}">
                <a16:creationId xmlns:a16="http://schemas.microsoft.com/office/drawing/2014/main" id="{0D2509D3-0E78-4969-9953-4905CAAF48C4}"/>
              </a:ext>
            </a:extLst>
          </p:cNvPr>
          <p:cNvSpPr>
            <a:spLocks xmlns:a="http://schemas.openxmlformats.org/drawingml/2006/main" noGrp="1"/>
          </p:cNvSpPr>
          <p:nvPr/>
        </p:nvSpPr>
        <p:spPr>
          <a:xfrm xmlns:a="http://schemas.openxmlformats.org/drawingml/2006/main">
            <a:off x="84201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20M–78M • MPI ranks 1–16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OpenMP threads 1–16 • up to 64 workers</a:t>
            </a:r>
          </a:p>
        </p:txBody>
      </p:sp>
      <p:sp>
        <p:nvSpPr>
          <p:cNvPr id="20" name="">
            <a:extLst xmlns:a="http://schemas.openxmlformats.org/drawingml/2006/main">
              <a:ext uri="{FF2B5EF4-FFF2-40B4-BE49-F238E27FC236}">
                <a16:creationId xmlns:a16="http://schemas.microsoft.com/office/drawing/2014/main" id="{C04C553A-FC3E-473D-AAB4-30B1ADA14A37}"/>
              </a:ext>
            </a:extLst>
          </p:cNvPr>
          <p:cNvSpPr>
            <a:spLocks xmlns:a="http://schemas.openxmlformats.org/drawingml/2006/main" noGrp="1"/>
          </p:cNvSpPr>
          <p:nvPr/>
        </p:nvSpPr>
        <p:spPr>
          <a:xfrm xmlns:a="http://schemas.openxmlformats.org/drawingml/2006/main">
            <a:off x="552450" y="2952750"/>
            <a:ext cx="53340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9525">
            <a:solidFill>
              <a:srgbClr val="D9E2EC"/>
            </a:solidFill>
          </a:ln>
        </p:spPr>
      </p:sp>
      <p:sp>
        <p:nvSpPr>
          <p:cNvPr id="21" name="">
            <a:extLst xmlns:a="http://schemas.openxmlformats.org/drawingml/2006/main">
              <a:ext uri="{FF2B5EF4-FFF2-40B4-BE49-F238E27FC236}">
                <a16:creationId xmlns:a16="http://schemas.microsoft.com/office/drawing/2014/main" id="{842D42E6-8286-4CE4-8CEA-11BF98D91729}"/>
              </a:ext>
            </a:extLst>
          </p:cNvPr>
          <p:cNvSpPr>
            <a:spLocks xmlns:a="http://schemas.openxmlformats.org/drawingml/2006/main" noGrp="1"/>
          </p:cNvSpPr>
          <p:nvPr/>
        </p:nvSpPr>
        <p:spPr>
          <a:xfrm xmlns:a="http://schemas.openxmlformats.org/drawingml/2006/main">
            <a:off x="78105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Measurement discipline</a:t>
            </a:r>
          </a:p>
        </p:txBody>
      </p:sp>
      <p:sp>
        <p:nvSpPr>
          <p:cNvPr id="22" name="">
            <a:extLst xmlns:a="http://schemas.openxmlformats.org/drawingml/2006/main">
              <a:ext uri="{FF2B5EF4-FFF2-40B4-BE49-F238E27FC236}">
                <a16:creationId xmlns:a16="http://schemas.microsoft.com/office/drawing/2014/main" id="{692CE3D6-4CCE-444A-9F7F-EC428021D48B}"/>
              </a:ext>
            </a:extLst>
          </p:cNvPr>
          <p:cNvSpPr>
            <a:spLocks xmlns:a="http://schemas.openxmlformats.org/drawingml/2006/main" noGrp="1"/>
          </p:cNvSpPr>
          <p:nvPr/>
        </p:nvSpPr>
        <p:spPr>
          <a:xfrm xmlns:a="http://schemas.openxmlformats.org/drawingml/2006/main">
            <a:off x="781050" y="36766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Process and hybrid scaling</a:t>
            </a:r>
          </a:p>
        </p:txBody>
      </p:sp>
      <p:sp>
        <p:nvSpPr>
          <p:cNvPr id="23" name="">
            <a:extLst xmlns:a="http://schemas.openxmlformats.org/drawingml/2006/main">
              <a:ext uri="{FF2B5EF4-FFF2-40B4-BE49-F238E27FC236}">
                <a16:creationId xmlns:a16="http://schemas.microsoft.com/office/drawing/2014/main" id="{397FC53D-DB9E-4E55-B4F5-932B3DFEDB8A}"/>
              </a:ext>
            </a:extLst>
          </p:cNvPr>
          <p:cNvSpPr>
            <a:spLocks xmlns:a="http://schemas.openxmlformats.org/drawingml/2006/main" noGrp="1"/>
          </p:cNvSpPr>
          <p:nvPr/>
        </p:nvSpPr>
        <p:spPr>
          <a:xfrm xmlns:a="http://schemas.openxmlformats.org/drawingml/2006/main">
            <a:off x="781050" y="394335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Median of 3 end-to-end runs; computation, gather and root post-processing recorded separately.</a:t>
            </a:r>
          </a:p>
        </p:txBody>
      </p:sp>
      <p:sp>
        <p:nvSpPr>
          <p:cNvPr id="24" name="">
            <a:extLst xmlns:a="http://schemas.openxmlformats.org/drawingml/2006/main">
              <a:ext uri="{FF2B5EF4-FFF2-40B4-BE49-F238E27FC236}">
                <a16:creationId xmlns:a16="http://schemas.microsoft.com/office/drawing/2014/main" id="{9FBF3372-E4CC-483C-BADB-FBEA7BAAB45E}"/>
              </a:ext>
            </a:extLst>
          </p:cNvPr>
          <p:cNvSpPr>
            <a:spLocks xmlns:a="http://schemas.openxmlformats.org/drawingml/2006/main" noGrp="1"/>
          </p:cNvSpPr>
          <p:nvPr/>
        </p:nvSpPr>
        <p:spPr>
          <a:xfrm xmlns:a="http://schemas.openxmlformats.org/drawingml/2006/main">
            <a:off x="781050" y="47244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n sweep</a:t>
            </a:r>
          </a:p>
        </p:txBody>
      </p:sp>
      <p:sp>
        <p:nvSpPr>
          <p:cNvPr id="25" name="">
            <a:extLst xmlns:a="http://schemas.openxmlformats.org/drawingml/2006/main">
              <a:ext uri="{FF2B5EF4-FFF2-40B4-BE49-F238E27FC236}">
                <a16:creationId xmlns:a16="http://schemas.microsoft.com/office/drawing/2014/main" id="{E3C30407-D38C-4FEB-90DF-CAEBDF61D7A3}"/>
              </a:ext>
            </a:extLst>
          </p:cNvPr>
          <p:cNvSpPr>
            <a:spLocks xmlns:a="http://schemas.openxmlformats.org/drawingml/2006/main" noGrp="1"/>
          </p:cNvSpPr>
          <p:nvPr/>
        </p:nvSpPr>
        <p:spPr>
          <a:xfrm xmlns:a="http://schemas.openxmlformats.org/drawingml/2006/main">
            <a:off x="781050" y="499110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One run at every required n; every runtime exceeds one second. Oversubscription is included explicitly.</a:t>
            </a:r>
          </a:p>
        </p:txBody>
      </p:sp>
      <p:sp>
        <p:nvSpPr>
          <p:cNvPr id="26" name="">
            <a:extLst xmlns:a="http://schemas.openxmlformats.org/drawingml/2006/main">
              <a:ext uri="{FF2B5EF4-FFF2-40B4-BE49-F238E27FC236}">
                <a16:creationId xmlns:a16="http://schemas.microsoft.com/office/drawing/2014/main" id="{15F23F36-59D4-4E18-80FF-5E9863979DC2}"/>
              </a:ext>
            </a:extLst>
          </p:cNvPr>
          <p:cNvSpPr>
            <a:spLocks xmlns:a="http://schemas.openxmlformats.org/drawingml/2006/main" noGrp="1"/>
          </p:cNvSpPr>
          <p:nvPr/>
        </p:nvSpPr>
        <p:spPr>
          <a:xfrm xmlns:a="http://schemas.openxmlformats.org/drawingml/2006/main">
            <a:off x="6210300" y="2952750"/>
            <a:ext cx="5429250" cy="2762250"/>
          </a:xfrm>
          <a:prstGeom xmlns:a="http://schemas.openxmlformats.org/drawingml/2006/main" prst="roundRect">
            <a:avLst>
              <a:gd name="adj" fmla="val 2759"/>
            </a:avLst>
          </a:prstGeom>
          <a:solidFill xmlns:a="http://schemas.openxmlformats.org/drawingml/2006/main">
            <a:srgbClr val="E6FFFA"/>
          </a:solidFill>
          <a:ln xmlns:a="http://schemas.openxmlformats.org/drawingml/2006/main" w="9525">
            <a:solidFill>
              <a:srgbClr val="9ED9D5"/>
            </a:solidFill>
          </a:ln>
        </p:spPr>
      </p:sp>
      <p:sp>
        <p:nvSpPr>
          <p:cNvPr id="27" name="">
            <a:extLst xmlns:a="http://schemas.openxmlformats.org/drawingml/2006/main">
              <a:ext uri="{FF2B5EF4-FFF2-40B4-BE49-F238E27FC236}">
                <a16:creationId xmlns:a16="http://schemas.microsoft.com/office/drawing/2014/main" id="{4A6B08E7-C3F8-4321-AD44-B38AB592BA9F}"/>
              </a:ext>
            </a:extLst>
          </p:cNvPr>
          <p:cNvSpPr>
            <a:spLocks xmlns:a="http://schemas.openxmlformats.org/drawingml/2006/main" noGrp="1"/>
          </p:cNvSpPr>
          <p:nvPr/>
        </p:nvSpPr>
        <p:spPr>
          <a:xfrm xmlns:a="http://schemas.openxmlformats.org/drawingml/2006/main">
            <a:off x="647700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Independent exact validation</a:t>
            </a:r>
          </a:p>
        </p:txBody>
      </p:sp>
      <p:sp>
        <p:nvSpPr>
          <p:cNvPr id="28" name="">
            <a:extLst xmlns:a="http://schemas.openxmlformats.org/drawingml/2006/main">
              <a:ext uri="{FF2B5EF4-FFF2-40B4-BE49-F238E27FC236}">
                <a16:creationId xmlns:a16="http://schemas.microsoft.com/office/drawing/2014/main" id="{25A2F0AD-4DD3-44DB-BD56-88DD9E1A2328}"/>
              </a:ext>
            </a:extLst>
          </p:cNvPr>
          <p:cNvSpPr>
            <a:spLocks xmlns:a="http://schemas.openxmlformats.org/drawingml/2006/main" noGrp="1"/>
          </p:cNvSpPr>
          <p:nvPr/>
        </p:nvSpPr>
        <p:spPr>
          <a:xfrm xmlns:a="http://schemas.openxmlformats.org/drawingml/2006/main">
            <a:off x="6477000" y="36957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Both programs were compared value-for-value with a separate sieve across MPI ranks 1–5 and thread counts 1–3, including n = 0, 1, 2, 3, 4, 10 and 1000.</a:t>
            </a:r>
          </a:p>
        </p:txBody>
      </p:sp>
      <p:sp>
        <p:nvSpPr>
          <p:cNvPr id="29" name="">
            <a:extLst xmlns:a="http://schemas.openxmlformats.org/drawingml/2006/main">
              <a:ext uri="{FF2B5EF4-FFF2-40B4-BE49-F238E27FC236}">
                <a16:creationId xmlns:a16="http://schemas.microsoft.com/office/drawing/2014/main" id="{74B7DB5D-9B91-4DBC-BCDE-13085D542D70}"/>
              </a:ext>
            </a:extLst>
          </p:cNvPr>
          <p:cNvSpPr>
            <a:spLocks xmlns:a="http://schemas.openxmlformats.org/drawingml/2006/main" noGrp="1"/>
          </p:cNvSpPr>
          <p:nvPr/>
        </p:nvSpPr>
        <p:spPr>
          <a:xfrm xmlns:a="http://schemas.openxmlformats.org/drawingml/2006/main">
            <a:off x="6477000" y="4972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i="0">
                <a:solidFill>
                  <a:srgbClr val="2F855A"/>
                </a:solidFill>
                <a:latin typeface="Arial"/>
                <a:ea typeface="Arial"/>
                <a:cs typeface="Arial"/>
              </a:defRPr>
            </a:pPr>
            <a:r>
              <a:rPr sz="1425" b="1" i="0">
                <a:solidFill>
                  <a:srgbClr val="2F855A"/>
                </a:solidFill>
                <a:latin typeface="Arial"/>
                <a:ea typeface="Arial"/>
                <a:cs typeface="Arial"/>
              </a:rPr>
              <a:t>PASS: sorted • unique • complete • prime-only • &lt; n</a:t>
            </a:r>
          </a:p>
        </p:txBody>
      </p:sp>
    </p:spTree>
    <p:extLst>
      <p:ext uri="{BB962C8B-B14F-4D97-AF65-F5344CB8AC3E}">
        <p14:creationId xmlns:p14="http://schemas.microsoft.com/office/powerpoint/2010/main" val="1311654020"/>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65A300FE-FEDA-40F6-B1AE-35C019CB3AF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489396FD-9952-437A-B9BA-C1B06AFA787A}"/>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F1870A38-D6DC-40BC-84F9-BB69B79C3237}"/>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1: robust block-cyclic MPI partition</a:t>
            </a:r>
          </a:p>
        </p:txBody>
      </p:sp>
      <p:sp>
        <p:nvSpPr>
          <p:cNvPr id="4" name="">
            <a:extLst xmlns:a="http://schemas.openxmlformats.org/drawingml/2006/main">
              <a:ext uri="{FF2B5EF4-FFF2-40B4-BE49-F238E27FC236}">
                <a16:creationId xmlns:a16="http://schemas.microsoft.com/office/drawing/2014/main" id="{71F81F62-6F82-47F6-9130-E636F217AF9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3 / 9</a:t>
            </a:r>
          </a:p>
        </p:txBody>
      </p:sp>
      <p:sp>
        <p:nvSpPr>
          <p:cNvPr id="5" name="">
            <a:extLst xmlns:a="http://schemas.openxmlformats.org/drawingml/2006/main">
              <a:ext uri="{FF2B5EF4-FFF2-40B4-BE49-F238E27FC236}">
                <a16:creationId xmlns:a16="http://schemas.microsoft.com/office/drawing/2014/main" id="{311E020D-CE95-44FC-9FC0-75CB173CBBFD}"/>
              </a:ext>
            </a:extLst>
          </p:cNvPr>
          <p:cNvSpPr>
            <a:spLocks xmlns:a="http://schemas.openxmlformats.org/drawingml/2006/main" noGrp="1"/>
          </p:cNvSpPr>
          <p:nvPr/>
        </p:nvSpPr>
        <p:spPr>
          <a:xfrm xmlns:a="http://schemas.openxmlformats.org/drawingml/2006/main">
            <a:off x="552450" y="1143000"/>
            <a:ext cx="51435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90F43151-7E2C-4EDB-8AD7-97698F491DBB}"/>
              </a:ext>
            </a:extLst>
          </p:cNvPr>
          <p:cNvSpPr>
            <a:spLocks xmlns:a="http://schemas.openxmlformats.org/drawingml/2006/main" noGrp="1"/>
          </p:cNvSpPr>
          <p:nvPr/>
        </p:nvSpPr>
        <p:spPr>
          <a:xfrm xmlns:a="http://schemas.openxmlformats.org/drawingml/2006/main">
            <a:off x="781050" y="135255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1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Odd-candidate index space</a:t>
            </a:r>
          </a:p>
        </p:txBody>
      </p:sp>
      <p:sp>
        <p:nvSpPr>
          <p:cNvPr id="7" name="">
            <a:extLst xmlns:a="http://schemas.openxmlformats.org/drawingml/2006/main">
              <a:ext uri="{FF2B5EF4-FFF2-40B4-BE49-F238E27FC236}">
                <a16:creationId xmlns:a16="http://schemas.microsoft.com/office/drawing/2014/main" id="{E3B405AD-A4A8-43D2-AA85-F2342C0E07FC}"/>
              </a:ext>
            </a:extLst>
          </p:cNvPr>
          <p:cNvSpPr>
            <a:spLocks xmlns:a="http://schemas.openxmlformats.org/drawingml/2006/main" noGrp="1"/>
          </p:cNvSpPr>
          <p:nvPr/>
        </p:nvSpPr>
        <p:spPr>
          <a:xfrm xmlns:a="http://schemas.openxmlformats.org/drawingml/2006/main">
            <a:off x="781050" y="16954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Chunks of 64 odd candidates are assigned round-robin.</a:t>
            </a:r>
          </a:p>
        </p:txBody>
      </p:sp>
      <p:sp>
        <p:nvSpPr>
          <p:cNvPr id="8" name="">
            <a:extLst xmlns:a="http://schemas.openxmlformats.org/drawingml/2006/main">
              <a:ext uri="{FF2B5EF4-FFF2-40B4-BE49-F238E27FC236}">
                <a16:creationId xmlns:a16="http://schemas.microsoft.com/office/drawing/2014/main" id="{F2E50BDD-C818-438C-9237-8C7EE1963BF3}"/>
              </a:ext>
            </a:extLst>
          </p:cNvPr>
          <p:cNvSpPr>
            <a:spLocks xmlns:a="http://schemas.openxmlformats.org/drawingml/2006/main" noGrp="1"/>
          </p:cNvSpPr>
          <p:nvPr/>
        </p:nvSpPr>
        <p:spPr>
          <a:xfrm xmlns:a="http://schemas.openxmlformats.org/drawingml/2006/main">
            <a:off x="819150" y="21907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3B6FB6"/>
                </a:solidFill>
                <a:latin typeface="Arial"/>
                <a:ea typeface="Arial"/>
                <a:cs typeface="Arial"/>
              </a:defRPr>
            </a:pPr>
            <a:r>
              <a:rPr sz="1125" b="1" i="0">
                <a:solidFill>
                  <a:srgbClr val="3B6FB6"/>
                </a:solidFill>
                <a:latin typeface="Arial"/>
                <a:ea typeface="Arial"/>
                <a:cs typeface="Arial"/>
              </a:rPr>
              <a:t>rank 0</a:t>
            </a:r>
          </a:p>
        </p:txBody>
      </p:sp>
      <p:sp>
        <p:nvSpPr>
          <p:cNvPr id="9" name="">
            <a:extLst xmlns:a="http://schemas.openxmlformats.org/drawingml/2006/main">
              <a:ext uri="{FF2B5EF4-FFF2-40B4-BE49-F238E27FC236}">
                <a16:creationId xmlns:a16="http://schemas.microsoft.com/office/drawing/2014/main" id="{A883C409-1644-4E51-BA1C-4ED7D7774E58}"/>
              </a:ext>
            </a:extLst>
          </p:cNvPr>
          <p:cNvSpPr>
            <a:spLocks xmlns:a="http://schemas.openxmlformats.org/drawingml/2006/main" noGrp="1"/>
          </p:cNvSpPr>
          <p:nvPr/>
        </p:nvSpPr>
        <p:spPr>
          <a:xfrm xmlns:a="http://schemas.openxmlformats.org/drawingml/2006/main">
            <a:off x="16192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0" name="">
            <a:extLst xmlns:a="http://schemas.openxmlformats.org/drawingml/2006/main">
              <a:ext uri="{FF2B5EF4-FFF2-40B4-BE49-F238E27FC236}">
                <a16:creationId xmlns:a16="http://schemas.microsoft.com/office/drawing/2014/main" id="{6671A8B2-F4BE-40EF-B97C-52B80D9FE012}"/>
              </a:ext>
            </a:extLst>
          </p:cNvPr>
          <p:cNvSpPr>
            <a:spLocks xmlns:a="http://schemas.openxmlformats.org/drawingml/2006/main" noGrp="1"/>
          </p:cNvSpPr>
          <p:nvPr/>
        </p:nvSpPr>
        <p:spPr>
          <a:xfrm xmlns:a="http://schemas.openxmlformats.org/drawingml/2006/main">
            <a:off x="16192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C0</a:t>
            </a:r>
          </a:p>
        </p:txBody>
      </p:sp>
      <p:sp>
        <p:nvSpPr>
          <p:cNvPr id="11" name="">
            <a:extLst xmlns:a="http://schemas.openxmlformats.org/drawingml/2006/main">
              <a:ext uri="{FF2B5EF4-FFF2-40B4-BE49-F238E27FC236}">
                <a16:creationId xmlns:a16="http://schemas.microsoft.com/office/drawing/2014/main" id="{C4C73E8F-45B2-4A8A-B241-EAA24FFDCF90}"/>
              </a:ext>
            </a:extLst>
          </p:cNvPr>
          <p:cNvSpPr>
            <a:spLocks xmlns:a="http://schemas.openxmlformats.org/drawingml/2006/main" noGrp="1"/>
          </p:cNvSpPr>
          <p:nvPr/>
        </p:nvSpPr>
        <p:spPr>
          <a:xfrm xmlns:a="http://schemas.openxmlformats.org/drawingml/2006/main">
            <a:off x="24003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2" name="">
            <a:extLst xmlns:a="http://schemas.openxmlformats.org/drawingml/2006/main">
              <a:ext uri="{FF2B5EF4-FFF2-40B4-BE49-F238E27FC236}">
                <a16:creationId xmlns:a16="http://schemas.microsoft.com/office/drawing/2014/main" id="{0094D486-D170-422F-B08D-3DA8762DCEA6}"/>
              </a:ext>
            </a:extLst>
          </p:cNvPr>
          <p:cNvSpPr>
            <a:spLocks xmlns:a="http://schemas.openxmlformats.org/drawingml/2006/main" noGrp="1"/>
          </p:cNvSpPr>
          <p:nvPr/>
        </p:nvSpPr>
        <p:spPr>
          <a:xfrm xmlns:a="http://schemas.openxmlformats.org/drawingml/2006/main">
            <a:off x="24003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C3</a:t>
            </a:r>
          </a:p>
        </p:txBody>
      </p:sp>
      <p:sp>
        <p:nvSpPr>
          <p:cNvPr id="13" name="">
            <a:extLst xmlns:a="http://schemas.openxmlformats.org/drawingml/2006/main">
              <a:ext uri="{FF2B5EF4-FFF2-40B4-BE49-F238E27FC236}">
                <a16:creationId xmlns:a16="http://schemas.microsoft.com/office/drawing/2014/main" id="{09AC0E33-768E-4877-965C-45587945D7C1}"/>
              </a:ext>
            </a:extLst>
          </p:cNvPr>
          <p:cNvSpPr>
            <a:spLocks xmlns:a="http://schemas.openxmlformats.org/drawingml/2006/main" noGrp="1"/>
          </p:cNvSpPr>
          <p:nvPr/>
        </p:nvSpPr>
        <p:spPr>
          <a:xfrm xmlns:a="http://schemas.openxmlformats.org/drawingml/2006/main">
            <a:off x="31813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4" name="">
            <a:extLst xmlns:a="http://schemas.openxmlformats.org/drawingml/2006/main">
              <a:ext uri="{FF2B5EF4-FFF2-40B4-BE49-F238E27FC236}">
                <a16:creationId xmlns:a16="http://schemas.microsoft.com/office/drawing/2014/main" id="{917E0B79-8769-460D-82DF-7020A9782861}"/>
              </a:ext>
            </a:extLst>
          </p:cNvPr>
          <p:cNvSpPr>
            <a:spLocks xmlns:a="http://schemas.openxmlformats.org/drawingml/2006/main" noGrp="1"/>
          </p:cNvSpPr>
          <p:nvPr/>
        </p:nvSpPr>
        <p:spPr>
          <a:xfrm xmlns:a="http://schemas.openxmlformats.org/drawingml/2006/main">
            <a:off x="31813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C6</a:t>
            </a:r>
          </a:p>
        </p:txBody>
      </p:sp>
      <p:sp>
        <p:nvSpPr>
          <p:cNvPr id="15" name="">
            <a:extLst xmlns:a="http://schemas.openxmlformats.org/drawingml/2006/main">
              <a:ext uri="{FF2B5EF4-FFF2-40B4-BE49-F238E27FC236}">
                <a16:creationId xmlns:a16="http://schemas.microsoft.com/office/drawing/2014/main" id="{AF5A0C5B-4C1D-4001-98F2-AABB5204DD92}"/>
              </a:ext>
            </a:extLst>
          </p:cNvPr>
          <p:cNvSpPr>
            <a:spLocks xmlns:a="http://schemas.openxmlformats.org/drawingml/2006/main" noGrp="1"/>
          </p:cNvSpPr>
          <p:nvPr/>
        </p:nvSpPr>
        <p:spPr>
          <a:xfrm xmlns:a="http://schemas.openxmlformats.org/drawingml/2006/main">
            <a:off x="39624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6" name="">
            <a:extLst xmlns:a="http://schemas.openxmlformats.org/drawingml/2006/main">
              <a:ext uri="{FF2B5EF4-FFF2-40B4-BE49-F238E27FC236}">
                <a16:creationId xmlns:a16="http://schemas.microsoft.com/office/drawing/2014/main" id="{608433CC-EA40-4789-9FE9-A0838377E24C}"/>
              </a:ext>
            </a:extLst>
          </p:cNvPr>
          <p:cNvSpPr>
            <a:spLocks xmlns:a="http://schemas.openxmlformats.org/drawingml/2006/main" noGrp="1"/>
          </p:cNvSpPr>
          <p:nvPr/>
        </p:nvSpPr>
        <p:spPr>
          <a:xfrm xmlns:a="http://schemas.openxmlformats.org/drawingml/2006/main">
            <a:off x="39624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C9</a:t>
            </a:r>
          </a:p>
        </p:txBody>
      </p:sp>
      <p:sp>
        <p:nvSpPr>
          <p:cNvPr id="17" name="">
            <a:extLst xmlns:a="http://schemas.openxmlformats.org/drawingml/2006/main">
              <a:ext uri="{FF2B5EF4-FFF2-40B4-BE49-F238E27FC236}">
                <a16:creationId xmlns:a16="http://schemas.microsoft.com/office/drawing/2014/main" id="{848EDDA6-4C67-4E8A-8F45-FCC1876E13FA}"/>
              </a:ext>
            </a:extLst>
          </p:cNvPr>
          <p:cNvSpPr>
            <a:spLocks xmlns:a="http://schemas.openxmlformats.org/drawingml/2006/main" noGrp="1"/>
          </p:cNvSpPr>
          <p:nvPr/>
        </p:nvSpPr>
        <p:spPr>
          <a:xfrm xmlns:a="http://schemas.openxmlformats.org/drawingml/2006/main">
            <a:off x="819150" y="262890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007C83"/>
                </a:solidFill>
                <a:latin typeface="Arial"/>
                <a:ea typeface="Arial"/>
                <a:cs typeface="Arial"/>
              </a:defRPr>
            </a:pPr>
            <a:r>
              <a:rPr sz="1125" b="1" i="0">
                <a:solidFill>
                  <a:srgbClr val="007C83"/>
                </a:solidFill>
                <a:latin typeface="Arial"/>
                <a:ea typeface="Arial"/>
                <a:cs typeface="Arial"/>
              </a:rPr>
              <a:t>rank 1</a:t>
            </a:r>
          </a:p>
        </p:txBody>
      </p:sp>
      <p:sp>
        <p:nvSpPr>
          <p:cNvPr id="18" name="">
            <a:extLst xmlns:a="http://schemas.openxmlformats.org/drawingml/2006/main">
              <a:ext uri="{FF2B5EF4-FFF2-40B4-BE49-F238E27FC236}">
                <a16:creationId xmlns:a16="http://schemas.microsoft.com/office/drawing/2014/main" id="{09B48560-30A4-471D-9EBC-ADD5A035B0A6}"/>
              </a:ext>
            </a:extLst>
          </p:cNvPr>
          <p:cNvSpPr>
            <a:spLocks xmlns:a="http://schemas.openxmlformats.org/drawingml/2006/main" noGrp="1"/>
          </p:cNvSpPr>
          <p:nvPr/>
        </p:nvSpPr>
        <p:spPr>
          <a:xfrm xmlns:a="http://schemas.openxmlformats.org/drawingml/2006/main">
            <a:off x="16192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19" name="">
            <a:extLst xmlns:a="http://schemas.openxmlformats.org/drawingml/2006/main">
              <a:ext uri="{FF2B5EF4-FFF2-40B4-BE49-F238E27FC236}">
                <a16:creationId xmlns:a16="http://schemas.microsoft.com/office/drawing/2014/main" id="{B45ED4C4-1489-4E77-96A1-7FE76E7E88E8}"/>
              </a:ext>
            </a:extLst>
          </p:cNvPr>
          <p:cNvSpPr>
            <a:spLocks xmlns:a="http://schemas.openxmlformats.org/drawingml/2006/main" noGrp="1"/>
          </p:cNvSpPr>
          <p:nvPr/>
        </p:nvSpPr>
        <p:spPr>
          <a:xfrm xmlns:a="http://schemas.openxmlformats.org/drawingml/2006/main">
            <a:off x="16192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a:t>
            </a:r>
          </a:p>
        </p:txBody>
      </p:sp>
      <p:sp>
        <p:nvSpPr>
          <p:cNvPr id="20" name="">
            <a:extLst xmlns:a="http://schemas.openxmlformats.org/drawingml/2006/main">
              <a:ext uri="{FF2B5EF4-FFF2-40B4-BE49-F238E27FC236}">
                <a16:creationId xmlns:a16="http://schemas.microsoft.com/office/drawing/2014/main" id="{3DACC739-BD42-47DE-AA7D-05C24B46C8AA}"/>
              </a:ext>
            </a:extLst>
          </p:cNvPr>
          <p:cNvSpPr>
            <a:spLocks xmlns:a="http://schemas.openxmlformats.org/drawingml/2006/main" noGrp="1"/>
          </p:cNvSpPr>
          <p:nvPr/>
        </p:nvSpPr>
        <p:spPr>
          <a:xfrm xmlns:a="http://schemas.openxmlformats.org/drawingml/2006/main">
            <a:off x="24003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1" name="">
            <a:extLst xmlns:a="http://schemas.openxmlformats.org/drawingml/2006/main">
              <a:ext uri="{FF2B5EF4-FFF2-40B4-BE49-F238E27FC236}">
                <a16:creationId xmlns:a16="http://schemas.microsoft.com/office/drawing/2014/main" id="{618AEC84-A1F8-4718-954E-9CEC22CF4A3E}"/>
              </a:ext>
            </a:extLst>
          </p:cNvPr>
          <p:cNvSpPr>
            <a:spLocks xmlns:a="http://schemas.openxmlformats.org/drawingml/2006/main" noGrp="1"/>
          </p:cNvSpPr>
          <p:nvPr/>
        </p:nvSpPr>
        <p:spPr>
          <a:xfrm xmlns:a="http://schemas.openxmlformats.org/drawingml/2006/main">
            <a:off x="24003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C4</a:t>
            </a:r>
          </a:p>
        </p:txBody>
      </p:sp>
      <p:sp>
        <p:nvSpPr>
          <p:cNvPr id="22" name="">
            <a:extLst xmlns:a="http://schemas.openxmlformats.org/drawingml/2006/main">
              <a:ext uri="{FF2B5EF4-FFF2-40B4-BE49-F238E27FC236}">
                <a16:creationId xmlns:a16="http://schemas.microsoft.com/office/drawing/2014/main" id="{B52385FA-1125-4730-9EA8-AC1A12DA148E}"/>
              </a:ext>
            </a:extLst>
          </p:cNvPr>
          <p:cNvSpPr>
            <a:spLocks xmlns:a="http://schemas.openxmlformats.org/drawingml/2006/main" noGrp="1"/>
          </p:cNvSpPr>
          <p:nvPr/>
        </p:nvSpPr>
        <p:spPr>
          <a:xfrm xmlns:a="http://schemas.openxmlformats.org/drawingml/2006/main">
            <a:off x="31813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3" name="">
            <a:extLst xmlns:a="http://schemas.openxmlformats.org/drawingml/2006/main">
              <a:ext uri="{FF2B5EF4-FFF2-40B4-BE49-F238E27FC236}">
                <a16:creationId xmlns:a16="http://schemas.microsoft.com/office/drawing/2014/main" id="{67F93CCF-09C6-4207-913D-99C279D81E58}"/>
              </a:ext>
            </a:extLst>
          </p:cNvPr>
          <p:cNvSpPr>
            <a:spLocks xmlns:a="http://schemas.openxmlformats.org/drawingml/2006/main" noGrp="1"/>
          </p:cNvSpPr>
          <p:nvPr/>
        </p:nvSpPr>
        <p:spPr>
          <a:xfrm xmlns:a="http://schemas.openxmlformats.org/drawingml/2006/main">
            <a:off x="31813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C7</a:t>
            </a:r>
          </a:p>
        </p:txBody>
      </p:sp>
      <p:sp>
        <p:nvSpPr>
          <p:cNvPr id="24" name="">
            <a:extLst xmlns:a="http://schemas.openxmlformats.org/drawingml/2006/main">
              <a:ext uri="{FF2B5EF4-FFF2-40B4-BE49-F238E27FC236}">
                <a16:creationId xmlns:a16="http://schemas.microsoft.com/office/drawing/2014/main" id="{574D588B-BD18-41C7-98DA-513F217E222D}"/>
              </a:ext>
            </a:extLst>
          </p:cNvPr>
          <p:cNvSpPr>
            <a:spLocks xmlns:a="http://schemas.openxmlformats.org/drawingml/2006/main" noGrp="1"/>
          </p:cNvSpPr>
          <p:nvPr/>
        </p:nvSpPr>
        <p:spPr>
          <a:xfrm xmlns:a="http://schemas.openxmlformats.org/drawingml/2006/main">
            <a:off x="39624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5" name="">
            <a:extLst xmlns:a="http://schemas.openxmlformats.org/drawingml/2006/main">
              <a:ext uri="{FF2B5EF4-FFF2-40B4-BE49-F238E27FC236}">
                <a16:creationId xmlns:a16="http://schemas.microsoft.com/office/drawing/2014/main" id="{04EF8C92-6460-4E96-BEDA-9BB559B1446B}"/>
              </a:ext>
            </a:extLst>
          </p:cNvPr>
          <p:cNvSpPr>
            <a:spLocks xmlns:a="http://schemas.openxmlformats.org/drawingml/2006/main" noGrp="1"/>
          </p:cNvSpPr>
          <p:nvPr/>
        </p:nvSpPr>
        <p:spPr>
          <a:xfrm xmlns:a="http://schemas.openxmlformats.org/drawingml/2006/main">
            <a:off x="39624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C10</a:t>
            </a:r>
          </a:p>
        </p:txBody>
      </p:sp>
      <p:sp>
        <p:nvSpPr>
          <p:cNvPr id="26" name="">
            <a:extLst xmlns:a="http://schemas.openxmlformats.org/drawingml/2006/main">
              <a:ext uri="{FF2B5EF4-FFF2-40B4-BE49-F238E27FC236}">
                <a16:creationId xmlns:a16="http://schemas.microsoft.com/office/drawing/2014/main" id="{A55519A9-FC91-47AC-93D0-CE92C32B852D}"/>
              </a:ext>
            </a:extLst>
          </p:cNvPr>
          <p:cNvSpPr>
            <a:spLocks xmlns:a="http://schemas.openxmlformats.org/drawingml/2006/main" noGrp="1"/>
          </p:cNvSpPr>
          <p:nvPr/>
        </p:nvSpPr>
        <p:spPr>
          <a:xfrm xmlns:a="http://schemas.openxmlformats.org/drawingml/2006/main">
            <a:off x="819150" y="30670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F28E2B"/>
                </a:solidFill>
                <a:latin typeface="Arial"/>
                <a:ea typeface="Arial"/>
                <a:cs typeface="Arial"/>
              </a:defRPr>
            </a:pPr>
            <a:r>
              <a:rPr sz="1125" b="1" i="0">
                <a:solidFill>
                  <a:srgbClr val="F28E2B"/>
                </a:solidFill>
                <a:latin typeface="Arial"/>
                <a:ea typeface="Arial"/>
                <a:cs typeface="Arial"/>
              </a:rPr>
              <a:t>rank 2</a:t>
            </a:r>
          </a:p>
        </p:txBody>
      </p:sp>
      <p:sp>
        <p:nvSpPr>
          <p:cNvPr id="27" name="">
            <a:extLst xmlns:a="http://schemas.openxmlformats.org/drawingml/2006/main">
              <a:ext uri="{FF2B5EF4-FFF2-40B4-BE49-F238E27FC236}">
                <a16:creationId xmlns:a16="http://schemas.microsoft.com/office/drawing/2014/main" id="{9CCA4205-268E-487A-9888-5444A3C6F3F2}"/>
              </a:ext>
            </a:extLst>
          </p:cNvPr>
          <p:cNvSpPr>
            <a:spLocks xmlns:a="http://schemas.openxmlformats.org/drawingml/2006/main" noGrp="1"/>
          </p:cNvSpPr>
          <p:nvPr/>
        </p:nvSpPr>
        <p:spPr>
          <a:xfrm xmlns:a="http://schemas.openxmlformats.org/drawingml/2006/main">
            <a:off x="16192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28" name="">
            <a:extLst xmlns:a="http://schemas.openxmlformats.org/drawingml/2006/main">
              <a:ext uri="{FF2B5EF4-FFF2-40B4-BE49-F238E27FC236}">
                <a16:creationId xmlns:a16="http://schemas.microsoft.com/office/drawing/2014/main" id="{44DE50E9-0552-45BB-A15B-CD917656C77E}"/>
              </a:ext>
            </a:extLst>
          </p:cNvPr>
          <p:cNvSpPr>
            <a:spLocks xmlns:a="http://schemas.openxmlformats.org/drawingml/2006/main" noGrp="1"/>
          </p:cNvSpPr>
          <p:nvPr/>
        </p:nvSpPr>
        <p:spPr>
          <a:xfrm xmlns:a="http://schemas.openxmlformats.org/drawingml/2006/main">
            <a:off x="16192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C2</a:t>
            </a:r>
          </a:p>
        </p:txBody>
      </p:sp>
      <p:sp>
        <p:nvSpPr>
          <p:cNvPr id="29" name="">
            <a:extLst xmlns:a="http://schemas.openxmlformats.org/drawingml/2006/main">
              <a:ext uri="{FF2B5EF4-FFF2-40B4-BE49-F238E27FC236}">
                <a16:creationId xmlns:a16="http://schemas.microsoft.com/office/drawing/2014/main" id="{8C06BB3C-7F74-4495-B3FA-BA7C9CD80502}"/>
              </a:ext>
            </a:extLst>
          </p:cNvPr>
          <p:cNvSpPr>
            <a:spLocks xmlns:a="http://schemas.openxmlformats.org/drawingml/2006/main" noGrp="1"/>
          </p:cNvSpPr>
          <p:nvPr/>
        </p:nvSpPr>
        <p:spPr>
          <a:xfrm xmlns:a="http://schemas.openxmlformats.org/drawingml/2006/main">
            <a:off x="24003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0" name="">
            <a:extLst xmlns:a="http://schemas.openxmlformats.org/drawingml/2006/main">
              <a:ext uri="{FF2B5EF4-FFF2-40B4-BE49-F238E27FC236}">
                <a16:creationId xmlns:a16="http://schemas.microsoft.com/office/drawing/2014/main" id="{54EF9A02-1C18-434F-828B-9B2A25F55BB8}"/>
              </a:ext>
            </a:extLst>
          </p:cNvPr>
          <p:cNvSpPr>
            <a:spLocks xmlns:a="http://schemas.openxmlformats.org/drawingml/2006/main" noGrp="1"/>
          </p:cNvSpPr>
          <p:nvPr/>
        </p:nvSpPr>
        <p:spPr>
          <a:xfrm xmlns:a="http://schemas.openxmlformats.org/drawingml/2006/main">
            <a:off x="24003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C5</a:t>
            </a:r>
          </a:p>
        </p:txBody>
      </p:sp>
      <p:sp>
        <p:nvSpPr>
          <p:cNvPr id="31" name="">
            <a:extLst xmlns:a="http://schemas.openxmlformats.org/drawingml/2006/main">
              <a:ext uri="{FF2B5EF4-FFF2-40B4-BE49-F238E27FC236}">
                <a16:creationId xmlns:a16="http://schemas.microsoft.com/office/drawing/2014/main" id="{2E3B412A-079D-44FF-A2D2-8D7A2866B135}"/>
              </a:ext>
            </a:extLst>
          </p:cNvPr>
          <p:cNvSpPr>
            <a:spLocks xmlns:a="http://schemas.openxmlformats.org/drawingml/2006/main" noGrp="1"/>
          </p:cNvSpPr>
          <p:nvPr/>
        </p:nvSpPr>
        <p:spPr>
          <a:xfrm xmlns:a="http://schemas.openxmlformats.org/drawingml/2006/main">
            <a:off x="31813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2" name="">
            <a:extLst xmlns:a="http://schemas.openxmlformats.org/drawingml/2006/main">
              <a:ext uri="{FF2B5EF4-FFF2-40B4-BE49-F238E27FC236}">
                <a16:creationId xmlns:a16="http://schemas.microsoft.com/office/drawing/2014/main" id="{77F27451-8A9F-4859-B21B-B27F1C74E38E}"/>
              </a:ext>
            </a:extLst>
          </p:cNvPr>
          <p:cNvSpPr>
            <a:spLocks xmlns:a="http://schemas.openxmlformats.org/drawingml/2006/main" noGrp="1"/>
          </p:cNvSpPr>
          <p:nvPr/>
        </p:nvSpPr>
        <p:spPr>
          <a:xfrm xmlns:a="http://schemas.openxmlformats.org/drawingml/2006/main">
            <a:off x="31813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C8</a:t>
            </a:r>
          </a:p>
        </p:txBody>
      </p:sp>
      <p:sp>
        <p:nvSpPr>
          <p:cNvPr id="33" name="">
            <a:extLst xmlns:a="http://schemas.openxmlformats.org/drawingml/2006/main">
              <a:ext uri="{FF2B5EF4-FFF2-40B4-BE49-F238E27FC236}">
                <a16:creationId xmlns:a16="http://schemas.microsoft.com/office/drawing/2014/main" id="{61B04E5C-2512-49EA-A9E4-BD7147CD8CF3}"/>
              </a:ext>
            </a:extLst>
          </p:cNvPr>
          <p:cNvSpPr>
            <a:spLocks xmlns:a="http://schemas.openxmlformats.org/drawingml/2006/main" noGrp="1"/>
          </p:cNvSpPr>
          <p:nvPr/>
        </p:nvSpPr>
        <p:spPr>
          <a:xfrm xmlns:a="http://schemas.openxmlformats.org/drawingml/2006/main">
            <a:off x="39624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4" name="">
            <a:extLst xmlns:a="http://schemas.openxmlformats.org/drawingml/2006/main">
              <a:ext uri="{FF2B5EF4-FFF2-40B4-BE49-F238E27FC236}">
                <a16:creationId xmlns:a16="http://schemas.microsoft.com/office/drawing/2014/main" id="{113E3CAD-3B03-4D30-BCD1-A5D48F0FD087}"/>
              </a:ext>
            </a:extLst>
          </p:cNvPr>
          <p:cNvSpPr>
            <a:spLocks xmlns:a="http://schemas.openxmlformats.org/drawingml/2006/main" noGrp="1"/>
          </p:cNvSpPr>
          <p:nvPr/>
        </p:nvSpPr>
        <p:spPr>
          <a:xfrm xmlns:a="http://schemas.openxmlformats.org/drawingml/2006/main">
            <a:off x="39624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C11</a:t>
            </a:r>
          </a:p>
        </p:txBody>
      </p:sp>
      <p:sp>
        <p:nvSpPr>
          <p:cNvPr id="35" name="">
            <a:extLst xmlns:a="http://schemas.openxmlformats.org/drawingml/2006/main">
              <a:ext uri="{FF2B5EF4-FFF2-40B4-BE49-F238E27FC236}">
                <a16:creationId xmlns:a16="http://schemas.microsoft.com/office/drawing/2014/main" id="{2F9A0904-CB1E-4DCC-8A00-A1B54319CB6A}"/>
              </a:ext>
            </a:extLst>
          </p:cNvPr>
          <p:cNvSpPr>
            <a:spLocks xmlns:a="http://schemas.openxmlformats.org/drawingml/2006/main" noGrp="1"/>
          </p:cNvSpPr>
          <p:nvPr/>
        </p:nvSpPr>
        <p:spPr>
          <a:xfrm xmlns:a="http://schemas.openxmlformats.org/drawingml/2006/main">
            <a:off x="781050" y="36957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Equal-sized chunks preserve locality while mixing cheap composites and expensive large candidates across ranks.</a:t>
            </a:r>
          </a:p>
        </p:txBody>
      </p:sp>
      <p:sp>
        <p:nvSpPr>
          <p:cNvPr id="36" name="">
            <a:extLst xmlns:a="http://schemas.openxmlformats.org/drawingml/2006/main">
              <a:ext uri="{FF2B5EF4-FFF2-40B4-BE49-F238E27FC236}">
                <a16:creationId xmlns:a16="http://schemas.microsoft.com/office/drawing/2014/main" id="{DFE2338D-0A7F-4619-A647-151B1E6EF31E}"/>
              </a:ext>
            </a:extLst>
          </p:cNvPr>
          <p:cNvSpPr>
            <a:spLocks xmlns:a="http://schemas.openxmlformats.org/drawingml/2006/main" noGrp="1"/>
          </p:cNvSpPr>
          <p:nvPr/>
        </p:nvSpPr>
        <p:spPr>
          <a:xfrm xmlns:a="http://schemas.openxmlformats.org/drawingml/2006/main">
            <a:off x="781050" y="4457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defRPr sz="1350" b="1" i="0">
                <a:solidFill>
                  <a:srgbClr val="102A43"/>
                </a:solidFill>
                <a:latin typeface="Arial"/>
                <a:ea typeface="Arial"/>
                <a:cs typeface="Arial"/>
              </a:defRPr>
            </a:pPr>
            <a:r>
              <a:rPr sz="1350" b="1" i="0">
                <a:solidFill>
                  <a:srgbClr val="102A43"/>
                </a:solidFill>
                <a:latin typeface="Arial"/>
                <a:ea typeface="Arial"/>
                <a:cs typeface="Arial"/>
              </a:rPr>
              <a:t>Rank 0 performs an O(m log p) k-way merge and buffered output.</a:t>
            </a:r>
          </a:p>
        </p:txBody>
      </p:sp>
      <p:sp>
        <p:nvSpPr>
          <p:cNvPr id="37" name="">
            <a:extLst xmlns:a="http://schemas.openxmlformats.org/drawingml/2006/main">
              <a:ext uri="{FF2B5EF4-FFF2-40B4-BE49-F238E27FC236}">
                <a16:creationId xmlns:a16="http://schemas.microsoft.com/office/drawing/2014/main" id="{AD026014-65E3-4A4D-A3A6-E167EC4B456B}"/>
              </a:ext>
            </a:extLst>
          </p:cNvPr>
          <p:cNvSpPr>
            <a:spLocks xmlns:a="http://schemas.openxmlformats.org/drawingml/2006/main" noGrp="1"/>
          </p:cNvSpPr>
          <p:nvPr/>
        </p:nvSpPr>
        <p:spPr>
          <a:xfrm xmlns:a="http://schemas.openxmlformats.org/drawingml/2006/main">
            <a:off x="6057900" y="1200150"/>
            <a:ext cx="558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Measured computation-time imbalance (max / min)</a:t>
            </a:r>
          </a:p>
        </p:txBody>
      </p:sp>
      <p:graphicFrame>
        <p:nvGraphicFramePr>
          <p:cNvPr id="79" name=""/>
          <p:cNvGraphicFramePr/>
          <p:nvPr/>
        </p:nvGraphicFramePr>
        <p:xfrm>
          <a:off xmlns:a="http://schemas.openxmlformats.org/drawingml/2006/main" x="6057900" y="1619250"/>
          <a:ext xmlns:a="http://schemas.openxmlformats.org/drawingml/2006/main" cx="5581650" cy="2019300"/>
        </p:xfrm>
        <a:graphic xmlns:a="http://schemas.openxmlformats.org/drawingml/2006/main">
          <a:graphicData uri="http://schemas.openxmlformats.org/drawingml/2006/table">
            <a:tbl>
              <a:tblPr firstRow="1" bandRow="0"/>
              <a:tblGrid>
                <a:gridCol w="2000250"/>
                <a:gridCol w="1190625"/>
                <a:gridCol w="1190625"/>
                <a:gridCol w="1200150"/>
              </a:tblGrid>
              <a:tr h="504825">
                <a:tc>
                  <a:txBody>
                    <a:bodyPr/>
                    <a:lstStyle/>
                    <a:p>
                      <a:r>
                        <a:rPr sz="900" b="1">
                          <a:solidFill>
                            <a:srgbClr val="FFFFFF"/>
                          </a:solidFill>
                          <a:latin typeface="Arial"/>
                          <a:ea typeface="Arial"/>
                          <a:cs typeface="Arial"/>
                        </a:rPr>
                        <a:t>Strategy</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3</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4</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5</a:t>
                      </a:r>
                    </a:p>
                  </a:txBody>
                  <a:tcPr marL="76200" marR="76200" marT="57150" marB="57150" anchor="ctr">
                    <a:solidFill>
                      <a:srgbClr val="005F66"/>
                    </a:solidFill>
                  </a:tcPr>
                </a:tc>
              </a:tr>
              <a:tr h="504825">
                <a:tc>
                  <a:txBody>
                    <a:bodyPr/>
                    <a:lstStyle/>
                    <a:p>
                      <a:r>
                        <a:rPr sz="975">
                          <a:solidFill>
                            <a:srgbClr val="102A43"/>
                          </a:solidFill>
                          <a:latin typeface="Arial"/>
                          <a:ea typeface="Arial"/>
                          <a:cs typeface="Arial"/>
                        </a:rPr>
                        <a:t>Block-cyclic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1.05</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Pure 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a:t>
                      </a:r>
                    </a:p>
                  </a:txBody>
                  <a:tcPr marL="76200" marR="76200" marT="47625" marB="47625" anchor="ctr">
                    <a:solidFill>
                      <a:srgbClr val="FFFFFF"/>
                    </a:solidFill>
                  </a:tcPr>
                </a:tc>
                <a:tc>
                  <a:txBody>
                    <a:bodyPr/>
                    <a:lstStyle/>
                    <a:p>
                      <a:r>
                        <a:rPr sz="975">
                          <a:solidFill>
                            <a:srgbClr val="102A43"/>
                          </a:solidFill>
                          <a:latin typeface="Arial"/>
                          <a:ea typeface="Arial"/>
                          <a:cs typeface="Arial"/>
                        </a:rPr>
                        <a:t>1.03</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Contiguous block</a:t>
                      </a:r>
                    </a:p>
                  </a:txBody>
                  <a:tcPr marL="76200" marR="76200" marT="47625" marB="47625" anchor="ctr">
                    <a:solidFill>
                      <a:srgbClr val="FFFFFF"/>
                    </a:solidFill>
                  </a:tcPr>
                </a:tc>
                <a:tc>
                  <a:txBody>
                    <a:bodyPr/>
                    <a:lstStyle/>
                    <a:p>
                      <a:r>
                        <a:rPr sz="975">
                          <a:solidFill>
                            <a:srgbClr val="102A43"/>
                          </a:solidFill>
                          <a:latin typeface="Arial"/>
                          <a:ea typeface="Arial"/>
                          <a:cs typeface="Arial"/>
                        </a:rPr>
                        <a:t>2.20</a:t>
                      </a:r>
                    </a:p>
                  </a:txBody>
                  <a:tcPr marL="76200" marR="76200" marT="47625" marB="47625" anchor="ctr">
                    <a:solidFill>
                      <a:srgbClr val="FFFFFF"/>
                    </a:solidFill>
                  </a:tcPr>
                </a:tc>
                <a:tc>
                  <a:txBody>
                    <a:bodyPr/>
                    <a:lstStyle/>
                    <a:p>
                      <a:r>
                        <a:rPr sz="975">
                          <a:solidFill>
                            <a:srgbClr val="102A43"/>
                          </a:solidFill>
                          <a:latin typeface="Arial"/>
                          <a:ea typeface="Arial"/>
                          <a:cs typeface="Arial"/>
                        </a:rPr>
                        <a:t>2.61</a:t>
                      </a:r>
                    </a:p>
                  </a:txBody>
                  <a:tcPr marL="76200" marR="76200" marT="47625" marB="47625" anchor="ctr">
                    <a:solidFill>
                      <a:srgbClr val="FFFFFF"/>
                    </a:solidFill>
                  </a:tcPr>
                </a:tc>
                <a:tc>
                  <a:txBody>
                    <a:bodyPr/>
                    <a:lstStyle/>
                    <a:p>
                      <a:r>
                        <a:rPr sz="975">
                          <a:solidFill>
                            <a:srgbClr val="102A43"/>
                          </a:solidFill>
                          <a:latin typeface="Arial"/>
                          <a:ea typeface="Arial"/>
                          <a:cs typeface="Arial"/>
                        </a:rPr>
                        <a:t>2.78</a:t>
                      </a:r>
                    </a:p>
                  </a:txBody>
                  <a:tcPr marL="76200" marR="76200" marT="47625" marB="47625" anchor="ctr">
                    <a:solidFill>
                      <a:srgbClr val="FFFFFF"/>
                    </a:solidFill>
                  </a:tcPr>
                </a:tc>
              </a:tr>
            </a:tbl>
          </a:graphicData>
        </a:graphic>
      </p:graphicFrame>
      <p:sp>
        <p:nvSpPr>
          <p:cNvPr id="39" name="">
            <a:extLst xmlns:a="http://schemas.openxmlformats.org/drawingml/2006/main">
              <a:ext uri="{FF2B5EF4-FFF2-40B4-BE49-F238E27FC236}">
                <a16:creationId xmlns:a16="http://schemas.microsoft.com/office/drawing/2014/main" id="{23DCF8FA-1B3C-488C-BFD8-574E72365D18}"/>
              </a:ext>
            </a:extLst>
          </p:cNvPr>
          <p:cNvSpPr>
            <a:spLocks xmlns:a="http://schemas.openxmlformats.org/drawingml/2006/main" noGrp="1"/>
          </p:cNvSpPr>
          <p:nvPr/>
        </p:nvSpPr>
        <p:spPr>
          <a:xfrm xmlns:a="http://schemas.openxmlformats.org/drawingml/2006/main">
            <a:off x="6057900" y="3943350"/>
            <a:ext cx="5581650" cy="1390650"/>
          </a:xfrm>
          <a:prstGeom xmlns:a="http://schemas.openxmlformats.org/drawingml/2006/main" prst="roundRect">
            <a:avLst>
              <a:gd name="adj" fmla="val 5479"/>
            </a:avLst>
          </a:prstGeom>
          <a:solidFill xmlns:a="http://schemas.openxmlformats.org/drawingml/2006/main">
            <a:srgbClr val="FFF5E6"/>
          </a:solidFill>
          <a:ln xmlns:a="http://schemas.openxmlformats.org/drawingml/2006/main" w="9525">
            <a:solidFill>
              <a:srgbClr val="F5C98A"/>
            </a:solidFill>
          </a:ln>
        </p:spPr>
      </p:sp>
      <p:sp>
        <p:nvSpPr>
          <p:cNvPr id="40" name="">
            <a:extLst xmlns:a="http://schemas.openxmlformats.org/drawingml/2006/main">
              <a:ext uri="{FF2B5EF4-FFF2-40B4-BE49-F238E27FC236}">
                <a16:creationId xmlns:a16="http://schemas.microsoft.com/office/drawing/2014/main" id="{12590E3A-372D-4E4D-B236-C8751023EF35}"/>
              </a:ext>
            </a:extLst>
          </p:cNvPr>
          <p:cNvSpPr>
            <a:spLocks xmlns:a="http://schemas.openxmlformats.org/drawingml/2006/main" noGrp="1"/>
          </p:cNvSpPr>
          <p:nvPr/>
        </p:nvSpPr>
        <p:spPr>
          <a:xfrm xmlns:a="http://schemas.openxmlformats.org/drawingml/2006/main">
            <a:off x="6286500" y="415290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7544"/>
          </a:bodyPr>
          <a:lstStyle xmlns:a="http://schemas.openxmlformats.org/drawingml/2006/main"/>
          <a:p xmlns:a="http://schemas.openxmlformats.org/drawingml/2006/main">
            <a:pPr algn="l">
              <a:defRPr sz="1425" b="1" i="0">
                <a:solidFill>
                  <a:srgbClr val="8A4B08"/>
                </a:solidFill>
                <a:latin typeface="Arial"/>
                <a:ea typeface="Arial"/>
                <a:cs typeface="Arial"/>
              </a:defRPr>
            </a:pPr>
            <a:r>
              <a:rPr sz="1425" b="1" i="0">
                <a:solidFill>
                  <a:srgbClr val="8A4B08"/>
                </a:solidFill>
                <a:latin typeface="Arial"/>
                <a:ea typeface="Arial"/>
                <a:cs typeface="Arial"/>
              </a:rPr>
              <a:t>Why this is the selected partition</a:t>
            </a:r>
          </a:p>
        </p:txBody>
      </p:sp>
      <p:sp>
        <p:nvSpPr>
          <p:cNvPr id="41" name="">
            <a:extLst xmlns:a="http://schemas.openxmlformats.org/drawingml/2006/main">
              <a:ext uri="{FF2B5EF4-FFF2-40B4-BE49-F238E27FC236}">
                <a16:creationId xmlns:a16="http://schemas.microsoft.com/office/drawing/2014/main" id="{D734AF98-0070-4ACC-9B93-78D2C710687F}"/>
              </a:ext>
            </a:extLst>
          </p:cNvPr>
          <p:cNvSpPr>
            <a:spLocks xmlns:a="http://schemas.openxmlformats.org/drawingml/2006/main" noGrp="1"/>
          </p:cNvSpPr>
          <p:nvPr/>
        </p:nvSpPr>
        <p:spPr>
          <a:xfrm xmlns:a="http://schemas.openxmlformats.org/drawingml/2006/main">
            <a:off x="6286500" y="45148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93"/>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It had the lowest worst-case imbalance among the three measured strategies: ≤ 1.06 for p = 3–5. Pure cyclic collapses at odd p because divisibility patterns align with rank strides.</a:t>
            </a:r>
          </a:p>
        </p:txBody>
      </p:sp>
    </p:spTree>
    <p:extLst>
      <p:ext uri="{BB962C8B-B14F-4D97-AF65-F5344CB8AC3E}">
        <p14:creationId xmlns:p14="http://schemas.microsoft.com/office/powerpoint/2010/main" val="1619642797"/>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74D214-D495-4668-85CE-A1D223AD6AE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39B3A03D-B345-4994-A431-411AB8C87FB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35BAF6EC-65E9-4FB4-BFED-D18F168E7B5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1 — runtime across 30 problem sizes</a:t>
            </a:r>
          </a:p>
        </p:txBody>
      </p:sp>
      <p:sp>
        <p:nvSpPr>
          <p:cNvPr id="4" name="">
            <a:extLst xmlns:a="http://schemas.openxmlformats.org/drawingml/2006/main">
              <a:ext uri="{FF2B5EF4-FFF2-40B4-BE49-F238E27FC236}">
                <a16:creationId xmlns:a16="http://schemas.microsoft.com/office/drawing/2014/main" id="{E009D2CE-54D7-4FC6-B58C-449E0855F3E4}"/>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4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7dd6ddefb6cc4010"/>
          </a:graphicData>
        </a:graphic>
      </p:graphicFrame>
      <p:sp>
        <p:nvSpPr>
          <p:cNvPr id="6" name="">
            <a:extLst xmlns:a="http://schemas.openxmlformats.org/drawingml/2006/main">
              <a:ext uri="{FF2B5EF4-FFF2-40B4-BE49-F238E27FC236}">
                <a16:creationId xmlns:a16="http://schemas.microsoft.com/office/drawing/2014/main" id="{E40CB926-AF11-4326-9EF2-ACA292885943}"/>
              </a:ext>
            </a:extLst>
          </p:cNvPr>
          <p:cNvSpPr>
            <a:spLocks xmlns:a="http://schemas.openxmlformats.org/drawingml/2006/main" noGrp="1"/>
          </p:cNvSpPr>
          <p:nvPr/>
        </p:nvSpPr>
        <p:spPr>
          <a:xfrm xmlns:a="http://schemas.openxmlformats.org/drawingml/2006/main">
            <a:off x="2524125" y="5753100"/>
            <a:ext cx="7143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CE72E818-5405-4B91-81E9-B0D3EDE59C55}"/>
              </a:ext>
            </a:extLst>
          </p:cNvPr>
          <p:cNvSpPr>
            <a:spLocks xmlns:a="http://schemas.openxmlformats.org/drawingml/2006/main" noGrp="1"/>
          </p:cNvSpPr>
          <p:nvPr/>
        </p:nvSpPr>
        <p:spPr>
          <a:xfrm xmlns:a="http://schemas.openxmlformats.org/drawingml/2006/main">
            <a:off x="2695575" y="58769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All 30 values are shown; no run is below one second.</a:t>
            </a:r>
          </a:p>
        </p:txBody>
      </p:sp>
    </p:spTree>
    <p:extLst>
      <p:ext uri="{BB962C8B-B14F-4D97-AF65-F5344CB8AC3E}">
        <p14:creationId xmlns:p14="http://schemas.microsoft.com/office/powerpoint/2010/main" val="1277241796"/>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A7FD6C-8FBD-43B0-8AE8-897D6DB6186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9B55D032-B5E7-4DE0-90DA-2CC4CE0F4C72}"/>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0B872B90-1B9C-4796-BFF2-EF043495728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2 — speedup across 30 problem sizes</a:t>
            </a:r>
          </a:p>
        </p:txBody>
      </p:sp>
      <p:sp>
        <p:nvSpPr>
          <p:cNvPr id="4" name="">
            <a:extLst xmlns:a="http://schemas.openxmlformats.org/drawingml/2006/main">
              <a:ext uri="{FF2B5EF4-FFF2-40B4-BE49-F238E27FC236}">
                <a16:creationId xmlns:a16="http://schemas.microsoft.com/office/drawing/2014/main" id="{86F7A6C3-BC9A-41BC-A6AD-0A7025BFB813}"/>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5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1b0d1feff0dc4554"/>
          </a:graphicData>
        </a:graphic>
      </p:graphicFrame>
      <p:sp>
        <p:nvSpPr>
          <p:cNvPr id="6" name="">
            <a:extLst xmlns:a="http://schemas.openxmlformats.org/drawingml/2006/main">
              <a:ext uri="{FF2B5EF4-FFF2-40B4-BE49-F238E27FC236}">
                <a16:creationId xmlns:a16="http://schemas.microsoft.com/office/drawing/2014/main" id="{48953F06-812D-4C71-AB79-E1E54E6506A8}"/>
              </a:ext>
            </a:extLst>
          </p:cNvPr>
          <p:cNvSpPr>
            <a:spLocks xmlns:a="http://schemas.openxmlformats.org/drawingml/2006/main" noGrp="1"/>
          </p:cNvSpPr>
          <p:nvPr/>
        </p:nvSpPr>
        <p:spPr>
          <a:xfrm xmlns:a="http://schemas.openxmlformats.org/drawingml/2006/main">
            <a:off x="1381125" y="5753100"/>
            <a:ext cx="9429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3CEFCB00-25BF-4D54-A931-DAFD8B5A4867}"/>
              </a:ext>
            </a:extLst>
          </p:cNvPr>
          <p:cNvSpPr>
            <a:spLocks xmlns:a="http://schemas.openxmlformats.org/drawingml/2006/main" noGrp="1"/>
          </p:cNvSpPr>
          <p:nvPr/>
        </p:nvSpPr>
        <p:spPr>
          <a:xfrm xmlns:a="http://schemas.openxmlformats.org/drawingml/2006/main">
            <a:off x="1552575" y="5876925"/>
            <a:ext cx="908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MPI stays near 3.3–3.6× at four processes; the OpenMP series is noisier but uses its own matched serial session.</a:t>
            </a:r>
          </a:p>
        </p:txBody>
      </p:sp>
    </p:spTree>
    <p:extLst>
      <p:ext uri="{BB962C8B-B14F-4D97-AF65-F5344CB8AC3E}">
        <p14:creationId xmlns:p14="http://schemas.microsoft.com/office/powerpoint/2010/main" val="2117979556"/>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7A8D8C-DF7F-4005-B530-0C813B370B3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609BB12D-7144-4B01-A720-149ED59810D4}"/>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D3C6BE44-04F8-459C-985B-195AC2D3F84D}"/>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3 and 6 — Task 1 scaling and Amdahl comparison</a:t>
            </a:r>
          </a:p>
        </p:txBody>
      </p:sp>
      <p:sp>
        <p:nvSpPr>
          <p:cNvPr id="4" name="">
            <a:extLst xmlns:a="http://schemas.openxmlformats.org/drawingml/2006/main">
              <a:ext uri="{FF2B5EF4-FFF2-40B4-BE49-F238E27FC236}">
                <a16:creationId xmlns:a16="http://schemas.microsoft.com/office/drawing/2014/main" id="{F75E230F-9D22-4D02-A2F2-FDC10BB69128}"/>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6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8af83397bd984c7e"/>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734ab18f124b4187"/>
          </a:graphicData>
        </a:graphic>
      </p:graphicFrame>
      <p:sp>
        <p:nvSpPr>
          <p:cNvPr id="7" name="">
            <a:extLst xmlns:a="http://schemas.openxmlformats.org/drawingml/2006/main">
              <a:ext uri="{FF2B5EF4-FFF2-40B4-BE49-F238E27FC236}">
                <a16:creationId xmlns:a16="http://schemas.microsoft.com/office/drawing/2014/main" id="{2AE78727-E483-4CBF-A766-C54316C4C978}"/>
              </a:ext>
            </a:extLst>
          </p:cNvPr>
          <p:cNvSpPr>
            <a:spLocks xmlns:a="http://schemas.openxmlformats.org/drawingml/2006/main" noGrp="1"/>
          </p:cNvSpPr>
          <p:nvPr/>
        </p:nvSpPr>
        <p:spPr>
          <a:xfrm xmlns:a="http://schemas.openxmlformats.org/drawingml/2006/main">
            <a:off x="1095375" y="5619750"/>
            <a:ext cx="100012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E6386F4E-1054-43F8-94F4-0AFC1C36135A}"/>
              </a:ext>
            </a:extLst>
          </p:cNvPr>
          <p:cNvSpPr>
            <a:spLocks xmlns:a="http://schemas.openxmlformats.org/drawingml/2006/main" noGrp="1"/>
          </p:cNvSpPr>
          <p:nvPr/>
        </p:nvSpPr>
        <p:spPr>
          <a:xfrm xmlns:a="http://schemas.openxmlformats.org/drawingml/2006/main">
            <a:off x="1266825" y="5743575"/>
            <a:ext cx="965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At p = 16: 6.02× empirical versus 12.67× Amdahl — collectives, contention and root-only output are not in the ideal model.</a:t>
            </a:r>
          </a:p>
        </p:txBody>
      </p:sp>
    </p:spTree>
    <p:extLst>
      <p:ext uri="{BB962C8B-B14F-4D97-AF65-F5344CB8AC3E}">
        <p14:creationId xmlns:p14="http://schemas.microsoft.com/office/powerpoint/2010/main" val="2094273692"/>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AB183E6-2C93-4C3B-9239-D60E39A7A803}"/>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D629E348-7C8B-41D3-BA5E-314F46C19E1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6AB10FB7-0668-45D0-8B43-4E3A34BE8733}"/>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2: hybrid decomposition and measured balance</a:t>
            </a:r>
          </a:p>
        </p:txBody>
      </p:sp>
      <p:sp>
        <p:nvSpPr>
          <p:cNvPr id="4" name="">
            <a:extLst xmlns:a="http://schemas.openxmlformats.org/drawingml/2006/main">
              <a:ext uri="{FF2B5EF4-FFF2-40B4-BE49-F238E27FC236}">
                <a16:creationId xmlns:a16="http://schemas.microsoft.com/office/drawing/2014/main" id="{982A9105-C8C1-4F5B-9DC7-58FBCB05B56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7 / 9</a:t>
            </a:r>
          </a:p>
        </p:txBody>
      </p:sp>
      <p:sp>
        <p:nvSpPr>
          <p:cNvPr id="5" name="">
            <a:extLst xmlns:a="http://schemas.openxmlformats.org/drawingml/2006/main">
              <a:ext uri="{FF2B5EF4-FFF2-40B4-BE49-F238E27FC236}">
                <a16:creationId xmlns:a16="http://schemas.microsoft.com/office/drawing/2014/main" id="{F6DAF22D-7E48-45DD-8BEF-B2F5BC98FB02}"/>
              </a:ext>
            </a:extLst>
          </p:cNvPr>
          <p:cNvSpPr>
            <a:spLocks xmlns:a="http://schemas.openxmlformats.org/drawingml/2006/main" noGrp="1"/>
          </p:cNvSpPr>
          <p:nvPr/>
        </p:nvSpPr>
        <p:spPr>
          <a:xfrm xmlns:a="http://schemas.openxmlformats.org/drawingml/2006/main">
            <a:off x="552450" y="1162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Two-level parallelism</a:t>
            </a:r>
          </a:p>
        </p:txBody>
      </p:sp>
      <p:sp>
        <p:nvSpPr>
          <p:cNvPr id="6" name="">
            <a:extLst xmlns:a="http://schemas.openxmlformats.org/drawingml/2006/main">
              <a:ext uri="{FF2B5EF4-FFF2-40B4-BE49-F238E27FC236}">
                <a16:creationId xmlns:a16="http://schemas.microsoft.com/office/drawing/2014/main" id="{86C6492C-1158-4D08-874B-61CF35DEFD49}"/>
              </a:ext>
            </a:extLst>
          </p:cNvPr>
          <p:cNvSpPr>
            <a:spLocks xmlns:a="http://schemas.openxmlformats.org/drawingml/2006/main" noGrp="1"/>
          </p:cNvSpPr>
          <p:nvPr/>
        </p:nvSpPr>
        <p:spPr>
          <a:xfrm xmlns:a="http://schemas.openxmlformats.org/drawingml/2006/main">
            <a:off x="55245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97180B4C-A0AB-41A2-8273-2E344FC7C51D}"/>
              </a:ext>
            </a:extLst>
          </p:cNvPr>
          <p:cNvSpPr>
            <a:spLocks xmlns:a="http://schemas.openxmlformats.org/drawingml/2006/main" noGrp="1"/>
          </p:cNvSpPr>
          <p:nvPr/>
        </p:nvSpPr>
        <p:spPr>
          <a:xfrm xmlns:a="http://schemas.openxmlformats.org/drawingml/2006/main">
            <a:off x="66675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3B6FB6"/>
                </a:solidFill>
                <a:latin typeface="Arial"/>
                <a:ea typeface="Arial"/>
                <a:cs typeface="Arial"/>
              </a:defRPr>
            </a:pPr>
            <a:r>
              <a:rPr sz="1575" b="1" i="0">
                <a:solidFill>
                  <a:srgbClr val="3B6FB6"/>
                </a:solidFill>
                <a:latin typeface="Arial"/>
                <a:ea typeface="Arial"/>
                <a:cs typeface="Arial"/>
              </a:rPr>
              <a:t>MPI</a:t>
            </a:r>
          </a:p>
        </p:txBody>
      </p:sp>
      <p:sp>
        <p:nvSpPr>
          <p:cNvPr id="8" name="">
            <a:extLst xmlns:a="http://schemas.openxmlformats.org/drawingml/2006/main">
              <a:ext uri="{FF2B5EF4-FFF2-40B4-BE49-F238E27FC236}">
                <a16:creationId xmlns:a16="http://schemas.microsoft.com/office/drawing/2014/main" id="{BB4FE847-3B50-49B0-871A-F35387388176}"/>
              </a:ext>
            </a:extLst>
          </p:cNvPr>
          <p:cNvSpPr>
            <a:spLocks xmlns:a="http://schemas.openxmlformats.org/drawingml/2006/main" noGrp="1"/>
          </p:cNvSpPr>
          <p:nvPr/>
        </p:nvSpPr>
        <p:spPr>
          <a:xfrm xmlns:a="http://schemas.openxmlformats.org/drawingml/2006/main">
            <a:off x="66675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63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block-cyclic chunks</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across processes</a:t>
            </a:r>
          </a:p>
        </p:txBody>
      </p:sp>
      <p:sp>
        <p:nvSpPr>
          <p:cNvPr id="9" name="">
            <a:extLst xmlns:a="http://schemas.openxmlformats.org/drawingml/2006/main">
              <a:ext uri="{FF2B5EF4-FFF2-40B4-BE49-F238E27FC236}">
                <a16:creationId xmlns:a16="http://schemas.microsoft.com/office/drawing/2014/main" id="{BE75F985-5550-4FBD-8B1E-5375A336DBDA}"/>
              </a:ext>
            </a:extLst>
          </p:cNvPr>
          <p:cNvSpPr>
            <a:spLocks xmlns:a="http://schemas.openxmlformats.org/drawingml/2006/main" noGrp="1"/>
          </p:cNvSpPr>
          <p:nvPr/>
        </p:nvSpPr>
        <p:spPr>
          <a:xfrm xmlns:a="http://schemas.openxmlformats.org/drawingml/2006/main">
            <a:off x="2047875"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09D160E4-A256-4771-8F8A-1BE8CF1FDAD8}"/>
              </a:ext>
            </a:extLst>
          </p:cNvPr>
          <p:cNvSpPr>
            <a:spLocks xmlns:a="http://schemas.openxmlformats.org/drawingml/2006/main" noGrp="1"/>
          </p:cNvSpPr>
          <p:nvPr/>
        </p:nvSpPr>
        <p:spPr>
          <a:xfrm xmlns:a="http://schemas.openxmlformats.org/drawingml/2006/main">
            <a:off x="2295525"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007C83"/>
            </a:solidFill>
          </a:ln>
        </p:spPr>
      </p:sp>
      <p:sp>
        <p:nvSpPr>
          <p:cNvPr id="11" name="">
            <a:extLst xmlns:a="http://schemas.openxmlformats.org/drawingml/2006/main">
              <a:ext uri="{FF2B5EF4-FFF2-40B4-BE49-F238E27FC236}">
                <a16:creationId xmlns:a16="http://schemas.microsoft.com/office/drawing/2014/main" id="{03B91F18-A206-42F0-A629-6E1571C38F88}"/>
              </a:ext>
            </a:extLst>
          </p:cNvPr>
          <p:cNvSpPr>
            <a:spLocks xmlns:a="http://schemas.openxmlformats.org/drawingml/2006/main" noGrp="1"/>
          </p:cNvSpPr>
          <p:nvPr/>
        </p:nvSpPr>
        <p:spPr>
          <a:xfrm xmlns:a="http://schemas.openxmlformats.org/drawingml/2006/main">
            <a:off x="2409825"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007C83"/>
                </a:solidFill>
                <a:latin typeface="Arial"/>
                <a:ea typeface="Arial"/>
                <a:cs typeface="Arial"/>
              </a:defRPr>
            </a:pPr>
            <a:r>
              <a:rPr sz="1575" b="1" i="0">
                <a:solidFill>
                  <a:srgbClr val="007C83"/>
                </a:solidFill>
                <a:latin typeface="Arial"/>
                <a:ea typeface="Arial"/>
                <a:cs typeface="Arial"/>
              </a:rPr>
              <a:t>OpenMP</a:t>
            </a:r>
          </a:p>
        </p:txBody>
      </p:sp>
      <p:sp>
        <p:nvSpPr>
          <p:cNvPr id="12" name="">
            <a:extLst xmlns:a="http://schemas.openxmlformats.org/drawingml/2006/main">
              <a:ext uri="{FF2B5EF4-FFF2-40B4-BE49-F238E27FC236}">
                <a16:creationId xmlns:a16="http://schemas.microsoft.com/office/drawing/2014/main" id="{FD43AEA0-0EDE-4684-A44B-1EDD7ABB7C59}"/>
              </a:ext>
            </a:extLst>
          </p:cNvPr>
          <p:cNvSpPr>
            <a:spLocks xmlns:a="http://schemas.openxmlformats.org/drawingml/2006/main" noGrp="1"/>
          </p:cNvSpPr>
          <p:nvPr/>
        </p:nvSpPr>
        <p:spPr>
          <a:xfrm xmlns:a="http://schemas.openxmlformats.org/drawingml/2006/main">
            <a:off x="2409825"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97"/>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dynamic schedule(64)</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inside each process</a:t>
            </a:r>
          </a:p>
        </p:txBody>
      </p:sp>
      <p:sp>
        <p:nvSpPr>
          <p:cNvPr id="13" name="">
            <a:extLst xmlns:a="http://schemas.openxmlformats.org/drawingml/2006/main">
              <a:ext uri="{FF2B5EF4-FFF2-40B4-BE49-F238E27FC236}">
                <a16:creationId xmlns:a16="http://schemas.microsoft.com/office/drawing/2014/main" id="{20F34DE5-F404-490E-BBEC-B2A2A4065058}"/>
              </a:ext>
            </a:extLst>
          </p:cNvPr>
          <p:cNvSpPr>
            <a:spLocks xmlns:a="http://schemas.openxmlformats.org/drawingml/2006/main" noGrp="1"/>
          </p:cNvSpPr>
          <p:nvPr/>
        </p:nvSpPr>
        <p:spPr>
          <a:xfrm xmlns:a="http://schemas.openxmlformats.org/drawingml/2006/main">
            <a:off x="3790950"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99A4EA1F-244A-4650-8FA4-85EEF3AE0508}"/>
              </a:ext>
            </a:extLst>
          </p:cNvPr>
          <p:cNvSpPr>
            <a:spLocks xmlns:a="http://schemas.openxmlformats.org/drawingml/2006/main" noGrp="1"/>
          </p:cNvSpPr>
          <p:nvPr/>
        </p:nvSpPr>
        <p:spPr>
          <a:xfrm xmlns:a="http://schemas.openxmlformats.org/drawingml/2006/main">
            <a:off x="403860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F28E2B"/>
            </a:solidFill>
          </a:ln>
        </p:spPr>
      </p:sp>
      <p:sp>
        <p:nvSpPr>
          <p:cNvPr id="15" name="">
            <a:extLst xmlns:a="http://schemas.openxmlformats.org/drawingml/2006/main">
              <a:ext uri="{FF2B5EF4-FFF2-40B4-BE49-F238E27FC236}">
                <a16:creationId xmlns:a16="http://schemas.microsoft.com/office/drawing/2014/main" id="{0FE39684-3F0E-4D2C-A230-A9EE1AAF01BE}"/>
              </a:ext>
            </a:extLst>
          </p:cNvPr>
          <p:cNvSpPr>
            <a:spLocks xmlns:a="http://schemas.openxmlformats.org/drawingml/2006/main" noGrp="1"/>
          </p:cNvSpPr>
          <p:nvPr/>
        </p:nvSpPr>
        <p:spPr>
          <a:xfrm xmlns:a="http://schemas.openxmlformats.org/drawingml/2006/main">
            <a:off x="415290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F28E2B"/>
                </a:solidFill>
                <a:latin typeface="Arial"/>
                <a:ea typeface="Arial"/>
                <a:cs typeface="Arial"/>
              </a:defRPr>
            </a:pPr>
            <a:r>
              <a:rPr sz="1575" b="1" i="0">
                <a:solidFill>
                  <a:srgbClr val="F28E2B"/>
                </a:solidFill>
                <a:latin typeface="Arial"/>
                <a:ea typeface="Arial"/>
                <a:cs typeface="Arial"/>
              </a:rPr>
              <a:t>Rank 0</a:t>
            </a:r>
          </a:p>
        </p:txBody>
      </p:sp>
      <p:sp>
        <p:nvSpPr>
          <p:cNvPr id="16" name="">
            <a:extLst xmlns:a="http://schemas.openxmlformats.org/drawingml/2006/main">
              <a:ext uri="{FF2B5EF4-FFF2-40B4-BE49-F238E27FC236}">
                <a16:creationId xmlns:a16="http://schemas.microsoft.com/office/drawing/2014/main" id="{A26850B1-1593-4FB0-A607-767C45E7D21C}"/>
              </a:ext>
            </a:extLst>
          </p:cNvPr>
          <p:cNvSpPr>
            <a:spLocks xmlns:a="http://schemas.openxmlformats.org/drawingml/2006/main" noGrp="1"/>
          </p:cNvSpPr>
          <p:nvPr/>
        </p:nvSpPr>
        <p:spPr>
          <a:xfrm xmlns:a="http://schemas.openxmlformats.org/drawingml/2006/main">
            <a:off x="415290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k-way merge +</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buffered output</a:t>
            </a:r>
          </a:p>
        </p:txBody>
      </p:sp>
      <p:sp>
        <p:nvSpPr>
          <p:cNvPr id="17" name="">
            <a:extLst xmlns:a="http://schemas.openxmlformats.org/drawingml/2006/main">
              <a:ext uri="{FF2B5EF4-FFF2-40B4-BE49-F238E27FC236}">
                <a16:creationId xmlns:a16="http://schemas.microsoft.com/office/drawing/2014/main" id="{765021C7-CCED-4F16-83B6-1BD319A97D25}"/>
              </a:ext>
            </a:extLst>
          </p:cNvPr>
          <p:cNvSpPr>
            <a:spLocks xmlns:a="http://schemas.openxmlformats.org/drawingml/2006/main" noGrp="1"/>
          </p:cNvSpPr>
          <p:nvPr/>
        </p:nvSpPr>
        <p:spPr>
          <a:xfrm xmlns:a="http://schemas.openxmlformats.org/drawingml/2006/main">
            <a:off x="552450" y="3314700"/>
            <a:ext cx="4962525" cy="2000250"/>
          </a:xfrm>
          <a:prstGeom xmlns:a="http://schemas.openxmlformats.org/drawingml/2006/main" prst="roundRect">
            <a:avLst>
              <a:gd name="adj" fmla="val 3810"/>
            </a:avLst>
          </a:prstGeom>
          <a:solidFill xmlns:a="http://schemas.openxmlformats.org/drawingml/2006/main">
            <a:srgbClr val="E6FFFA"/>
          </a:solidFill>
          <a:ln xmlns:a="http://schemas.openxmlformats.org/drawingml/2006/main" w="9525">
            <a:solidFill>
              <a:srgbClr val="9ED9D5"/>
            </a:solidFill>
          </a:ln>
        </p:spPr>
      </p:sp>
      <p:sp>
        <p:nvSpPr>
          <p:cNvPr id="18" name="">
            <a:extLst xmlns:a="http://schemas.openxmlformats.org/drawingml/2006/main">
              <a:ext uri="{FF2B5EF4-FFF2-40B4-BE49-F238E27FC236}">
                <a16:creationId xmlns:a16="http://schemas.microsoft.com/office/drawing/2014/main" id="{1AC96C9F-1454-483B-A992-35241B9BF827}"/>
              </a:ext>
            </a:extLst>
          </p:cNvPr>
          <p:cNvSpPr>
            <a:spLocks xmlns:a="http://schemas.openxmlformats.org/drawingml/2006/main" noGrp="1"/>
          </p:cNvSpPr>
          <p:nvPr/>
        </p:nvSpPr>
        <p:spPr>
          <a:xfrm xmlns:a="http://schemas.openxmlformats.org/drawingml/2006/main">
            <a:off x="781050" y="35433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005F66"/>
                </a:solidFill>
                <a:latin typeface="Arial"/>
                <a:ea typeface="Arial"/>
                <a:cs typeface="Arial"/>
              </a:defRPr>
            </a:pPr>
            <a:r>
              <a:rPr sz="1425" b="1" i="0">
                <a:solidFill>
                  <a:srgbClr val="005F66"/>
                </a:solidFill>
                <a:latin typeface="Arial"/>
                <a:ea typeface="Arial"/>
                <a:cs typeface="Arial"/>
              </a:rPr>
              <a:t>Why dynamic scheduling remains useful</a:t>
            </a:r>
          </a:p>
        </p:txBody>
      </p:sp>
      <p:sp>
        <p:nvSpPr>
          <p:cNvPr id="19" name="">
            <a:extLst xmlns:a="http://schemas.openxmlformats.org/drawingml/2006/main">
              <a:ext uri="{FF2B5EF4-FFF2-40B4-BE49-F238E27FC236}">
                <a16:creationId xmlns:a16="http://schemas.microsoft.com/office/drawing/2014/main" id="{F94A4711-F173-48BF-8D44-59B08723483D}"/>
              </a:ext>
            </a:extLst>
          </p:cNvPr>
          <p:cNvSpPr>
            <a:spLocks xmlns:a="http://schemas.openxmlformats.org/drawingml/2006/main" noGrp="1"/>
          </p:cNvSpPr>
          <p:nvPr/>
        </p:nvSpPr>
        <p:spPr>
          <a:xfrm xmlns:a="http://schemas.openxmlformats.org/drawingml/2006/main">
            <a:off x="781050" y="398145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Trial division has irregular per-candidate cost. MPI chunks balance rank-level work; OpenMP dynamic scheduling smooths the remaining variation between threads without changing output order.</a:t>
            </a:r>
          </a:p>
        </p:txBody>
      </p:sp>
      <p:sp>
        <p:nvSpPr>
          <p:cNvPr id="20" name="">
            <a:extLst xmlns:a="http://schemas.openxmlformats.org/drawingml/2006/main">
              <a:ext uri="{FF2B5EF4-FFF2-40B4-BE49-F238E27FC236}">
                <a16:creationId xmlns:a16="http://schemas.microsoft.com/office/drawing/2014/main" id="{57FBB093-6DB7-478D-B20A-939ACDCD4256}"/>
              </a:ext>
            </a:extLst>
          </p:cNvPr>
          <p:cNvSpPr>
            <a:spLocks xmlns:a="http://schemas.openxmlformats.org/drawingml/2006/main" noGrp="1"/>
          </p:cNvSpPr>
          <p:nvPr/>
        </p:nvSpPr>
        <p:spPr>
          <a:xfrm xmlns:a="http://schemas.openxmlformats.org/drawingml/2006/main">
            <a:off x="5943600" y="1200150"/>
            <a:ext cx="569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Representative local execution at n = 60M</a:t>
            </a:r>
          </a:p>
        </p:txBody>
      </p:sp>
      <p:graphicFrame>
        <p:nvGraphicFramePr>
          <p:cNvPr id="54" name=""/>
          <p:cNvGraphicFramePr/>
          <p:nvPr/>
        </p:nvGraphicFramePr>
        <p:xfrm>
          <a:off xmlns:a="http://schemas.openxmlformats.org/drawingml/2006/main" x="5943600" y="1638300"/>
          <a:ext xmlns:a="http://schemas.openxmlformats.org/drawingml/2006/main" cx="5695950" cy="1581150"/>
        </p:xfrm>
        <a:graphic xmlns:a="http://schemas.openxmlformats.org/drawingml/2006/main">
          <a:graphicData uri="http://schemas.openxmlformats.org/drawingml/2006/table">
            <a:tbl>
              <a:tblPr firstRow="1" bandRow="0"/>
              <a:tblGrid>
                <a:gridCol w="1047750"/>
                <a:gridCol w="1190625"/>
                <a:gridCol w="1190625"/>
                <a:gridCol w="1190625"/>
                <a:gridCol w="1076325"/>
              </a:tblGrid>
              <a:tr h="52705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Configuration</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min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max/min</a:t>
                      </a:r>
                    </a:p>
                  </a:txBody>
                  <a:tcPr marL="76200" marR="76200" marT="57150" marB="57150" anchor="ctr">
                    <a:solidFill>
                      <a:srgbClr val="005F66"/>
                    </a:solidFill>
                  </a:tcPr>
                </a:tc>
              </a:tr>
              <a:tr h="527050">
                <a:tc>
                  <a:txBody>
                    <a:bodyPr/>
                    <a:lstStyle/>
                    <a:p>
                      <a:r>
                        <a:rPr sz="900">
                          <a:solidFill>
                            <a:srgbClr val="102A43"/>
                          </a:solidFill>
                          <a:latin typeface="Arial"/>
                          <a:ea typeface="Arial"/>
                          <a:cs typeface="Arial"/>
                        </a:rPr>
                        <a:t>Task 1</a:t>
                      </a:r>
                    </a:p>
                  </a:txBody>
                  <a:tcPr marL="76200" marR="76200" marT="47625" marB="47625" anchor="ctr">
                    <a:solidFill>
                      <a:srgbClr val="FFFFFF"/>
                    </a:solidFill>
                  </a:tcPr>
                </a:tc>
                <a:tc>
                  <a:txBody>
                    <a:bodyPr/>
                    <a:lstStyle/>
                    <a:p>
                      <a:r>
                        <a:rPr sz="900">
                          <a:solidFill>
                            <a:srgbClr val="102A43"/>
                          </a:solidFill>
                          <a:latin typeface="Arial"/>
                          <a:ea typeface="Arial"/>
                          <a:cs typeface="Arial"/>
                        </a:rPr>
                        <a:t>4 ranks</a:t>
                      </a:r>
                    </a:p>
                  </a:txBody>
                  <a:tcPr marL="76200" marR="76200" marT="47625" marB="47625" anchor="ctr">
                    <a:solidFill>
                      <a:srgbClr val="FFFFFF"/>
                    </a:solidFill>
                  </a:tcPr>
                </a:tc>
                <a:tc>
                  <a:txBody>
                    <a:bodyPr/>
                    <a:lstStyle/>
                    <a:p>
                      <a:r>
                        <a:rPr sz="900">
                          <a:solidFill>
                            <a:srgbClr val="102A43"/>
                          </a:solidFill>
                          <a:latin typeface="Arial"/>
                          <a:ea typeface="Arial"/>
                          <a:cs typeface="Arial"/>
                        </a:rPr>
                        <a:t>6.446 s</a:t>
                      </a:r>
                    </a:p>
                  </a:txBody>
                  <a:tcPr marL="76200" marR="76200" marT="47625" marB="47625" anchor="ctr">
                    <a:solidFill>
                      <a:srgbClr val="FFFFFF"/>
                    </a:solidFill>
                  </a:tcPr>
                </a:tc>
                <a:tc>
                  <a:txBody>
                    <a:bodyPr/>
                    <a:lstStyle/>
                    <a:p>
                      <a:r>
                        <a:rPr sz="900">
                          <a:solidFill>
                            <a:srgbClr val="102A43"/>
                          </a:solidFill>
                          <a:latin typeface="Arial"/>
                          <a:ea typeface="Arial"/>
                          <a:cs typeface="Arial"/>
                        </a:rPr>
                        <a:t>6.507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1.009</a:t>
                      </a:r>
                    </a:p>
                  </a:txBody>
                  <a:tcPr marL="76200" marR="76200" marT="47625" marB="47625" anchor="ctr">
                    <a:solidFill>
                      <a:srgbClr val="FFFFFF"/>
                    </a:solidFill>
                  </a:tcPr>
                </a:tc>
              </a:tr>
              <a:tr h="527050">
                <a:tc>
                  <a:txBody>
                    <a:bodyPr/>
                    <a:lstStyle/>
                    <a:p>
                      <a:r>
                        <a:rPr sz="900">
                          <a:solidFill>
                            <a:srgbClr val="102A43"/>
                          </a:solidFill>
                          <a:latin typeface="Arial"/>
                          <a:ea typeface="Arial"/>
                          <a:cs typeface="Arial"/>
                        </a:rPr>
                        <a:t>Task 2</a:t>
                      </a:r>
                    </a:p>
                  </a:txBody>
                  <a:tcPr marL="76200" marR="76200" marT="47625" marB="47625" anchor="ctr">
                    <a:solidFill>
                      <a:srgbClr val="FFFFFF"/>
                    </a:solidFill>
                  </a:tcPr>
                </a:tc>
                <a:tc>
                  <a:txBody>
                    <a:bodyPr/>
                    <a:lstStyle/>
                    <a:p>
                      <a:r>
                        <a:rPr sz="900">
                          <a:solidFill>
                            <a:srgbClr val="102A43"/>
                          </a:solidFill>
                          <a:latin typeface="Arial"/>
                          <a:ea typeface="Arial"/>
                          <a:cs typeface="Arial"/>
                        </a:rPr>
                        <a:t>4 × 2</a:t>
                      </a:r>
                    </a:p>
                  </a:txBody>
                  <a:tcPr marL="76200" marR="76200" marT="47625" marB="47625" anchor="ctr">
                    <a:solidFill>
                      <a:srgbClr val="FFFFFF"/>
                    </a:solidFill>
                  </a:tcPr>
                </a:tc>
                <a:tc>
                  <a:txBody>
                    <a:bodyPr/>
                    <a:lstStyle/>
                    <a:p>
                      <a:r>
                        <a:rPr sz="900">
                          <a:solidFill>
                            <a:srgbClr val="102A43"/>
                          </a:solidFill>
                          <a:latin typeface="Arial"/>
                          <a:ea typeface="Arial"/>
                          <a:cs typeface="Arial"/>
                        </a:rPr>
                        <a:t>4.567 s</a:t>
                      </a:r>
                    </a:p>
                  </a:txBody>
                  <a:tcPr marL="76200" marR="76200" marT="47625" marB="47625" anchor="ctr">
                    <a:solidFill>
                      <a:srgbClr val="FFFFFF"/>
                    </a:solidFill>
                  </a:tcPr>
                </a:tc>
                <a:tc>
                  <a:txBody>
                    <a:bodyPr/>
                    <a:lstStyle/>
                    <a:p>
                      <a:r>
                        <a:rPr sz="900">
                          <a:solidFill>
                            <a:srgbClr val="102A43"/>
                          </a:solidFill>
                          <a:latin typeface="Arial"/>
                          <a:ea typeface="Arial"/>
                          <a:cs typeface="Arial"/>
                        </a:rPr>
                        <a:t>4.685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1.026</a:t>
                      </a:r>
                    </a:p>
                  </a:txBody>
                  <a:tcPr marL="76200" marR="76200" marT="47625" marB="47625" anchor="ctr">
                    <a:solidFill>
                      <a:srgbClr val="FFFFFF"/>
                    </a:solidFill>
                  </a:tcPr>
                </a:tc>
              </a:tr>
            </a:tbl>
          </a:graphicData>
        </a:graphic>
      </p:graphicFrame>
      <p:sp>
        <p:nvSpPr>
          <p:cNvPr id="22" name="">
            <a:extLst xmlns:a="http://schemas.openxmlformats.org/drawingml/2006/main">
              <a:ext uri="{FF2B5EF4-FFF2-40B4-BE49-F238E27FC236}">
                <a16:creationId xmlns:a16="http://schemas.microsoft.com/office/drawing/2014/main" id="{B4B7F9C3-FD62-4092-884E-A87343BEEC2F}"/>
              </a:ext>
            </a:extLst>
          </p:cNvPr>
          <p:cNvSpPr>
            <a:spLocks xmlns:a="http://schemas.openxmlformats.org/drawingml/2006/main" noGrp="1"/>
          </p:cNvSpPr>
          <p:nvPr/>
        </p:nvSpPr>
        <p:spPr>
          <a:xfrm xmlns:a="http://schemas.openxmlformats.org/drawingml/2006/main">
            <a:off x="59436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3" name="">
            <a:extLst xmlns:a="http://schemas.openxmlformats.org/drawingml/2006/main">
              <a:ext uri="{FF2B5EF4-FFF2-40B4-BE49-F238E27FC236}">
                <a16:creationId xmlns:a16="http://schemas.microsoft.com/office/drawing/2014/main" id="{DCA45B5C-89AE-4DA6-8E6A-83629A7BC441}"/>
              </a:ext>
            </a:extLst>
          </p:cNvPr>
          <p:cNvSpPr>
            <a:spLocks xmlns:a="http://schemas.openxmlformats.org/drawingml/2006/main" noGrp="1"/>
          </p:cNvSpPr>
          <p:nvPr/>
        </p:nvSpPr>
        <p:spPr>
          <a:xfrm xmlns:a="http://schemas.openxmlformats.org/drawingml/2006/main">
            <a:off x="5943600" y="3581400"/>
            <a:ext cx="66675" cy="171450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24" name="">
            <a:extLst xmlns:a="http://schemas.openxmlformats.org/drawingml/2006/main">
              <a:ext uri="{FF2B5EF4-FFF2-40B4-BE49-F238E27FC236}">
                <a16:creationId xmlns:a16="http://schemas.microsoft.com/office/drawing/2014/main" id="{A2B74E62-EC17-4C72-896D-B71C468A3461}"/>
              </a:ext>
            </a:extLst>
          </p:cNvPr>
          <p:cNvSpPr>
            <a:spLocks xmlns:a="http://schemas.openxmlformats.org/drawingml/2006/main" noGrp="1"/>
          </p:cNvSpPr>
          <p:nvPr/>
        </p:nvSpPr>
        <p:spPr>
          <a:xfrm xmlns:a="http://schemas.openxmlformats.org/drawingml/2006/main">
            <a:off x="61531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1</a:t>
            </a:r>
          </a:p>
        </p:txBody>
      </p:sp>
      <p:sp>
        <p:nvSpPr>
          <p:cNvPr id="25" name="">
            <a:extLst xmlns:a="http://schemas.openxmlformats.org/drawingml/2006/main">
              <a:ext uri="{FF2B5EF4-FFF2-40B4-BE49-F238E27FC236}">
                <a16:creationId xmlns:a16="http://schemas.microsoft.com/office/drawing/2014/main" id="{F9B880CA-C3AB-4CA5-B77D-805CCE706FC2}"/>
              </a:ext>
            </a:extLst>
          </p:cNvPr>
          <p:cNvSpPr>
            <a:spLocks xmlns:a="http://schemas.openxmlformats.org/drawingml/2006/main" noGrp="1"/>
          </p:cNvSpPr>
          <p:nvPr/>
        </p:nvSpPr>
        <p:spPr>
          <a:xfrm xmlns:a="http://schemas.openxmlformats.org/drawingml/2006/main">
            <a:off x="61531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6.97 s</a:t>
            </a:r>
          </a:p>
        </p:txBody>
      </p:sp>
      <p:sp>
        <p:nvSpPr>
          <p:cNvPr id="26" name="">
            <a:extLst xmlns:a="http://schemas.openxmlformats.org/drawingml/2006/main">
              <a:ext uri="{FF2B5EF4-FFF2-40B4-BE49-F238E27FC236}">
                <a16:creationId xmlns:a16="http://schemas.microsoft.com/office/drawing/2014/main" id="{931A3EEA-7B5A-4AB2-9487-F2A028E3C12C}"/>
              </a:ext>
            </a:extLst>
          </p:cNvPr>
          <p:cNvSpPr>
            <a:spLocks xmlns:a="http://schemas.openxmlformats.org/drawingml/2006/main" noGrp="1"/>
          </p:cNvSpPr>
          <p:nvPr/>
        </p:nvSpPr>
        <p:spPr>
          <a:xfrm xmlns:a="http://schemas.openxmlformats.org/drawingml/2006/main">
            <a:off x="61531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processes</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27" name="">
            <a:extLst xmlns:a="http://schemas.openxmlformats.org/drawingml/2006/main">
              <a:ext uri="{FF2B5EF4-FFF2-40B4-BE49-F238E27FC236}">
                <a16:creationId xmlns:a16="http://schemas.microsoft.com/office/drawing/2014/main" id="{82719195-5CF4-4718-BC5E-9315EB6996E0}"/>
              </a:ext>
            </a:extLst>
          </p:cNvPr>
          <p:cNvSpPr>
            <a:spLocks xmlns:a="http://schemas.openxmlformats.org/drawingml/2006/main" noGrp="1"/>
          </p:cNvSpPr>
          <p:nvPr/>
        </p:nvSpPr>
        <p:spPr>
          <a:xfrm xmlns:a="http://schemas.openxmlformats.org/drawingml/2006/main">
            <a:off x="89535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8" name="">
            <a:extLst xmlns:a="http://schemas.openxmlformats.org/drawingml/2006/main">
              <a:ext uri="{FF2B5EF4-FFF2-40B4-BE49-F238E27FC236}">
                <a16:creationId xmlns:a16="http://schemas.microsoft.com/office/drawing/2014/main" id="{350FED88-A103-4E01-A692-5FD0D424C99F}"/>
              </a:ext>
            </a:extLst>
          </p:cNvPr>
          <p:cNvSpPr>
            <a:spLocks xmlns:a="http://schemas.openxmlformats.org/drawingml/2006/main" noGrp="1"/>
          </p:cNvSpPr>
          <p:nvPr/>
        </p:nvSpPr>
        <p:spPr>
          <a:xfrm xmlns:a="http://schemas.openxmlformats.org/drawingml/2006/main">
            <a:off x="8953500" y="3581400"/>
            <a:ext cx="66675" cy="171450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9" name="">
            <a:extLst xmlns:a="http://schemas.openxmlformats.org/drawingml/2006/main">
              <a:ext uri="{FF2B5EF4-FFF2-40B4-BE49-F238E27FC236}">
                <a16:creationId xmlns:a16="http://schemas.microsoft.com/office/drawing/2014/main" id="{134F6ACA-1E22-44E5-B3CF-AF5089CDAFFB}"/>
              </a:ext>
            </a:extLst>
          </p:cNvPr>
          <p:cNvSpPr>
            <a:spLocks xmlns:a="http://schemas.openxmlformats.org/drawingml/2006/main" noGrp="1"/>
          </p:cNvSpPr>
          <p:nvPr/>
        </p:nvSpPr>
        <p:spPr>
          <a:xfrm xmlns:a="http://schemas.openxmlformats.org/drawingml/2006/main">
            <a:off x="91630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2</a:t>
            </a:r>
          </a:p>
        </p:txBody>
      </p:sp>
      <p:sp>
        <p:nvSpPr>
          <p:cNvPr id="30" name="">
            <a:extLst xmlns:a="http://schemas.openxmlformats.org/drawingml/2006/main">
              <a:ext uri="{FF2B5EF4-FFF2-40B4-BE49-F238E27FC236}">
                <a16:creationId xmlns:a16="http://schemas.microsoft.com/office/drawing/2014/main" id="{0142277E-5E69-4892-8DB3-32E9A830BAFF}"/>
              </a:ext>
            </a:extLst>
          </p:cNvPr>
          <p:cNvSpPr>
            <a:spLocks xmlns:a="http://schemas.openxmlformats.org/drawingml/2006/main" noGrp="1"/>
          </p:cNvSpPr>
          <p:nvPr/>
        </p:nvSpPr>
        <p:spPr>
          <a:xfrm xmlns:a="http://schemas.openxmlformats.org/drawingml/2006/main">
            <a:off x="91630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5.16 s</a:t>
            </a:r>
          </a:p>
        </p:txBody>
      </p:sp>
      <p:sp>
        <p:nvSpPr>
          <p:cNvPr id="31" name="">
            <a:extLst xmlns:a="http://schemas.openxmlformats.org/drawingml/2006/main">
              <a:ext uri="{FF2B5EF4-FFF2-40B4-BE49-F238E27FC236}">
                <a16:creationId xmlns:a16="http://schemas.microsoft.com/office/drawing/2014/main" id="{E0096F4D-90CC-4EB1-AF86-8C02DBFE9BB3}"/>
              </a:ext>
            </a:extLst>
          </p:cNvPr>
          <p:cNvSpPr>
            <a:spLocks xmlns:a="http://schemas.openxmlformats.org/drawingml/2006/main" noGrp="1"/>
          </p:cNvSpPr>
          <p:nvPr/>
        </p:nvSpPr>
        <p:spPr>
          <a:xfrm xmlns:a="http://schemas.openxmlformats.org/drawingml/2006/main">
            <a:off x="91630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 2 OpenMP</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32" name="">
            <a:extLst xmlns:a="http://schemas.openxmlformats.org/drawingml/2006/main">
              <a:ext uri="{FF2B5EF4-FFF2-40B4-BE49-F238E27FC236}">
                <a16:creationId xmlns:a16="http://schemas.microsoft.com/office/drawing/2014/main" id="{DFF6ED65-D8CE-4059-BB98-BE704463C678}"/>
              </a:ext>
            </a:extLst>
          </p:cNvPr>
          <p:cNvSpPr>
            <a:spLocks xmlns:a="http://schemas.openxmlformats.org/drawingml/2006/main" noGrp="1"/>
          </p:cNvSpPr>
          <p:nvPr/>
        </p:nvSpPr>
        <p:spPr>
          <a:xfrm xmlns:a="http://schemas.openxmlformats.org/drawingml/2006/main">
            <a:off x="6096000" y="5600700"/>
            <a:ext cx="53911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33" name="">
            <a:extLst xmlns:a="http://schemas.openxmlformats.org/drawingml/2006/main">
              <a:ext uri="{FF2B5EF4-FFF2-40B4-BE49-F238E27FC236}">
                <a16:creationId xmlns:a16="http://schemas.microsoft.com/office/drawing/2014/main" id="{3F529E07-F486-470D-87AB-3A692D12BE31}"/>
              </a:ext>
            </a:extLst>
          </p:cNvPr>
          <p:cNvSpPr>
            <a:spLocks xmlns:a="http://schemas.openxmlformats.org/drawingml/2006/main" noGrp="1"/>
          </p:cNvSpPr>
          <p:nvPr/>
        </p:nvSpPr>
        <p:spPr>
          <a:xfrm xmlns:a="http://schemas.openxmlformats.org/drawingml/2006/main">
            <a:off x="6267450" y="57245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Hybrid speedup over the same 4-rank Task 1 run: 1.35×</a:t>
            </a:r>
          </a:p>
        </p:txBody>
      </p:sp>
    </p:spTree>
    <p:extLst>
      <p:ext uri="{BB962C8B-B14F-4D97-AF65-F5344CB8AC3E}">
        <p14:creationId xmlns:p14="http://schemas.microsoft.com/office/powerpoint/2010/main" val="1014455420"/>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FF706F-9AC4-46FB-87C8-187D5F820C6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9B26AC1E-7E1A-4701-A300-0B5E76A11E57}"/>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8BC37A10-2CB9-4A4D-BB3E-FBE56C2658BD}"/>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4 and 5 — hybrid scaling</a:t>
            </a:r>
          </a:p>
        </p:txBody>
      </p:sp>
      <p:sp>
        <p:nvSpPr>
          <p:cNvPr id="4" name="">
            <a:extLst xmlns:a="http://schemas.openxmlformats.org/drawingml/2006/main">
              <a:ext uri="{FF2B5EF4-FFF2-40B4-BE49-F238E27FC236}">
                <a16:creationId xmlns:a16="http://schemas.microsoft.com/office/drawing/2014/main" id="{AA5270A0-A68A-4F1F-9B07-72B74D63AA9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8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9a3339ee544842e5"/>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cb9a84ce2a22429e"/>
          </a:graphicData>
        </a:graphic>
      </p:graphicFrame>
      <p:sp>
        <p:nvSpPr>
          <p:cNvPr id="7" name="">
            <a:extLst xmlns:a="http://schemas.openxmlformats.org/drawingml/2006/main">
              <a:ext uri="{FF2B5EF4-FFF2-40B4-BE49-F238E27FC236}">
                <a16:creationId xmlns:a16="http://schemas.microsoft.com/office/drawing/2014/main" id="{515B5C4B-B2E1-4CF1-94F6-0A70632BE206}"/>
              </a:ext>
            </a:extLst>
          </p:cNvPr>
          <p:cNvSpPr>
            <a:spLocks xmlns:a="http://schemas.openxmlformats.org/drawingml/2006/main" noGrp="1"/>
          </p:cNvSpPr>
          <p:nvPr/>
        </p:nvSpPr>
        <p:spPr>
          <a:xfrm xmlns:a="http://schemas.openxmlformats.org/drawingml/2006/main">
            <a:off x="1333500" y="5619750"/>
            <a:ext cx="95250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8216A0D2-9674-48A0-AF4C-93A4614FFAE7}"/>
              </a:ext>
            </a:extLst>
          </p:cNvPr>
          <p:cNvSpPr>
            <a:spLocks xmlns:a="http://schemas.openxmlformats.org/drawingml/2006/main" noGrp="1"/>
          </p:cNvSpPr>
          <p:nvPr/>
        </p:nvSpPr>
        <p:spPr>
          <a:xfrm xmlns:a="http://schemas.openxmlformats.org/drawingml/2006/main">
            <a:off x="1504950" y="5743575"/>
            <a:ext cx="9182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Best measured hybrid point: 8.46× at 1 × 16; 32- and 64-worker configurations (4×8 and 4×16) reduce efficiency.</a:t>
            </a:r>
          </a:p>
        </p:txBody>
      </p:sp>
    </p:spTree>
    <p:extLst>
      <p:ext uri="{BB962C8B-B14F-4D97-AF65-F5344CB8AC3E}">
        <p14:creationId xmlns:p14="http://schemas.microsoft.com/office/powerpoint/2010/main" val="2043945329"/>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B815CD-C48C-4710-9C02-FB3575A3907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6B7478A5-44F7-4298-951E-F97576038E55}"/>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A47095F8-BCD3-4DD0-AA03-1C259010A3A7}"/>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7 — hybrid scaling limits</a:t>
            </a:r>
          </a:p>
        </p:txBody>
      </p:sp>
      <p:sp>
        <p:nvSpPr>
          <p:cNvPr id="4" name="">
            <a:extLst xmlns:a="http://schemas.openxmlformats.org/drawingml/2006/main">
              <a:ext uri="{FF2B5EF4-FFF2-40B4-BE49-F238E27FC236}">
                <a16:creationId xmlns:a16="http://schemas.microsoft.com/office/drawing/2014/main" id="{FA8BDAD6-2A96-4583-9653-7B2617A9AEC6}"/>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9 / 9</a:t>
            </a:r>
          </a:p>
        </p:txBody>
      </p:sp>
      <p:graphicFrame>
        <p:nvGraphicFramePr>
          <p:cNvPr id="17" name="Chart"/>
          <p:cNvGraphicFramePr/>
          <p:nvPr/>
        </p:nvGraphicFramePr>
        <p:xfrm>
          <a:off xmlns:a="http://schemas.openxmlformats.org/drawingml/2006/main" x="476250" y="1143000"/>
          <a:ext xmlns:a="http://schemas.openxmlformats.org/drawingml/2006/main" cx="6238875" cy="4333875"/>
        </p:xfrm>
        <a:graphic xmlns:a="http://schemas.openxmlformats.org/drawingml/2006/main">
          <a:graphicData uri="http://schemas.openxmlformats.org/drawingml/2006/chart">
            <c:chart xmlns:r="http://schemas.openxmlformats.org/officeDocument/2006/relationships" xmlns:c="http://schemas.openxmlformats.org/drawingml/2006/chart" r:id="R955bb767d55f42ef"/>
          </a:graphicData>
        </a:graphic>
      </p:graphicFrame>
      <p:sp>
        <p:nvSpPr>
          <p:cNvPr id="6" name="">
            <a:extLst xmlns:a="http://schemas.openxmlformats.org/drawingml/2006/main">
              <a:ext uri="{FF2B5EF4-FFF2-40B4-BE49-F238E27FC236}">
                <a16:creationId xmlns:a16="http://schemas.microsoft.com/office/drawing/2014/main" id="{F5C6D05C-F29C-4DD5-80EA-4381191EAC79}"/>
              </a:ext>
            </a:extLst>
          </p:cNvPr>
          <p:cNvSpPr>
            <a:spLocks xmlns:a="http://schemas.openxmlformats.org/drawingml/2006/main" noGrp="1"/>
          </p:cNvSpPr>
          <p:nvPr/>
        </p:nvSpPr>
        <p:spPr>
          <a:xfrm xmlns:a="http://schemas.openxmlformats.org/drawingml/2006/main">
            <a:off x="7105650" y="1162050"/>
            <a:ext cx="45339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E2EC"/>
            </a:solidFill>
          </a:ln>
        </p:spPr>
      </p:sp>
      <p:sp>
        <p:nvSpPr>
          <p:cNvPr id="7" name="">
            <a:extLst xmlns:a="http://schemas.openxmlformats.org/drawingml/2006/main">
              <a:ext uri="{FF2B5EF4-FFF2-40B4-BE49-F238E27FC236}">
                <a16:creationId xmlns:a16="http://schemas.microsoft.com/office/drawing/2014/main" id="{E60E3037-59B9-4EB0-8B5A-F1B186A4161A}"/>
              </a:ext>
            </a:extLst>
          </p:cNvPr>
          <p:cNvSpPr>
            <a:spLocks xmlns:a="http://schemas.openxmlformats.org/drawingml/2006/main" noGrp="1"/>
          </p:cNvSpPr>
          <p:nvPr/>
        </p:nvSpPr>
        <p:spPr>
          <a:xfrm xmlns:a="http://schemas.openxmlformats.org/drawingml/2006/main">
            <a:off x="7353300" y="13716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Why the curves diverge</a:t>
            </a:r>
          </a:p>
        </p:txBody>
      </p:sp>
      <p:sp>
        <p:nvSpPr>
          <p:cNvPr id="8" name="">
            <a:extLst xmlns:a="http://schemas.openxmlformats.org/drawingml/2006/main">
              <a:ext uri="{FF2B5EF4-FFF2-40B4-BE49-F238E27FC236}">
                <a16:creationId xmlns:a16="http://schemas.microsoft.com/office/drawing/2014/main" id="{81E5884F-B1C1-42ED-818B-D708DEEE5436}"/>
              </a:ext>
            </a:extLst>
          </p:cNvPr>
          <p:cNvSpPr>
            <a:spLocks xmlns:a="http://schemas.openxmlformats.org/drawingml/2006/main" noGrp="1"/>
          </p:cNvSpPr>
          <p:nvPr/>
        </p:nvSpPr>
        <p:spPr>
          <a:xfrm xmlns:a="http://schemas.openxmlformats.org/drawingml/2006/main">
            <a:off x="7353300" y="1809750"/>
            <a:ext cx="400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MPI collectives and rank-0 aggregation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Memory and scheduler contention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Oversubscription beyond 20 logical CPUs</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Amdahl assumes a fixed, ideal serial fraction</a:t>
            </a:r>
          </a:p>
        </p:txBody>
      </p:sp>
      <p:sp>
        <p:nvSpPr>
          <p:cNvPr id="9" name="">
            <a:extLst xmlns:a="http://schemas.openxmlformats.org/drawingml/2006/main">
              <a:ext uri="{FF2B5EF4-FFF2-40B4-BE49-F238E27FC236}">
                <a16:creationId xmlns:a16="http://schemas.microsoft.com/office/drawing/2014/main" id="{ACD917BF-CB1B-4033-A0B9-283ACAACCD7A}"/>
              </a:ext>
            </a:extLst>
          </p:cNvPr>
          <p:cNvSpPr>
            <a:spLocks xmlns:a="http://schemas.openxmlformats.org/drawingml/2006/main" noGrp="1"/>
          </p:cNvSpPr>
          <p:nvPr/>
        </p:nvSpPr>
        <p:spPr>
          <a:xfrm xmlns:a="http://schemas.openxmlformats.org/drawingml/2006/main">
            <a:off x="7105650" y="3371850"/>
            <a:ext cx="4533900" cy="2076450"/>
          </a:xfrm>
          <a:prstGeom xmlns:a="http://schemas.openxmlformats.org/drawingml/2006/main" prst="roundRect">
            <a:avLst>
              <a:gd name="adj" fmla="val 3670"/>
            </a:avLst>
          </a:prstGeom>
          <a:solidFill xmlns:a="http://schemas.openxmlformats.org/drawingml/2006/main">
            <a:srgbClr val="FFF5E6"/>
          </a:solidFill>
          <a:ln xmlns:a="http://schemas.openxmlformats.org/drawingml/2006/main" w="9525">
            <a:solidFill>
              <a:srgbClr val="F5C98A"/>
            </a:solidFill>
          </a:ln>
        </p:spPr>
      </p:sp>
      <p:sp>
        <p:nvSpPr>
          <p:cNvPr id="10" name="">
            <a:extLst xmlns:a="http://schemas.openxmlformats.org/drawingml/2006/main">
              <a:ext uri="{FF2B5EF4-FFF2-40B4-BE49-F238E27FC236}">
                <a16:creationId xmlns:a16="http://schemas.microsoft.com/office/drawing/2014/main" id="{BFA6250B-59D2-4D8B-AE30-5F901880181A}"/>
              </a:ext>
            </a:extLst>
          </p:cNvPr>
          <p:cNvSpPr>
            <a:spLocks xmlns:a="http://schemas.openxmlformats.org/drawingml/2006/main" noGrp="1"/>
          </p:cNvSpPr>
          <p:nvPr/>
        </p:nvSpPr>
        <p:spPr>
          <a:xfrm xmlns:a="http://schemas.openxmlformats.org/drawingml/2006/main">
            <a:off x="7353300" y="3581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8A4B08"/>
                </a:solidFill>
                <a:latin typeface="Arial"/>
                <a:ea typeface="Arial"/>
                <a:cs typeface="Arial"/>
              </a:defRPr>
            </a:pPr>
            <a:r>
              <a:rPr sz="1575" b="1" i="0">
                <a:solidFill>
                  <a:srgbClr val="8A4B08"/>
                </a:solidFill>
                <a:latin typeface="Arial"/>
                <a:ea typeface="Arial"/>
                <a:cs typeface="Arial"/>
              </a:rPr>
              <a:t>Limitations and future work</a:t>
            </a:r>
          </a:p>
        </p:txBody>
      </p:sp>
      <p:sp>
        <p:nvSpPr>
          <p:cNvPr id="11" name="">
            <a:extLst xmlns:a="http://schemas.openxmlformats.org/drawingml/2006/main">
              <a:ext uri="{FF2B5EF4-FFF2-40B4-BE49-F238E27FC236}">
                <a16:creationId xmlns:a16="http://schemas.microsoft.com/office/drawing/2014/main" id="{92B41035-E19B-4572-A215-03BDB347E6DC}"/>
              </a:ext>
            </a:extLst>
          </p:cNvPr>
          <p:cNvSpPr>
            <a:spLocks xmlns:a="http://schemas.openxmlformats.org/drawingml/2006/main" noGrp="1"/>
          </p:cNvSpPr>
          <p:nvPr/>
        </p:nvSpPr>
        <p:spPr>
          <a:xfrm xmlns:a="http://schemas.openxmlformats.org/drawingml/2006/main">
            <a:off x="7353300" y="40195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15"/>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benchmark series is single-node data, so it does not quantify network cost. A two-node CAAS functional run completed successfully. Next: multi-node CAAS measurements, segmented-sieve work units, and distributed output.</a:t>
            </a:r>
          </a:p>
        </p:txBody>
      </p:sp>
      <p:sp>
        <p:nvSpPr>
          <p:cNvPr id="12" name="">
            <a:extLst xmlns:a="http://schemas.openxmlformats.org/drawingml/2006/main">
              <a:ext uri="{FF2B5EF4-FFF2-40B4-BE49-F238E27FC236}">
                <a16:creationId xmlns:a16="http://schemas.microsoft.com/office/drawing/2014/main" id="{021F50CE-1294-417F-95C7-FCDCE2D90A64}"/>
              </a:ext>
            </a:extLst>
          </p:cNvPr>
          <p:cNvSpPr>
            <a:spLocks xmlns:a="http://schemas.openxmlformats.org/drawingml/2006/main" noGrp="1"/>
          </p:cNvSpPr>
          <p:nvPr/>
        </p:nvSpPr>
        <p:spPr>
          <a:xfrm xmlns:a="http://schemas.openxmlformats.org/drawingml/2006/main">
            <a:off x="9505950" y="58102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619"/>
          </a:bodyPr>
          <a:lstStyle xmlns:a="http://schemas.openxmlformats.org/drawingml/2006/main"/>
          <a:p xmlns:a="http://schemas.openxmlformats.org/drawingml/2006/main">
            <a:pPr algn="r">
              <a:defRPr sz="2100" b="1" i="0">
                <a:solidFill>
                  <a:srgbClr val="005F66"/>
                </a:solidFill>
                <a:latin typeface="Arial"/>
                <a:ea typeface="Arial"/>
                <a:cs typeface="Arial"/>
              </a:defRPr>
            </a:pPr>
            <a:r>
              <a:rPr sz="2100" b="1" i="0">
                <a:solidFill>
                  <a:srgbClr val="005F66"/>
                </a:solidFill>
                <a:latin typeface="Arial"/>
                <a:ea typeface="Arial"/>
                <a:cs typeface="Arial"/>
              </a:rPr>
              <a:t>Q&amp;A</a:t>
            </a:r>
          </a:p>
        </p:txBody>
      </p:sp>
    </p:spTree>
    <p:extLst>
      <p:ext uri="{BB962C8B-B14F-4D97-AF65-F5344CB8AC3E}">
        <p14:creationId xmlns:p14="http://schemas.microsoft.com/office/powerpoint/2010/main" val="1123894798"/>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00AFA8-E4FF-4B78-A6C3-1C34A0AAB71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ABFE5F88-E38E-4992-82FE-39D6DB388B1E}"/>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7A13D1BF-DFCE-4864-896F-0B24EADF74D9}"/>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Measured partition and Amdahl evidence</a:t>
            </a:r>
          </a:p>
        </p:txBody>
      </p:sp>
      <p:sp>
        <p:nvSpPr>
          <p:cNvPr id="4" name="">
            <a:extLst xmlns:a="http://schemas.openxmlformats.org/drawingml/2006/main">
              <a:ext uri="{FF2B5EF4-FFF2-40B4-BE49-F238E27FC236}">
                <a16:creationId xmlns:a16="http://schemas.microsoft.com/office/drawing/2014/main" id="{FDEAB314-5ADC-4D0A-A0CE-50710B5BE085}"/>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1</a:t>
            </a:r>
          </a:p>
        </p:txBody>
      </p:sp>
      <p:sp>
        <p:nvSpPr>
          <p:cNvPr id="5" name="">
            <a:extLst xmlns:a="http://schemas.openxmlformats.org/drawingml/2006/main">
              <a:ext uri="{FF2B5EF4-FFF2-40B4-BE49-F238E27FC236}">
                <a16:creationId xmlns:a16="http://schemas.microsoft.com/office/drawing/2014/main" id="{651F4B9D-C09E-4B41-B8F9-ABB9BDBD8BE9}"/>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Partition strategy comparison • n = 20M • median of 3 runs</a:t>
            </a:r>
          </a:p>
        </p:txBody>
      </p:sp>
      <p:graphicFrame>
        <p:nvGraphicFramePr>
          <p:cNvPr id="18" name=""/>
          <p:cNvGraphicFramePr/>
          <p:nvPr/>
        </p:nvGraphicFramePr>
        <p:xfrm>
          <a:off xmlns:a="http://schemas.openxmlformats.org/drawingml/2006/main" x="552450" y="1504950"/>
          <a:ext xmlns:a="http://schemas.openxmlformats.org/drawingml/2006/main" cx="11087100" cy="1866900"/>
        </p:xfrm>
        <a:graphic xmlns:a="http://schemas.openxmlformats.org/drawingml/2006/main">
          <a:graphicData uri="http://schemas.openxmlformats.org/drawingml/2006/table">
            <a:tbl>
              <a:tblPr firstRow="1" bandRow="0"/>
              <a:tblGrid>
                <a:gridCol w="952500"/>
                <a:gridCol w="2381250"/>
                <a:gridCol w="2381250"/>
                <a:gridCol w="2190750"/>
                <a:gridCol w="3181350"/>
              </a:tblGrid>
              <a:tr h="466725">
                <a:tc>
                  <a:txBody>
                    <a:bodyPr/>
                    <a:lstStyle/>
                    <a:p>
                      <a:r>
                        <a:rPr sz="900" b="1">
                          <a:solidFill>
                            <a:srgbClr val="FFFFFF"/>
                          </a:solidFill>
                          <a:latin typeface="Arial"/>
                          <a:ea typeface="Arial"/>
                          <a:cs typeface="Arial"/>
                        </a:rPr>
                        <a: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Pure 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total</a:t>
                      </a:r>
                    </a:p>
                  </a:txBody>
                  <a:tcPr marL="76200" marR="76200" marT="57150" marB="57150" anchor="ctr">
                    <a:solidFill>
                      <a:srgbClr val="005F66"/>
                    </a:solidFill>
                  </a:tcPr>
                </a:tc>
              </a:tr>
              <a:tr h="466725">
                <a:tc>
                  <a:txBody>
                    <a:bodyPr/>
                    <a:lstStyle/>
                    <a:p>
                      <a:r>
                        <a:rPr sz="975">
                          <a:solidFill>
                            <a:srgbClr val="102A43"/>
                          </a:solidFill>
                          <a:latin typeface="Arial"/>
                          <a:ea typeface="Arial"/>
                          <a:cs typeface="Arial"/>
                        </a:rPr>
                        <a:t>3</a:t>
                      </a:r>
                    </a:p>
                  </a:txBody>
                  <a:tcPr marL="76200" marR="76200" marT="47625" marB="47625" anchor="ctr">
                    <a:solidFill>
                      <a:srgbClr val="FFFFFF"/>
                    </a:solidFill>
                  </a:tcPr>
                </a:tc>
                <a:tc>
                  <a:txBody>
                    <a:bodyPr/>
                    <a:lstStyle/>
                    <a:p>
                      <a:r>
                        <a:rPr sz="975">
                          <a:solidFill>
                            <a:srgbClr val="102A43"/>
                          </a:solidFill>
                          <a:latin typeface="Arial"/>
                          <a:ea typeface="Arial"/>
                          <a:cs typeface="Arial"/>
                        </a:rPr>
                        <a:t>1.047</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627.764</a:t>
                      </a:r>
                    </a:p>
                  </a:txBody>
                  <a:tcPr marL="76200" marR="76200" marT="47625" marB="47625" anchor="ctr">
                    <a:solidFill>
                      <a:srgbClr val="FFFFFF"/>
                    </a:solidFill>
                  </a:tcPr>
                </a:tc>
                <a:tc>
                  <a:txBody>
                    <a:bodyPr/>
                    <a:lstStyle/>
                    <a:p>
                      <a:r>
                        <a:rPr sz="975">
                          <a:solidFill>
                            <a:srgbClr val="102A43"/>
                          </a:solidFill>
                          <a:latin typeface="Arial"/>
                          <a:ea typeface="Arial"/>
                          <a:cs typeface="Arial"/>
                        </a:rPr>
                        <a:t>2.204</a:t>
                      </a:r>
                    </a:p>
                  </a:txBody>
                  <a:tcPr marL="76200" marR="76200" marT="47625" marB="47625" anchor="ctr">
                    <a:solidFill>
                      <a:srgbClr val="FFFFFF"/>
                    </a:solidFill>
                  </a:tcPr>
                </a:tc>
                <a:tc>
                  <a:txBody>
                    <a:bodyPr/>
                    <a:lstStyle/>
                    <a:p>
                      <a:r>
                        <a:rPr sz="975">
                          <a:solidFill>
                            <a:srgbClr val="102A43"/>
                          </a:solidFill>
                          <a:latin typeface="Arial"/>
                          <a:ea typeface="Arial"/>
                          <a:cs typeface="Arial"/>
                        </a:rPr>
                        <a:t>1.931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4</a:t>
                      </a:r>
                    </a:p>
                  </a:txBody>
                  <a:tcPr marL="76200" marR="76200" marT="47625" marB="47625" anchor="ctr">
                    <a:solidFill>
                      <a:srgbClr val="FFFFFF"/>
                    </a:solidFill>
                  </a:tcPr>
                </a:tc>
                <a:tc>
                  <a:txBody>
                    <a:bodyPr/>
                    <a:lstStyle/>
                    <a:p>
                      <a:r>
                        <a:rPr sz="975">
                          <a:solidFill>
                            <a:srgbClr val="102A43"/>
                          </a:solidFill>
                          <a:latin typeface="Arial"/>
                          <a:ea typeface="Arial"/>
                          <a:cs typeface="Arial"/>
                        </a:rPr>
                        <a:t>1.058</a:t>
                      </a:r>
                    </a:p>
                  </a:txBody>
                  <a:tcPr marL="76200" marR="76200" marT="47625" marB="47625" anchor="ctr">
                    <a:solidFill>
                      <a:srgbClr val="FFFFFF"/>
                    </a:solidFill>
                  </a:tcPr>
                </a:tc>
                <a:tc>
                  <a:txBody>
                    <a:bodyPr/>
                    <a:lstStyle/>
                    <a:p>
                      <a:r>
                        <a:rPr sz="975">
                          <a:solidFill>
                            <a:srgbClr val="102A43"/>
                          </a:solidFill>
                          <a:latin typeface="Arial"/>
                          <a:ea typeface="Arial"/>
                          <a:cs typeface="Arial"/>
                        </a:rPr>
                        <a:t>1.032</a:t>
                      </a:r>
                    </a:p>
                  </a:txBody>
                  <a:tcPr marL="76200" marR="76200" marT="47625" marB="47625" anchor="ctr">
                    <a:solidFill>
                      <a:srgbClr val="FFFFFF"/>
                    </a:solidFill>
                  </a:tcPr>
                </a:tc>
                <a:tc>
                  <a:txBody>
                    <a:bodyPr/>
                    <a:lstStyle/>
                    <a:p>
                      <a:r>
                        <a:rPr sz="975">
                          <a:solidFill>
                            <a:srgbClr val="102A43"/>
                          </a:solidFill>
                          <a:latin typeface="Arial"/>
                          <a:ea typeface="Arial"/>
                          <a:cs typeface="Arial"/>
                        </a:rPr>
                        <a:t>2.615</a:t>
                      </a:r>
                    </a:p>
                  </a:txBody>
                  <a:tcPr marL="76200" marR="76200" marT="47625" marB="47625" anchor="ctr">
                    <a:solidFill>
                      <a:srgbClr val="FFFFFF"/>
                    </a:solidFill>
                  </a:tcPr>
                </a:tc>
                <a:tc>
                  <a:txBody>
                    <a:bodyPr/>
                    <a:lstStyle/>
                    <a:p>
                      <a:r>
                        <a:rPr sz="975">
                          <a:solidFill>
                            <a:srgbClr val="102A43"/>
                          </a:solidFill>
                          <a:latin typeface="Arial"/>
                          <a:ea typeface="Arial"/>
                          <a:cs typeface="Arial"/>
                        </a:rPr>
                        <a:t>1.581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5</a:t>
                      </a:r>
                    </a:p>
                  </a:txBody>
                  <a:tcPr marL="76200" marR="76200" marT="47625" marB="47625" anchor="ctr">
                    <a:solidFill>
                      <a:srgbClr val="FFFFFF"/>
                    </a:solidFill>
                  </a:tcPr>
                </a:tc>
                <a:tc>
                  <a:txBody>
                    <a:bodyPr/>
                    <a:lstStyle/>
                    <a:p>
                      <a:r>
                        <a:rPr sz="975">
                          <a:solidFill>
                            <a:srgbClr val="102A43"/>
                          </a:solidFill>
                          <a:latin typeface="Arial"/>
                          <a:ea typeface="Arial"/>
                          <a:cs typeface="Arial"/>
                        </a:rPr>
                        <a:t>1.057</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491.084</a:t>
                      </a:r>
                    </a:p>
                  </a:txBody>
                  <a:tcPr marL="76200" marR="76200" marT="47625" marB="47625" anchor="ctr">
                    <a:solidFill>
                      <a:srgbClr val="FFFFFF"/>
                    </a:solidFill>
                  </a:tcPr>
                </a:tc>
                <a:tc>
                  <a:txBody>
                    <a:bodyPr/>
                    <a:lstStyle/>
                    <a:p>
                      <a:r>
                        <a:rPr sz="975">
                          <a:solidFill>
                            <a:srgbClr val="102A43"/>
                          </a:solidFill>
                          <a:latin typeface="Arial"/>
                          <a:ea typeface="Arial"/>
                          <a:cs typeface="Arial"/>
                        </a:rPr>
                        <a:t>2.780</a:t>
                      </a:r>
                    </a:p>
                  </a:txBody>
                  <a:tcPr marL="76200" marR="76200" marT="47625" marB="47625" anchor="ctr">
                    <a:solidFill>
                      <a:srgbClr val="FFFFFF"/>
                    </a:solidFill>
                  </a:tcPr>
                </a:tc>
                <a:tc>
                  <a:txBody>
                    <a:bodyPr/>
                    <a:lstStyle/>
                    <a:p>
                      <a:r>
                        <a:rPr sz="975">
                          <a:solidFill>
                            <a:srgbClr val="102A43"/>
                          </a:solidFill>
                          <a:latin typeface="Arial"/>
                          <a:ea typeface="Arial"/>
                          <a:cs typeface="Arial"/>
                        </a:rPr>
                        <a:t>1.300 s</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D1596A4-BB08-4D20-882E-9CAE29AF50C4}"/>
              </a:ext>
            </a:extLst>
          </p:cNvPr>
          <p:cNvSpPr>
            <a:spLocks xmlns:a="http://schemas.openxmlformats.org/drawingml/2006/main" noGrp="1"/>
          </p:cNvSpPr>
          <p:nvPr/>
        </p:nvSpPr>
        <p:spPr>
          <a:xfrm xmlns:a="http://schemas.openxmlformats.org/drawingml/2006/main">
            <a:off x="552450" y="37338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Amdahl inputs are measured, not assumed</a:t>
            </a:r>
          </a:p>
        </p:txBody>
      </p:sp>
      <p:graphicFrame>
        <p:nvGraphicFramePr>
          <p:cNvPr id="20" name=""/>
          <p:cNvGraphicFramePr/>
          <p:nvPr/>
        </p:nvGraphicFramePr>
        <p:xfrm>
          <a:off xmlns:a="http://schemas.openxmlformats.org/drawingml/2006/main" x="552450" y="4114800"/>
          <a:ext xmlns:a="http://schemas.openxmlformats.org/drawingml/2006/main" cx="6381750" cy="1485900"/>
        </p:xfrm>
        <a:graphic xmlns:a="http://schemas.openxmlformats.org/drawingml/2006/main">
          <a:graphicData uri="http://schemas.openxmlformats.org/drawingml/2006/table">
            <a:tbl>
              <a:tblPr firstRow="1" bandRow="0"/>
              <a:tblGrid>
                <a:gridCol w="1666875"/>
                <a:gridCol w="1476375"/>
                <a:gridCol w="1571625"/>
                <a:gridCol w="1666875"/>
              </a:tblGrid>
              <a:tr h="49530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Ts</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fs = Ts / (Ts+Tp)</a:t>
                      </a:r>
                    </a:p>
                  </a:txBody>
                  <a:tcPr marL="76200" marR="76200" marT="57150" marB="57150" anchor="ctr">
                    <a:solidFill>
                      <a:srgbClr val="005F66"/>
                    </a:solidFill>
                  </a:tcPr>
                </a:tc>
              </a:tr>
              <a:tr h="495300">
                <a:tc>
                  <a:txBody>
                    <a:bodyPr/>
                    <a:lstStyle/>
                    <a:p>
                      <a:r>
                        <a:rPr sz="975">
                          <a:solidFill>
                            <a:srgbClr val="102A43"/>
                          </a:solidFill>
                          <a:latin typeface="Arial"/>
                          <a:ea typeface="Arial"/>
                          <a:cs typeface="Arial"/>
                        </a:rPr>
                        <a:t>Task 1 MPI</a:t>
                      </a:r>
                    </a:p>
                  </a:txBody>
                  <a:tcPr marL="76200" marR="76200" marT="47625" marB="47625" anchor="ctr">
                    <a:solidFill>
                      <a:srgbClr val="FFFFFF"/>
                    </a:solidFill>
                  </a:tcPr>
                </a:tc>
                <a:tc>
                  <a:txBody>
                    <a:bodyPr/>
                    <a:lstStyle/>
                    <a:p>
                      <a:r>
                        <a:rPr sz="975">
                          <a:solidFill>
                            <a:srgbClr val="102A43"/>
                          </a:solidFill>
                          <a:latin typeface="Arial"/>
                          <a:ea typeface="Arial"/>
                          <a:cs typeface="Arial"/>
                        </a:rPr>
                        <a:t>0.427566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23.948293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0.017541</a:t>
                      </a:r>
                    </a:p>
                  </a:txBody>
                  <a:tcPr marL="76200" marR="76200" marT="47625" marB="47625" anchor="ctr">
                    <a:solidFill>
                      <a:srgbClr val="FFFFFF"/>
                    </a:solidFill>
                  </a:tcPr>
                </a:tc>
              </a:tr>
              <a:tr h="495300">
                <a:tc>
                  <a:txBody>
                    <a:bodyPr/>
                    <a:lstStyle/>
                    <a:p>
                      <a:r>
                        <a:rPr sz="975">
                          <a:solidFill>
                            <a:srgbClr val="102A43"/>
                          </a:solidFill>
                          <a:latin typeface="Arial"/>
                          <a:ea typeface="Arial"/>
                          <a:cs typeface="Arial"/>
                        </a:rPr>
                        <a:t>Task 2 hybrid</a:t>
                      </a:r>
                    </a:p>
                  </a:txBody>
                  <a:tcPr marL="76200" marR="76200" marT="47625" marB="47625" anchor="ctr">
                    <a:solidFill>
                      <a:srgbClr val="FFFFFF"/>
                    </a:solidFill>
                  </a:tcPr>
                </a:tc>
                <a:tc>
                  <a:txBody>
                    <a:bodyPr/>
                    <a:lstStyle/>
                    <a:p>
                      <a:r>
                        <a:rPr sz="975">
                          <a:solidFill>
                            <a:srgbClr val="102A43"/>
                          </a:solidFill>
                          <a:latin typeface="Arial"/>
                          <a:ea typeface="Arial"/>
                          <a:cs typeface="Arial"/>
                        </a:rPr>
                        <a:t>0.411327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23.749574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0.017024</a:t>
                      </a:r>
                    </a:p>
                  </a:txBody>
                  <a:tcPr marL="76200" marR="76200" marT="47625" marB="476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D42A285D-5D1C-4D93-97E2-74E6DE196BE2}"/>
              </a:ext>
            </a:extLst>
          </p:cNvPr>
          <p:cNvSpPr>
            <a:spLocks xmlns:a="http://schemas.openxmlformats.org/drawingml/2006/main" noGrp="1"/>
          </p:cNvSpPr>
          <p:nvPr/>
        </p:nvSpPr>
        <p:spPr>
          <a:xfrm xmlns:a="http://schemas.openxmlformats.org/drawingml/2006/main">
            <a:off x="7296150" y="3733800"/>
            <a:ext cx="4343400" cy="1866900"/>
          </a:xfrm>
          <a:prstGeom xmlns:a="http://schemas.openxmlformats.org/drawingml/2006/main" prst="roundRect">
            <a:avLst>
              <a:gd name="adj" fmla="val 4082"/>
            </a:avLst>
          </a:prstGeom>
          <a:solidFill xmlns:a="http://schemas.openxmlformats.org/drawingml/2006/main">
            <a:srgbClr val="EBF4FF"/>
          </a:solidFill>
          <a:ln xmlns:a="http://schemas.openxmlformats.org/drawingml/2006/main" w="9525">
            <a:solidFill>
              <a:srgbClr val="B6D4FE"/>
            </a:solidFill>
          </a:ln>
        </p:spPr>
      </p:sp>
      <p:sp>
        <p:nvSpPr>
          <p:cNvPr id="10" name="">
            <a:extLst xmlns:a="http://schemas.openxmlformats.org/drawingml/2006/main">
              <a:ext uri="{FF2B5EF4-FFF2-40B4-BE49-F238E27FC236}">
                <a16:creationId xmlns:a16="http://schemas.microsoft.com/office/drawing/2014/main" id="{FF9E8263-9757-41A0-BAFF-9776B12377E3}"/>
              </a:ext>
            </a:extLst>
          </p:cNvPr>
          <p:cNvSpPr>
            <a:spLocks xmlns:a="http://schemas.openxmlformats.org/drawingml/2006/main" noGrp="1"/>
          </p:cNvSpPr>
          <p:nvPr/>
        </p:nvSpPr>
        <p:spPr>
          <a:xfrm xmlns:a="http://schemas.openxmlformats.org/drawingml/2006/main">
            <a:off x="7543800" y="3943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158"/>
          </a:bodyPr>
          <a:lstStyle xmlns:a="http://schemas.openxmlformats.org/drawingml/2006/main"/>
          <a:p xmlns:a="http://schemas.openxmlformats.org/drawingml/2006/main">
            <a:pPr algn="l">
              <a:defRPr sz="1425" b="1" i="0">
                <a:solidFill>
                  <a:srgbClr val="3B6FB6"/>
                </a:solidFill>
                <a:latin typeface="Arial"/>
                <a:ea typeface="Arial"/>
                <a:cs typeface="Arial"/>
              </a:defRPr>
            </a:pPr>
            <a:r>
              <a:rPr sz="1425" b="1" i="0">
                <a:solidFill>
                  <a:srgbClr val="3B6FB6"/>
                </a:solidFill>
                <a:latin typeface="Arial"/>
                <a:ea typeface="Arial"/>
                <a:cs typeface="Arial"/>
              </a:rPr>
              <a:t>Formula</a:t>
            </a:r>
          </a:p>
        </p:txBody>
      </p:sp>
      <p:sp>
        <p:nvSpPr>
          <p:cNvPr id="11" name="">
            <a:extLst xmlns:a="http://schemas.openxmlformats.org/drawingml/2006/main">
              <a:ext uri="{FF2B5EF4-FFF2-40B4-BE49-F238E27FC236}">
                <a16:creationId xmlns:a16="http://schemas.microsoft.com/office/drawing/2014/main" id="{5D654558-CE46-495C-AFBA-DE6AF448DE25}"/>
              </a:ext>
            </a:extLst>
          </p:cNvPr>
          <p:cNvSpPr>
            <a:spLocks xmlns:a="http://schemas.openxmlformats.org/drawingml/2006/main" noGrp="1"/>
          </p:cNvSpPr>
          <p:nvPr/>
        </p:nvSpPr>
        <p:spPr>
          <a:xfrm xmlns:a="http://schemas.openxmlformats.org/drawingml/2006/main">
            <a:off x="7543800" y="4362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102A43"/>
                </a:solidFill>
                <a:latin typeface="Arial"/>
                <a:ea typeface="Arial"/>
                <a:cs typeface="Arial"/>
              </a:defRPr>
            </a:pPr>
            <a:r>
              <a:rPr sz="1650" b="1" i="0">
                <a:solidFill>
                  <a:srgbClr val="102A43"/>
                </a:solidFill>
                <a:latin typeface="Arial"/>
                <a:ea typeface="Arial"/>
                <a:cs typeface="Arial"/>
              </a:rPr>
              <a:t>S(W) = (Ts + Tp) / (Ts + Tp / W)</a:t>
            </a:r>
          </a:p>
        </p:txBody>
      </p:sp>
      <p:sp>
        <p:nvSpPr>
          <p:cNvPr id="12" name="">
            <a:extLst xmlns:a="http://schemas.openxmlformats.org/drawingml/2006/main">
              <a:ext uri="{FF2B5EF4-FFF2-40B4-BE49-F238E27FC236}">
                <a16:creationId xmlns:a16="http://schemas.microsoft.com/office/drawing/2014/main" id="{8856B0BB-27C6-49C9-899B-E3DE1ADD6C35}"/>
              </a:ext>
            </a:extLst>
          </p:cNvPr>
          <p:cNvSpPr>
            <a:spLocks xmlns:a="http://schemas.openxmlformats.org/drawingml/2006/main" noGrp="1"/>
          </p:cNvSpPr>
          <p:nvPr/>
        </p:nvSpPr>
        <p:spPr>
          <a:xfrm xmlns:a="http://schemas.openxmlformats.org/drawingml/2006/main">
            <a:off x="7543800" y="48768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383"/>
          </a:bodyPr>
          <a:lstStyle xmlns:a="http://schemas.openxmlformats.org/drawingml/2006/main"/>
          <a:p xmlns:a="http://schemas.openxmlformats.org/drawingml/2006/main">
            <a:pPr algn="l">
              <a:defRPr sz="1125" b="0" i="0">
                <a:solidFill>
                  <a:srgbClr val="486581"/>
                </a:solidFill>
                <a:latin typeface="Arial"/>
                <a:ea typeface="Arial"/>
                <a:cs typeface="Arial"/>
              </a:defRPr>
            </a:pPr>
            <a:r>
              <a:rPr sz="1125" b="0" i="0">
                <a:solidFill>
                  <a:srgbClr val="486581"/>
                </a:solidFill>
                <a:latin typeface="Arial"/>
                <a:ea typeface="Arial"/>
                <a:cs typeface="Arial"/>
              </a:rPr>
              <a:t>Empirical speedup uses the Week 4 serial end-to-end baseline. Theoretical speedup uses each parallel program's measured one-worker decomposition; this difference is stated explicitly.</a:t>
            </a:r>
          </a:p>
        </p:txBody>
      </p:sp>
    </p:spTree>
    <p:extLst>
      <p:ext uri="{BB962C8B-B14F-4D97-AF65-F5344CB8AC3E}">
        <p14:creationId xmlns:p14="http://schemas.microsoft.com/office/powerpoint/2010/main" val="752098351"/>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00095D-201E-4439-B74E-F1DECA83708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0403D741-B1C2-4A23-88FD-79D1D67385DD}"/>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C35206F8-3C30-4AD9-ADC9-82D8C13DD6F0}"/>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Evidence and Moodle submission readiness</a:t>
            </a:r>
          </a:p>
        </p:txBody>
      </p:sp>
      <p:sp>
        <p:nvSpPr>
          <p:cNvPr id="4" name="">
            <a:extLst xmlns:a="http://schemas.openxmlformats.org/drawingml/2006/main">
              <a:ext uri="{FF2B5EF4-FFF2-40B4-BE49-F238E27FC236}">
                <a16:creationId xmlns:a16="http://schemas.microsoft.com/office/drawing/2014/main" id="{5647D3F4-A88C-4EEA-A975-ACA51ACFCD06}"/>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2</a:t>
            </a:r>
          </a:p>
        </p:txBody>
      </p:sp>
      <p:sp>
        <p:nvSpPr>
          <p:cNvPr id="5" name="">
            <a:extLst xmlns:a="http://schemas.openxmlformats.org/drawingml/2006/main">
              <a:ext uri="{FF2B5EF4-FFF2-40B4-BE49-F238E27FC236}">
                <a16:creationId xmlns:a16="http://schemas.microsoft.com/office/drawing/2014/main" id="{D7B5BBE2-BF54-4BD0-809D-66147DBC7FE0}"/>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Verified artifacts</a:t>
            </a:r>
          </a:p>
        </p:txBody>
      </p:sp>
      <p:graphicFrame>
        <p:nvGraphicFramePr>
          <p:cNvPr id="14" name=""/>
          <p:cNvGraphicFramePr/>
          <p:nvPr/>
        </p:nvGraphicFramePr>
        <p:xfrm>
          <a:off xmlns:a="http://schemas.openxmlformats.org/drawingml/2006/main" x="552450" y="1485900"/>
          <a:ext xmlns:a="http://schemas.openxmlformats.org/drawingml/2006/main" cx="11087100" cy="3695700"/>
        </p:xfrm>
        <a:graphic xmlns:a="http://schemas.openxmlformats.org/drawingml/2006/main">
          <a:graphicData uri="http://schemas.openxmlformats.org/drawingml/2006/table">
            <a:tbl>
              <a:tblPr firstRow="1" bandRow="0"/>
              <a:tblGrid>
                <a:gridCol w="2571750"/>
                <a:gridCol w="6191250"/>
                <a:gridCol w="2324100"/>
              </a:tblGrid>
              <a:tr h="410633">
                <a:tc>
                  <a:txBody>
                    <a:bodyPr/>
                    <a:lstStyle/>
                    <a:p>
                      <a:r>
                        <a:rPr sz="900" b="1">
                          <a:solidFill>
                            <a:srgbClr val="FFFFFF"/>
                          </a:solidFill>
                          <a:latin typeface="Arial"/>
                          <a:ea typeface="Arial"/>
                          <a:cs typeface="Arial"/>
                        </a:rPr>
                        <a:t>Requirement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Artifact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Status</a:t>
                      </a:r>
                    </a:p>
                  </a:txBody>
                  <a:tcPr marL="76200" marR="76200" marT="57150" marB="57150" anchor="ctr">
                    <a:solidFill>
                      <a:srgbClr val="005F66"/>
                    </a:solidFill>
                  </a:tcPr>
                </a:tc>
              </a:tr>
              <a:tr h="410633">
                <a:tc>
                  <a:txBody>
                    <a:bodyPr/>
                    <a:lstStyle/>
                    <a:p>
                      <a:r>
                        <a:rPr sz="900">
                          <a:solidFill>
                            <a:srgbClr val="102A43"/>
                          </a:solidFill>
                          <a:latin typeface="Arial"/>
                          <a:ea typeface="Arial"/>
                          <a:cs typeface="Arial"/>
                        </a:rPr>
                        <a:t>Task 1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task1.c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Task 2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task2.c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FIT3143_Week8_Lab2_Presentation_Submission.pptx</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scripts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supporting/scripts/ (retained for inspection)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results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supporting/results/ and supporting/evidence/</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use declaration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Appendix 7 in this 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prompt record PDF</a:t>
                      </a:r>
                    </a:p>
                  </a:txBody>
                  <a:tcPr marL="76200" marR="76200" marT="47625" marB="47625" anchor="ctr">
                    <a:solidFill>
                      <a:srgbClr val="FFFFFF"/>
                    </a:solidFill>
                  </a:tcPr>
                </a:tc>
                <a:tc>
                  <a:txBody>
                    <a:bodyPr/>
                    <a:lstStyle/>
                    <a:p>
                      <a:r>
                        <a:rPr sz="900">
                          <a:solidFill>
                            <a:srgbClr val="102A43"/>
                          </a:solidFill>
                          <a:latin typeface="Arial"/>
                          <a:ea typeface="Arial"/>
                          <a:cs typeface="Arial"/>
                        </a:rPr>
                        <a:t>Export from the actual AI conversation</a:t>
                      </a:r>
                    </a:p>
                  </a:txBody>
                  <a:tcPr marL="76200" marR="76200" marT="47625" marB="47625" anchor="ctr">
                    <a:solidFill>
                      <a:srgbClr val="FFFFFF"/>
                    </a:solidFill>
                  </a:tcPr>
                </a:tc>
                <a:tc>
                  <a:txBody>
                    <a:bodyPr/>
                    <a:lstStyle/>
                    <a:p>
                      <a:r>
                        <a:rPr sz="900" b="1">
                          <a:solidFill>
                            <a:srgbClr val="C2413B"/>
                          </a:solidFill>
                          <a:latin typeface="Arial"/>
                          <a:ea typeface="Arial"/>
                          <a:cs typeface="Arial"/>
                        </a:rPr>
                        <a:t>ADD BEFORE MOODLE</a:t>
                      </a:r>
                    </a:p>
                  </a:txBody>
                  <a:tcPr marL="76200" marR="76200" marT="47625" marB="47625" anchor="ctr">
                    <a:solidFill>
                      <a:srgbClr val="FFF1F0"/>
                    </a:solidFill>
                  </a:tcPr>
                </a:tc>
              </a:tr>
              <a:tr h="410633">
                <a:tc>
                  <a:txBody>
                    <a:bodyPr/>
                    <a:lstStyle/>
                    <a:p>
                      <a:r>
                        <a:rPr sz="900">
                          <a:solidFill>
                            <a:srgbClr val="102A43"/>
                          </a:solidFill>
                          <a:latin typeface="Arial"/>
                          <a:ea typeface="Arial"/>
                          <a:cs typeface="Arial"/>
                        </a:rPr>
                        <a:t>CAAS screenshots</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Appendices 3-6: setup, Task 1 config/run, Task 2 config</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FA325ED-802C-43F2-B52C-7E21791286A4}"/>
              </a:ext>
            </a:extLst>
          </p:cNvPr>
          <p:cNvSpPr>
            <a:spLocks xmlns:a="http://schemas.openxmlformats.org/drawingml/2006/main" noGrp="1"/>
          </p:cNvSpPr>
          <p:nvPr/>
        </p:nvSpPr>
        <p:spPr>
          <a:xfrm xmlns:a="http://schemas.openxmlformats.org/drawingml/2006/main">
            <a:off x="1619250" y="5543550"/>
            <a:ext cx="89535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A73847D4-4849-45AC-BAB2-1A7D71EEBF33}"/>
              </a:ext>
            </a:extLst>
          </p:cNvPr>
          <p:cNvSpPr>
            <a:spLocks xmlns:a="http://schemas.openxmlformats.org/drawingml/2006/main" noGrp="1"/>
          </p:cNvSpPr>
          <p:nvPr/>
        </p:nvSpPr>
        <p:spPr>
          <a:xfrm xmlns:a="http://schemas.openxmlformats.org/drawingml/2006/main">
            <a:off x="1790700" y="5667375"/>
            <a:ext cx="861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Do not submit until the red item is authentic, legible and included. This review cannot fabricate it.</a:t>
            </a:r>
          </a:p>
        </p:txBody>
      </p:sp>
    </p:spTree>
    <p:extLst>
      <p:ext uri="{BB962C8B-B14F-4D97-AF65-F5344CB8AC3E}">
        <p14:creationId xmlns:p14="http://schemas.microsoft.com/office/powerpoint/2010/main" val="1737965074"/>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4D5AEF-982E-40B1-ABED-51D15878720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315EB397-A469-4CE8-8AAF-CEA157682FFA}"/>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9C5CDF88-9ADF-411C-9EA2-056245CBC6A7}"/>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access and job setup</a:t>
            </a:r>
          </a:p>
        </p:txBody>
      </p:sp>
      <p:sp>
        <p:nvSpPr>
          <p:cNvPr id="4" name="">
            <a:extLst xmlns:a="http://schemas.openxmlformats.org/drawingml/2006/main">
              <a:ext uri="{FF2B5EF4-FFF2-40B4-BE49-F238E27FC236}">
                <a16:creationId xmlns:a16="http://schemas.microsoft.com/office/drawing/2014/main" id="{8024FD69-AB76-4A19-93FA-D28B153069D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3</a:t>
            </a:r>
          </a:p>
        </p:txBody>
      </p:sp>
      <p:sp>
        <p:nvSpPr>
          <p:cNvPr id="5" name="">
            <a:extLst xmlns:a="http://schemas.openxmlformats.org/drawingml/2006/main">
              <a:ext uri="{FF2B5EF4-FFF2-40B4-BE49-F238E27FC236}">
                <a16:creationId xmlns:a16="http://schemas.microsoft.com/office/drawing/2014/main" id="{4947F4E6-A592-4F35-A412-59538FC7507A}"/>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CAAS head-node access and source upload</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8b42c94f9be4567"/>
          <a:stretch xmlns:a="http://schemas.openxmlformats.org/drawingml/2006/main"/>
        </p:blipFill>
        <p:spPr>
          <a:xfrm xmlns:a="http://schemas.openxmlformats.org/drawingml/2006/main">
            <a:off x="1105082" y="1447800"/>
            <a:ext cx="5085985"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269495E-5B98-4766-81DA-9D56E9301025}"/>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4DE93302-35B7-46C7-8C68-5EEB31E7DA60}"/>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BF7C101D-2CAE-481F-B55A-928BFB8B5386}"/>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Authenticated CAAS head-node access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SLURM defq reported idle compute nodes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and Task 2 sources uploaded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Setup evidence only; no performance claim</a:t>
            </a:r>
          </a:p>
        </p:txBody>
      </p:sp>
      <p:sp>
        <p:nvSpPr>
          <p:cNvPr id="10" name="">
            <a:extLst xmlns:a="http://schemas.openxmlformats.org/drawingml/2006/main">
              <a:ext uri="{FF2B5EF4-FFF2-40B4-BE49-F238E27FC236}">
                <a16:creationId xmlns:a16="http://schemas.microsoft.com/office/drawing/2014/main" id="{DC78A2BB-4B4C-4AF5-A073-CC2045B6F1C7}"/>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A50990A4-4669-47B5-9C20-E32223C0200A}"/>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capture establishes the CAAS environment before the Task 1 job configuration and functional run in Appendices 4-5.</a:t>
            </a:r>
          </a:p>
        </p:txBody>
      </p:sp>
    </p:spTree>
    <p:extLst>
      <p:ext uri="{BB962C8B-B14F-4D97-AF65-F5344CB8AC3E}">
        <p14:creationId xmlns:p14="http://schemas.microsoft.com/office/powerpoint/2010/main" val="151123076"/>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77FEAB-6887-49A9-90AA-9E6FE0D4C71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AE833CFE-CB45-4A8D-8DF3-363EBF07EDC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98B355BA-BDC1-429F-96BB-5C41799A8DF2}"/>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Task 1 job configuration</a:t>
            </a:r>
          </a:p>
        </p:txBody>
      </p:sp>
      <p:sp>
        <p:nvSpPr>
          <p:cNvPr id="4" name="">
            <a:extLst xmlns:a="http://schemas.openxmlformats.org/drawingml/2006/main">
              <a:ext uri="{FF2B5EF4-FFF2-40B4-BE49-F238E27FC236}">
                <a16:creationId xmlns:a16="http://schemas.microsoft.com/office/drawing/2014/main" id="{03CAC3A2-AD8A-49F9-82E6-BA61D10D3EAB}"/>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4</a:t>
            </a:r>
          </a:p>
        </p:txBody>
      </p:sp>
      <p:sp>
        <p:nvSpPr>
          <p:cNvPr id="5" name="">
            <a:extLst xmlns:a="http://schemas.openxmlformats.org/drawingml/2006/main">
              <a:ext uri="{FF2B5EF4-FFF2-40B4-BE49-F238E27FC236}">
                <a16:creationId xmlns:a16="http://schemas.microsoft.com/office/drawing/2014/main" id="{C9839466-EAEE-4A61-9338-3BBECF687E22}"/>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SLURM script for the two-node Task 1 run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6e4405b013c4468"/>
          <a:stretch xmlns:a="http://schemas.openxmlformats.org/drawingml/2006/main"/>
        </p:blipFill>
        <p:spPr>
          <a:xfrm xmlns:a="http://schemas.openxmlformats.org/drawingml/2006/main">
            <a:off x="552450" y="2048547"/>
            <a:ext cx="6191250" cy="32752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1E87304-F328-42A7-A54E-35CE0E799B61}"/>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CC46C35B-B176-4DD6-B3F6-8D0BC1695510}"/>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0DBDD190-B19C-409E-9393-E41955B83021}"/>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nodes and 8 MPI tasks requested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4 MPI ranks per node, 1 CPU per rank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Open MPI module loaded before compilation</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srun executes Task 1 at n = 10,000</a:t>
            </a:r>
          </a:p>
        </p:txBody>
      </p:sp>
      <p:sp>
        <p:nvSpPr>
          <p:cNvPr id="10" name="">
            <a:extLst xmlns:a="http://schemas.openxmlformats.org/drawingml/2006/main">
              <a:ext uri="{FF2B5EF4-FFF2-40B4-BE49-F238E27FC236}">
                <a16:creationId xmlns:a16="http://schemas.microsoft.com/office/drawing/2014/main" id="{433ACAE9-FD99-45D8-A7F5-6808BD047FB4}"/>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EB61AAE0-E801-4C3C-AC64-E7F7B5D03CAE}"/>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Configuration evidence for the submitted CAAS Task 1 run shown in Appendix 5.</a:t>
            </a:r>
          </a:p>
        </p:txBody>
      </p:sp>
    </p:spTree>
    <p:extLst>
      <p:ext uri="{BB962C8B-B14F-4D97-AF65-F5344CB8AC3E}">
        <p14:creationId xmlns:p14="http://schemas.microsoft.com/office/powerpoint/2010/main" val="128529618"/>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1CBEC13-D65B-42AE-98D1-6DEC194C401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E1C4EEE7-FD86-4194-9C01-B244EC48088E}"/>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4BC4B1E1-BD6F-4497-B7E7-B28E59CF2FFF}"/>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two-node Task 1 run</a:t>
            </a:r>
          </a:p>
        </p:txBody>
      </p:sp>
      <p:sp>
        <p:nvSpPr>
          <p:cNvPr id="4" name="">
            <a:extLst xmlns:a="http://schemas.openxmlformats.org/drawingml/2006/main">
              <a:ext uri="{FF2B5EF4-FFF2-40B4-BE49-F238E27FC236}">
                <a16:creationId xmlns:a16="http://schemas.microsoft.com/office/drawing/2014/main" id="{7C801E74-C84B-44BD-882B-EEFE32A043A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5</a:t>
            </a:r>
          </a:p>
        </p:txBody>
      </p:sp>
      <p:sp>
        <p:nvSpPr>
          <p:cNvPr id="5" name="">
            <a:extLst xmlns:a="http://schemas.openxmlformats.org/drawingml/2006/main">
              <a:ext uri="{FF2B5EF4-FFF2-40B4-BE49-F238E27FC236}">
                <a16:creationId xmlns:a16="http://schemas.microsoft.com/office/drawing/2014/main" id="{19AB214F-FF50-48B9-AF48-776F3EAAB187}"/>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Two-node CAAS Task 1 functional execution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93f76f222dc45e0"/>
          <a:stretch xmlns:a="http://schemas.openxmlformats.org/drawingml/2006/main"/>
        </p:blipFill>
        <p:spPr>
          <a:xfrm xmlns:a="http://schemas.openxmlformats.org/drawingml/2006/main">
            <a:off x="1486822" y="1447800"/>
            <a:ext cx="4322506"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8EC2097-990C-4B30-90F8-E7E12CE54522}"/>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4B481C12-D5E4-44D2-8653-891D821DCC28}"/>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61C4CE18-36B4-4FBF-B1A1-73FC81C11985}"/>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Allocated nodes: student-caas-n03 and n04</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8 MPI ranks, 4 ranks on each node</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at n = 10,000 returned 1,229 primes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wc -l confirms 1,229 output lines</a:t>
            </a:r>
          </a:p>
        </p:txBody>
      </p:sp>
      <p:sp>
        <p:nvSpPr>
          <p:cNvPr id="10" name="">
            <a:extLst xmlns:a="http://schemas.openxmlformats.org/drawingml/2006/main">
              <a:ext uri="{FF2B5EF4-FFF2-40B4-BE49-F238E27FC236}">
                <a16:creationId xmlns:a16="http://schemas.microsoft.com/office/drawing/2014/main" id="{8B07E1C8-DB84-4B8D-8D92-580D65AF4118}"/>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1D457AFD-159F-46AE-8BBF-3B07914065B8}"/>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CAAS functional evidence. The existing graphs and balance findings remain based on the documented local measurement files.</a:t>
            </a:r>
          </a:p>
        </p:txBody>
      </p:sp>
    </p:spTree>
    <p:extLst>
      <p:ext uri="{BB962C8B-B14F-4D97-AF65-F5344CB8AC3E}">
        <p14:creationId xmlns:p14="http://schemas.microsoft.com/office/powerpoint/2010/main" val="707730248"/>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2D5C15-F191-4571-9AC2-9EBD3CA3729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0B4D68EE-CFD8-4AD3-8B82-A95BD1DFC4EC}"/>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AC5B71D6-C962-453A-B38C-9560BECA7873}"/>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Task 2 job configuration</a:t>
            </a:r>
          </a:p>
        </p:txBody>
      </p:sp>
      <p:sp>
        <p:nvSpPr>
          <p:cNvPr id="4" name="">
            <a:extLst xmlns:a="http://schemas.openxmlformats.org/drawingml/2006/main">
              <a:ext uri="{FF2B5EF4-FFF2-40B4-BE49-F238E27FC236}">
                <a16:creationId xmlns:a16="http://schemas.microsoft.com/office/drawing/2014/main" id="{5CEFD194-58D0-43F7-88DA-0771FDF547D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6</a:t>
            </a:r>
          </a:p>
        </p:txBody>
      </p:sp>
      <p:sp>
        <p:nvSpPr>
          <p:cNvPr id="5" name="">
            <a:extLst xmlns:a="http://schemas.openxmlformats.org/drawingml/2006/main">
              <a:ext uri="{FF2B5EF4-FFF2-40B4-BE49-F238E27FC236}">
                <a16:creationId xmlns:a16="http://schemas.microsoft.com/office/drawing/2014/main" id="{9D67B463-072C-4D65-9459-D5A4B929D5C7}"/>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SLURM script for the two-node hybrid Task 2 run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d4936e5d9444d26"/>
          <a:stretch xmlns:a="http://schemas.openxmlformats.org/drawingml/2006/main"/>
        </p:blipFill>
        <p:spPr>
          <a:xfrm xmlns:a="http://schemas.openxmlformats.org/drawingml/2006/main">
            <a:off x="552450" y="1531347"/>
            <a:ext cx="6191250" cy="430965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92965FF-9909-4C8D-9AD0-A578DFDED813}"/>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21D883AB-32A7-4FD4-B070-40553BBD7841}"/>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3B82331E-AC67-4459-A153-93010DDFEA28}"/>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nodes and 4 MPI tasks requested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MPI ranks per node, 4 CPUs per rank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OMP_NUM_THREADS derives from SLURM_CPUS_PER_TASK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Configuration only; no CAAS Task 2 output claim</a:t>
            </a:r>
          </a:p>
        </p:txBody>
      </p:sp>
      <p:sp>
        <p:nvSpPr>
          <p:cNvPr id="10" name="">
            <a:extLst xmlns:a="http://schemas.openxmlformats.org/drawingml/2006/main">
              <a:ext uri="{FF2B5EF4-FFF2-40B4-BE49-F238E27FC236}">
                <a16:creationId xmlns:a16="http://schemas.microsoft.com/office/drawing/2014/main" id="{C0F946C3-1E2A-423E-84EE-073387682618}"/>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7BF60EC9-4FBB-479C-87E3-8223AEB3D337}"/>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Task 2 configuration evidence: the hybrid launch uses 4 MPI ranks × 4 OpenMP threads when scheduled as shown.</a:t>
            </a:r>
          </a:p>
        </p:txBody>
      </p:sp>
    </p:spTree>
    <p:extLst>
      <p:ext uri="{BB962C8B-B14F-4D97-AF65-F5344CB8AC3E}">
        <p14:creationId xmlns:p14="http://schemas.microsoft.com/office/powerpoint/2010/main" val="1341127620"/>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1939A6-2698-44C1-AAEB-8701F8FE047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DBA18623-DE3D-4218-8812-4509BB3FDFC2}"/>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D006E927-ED01-45E2-8FC5-972419668A84}"/>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Generative AI use declaration</a:t>
            </a:r>
          </a:p>
        </p:txBody>
      </p:sp>
      <p:sp>
        <p:nvSpPr>
          <p:cNvPr id="4" name="">
            <a:extLst xmlns:a="http://schemas.openxmlformats.org/drawingml/2006/main">
              <a:ext uri="{FF2B5EF4-FFF2-40B4-BE49-F238E27FC236}">
                <a16:creationId xmlns:a16="http://schemas.microsoft.com/office/drawing/2014/main" id="{0C62AD90-9724-44D7-B2F3-9CF44D1541B4}"/>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7</a:t>
            </a:r>
          </a:p>
        </p:txBody>
      </p:sp>
      <p:sp>
        <p:nvSpPr>
          <p:cNvPr id="5" name="">
            <a:extLst xmlns:a="http://schemas.openxmlformats.org/drawingml/2006/main">
              <a:ext uri="{FF2B5EF4-FFF2-40B4-BE49-F238E27FC236}">
                <a16:creationId xmlns:a16="http://schemas.microsoft.com/office/drawing/2014/main" id="{C4056D3F-683A-4364-B55D-3EF6FAE7CAFD}"/>
              </a:ext>
            </a:extLst>
          </p:cNvPr>
          <p:cNvSpPr>
            <a:spLocks xmlns:a="http://schemas.openxmlformats.org/drawingml/2006/main" noGrp="1"/>
          </p:cNvSpPr>
          <p:nvPr/>
        </p:nvSpPr>
        <p:spPr>
          <a:xfrm xmlns:a="http://schemas.openxmlformats.org/drawingml/2006/main">
            <a:off x="552450" y="110490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Included in this presentation</a:t>
            </a:r>
          </a:p>
        </p:txBody>
      </p:sp>
      <p:sp>
        <p:nvSpPr>
          <p:cNvPr id="6" name="">
            <a:extLst xmlns:a="http://schemas.openxmlformats.org/drawingml/2006/main">
              <a:ext uri="{FF2B5EF4-FFF2-40B4-BE49-F238E27FC236}">
                <a16:creationId xmlns:a16="http://schemas.microsoft.com/office/drawing/2014/main" id="{56C57EE1-05BD-4504-A1D7-1E0C11C311DA}"/>
              </a:ext>
            </a:extLst>
          </p:cNvPr>
          <p:cNvSpPr>
            <a:spLocks xmlns:a="http://schemas.openxmlformats.org/drawingml/2006/main" noGrp="1"/>
          </p:cNvSpPr>
          <p:nvPr/>
        </p:nvSpPr>
        <p:spPr>
          <a:xfrm xmlns:a="http://schemas.openxmlformats.org/drawingml/2006/main">
            <a:off x="742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Scope of assistance</a:t>
            </a:r>
          </a:p>
        </p:txBody>
      </p:sp>
      <p:sp>
        <p:nvSpPr>
          <p:cNvPr id="7" name="">
            <a:extLst xmlns:a="http://schemas.openxmlformats.org/drawingml/2006/main">
              <a:ext uri="{FF2B5EF4-FFF2-40B4-BE49-F238E27FC236}">
                <a16:creationId xmlns:a16="http://schemas.microsoft.com/office/drawing/2014/main" id="{09DD7929-497F-4DE7-BCC4-B0BA3017DDE6}"/>
              </a:ext>
            </a:extLst>
          </p:cNvPr>
          <p:cNvSpPr>
            <a:spLocks xmlns:a="http://schemas.openxmlformats.org/drawingml/2006/main" noGrp="1"/>
          </p:cNvSpPr>
          <p:nvPr/>
        </p:nvSpPr>
        <p:spPr>
          <a:xfrm xmlns:a="http://schemas.openxmlformats.org/drawingml/2006/main">
            <a:off x="742950" y="204787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Generative AI assisted with interpreting the specification and rubric, reviewing the MPI and hybrid implementation, planning experiments, drafting charts and slides, and preparing documentation.</a:t>
            </a:r>
          </a:p>
        </p:txBody>
      </p:sp>
      <p:sp>
        <p:nvSpPr>
          <p:cNvPr id="8" name="">
            <a:extLst xmlns:a="http://schemas.openxmlformats.org/drawingml/2006/main">
              <a:ext uri="{FF2B5EF4-FFF2-40B4-BE49-F238E27FC236}">
                <a16:creationId xmlns:a16="http://schemas.microsoft.com/office/drawing/2014/main" id="{63627E86-A35A-4527-8DC9-83A8293943BE}"/>
              </a:ext>
            </a:extLst>
          </p:cNvPr>
          <p:cNvSpPr>
            <a:spLocks xmlns:a="http://schemas.openxmlformats.org/drawingml/2006/main" noGrp="1"/>
          </p:cNvSpPr>
          <p:nvPr/>
        </p:nvSpPr>
        <p:spPr>
          <a:xfrm xmlns:a="http://schemas.openxmlformats.org/drawingml/2006/main">
            <a:off x="6096000" y="1562100"/>
            <a:ext cx="19050" cy="15811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9" name="">
            <a:extLst xmlns:a="http://schemas.openxmlformats.org/drawingml/2006/main">
              <a:ext uri="{FF2B5EF4-FFF2-40B4-BE49-F238E27FC236}">
                <a16:creationId xmlns:a16="http://schemas.microsoft.com/office/drawing/2014/main" id="{48220203-C56C-4214-AABF-52E65B5C1BA8}"/>
              </a:ext>
            </a:extLst>
          </p:cNvPr>
          <p:cNvSpPr>
            <a:spLocks xmlns:a="http://schemas.openxmlformats.org/drawingml/2006/main" noGrp="1"/>
          </p:cNvSpPr>
          <p:nvPr/>
        </p:nvSpPr>
        <p:spPr>
          <a:xfrm xmlns:a="http://schemas.openxmlformats.org/drawingml/2006/main">
            <a:off x="6457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Team responsibility</a:t>
            </a:r>
          </a:p>
        </p:txBody>
      </p:sp>
      <p:sp>
        <p:nvSpPr>
          <p:cNvPr id="10" name="">
            <a:extLst xmlns:a="http://schemas.openxmlformats.org/drawingml/2006/main">
              <a:ext uri="{FF2B5EF4-FFF2-40B4-BE49-F238E27FC236}">
                <a16:creationId xmlns:a16="http://schemas.microsoft.com/office/drawing/2014/main" id="{29186585-D708-4FDF-94EE-EB172D8EA71E}"/>
              </a:ext>
            </a:extLst>
          </p:cNvPr>
          <p:cNvSpPr>
            <a:spLocks xmlns:a="http://schemas.openxmlformats.org/drawingml/2006/main" noGrp="1"/>
          </p:cNvSpPr>
          <p:nvPr/>
        </p:nvSpPr>
        <p:spPr>
          <a:xfrm xmlns:a="http://schemas.openxmlformats.org/drawingml/2006/main">
            <a:off x="6457950" y="2047875"/>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reviewed the material against the supplied requirements, compiled and executed the programs locally, validated prime output independently, and accepts responsibility for every submitted claim and result.</a:t>
            </a:r>
          </a:p>
        </p:txBody>
      </p:sp>
      <p:sp>
        <p:nvSpPr>
          <p:cNvPr id="11" name="">
            <a:extLst xmlns:a="http://schemas.openxmlformats.org/drawingml/2006/main">
              <a:ext uri="{FF2B5EF4-FFF2-40B4-BE49-F238E27FC236}">
                <a16:creationId xmlns:a16="http://schemas.microsoft.com/office/drawing/2014/main" id="{CDC89C26-6CE7-4D1E-8D2B-63F218DC97AE}"/>
              </a:ext>
            </a:extLst>
          </p:cNvPr>
          <p:cNvSpPr>
            <a:spLocks xmlns:a="http://schemas.openxmlformats.org/drawingml/2006/main" noGrp="1"/>
          </p:cNvSpPr>
          <p:nvPr/>
        </p:nvSpPr>
        <p:spPr>
          <a:xfrm xmlns:a="http://schemas.openxmlformats.org/drawingml/2006/main">
            <a:off x="742950" y="3524250"/>
            <a:ext cx="10687050" cy="190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12" name="">
            <a:extLst xmlns:a="http://schemas.openxmlformats.org/drawingml/2006/main">
              <a:ext uri="{FF2B5EF4-FFF2-40B4-BE49-F238E27FC236}">
                <a16:creationId xmlns:a16="http://schemas.microsoft.com/office/drawing/2014/main" id="{F498653E-4C0C-4B51-9ACF-4FF003D9BA68}"/>
              </a:ext>
            </a:extLst>
          </p:cNvPr>
          <p:cNvSpPr>
            <a:spLocks xmlns:a="http://schemas.openxmlformats.org/drawingml/2006/main" noGrp="1"/>
          </p:cNvSpPr>
          <p:nvPr/>
        </p:nvSpPr>
        <p:spPr>
          <a:xfrm xmlns:a="http://schemas.openxmlformats.org/drawingml/2006/main">
            <a:off x="742950" y="38481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Presentation and Q&amp;A</a:t>
            </a:r>
          </a:p>
        </p:txBody>
      </p:sp>
      <p:sp>
        <p:nvSpPr>
          <p:cNvPr id="13" name="">
            <a:extLst xmlns:a="http://schemas.openxmlformats.org/drawingml/2006/main">
              <a:ext uri="{FF2B5EF4-FFF2-40B4-BE49-F238E27FC236}">
                <a16:creationId xmlns:a16="http://schemas.microsoft.com/office/drawing/2014/main" id="{55DC8749-BCD3-49FA-BAE0-56CBAA5FBE97}"/>
              </a:ext>
            </a:extLst>
          </p:cNvPr>
          <p:cNvSpPr>
            <a:spLocks xmlns:a="http://schemas.openxmlformats.org/drawingml/2006/main" noGrp="1"/>
          </p:cNvSpPr>
          <p:nvPr/>
        </p:nvSpPr>
        <p:spPr>
          <a:xfrm xmlns:a="http://schemas.openxmlformats.org/drawingml/2006/main">
            <a:off x="742950" y="42291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03"/>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will explain the partitioning decision, MPI collectives, OpenMP scheduling, timing method, and performance observations without external tools.</a:t>
            </a:r>
          </a:p>
        </p:txBody>
      </p:sp>
      <p:sp>
        <p:nvSpPr>
          <p:cNvPr id="14" name="">
            <a:extLst xmlns:a="http://schemas.openxmlformats.org/drawingml/2006/main">
              <a:ext uri="{FF2B5EF4-FFF2-40B4-BE49-F238E27FC236}">
                <a16:creationId xmlns:a16="http://schemas.microsoft.com/office/drawing/2014/main" id="{E74480D9-213A-4BA6-8568-791859D7E9BD}"/>
              </a:ext>
            </a:extLst>
          </p:cNvPr>
          <p:cNvSpPr>
            <a:spLocks xmlns:a="http://schemas.openxmlformats.org/drawingml/2006/main" noGrp="1"/>
          </p:cNvSpPr>
          <p:nvPr/>
        </p:nvSpPr>
        <p:spPr>
          <a:xfrm xmlns:a="http://schemas.openxmlformats.org/drawingml/2006/main">
            <a:off x="990600" y="51816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5" name="">
            <a:extLst xmlns:a="http://schemas.openxmlformats.org/drawingml/2006/main">
              <a:ext uri="{FF2B5EF4-FFF2-40B4-BE49-F238E27FC236}">
                <a16:creationId xmlns:a16="http://schemas.microsoft.com/office/drawing/2014/main" id="{5006AA50-4B54-42FC-9A8A-B28BC7CCC1F1}"/>
              </a:ext>
            </a:extLst>
          </p:cNvPr>
          <p:cNvSpPr>
            <a:spLocks xmlns:a="http://schemas.openxmlformats.org/drawingml/2006/main" noGrp="1"/>
          </p:cNvSpPr>
          <p:nvPr/>
        </p:nvSpPr>
        <p:spPr>
          <a:xfrm xmlns:a="http://schemas.openxmlformats.org/drawingml/2006/main">
            <a:off x="1162050" y="53054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897"/>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presentation records the AI-use declaration. Export the authentic prompt/conversation record from the AI service before Moodle submission.</a:t>
            </a:r>
          </a:p>
        </p:txBody>
      </p:sp>
    </p:spTree>
    <p:extLst>
      <p:ext uri="{BB962C8B-B14F-4D97-AF65-F5344CB8AC3E}">
        <p14:creationId xmlns:p14="http://schemas.microsoft.com/office/powerpoint/2010/main" val="8115901"/>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DEB1F35-DD56-4B15-B400-FE05FA171673}"/>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644DB2AC-90ED-4A1C-9D36-25D845BDE7D8}"/>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D3521A37-2FD0-417B-B8F3-91D33E0E60D9}"/>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two-node Task 2 run</a:t>
            </a:r>
          </a:p>
        </p:txBody>
      </p:sp>
      <p:sp>
        <p:nvSpPr>
          <p:cNvPr id="4" name="">
            <a:extLst xmlns:a="http://schemas.openxmlformats.org/drawingml/2006/main">
              <a:ext uri="{FF2B5EF4-FFF2-40B4-BE49-F238E27FC236}">
                <a16:creationId xmlns:a16="http://schemas.microsoft.com/office/drawing/2014/main" id="{9AD99C88-6B31-4312-AB42-91C5053DD119}"/>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8</a:t>
            </a:r>
          </a:p>
        </p:txBody>
      </p:sp>
      <p:sp>
        <p:nvSpPr>
          <p:cNvPr id="5" name="">
            <a:extLst xmlns:a="http://schemas.openxmlformats.org/drawingml/2006/main">
              <a:ext uri="{FF2B5EF4-FFF2-40B4-BE49-F238E27FC236}">
                <a16:creationId xmlns:a16="http://schemas.microsoft.com/office/drawing/2014/main" id="{4218CDED-EABA-41FF-B6EF-9557C2A9C50B}"/>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Two-node CAAS hybrid MPI + OpenMP functional execution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45df1deafd449d3"/>
          <a:stretch xmlns:a="http://schemas.openxmlformats.org/drawingml/2006/main"/>
        </p:blipFill>
        <p:spPr>
          <a:xfrm xmlns:a="http://schemas.openxmlformats.org/drawingml/2006/main">
            <a:off x="764176" y="1447800"/>
            <a:ext cx="5767798"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682532D-D3DC-403A-8079-147B3C67AB9B}"/>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0C571D11-AE12-42AC-95F4-245831C0CC01}"/>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953DF7FC-B9FF-4C3A-868F-56C8A2AA8015}"/>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Allocated nodes: student-caas-n03 and n04</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4 MPI ranks × 4 OpenMP threads = 16 workers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2 at n = 10,000 returned 1,229 primes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wc -l confirms 1,229 output lines</a:t>
            </a:r>
          </a:p>
        </p:txBody>
      </p:sp>
      <p:sp>
        <p:nvSpPr>
          <p:cNvPr id="10" name="">
            <a:extLst xmlns:a="http://schemas.openxmlformats.org/drawingml/2006/main">
              <a:ext uri="{FF2B5EF4-FFF2-40B4-BE49-F238E27FC236}">
                <a16:creationId xmlns:a16="http://schemas.microsoft.com/office/drawing/2014/main" id="{A5E81739-120E-44D1-A4DB-5B6555BF7A50}"/>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E5C53B73-3EF6-4E0F-8175-E35F74E35F34}"/>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22"/>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CAAS functional evidence only. The benchmark charts and balance findings remain based on the documented local measurement files.</a:t>
            </a:r>
          </a:p>
        </p:txBody>
      </p:sp>
    </p:spTree>
    <p:extLst>
      <p:ext uri="{BB962C8B-B14F-4D97-AF65-F5344CB8AC3E}">
        <p14:creationId xmlns:p14="http://schemas.microsoft.com/office/powerpoint/2010/main" val="10554713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2026-09-18T07:13:24.5660000Z</dcterms:created>
  <dcterms:modified xsi:type="dcterms:W3CDTF">2026-09-18T07:13:24.5660000Z</dcterms:modified>
</coreProperties>
</file>