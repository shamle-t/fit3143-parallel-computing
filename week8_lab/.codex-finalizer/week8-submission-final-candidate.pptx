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slides/charts/chart6.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7.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ad2e977e524a2c" /><Relationship Type="http://schemas.openxmlformats.org/officeDocument/2006/relationships/extended-properties" Target="/docProps/app.xml" Id="Rb5454ca3d5814f33" /><Relationship Type="http://schemas.openxmlformats.org/officeDocument/2006/relationships/officeDocument" Target="/ppt/presentation.xml" Id="R24a5dba821064593" /></Relationships>
</file>

<file path=ppt/presentation.xml><?xml version="1.0" encoding="utf-8"?>
<p:presentation xmlns:p="http://schemas.openxmlformats.org/presentationml/2006/main">
  <p:sldMasterIdLst>
    <p:sldMasterId xmlns:r="http://schemas.openxmlformats.org/officeDocument/2006/relationships" id="2147483648" r:id="Rc5322c67fdb34ad8"/>
  </p:sldMasterIdLst>
  <p:notesMasterIdLst>
    <p:notesMasterId xmlns:r="http://schemas.openxmlformats.org/officeDocument/2006/relationships" r:id="R2cb2cc43dcd84a23"/>
  </p:notesMasterIdLst>
  <p:sldIdLst>
    <p:sldId xmlns:r="http://schemas.openxmlformats.org/officeDocument/2006/relationships" id="256" r:id="R08b75192737840c5"/>
    <p:sldId xmlns:r="http://schemas.openxmlformats.org/officeDocument/2006/relationships" id="257" r:id="R3100b472edd14658"/>
    <p:sldId xmlns:r="http://schemas.openxmlformats.org/officeDocument/2006/relationships" id="258" r:id="R1f1e48d9fd2d472a"/>
    <p:sldId xmlns:r="http://schemas.openxmlformats.org/officeDocument/2006/relationships" id="259" r:id="Rbc43967f1ab54b08"/>
    <p:sldId xmlns:r="http://schemas.openxmlformats.org/officeDocument/2006/relationships" id="260" r:id="R5fd65a58575349bb"/>
    <p:sldId xmlns:r="http://schemas.openxmlformats.org/officeDocument/2006/relationships" id="261" r:id="R54e9a094ac0e47b7"/>
    <p:sldId xmlns:r="http://schemas.openxmlformats.org/officeDocument/2006/relationships" id="262" r:id="R9504a70822924cab"/>
    <p:sldId xmlns:r="http://schemas.openxmlformats.org/officeDocument/2006/relationships" id="263" r:id="Rbd83b8665daa42d2"/>
    <p:sldId xmlns:r="http://schemas.openxmlformats.org/officeDocument/2006/relationships" id="264" r:id="R524e56f1715b4f11"/>
    <p:sldId xmlns:r="http://schemas.openxmlformats.org/officeDocument/2006/relationships" id="265" r:id="Ra207234cbd594116"/>
    <p:sldId xmlns:r="http://schemas.openxmlformats.org/officeDocument/2006/relationships" id="266" r:id="R2734c45e1d844d96"/>
    <p:sldId xmlns:r="http://schemas.openxmlformats.org/officeDocument/2006/relationships" id="267" r:id="Rf25f4e86e67445bb"/>
    <p:sldId xmlns:r="http://schemas.openxmlformats.org/officeDocument/2006/relationships" id="268" r:id="R0e5e47750fc245ee"/>
    <p:sldId xmlns:r="http://schemas.openxmlformats.org/officeDocument/2006/relationships" id="269" r:id="R4191c2207e0f4d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7bdd7ce3051a4fbc" /><Relationship Type="http://schemas.openxmlformats.org/officeDocument/2006/relationships/slideMaster" Target="/ppt/slideMasters/slideMaster1.xml" Id="Rc5322c67fdb34ad8" /><Relationship Type="http://schemas.openxmlformats.org/officeDocument/2006/relationships/notesMaster" Target="/ppt/notesMasters/notesMaster1.xml" Id="R2cb2cc43dcd84a23" /><Relationship Type="http://schemas.openxmlformats.org/officeDocument/2006/relationships/presProps" Target="/ppt/presProps.xml" Id="R705155aaa8ff44c0" /><Relationship Type="http://schemas.openxmlformats.org/officeDocument/2006/relationships/viewProps" Target="/ppt/viewProps.xml" Id="R6ab5c15fb1be4910" /><Relationship Type="http://schemas.openxmlformats.org/officeDocument/2006/relationships/tableStyles" Target="/ppt/tableStyles.xml" Id="Rf4779887163549ac" /><Relationship Type="http://schemas.openxmlformats.org/officeDocument/2006/relationships/slide" Target="/ppt/slides/slide1.xml" Id="R08b75192737840c5" /><Relationship Type="http://schemas.openxmlformats.org/officeDocument/2006/relationships/slide" Target="/ppt/slides/slide2.xml" Id="R3100b472edd14658" /><Relationship Type="http://schemas.openxmlformats.org/officeDocument/2006/relationships/slide" Target="/ppt/slides/slide3.xml" Id="R1f1e48d9fd2d472a" /><Relationship Type="http://schemas.openxmlformats.org/officeDocument/2006/relationships/slide" Target="/ppt/slides/slide4.xml" Id="Rbc43967f1ab54b08" /><Relationship Type="http://schemas.openxmlformats.org/officeDocument/2006/relationships/slide" Target="/ppt/slides/slide5.xml" Id="R5fd65a58575349bb" /><Relationship Type="http://schemas.openxmlformats.org/officeDocument/2006/relationships/slide" Target="/ppt/slides/slide6.xml" Id="R54e9a094ac0e47b7" /><Relationship Type="http://schemas.openxmlformats.org/officeDocument/2006/relationships/slide" Target="/ppt/slides/slide7.xml" Id="R9504a70822924cab" /><Relationship Type="http://schemas.openxmlformats.org/officeDocument/2006/relationships/slide" Target="/ppt/slides/slide8.xml" Id="Rbd83b8665daa42d2" /><Relationship Type="http://schemas.openxmlformats.org/officeDocument/2006/relationships/slide" Target="/ppt/slides/slide9.xml" Id="R524e56f1715b4f11" /><Relationship Type="http://schemas.openxmlformats.org/officeDocument/2006/relationships/slide" Target="/ppt/slides/slide10.xml" Id="Ra207234cbd594116" /><Relationship Type="http://schemas.openxmlformats.org/officeDocument/2006/relationships/slide" Target="/ppt/slides/slide11.xml" Id="R2734c45e1d844d96" /><Relationship Type="http://schemas.openxmlformats.org/officeDocument/2006/relationships/slide" Target="/ppt/slides/slide12.xml" Id="Rf25f4e86e67445bb" /><Relationship Type="http://schemas.openxmlformats.org/officeDocument/2006/relationships/slide" Target="/ppt/slides/slide13.xml" Id="R0e5e47750fc245ee" /><Relationship Type="http://schemas.openxmlformats.org/officeDocument/2006/relationships/slide" Target="/ppt/slides/slide14.xml" Id="R4191c2207e0f4d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32d7ab83fcf47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796f420cd84715" /><Relationship Type="http://schemas.openxmlformats.org/officeDocument/2006/relationships/notesMaster" Target="/ppt/notesMasters/notesMaster1.xml" Id="R7291752cb4e149f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1436d02d00041db" /><Relationship Type="http://schemas.openxmlformats.org/officeDocument/2006/relationships/notesMaster" Target="/ppt/notesMasters/notesMaster1.xml" Id="R98933eb127c744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8ab969e126844fa" /><Relationship Type="http://schemas.openxmlformats.org/officeDocument/2006/relationships/notesMaster" Target="/ppt/notesMasters/notesMaster1.xml" Id="R21794a64910841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6dfd56f232c4900" /><Relationship Type="http://schemas.openxmlformats.org/officeDocument/2006/relationships/notesMaster" Target="/ppt/notesMasters/notesMaster1.xml" Id="Rb8371271e7c24b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80a4af611b4339" /><Relationship Type="http://schemas.openxmlformats.org/officeDocument/2006/relationships/notesMaster" Target="/ppt/notesMasters/notesMaster1.xml" Id="R2f92081eec754e9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4dc82fb55554fcf" /><Relationship Type="http://schemas.openxmlformats.org/officeDocument/2006/relationships/notesMaster" Target="/ppt/notesMasters/notesMaster1.xml" Id="R71ca1b05de7942d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f8651717374e9a" /><Relationship Type="http://schemas.openxmlformats.org/officeDocument/2006/relationships/notesMaster" Target="/ppt/notesMasters/notesMaster1.xml" Id="Rcff671f26c6446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4180be44de24bf7" /><Relationship Type="http://schemas.openxmlformats.org/officeDocument/2006/relationships/notesMaster" Target="/ppt/notesMasters/notesMaster1.xml" Id="Rf8183d3de3ee4a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a54b02234b4a29" /><Relationship Type="http://schemas.openxmlformats.org/officeDocument/2006/relationships/notesMaster" Target="/ppt/notesMasters/notesMaster1.xml" Id="R4541f5d06e1049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b751cb8e0c43f5" /><Relationship Type="http://schemas.openxmlformats.org/officeDocument/2006/relationships/notesMaster" Target="/ppt/notesMasters/notesMaster1.xml" Id="R8e24cc9291b443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2a7fcad73d348bf" /><Relationship Type="http://schemas.openxmlformats.org/officeDocument/2006/relationships/notesMaster" Target="/ppt/notesMasters/notesMaster1.xml" Id="R77a36aefd0a845b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4ab99d149a9412f" /><Relationship Type="http://schemas.openxmlformats.org/officeDocument/2006/relationships/notesMaster" Target="/ppt/notesMasters/notesMaster1.xml" Id="R78171ebc354c4af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596799cb1474317" /><Relationship Type="http://schemas.openxmlformats.org/officeDocument/2006/relationships/notesMaster" Target="/ppt/notesMasters/notesMaster1.xml" Id="R46a6073717d647e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e31af6d9e34448f" /><Relationship Type="http://schemas.openxmlformats.org/officeDocument/2006/relationships/notesMaster" Target="/ppt/notesMasters/notesMaster1.xml" Id="R286b0f9237cb47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results/local_cluster_execution.txt; scripts/verify_correctness.sh; results/n_scaling.csv; results/task1_process_scaling.csv;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results/partition_balance.csv. Each value is the median of three runs at n=20,000,000. The strategy comparison uses identical primality testing, merge and output code.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results/n_scaling.csv (current serial and MPI sweep) and results/openmp_n_scaling.csv (prior Week 4 OpenMP sweep). Both use the same machine, n values and 4 workers, but were measured in separate sessions; absolute runtime may include session noise.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MPI speedup from results/n_scaling.csv. OpenMP speedup = results/task3_n_scaling.csv serial_total divided by results/openmp_n_scaling.csv openmp_time for the same n. This avoids mixing serial baselines across sessions.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Graph 3 sources: results/task1_process_scaling.csv and results/openmp_thread_scaling.csv. Graph 6 source: results/task1_process_scaling.csv. Process-scaling points are medians of three runs at n=60,000,000.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results/local_cluster_execution.txt. This representative run records per-rank compute times, candidate-count range, total runtime, commands and exact sorted-output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results/hybrid_scaling.csv and results/openmp_thread_scaling.csv. Hybrid points are medians of three runs at n=60,000,000. Graph 5 compares equal total worker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results/hybrid_scaling.csv. The benchmark series is local single-node data. CAAS evidence in Appendices 3-4 verifies setup and a two-node Task 1 functional test at n = 10,000; it is not graph or balance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results/partition_balance.csv, results/task1_process_scaling.csv and results/hybrid_scaling.csv.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Required Moodle files are task1.c, task2.c, and the presentation. Supporting scripts, results, CSVs, and screenshots are retained for inspection but are not listed as compulsory uploads in the assessment specification. The prompt/conversation record must still be exported authentically if AI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evidence/screenshots/caas_login_and_setup.jpg. Authentic CAAS setup screenshot. It documents head-node access, scheduler visibility, and uploaded source 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evidence/screenshots/caas_task1_two_node_execution_submitted.png. Authentic two-node CAAS Task 1 functional run at n = 10,000. It verifies allocation of student-caas-n03 and student-caas-n04, eight MPI ranks, the correct 1,229-prime result, and sorted output generation. It does not support the local benchmark or balance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appendix declares the use of generative AI within the presentation itself. The assessment specification also requires the team to upload an authentic prompt/conversation record if AI was used. No separate AI declaration PDF is included.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bc7419c8884e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b19bb274ebd4021" /><Relationship Type="http://schemas.openxmlformats.org/officeDocument/2006/relationships/slideLayout" Target="/ppt/slideLayouts/slideLayout1.xml" Id="R243f659fd58747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3f659fd58747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fd207a1dd5041b9" /><Relationship Type="http://schemas.openxmlformats.org/officeDocument/2006/relationships/notesSlide" Target="/ppt/notesSlides/notesSlide1.xml" Id="R31309331fdcc41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d0e05a090764f67" /><Relationship Type="http://schemas.openxmlformats.org/officeDocument/2006/relationships/notesSlide" Target="/ppt/notesSlides/notesSlide2.xml" Id="R03e44abaffaf4a3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2de595b235c4d0b" /><Relationship Type="http://schemas.openxmlformats.org/officeDocument/2006/relationships/notesSlide" Target="/ppt/notesSlides/notesSlide3.xml" Id="Rfa99cbe5a94d4d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ebaf28fcb1e43f3" /><Relationship Type="http://schemas.openxmlformats.org/officeDocument/2006/relationships/chart" Target="/ppt/slides/charts/chart1.xml" Id="R639e36fae0a34bed" /><Relationship Type="http://schemas.openxmlformats.org/officeDocument/2006/relationships/notesSlide" Target="/ppt/notesSlides/notesSlide4.xml" Id="R01b494d79c73428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a17c2379bc948fb" /><Relationship Type="http://schemas.openxmlformats.org/officeDocument/2006/relationships/chart" Target="/ppt/slides/charts/chart2.xml" Id="R4b8e26a5abd041bd" /><Relationship Type="http://schemas.openxmlformats.org/officeDocument/2006/relationships/notesSlide" Target="/ppt/notesSlides/notesSlide5.xml" Id="R7632842dac5e43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2c377b51f514f6e" /><Relationship Type="http://schemas.openxmlformats.org/officeDocument/2006/relationships/chart" Target="/ppt/slides/charts/chart3.xml" Id="R550028611d3f45ad" /><Relationship Type="http://schemas.openxmlformats.org/officeDocument/2006/relationships/chart" Target="/ppt/slides/charts/chart4.xml" Id="R8addf4a97cb846f0" /><Relationship Type="http://schemas.openxmlformats.org/officeDocument/2006/relationships/notesSlide" Target="/ppt/notesSlides/notesSlide6.xml" Id="R191ff49e770244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cf97f9f4cb347e3" /><Relationship Type="http://schemas.openxmlformats.org/officeDocument/2006/relationships/notesSlide" Target="/ppt/notesSlides/notesSlide7.xml" Id="R0c534beba8a54ba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f899fe52f3f479c" /><Relationship Type="http://schemas.openxmlformats.org/officeDocument/2006/relationships/chart" Target="/ppt/slides/charts/chart5.xml" Id="R97662401eabb4304" /><Relationship Type="http://schemas.openxmlformats.org/officeDocument/2006/relationships/chart" Target="/ppt/slides/charts/chart6.xml" Id="R374411a878804211" /><Relationship Type="http://schemas.openxmlformats.org/officeDocument/2006/relationships/notesSlide" Target="/ppt/notesSlides/notesSlide8.xml" Id="R71909a08dac949b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bd582de348246b1" /><Relationship Type="http://schemas.openxmlformats.org/officeDocument/2006/relationships/chart" Target="/ppt/slides/charts/chart7.xml" Id="R56e82f574e784839" /><Relationship Type="http://schemas.openxmlformats.org/officeDocument/2006/relationships/notesSlide" Target="/ppt/notesSlides/notesSlide9.xml" Id="R5dca50151b6b41f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65532e0e6be48be" /><Relationship Type="http://schemas.openxmlformats.org/officeDocument/2006/relationships/notesSlide" Target="/ppt/notesSlides/notesSlide10.xml" Id="R074bd92b359c4f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3677d87cf5e24103" /><Relationship Type="http://schemas.openxmlformats.org/officeDocument/2006/relationships/notesSlide" Target="/ppt/notesSlides/notesSlide11.xml" Id="Rd454da79feb149d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2b6e644bfaf44f4" /><Relationship Type="http://schemas.openxmlformats.org/officeDocument/2006/relationships/image" Target="/ppt/media/image.jpeg" Id="Radc258173c8548e2" /><Relationship Type="http://schemas.openxmlformats.org/officeDocument/2006/relationships/notesSlide" Target="/ppt/notesSlides/notesSlide12.xml" Id="Rc5d53b22ec7b428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0d29128b63f42ee" /><Relationship Type="http://schemas.openxmlformats.org/officeDocument/2006/relationships/image" Target="/ppt/media/image.png" Id="R8dae09d0204e42ab" /><Relationship Type="http://schemas.openxmlformats.org/officeDocument/2006/relationships/notesSlide" Target="/ppt/notesSlides/notesSlide13.xml" Id="R0a21f4c0eb434d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e167b97539f4689" /><Relationship Type="http://schemas.openxmlformats.org/officeDocument/2006/relationships/notesSlide" Target="/ppt/notesSlides/notesSlide14.xml" Id="R020711e4f9324eba" /></Relationships>
</file>

<file path=ppt/slides/charts/chart1.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End-to-end runtime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autoTitleDeleted val="0"/>
    <c:plotArea>
      <c:scatterChart>
        <c:scatterStyle val="lineMarker"/>
        <c:varyColors val="1"/>
        <c:ser>
          <c:idx val="0"/>
          <c:order val="0"/>
          <c:tx>
            <c:v>Serial baseline</c:v>
          </c:tx>
          <c:spPr>
            <a:ln xmlns:a="http://schemas.openxmlformats.org/drawingml/2006/main" w="21908">
              <a:solidFill>
                <a:srgbClr val="3B6FB6"/>
              </a:solidFill>
              <a:prstDash val="solid"/>
            </a:ln>
          </c:spPr>
          <c:marker>
            <c:symbol val="circle"/>
            <c:size val="4"/>
            <c:spPr>
              <a:solidFill xmlns:a="http://schemas.openxmlformats.org/drawingml/2006/main">
                <a:srgbClr val="3B6FB6"/>
              </a:solidFill>
            </c:spPr>
          </c:marker>
          <c:xVal>
            <c:numRef>
              <c:f>'Chart Data'!$A$2:$A$31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Data'!$B$2:$B$31</c:f>
              <c:numCache>
                <c:formatCode>0</c:formatCode>
                <c:ptCount val="30"/>
                <c:pt idx="0">
                  <c:v>4.989752</c:v>
                </c:pt>
                <c:pt idx="1">
                  <c:v>5.7932</c:v>
                </c:pt>
                <c:pt idx="2">
                  <c:v>6.600539</c:v>
                </c:pt>
                <c:pt idx="3">
                  <c:v>7.58008</c:v>
                </c:pt>
                <c:pt idx="4">
                  <c:v>8.197113</c:v>
                </c:pt>
                <c:pt idx="5">
                  <c:v>8.993253</c:v>
                </c:pt>
                <c:pt idx="6">
                  <c:v>9.898929</c:v>
                </c:pt>
                <c:pt idx="7">
                  <c:v>11.25524</c:v>
                </c:pt>
                <c:pt idx="8">
                  <c:v>11.663884</c:v>
                </c:pt>
                <c:pt idx="9">
                  <c:v>12.481058</c:v>
                </c:pt>
                <c:pt idx="10">
                  <c:v>13.500245</c:v>
                </c:pt>
                <c:pt idx="11">
                  <c:v>14.407534</c:v>
                </c:pt>
                <c:pt idx="12">
                  <c:v>15.361246</c:v>
                </c:pt>
                <c:pt idx="13">
                  <c:v>16.641048</c:v>
                </c:pt>
                <c:pt idx="14">
                  <c:v>17.381228</c:v>
                </c:pt>
                <c:pt idx="15">
                  <c:v>18.39205</c:v>
                </c:pt>
                <c:pt idx="16">
                  <c:v>19.512275</c:v>
                </c:pt>
                <c:pt idx="17">
                  <c:v>20.516872</c:v>
                </c:pt>
                <c:pt idx="18">
                  <c:v>21.671941</c:v>
                </c:pt>
                <c:pt idx="19">
                  <c:v>22.681507</c:v>
                </c:pt>
                <c:pt idx="20">
                  <c:v>23.879297</c:v>
                </c:pt>
                <c:pt idx="21">
                  <c:v>24.89455</c:v>
                </c:pt>
                <c:pt idx="22">
                  <c:v>26.438953</c:v>
                </c:pt>
                <c:pt idx="23">
                  <c:v>27.724465</c:v>
                </c:pt>
                <c:pt idx="24">
                  <c:v>28.707587</c:v>
                </c:pt>
                <c:pt idx="25">
                  <c:v>30.266235</c:v>
                </c:pt>
                <c:pt idx="26">
                  <c:v>30.835879</c:v>
                </c:pt>
                <c:pt idx="27">
                  <c:v>32.094736</c:v>
                </c:pt>
                <c:pt idx="28">
                  <c:v>33.361352</c:v>
                </c:pt>
                <c:pt idx="29">
                  <c:v>34.655354</c:v>
                </c:pt>
              </c:numCache>
            </c:numRef>
          </c:yVal>
        </c:ser>
        <c:ser>
          <c:idx val="1"/>
          <c:order val="1"/>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Data'!$C$2:$C$31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Data'!$D$2:$D$31</c:f>
              <c:numCache>
                <c:formatCode>0</c:formatCode>
                <c:ptCount val="30"/>
                <c:pt idx="0">
                  <c:v>1.506796</c:v>
                </c:pt>
                <c:pt idx="1">
                  <c:v>1.629617</c:v>
                </c:pt>
                <c:pt idx="2">
                  <c:v>1.882136</c:v>
                </c:pt>
                <c:pt idx="3">
                  <c:v>2.197054</c:v>
                </c:pt>
                <c:pt idx="4">
                  <c:v>2.351178</c:v>
                </c:pt>
                <c:pt idx="5">
                  <c:v>2.680151</c:v>
                </c:pt>
                <c:pt idx="6">
                  <c:v>2.949921</c:v>
                </c:pt>
                <c:pt idx="7">
                  <c:v>3.132021</c:v>
                </c:pt>
                <c:pt idx="8">
                  <c:v>3.511267</c:v>
                </c:pt>
                <c:pt idx="9">
                  <c:v>3.792676</c:v>
                </c:pt>
                <c:pt idx="10">
                  <c:v>3.765773</c:v>
                </c:pt>
                <c:pt idx="11">
                  <c:v>4.350641</c:v>
                </c:pt>
                <c:pt idx="12">
                  <c:v>4.371929</c:v>
                </c:pt>
                <c:pt idx="13">
                  <c:v>4.65037</c:v>
                </c:pt>
                <c:pt idx="14">
                  <c:v>4.997748</c:v>
                </c:pt>
                <c:pt idx="15">
                  <c:v>5.308287</c:v>
                </c:pt>
                <c:pt idx="16">
                  <c:v>5.542288</c:v>
                </c:pt>
                <c:pt idx="17">
                  <c:v>6.078635</c:v>
                </c:pt>
                <c:pt idx="18">
                  <c:v>6.218323</c:v>
                </c:pt>
                <c:pt idx="19">
                  <c:v>6.572295</c:v>
                </c:pt>
                <c:pt idx="20">
                  <c:v>6.834096</c:v>
                </c:pt>
                <c:pt idx="21">
                  <c:v>7.088691</c:v>
                </c:pt>
                <c:pt idx="22">
                  <c:v>7.583849</c:v>
                </c:pt>
                <c:pt idx="23">
                  <c:v>7.847521</c:v>
                </c:pt>
                <c:pt idx="24">
                  <c:v>8.563484</c:v>
                </c:pt>
                <c:pt idx="25">
                  <c:v>8.792589</c:v>
                </c:pt>
                <c:pt idx="26">
                  <c:v>8.841267</c:v>
                </c:pt>
                <c:pt idx="27">
                  <c:v>8.86051</c:v>
                </c:pt>
                <c:pt idx="28">
                  <c:v>9.36652</c:v>
                </c:pt>
                <c:pt idx="29">
                  <c:v>9.865707</c:v>
                </c:pt>
              </c:numCache>
            </c:numRef>
          </c:yVal>
        </c:ser>
        <c:ser>
          <c:idx val="2"/>
          <c:order val="2"/>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Ref>
              <c:f>'Chart Data'!$E$2:$E$31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Data'!$F$2:$F$31</c:f>
              <c:numCache>
                <c:formatCode>0</c:formatCode>
                <c:ptCount val="30"/>
                <c:pt idx="0">
                  <c:v>2.167603</c:v>
                </c:pt>
                <c:pt idx="1">
                  <c:v>2.350731</c:v>
                </c:pt>
                <c:pt idx="2">
                  <c:v>2.771374</c:v>
                </c:pt>
                <c:pt idx="3">
                  <c:v>3.009852</c:v>
                </c:pt>
                <c:pt idx="4">
                  <c:v>3.400205</c:v>
                </c:pt>
                <c:pt idx="5">
                  <c:v>3.580981</c:v>
                </c:pt>
                <c:pt idx="6">
                  <c:v>4.065718</c:v>
                </c:pt>
                <c:pt idx="7">
                  <c:v>4.375723</c:v>
                </c:pt>
                <c:pt idx="8">
                  <c:v>5.157762</c:v>
                </c:pt>
                <c:pt idx="9">
                  <c:v>5.404324</c:v>
                </c:pt>
                <c:pt idx="10">
                  <c:v>5.817264</c:v>
                </c:pt>
                <c:pt idx="11">
                  <c:v>5.962411</c:v>
                </c:pt>
                <c:pt idx="12">
                  <c:v>7.149659</c:v>
                </c:pt>
                <c:pt idx="13">
                  <c:v>6.9077</c:v>
                </c:pt>
                <c:pt idx="14">
                  <c:v>7.469348</c:v>
                </c:pt>
                <c:pt idx="15">
                  <c:v>8.933063</c:v>
                </c:pt>
                <c:pt idx="16">
                  <c:v>10.07874</c:v>
                </c:pt>
                <c:pt idx="17">
                  <c:v>9.269982</c:v>
                </c:pt>
                <c:pt idx="18">
                  <c:v>9.573097</c:v>
                </c:pt>
                <c:pt idx="19">
                  <c:v>12.896376</c:v>
                </c:pt>
                <c:pt idx="20">
                  <c:v>9.388351</c:v>
                </c:pt>
                <c:pt idx="21">
                  <c:v>9.723761</c:v>
                </c:pt>
                <c:pt idx="22">
                  <c:v>10.887108</c:v>
                </c:pt>
                <c:pt idx="23">
                  <c:v>11.360931</c:v>
                </c:pt>
                <c:pt idx="24">
                  <c:v>11.247044</c:v>
                </c:pt>
                <c:pt idx="25">
                  <c:v>11.750655</c:v>
                </c:pt>
                <c:pt idx="26">
                  <c:v>12.900694</c:v>
                </c:pt>
                <c:pt idx="27">
                  <c:v>12.988591</c:v>
                </c:pt>
                <c:pt idx="28">
                  <c:v>13.553135</c:v>
                </c:pt>
                <c:pt idx="29">
                  <c:v>13.671737</c:v>
                </c:pt>
              </c:numCache>
            </c:numRef>
          </c:yVal>
        </c:ser>
        <c:dLbls>
          <c:showLegendKey val="0"/>
          <c:showVal val="0"/>
          <c:showCatName val="0"/>
          <c:showSerName val="0"/>
          <c:showPercent val="0"/>
          <c:showBubbleSize val="0"/>
        </c:dLbls>
        <c:axId val="48650112"/>
        <c:axId val="48672768"/>
      </c:scatterChart>
      <c:valAx>
        <c:axId val="48672768"/>
        <c:scaling>
          <c:orientation val="minMax"/>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Runtime (seconds)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es val="autoZero"/>
        <c:crossBetween val="midCat"/>
        <c:majorUnit val="10"/>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rosses val="autoZero"/>
        <c:crossBetween val="midCat"/>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2.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Speedup against each implementation's matched serial baseline</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autoTitleDeleted val="0"/>
    <c:plotArea>
      <c:scatterChart>
        <c:scatterStyle val="lineMarker"/>
        <c:varyColors val="1"/>
        <c:ser>
          <c:idx val="0"/>
          <c:order val="0"/>
          <c:tx>
            <c:v>Open MPI • 4 processes</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Data'!$A$2:$A$31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Data'!$B$2:$B$31</c:f>
              <c:numCache>
                <c:formatCode>0.0\x</c:formatCode>
                <c:ptCount val="30"/>
                <c:pt idx="0">
                  <c:v>3.311498</c:v>
                </c:pt>
                <c:pt idx="1">
                  <c:v>3.554945</c:v>
                </c:pt>
                <c:pt idx="2">
                  <c:v>3.50694</c:v>
                </c:pt>
                <c:pt idx="3">
                  <c:v>3.450112</c:v>
                </c:pt>
                <c:pt idx="4">
                  <c:v>3.486386</c:v>
                </c:pt>
                <c:pt idx="5">
                  <c:v>3.355503</c:v>
                </c:pt>
                <c:pt idx="6">
                  <c:v>3.355659</c:v>
                </c:pt>
                <c:pt idx="7">
                  <c:v>3.593603</c:v>
                </c:pt>
                <c:pt idx="8">
                  <c:v>3.321845</c:v>
                </c:pt>
                <c:pt idx="9">
                  <c:v>3.290831</c:v>
                </c:pt>
                <c:pt idx="10">
                  <c:v>3.584986</c:v>
                </c:pt>
                <c:pt idx="11">
                  <c:v>3.311588</c:v>
                </c:pt>
                <c:pt idx="12">
                  <c:v>3.513609</c:v>
                </c:pt>
                <c:pt idx="13">
                  <c:v>3.578435</c:v>
                </c:pt>
                <c:pt idx="14">
                  <c:v>3.477812</c:v>
                </c:pt>
                <c:pt idx="15">
                  <c:v>3.46478</c:v>
                </c:pt>
                <c:pt idx="16">
                  <c:v>3.520617</c:v>
                </c:pt>
                <c:pt idx="17">
                  <c:v>3.375243</c:v>
                </c:pt>
                <c:pt idx="18">
                  <c:v>3.485175</c:v>
                </c:pt>
                <c:pt idx="19">
                  <c:v>3.451079</c:v>
                </c:pt>
                <c:pt idx="20">
                  <c:v>3.494141</c:v>
                </c:pt>
                <c:pt idx="21">
                  <c:v>3.511868</c:v>
                </c:pt>
                <c:pt idx="22">
                  <c:v>3.486218</c:v>
                </c:pt>
                <c:pt idx="23">
                  <c:v>3.532894</c:v>
                </c:pt>
                <c:pt idx="24">
                  <c:v>3.352326</c:v>
                </c:pt>
                <c:pt idx="25">
                  <c:v>3.442244</c:v>
                </c:pt>
                <c:pt idx="26">
                  <c:v>3.487722</c:v>
                </c:pt>
                <c:pt idx="27">
                  <c:v>3.622222</c:v>
                </c:pt>
                <c:pt idx="28">
                  <c:v>3.561766</c:v>
                </c:pt>
                <c:pt idx="29">
                  <c:v>3.512708</c:v>
                </c:pt>
              </c:numCache>
            </c:numRef>
          </c:yVal>
        </c:ser>
        <c:ser>
          <c:idx val="1"/>
          <c:order val="1"/>
          <c:tx>
            <c:v>OpenMP • 4 threads</c:v>
          </c:tx>
          <c:spPr>
            <a:ln xmlns:a="http://schemas.openxmlformats.org/drawingml/2006/main" w="21908">
              <a:solidFill>
                <a:srgbClr val="2F855A"/>
              </a:solidFill>
              <a:prstDash val="solid"/>
            </a:ln>
          </c:spPr>
          <c:marker>
            <c:symbol val="circle"/>
            <c:size val="4"/>
            <c:spPr>
              <a:solidFill xmlns:a="http://schemas.openxmlformats.org/drawingml/2006/main">
                <a:srgbClr val="2F855A"/>
              </a:solidFill>
            </c:spPr>
          </c:marker>
          <c:xVal>
            <c:numRef>
              <c:f>'Chart Data'!$C$2:$C$31</c:f>
              <c:numCache>
                <c:formatCode>General</c:formatCode>
                <c:ptCount val="30"/>
                <c:pt idx="0">
                  <c:v>20</c:v>
                </c:pt>
                <c:pt idx="1">
                  <c:v>22</c:v>
                </c:pt>
                <c:pt idx="2">
                  <c:v>24</c:v>
                </c:pt>
                <c:pt idx="3">
                  <c:v>26</c:v>
                </c:pt>
                <c:pt idx="4">
                  <c:v>28</c:v>
                </c:pt>
                <c:pt idx="5">
                  <c:v>30</c:v>
                </c:pt>
                <c:pt idx="6">
                  <c:v>32</c:v>
                </c:pt>
                <c:pt idx="7">
                  <c:v>34</c:v>
                </c:pt>
                <c:pt idx="8">
                  <c:v>36</c:v>
                </c:pt>
                <c:pt idx="9">
                  <c:v>38</c:v>
                </c:pt>
                <c:pt idx="10">
                  <c:v>40</c:v>
                </c:pt>
                <c:pt idx="11">
                  <c:v>42</c:v>
                </c:pt>
                <c:pt idx="12">
                  <c:v>44</c:v>
                </c:pt>
                <c:pt idx="13">
                  <c:v>46</c:v>
                </c:pt>
                <c:pt idx="14">
                  <c:v>48</c:v>
                </c:pt>
                <c:pt idx="15">
                  <c:v>50</c:v>
                </c:pt>
                <c:pt idx="16">
                  <c:v>52</c:v>
                </c:pt>
                <c:pt idx="17">
                  <c:v>54</c:v>
                </c:pt>
                <c:pt idx="18">
                  <c:v>56</c:v>
                </c:pt>
                <c:pt idx="19">
                  <c:v>58</c:v>
                </c:pt>
                <c:pt idx="20">
                  <c:v>60</c:v>
                </c:pt>
                <c:pt idx="21">
                  <c:v>62</c:v>
                </c:pt>
                <c:pt idx="22">
                  <c:v>64</c:v>
                </c:pt>
                <c:pt idx="23">
                  <c:v>66</c:v>
                </c:pt>
                <c:pt idx="24">
                  <c:v>68</c:v>
                </c:pt>
                <c:pt idx="25">
                  <c:v>70</c:v>
                </c:pt>
                <c:pt idx="26">
                  <c:v>72</c:v>
                </c:pt>
                <c:pt idx="27">
                  <c:v>74</c:v>
                </c:pt>
                <c:pt idx="28">
                  <c:v>76</c:v>
                </c:pt>
                <c:pt idx="29">
                  <c:v>78</c:v>
                </c:pt>
              </c:numCache>
            </c:numRef>
          </c:xVal>
          <c:yVal>
            <c:numRef>
              <c:f>'Chart Data'!$D$2:$D$31</c:f>
              <c:numCache>
                <c:formatCode>0.0\x</c:formatCode>
                <c:ptCount val="30"/>
                <c:pt idx="0">
                  <c:v>2.706644</c:v>
                </c:pt>
                <c:pt idx="1">
                  <c:v>2.807679</c:v>
                </c:pt>
                <c:pt idx="2">
                  <c:v>2.671431</c:v>
                </c:pt>
                <c:pt idx="3">
                  <c:v>2.773163</c:v>
                </c:pt>
                <c:pt idx="4">
                  <c:v>2.717482</c:v>
                </c:pt>
                <c:pt idx="5">
                  <c:v>2.829962</c:v>
                </c:pt>
                <c:pt idx="6">
                  <c:v>2.74614</c:v>
                </c:pt>
                <c:pt idx="7">
                  <c:v>2.782729</c:v>
                </c:pt>
                <c:pt idx="8">
                  <c:v>2.495577</c:v>
                </c:pt>
                <c:pt idx="9">
                  <c:v>2.618487</c:v>
                </c:pt>
                <c:pt idx="10">
                  <c:v>2.590082</c:v>
                </c:pt>
                <c:pt idx="11">
                  <c:v>2.737466</c:v>
                </c:pt>
                <c:pt idx="12">
                  <c:v>2.549498</c:v>
                </c:pt>
                <c:pt idx="13">
                  <c:v>2.68205</c:v>
                </c:pt>
                <c:pt idx="14">
                  <c:v>2.648153</c:v>
                </c:pt>
                <c:pt idx="15">
                  <c:v>2.341455</c:v>
                </c:pt>
                <c:pt idx="16">
                  <c:v>2.206639</c:v>
                </c:pt>
                <c:pt idx="17">
                  <c:v>2.521772</c:v>
                </c:pt>
                <c:pt idx="18">
                  <c:v>2.568987</c:v>
                </c:pt>
                <c:pt idx="19">
                  <c:v>1.99623</c:v>
                </c:pt>
                <c:pt idx="20">
                  <c:v>2.890972</c:v>
                </c:pt>
                <c:pt idx="21">
                  <c:v>2.956234</c:v>
                </c:pt>
                <c:pt idx="22">
                  <c:v>2.761738</c:v>
                </c:pt>
                <c:pt idx="23">
                  <c:v>2.776618</c:v>
                </c:pt>
                <c:pt idx="24">
                  <c:v>2.879432</c:v>
                </c:pt>
                <c:pt idx="25">
                  <c:v>2.962694</c:v>
                </c:pt>
                <c:pt idx="26">
                  <c:v>2.712369</c:v>
                </c:pt>
                <c:pt idx="27">
                  <c:v>2.807667</c:v>
                </c:pt>
                <c:pt idx="28">
                  <c:v>2.789214</c:v>
                </c:pt>
                <c:pt idx="29">
                  <c:v>2.876845</c:v>
                </c:pt>
              </c:numCache>
            </c:numRef>
          </c:yVal>
        </c:ser>
        <c:dLbls>
          <c:showLegendKey val="0"/>
          <c:showVal val="0"/>
          <c:showCatName val="0"/>
          <c:showSerName val="0"/>
          <c:showPercent val="0"/>
          <c:showBubbleSize val="0"/>
        </c:dLbls>
        <c:axId val="48650112"/>
        <c:axId val="48672768"/>
      </c:scatterChart>
      <c:valAx>
        <c:axId val="48672768"/>
        <c:scaling>
          <c:orientation val="minMax"/>
          <c:max val="5"/>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es val="autoZero"/>
        <c:crossBetween val="midCat"/>
        <c:majorUnit val="1"/>
      </c:valAx>
      <c:valAx>
        <c:axId val="48650112"/>
        <c:scaling>
          <c:orientation val="minMax"/>
          <c:max val="80"/>
          <c:min val="20"/>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n (millions)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rosses val="autoZero"/>
        <c:crossBetween val="midCat"/>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3.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3 • matching worker counts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autoTitleDeleted val="0"/>
    <c:plotArea>
      <c:lineChart>
        <c:grouping val="standard"/>
        <c:varyColors val="0"/>
        <c:ser>
          <c:idx val="0"/>
          <c:order val="0"/>
          <c:tx>
            <c:v>MPI processes</c:v>
          </c:tx>
          <c:spPr>
            <a:ln xmlns:a="http://schemas.openxmlformats.org/drawingml/2006/main" w="21908">
              <a:solidFill>
                <a:srgbClr val="C2413B"/>
              </a:solidFill>
              <a:prstDash val="solid"/>
            </a:ln>
          </c:spPr>
          <c:marker>
            <c:symbol val="circle"/>
            <c:size val="5"/>
            <c:spPr>
              <a:solidFill xmlns:a="http://schemas.openxmlformats.org/drawingml/2006/main">
                <a:srgbClr val="C2413B"/>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0.0\x</c:formatCode>
                <c:ptCount val="5"/>
                <c:pt idx="0">
                  <c:v>0.98963</c:v>
                </c:pt>
                <c:pt idx="1">
                  <c:v>1.878171</c:v>
                </c:pt>
                <c:pt idx="2">
                  <c:v>3.378454</c:v>
                </c:pt>
                <c:pt idx="3">
                  <c:v>4.618865</c:v>
                </c:pt>
                <c:pt idx="4">
                  <c:v>6.015093</c:v>
                </c:pt>
              </c:numCache>
            </c:numRef>
          </c:val>
          <c:smooth val="0"/>
        </c:ser>
        <c:ser>
          <c:idx val="1"/>
          <c:order val="1"/>
          <c:tx>
            <c:v>OpenMP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numRef>
              <c:f>'Chart Data'!$C$2:$C$6</c:f>
              <c:numCache>
                <c:formatCode>General</c:formatCode>
                <c:ptCount val="5"/>
                <c:pt idx="0">
                  <c:v>1</c:v>
                </c:pt>
                <c:pt idx="1">
                  <c:v>2</c:v>
                </c:pt>
                <c:pt idx="2">
                  <c:v>4</c:v>
                </c:pt>
                <c:pt idx="3">
                  <c:v>8</c:v>
                </c:pt>
                <c:pt idx="4">
                  <c:v>16</c:v>
                </c:pt>
              </c:numCache>
            </c:numRef>
          </c:cat>
          <c:val>
            <c:numRef>
              <c:f>'Chart Data'!$D$2:$D$6</c:f>
              <c:numCache>
                <c:formatCode>0.0\x</c:formatCode>
                <c:ptCount val="5"/>
                <c:pt idx="0">
                  <c:v>1.004932</c:v>
                </c:pt>
                <c:pt idx="1">
                  <c:v>1.550188</c:v>
                </c:pt>
                <c:pt idx="2">
                  <c:v>2.693979</c:v>
                </c:pt>
                <c:pt idx="3">
                  <c:v>4.337217</c:v>
                </c:pt>
                <c:pt idx="4">
                  <c:v>7.075541</c:v>
                </c:pt>
              </c:numCache>
            </c:numRef>
          </c:val>
          <c:smooth val="0"/>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Processes or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rosses val="autoZero"/>
        <c:lblOffset val="100"/>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es val="autoZero"/>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4.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6 • MPI empirical vs Amdahl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autoTitleDeleted val="0"/>
    <c:plotArea>
      <c:scatterChart>
        <c:scatterStyle val="lineMarker"/>
        <c:varyColors val="1"/>
        <c:ser>
          <c:idx val="0"/>
          <c:order val="0"/>
          <c:tx>
            <c:v>Empirical</c:v>
          </c:tx>
          <c:spPr>
            <a:ln xmlns:a="http://schemas.openxmlformats.org/drawingml/2006/main" w="21908">
              <a:solidFill>
                <a:srgbClr val="C2413B"/>
              </a:solidFill>
              <a:prstDash val="solid"/>
            </a:ln>
          </c:spPr>
          <c:marker>
            <c:symbol val="circle"/>
            <c:size val="4"/>
            <c:spPr>
              <a:solidFill xmlns:a="http://schemas.openxmlformats.org/drawingml/2006/main">
                <a:srgbClr val="C2413B"/>
              </a:solidFill>
            </c:spPr>
          </c:marker>
          <c:xVal>
            <c:numRef>
              <c:f>'Chart Data'!$A$2:$A$17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'Chart Data'!$B$2:$B$17</c:f>
              <c:numCache>
                <c:formatCode>0.0\x</c:formatCode>
                <c:ptCount val="16"/>
                <c:pt idx="0">
                  <c:v>0.98963</c:v>
                </c:pt>
                <c:pt idx="1">
                  <c:v>1.878171</c:v>
                </c:pt>
                <c:pt idx="2">
                  <c:v>2.635082</c:v>
                </c:pt>
                <c:pt idx="3">
                  <c:v>3.378454</c:v>
                </c:pt>
                <c:pt idx="4">
                  <c:v>3.906827</c:v>
                </c:pt>
                <c:pt idx="5">
                  <c:v>4.232572</c:v>
                </c:pt>
                <c:pt idx="6">
                  <c:v>4.432161</c:v>
                </c:pt>
                <c:pt idx="7">
                  <c:v>4.618865</c:v>
                </c:pt>
                <c:pt idx="8">
                  <c:v>4.420885</c:v>
                </c:pt>
                <c:pt idx="9">
                  <c:v>4.156386</c:v>
                </c:pt>
                <c:pt idx="10">
                  <c:v>4.550334</c:v>
                </c:pt>
                <c:pt idx="11">
                  <c:v>5.308742</c:v>
                </c:pt>
                <c:pt idx="12">
                  <c:v>5.4069</c:v>
                </c:pt>
                <c:pt idx="13">
                  <c:v>5.821944</c:v>
                </c:pt>
                <c:pt idx="14">
                  <c:v>5.971313</c:v>
                </c:pt>
                <c:pt idx="15">
                  <c:v>6.015093</c:v>
                </c:pt>
              </c:numCache>
            </c:numRef>
          </c:yVal>
        </c:ser>
        <c:ser>
          <c:idx val="1"/>
          <c:order val="1"/>
          <c:tx>
            <c:v>Amdahl ideal</c:v>
          </c:tx>
          <c:spPr>
            <a:ln xmlns:a="http://schemas.openxmlformats.org/drawingml/2006/main" w="21908">
              <a:solidFill>
                <a:srgbClr val="F28E2B"/>
              </a:solidFill>
              <a:prstDash val="solid"/>
            </a:ln>
          </c:spPr>
          <c:marker>
            <c:symbol val="circle"/>
            <c:size val="4"/>
            <c:spPr>
              <a:solidFill xmlns:a="http://schemas.openxmlformats.org/drawingml/2006/main">
                <a:srgbClr val="F28E2B"/>
              </a:solidFill>
            </c:spPr>
          </c:marker>
          <c:xVal>
            <c:numRef>
              <c:f>'Chart Data'!$C$2:$C$17</c:f>
              <c:numCache>
                <c:formatCode>General</c:formatCode>
                <c:ptCount val="1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numCache>
            </c:numRef>
          </c:xVal>
          <c:yVal>
            <c:numRef>
              <c:f>'Chart Data'!$D$2:$D$17</c:f>
              <c:numCache>
                <c:formatCode>0.0\x</c:formatCode>
                <c:ptCount val="16"/>
                <c:pt idx="0">
                  <c:v>1</c:v>
                </c:pt>
                <c:pt idx="1">
                  <c:v>1.965524</c:v>
                </c:pt>
                <c:pt idx="2">
                  <c:v>2.898324</c:v>
                </c:pt>
                <c:pt idx="3">
                  <c:v>3.800036</c:v>
                </c:pt>
                <c:pt idx="4">
                  <c:v>4.672189</c:v>
                </c:pt>
                <c:pt idx="5">
                  <c:v>5.516213</c:v>
                </c:pt>
                <c:pt idx="6">
                  <c:v>6.333447</c:v>
                </c:pt>
                <c:pt idx="7">
                  <c:v>7.125147</c:v>
                </c:pt>
                <c:pt idx="8">
                  <c:v>7.892491</c:v>
                </c:pt>
                <c:pt idx="9">
                  <c:v>8.636586</c:v>
                </c:pt>
                <c:pt idx="10">
                  <c:v>9.358472</c:v>
                </c:pt>
                <c:pt idx="11">
                  <c:v>10.05913</c:v>
                </c:pt>
                <c:pt idx="12">
                  <c:v>10.739483</c:v>
                </c:pt>
                <c:pt idx="13">
                  <c:v>11.400399</c:v>
                </c:pt>
                <c:pt idx="14">
                  <c:v>12.042701</c:v>
                </c:pt>
                <c:pt idx="15">
                  <c:v>12.667164</c:v>
                </c:pt>
              </c:numCache>
            </c:numRef>
          </c:yVal>
        </c:ser>
        <c:dLbls>
          <c:showLegendKey val="0"/>
          <c:showVal val="0"/>
          <c:showCatName val="0"/>
          <c:showSerName val="0"/>
          <c:showPercent val="0"/>
          <c:showBubbleSize val="0"/>
        </c:dLbls>
        <c:axId val="48650112"/>
        <c:axId val="48672768"/>
      </c:scatterChart>
      <c:valAx>
        <c:axId val="48672768"/>
        <c:scaling>
          <c:orientation val="minMax"/>
          <c:max val="14"/>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es val="autoZero"/>
        <c:crossBetween val="midCat"/>
        <c:majorUnit val="2"/>
      </c:valAx>
      <c:valAx>
        <c:axId val="48650112"/>
        <c:scaling>
          <c:orientation val="minMax"/>
          <c:max val="16"/>
          <c:min val="1"/>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processes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rosses val="autoZero"/>
        <c:crossBetween val="midCat"/>
        <c:majorUnit val="3"/>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5.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4 • fixed 4 MPI processes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autoTitleDeleted val="0"/>
    <c:plotArea>
      <c:lineChart>
        <c:grouping val="standard"/>
        <c:varyColors val="0"/>
        <c:ser>
          <c:idx val="0"/>
          <c:order val="0"/>
          <c:tx>
            <c:v>Hybrid / Task 1</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numRef>
              <c:f>'Chart Data'!$A$2:$A$6</c:f>
              <c:numCache>
                <c:formatCode>General</c:formatCode>
                <c:ptCount val="5"/>
                <c:pt idx="0">
                  <c:v>1</c:v>
                </c:pt>
                <c:pt idx="1">
                  <c:v>2</c:v>
                </c:pt>
                <c:pt idx="2">
                  <c:v>4</c:v>
                </c:pt>
                <c:pt idx="3">
                  <c:v>8</c:v>
                </c:pt>
                <c:pt idx="4">
                  <c:v>16</c:v>
                </c:pt>
              </c:numCache>
            </c:numRef>
          </c:cat>
          <c:val>
            <c:numRef>
              <c:f>'Chart Data'!$B$2:$B$6</c:f>
              <c:numCache>
                <c:formatCode>0.0\x</c:formatCode>
                <c:ptCount val="5"/>
                <c:pt idx="0">
                  <c:v>1.012295</c:v>
                </c:pt>
                <c:pt idx="1">
                  <c:v>1.530386</c:v>
                </c:pt>
                <c:pt idx="2">
                  <c:v>2.386353</c:v>
                </c:pt>
                <c:pt idx="3">
                  <c:v>2.358109</c:v>
                </c:pt>
                <c:pt idx="4">
                  <c:v>2.245111</c:v>
                </c:pt>
              </c:numCache>
            </c:numRef>
          </c:val>
          <c:smooth val="0"/>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Threads per MPI process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rosses val="autoZero"/>
        <c:lblOffset val="100"/>
      </c:catAx>
      <c:valAx>
        <c:axId val="48672768"/>
        <c:scaling>
          <c:orientation val="minMax"/>
          <c:max val="2.7"/>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 versus 4-rank Task 1</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es val="autoZero"/>
        <c:crossBetween val="between"/>
        <c:majorUnit val="0.5"/>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6.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Graph 5 • matched total workers</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autoTitleDeleted val="0"/>
    <c:plotArea>
      <c:lineChart>
        <c:grouping val="standard"/>
        <c:varyColors val="0"/>
        <c:ser>
          <c:idx val="0"/>
          <c:order val="0"/>
          <c:tx>
            <c:v>Hybrid MPI × OpenMP</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Ref>
              <c:f>'Chart Data'!$A$2:$A$6</c:f>
              <c:strCache>
                <c:ptCount val="5"/>
                <c:pt idx="0">
                  <c:v>1×1</c:v>
                </c:pt>
                <c:pt idx="1">
                  <c:v>2×1</c:v>
                </c:pt>
                <c:pt idx="2">
                  <c:v>2×2</c:v>
                </c:pt>
                <c:pt idx="3">
                  <c:v>4×2</c:v>
                </c:pt>
                <c:pt idx="4">
                  <c:v>4×4</c:v>
                </c:pt>
              </c:strCache>
            </c:strRef>
          </c:cat>
          <c:val>
            <c:numRef>
              <c:f>'Chart Data'!$B$2:$B$6</c:f>
              <c:numCache>
                <c:formatCode>0.0\x</c:formatCode>
                <c:ptCount val="5"/>
                <c:pt idx="0">
                  <c:v>0.996865</c:v>
                </c:pt>
                <c:pt idx="1">
                  <c:v>1.91408</c:v>
                </c:pt>
                <c:pt idx="2">
                  <c:v>3.515055</c:v>
                </c:pt>
                <c:pt idx="3">
                  <c:v>5.15</c:v>
                </c:pt>
                <c:pt idx="4">
                  <c:v>8.030471</c:v>
                </c:pt>
              </c:numCache>
            </c:numRef>
          </c:val>
          <c:smooth val="0"/>
        </c:ser>
        <c:ser>
          <c:idx val="1"/>
          <c:order val="1"/>
          <c:tx>
            <c:v>OpenMP matched threads</c:v>
          </c:tx>
          <c:spPr>
            <a:ln xmlns:a="http://schemas.openxmlformats.org/drawingml/2006/main" w="21908">
              <a:solidFill>
                <a:srgbClr val="2F855A"/>
              </a:solidFill>
              <a:prstDash val="solid"/>
            </a:ln>
          </c:spPr>
          <c:marker>
            <c:symbol val="circle"/>
            <c:size val="5"/>
            <c:spPr>
              <a:solidFill xmlns:a="http://schemas.openxmlformats.org/drawingml/2006/main">
                <a:srgbClr val="2F855A"/>
              </a:solidFill>
            </c:spPr>
          </c:marker>
          <c:cat>
            <c:strRef>
              <c:f>'Chart Data'!$C$2:$C$6</c:f>
              <c:strCache>
                <c:ptCount val="5"/>
                <c:pt idx="0">
                  <c:v>1×1</c:v>
                </c:pt>
                <c:pt idx="1">
                  <c:v>2×1</c:v>
                </c:pt>
                <c:pt idx="2">
                  <c:v>2×2</c:v>
                </c:pt>
                <c:pt idx="3">
                  <c:v>4×2</c:v>
                </c:pt>
                <c:pt idx="4">
                  <c:v>4×4</c:v>
                </c:pt>
              </c:strCache>
            </c:strRef>
          </c:cat>
          <c:val>
            <c:numRef>
              <c:f>'Chart Data'!$D$2:$D$6</c:f>
              <c:numCache>
                <c:formatCode>0.0\x</c:formatCode>
                <c:ptCount val="5"/>
                <c:pt idx="0">
                  <c:v>1.003352</c:v>
                </c:pt>
                <c:pt idx="1">
                  <c:v>1.547751</c:v>
                </c:pt>
                <c:pt idx="2">
                  <c:v>2.689743</c:v>
                </c:pt>
                <c:pt idx="3">
                  <c:v>4.330398</c:v>
                </c:pt>
                <c:pt idx="4">
                  <c:v>7.064416</c:v>
                </c:pt>
              </c:numCache>
            </c:numRef>
          </c:val>
          <c:smooth val="0"/>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rosses val="autoZero"/>
        <c:lblOffset val="100"/>
      </c:catAx>
      <c:valAx>
        <c:axId val="48672768"/>
        <c:scaling>
          <c:orientation val="minMax"/>
          <c:max val="9"/>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Empirical 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es val="autoZero"/>
        <c:crossBetween val="between"/>
        <c:majorUnit val="2"/>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charts/chart7.xml><?xml version="1.0" encoding="utf-8"?>
<c:chartSpace xmlns:c="http://schemas.openxmlformats.org/drawingml/2006/chart">
  <c:lang val="en-US"/>
  <c:roundedCorners val="1"/>
  <c:style val="2"/>
  <c:chart>
    <c:title>
      <c:tx>
        <c:rich>
          <a:bodyPr xmlns:a="http://schemas.openxmlformats.org/drawingml/2006/main"/>
          <a:lstStyle xmlns:a="http://schemas.openxmlformats.org/drawingml/2006/main"/>
          <a:p xmlns:a="http://schemas.openxmlformats.org/drawingml/2006/main">
            <a:r>
              <a:rPr sz="1125" b="1">
                <a:solidFill>
                  <a:srgbClr val="102A43"/>
                </a:solidFill>
                <a:latin typeface="Arial"/>
                <a:ea typeface="Arial"/>
                <a:cs typeface="Arial"/>
              </a:rPr>
              <a:t>Hybrid empirical versus ideal</a:t>
            </a:r>
          </a:p>
        </c:rich>
      </c:tx>
      <c:overlay val="0"/>
      <c:txPr>
        <a:bodyPr xmlns:a="http://schemas.openxmlformats.org/drawingml/2006/main" anchorCtr="1"/>
        <a:lstStyle xmlns:a="http://schemas.openxmlformats.org/drawingml/2006/main"/>
        <a:p xmlns:a="http://schemas.openxmlformats.org/drawingml/2006/main">
          <a:pPr>
            <a:defRPr sz="1125" b="1">
              <a:solidFill>
                <a:srgbClr val="102A43"/>
              </a:solidFill>
              <a:latin typeface="Arial"/>
              <a:ea typeface="Arial"/>
              <a:cs typeface="Arial"/>
            </a:defRPr>
          </a:pPr>
        </a:p>
      </c:txPr>
    </c:title>
    <c:autoTitleDeleted val="0"/>
    <c:plotArea>
      <c:lineChart>
        <c:grouping val="standard"/>
        <c:varyColors val="0"/>
        <c:ser>
          <c:idx val="0"/>
          <c:order val="0"/>
          <c:tx>
            <c:v>Empirical</c:v>
          </c:tx>
          <c:spPr>
            <a:ln xmlns:a="http://schemas.openxmlformats.org/drawingml/2006/main" w="21908">
              <a:solidFill>
                <a:srgbClr val="7957A5"/>
              </a:solidFill>
              <a:prstDash val="solid"/>
            </a:ln>
          </c:spPr>
          <c:marker>
            <c:symbol val="circle"/>
            <c:size val="5"/>
            <c:spPr>
              <a:solidFill xmlns:a="http://schemas.openxmlformats.org/drawingml/2006/main">
                <a:srgbClr val="7957A5"/>
              </a:solidFill>
            </c:spPr>
          </c:marker>
          <c:cat>
            <c:strRef>
              <c:f>'Chart Data'!$A$2:$A$8</c:f>
              <c:strCache>
                <c:ptCount val="7"/>
                <c:pt idx="0">
                  <c:v>1×1</c:v>
                </c:pt>
                <c:pt idx="1">
                  <c:v>2×1</c:v>
                </c:pt>
                <c:pt idx="2">
                  <c:v>2×2</c:v>
                </c:pt>
                <c:pt idx="3">
                  <c:v>4×2</c:v>
                </c:pt>
                <c:pt idx="4">
                  <c:v>4×4</c:v>
                </c:pt>
                <c:pt idx="5">
                  <c:v>4×8</c:v>
                </c:pt>
                <c:pt idx="6">
                  <c:v>4×16</c:v>
                </c:pt>
              </c:strCache>
            </c:strRef>
          </c:cat>
          <c:val>
            <c:numRef>
              <c:f>'Chart Data'!$B$2:$B$8</c:f>
              <c:numCache>
                <c:formatCode>0.0\x</c:formatCode>
                <c:ptCount val="7"/>
                <c:pt idx="0">
                  <c:v>0.996865</c:v>
                </c:pt>
                <c:pt idx="1">
                  <c:v>1.91408</c:v>
                </c:pt>
                <c:pt idx="2">
                  <c:v>3.515055</c:v>
                </c:pt>
                <c:pt idx="3">
                  <c:v>5.15</c:v>
                </c:pt>
                <c:pt idx="4">
                  <c:v>8.030471</c:v>
                </c:pt>
                <c:pt idx="5">
                  <c:v>7.935425</c:v>
                </c:pt>
                <c:pt idx="6">
                  <c:v>7.555168</c:v>
                </c:pt>
              </c:numCache>
            </c:numRef>
          </c:val>
          <c:smooth val="0"/>
        </c:ser>
        <c:ser>
          <c:idx val="1"/>
          <c:order val="1"/>
          <c:tx>
            <c:v>Amdahl ideal</c:v>
          </c:tx>
          <c:spPr>
            <a:ln xmlns:a="http://schemas.openxmlformats.org/drawingml/2006/main" w="21908">
              <a:solidFill>
                <a:srgbClr val="F28E2B"/>
              </a:solidFill>
              <a:prstDash val="solid"/>
            </a:ln>
          </c:spPr>
          <c:marker>
            <c:symbol val="circle"/>
            <c:size val="5"/>
            <c:spPr>
              <a:solidFill xmlns:a="http://schemas.openxmlformats.org/drawingml/2006/main">
                <a:srgbClr val="F28E2B"/>
              </a:solidFill>
            </c:spPr>
          </c:marker>
          <c:cat>
            <c:strRef>
              <c:f>'Chart Data'!$C$2:$C$8</c:f>
              <c:strCache>
                <c:ptCount val="7"/>
                <c:pt idx="0">
                  <c:v>1×1</c:v>
                </c:pt>
                <c:pt idx="1">
                  <c:v>2×1</c:v>
                </c:pt>
                <c:pt idx="2">
                  <c:v>2×2</c:v>
                </c:pt>
                <c:pt idx="3">
                  <c:v>4×2</c:v>
                </c:pt>
                <c:pt idx="4">
                  <c:v>4×4</c:v>
                </c:pt>
                <c:pt idx="5">
                  <c:v>4×8</c:v>
                </c:pt>
                <c:pt idx="6">
                  <c:v>4×16</c:v>
                </c:pt>
              </c:strCache>
            </c:strRef>
          </c:cat>
          <c:val>
            <c:numRef>
              <c:f>'Chart Data'!$D$2:$D$8</c:f>
              <c:numCache>
                <c:formatCode>0.0\x</c:formatCode>
                <c:ptCount val="7"/>
                <c:pt idx="0">
                  <c:v>1</c:v>
                </c:pt>
                <c:pt idx="1">
                  <c:v>1.966521</c:v>
                </c:pt>
                <c:pt idx="2">
                  <c:v>3.805633</c:v>
                </c:pt>
                <c:pt idx="3">
                  <c:v>7.148145</c:v>
                </c:pt>
                <c:pt idx="4">
                  <c:v>12.745273</c:v>
                </c:pt>
                <c:pt idx="5">
                  <c:v>20.945709</c:v>
                </c:pt>
                <c:pt idx="6">
                  <c:v>30.879939</c:v>
                </c:pt>
              </c:numCache>
            </c:numRef>
          </c:val>
          <c:smooth val="0"/>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MPI ranks × threads</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72768"/>
        <c:crosses val="autoZero"/>
        <c:lblOffset val="100"/>
      </c:catAx>
      <c:valAx>
        <c:axId val="48672768"/>
        <c:scaling>
          <c:orientation val="minMax"/>
          <c:max val="40"/>
          <c:min val="0"/>
        </c:scaling>
        <c:delete val="0"/>
        <c:axPos val="l"/>
        <c:majorGridlines>
          <c:spPr>
            <a:ln xmlns:a="http://schemas.openxmlformats.org/drawingml/2006/main" w="9525">
              <a:solidFill>
                <a:srgbClr val="E7EDF3"/>
              </a:solidFill>
              <a:prstDash val="solid"/>
            </a:ln>
          </c:spPr>
        </c:majorGridlines>
        <c:title>
          <c:tx>
            <c:rich>
              <a:bodyPr xmlns:a="http://schemas.openxmlformats.org/drawingml/2006/main"/>
              <a:lstStyle xmlns:a="http://schemas.openxmlformats.org/drawingml/2006/main"/>
              <a:p xmlns:a="http://schemas.openxmlformats.org/drawingml/2006/main">
                <a:r>
                  <a:rPr sz="825" b="1">
                    <a:solidFill>
                      <a:srgbClr val="486581"/>
                    </a:solidFill>
                    <a:latin typeface="Arial"/>
                    <a:ea typeface="Arial"/>
                    <a:cs typeface="Arial"/>
                  </a:rPr>
                  <a:t>Speedup</a:t>
                </a:r>
              </a:p>
            </c:rich>
          </c:tx>
          <c:overlay val="0"/>
          <c:txPr>
            <a:bodyPr xmlns:a="http://schemas.openxmlformats.org/drawingml/2006/main" anchorCtr="1"/>
            <a:lstStyle xmlns:a="http://schemas.openxmlformats.org/drawingml/2006/main"/>
            <a:p xmlns:a="http://schemas.openxmlformats.org/drawingml/2006/main">
              <a:pPr>
                <a:defRPr sz="825" b="1">
                  <a:solidFill>
                    <a:srgbClr val="486581"/>
                  </a:solidFill>
                  <a:latin typeface="Arial"/>
                  <a:ea typeface="Arial"/>
                  <a:cs typeface="Arial"/>
                </a:defRPr>
              </a:pPr>
            </a:p>
          </c:txPr>
        </c:title>
        <c:numFmt formatCode="0.0\x" sourceLinked="1"/>
        <c:majorTickMark val="none"/>
        <c:minorTickMark val="none"/>
        <c:tickLblPos val="nextTo"/>
        <c:spPr>
          <a:ln xmlns:a="http://schemas.openxmlformats.org/drawingml/2006/main" w="9525">
            <a:solidFill>
              <a:srgbClr val="D9E2EC"/>
            </a:solidFill>
            <a:prstDash val="solid"/>
          </a:ln>
        </c:spPr>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crossAx val="48650112"/>
        <c:crosses val="autoZero"/>
        <c:crossBetween val="between"/>
        <c:majorUnit val="10"/>
      </c:valAx>
      <c:spPr>
        <a:solidFill xmlns:a="http://schemas.openxmlformats.org/drawingml/2006/main">
          <a:srgbClr val="FFFFFF"/>
        </a:solidFill>
        <a:ln xmlns:a="http://schemas.openxmlformats.org/drawingml/2006/main" w="9525">
          <a:solidFill>
            <a:srgbClr val="EEF2F6"/>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750" b="0">
              <a:solidFill>
                <a:srgbClr val="486581"/>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9525">
      <a:solidFill>
        <a:srgbClr val="D9E2EC"/>
      </a:solidFill>
      <a:prstDash val="solid"/>
    </a:ln>
  </c:spPr>
</c:chartSpace>
</file>

<file path=ppt/slides/slide1.xml><?xml version="1.0" encoding="utf-8"?>
<p:sld xmlns:p="http://schemas.openxmlformats.org/presentationml/2006/main">
  <p:cSld>
    <p:bg>
      <p:bgPr>
        <a:solidFill xmlns:a="http://schemas.openxmlformats.org/drawingml/2006/main">
          <a:srgbClr val="005F66"/>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A3E0560C-9B5F-4444-B9CF-F5C4FD917B8E}"/>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835972E7-14C1-4DC6-A17C-FCEE1A3029A6}"/>
              </a:ext>
            </a:extLst>
          </p:cNvPr>
          <p:cNvSpPr>
            <a:spLocks xmlns:a="http://schemas.openxmlformats.org/drawingml/2006/main" noGrp="1"/>
          </p:cNvSpPr>
          <p:nvPr/>
        </p:nvSpPr>
        <p:spPr>
          <a:xfrm xmlns:a="http://schemas.openxmlformats.org/drawingml/2006/main">
            <a:off x="704850" y="704850"/>
            <a:ext cx="6191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buNone/>
              <a:defRPr sz="1125" b="1" i="0">
                <a:solidFill>
                  <a:srgbClr val="B7E7E5"/>
                </a:solidFill>
                <a:latin typeface="Arial"/>
                <a:ea typeface="Arial"/>
                <a:cs typeface="Arial"/>
              </a:defRPr>
            </a:pPr>
            <a:r>
              <a:rPr sz="1125" b="1" i="0">
                <a:solidFill>
                  <a:srgbClr val="B7E7E5"/>
                </a:solidFill>
                <a:latin typeface="Arial"/>
                <a:ea typeface="Arial"/>
                <a:cs typeface="Arial"/>
              </a:rPr>
              <a:t>FIT3143 • PARALLEL COMPUTING</a:t>
            </a:r>
          </a:p>
        </p:txBody>
      </p:sp>
      <p:sp>
        <p:nvSpPr>
          <p:cNvPr id="3" name="Rectangle 2">
            <a:extLst xmlns:a="http://schemas.openxmlformats.org/drawingml/2006/main">
              <a:ext uri="{FF2B5EF4-FFF2-40B4-BE49-F238E27FC236}">
                <a16:creationId xmlns:a16="http://schemas.microsoft.com/office/drawing/2014/main" id="{43049D99-5238-45FB-9B40-9A3C062CDA6F}"/>
              </a:ext>
            </a:extLst>
          </p:cNvPr>
          <p:cNvSpPr>
            <a:spLocks xmlns:a="http://schemas.openxmlformats.org/drawingml/2006/main" noGrp="1"/>
          </p:cNvSpPr>
          <p:nvPr/>
        </p:nvSpPr>
        <p:spPr>
          <a:xfrm xmlns:a="http://schemas.openxmlformats.org/drawingml/2006/main">
            <a:off x="704850" y="1285875"/>
            <a:ext cx="10096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3900" b="1" i="0">
                <a:solidFill>
                  <a:srgbClr val="FFFFFF"/>
                </a:solidFill>
                <a:latin typeface="Arial"/>
                <a:ea typeface="Arial"/>
                <a:cs typeface="Arial"/>
              </a:defRPr>
            </a:pPr>
            <a:r>
              <a:rPr sz="3900" b="1" i="0">
                <a:solidFill>
                  <a:srgbClr val="FFFFFF"/>
                </a:solidFill>
                <a:latin typeface="Arial"/>
                <a:ea typeface="Arial"/>
                <a:cs typeface="Arial"/>
              </a:rPr>
              <a:t>Prime Search at Scale</a:t>
            </a:r>
          </a:p>
        </p:txBody>
      </p:sp>
      <p:sp>
        <p:nvSpPr>
          <p:cNvPr id="4" name="Rectangle 3">
            <a:extLst xmlns:a="http://schemas.openxmlformats.org/drawingml/2006/main">
              <a:ext uri="{FF2B5EF4-FFF2-40B4-BE49-F238E27FC236}">
                <a16:creationId xmlns:a16="http://schemas.microsoft.com/office/drawing/2014/main" id="{604D3550-A2D8-4B49-A2A7-68D6F035EDCE}"/>
              </a:ext>
            </a:extLst>
          </p:cNvPr>
          <p:cNvSpPr>
            <a:spLocks xmlns:a="http://schemas.openxmlformats.org/drawingml/2006/main" noGrp="1"/>
          </p:cNvSpPr>
          <p:nvPr/>
        </p:nvSpPr>
        <p:spPr>
          <a:xfrm xmlns:a="http://schemas.openxmlformats.org/drawingml/2006/main">
            <a:off x="704850" y="2114550"/>
            <a:ext cx="904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175" b="0" i="0">
                <a:solidFill>
                  <a:srgbClr val="D4F4F2"/>
                </a:solidFill>
                <a:latin typeface="Arial"/>
                <a:ea typeface="Arial"/>
                <a:cs typeface="Arial"/>
              </a:defRPr>
            </a:pPr>
            <a:r>
              <a:rPr sz="2175" b="0" i="0">
                <a:solidFill>
                  <a:srgbClr val="D4F4F2"/>
                </a:solidFill>
                <a:latin typeface="Arial"/>
                <a:ea typeface="Arial"/>
                <a:cs typeface="Arial"/>
              </a:rPr>
              <a:t>Open MPI and hybrid MPI + OpenMP</a:t>
            </a:r>
          </a:p>
        </p:txBody>
      </p:sp>
      <p:sp>
        <p:nvSpPr>
          <p:cNvPr id="5" name="Rectangle 4">
            <a:extLst xmlns:a="http://schemas.openxmlformats.org/drawingml/2006/main">
              <a:ext uri="{FF2B5EF4-FFF2-40B4-BE49-F238E27FC236}">
                <a16:creationId xmlns:a16="http://schemas.microsoft.com/office/drawing/2014/main" id="{8659ECC9-EE52-47D3-8976-E2C34E0C9DF6}"/>
              </a:ext>
            </a:extLst>
          </p:cNvPr>
          <p:cNvSpPr>
            <a:spLocks xmlns:a="http://schemas.openxmlformats.org/drawingml/2006/main" noGrp="1"/>
          </p:cNvSpPr>
          <p:nvPr/>
        </p:nvSpPr>
        <p:spPr>
          <a:xfrm xmlns:a="http://schemas.openxmlformats.org/drawingml/2006/main">
            <a:off x="704850" y="3028950"/>
            <a:ext cx="4476750" cy="47625"/>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E0FE9C5A-00EF-4DB8-A13C-982370ABE1BA}"/>
              </a:ext>
            </a:extLst>
          </p:cNvPr>
          <p:cNvSpPr>
            <a:spLocks xmlns:a="http://schemas.openxmlformats.org/drawingml/2006/main" noGrp="1"/>
          </p:cNvSpPr>
          <p:nvPr/>
        </p:nvSpPr>
        <p:spPr>
          <a:xfrm xmlns:a="http://schemas.openxmlformats.org/drawingml/2006/main">
            <a:off x="704850" y="3333750"/>
            <a:ext cx="876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2424"/>
          </a:bodyPr>
          <a:lstStyle xmlns:a="http://schemas.openxmlformats.org/drawingml/2006/main"/>
          <a:p xmlns:a="http://schemas.openxmlformats.org/drawingml/2006/main">
            <a:pPr algn="l">
              <a:buNone/>
              <a:defRPr sz="1650" b="0" i="0">
                <a:solidFill>
                  <a:srgbClr val="FFFFFF"/>
                </a:solidFill>
                <a:latin typeface="Arial"/>
                <a:ea typeface="Arial"/>
                <a:cs typeface="Arial"/>
              </a:defRPr>
            </a:pPr>
            <a:r>
              <a:rPr sz="1650" b="0" i="0">
                <a:solidFill>
                  <a:srgbClr val="FFFFFF"/>
                </a:solidFill>
                <a:latin typeface="Arial"/>
                <a:ea typeface="Arial"/>
                <a:cs typeface="Arial"/>
              </a:rPr>
              <a:t>Correctness • workload balance • measured scalability</a:t>
            </a:r>
          </a:p>
        </p:txBody>
      </p:sp>
      <p:sp>
        <p:nvSpPr>
          <p:cNvPr id="7" name="Rectangle 6">
            <a:extLst xmlns:a="http://schemas.openxmlformats.org/drawingml/2006/main">
              <a:ext uri="{FF2B5EF4-FFF2-40B4-BE49-F238E27FC236}">
                <a16:creationId xmlns:a16="http://schemas.microsoft.com/office/drawing/2014/main" id="{EB82A8EE-478E-434D-A8FB-8F58691F1850}"/>
              </a:ext>
            </a:extLst>
          </p:cNvPr>
          <p:cNvSpPr>
            <a:spLocks xmlns:a="http://schemas.openxmlformats.org/drawingml/2006/main" noGrp="1"/>
          </p:cNvSpPr>
          <p:nvPr/>
        </p:nvSpPr>
        <p:spPr>
          <a:xfrm xmlns:a="http://schemas.openxmlformats.org/drawingml/2006/main">
            <a:off x="704850" y="4810125"/>
            <a:ext cx="7810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425" b="0" i="0">
                <a:solidFill>
                  <a:srgbClr val="FFFFFF"/>
                </a:solidFill>
                <a:latin typeface="Arial"/>
                <a:ea typeface="Arial"/>
                <a:cs typeface="Arial"/>
              </a:defRPr>
            </a:pPr>
            <a:r>
              <a:rPr sz="1425" b="0" i="0">
                <a:solidFill>
                  <a:srgbClr val="FFFFFF"/>
                </a:solidFill>
                <a:latin typeface="Arial"/>
                <a:ea typeface="Arial"/>
                <a:cs typeface="Arial"/>
              </a:rPr>
              <a:t>Savin Vindiv De Alwis (35221631)</a:t>
            </a:r>
          </a:p>
          <a:p xmlns:a="http://schemas.openxmlformats.org/drawingml/2006/main">
            <a:pPr algn="l">
              <a:buNone/>
              <a:defRPr sz="1425" b="0" i="0">
                <a:solidFill>
                  <a:srgbClr val="FFFFFF"/>
                </a:solidFill>
                <a:latin typeface="Arial"/>
                <a:ea typeface="Arial"/>
                <a:cs typeface="Arial"/>
              </a:defRPr>
            </a:pPr>
            <a:r>
              <a:rPr sz="1425" b="0" i="0">
                <a:solidFill>
                  <a:srgbClr val="FFFFFF"/>
                </a:solidFill>
                <a:latin typeface="Arial"/>
                <a:ea typeface="Arial"/>
                <a:cs typeface="Arial"/>
              </a:rPr>
              <a:t>Willwara Arachchilage Shamle Imal Thilaksiri (35512075)</a:t>
            </a:r>
          </a:p>
        </p:txBody>
      </p:sp>
      <p:sp>
        <p:nvSpPr>
          <p:cNvPr id="8" name="Rectangle 7">
            <a:extLst xmlns:a="http://schemas.openxmlformats.org/drawingml/2006/main">
              <a:ext uri="{FF2B5EF4-FFF2-40B4-BE49-F238E27FC236}">
                <a16:creationId xmlns:a16="http://schemas.microsoft.com/office/drawing/2014/main" id="{7FF5BA8E-9265-46F3-AD73-C49E6B1BA085}"/>
              </a:ext>
            </a:extLst>
          </p:cNvPr>
          <p:cNvSpPr>
            <a:spLocks xmlns:a="http://schemas.openxmlformats.org/drawingml/2006/main" noGrp="1"/>
          </p:cNvSpPr>
          <p:nvPr/>
        </p:nvSpPr>
        <p:spPr>
          <a:xfrm xmlns:a="http://schemas.openxmlformats.org/drawingml/2006/main">
            <a:off x="704850" y="5905500"/>
            <a:ext cx="4000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000"/>
          </a:bodyPr>
          <a:lstStyle xmlns:a="http://schemas.openxmlformats.org/drawingml/2006/main"/>
          <a:p xmlns:a="http://schemas.openxmlformats.org/drawingml/2006/main">
            <a:pPr algn="l">
              <a:buNone/>
              <a:defRPr sz="1125" b="1" i="0">
                <a:solidFill>
                  <a:srgbClr val="B7E7E5"/>
                </a:solidFill>
                <a:latin typeface="Arial"/>
                <a:ea typeface="Arial"/>
                <a:cs typeface="Arial"/>
              </a:defRPr>
            </a:pPr>
            <a:r>
              <a:rPr sz="1125" b="1" i="0">
                <a:solidFill>
                  <a:srgbClr val="B7E7E5"/>
                </a:solidFill>
                <a:latin typeface="Arial"/>
                <a:ea typeface="Arial"/>
                <a:cs typeface="Arial"/>
              </a:rPr>
              <a:t>Main presentation: 6 min 25 s</a:t>
            </a:r>
          </a:p>
        </p:txBody>
      </p:sp>
    </p:spTree>
    <p:extLst>
      <p:ext uri="{BB962C8B-B14F-4D97-AF65-F5344CB8AC3E}">
        <p14:creationId xmlns:p14="http://schemas.microsoft.com/office/powerpoint/2010/main" val="728995524"/>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0" name="Rectangle 29">
            <a:extLst xmlns:a="http://schemas.openxmlformats.org/drawingml/2006/main">
              <a:ext uri="{FF2B5EF4-FFF2-40B4-BE49-F238E27FC236}">
                <a16:creationId xmlns:a16="http://schemas.microsoft.com/office/drawing/2014/main" id="{80D4510F-24D0-49AD-96B0-BCD1BF60974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B0D80DDA-D276-4CAC-B51C-B62B5349D5FE}"/>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Rectangle 2">
            <a:extLst xmlns:a="http://schemas.openxmlformats.org/drawingml/2006/main">
              <a:ext uri="{FF2B5EF4-FFF2-40B4-BE49-F238E27FC236}">
                <a16:creationId xmlns:a16="http://schemas.microsoft.com/office/drawing/2014/main" id="{CAABEB4C-D020-4713-8FD5-F173697B961A}"/>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Experimental setup and correctness</a:t>
            </a:r>
          </a:p>
        </p:txBody>
      </p:sp>
      <p:sp>
        <p:nvSpPr>
          <p:cNvPr id="4" name="Rectangle 3">
            <a:extLst xmlns:a="http://schemas.openxmlformats.org/drawingml/2006/main">
              <a:ext uri="{FF2B5EF4-FFF2-40B4-BE49-F238E27FC236}">
                <a16:creationId xmlns:a16="http://schemas.microsoft.com/office/drawing/2014/main" id="{FCC61126-EC00-4AD4-B889-E4DA4094F6B5}"/>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2 / 9</a:t>
            </a:r>
          </a:p>
        </p:txBody>
      </p:sp>
      <p:sp>
        <p:nvSpPr>
          <p:cNvPr id="5" name="Rectangle: Rounded Corners 4">
            <a:extLst xmlns:a="http://schemas.openxmlformats.org/drawingml/2006/main">
              <a:ext uri="{FF2B5EF4-FFF2-40B4-BE49-F238E27FC236}">
                <a16:creationId xmlns:a16="http://schemas.microsoft.com/office/drawing/2014/main" id="{CBFC2D72-0380-44E9-9363-66455AB1D371}"/>
              </a:ext>
            </a:extLst>
          </p:cNvPr>
          <p:cNvSpPr>
            <a:spLocks xmlns:a="http://schemas.openxmlformats.org/drawingml/2006/main" noGrp="1"/>
          </p:cNvSpPr>
          <p:nvPr/>
        </p:nvSpPr>
        <p:spPr>
          <a:xfrm xmlns:a="http://schemas.openxmlformats.org/drawingml/2006/main">
            <a:off x="5524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6AF7FA6B-61A2-432D-A7E2-03ED9BE3967A}"/>
              </a:ext>
            </a:extLst>
          </p:cNvPr>
          <p:cNvSpPr>
            <a:spLocks xmlns:a="http://schemas.openxmlformats.org/drawingml/2006/main" noGrp="1"/>
          </p:cNvSpPr>
          <p:nvPr/>
        </p:nvSpPr>
        <p:spPr>
          <a:xfrm xmlns:a="http://schemas.openxmlformats.org/drawingml/2006/main">
            <a:off x="552450" y="1162050"/>
            <a:ext cx="66675" cy="142875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D556C454-863A-4DC1-9231-C112D24ED769}"/>
              </a:ext>
            </a:extLst>
          </p:cNvPr>
          <p:cNvSpPr>
            <a:spLocks xmlns:a="http://schemas.openxmlformats.org/drawingml/2006/main" noGrp="1"/>
          </p:cNvSpPr>
          <p:nvPr/>
        </p:nvSpPr>
        <p:spPr>
          <a:xfrm xmlns:a="http://schemas.openxmlformats.org/drawingml/2006/main">
            <a:off x="7620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buNone/>
              <a:defRPr sz="975" b="1" i="0">
                <a:solidFill>
                  <a:srgbClr val="486581"/>
                </a:solidFill>
                <a:latin typeface="Arial"/>
                <a:ea typeface="Arial"/>
                <a:cs typeface="Arial"/>
              </a:defRPr>
            </a:pPr>
            <a:r>
              <a:rPr sz="975" b="1" i="0">
                <a:solidFill>
                  <a:srgbClr val="486581"/>
                </a:solidFill>
                <a:latin typeface="Arial"/>
                <a:ea typeface="Arial"/>
                <a:cs typeface="Arial"/>
              </a:rPr>
              <a:t>PLATFORM</a:t>
            </a:r>
          </a:p>
        </p:txBody>
      </p:sp>
      <p:sp>
        <p:nvSpPr>
          <p:cNvPr id="8" name="Rectangle 7">
            <a:extLst xmlns:a="http://schemas.openxmlformats.org/drawingml/2006/main">
              <a:ext uri="{FF2B5EF4-FFF2-40B4-BE49-F238E27FC236}">
                <a16:creationId xmlns:a16="http://schemas.microsoft.com/office/drawing/2014/main" id="{F8E48BF1-66F1-48A8-98B9-B7E15362253D}"/>
              </a:ext>
            </a:extLst>
          </p:cNvPr>
          <p:cNvSpPr>
            <a:spLocks xmlns:a="http://schemas.openxmlformats.org/drawingml/2006/main" noGrp="1"/>
          </p:cNvSpPr>
          <p:nvPr/>
        </p:nvSpPr>
        <p:spPr>
          <a:xfrm xmlns:a="http://schemas.openxmlformats.org/drawingml/2006/main">
            <a:off x="7620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025" b="1" i="0">
                <a:solidFill>
                  <a:srgbClr val="102A43"/>
                </a:solidFill>
                <a:latin typeface="Arial"/>
                <a:ea typeface="Arial"/>
                <a:cs typeface="Arial"/>
              </a:defRPr>
            </a:pPr>
            <a:r>
              <a:rPr sz="2025" b="1" i="0">
                <a:solidFill>
                  <a:srgbClr val="102A43"/>
                </a:solidFill>
                <a:latin typeface="Arial"/>
                <a:ea typeface="Arial"/>
                <a:cs typeface="Arial"/>
              </a:rPr>
              <a:t>1 node • 14C / 20T</a:t>
            </a:r>
          </a:p>
        </p:txBody>
      </p:sp>
      <p:sp>
        <p:nvSpPr>
          <p:cNvPr id="9" name="Rectangle 8">
            <a:extLst xmlns:a="http://schemas.openxmlformats.org/drawingml/2006/main">
              <a:ext uri="{FF2B5EF4-FFF2-40B4-BE49-F238E27FC236}">
                <a16:creationId xmlns:a16="http://schemas.microsoft.com/office/drawing/2014/main" id="{AD35B6A2-D7E3-4B01-94B1-978C8BEC6638}"/>
              </a:ext>
            </a:extLst>
          </p:cNvPr>
          <p:cNvSpPr>
            <a:spLocks xmlns:a="http://schemas.openxmlformats.org/drawingml/2006/main" noGrp="1"/>
          </p:cNvSpPr>
          <p:nvPr/>
        </p:nvSpPr>
        <p:spPr>
          <a:xfrm xmlns:a="http://schemas.openxmlformats.org/drawingml/2006/main">
            <a:off x="7620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WSL2 Ubuntu • Open MPI 4.1.6</a:t>
            </a:r>
          </a:p>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Intel Core i7-13700H</a:t>
            </a:r>
          </a:p>
        </p:txBody>
      </p:sp>
      <p:sp>
        <p:nvSpPr>
          <p:cNvPr id="10" name="Rectangle: Rounded Corners 9">
            <a:extLst xmlns:a="http://schemas.openxmlformats.org/drawingml/2006/main">
              <a:ext uri="{FF2B5EF4-FFF2-40B4-BE49-F238E27FC236}">
                <a16:creationId xmlns:a16="http://schemas.microsoft.com/office/drawing/2014/main" id="{3FB29FCE-07A3-4F7C-BBA8-10BF9FDA09D5}"/>
              </a:ext>
            </a:extLst>
          </p:cNvPr>
          <p:cNvSpPr>
            <a:spLocks xmlns:a="http://schemas.openxmlformats.org/drawingml/2006/main" noGrp="1"/>
          </p:cNvSpPr>
          <p:nvPr/>
        </p:nvSpPr>
        <p:spPr>
          <a:xfrm xmlns:a="http://schemas.openxmlformats.org/drawingml/2006/main">
            <a:off x="438150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5F1AC429-4968-4F8D-BBE4-34D601917B12}"/>
              </a:ext>
            </a:extLst>
          </p:cNvPr>
          <p:cNvSpPr>
            <a:spLocks xmlns:a="http://schemas.openxmlformats.org/drawingml/2006/main" noGrp="1"/>
          </p:cNvSpPr>
          <p:nvPr/>
        </p:nvSpPr>
        <p:spPr>
          <a:xfrm xmlns:a="http://schemas.openxmlformats.org/drawingml/2006/main">
            <a:off x="4381500" y="1162050"/>
            <a:ext cx="66675" cy="14287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A5526DE5-204C-4CB2-ABBD-42512FF5CB5B}"/>
              </a:ext>
            </a:extLst>
          </p:cNvPr>
          <p:cNvSpPr>
            <a:spLocks xmlns:a="http://schemas.openxmlformats.org/drawingml/2006/main" noGrp="1"/>
          </p:cNvSpPr>
          <p:nvPr/>
        </p:nvSpPr>
        <p:spPr>
          <a:xfrm xmlns:a="http://schemas.openxmlformats.org/drawingml/2006/main">
            <a:off x="459105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buNone/>
              <a:defRPr sz="975" b="1" i="0">
                <a:solidFill>
                  <a:srgbClr val="486581"/>
                </a:solidFill>
                <a:latin typeface="Arial"/>
                <a:ea typeface="Arial"/>
                <a:cs typeface="Arial"/>
              </a:defRPr>
            </a:pPr>
            <a:r>
              <a:rPr sz="975" b="1" i="0">
                <a:solidFill>
                  <a:srgbClr val="486581"/>
                </a:solidFill>
                <a:latin typeface="Arial"/>
                <a:ea typeface="Arial"/>
                <a:cs typeface="Arial"/>
              </a:rPr>
              <a:t>PRIMARY WORKLOAD</a:t>
            </a:r>
          </a:p>
        </p:txBody>
      </p:sp>
      <p:sp>
        <p:nvSpPr>
          <p:cNvPr id="13" name="Rectangle 12">
            <a:extLst xmlns:a="http://schemas.openxmlformats.org/drawingml/2006/main">
              <a:ext uri="{FF2B5EF4-FFF2-40B4-BE49-F238E27FC236}">
                <a16:creationId xmlns:a16="http://schemas.microsoft.com/office/drawing/2014/main" id="{0E6C954D-B61A-4142-8E44-DEB8B0A4BDCF}"/>
              </a:ext>
            </a:extLst>
          </p:cNvPr>
          <p:cNvSpPr>
            <a:spLocks xmlns:a="http://schemas.openxmlformats.org/drawingml/2006/main" noGrp="1"/>
          </p:cNvSpPr>
          <p:nvPr/>
        </p:nvSpPr>
        <p:spPr>
          <a:xfrm xmlns:a="http://schemas.openxmlformats.org/drawingml/2006/main">
            <a:off x="459105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025" b="1" i="0">
                <a:solidFill>
                  <a:srgbClr val="102A43"/>
                </a:solidFill>
                <a:latin typeface="Arial"/>
                <a:ea typeface="Arial"/>
                <a:cs typeface="Arial"/>
              </a:defRPr>
            </a:pPr>
            <a:r>
              <a:rPr sz="2025" b="1" i="0">
                <a:solidFill>
                  <a:srgbClr val="102A43"/>
                </a:solidFill>
                <a:latin typeface="Arial"/>
                <a:ea typeface="Arial"/>
                <a:cs typeface="Arial"/>
              </a:rPr>
              <a:t>n = 60,000,000</a:t>
            </a:r>
          </a:p>
        </p:txBody>
      </p:sp>
      <p:sp>
        <p:nvSpPr>
          <p:cNvPr id="14" name="Rectangle 13">
            <a:extLst xmlns:a="http://schemas.openxmlformats.org/drawingml/2006/main">
              <a:ext uri="{FF2B5EF4-FFF2-40B4-BE49-F238E27FC236}">
                <a16:creationId xmlns:a16="http://schemas.microsoft.com/office/drawing/2014/main" id="{6F267467-628C-433F-B578-D739E6133ABC}"/>
              </a:ext>
            </a:extLst>
          </p:cNvPr>
          <p:cNvSpPr>
            <a:spLocks xmlns:a="http://schemas.openxmlformats.org/drawingml/2006/main" noGrp="1"/>
          </p:cNvSpPr>
          <p:nvPr/>
        </p:nvSpPr>
        <p:spPr>
          <a:xfrm xmlns:a="http://schemas.openxmlformats.org/drawingml/2006/main">
            <a:off x="459105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3,562,115 primes below n</a:t>
            </a:r>
          </a:p>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all output written by rank 0</a:t>
            </a:r>
          </a:p>
        </p:txBody>
      </p:sp>
      <p:sp>
        <p:nvSpPr>
          <p:cNvPr id="15" name="Rectangle: Rounded Corners 14">
            <a:extLst xmlns:a="http://schemas.openxmlformats.org/drawingml/2006/main">
              <a:ext uri="{FF2B5EF4-FFF2-40B4-BE49-F238E27FC236}">
                <a16:creationId xmlns:a16="http://schemas.microsoft.com/office/drawing/2014/main" id="{C082C76A-9BB3-498D-9EA9-D90D386C4547}"/>
              </a:ext>
            </a:extLst>
          </p:cNvPr>
          <p:cNvSpPr>
            <a:spLocks xmlns:a="http://schemas.openxmlformats.org/drawingml/2006/main" noGrp="1"/>
          </p:cNvSpPr>
          <p:nvPr/>
        </p:nvSpPr>
        <p:spPr>
          <a:xfrm xmlns:a="http://schemas.openxmlformats.org/drawingml/2006/main">
            <a:off x="8210550" y="1162050"/>
            <a:ext cx="3429000" cy="1428750"/>
          </a:xfrm>
          <a:prstGeom xmlns:a="http://schemas.openxmlformats.org/drawingml/2006/main" prst="roundRect">
            <a:avLst>
              <a:gd name="adj" fmla="val 5333"/>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BEF5D31B-176B-45B9-B3B1-D9DD47051EF2}"/>
              </a:ext>
            </a:extLst>
          </p:cNvPr>
          <p:cNvSpPr>
            <a:spLocks xmlns:a="http://schemas.openxmlformats.org/drawingml/2006/main" noGrp="1"/>
          </p:cNvSpPr>
          <p:nvPr/>
        </p:nvSpPr>
        <p:spPr>
          <a:xfrm xmlns:a="http://schemas.openxmlformats.org/drawingml/2006/main">
            <a:off x="8210550" y="1162050"/>
            <a:ext cx="66675" cy="14287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17" name="Rectangle 16">
            <a:extLst xmlns:a="http://schemas.openxmlformats.org/drawingml/2006/main">
              <a:ext uri="{FF2B5EF4-FFF2-40B4-BE49-F238E27FC236}">
                <a16:creationId xmlns:a16="http://schemas.microsoft.com/office/drawing/2014/main" id="{96974F7D-7BAB-4581-BBDF-FC9C5EDE1B0B}"/>
              </a:ext>
            </a:extLst>
          </p:cNvPr>
          <p:cNvSpPr>
            <a:spLocks xmlns:a="http://schemas.openxmlformats.org/drawingml/2006/main" noGrp="1"/>
          </p:cNvSpPr>
          <p:nvPr/>
        </p:nvSpPr>
        <p:spPr>
          <a:xfrm xmlns:a="http://schemas.openxmlformats.org/drawingml/2006/main">
            <a:off x="8420100" y="1314450"/>
            <a:ext cx="30670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buNone/>
              <a:defRPr sz="975" b="1" i="0">
                <a:solidFill>
                  <a:srgbClr val="486581"/>
                </a:solidFill>
                <a:latin typeface="Arial"/>
                <a:ea typeface="Arial"/>
                <a:cs typeface="Arial"/>
              </a:defRPr>
            </a:pPr>
            <a:r>
              <a:rPr sz="975" b="1" i="0">
                <a:solidFill>
                  <a:srgbClr val="486581"/>
                </a:solidFill>
                <a:latin typeface="Arial"/>
                <a:ea typeface="Arial"/>
                <a:cs typeface="Arial"/>
              </a:rPr>
              <a:t>COVERAGE</a:t>
            </a:r>
          </a:p>
        </p:txBody>
      </p:sp>
      <p:sp>
        <p:nvSpPr>
          <p:cNvPr id="18" name="Rectangle 17">
            <a:extLst xmlns:a="http://schemas.openxmlformats.org/drawingml/2006/main">
              <a:ext uri="{FF2B5EF4-FFF2-40B4-BE49-F238E27FC236}">
                <a16:creationId xmlns:a16="http://schemas.microsoft.com/office/drawing/2014/main" id="{8847EC91-665B-406E-B8B2-8A149D56EB6F}"/>
              </a:ext>
            </a:extLst>
          </p:cNvPr>
          <p:cNvSpPr>
            <a:spLocks xmlns:a="http://schemas.openxmlformats.org/drawingml/2006/main" noGrp="1"/>
          </p:cNvSpPr>
          <p:nvPr/>
        </p:nvSpPr>
        <p:spPr>
          <a:xfrm xmlns:a="http://schemas.openxmlformats.org/drawingml/2006/main">
            <a:off x="8420100" y="1590675"/>
            <a:ext cx="3067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025" b="1" i="0">
                <a:solidFill>
                  <a:srgbClr val="102A43"/>
                </a:solidFill>
                <a:latin typeface="Arial"/>
                <a:ea typeface="Arial"/>
                <a:cs typeface="Arial"/>
              </a:defRPr>
            </a:pPr>
            <a:r>
              <a:rPr sz="2025" b="1" i="0">
                <a:solidFill>
                  <a:srgbClr val="102A43"/>
                </a:solidFill>
                <a:latin typeface="Arial"/>
                <a:ea typeface="Arial"/>
                <a:cs typeface="Arial"/>
              </a:rPr>
              <a:t>30 n values</a:t>
            </a:r>
          </a:p>
        </p:txBody>
      </p:sp>
      <p:sp>
        <p:nvSpPr>
          <p:cNvPr id="19" name="Rectangle 18">
            <a:extLst xmlns:a="http://schemas.openxmlformats.org/drawingml/2006/main">
              <a:ext uri="{FF2B5EF4-FFF2-40B4-BE49-F238E27FC236}">
                <a16:creationId xmlns:a16="http://schemas.microsoft.com/office/drawing/2014/main" id="{54508CAC-8EC3-4538-ACB8-D3D056F30543}"/>
              </a:ext>
            </a:extLst>
          </p:cNvPr>
          <p:cNvSpPr>
            <a:spLocks xmlns:a="http://schemas.openxmlformats.org/drawingml/2006/main" noGrp="1"/>
          </p:cNvSpPr>
          <p:nvPr/>
        </p:nvSpPr>
        <p:spPr>
          <a:xfrm xmlns:a="http://schemas.openxmlformats.org/drawingml/2006/main">
            <a:off x="8420100" y="2028825"/>
            <a:ext cx="30670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20M–78M • MPI ranks 1–16</a:t>
            </a:r>
          </a:p>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OpenMP threads 1–16 • up to 64 workers</a:t>
            </a:r>
          </a:p>
        </p:txBody>
      </p:sp>
      <p:sp>
        <p:nvSpPr>
          <p:cNvPr id="20" name="Rectangle: Rounded Corners 19">
            <a:extLst xmlns:a="http://schemas.openxmlformats.org/drawingml/2006/main">
              <a:ext uri="{FF2B5EF4-FFF2-40B4-BE49-F238E27FC236}">
                <a16:creationId xmlns:a16="http://schemas.microsoft.com/office/drawing/2014/main" id="{3BA7216D-51DC-4783-B376-4B0D7F91DEEA}"/>
              </a:ext>
            </a:extLst>
          </p:cNvPr>
          <p:cNvSpPr>
            <a:spLocks xmlns:a="http://schemas.openxmlformats.org/drawingml/2006/main" noGrp="1"/>
          </p:cNvSpPr>
          <p:nvPr/>
        </p:nvSpPr>
        <p:spPr>
          <a:xfrm xmlns:a="http://schemas.openxmlformats.org/drawingml/2006/main">
            <a:off x="552450" y="2952750"/>
            <a:ext cx="5334000" cy="2762250"/>
          </a:xfrm>
          <a:prstGeom xmlns:a="http://schemas.openxmlformats.org/drawingml/2006/main" prst="roundRect">
            <a:avLst>
              <a:gd name="adj" fmla="val 2759"/>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525B8D5A-41ED-4F13-AFA2-55B8C86B78D7}"/>
              </a:ext>
            </a:extLst>
          </p:cNvPr>
          <p:cNvSpPr>
            <a:spLocks xmlns:a="http://schemas.openxmlformats.org/drawingml/2006/main" noGrp="1"/>
          </p:cNvSpPr>
          <p:nvPr/>
        </p:nvSpPr>
        <p:spPr>
          <a:xfrm xmlns:a="http://schemas.openxmlformats.org/drawingml/2006/main">
            <a:off x="78105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i="0">
                <a:solidFill>
                  <a:srgbClr val="005F66"/>
                </a:solidFill>
                <a:latin typeface="Arial"/>
                <a:ea typeface="Arial"/>
                <a:cs typeface="Arial"/>
              </a:defRPr>
            </a:pPr>
            <a:r>
              <a:rPr sz="1650" b="1" i="0">
                <a:solidFill>
                  <a:srgbClr val="005F66"/>
                </a:solidFill>
                <a:latin typeface="Arial"/>
                <a:ea typeface="Arial"/>
                <a:cs typeface="Arial"/>
              </a:rPr>
              <a:t>Measurement discipline</a:t>
            </a:r>
          </a:p>
        </p:txBody>
      </p:sp>
      <p:sp>
        <p:nvSpPr>
          <p:cNvPr id="22" name="Rectangle 21">
            <a:extLst xmlns:a="http://schemas.openxmlformats.org/drawingml/2006/main">
              <a:ext uri="{FF2B5EF4-FFF2-40B4-BE49-F238E27FC236}">
                <a16:creationId xmlns:a16="http://schemas.microsoft.com/office/drawing/2014/main" id="{E49884FA-5781-4728-A866-4B74BD2FC95A}"/>
              </a:ext>
            </a:extLst>
          </p:cNvPr>
          <p:cNvSpPr>
            <a:spLocks xmlns:a="http://schemas.openxmlformats.org/drawingml/2006/main" noGrp="1"/>
          </p:cNvSpPr>
          <p:nvPr/>
        </p:nvSpPr>
        <p:spPr>
          <a:xfrm xmlns:a="http://schemas.openxmlformats.org/drawingml/2006/main">
            <a:off x="781050" y="367665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buNone/>
              <a:defRPr sz="1200" b="1" i="0">
                <a:solidFill>
                  <a:srgbClr val="102A43"/>
                </a:solidFill>
                <a:latin typeface="Arial"/>
                <a:ea typeface="Arial"/>
                <a:cs typeface="Arial"/>
              </a:defRPr>
            </a:pPr>
            <a:r>
              <a:rPr sz="1200" b="1" i="0">
                <a:solidFill>
                  <a:srgbClr val="102A43"/>
                </a:solidFill>
                <a:latin typeface="Arial"/>
                <a:ea typeface="Arial"/>
                <a:cs typeface="Arial"/>
              </a:rPr>
              <a:t>Process and hybrid scaling</a:t>
            </a:r>
          </a:p>
        </p:txBody>
      </p:sp>
      <p:sp>
        <p:nvSpPr>
          <p:cNvPr id="23" name="Rectangle 22">
            <a:extLst xmlns:a="http://schemas.openxmlformats.org/drawingml/2006/main">
              <a:ext uri="{FF2B5EF4-FFF2-40B4-BE49-F238E27FC236}">
                <a16:creationId xmlns:a16="http://schemas.microsoft.com/office/drawing/2014/main" id="{0F04437C-185C-44F9-94D7-E273E11DF46F}"/>
              </a:ext>
            </a:extLst>
          </p:cNvPr>
          <p:cNvSpPr>
            <a:spLocks xmlns:a="http://schemas.openxmlformats.org/drawingml/2006/main" noGrp="1"/>
          </p:cNvSpPr>
          <p:nvPr/>
        </p:nvSpPr>
        <p:spPr>
          <a:xfrm xmlns:a="http://schemas.openxmlformats.org/drawingml/2006/main">
            <a:off x="781050" y="394335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275" b="0" i="0">
                <a:solidFill>
                  <a:srgbClr val="486581"/>
                </a:solidFill>
                <a:latin typeface="Arial"/>
                <a:ea typeface="Arial"/>
                <a:cs typeface="Arial"/>
              </a:defRPr>
            </a:pPr>
            <a:r>
              <a:rPr sz="1275" b="0" i="0">
                <a:solidFill>
                  <a:srgbClr val="486581"/>
                </a:solidFill>
                <a:latin typeface="Arial"/>
                <a:ea typeface="Arial"/>
                <a:cs typeface="Arial"/>
              </a:rPr>
              <a:t>Median of 3 end-to-end runs; computation, gather and root post-processing recorded separately.</a:t>
            </a:r>
          </a:p>
        </p:txBody>
      </p:sp>
      <p:sp>
        <p:nvSpPr>
          <p:cNvPr id="24" name="Rectangle 23">
            <a:extLst xmlns:a="http://schemas.openxmlformats.org/drawingml/2006/main">
              <a:ext uri="{FF2B5EF4-FFF2-40B4-BE49-F238E27FC236}">
                <a16:creationId xmlns:a16="http://schemas.microsoft.com/office/drawing/2014/main" id="{AA8CEC99-B882-47DD-B565-66AD76025C80}"/>
              </a:ext>
            </a:extLst>
          </p:cNvPr>
          <p:cNvSpPr>
            <a:spLocks xmlns:a="http://schemas.openxmlformats.org/drawingml/2006/main" noGrp="1"/>
          </p:cNvSpPr>
          <p:nvPr/>
        </p:nvSpPr>
        <p:spPr>
          <a:xfrm xmlns:a="http://schemas.openxmlformats.org/drawingml/2006/main">
            <a:off x="781050" y="4724400"/>
            <a:ext cx="2190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583"/>
          </a:bodyPr>
          <a:lstStyle xmlns:a="http://schemas.openxmlformats.org/drawingml/2006/main"/>
          <a:p xmlns:a="http://schemas.openxmlformats.org/drawingml/2006/main">
            <a:pPr algn="l">
              <a:buNone/>
              <a:defRPr sz="1200" b="1" i="0">
                <a:solidFill>
                  <a:srgbClr val="102A43"/>
                </a:solidFill>
                <a:latin typeface="Arial"/>
                <a:ea typeface="Arial"/>
                <a:cs typeface="Arial"/>
              </a:defRPr>
            </a:pPr>
            <a:r>
              <a:rPr sz="1200" b="1" i="0">
                <a:solidFill>
                  <a:srgbClr val="102A43"/>
                </a:solidFill>
                <a:latin typeface="Arial"/>
                <a:ea typeface="Arial"/>
                <a:cs typeface="Arial"/>
              </a:rPr>
              <a:t>n sweep</a:t>
            </a:r>
          </a:p>
        </p:txBody>
      </p:sp>
      <p:sp>
        <p:nvSpPr>
          <p:cNvPr id="25" name="Rectangle 24">
            <a:extLst xmlns:a="http://schemas.openxmlformats.org/drawingml/2006/main">
              <a:ext uri="{FF2B5EF4-FFF2-40B4-BE49-F238E27FC236}">
                <a16:creationId xmlns:a16="http://schemas.microsoft.com/office/drawing/2014/main" id="{FC9484C0-9F69-4054-8801-8500352EFA00}"/>
              </a:ext>
            </a:extLst>
          </p:cNvPr>
          <p:cNvSpPr>
            <a:spLocks xmlns:a="http://schemas.openxmlformats.org/drawingml/2006/main" noGrp="1"/>
          </p:cNvSpPr>
          <p:nvPr/>
        </p:nvSpPr>
        <p:spPr>
          <a:xfrm xmlns:a="http://schemas.openxmlformats.org/drawingml/2006/main">
            <a:off x="781050" y="4991100"/>
            <a:ext cx="461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275" b="0" i="0">
                <a:solidFill>
                  <a:srgbClr val="486581"/>
                </a:solidFill>
                <a:latin typeface="Arial"/>
                <a:ea typeface="Arial"/>
                <a:cs typeface="Arial"/>
              </a:defRPr>
            </a:pPr>
            <a:r>
              <a:rPr sz="1275" b="0" i="0">
                <a:solidFill>
                  <a:srgbClr val="486581"/>
                </a:solidFill>
                <a:latin typeface="Arial"/>
                <a:ea typeface="Arial"/>
                <a:cs typeface="Arial"/>
              </a:rPr>
              <a:t>One run at every required n; every runtime exceeds one second. Oversubscription is included explicitly.</a:t>
            </a:r>
          </a:p>
        </p:txBody>
      </p:sp>
      <p:sp>
        <p:nvSpPr>
          <p:cNvPr id="26" name="Rectangle: Rounded Corners 25">
            <a:extLst xmlns:a="http://schemas.openxmlformats.org/drawingml/2006/main">
              <a:ext uri="{FF2B5EF4-FFF2-40B4-BE49-F238E27FC236}">
                <a16:creationId xmlns:a16="http://schemas.microsoft.com/office/drawing/2014/main" id="{6F53D617-1080-41CD-8F6E-FD0681CE3A16}"/>
              </a:ext>
            </a:extLst>
          </p:cNvPr>
          <p:cNvSpPr>
            <a:spLocks xmlns:a="http://schemas.openxmlformats.org/drawingml/2006/main" noGrp="1"/>
          </p:cNvSpPr>
          <p:nvPr/>
        </p:nvSpPr>
        <p:spPr>
          <a:xfrm xmlns:a="http://schemas.openxmlformats.org/drawingml/2006/main">
            <a:off x="6210300" y="2952750"/>
            <a:ext cx="5429250" cy="2762250"/>
          </a:xfrm>
          <a:prstGeom xmlns:a="http://schemas.openxmlformats.org/drawingml/2006/main" prst="roundRect">
            <a:avLst>
              <a:gd name="adj" fmla="val 2759"/>
            </a:avLst>
          </a:prstGeom>
          <a:solidFill xmlns:a="http://schemas.openxmlformats.org/drawingml/2006/main">
            <a:srgbClr val="E6FFFA"/>
          </a:solidFill>
          <a:ln xmlns:a="http://schemas.openxmlformats.org/drawingml/2006/main" w="9525">
            <a:solidFill>
              <a:srgbClr val="9ED9D5"/>
            </a:solidFill>
          </a:ln>
        </p:spPr>
        <p:txBody>
          <a:bodyPr xmlns:a="http://schemas.openxmlformats.org/drawingml/2006/main"/>
          <a:lstStyle xmlns:a="http://schemas.openxmlformats.org/drawingml/2006/main"/>
          <a:p xmlns:a="http://schemas.openxmlformats.org/drawingml/2006/main">
            <a:endParaRPr/>
          </a:p>
        </p:txBody>
      </p:sp>
      <p:sp>
        <p:nvSpPr>
          <p:cNvPr id="27" name="Rectangle 26">
            <a:extLst xmlns:a="http://schemas.openxmlformats.org/drawingml/2006/main">
              <a:ext uri="{FF2B5EF4-FFF2-40B4-BE49-F238E27FC236}">
                <a16:creationId xmlns:a16="http://schemas.microsoft.com/office/drawing/2014/main" id="{FA7548F3-661A-46BD-B558-F830D75413E5}"/>
              </a:ext>
            </a:extLst>
          </p:cNvPr>
          <p:cNvSpPr>
            <a:spLocks xmlns:a="http://schemas.openxmlformats.org/drawingml/2006/main" noGrp="1"/>
          </p:cNvSpPr>
          <p:nvPr/>
        </p:nvSpPr>
        <p:spPr>
          <a:xfrm xmlns:a="http://schemas.openxmlformats.org/drawingml/2006/main">
            <a:off x="6477000" y="31813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i="0">
                <a:solidFill>
                  <a:srgbClr val="005F66"/>
                </a:solidFill>
                <a:latin typeface="Arial"/>
                <a:ea typeface="Arial"/>
                <a:cs typeface="Arial"/>
              </a:defRPr>
            </a:pPr>
            <a:r>
              <a:rPr sz="1650" b="1" i="0">
                <a:solidFill>
                  <a:srgbClr val="005F66"/>
                </a:solidFill>
                <a:latin typeface="Arial"/>
                <a:ea typeface="Arial"/>
                <a:cs typeface="Arial"/>
              </a:rPr>
              <a:t>Independent exact validation</a:t>
            </a:r>
          </a:p>
        </p:txBody>
      </p:sp>
      <p:sp>
        <p:nvSpPr>
          <p:cNvPr id="28" name="Rectangle 27">
            <a:extLst xmlns:a="http://schemas.openxmlformats.org/drawingml/2006/main">
              <a:ext uri="{FF2B5EF4-FFF2-40B4-BE49-F238E27FC236}">
                <a16:creationId xmlns:a16="http://schemas.microsoft.com/office/drawing/2014/main" id="{4C6811D6-C103-4093-8C95-D303D9B25BF9}"/>
              </a:ext>
            </a:extLst>
          </p:cNvPr>
          <p:cNvSpPr>
            <a:spLocks xmlns:a="http://schemas.openxmlformats.org/drawingml/2006/main" noGrp="1"/>
          </p:cNvSpPr>
          <p:nvPr/>
        </p:nvSpPr>
        <p:spPr>
          <a:xfrm xmlns:a="http://schemas.openxmlformats.org/drawingml/2006/main">
            <a:off x="6477000" y="3695700"/>
            <a:ext cx="4762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Both programs were compared value-for-value with a separate sieve across MPI ranks 1–5 and thread counts 1–3, including n = 0, 1, 2, 3, 4, 10 and 1000.</a:t>
            </a:r>
          </a:p>
        </p:txBody>
      </p:sp>
      <p:sp>
        <p:nvSpPr>
          <p:cNvPr id="29" name="Rectangle 28">
            <a:extLst xmlns:a="http://schemas.openxmlformats.org/drawingml/2006/main">
              <a:ext uri="{FF2B5EF4-FFF2-40B4-BE49-F238E27FC236}">
                <a16:creationId xmlns:a16="http://schemas.microsoft.com/office/drawing/2014/main" id="{38D96C56-A085-463B-8EF9-5B7DA7324E29}"/>
              </a:ext>
            </a:extLst>
          </p:cNvPr>
          <p:cNvSpPr>
            <a:spLocks xmlns:a="http://schemas.openxmlformats.org/drawingml/2006/main" noGrp="1"/>
          </p:cNvSpPr>
          <p:nvPr/>
        </p:nvSpPr>
        <p:spPr>
          <a:xfrm xmlns:a="http://schemas.openxmlformats.org/drawingml/2006/main">
            <a:off x="6477000" y="49720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425" b="1" i="0">
                <a:solidFill>
                  <a:srgbClr val="2F855A"/>
                </a:solidFill>
                <a:latin typeface="Arial"/>
                <a:ea typeface="Arial"/>
                <a:cs typeface="Arial"/>
              </a:defRPr>
            </a:pPr>
            <a:r>
              <a:rPr sz="1425" b="1" i="0">
                <a:solidFill>
                  <a:srgbClr val="2F855A"/>
                </a:solidFill>
                <a:latin typeface="Arial"/>
                <a:ea typeface="Arial"/>
                <a:cs typeface="Arial"/>
              </a:rPr>
              <a:t>PASS: sorted • unique • complete • prime-only • &lt; n</a:t>
            </a:r>
          </a:p>
        </p:txBody>
      </p:sp>
    </p:spTree>
    <p:extLst>
      <p:ext uri="{BB962C8B-B14F-4D97-AF65-F5344CB8AC3E}">
        <p14:creationId xmlns:p14="http://schemas.microsoft.com/office/powerpoint/2010/main" val="2130978516"/>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42" name="Rectangle 41">
            <a:extLst xmlns:a="http://schemas.openxmlformats.org/drawingml/2006/main">
              <a:ext uri="{FF2B5EF4-FFF2-40B4-BE49-F238E27FC236}">
                <a16:creationId xmlns:a16="http://schemas.microsoft.com/office/drawing/2014/main" id="{6EBB7998-746B-43F0-90E1-FA9E6BE3106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4D2630A2-0057-4363-BA5B-F11197D10874}"/>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Rectangle 2">
            <a:extLst xmlns:a="http://schemas.openxmlformats.org/drawingml/2006/main">
              <a:ext uri="{FF2B5EF4-FFF2-40B4-BE49-F238E27FC236}">
                <a16:creationId xmlns:a16="http://schemas.microsoft.com/office/drawing/2014/main" id="{A62F137C-C327-433F-A17D-6B90201A27F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Task 1: robust block-cyclic MPI partition</a:t>
            </a:r>
          </a:p>
        </p:txBody>
      </p:sp>
      <p:sp>
        <p:nvSpPr>
          <p:cNvPr id="4" name="Rectangle 3">
            <a:extLst xmlns:a="http://schemas.openxmlformats.org/drawingml/2006/main">
              <a:ext uri="{FF2B5EF4-FFF2-40B4-BE49-F238E27FC236}">
                <a16:creationId xmlns:a16="http://schemas.microsoft.com/office/drawing/2014/main" id="{2BE6EEF9-29FE-43FA-8461-7167D9207AB9}"/>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3 / 9</a:t>
            </a:r>
          </a:p>
        </p:txBody>
      </p:sp>
      <p:sp>
        <p:nvSpPr>
          <p:cNvPr id="5" name="Rectangle: Rounded Corners 4">
            <a:extLst xmlns:a="http://schemas.openxmlformats.org/drawingml/2006/main">
              <a:ext uri="{FF2B5EF4-FFF2-40B4-BE49-F238E27FC236}">
                <a16:creationId xmlns:a16="http://schemas.microsoft.com/office/drawing/2014/main" id="{B6DA2BDF-B852-47F0-BE32-C77532DC846F}"/>
              </a:ext>
            </a:extLst>
          </p:cNvPr>
          <p:cNvSpPr>
            <a:spLocks xmlns:a="http://schemas.openxmlformats.org/drawingml/2006/main" noGrp="1"/>
          </p:cNvSpPr>
          <p:nvPr/>
        </p:nvSpPr>
        <p:spPr>
          <a:xfrm xmlns:a="http://schemas.openxmlformats.org/drawingml/2006/main">
            <a:off x="552450" y="1143000"/>
            <a:ext cx="5143500" cy="2381250"/>
          </a:xfrm>
          <a:prstGeom xmlns:a="http://schemas.openxmlformats.org/drawingml/2006/main" prst="roundRect">
            <a:avLst>
              <a:gd name="adj" fmla="val 3200"/>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6" name="Rectangle 5">
            <a:extLst xmlns:a="http://schemas.openxmlformats.org/drawingml/2006/main">
              <a:ext uri="{FF2B5EF4-FFF2-40B4-BE49-F238E27FC236}">
                <a16:creationId xmlns:a16="http://schemas.microsoft.com/office/drawing/2014/main" id="{6F938746-444F-491B-B9EA-0DF68350EE8B}"/>
              </a:ext>
            </a:extLst>
          </p:cNvPr>
          <p:cNvSpPr>
            <a:spLocks xmlns:a="http://schemas.openxmlformats.org/drawingml/2006/main" noGrp="1"/>
          </p:cNvSpPr>
          <p:nvPr/>
        </p:nvSpPr>
        <p:spPr>
          <a:xfrm xmlns:a="http://schemas.openxmlformats.org/drawingml/2006/main">
            <a:off x="781050" y="1352550"/>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4167"/>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Odd-candidate index space</a:t>
            </a:r>
          </a:p>
        </p:txBody>
      </p:sp>
      <p:sp>
        <p:nvSpPr>
          <p:cNvPr id="7" name="Rectangle 6">
            <a:extLst xmlns:a="http://schemas.openxmlformats.org/drawingml/2006/main">
              <a:ext uri="{FF2B5EF4-FFF2-40B4-BE49-F238E27FC236}">
                <a16:creationId xmlns:a16="http://schemas.microsoft.com/office/drawing/2014/main" id="{2C1EF6EE-56C1-47E5-8A90-7B077161585C}"/>
              </a:ext>
            </a:extLst>
          </p:cNvPr>
          <p:cNvSpPr>
            <a:spLocks xmlns:a="http://schemas.openxmlformats.org/drawingml/2006/main" noGrp="1"/>
          </p:cNvSpPr>
          <p:nvPr/>
        </p:nvSpPr>
        <p:spPr>
          <a:xfrm xmlns:a="http://schemas.openxmlformats.org/drawingml/2006/main">
            <a:off x="781050" y="16954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96"/>
          </a:bodyPr>
          <a:lstStyle xmlns:a="http://schemas.openxmlformats.org/drawingml/2006/main"/>
          <a:p xmlns:a="http://schemas.openxmlformats.org/drawingml/2006/main">
            <a:pPr algn="l">
              <a:buNone/>
              <a:defRPr sz="1275" b="0" i="0">
                <a:solidFill>
                  <a:srgbClr val="486581"/>
                </a:solidFill>
                <a:latin typeface="Arial"/>
                <a:ea typeface="Arial"/>
                <a:cs typeface="Arial"/>
              </a:defRPr>
            </a:pPr>
            <a:r>
              <a:rPr sz="1275" b="0" i="0">
                <a:solidFill>
                  <a:srgbClr val="486581"/>
                </a:solidFill>
                <a:latin typeface="Arial"/>
                <a:ea typeface="Arial"/>
                <a:cs typeface="Arial"/>
              </a:rPr>
              <a:t>Chunks of 64 odd candidates are assigned round-robin.</a:t>
            </a:r>
          </a:p>
        </p:txBody>
      </p:sp>
      <p:sp>
        <p:nvSpPr>
          <p:cNvPr id="8" name="Rectangle 7">
            <a:extLst xmlns:a="http://schemas.openxmlformats.org/drawingml/2006/main">
              <a:ext uri="{FF2B5EF4-FFF2-40B4-BE49-F238E27FC236}">
                <a16:creationId xmlns:a16="http://schemas.microsoft.com/office/drawing/2014/main" id="{50E6E2FE-B02E-400F-ACAD-D4F95418FDFA}"/>
              </a:ext>
            </a:extLst>
          </p:cNvPr>
          <p:cNvSpPr>
            <a:spLocks xmlns:a="http://schemas.openxmlformats.org/drawingml/2006/main" noGrp="1"/>
          </p:cNvSpPr>
          <p:nvPr/>
        </p:nvSpPr>
        <p:spPr>
          <a:xfrm xmlns:a="http://schemas.openxmlformats.org/drawingml/2006/main">
            <a:off x="819150" y="21907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buNone/>
              <a:defRPr sz="1125" b="1" i="0">
                <a:solidFill>
                  <a:srgbClr val="3B6FB6"/>
                </a:solidFill>
                <a:latin typeface="Arial"/>
                <a:ea typeface="Arial"/>
                <a:cs typeface="Arial"/>
              </a:defRPr>
            </a:pPr>
            <a:r>
              <a:rPr sz="1125" b="1" i="0">
                <a:solidFill>
                  <a:srgbClr val="3B6FB6"/>
                </a:solidFill>
                <a:latin typeface="Arial"/>
                <a:ea typeface="Arial"/>
                <a:cs typeface="Arial"/>
              </a:rPr>
              <a:t>rank 0</a:t>
            </a:r>
          </a:p>
        </p:txBody>
      </p:sp>
      <p:sp>
        <p:nvSpPr>
          <p:cNvPr id="9" name="Rectangle: Rounded Corners 8">
            <a:extLst xmlns:a="http://schemas.openxmlformats.org/drawingml/2006/main">
              <a:ext uri="{FF2B5EF4-FFF2-40B4-BE49-F238E27FC236}">
                <a16:creationId xmlns:a16="http://schemas.microsoft.com/office/drawing/2014/main" id="{49A3B257-EC73-43E5-A7BA-636D4D4FC92F}"/>
              </a:ext>
            </a:extLst>
          </p:cNvPr>
          <p:cNvSpPr>
            <a:spLocks xmlns:a="http://schemas.openxmlformats.org/drawingml/2006/main" noGrp="1"/>
          </p:cNvSpPr>
          <p:nvPr/>
        </p:nvSpPr>
        <p:spPr>
          <a:xfrm xmlns:a="http://schemas.openxmlformats.org/drawingml/2006/main">
            <a:off x="16192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495EC738-2AEB-463A-8609-D41CFD498040}"/>
              </a:ext>
            </a:extLst>
          </p:cNvPr>
          <p:cNvSpPr>
            <a:spLocks xmlns:a="http://schemas.openxmlformats.org/drawingml/2006/main" noGrp="1"/>
          </p:cNvSpPr>
          <p:nvPr/>
        </p:nvSpPr>
        <p:spPr>
          <a:xfrm xmlns:a="http://schemas.openxmlformats.org/drawingml/2006/main">
            <a:off x="16192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C0</a:t>
            </a:r>
          </a:p>
        </p:txBody>
      </p:sp>
      <p:sp>
        <p:nvSpPr>
          <p:cNvPr id="11" name="Rectangle: Rounded Corners 10">
            <a:extLst xmlns:a="http://schemas.openxmlformats.org/drawingml/2006/main">
              <a:ext uri="{FF2B5EF4-FFF2-40B4-BE49-F238E27FC236}">
                <a16:creationId xmlns:a16="http://schemas.microsoft.com/office/drawing/2014/main" id="{D0711FBB-D7BD-45EA-A91A-419183E2D9F5}"/>
              </a:ext>
            </a:extLst>
          </p:cNvPr>
          <p:cNvSpPr>
            <a:spLocks xmlns:a="http://schemas.openxmlformats.org/drawingml/2006/main" noGrp="1"/>
          </p:cNvSpPr>
          <p:nvPr/>
        </p:nvSpPr>
        <p:spPr>
          <a:xfrm xmlns:a="http://schemas.openxmlformats.org/drawingml/2006/main">
            <a:off x="24003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txBody>
          <a:bodyPr xmlns:a="http://schemas.openxmlformats.org/drawingml/2006/main"/>
          <a:lstStyle xmlns:a="http://schemas.openxmlformats.org/drawingml/2006/main"/>
          <a:p xmlns:a="http://schemas.openxmlformats.org/drawingml/2006/main">
            <a:endParaRPr/>
          </a:p>
        </p:txBody>
      </p:sp>
      <p:sp>
        <p:nvSpPr>
          <p:cNvPr id="12" name="Rectangle 11">
            <a:extLst xmlns:a="http://schemas.openxmlformats.org/drawingml/2006/main">
              <a:ext uri="{FF2B5EF4-FFF2-40B4-BE49-F238E27FC236}">
                <a16:creationId xmlns:a16="http://schemas.microsoft.com/office/drawing/2014/main" id="{B70098F8-5447-4E0A-B4DD-541FD4FCC42A}"/>
              </a:ext>
            </a:extLst>
          </p:cNvPr>
          <p:cNvSpPr>
            <a:spLocks xmlns:a="http://schemas.openxmlformats.org/drawingml/2006/main" noGrp="1"/>
          </p:cNvSpPr>
          <p:nvPr/>
        </p:nvSpPr>
        <p:spPr>
          <a:xfrm xmlns:a="http://schemas.openxmlformats.org/drawingml/2006/main">
            <a:off x="24003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C3</a:t>
            </a:r>
          </a:p>
        </p:txBody>
      </p:sp>
      <p:sp>
        <p:nvSpPr>
          <p:cNvPr id="13" name="Rectangle: Rounded Corners 12">
            <a:extLst xmlns:a="http://schemas.openxmlformats.org/drawingml/2006/main">
              <a:ext uri="{FF2B5EF4-FFF2-40B4-BE49-F238E27FC236}">
                <a16:creationId xmlns:a16="http://schemas.microsoft.com/office/drawing/2014/main" id="{45D6B3D3-C2FF-452E-8679-C6E5AA3DB320}"/>
              </a:ext>
            </a:extLst>
          </p:cNvPr>
          <p:cNvSpPr>
            <a:spLocks xmlns:a="http://schemas.openxmlformats.org/drawingml/2006/main" noGrp="1"/>
          </p:cNvSpPr>
          <p:nvPr/>
        </p:nvSpPr>
        <p:spPr>
          <a:xfrm xmlns:a="http://schemas.openxmlformats.org/drawingml/2006/main">
            <a:off x="318135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txBody>
          <a:bodyPr xmlns:a="http://schemas.openxmlformats.org/drawingml/2006/main"/>
          <a:lstStyle xmlns:a="http://schemas.openxmlformats.org/drawingml/2006/main"/>
          <a:p xmlns:a="http://schemas.openxmlformats.org/drawingml/2006/main">
            <a:endParaRPr/>
          </a:p>
        </p:txBody>
      </p:sp>
      <p:sp>
        <p:nvSpPr>
          <p:cNvPr id="14" name="Rectangle 13">
            <a:extLst xmlns:a="http://schemas.openxmlformats.org/drawingml/2006/main">
              <a:ext uri="{FF2B5EF4-FFF2-40B4-BE49-F238E27FC236}">
                <a16:creationId xmlns:a16="http://schemas.microsoft.com/office/drawing/2014/main" id="{044BA02B-B251-4B24-B78A-C4E10894CAA1}"/>
              </a:ext>
            </a:extLst>
          </p:cNvPr>
          <p:cNvSpPr>
            <a:spLocks xmlns:a="http://schemas.openxmlformats.org/drawingml/2006/main" noGrp="1"/>
          </p:cNvSpPr>
          <p:nvPr/>
        </p:nvSpPr>
        <p:spPr>
          <a:xfrm xmlns:a="http://schemas.openxmlformats.org/drawingml/2006/main">
            <a:off x="318135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C6</a:t>
            </a:r>
          </a:p>
        </p:txBody>
      </p:sp>
      <p:sp>
        <p:nvSpPr>
          <p:cNvPr id="15" name="Rectangle: Rounded Corners 14">
            <a:extLst xmlns:a="http://schemas.openxmlformats.org/drawingml/2006/main">
              <a:ext uri="{FF2B5EF4-FFF2-40B4-BE49-F238E27FC236}">
                <a16:creationId xmlns:a16="http://schemas.microsoft.com/office/drawing/2014/main" id="{2018E0D4-EFC4-452D-A58D-C31F80D47F9E}"/>
              </a:ext>
            </a:extLst>
          </p:cNvPr>
          <p:cNvSpPr>
            <a:spLocks xmlns:a="http://schemas.openxmlformats.org/drawingml/2006/main" noGrp="1"/>
          </p:cNvSpPr>
          <p:nvPr/>
        </p:nvSpPr>
        <p:spPr>
          <a:xfrm xmlns:a="http://schemas.openxmlformats.org/drawingml/2006/main">
            <a:off x="3962400" y="2143125"/>
            <a:ext cx="590550" cy="285750"/>
          </a:xfrm>
          <a:prstGeom xmlns:a="http://schemas.openxmlformats.org/drawingml/2006/main" prst="roundRect">
            <a:avLst>
              <a:gd name="adj" fmla="val 26667"/>
            </a:avLst>
          </a:prstGeom>
          <a:solidFill xmlns:a="http://schemas.openxmlformats.org/drawingml/2006/main">
            <a:srgbClr val="3B6FB6"/>
          </a:solidFill>
          <a:ln xmlns:a="http://schemas.openxmlformats.org/drawingml/2006/main" w="9525">
            <a:solidFill>
              <a:srgbClr val="3B6FB6"/>
            </a:solidFill>
          </a:ln>
        </p:spPr>
        <p:txBody>
          <a:bodyPr xmlns:a="http://schemas.openxmlformats.org/drawingml/2006/main"/>
          <a:lstStyle xmlns:a="http://schemas.openxmlformats.org/drawingml/2006/main"/>
          <a:p xmlns:a="http://schemas.openxmlformats.org/drawingml/2006/main">
            <a:endParaRPr/>
          </a:p>
        </p:txBody>
      </p:sp>
      <p:sp>
        <p:nvSpPr>
          <p:cNvPr id="16" name="Rectangle 15">
            <a:extLst xmlns:a="http://schemas.openxmlformats.org/drawingml/2006/main">
              <a:ext uri="{FF2B5EF4-FFF2-40B4-BE49-F238E27FC236}">
                <a16:creationId xmlns:a16="http://schemas.microsoft.com/office/drawing/2014/main" id="{40A891BE-5E07-417F-ABAE-170AB6D71A4A}"/>
              </a:ext>
            </a:extLst>
          </p:cNvPr>
          <p:cNvSpPr>
            <a:spLocks xmlns:a="http://schemas.openxmlformats.org/drawingml/2006/main" noGrp="1"/>
          </p:cNvSpPr>
          <p:nvPr/>
        </p:nvSpPr>
        <p:spPr>
          <a:xfrm xmlns:a="http://schemas.openxmlformats.org/drawingml/2006/main">
            <a:off x="3962400" y="21907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C9</a:t>
            </a:r>
          </a:p>
        </p:txBody>
      </p:sp>
      <p:sp>
        <p:nvSpPr>
          <p:cNvPr id="17" name="Rectangle 16">
            <a:extLst xmlns:a="http://schemas.openxmlformats.org/drawingml/2006/main">
              <a:ext uri="{FF2B5EF4-FFF2-40B4-BE49-F238E27FC236}">
                <a16:creationId xmlns:a16="http://schemas.microsoft.com/office/drawing/2014/main" id="{7EB0A9B3-C508-4FCD-BB78-CD9723E7A3C5}"/>
              </a:ext>
            </a:extLst>
          </p:cNvPr>
          <p:cNvSpPr>
            <a:spLocks xmlns:a="http://schemas.openxmlformats.org/drawingml/2006/main" noGrp="1"/>
          </p:cNvSpPr>
          <p:nvPr/>
        </p:nvSpPr>
        <p:spPr>
          <a:xfrm xmlns:a="http://schemas.openxmlformats.org/drawingml/2006/main">
            <a:off x="819150" y="262890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buNone/>
              <a:defRPr sz="1125" b="1" i="0">
                <a:solidFill>
                  <a:srgbClr val="007C83"/>
                </a:solidFill>
                <a:latin typeface="Arial"/>
                <a:ea typeface="Arial"/>
                <a:cs typeface="Arial"/>
              </a:defRPr>
            </a:pPr>
            <a:r>
              <a:rPr sz="1125" b="1" i="0">
                <a:solidFill>
                  <a:srgbClr val="007C83"/>
                </a:solidFill>
                <a:latin typeface="Arial"/>
                <a:ea typeface="Arial"/>
                <a:cs typeface="Arial"/>
              </a:rPr>
              <a:t>rank 1</a:t>
            </a:r>
          </a:p>
        </p:txBody>
      </p:sp>
      <p:sp>
        <p:nvSpPr>
          <p:cNvPr id="18" name="Rectangle: Rounded Corners 17">
            <a:extLst xmlns:a="http://schemas.openxmlformats.org/drawingml/2006/main">
              <a:ext uri="{FF2B5EF4-FFF2-40B4-BE49-F238E27FC236}">
                <a16:creationId xmlns:a16="http://schemas.microsoft.com/office/drawing/2014/main" id="{533EDC1D-BEAE-4F28-9C7F-5C9B7E8003CE}"/>
              </a:ext>
            </a:extLst>
          </p:cNvPr>
          <p:cNvSpPr>
            <a:spLocks xmlns:a="http://schemas.openxmlformats.org/drawingml/2006/main" noGrp="1"/>
          </p:cNvSpPr>
          <p:nvPr/>
        </p:nvSpPr>
        <p:spPr>
          <a:xfrm xmlns:a="http://schemas.openxmlformats.org/drawingml/2006/main">
            <a:off x="16192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19" name="Rectangle 18">
            <a:extLst xmlns:a="http://schemas.openxmlformats.org/drawingml/2006/main">
              <a:ext uri="{FF2B5EF4-FFF2-40B4-BE49-F238E27FC236}">
                <a16:creationId xmlns:a16="http://schemas.microsoft.com/office/drawing/2014/main" id="{79263369-D876-46D5-8730-99CD56945F66}"/>
              </a:ext>
            </a:extLst>
          </p:cNvPr>
          <p:cNvSpPr>
            <a:spLocks xmlns:a="http://schemas.openxmlformats.org/drawingml/2006/main" noGrp="1"/>
          </p:cNvSpPr>
          <p:nvPr/>
        </p:nvSpPr>
        <p:spPr>
          <a:xfrm xmlns:a="http://schemas.openxmlformats.org/drawingml/2006/main">
            <a:off x="16192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C1</a:t>
            </a:r>
          </a:p>
        </p:txBody>
      </p:sp>
      <p:sp>
        <p:nvSpPr>
          <p:cNvPr id="20" name="Rectangle: Rounded Corners 19">
            <a:extLst xmlns:a="http://schemas.openxmlformats.org/drawingml/2006/main">
              <a:ext uri="{FF2B5EF4-FFF2-40B4-BE49-F238E27FC236}">
                <a16:creationId xmlns:a16="http://schemas.microsoft.com/office/drawing/2014/main" id="{9FD6329B-C313-4A9A-B58C-A844502687DE}"/>
              </a:ext>
            </a:extLst>
          </p:cNvPr>
          <p:cNvSpPr>
            <a:spLocks xmlns:a="http://schemas.openxmlformats.org/drawingml/2006/main" noGrp="1"/>
          </p:cNvSpPr>
          <p:nvPr/>
        </p:nvSpPr>
        <p:spPr>
          <a:xfrm xmlns:a="http://schemas.openxmlformats.org/drawingml/2006/main">
            <a:off x="24003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1" name="Rectangle 20">
            <a:extLst xmlns:a="http://schemas.openxmlformats.org/drawingml/2006/main">
              <a:ext uri="{FF2B5EF4-FFF2-40B4-BE49-F238E27FC236}">
                <a16:creationId xmlns:a16="http://schemas.microsoft.com/office/drawing/2014/main" id="{49D97039-9187-497A-B8D2-CE317493737C}"/>
              </a:ext>
            </a:extLst>
          </p:cNvPr>
          <p:cNvSpPr>
            <a:spLocks xmlns:a="http://schemas.openxmlformats.org/drawingml/2006/main" noGrp="1"/>
          </p:cNvSpPr>
          <p:nvPr/>
        </p:nvSpPr>
        <p:spPr>
          <a:xfrm xmlns:a="http://schemas.openxmlformats.org/drawingml/2006/main">
            <a:off x="24003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C4</a:t>
            </a:r>
          </a:p>
        </p:txBody>
      </p:sp>
      <p:sp>
        <p:nvSpPr>
          <p:cNvPr id="22" name="Rectangle: Rounded Corners 21">
            <a:extLst xmlns:a="http://schemas.openxmlformats.org/drawingml/2006/main">
              <a:ext uri="{FF2B5EF4-FFF2-40B4-BE49-F238E27FC236}">
                <a16:creationId xmlns:a16="http://schemas.microsoft.com/office/drawing/2014/main" id="{64EFDABE-2C00-4AD0-B081-50B4B38F4819}"/>
              </a:ext>
            </a:extLst>
          </p:cNvPr>
          <p:cNvSpPr>
            <a:spLocks xmlns:a="http://schemas.openxmlformats.org/drawingml/2006/main" noGrp="1"/>
          </p:cNvSpPr>
          <p:nvPr/>
        </p:nvSpPr>
        <p:spPr>
          <a:xfrm xmlns:a="http://schemas.openxmlformats.org/drawingml/2006/main">
            <a:off x="318135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36D67C0B-825D-4915-8CD3-D5C199B37D93}"/>
              </a:ext>
            </a:extLst>
          </p:cNvPr>
          <p:cNvSpPr>
            <a:spLocks xmlns:a="http://schemas.openxmlformats.org/drawingml/2006/main" noGrp="1"/>
          </p:cNvSpPr>
          <p:nvPr/>
        </p:nvSpPr>
        <p:spPr>
          <a:xfrm xmlns:a="http://schemas.openxmlformats.org/drawingml/2006/main">
            <a:off x="318135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C7</a:t>
            </a:r>
          </a:p>
        </p:txBody>
      </p:sp>
      <p:sp>
        <p:nvSpPr>
          <p:cNvPr id="24" name="Rectangle: Rounded Corners 23">
            <a:extLst xmlns:a="http://schemas.openxmlformats.org/drawingml/2006/main">
              <a:ext uri="{FF2B5EF4-FFF2-40B4-BE49-F238E27FC236}">
                <a16:creationId xmlns:a16="http://schemas.microsoft.com/office/drawing/2014/main" id="{8945EE01-7C05-4D28-BE15-6212BE6B9BB7}"/>
              </a:ext>
            </a:extLst>
          </p:cNvPr>
          <p:cNvSpPr>
            <a:spLocks xmlns:a="http://schemas.openxmlformats.org/drawingml/2006/main" noGrp="1"/>
          </p:cNvSpPr>
          <p:nvPr/>
        </p:nvSpPr>
        <p:spPr>
          <a:xfrm xmlns:a="http://schemas.openxmlformats.org/drawingml/2006/main">
            <a:off x="3962400" y="2581275"/>
            <a:ext cx="590550" cy="285750"/>
          </a:xfrm>
          <a:prstGeom xmlns:a="http://schemas.openxmlformats.org/drawingml/2006/main" prst="roundRect">
            <a:avLst>
              <a:gd name="adj" fmla="val 26667"/>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5" name="Rectangle 24">
            <a:extLst xmlns:a="http://schemas.openxmlformats.org/drawingml/2006/main">
              <a:ext uri="{FF2B5EF4-FFF2-40B4-BE49-F238E27FC236}">
                <a16:creationId xmlns:a16="http://schemas.microsoft.com/office/drawing/2014/main" id="{49B3ACB0-CE57-4414-B55C-37E617A45B9A}"/>
              </a:ext>
            </a:extLst>
          </p:cNvPr>
          <p:cNvSpPr>
            <a:spLocks xmlns:a="http://schemas.openxmlformats.org/drawingml/2006/main" noGrp="1"/>
          </p:cNvSpPr>
          <p:nvPr/>
        </p:nvSpPr>
        <p:spPr>
          <a:xfrm xmlns:a="http://schemas.openxmlformats.org/drawingml/2006/main">
            <a:off x="3962400" y="262890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C10</a:t>
            </a:r>
          </a:p>
        </p:txBody>
      </p:sp>
      <p:sp>
        <p:nvSpPr>
          <p:cNvPr id="26" name="Rectangle 25">
            <a:extLst xmlns:a="http://schemas.openxmlformats.org/drawingml/2006/main">
              <a:ext uri="{FF2B5EF4-FFF2-40B4-BE49-F238E27FC236}">
                <a16:creationId xmlns:a16="http://schemas.microsoft.com/office/drawing/2014/main" id="{60B293E2-1580-4410-B63A-E1DD8CA1F826}"/>
              </a:ext>
            </a:extLst>
          </p:cNvPr>
          <p:cNvSpPr>
            <a:spLocks xmlns:a="http://schemas.openxmlformats.org/drawingml/2006/main" noGrp="1"/>
          </p:cNvSpPr>
          <p:nvPr/>
        </p:nvSpPr>
        <p:spPr>
          <a:xfrm xmlns:a="http://schemas.openxmlformats.org/drawingml/2006/main">
            <a:off x="819150" y="3067050"/>
            <a:ext cx="723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p xmlns:a="http://schemas.openxmlformats.org/drawingml/2006/main">
            <a:pPr algn="l">
              <a:buNone/>
              <a:defRPr sz="1125" b="1" i="0">
                <a:solidFill>
                  <a:srgbClr val="F28E2B"/>
                </a:solidFill>
                <a:latin typeface="Arial"/>
                <a:ea typeface="Arial"/>
                <a:cs typeface="Arial"/>
              </a:defRPr>
            </a:pPr>
            <a:r>
              <a:rPr sz="1125" b="1" i="0">
                <a:solidFill>
                  <a:srgbClr val="F28E2B"/>
                </a:solidFill>
                <a:latin typeface="Arial"/>
                <a:ea typeface="Arial"/>
                <a:cs typeface="Arial"/>
              </a:rPr>
              <a:t>rank 2</a:t>
            </a:r>
          </a:p>
        </p:txBody>
      </p:sp>
      <p:sp>
        <p:nvSpPr>
          <p:cNvPr id="27" name="Rectangle: Rounded Corners 26">
            <a:extLst xmlns:a="http://schemas.openxmlformats.org/drawingml/2006/main">
              <a:ext uri="{FF2B5EF4-FFF2-40B4-BE49-F238E27FC236}">
                <a16:creationId xmlns:a16="http://schemas.microsoft.com/office/drawing/2014/main" id="{23F4DF52-FF22-4F10-ABCA-B09655F560CD}"/>
              </a:ext>
            </a:extLst>
          </p:cNvPr>
          <p:cNvSpPr>
            <a:spLocks xmlns:a="http://schemas.openxmlformats.org/drawingml/2006/main" noGrp="1"/>
          </p:cNvSpPr>
          <p:nvPr/>
        </p:nvSpPr>
        <p:spPr>
          <a:xfrm xmlns:a="http://schemas.openxmlformats.org/drawingml/2006/main">
            <a:off x="16192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28" name="Rectangle 27">
            <a:extLst xmlns:a="http://schemas.openxmlformats.org/drawingml/2006/main">
              <a:ext uri="{FF2B5EF4-FFF2-40B4-BE49-F238E27FC236}">
                <a16:creationId xmlns:a16="http://schemas.microsoft.com/office/drawing/2014/main" id="{501D860E-59C3-4D90-804A-8DFCAA2E3E4E}"/>
              </a:ext>
            </a:extLst>
          </p:cNvPr>
          <p:cNvSpPr>
            <a:spLocks xmlns:a="http://schemas.openxmlformats.org/drawingml/2006/main" noGrp="1"/>
          </p:cNvSpPr>
          <p:nvPr/>
        </p:nvSpPr>
        <p:spPr>
          <a:xfrm xmlns:a="http://schemas.openxmlformats.org/drawingml/2006/main">
            <a:off x="16192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C2</a:t>
            </a:r>
          </a:p>
        </p:txBody>
      </p:sp>
      <p:sp>
        <p:nvSpPr>
          <p:cNvPr id="29" name="Rectangle: Rounded Corners 28">
            <a:extLst xmlns:a="http://schemas.openxmlformats.org/drawingml/2006/main">
              <a:ext uri="{FF2B5EF4-FFF2-40B4-BE49-F238E27FC236}">
                <a16:creationId xmlns:a16="http://schemas.microsoft.com/office/drawing/2014/main" id="{027A5937-BD68-46F6-A134-DF72B6B4CC01}"/>
              </a:ext>
            </a:extLst>
          </p:cNvPr>
          <p:cNvSpPr>
            <a:spLocks xmlns:a="http://schemas.openxmlformats.org/drawingml/2006/main" noGrp="1"/>
          </p:cNvSpPr>
          <p:nvPr/>
        </p:nvSpPr>
        <p:spPr>
          <a:xfrm xmlns:a="http://schemas.openxmlformats.org/drawingml/2006/main">
            <a:off x="24003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30" name="Rectangle 29">
            <a:extLst xmlns:a="http://schemas.openxmlformats.org/drawingml/2006/main">
              <a:ext uri="{FF2B5EF4-FFF2-40B4-BE49-F238E27FC236}">
                <a16:creationId xmlns:a16="http://schemas.microsoft.com/office/drawing/2014/main" id="{C258E877-FAFB-442C-A29A-AC2C8E06BDC5}"/>
              </a:ext>
            </a:extLst>
          </p:cNvPr>
          <p:cNvSpPr>
            <a:spLocks xmlns:a="http://schemas.openxmlformats.org/drawingml/2006/main" noGrp="1"/>
          </p:cNvSpPr>
          <p:nvPr/>
        </p:nvSpPr>
        <p:spPr>
          <a:xfrm xmlns:a="http://schemas.openxmlformats.org/drawingml/2006/main">
            <a:off x="24003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C5</a:t>
            </a:r>
          </a:p>
        </p:txBody>
      </p:sp>
      <p:sp>
        <p:nvSpPr>
          <p:cNvPr id="31" name="Rectangle: Rounded Corners 30">
            <a:extLst xmlns:a="http://schemas.openxmlformats.org/drawingml/2006/main">
              <a:ext uri="{FF2B5EF4-FFF2-40B4-BE49-F238E27FC236}">
                <a16:creationId xmlns:a16="http://schemas.microsoft.com/office/drawing/2014/main" id="{C541F0B6-65A2-4BBA-970A-A4DD7541A8B0}"/>
              </a:ext>
            </a:extLst>
          </p:cNvPr>
          <p:cNvSpPr>
            <a:spLocks xmlns:a="http://schemas.openxmlformats.org/drawingml/2006/main" noGrp="1"/>
          </p:cNvSpPr>
          <p:nvPr/>
        </p:nvSpPr>
        <p:spPr>
          <a:xfrm xmlns:a="http://schemas.openxmlformats.org/drawingml/2006/main">
            <a:off x="318135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32" name="Rectangle 31">
            <a:extLst xmlns:a="http://schemas.openxmlformats.org/drawingml/2006/main">
              <a:ext uri="{FF2B5EF4-FFF2-40B4-BE49-F238E27FC236}">
                <a16:creationId xmlns:a16="http://schemas.microsoft.com/office/drawing/2014/main" id="{B0F534A6-BDD2-4D0C-9B32-28593A89AA81}"/>
              </a:ext>
            </a:extLst>
          </p:cNvPr>
          <p:cNvSpPr>
            <a:spLocks xmlns:a="http://schemas.openxmlformats.org/drawingml/2006/main" noGrp="1"/>
          </p:cNvSpPr>
          <p:nvPr/>
        </p:nvSpPr>
        <p:spPr>
          <a:xfrm xmlns:a="http://schemas.openxmlformats.org/drawingml/2006/main">
            <a:off x="318135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C8</a:t>
            </a:r>
          </a:p>
        </p:txBody>
      </p:sp>
      <p:sp>
        <p:nvSpPr>
          <p:cNvPr id="33" name="Rectangle: Rounded Corners 32">
            <a:extLst xmlns:a="http://schemas.openxmlformats.org/drawingml/2006/main">
              <a:ext uri="{FF2B5EF4-FFF2-40B4-BE49-F238E27FC236}">
                <a16:creationId xmlns:a16="http://schemas.microsoft.com/office/drawing/2014/main" id="{87782B13-D261-4356-B345-DCC5821D443A}"/>
              </a:ext>
            </a:extLst>
          </p:cNvPr>
          <p:cNvSpPr>
            <a:spLocks xmlns:a="http://schemas.openxmlformats.org/drawingml/2006/main" noGrp="1"/>
          </p:cNvSpPr>
          <p:nvPr/>
        </p:nvSpPr>
        <p:spPr>
          <a:xfrm xmlns:a="http://schemas.openxmlformats.org/drawingml/2006/main">
            <a:off x="3962400" y="3019425"/>
            <a:ext cx="590550" cy="285750"/>
          </a:xfrm>
          <a:prstGeom xmlns:a="http://schemas.openxmlformats.org/drawingml/2006/main" prst="roundRect">
            <a:avLst>
              <a:gd name="adj" fmla="val 26667"/>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34" name="Rectangle 33">
            <a:extLst xmlns:a="http://schemas.openxmlformats.org/drawingml/2006/main">
              <a:ext uri="{FF2B5EF4-FFF2-40B4-BE49-F238E27FC236}">
                <a16:creationId xmlns:a16="http://schemas.microsoft.com/office/drawing/2014/main" id="{1059E870-ECD4-4F8E-82EF-3E559705C85D}"/>
              </a:ext>
            </a:extLst>
          </p:cNvPr>
          <p:cNvSpPr>
            <a:spLocks xmlns:a="http://schemas.openxmlformats.org/drawingml/2006/main" noGrp="1"/>
          </p:cNvSpPr>
          <p:nvPr/>
        </p:nvSpPr>
        <p:spPr>
          <a:xfrm xmlns:a="http://schemas.openxmlformats.org/drawingml/2006/main">
            <a:off x="3962400" y="3067050"/>
            <a:ext cx="5905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667"/>
          </a:bodyPr>
          <a:lstStyle xmlns:a="http://schemas.openxmlformats.org/drawingml/2006/main"/>
          <a:p xmlns:a="http://schemas.openxmlformats.org/drawingml/2006/main">
            <a:pPr algn="ctr">
              <a:buNone/>
              <a:defRPr sz="975" b="1" i="0">
                <a:solidFill>
                  <a:srgbClr val="FFFFFF"/>
                </a:solidFill>
                <a:latin typeface="Arial"/>
                <a:ea typeface="Arial"/>
                <a:cs typeface="Arial"/>
              </a:defRPr>
            </a:pPr>
            <a:r>
              <a:rPr sz="975" b="1" i="0">
                <a:solidFill>
                  <a:srgbClr val="FFFFFF"/>
                </a:solidFill>
                <a:latin typeface="Arial"/>
                <a:ea typeface="Arial"/>
                <a:cs typeface="Arial"/>
              </a:rPr>
              <a:t>C11</a:t>
            </a:r>
          </a:p>
        </p:txBody>
      </p:sp>
      <p:sp>
        <p:nvSpPr>
          <p:cNvPr id="35" name="Rectangle 34">
            <a:extLst xmlns:a="http://schemas.openxmlformats.org/drawingml/2006/main">
              <a:ext uri="{FF2B5EF4-FFF2-40B4-BE49-F238E27FC236}">
                <a16:creationId xmlns:a16="http://schemas.microsoft.com/office/drawing/2014/main" id="{4B87571F-7890-452E-8BCB-23F7241C937B}"/>
              </a:ext>
            </a:extLst>
          </p:cNvPr>
          <p:cNvSpPr>
            <a:spLocks xmlns:a="http://schemas.openxmlformats.org/drawingml/2006/main" noGrp="1"/>
          </p:cNvSpPr>
          <p:nvPr/>
        </p:nvSpPr>
        <p:spPr>
          <a:xfrm xmlns:a="http://schemas.openxmlformats.org/drawingml/2006/main">
            <a:off x="781050" y="3695700"/>
            <a:ext cx="4667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Equal-sized chunks preserve locality while mixing cheap composites and expensive large candidates across ranks.</a:t>
            </a:r>
          </a:p>
        </p:txBody>
      </p:sp>
      <p:sp>
        <p:nvSpPr>
          <p:cNvPr id="36" name="Rectangle 35">
            <a:extLst xmlns:a="http://schemas.openxmlformats.org/drawingml/2006/main">
              <a:ext uri="{FF2B5EF4-FFF2-40B4-BE49-F238E27FC236}">
                <a16:creationId xmlns:a16="http://schemas.microsoft.com/office/drawing/2014/main" id="{1C72A2C0-2527-42FE-AC72-A39520A41985}"/>
              </a:ext>
            </a:extLst>
          </p:cNvPr>
          <p:cNvSpPr>
            <a:spLocks xmlns:a="http://schemas.openxmlformats.org/drawingml/2006/main" noGrp="1"/>
          </p:cNvSpPr>
          <p:nvPr/>
        </p:nvSpPr>
        <p:spPr>
          <a:xfrm xmlns:a="http://schemas.openxmlformats.org/drawingml/2006/main">
            <a:off x="781050" y="4457700"/>
            <a:ext cx="4667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89"/>
          </a:bodyPr>
          <a:lstStyle xmlns:a="http://schemas.openxmlformats.org/drawingml/2006/main"/>
          <a:p xmlns:a="http://schemas.openxmlformats.org/drawingml/2006/main">
            <a:pPr algn="l">
              <a:buNone/>
              <a:defRPr sz="1350" b="1" i="0">
                <a:solidFill>
                  <a:srgbClr val="102A43"/>
                </a:solidFill>
                <a:latin typeface="Arial"/>
                <a:ea typeface="Arial"/>
                <a:cs typeface="Arial"/>
              </a:defRPr>
            </a:pPr>
            <a:r>
              <a:rPr sz="1350" b="1" i="0">
                <a:solidFill>
                  <a:srgbClr val="102A43"/>
                </a:solidFill>
                <a:latin typeface="Arial"/>
                <a:ea typeface="Arial"/>
                <a:cs typeface="Arial"/>
              </a:rPr>
              <a:t>Rank 0 performs an O(m log p) k-way merge and buffered output.</a:t>
            </a:r>
          </a:p>
        </p:txBody>
      </p:sp>
      <p:sp>
        <p:nvSpPr>
          <p:cNvPr id="37" name="Rectangle 36">
            <a:extLst xmlns:a="http://schemas.openxmlformats.org/drawingml/2006/main">
              <a:ext uri="{FF2B5EF4-FFF2-40B4-BE49-F238E27FC236}">
                <a16:creationId xmlns:a16="http://schemas.microsoft.com/office/drawing/2014/main" id="{F9D88D45-C736-4D92-90CD-BF289C897D43}"/>
              </a:ext>
            </a:extLst>
          </p:cNvPr>
          <p:cNvSpPr>
            <a:spLocks xmlns:a="http://schemas.openxmlformats.org/drawingml/2006/main" noGrp="1"/>
          </p:cNvSpPr>
          <p:nvPr/>
        </p:nvSpPr>
        <p:spPr>
          <a:xfrm xmlns:a="http://schemas.openxmlformats.org/drawingml/2006/main">
            <a:off x="6057900" y="1200150"/>
            <a:ext cx="5581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Measured computation-time imbalance (max / min)</a:t>
            </a:r>
          </a:p>
        </p:txBody>
      </p:sp>
      <p:graphicFrame>
        <p:nvGraphicFramePr>
          <p:cNvPr id="81" name="Table 80"/>
          <p:cNvGraphicFramePr/>
          <p:nvPr/>
        </p:nvGraphicFramePr>
        <p:xfrm>
          <a:off xmlns:a="http://schemas.openxmlformats.org/drawingml/2006/main" x="6057900" y="1619250"/>
          <a:ext xmlns:a="http://schemas.openxmlformats.org/drawingml/2006/main" cx="5581650" cy="2019300"/>
        </p:xfrm>
        <a:graphic xmlns:a="http://schemas.openxmlformats.org/drawingml/2006/main">
          <a:graphicData uri="http://schemas.openxmlformats.org/drawingml/2006/table">
            <a:tbl>
              <a:tblPr firstRow="1"/>
              <a:tblGrid>
                <a:gridCol w="2000250"/>
                <a:gridCol w="1190625"/>
                <a:gridCol w="1190625"/>
                <a:gridCol w="1200150"/>
              </a:tblGrid>
              <a:tr h="504825">
                <a:tc>
                  <a:txBody>
                    <a:bodyPr/>
                    <a:lstStyle/>
                    <a:p>
                      <a:r>
                        <a:rPr sz="900" b="1">
                          <a:solidFill>
                            <a:srgbClr val="FFFFFF"/>
                          </a:solidFill>
                          <a:latin typeface="Arial"/>
                          <a:ea typeface="Arial"/>
                          <a:cs typeface="Arial"/>
                        </a:rPr>
                        <a:t>Strategy</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3</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4</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 = 5</a:t>
                      </a:r>
                    </a:p>
                  </a:txBody>
                  <a:tcPr marL="76200" marR="76200" marT="57150" marB="57150" anchor="ctr">
                    <a:solidFill>
                      <a:srgbClr val="005F66"/>
                    </a:solidFill>
                  </a:tcPr>
                </a:tc>
              </a:tr>
              <a:tr h="504825">
                <a:tc>
                  <a:txBody>
                    <a:bodyPr/>
                    <a:lstStyle/>
                    <a:p>
                      <a:r>
                        <a:rPr sz="975">
                          <a:solidFill>
                            <a:srgbClr val="102A43"/>
                          </a:solidFill>
                          <a:latin typeface="Arial"/>
                          <a:ea typeface="Arial"/>
                          <a:cs typeface="Arial"/>
                        </a:rPr>
                        <a:t>Block-cyclic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1.05</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c>
                  <a:txBody>
                    <a:bodyPr/>
                    <a:lstStyle/>
                    <a:p>
                      <a:r>
                        <a:rPr sz="975">
                          <a:solidFill>
                            <a:srgbClr val="102A43"/>
                          </a:solidFill>
                          <a:latin typeface="Arial"/>
                          <a:ea typeface="Arial"/>
                          <a:cs typeface="Arial"/>
                        </a:rPr>
                        <a:t>1.06</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Pure cyclic</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a:t>
                      </a:r>
                    </a:p>
                  </a:txBody>
                  <a:tcPr marL="76200" marR="76200" marT="47625" marB="47625" anchor="ctr">
                    <a:solidFill>
                      <a:srgbClr val="FFFFFF"/>
                    </a:solidFill>
                  </a:tcPr>
                </a:tc>
                <a:tc>
                  <a:txBody>
                    <a:bodyPr/>
                    <a:lstStyle/>
                    <a:p>
                      <a:r>
                        <a:rPr sz="975">
                          <a:solidFill>
                            <a:srgbClr val="102A43"/>
                          </a:solidFill>
                          <a:latin typeface="Arial"/>
                          <a:ea typeface="Arial"/>
                          <a:cs typeface="Arial"/>
                        </a:rPr>
                        <a:t>1.03</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a:t>
                      </a:r>
                    </a:p>
                  </a:txBody>
                  <a:tcPr marL="76200" marR="76200" marT="47625" marB="47625" anchor="ctr">
                    <a:solidFill>
                      <a:srgbClr val="FFFFFF"/>
                    </a:solidFill>
                  </a:tcPr>
                </a:tc>
              </a:tr>
              <a:tr h="504825">
                <a:tc>
                  <a:txBody>
                    <a:bodyPr/>
                    <a:lstStyle/>
                    <a:p>
                      <a:r>
                        <a:rPr sz="975">
                          <a:solidFill>
                            <a:srgbClr val="102A43"/>
                          </a:solidFill>
                          <a:latin typeface="Arial"/>
                          <a:ea typeface="Arial"/>
                          <a:cs typeface="Arial"/>
                        </a:rPr>
                        <a:t>Contiguous block</a:t>
                      </a:r>
                    </a:p>
                  </a:txBody>
                  <a:tcPr marL="76200" marR="76200" marT="47625" marB="47625" anchor="ctr">
                    <a:solidFill>
                      <a:srgbClr val="FFFFFF"/>
                    </a:solidFill>
                  </a:tcPr>
                </a:tc>
                <a:tc>
                  <a:txBody>
                    <a:bodyPr/>
                    <a:lstStyle/>
                    <a:p>
                      <a:r>
                        <a:rPr sz="975">
                          <a:solidFill>
                            <a:srgbClr val="102A43"/>
                          </a:solidFill>
                          <a:latin typeface="Arial"/>
                          <a:ea typeface="Arial"/>
                          <a:cs typeface="Arial"/>
                        </a:rPr>
                        <a:t>2.20</a:t>
                      </a:r>
                    </a:p>
                  </a:txBody>
                  <a:tcPr marL="76200" marR="76200" marT="47625" marB="47625" anchor="ctr">
                    <a:solidFill>
                      <a:srgbClr val="FFFFFF"/>
                    </a:solidFill>
                  </a:tcPr>
                </a:tc>
                <a:tc>
                  <a:txBody>
                    <a:bodyPr/>
                    <a:lstStyle/>
                    <a:p>
                      <a:r>
                        <a:rPr sz="975">
                          <a:solidFill>
                            <a:srgbClr val="102A43"/>
                          </a:solidFill>
                          <a:latin typeface="Arial"/>
                          <a:ea typeface="Arial"/>
                          <a:cs typeface="Arial"/>
                        </a:rPr>
                        <a:t>2.61</a:t>
                      </a:r>
                    </a:p>
                  </a:txBody>
                  <a:tcPr marL="76200" marR="76200" marT="47625" marB="47625" anchor="ctr">
                    <a:solidFill>
                      <a:srgbClr val="FFFFFF"/>
                    </a:solidFill>
                  </a:tcPr>
                </a:tc>
                <a:tc>
                  <a:txBody>
                    <a:bodyPr/>
                    <a:lstStyle/>
                    <a:p>
                      <a:r>
                        <a:rPr sz="975">
                          <a:solidFill>
                            <a:srgbClr val="102A43"/>
                          </a:solidFill>
                          <a:latin typeface="Arial"/>
                          <a:ea typeface="Arial"/>
                          <a:cs typeface="Arial"/>
                        </a:rPr>
                        <a:t>2.78</a:t>
                      </a:r>
                    </a:p>
                  </a:txBody>
                  <a:tcPr marL="76200" marR="76200" marT="47625" marB="47625" anchor="ctr">
                    <a:solidFill>
                      <a:srgbClr val="FFFFFF"/>
                    </a:solidFill>
                  </a:tcPr>
                </a:tc>
              </a:tr>
            </a:tbl>
          </a:graphicData>
        </a:graphic>
      </p:graphicFrame>
      <p:sp>
        <p:nvSpPr>
          <p:cNvPr id="39" name="Rectangle: Rounded Corners 38">
            <a:extLst xmlns:a="http://schemas.openxmlformats.org/drawingml/2006/main">
              <a:ext uri="{FF2B5EF4-FFF2-40B4-BE49-F238E27FC236}">
                <a16:creationId xmlns:a16="http://schemas.microsoft.com/office/drawing/2014/main" id="{2479C935-52DF-4CC9-B35F-74EEB6F2F9B8}"/>
              </a:ext>
            </a:extLst>
          </p:cNvPr>
          <p:cNvSpPr>
            <a:spLocks xmlns:a="http://schemas.openxmlformats.org/drawingml/2006/main" noGrp="1"/>
          </p:cNvSpPr>
          <p:nvPr/>
        </p:nvSpPr>
        <p:spPr>
          <a:xfrm xmlns:a="http://schemas.openxmlformats.org/drawingml/2006/main">
            <a:off x="6057900" y="3943350"/>
            <a:ext cx="5581650" cy="1390650"/>
          </a:xfrm>
          <a:prstGeom xmlns:a="http://schemas.openxmlformats.org/drawingml/2006/main" prst="roundRect">
            <a:avLst>
              <a:gd name="adj" fmla="val 5479"/>
            </a:avLst>
          </a:prstGeom>
          <a:solidFill xmlns:a="http://schemas.openxmlformats.org/drawingml/2006/main">
            <a:srgbClr val="FFF5E6"/>
          </a:solidFill>
          <a:ln xmlns:a="http://schemas.openxmlformats.org/drawingml/2006/main" w="9525">
            <a:solidFill>
              <a:srgbClr val="F5C98A"/>
            </a:solidFill>
          </a:ln>
        </p:spPr>
        <p:txBody>
          <a:bodyPr xmlns:a="http://schemas.openxmlformats.org/drawingml/2006/main"/>
          <a:lstStyle xmlns:a="http://schemas.openxmlformats.org/drawingml/2006/main"/>
          <a:p xmlns:a="http://schemas.openxmlformats.org/drawingml/2006/main">
            <a:endParaRPr/>
          </a:p>
        </p:txBody>
      </p:sp>
      <p:sp>
        <p:nvSpPr>
          <p:cNvPr id="40" name="Rectangle 39">
            <a:extLst xmlns:a="http://schemas.openxmlformats.org/drawingml/2006/main">
              <a:ext uri="{FF2B5EF4-FFF2-40B4-BE49-F238E27FC236}">
                <a16:creationId xmlns:a16="http://schemas.microsoft.com/office/drawing/2014/main" id="{F813ADA4-1947-4BD1-9187-3A30553F83C8}"/>
              </a:ext>
            </a:extLst>
          </p:cNvPr>
          <p:cNvSpPr>
            <a:spLocks xmlns:a="http://schemas.openxmlformats.org/drawingml/2006/main" noGrp="1"/>
          </p:cNvSpPr>
          <p:nvPr/>
        </p:nvSpPr>
        <p:spPr>
          <a:xfrm xmlns:a="http://schemas.openxmlformats.org/drawingml/2006/main">
            <a:off x="6286500" y="4152900"/>
            <a:ext cx="5048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7544"/>
          </a:bodyPr>
          <a:lstStyle xmlns:a="http://schemas.openxmlformats.org/drawingml/2006/main"/>
          <a:p xmlns:a="http://schemas.openxmlformats.org/drawingml/2006/main">
            <a:pPr algn="l">
              <a:buNone/>
              <a:defRPr sz="1425" b="1" i="0">
                <a:solidFill>
                  <a:srgbClr val="8A4B08"/>
                </a:solidFill>
                <a:latin typeface="Arial"/>
                <a:ea typeface="Arial"/>
                <a:cs typeface="Arial"/>
              </a:defRPr>
            </a:pPr>
            <a:r>
              <a:rPr sz="1425" b="1" i="0">
                <a:solidFill>
                  <a:srgbClr val="8A4B08"/>
                </a:solidFill>
                <a:latin typeface="Arial"/>
                <a:ea typeface="Arial"/>
                <a:cs typeface="Arial"/>
              </a:rPr>
              <a:t>Why this is the selected partition</a:t>
            </a:r>
          </a:p>
        </p:txBody>
      </p:sp>
      <p:sp>
        <p:nvSpPr>
          <p:cNvPr id="41" name="Rectangle 40">
            <a:extLst xmlns:a="http://schemas.openxmlformats.org/drawingml/2006/main">
              <a:ext uri="{FF2B5EF4-FFF2-40B4-BE49-F238E27FC236}">
                <a16:creationId xmlns:a16="http://schemas.microsoft.com/office/drawing/2014/main" id="{CC743160-9705-457C-8464-B344EB6DB260}"/>
              </a:ext>
            </a:extLst>
          </p:cNvPr>
          <p:cNvSpPr>
            <a:spLocks xmlns:a="http://schemas.openxmlformats.org/drawingml/2006/main" noGrp="1"/>
          </p:cNvSpPr>
          <p:nvPr/>
        </p:nvSpPr>
        <p:spPr>
          <a:xfrm xmlns:a="http://schemas.openxmlformats.org/drawingml/2006/main">
            <a:off x="6286500" y="451485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8693"/>
          </a:bodyPr>
          <a:lstStyle xmlns:a="http://schemas.openxmlformats.org/drawingml/2006/main"/>
          <a:p xmlns:a="http://schemas.openxmlformats.org/drawingml/2006/main">
            <a:pPr algn="l">
              <a:buNone/>
              <a:defRPr sz="1275" b="0" i="0">
                <a:solidFill>
                  <a:srgbClr val="102A43"/>
                </a:solidFill>
                <a:latin typeface="Arial"/>
                <a:ea typeface="Arial"/>
                <a:cs typeface="Arial"/>
              </a:defRPr>
            </a:pPr>
            <a:r>
              <a:rPr sz="1275" b="0" i="0">
                <a:solidFill>
                  <a:srgbClr val="102A43"/>
                </a:solidFill>
                <a:latin typeface="Arial"/>
                <a:ea typeface="Arial"/>
                <a:cs typeface="Arial"/>
              </a:rPr>
              <a:t>It had the lowest worst-case imbalance among the three measured strategies: ≤ 1.06 for p = 3–5. Pure cyclic collapses at odd p because divisibility patterns align with rank strides.</a:t>
            </a:r>
          </a:p>
        </p:txBody>
      </p:sp>
    </p:spTree>
    <p:extLst>
      <p:ext uri="{BB962C8B-B14F-4D97-AF65-F5344CB8AC3E}">
        <p14:creationId xmlns:p14="http://schemas.microsoft.com/office/powerpoint/2010/main" val="1099098411"/>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1997E363-D414-4C00-A27D-6D5EF7C606BE}"/>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2C5E96EC-67A2-4119-BEB3-126D127971D3}"/>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Rectangle 2">
            <a:extLst xmlns:a="http://schemas.openxmlformats.org/drawingml/2006/main">
              <a:ext uri="{FF2B5EF4-FFF2-40B4-BE49-F238E27FC236}">
                <a16:creationId xmlns:a16="http://schemas.microsoft.com/office/drawing/2014/main" id="{680D999E-4F74-45D8-805D-8B7F388D7A3B}"/>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Graph 1 — runtime across 30 problem sizes</a:t>
            </a:r>
          </a:p>
        </p:txBody>
      </p:sp>
      <p:sp>
        <p:nvSpPr>
          <p:cNvPr id="4" name="Rectangle 3">
            <a:extLst xmlns:a="http://schemas.openxmlformats.org/drawingml/2006/main">
              <a:ext uri="{FF2B5EF4-FFF2-40B4-BE49-F238E27FC236}">
                <a16:creationId xmlns:a16="http://schemas.microsoft.com/office/drawing/2014/main" id="{330F891F-3B7B-4720-9F1D-9C821266DFB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4 / 9</a:t>
            </a:r>
          </a:p>
        </p:txBody>
      </p:sp>
      <p:graphicFrame>
        <p:nvGraphicFramePr>
          <p:cNvPr id="14"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639e36fae0a34bed"/>
          </a:graphicData>
        </a:graphic>
      </p:graphicFrame>
      <p:sp>
        <p:nvSpPr>
          <p:cNvPr id="6" name="Rectangle: Rounded Corners 5">
            <a:extLst xmlns:a="http://schemas.openxmlformats.org/drawingml/2006/main">
              <a:ext uri="{FF2B5EF4-FFF2-40B4-BE49-F238E27FC236}">
                <a16:creationId xmlns:a16="http://schemas.microsoft.com/office/drawing/2014/main" id="{D4BF4945-C5DA-4268-A862-FDDA00AC2035}"/>
              </a:ext>
            </a:extLst>
          </p:cNvPr>
          <p:cNvSpPr>
            <a:spLocks xmlns:a="http://schemas.openxmlformats.org/drawingml/2006/main" noGrp="1"/>
          </p:cNvSpPr>
          <p:nvPr/>
        </p:nvSpPr>
        <p:spPr>
          <a:xfrm xmlns:a="http://schemas.openxmlformats.org/drawingml/2006/main">
            <a:off x="2524125" y="5753100"/>
            <a:ext cx="7143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58660757-2D9A-4985-820A-B534DE3D1FF7}"/>
              </a:ext>
            </a:extLst>
          </p:cNvPr>
          <p:cNvSpPr>
            <a:spLocks xmlns:a="http://schemas.openxmlformats.org/drawingml/2006/main" noGrp="1"/>
          </p:cNvSpPr>
          <p:nvPr/>
        </p:nvSpPr>
        <p:spPr>
          <a:xfrm xmlns:a="http://schemas.openxmlformats.org/drawingml/2006/main">
            <a:off x="2695575" y="5876925"/>
            <a:ext cx="6800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200" b="1" i="0">
                <a:solidFill>
                  <a:srgbClr val="8A4B08"/>
                </a:solidFill>
                <a:latin typeface="Arial"/>
                <a:ea typeface="Arial"/>
                <a:cs typeface="Arial"/>
              </a:defRPr>
            </a:pPr>
            <a:r>
              <a:rPr sz="1200" b="1" i="0">
                <a:solidFill>
                  <a:srgbClr val="8A4B08"/>
                </a:solidFill>
                <a:latin typeface="Arial"/>
                <a:ea typeface="Arial"/>
                <a:cs typeface="Arial"/>
              </a:rPr>
              <a:t>All 30 values are shown; no run is below one second.</a:t>
            </a:r>
          </a:p>
        </p:txBody>
      </p:sp>
    </p:spTree>
    <p:extLst>
      <p:ext uri="{BB962C8B-B14F-4D97-AF65-F5344CB8AC3E}">
        <p14:creationId xmlns:p14="http://schemas.microsoft.com/office/powerpoint/2010/main" val="1827850660"/>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F12940B4-5327-4B2F-AD40-DD51C83629C8}"/>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0ECACFC4-4B2D-4768-8500-16A24BA66F67}"/>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Rectangle 2">
            <a:extLst xmlns:a="http://schemas.openxmlformats.org/drawingml/2006/main">
              <a:ext uri="{FF2B5EF4-FFF2-40B4-BE49-F238E27FC236}">
                <a16:creationId xmlns:a16="http://schemas.microsoft.com/office/drawing/2014/main" id="{4D132D47-828B-4335-A6B4-4CA5C8E8B665}"/>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Graph 2 — speedup across 30 problem sizes</a:t>
            </a:r>
          </a:p>
        </p:txBody>
      </p:sp>
      <p:sp>
        <p:nvSpPr>
          <p:cNvPr id="4" name="Rectangle 3">
            <a:extLst xmlns:a="http://schemas.openxmlformats.org/drawingml/2006/main">
              <a:ext uri="{FF2B5EF4-FFF2-40B4-BE49-F238E27FC236}">
                <a16:creationId xmlns:a16="http://schemas.microsoft.com/office/drawing/2014/main" id="{69EC839A-A753-4CD6-AFF9-8F0DCCB48BDE}"/>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5 / 9</a:t>
            </a:r>
          </a:p>
        </p:txBody>
      </p:sp>
      <p:graphicFrame>
        <p:nvGraphicFramePr>
          <p:cNvPr id="14" name="Chart"/>
          <p:cNvGraphicFramePr/>
          <p:nvPr/>
        </p:nvGraphicFramePr>
        <p:xfrm>
          <a:off xmlns:a="http://schemas.openxmlformats.org/drawingml/2006/main" x="666750" y="1123950"/>
          <a:ext xmlns:a="http://schemas.openxmlformats.org/drawingml/2006/main" cx="10858500" cy="4476750"/>
        </p:xfrm>
        <a:graphic xmlns:a="http://schemas.openxmlformats.org/drawingml/2006/main">
          <a:graphicData uri="http://schemas.openxmlformats.org/drawingml/2006/chart">
            <c:chart xmlns:r="http://schemas.openxmlformats.org/officeDocument/2006/relationships" xmlns:c="http://schemas.openxmlformats.org/drawingml/2006/chart" r:id="R4b8e26a5abd041bd"/>
          </a:graphicData>
        </a:graphic>
      </p:graphicFrame>
      <p:sp>
        <p:nvSpPr>
          <p:cNvPr id="6" name="Rectangle: Rounded Corners 5">
            <a:extLst xmlns:a="http://schemas.openxmlformats.org/drawingml/2006/main">
              <a:ext uri="{FF2B5EF4-FFF2-40B4-BE49-F238E27FC236}">
                <a16:creationId xmlns:a16="http://schemas.microsoft.com/office/drawing/2014/main" id="{CA5F43F2-2DDE-417C-8429-10AA5F6A0C06}"/>
              </a:ext>
            </a:extLst>
          </p:cNvPr>
          <p:cNvSpPr>
            <a:spLocks xmlns:a="http://schemas.openxmlformats.org/drawingml/2006/main" noGrp="1"/>
          </p:cNvSpPr>
          <p:nvPr/>
        </p:nvSpPr>
        <p:spPr>
          <a:xfrm xmlns:a="http://schemas.openxmlformats.org/drawingml/2006/main">
            <a:off x="1381125" y="5753100"/>
            <a:ext cx="94297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B984E79D-5C7B-4263-B752-7D16FCB1ED50}"/>
              </a:ext>
            </a:extLst>
          </p:cNvPr>
          <p:cNvSpPr>
            <a:spLocks xmlns:a="http://schemas.openxmlformats.org/drawingml/2006/main" noGrp="1"/>
          </p:cNvSpPr>
          <p:nvPr/>
        </p:nvSpPr>
        <p:spPr>
          <a:xfrm xmlns:a="http://schemas.openxmlformats.org/drawingml/2006/main">
            <a:off x="1552575" y="5876925"/>
            <a:ext cx="90868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200" b="1" i="0">
                <a:solidFill>
                  <a:srgbClr val="8A4B08"/>
                </a:solidFill>
                <a:latin typeface="Arial"/>
                <a:ea typeface="Arial"/>
                <a:cs typeface="Arial"/>
              </a:defRPr>
            </a:pPr>
            <a:r>
              <a:rPr sz="1200" b="1" i="0">
                <a:solidFill>
                  <a:srgbClr val="8A4B08"/>
                </a:solidFill>
                <a:latin typeface="Arial"/>
                <a:ea typeface="Arial"/>
                <a:cs typeface="Arial"/>
              </a:rPr>
              <a:t>MPI stays near 3.3–3.6× at four processes; the OpenMP series is noisier but uses its own matched serial session.</a:t>
            </a:r>
          </a:p>
        </p:txBody>
      </p:sp>
    </p:spTree>
    <p:extLst>
      <p:ext uri="{BB962C8B-B14F-4D97-AF65-F5344CB8AC3E}">
        <p14:creationId xmlns:p14="http://schemas.microsoft.com/office/powerpoint/2010/main" val="774639110"/>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86270276-486C-481D-BCC1-5E3327723683}"/>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C86F42CD-5B85-4783-92D5-EB165F1047F0}"/>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Rectangle 2">
            <a:extLst xmlns:a="http://schemas.openxmlformats.org/drawingml/2006/main">
              <a:ext uri="{FF2B5EF4-FFF2-40B4-BE49-F238E27FC236}">
                <a16:creationId xmlns:a16="http://schemas.microsoft.com/office/drawing/2014/main" id="{83ABD229-5BBD-49E6-87EC-911606A38559}"/>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Graphs 3 and 6 — Task 1 scaling and Amdahl comparison</a:t>
            </a:r>
          </a:p>
        </p:txBody>
      </p:sp>
      <p:sp>
        <p:nvSpPr>
          <p:cNvPr id="4" name="Rectangle 3">
            <a:extLst xmlns:a="http://schemas.openxmlformats.org/drawingml/2006/main">
              <a:ext uri="{FF2B5EF4-FFF2-40B4-BE49-F238E27FC236}">
                <a16:creationId xmlns:a16="http://schemas.microsoft.com/office/drawing/2014/main" id="{FF0AC46E-7B69-4B07-8546-F8CA6BAB7B28}"/>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6 / 9</a:t>
            </a:r>
          </a:p>
        </p:txBody>
      </p:sp>
      <p:graphicFrame>
        <p:nvGraphicFramePr>
          <p:cNvPr id="16"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550028611d3f45ad"/>
          </a:graphicData>
        </a:graphic>
      </p:graphicFrame>
      <p:graphicFrame>
        <p:nvGraphicFramePr>
          <p:cNvPr id="17"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8addf4a97cb846f0"/>
          </a:graphicData>
        </a:graphic>
      </p:graphicFrame>
      <p:sp>
        <p:nvSpPr>
          <p:cNvPr id="7" name="Rectangle: Rounded Corners 6">
            <a:extLst xmlns:a="http://schemas.openxmlformats.org/drawingml/2006/main">
              <a:ext uri="{FF2B5EF4-FFF2-40B4-BE49-F238E27FC236}">
                <a16:creationId xmlns:a16="http://schemas.microsoft.com/office/drawing/2014/main" id="{94F3D913-0574-4D5A-8878-46EE2CD1FAB7}"/>
              </a:ext>
            </a:extLst>
          </p:cNvPr>
          <p:cNvSpPr>
            <a:spLocks xmlns:a="http://schemas.openxmlformats.org/drawingml/2006/main" noGrp="1"/>
          </p:cNvSpPr>
          <p:nvPr/>
        </p:nvSpPr>
        <p:spPr>
          <a:xfrm xmlns:a="http://schemas.openxmlformats.org/drawingml/2006/main">
            <a:off x="1095375" y="5619750"/>
            <a:ext cx="100012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C205AEA5-81ED-4F4F-8409-57BD2F333AC7}"/>
              </a:ext>
            </a:extLst>
          </p:cNvPr>
          <p:cNvSpPr>
            <a:spLocks xmlns:a="http://schemas.openxmlformats.org/drawingml/2006/main" noGrp="1"/>
          </p:cNvSpPr>
          <p:nvPr/>
        </p:nvSpPr>
        <p:spPr>
          <a:xfrm xmlns:a="http://schemas.openxmlformats.org/drawingml/2006/main">
            <a:off x="1266825" y="5743575"/>
            <a:ext cx="965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200" b="1" i="0">
                <a:solidFill>
                  <a:srgbClr val="8A4B08"/>
                </a:solidFill>
                <a:latin typeface="Arial"/>
                <a:ea typeface="Arial"/>
                <a:cs typeface="Arial"/>
              </a:defRPr>
            </a:pPr>
            <a:r>
              <a:rPr sz="1200" b="1" i="0">
                <a:solidFill>
                  <a:srgbClr val="8A4B08"/>
                </a:solidFill>
                <a:latin typeface="Arial"/>
                <a:ea typeface="Arial"/>
                <a:cs typeface="Arial"/>
              </a:rPr>
              <a:t>At p = 16: 6.02× empirical versus 12.67× Amdahl — collectives, contention and root-only output are not in the ideal model.</a:t>
            </a:r>
          </a:p>
        </p:txBody>
      </p:sp>
    </p:spTree>
    <p:extLst>
      <p:ext uri="{BB962C8B-B14F-4D97-AF65-F5344CB8AC3E}">
        <p14:creationId xmlns:p14="http://schemas.microsoft.com/office/powerpoint/2010/main" val="88455055"/>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34" name="Rectangle 33">
            <a:extLst xmlns:a="http://schemas.openxmlformats.org/drawingml/2006/main">
              <a:ext uri="{FF2B5EF4-FFF2-40B4-BE49-F238E27FC236}">
                <a16:creationId xmlns:a16="http://schemas.microsoft.com/office/drawing/2014/main" id="{E4877058-4D46-469D-8A77-3B7282D037E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3ACD485C-2739-48EE-B357-7EA881467ED9}"/>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Rectangle 2">
            <a:extLst xmlns:a="http://schemas.openxmlformats.org/drawingml/2006/main">
              <a:ext uri="{FF2B5EF4-FFF2-40B4-BE49-F238E27FC236}">
                <a16:creationId xmlns:a16="http://schemas.microsoft.com/office/drawing/2014/main" id="{BF85213B-4A14-4752-9E24-E25C752A915C}"/>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Task 2: hybrid decomposition and measured balance</a:t>
            </a:r>
          </a:p>
        </p:txBody>
      </p:sp>
      <p:sp>
        <p:nvSpPr>
          <p:cNvPr id="4" name="Rectangle 3">
            <a:extLst xmlns:a="http://schemas.openxmlformats.org/drawingml/2006/main">
              <a:ext uri="{FF2B5EF4-FFF2-40B4-BE49-F238E27FC236}">
                <a16:creationId xmlns:a16="http://schemas.microsoft.com/office/drawing/2014/main" id="{7A59D5B1-F9C6-477E-B88B-6D081FDB250F}"/>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7 / 9</a:t>
            </a:r>
          </a:p>
        </p:txBody>
      </p:sp>
      <p:sp>
        <p:nvSpPr>
          <p:cNvPr id="5" name="Rectangle 4">
            <a:extLst xmlns:a="http://schemas.openxmlformats.org/drawingml/2006/main">
              <a:ext uri="{FF2B5EF4-FFF2-40B4-BE49-F238E27FC236}">
                <a16:creationId xmlns:a16="http://schemas.microsoft.com/office/drawing/2014/main" id="{2961856D-A6FF-4E4C-89E5-31C5E46696F6}"/>
              </a:ext>
            </a:extLst>
          </p:cNvPr>
          <p:cNvSpPr>
            <a:spLocks xmlns:a="http://schemas.openxmlformats.org/drawingml/2006/main" noGrp="1"/>
          </p:cNvSpPr>
          <p:nvPr/>
        </p:nvSpPr>
        <p:spPr>
          <a:xfrm xmlns:a="http://schemas.openxmlformats.org/drawingml/2006/main">
            <a:off x="552450" y="1162050"/>
            <a:ext cx="485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697"/>
          </a:bodyPr>
          <a:lstStyle xmlns:a="http://schemas.openxmlformats.org/drawingml/2006/main"/>
          <a:p xmlns:a="http://schemas.openxmlformats.org/drawingml/2006/main">
            <a:pPr algn="l">
              <a:buNone/>
              <a:defRPr sz="1650" b="1" i="0">
                <a:solidFill>
                  <a:srgbClr val="005F66"/>
                </a:solidFill>
                <a:latin typeface="Arial"/>
                <a:ea typeface="Arial"/>
                <a:cs typeface="Arial"/>
              </a:defRPr>
            </a:pPr>
            <a:r>
              <a:rPr sz="1650" b="1" i="0">
                <a:solidFill>
                  <a:srgbClr val="005F66"/>
                </a:solidFill>
                <a:latin typeface="Arial"/>
                <a:ea typeface="Arial"/>
                <a:cs typeface="Arial"/>
              </a:rPr>
              <a:t>Two-level parallelism</a:t>
            </a:r>
          </a:p>
        </p:txBody>
      </p:sp>
      <p:sp>
        <p:nvSpPr>
          <p:cNvPr id="6" name="Rectangle: Rounded Corners 5">
            <a:extLst xmlns:a="http://schemas.openxmlformats.org/drawingml/2006/main">
              <a:ext uri="{FF2B5EF4-FFF2-40B4-BE49-F238E27FC236}">
                <a16:creationId xmlns:a16="http://schemas.microsoft.com/office/drawing/2014/main" id="{FFC46731-243D-40E1-8ACC-9D887E0EBD98}"/>
              </a:ext>
            </a:extLst>
          </p:cNvPr>
          <p:cNvSpPr>
            <a:spLocks xmlns:a="http://schemas.openxmlformats.org/drawingml/2006/main" noGrp="1"/>
          </p:cNvSpPr>
          <p:nvPr/>
        </p:nvSpPr>
        <p:spPr>
          <a:xfrm xmlns:a="http://schemas.openxmlformats.org/drawingml/2006/main">
            <a:off x="55245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3B6FB6"/>
            </a:solidFill>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18F1D241-D2D9-4BCC-9473-C7229FFC5B9E}"/>
              </a:ext>
            </a:extLst>
          </p:cNvPr>
          <p:cNvSpPr>
            <a:spLocks xmlns:a="http://schemas.openxmlformats.org/drawingml/2006/main" noGrp="1"/>
          </p:cNvSpPr>
          <p:nvPr/>
        </p:nvSpPr>
        <p:spPr>
          <a:xfrm xmlns:a="http://schemas.openxmlformats.org/drawingml/2006/main">
            <a:off x="66675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buNone/>
              <a:defRPr sz="1575" b="1" i="0">
                <a:solidFill>
                  <a:srgbClr val="3B6FB6"/>
                </a:solidFill>
                <a:latin typeface="Arial"/>
                <a:ea typeface="Arial"/>
                <a:cs typeface="Arial"/>
              </a:defRPr>
            </a:pPr>
            <a:r>
              <a:rPr sz="1575" b="1" i="0">
                <a:solidFill>
                  <a:srgbClr val="3B6FB6"/>
                </a:solidFill>
                <a:latin typeface="Arial"/>
                <a:ea typeface="Arial"/>
                <a:cs typeface="Arial"/>
              </a:rPr>
              <a:t>MPI</a:t>
            </a:r>
          </a:p>
        </p:txBody>
      </p:sp>
      <p:sp>
        <p:nvSpPr>
          <p:cNvPr id="8" name="Rectangle 7">
            <a:extLst xmlns:a="http://schemas.openxmlformats.org/drawingml/2006/main">
              <a:ext uri="{FF2B5EF4-FFF2-40B4-BE49-F238E27FC236}">
                <a16:creationId xmlns:a16="http://schemas.microsoft.com/office/drawing/2014/main" id="{FCEC4075-D3FF-4839-94F7-46A16B3DEA2F}"/>
              </a:ext>
            </a:extLst>
          </p:cNvPr>
          <p:cNvSpPr>
            <a:spLocks xmlns:a="http://schemas.openxmlformats.org/drawingml/2006/main" noGrp="1"/>
          </p:cNvSpPr>
          <p:nvPr/>
        </p:nvSpPr>
        <p:spPr>
          <a:xfrm xmlns:a="http://schemas.openxmlformats.org/drawingml/2006/main">
            <a:off x="66675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630"/>
          </a:bodyPr>
          <a:lstStyle xmlns:a="http://schemas.openxmlformats.org/drawingml/2006/main"/>
          <a:p xmlns:a="http://schemas.openxmlformats.org/drawingml/2006/main">
            <a:pPr algn="ctr">
              <a:buNone/>
              <a:defRPr sz="1125" b="0" i="0">
                <a:solidFill>
                  <a:srgbClr val="102A43"/>
                </a:solidFill>
                <a:latin typeface="Arial"/>
                <a:ea typeface="Arial"/>
                <a:cs typeface="Arial"/>
              </a:defRPr>
            </a:pPr>
            <a:r>
              <a:rPr sz="1125" b="0" i="0">
                <a:solidFill>
                  <a:srgbClr val="102A43"/>
                </a:solidFill>
                <a:latin typeface="Arial"/>
                <a:ea typeface="Arial"/>
                <a:cs typeface="Arial"/>
              </a:rPr>
              <a:t>block-cyclic chunks</a:t>
            </a:r>
          </a:p>
          <a:p xmlns:a="http://schemas.openxmlformats.org/drawingml/2006/main">
            <a:pPr algn="ctr">
              <a:buNone/>
              <a:defRPr sz="1125" b="0" i="0">
                <a:solidFill>
                  <a:srgbClr val="102A43"/>
                </a:solidFill>
                <a:latin typeface="Arial"/>
                <a:ea typeface="Arial"/>
                <a:cs typeface="Arial"/>
              </a:defRPr>
            </a:pPr>
            <a:r>
              <a:rPr sz="1125" b="0" i="0">
                <a:solidFill>
                  <a:srgbClr val="102A43"/>
                </a:solidFill>
                <a:latin typeface="Arial"/>
                <a:ea typeface="Arial"/>
                <a:cs typeface="Arial"/>
              </a:rPr>
              <a:t>across processes</a:t>
            </a:r>
          </a:p>
        </p:txBody>
      </p:sp>
      <p:sp>
        <p:nvSpPr>
          <p:cNvPr id="9" name="Rectangle 8">
            <a:extLst xmlns:a="http://schemas.openxmlformats.org/drawingml/2006/main">
              <a:ext uri="{FF2B5EF4-FFF2-40B4-BE49-F238E27FC236}">
                <a16:creationId xmlns:a16="http://schemas.microsoft.com/office/drawing/2014/main" id="{EF26A49F-A616-4F20-B788-0A2E4972077C}"/>
              </a:ext>
            </a:extLst>
          </p:cNvPr>
          <p:cNvSpPr>
            <a:spLocks xmlns:a="http://schemas.openxmlformats.org/drawingml/2006/main" noGrp="1"/>
          </p:cNvSpPr>
          <p:nvPr/>
        </p:nvSpPr>
        <p:spPr>
          <a:xfrm xmlns:a="http://schemas.openxmlformats.org/drawingml/2006/main">
            <a:off x="2047875"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buNone/>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0" name="Rectangle: Rounded Corners 9">
            <a:extLst xmlns:a="http://schemas.openxmlformats.org/drawingml/2006/main">
              <a:ext uri="{FF2B5EF4-FFF2-40B4-BE49-F238E27FC236}">
                <a16:creationId xmlns:a16="http://schemas.microsoft.com/office/drawing/2014/main" id="{F0EEF6C4-F465-4A7C-8469-31A4D6F4BABA}"/>
              </a:ext>
            </a:extLst>
          </p:cNvPr>
          <p:cNvSpPr>
            <a:spLocks xmlns:a="http://schemas.openxmlformats.org/drawingml/2006/main" noGrp="1"/>
          </p:cNvSpPr>
          <p:nvPr/>
        </p:nvSpPr>
        <p:spPr>
          <a:xfrm xmlns:a="http://schemas.openxmlformats.org/drawingml/2006/main">
            <a:off x="2295525"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0C05A80B-7C65-4195-95F2-543AB1A3A532}"/>
              </a:ext>
            </a:extLst>
          </p:cNvPr>
          <p:cNvSpPr>
            <a:spLocks xmlns:a="http://schemas.openxmlformats.org/drawingml/2006/main" noGrp="1"/>
          </p:cNvSpPr>
          <p:nvPr/>
        </p:nvSpPr>
        <p:spPr>
          <a:xfrm xmlns:a="http://schemas.openxmlformats.org/drawingml/2006/main">
            <a:off x="2409825"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buNone/>
              <a:defRPr sz="1575" b="1" i="0">
                <a:solidFill>
                  <a:srgbClr val="007C83"/>
                </a:solidFill>
                <a:latin typeface="Arial"/>
                <a:ea typeface="Arial"/>
                <a:cs typeface="Arial"/>
              </a:defRPr>
            </a:pPr>
            <a:r>
              <a:rPr sz="1575" b="1" i="0">
                <a:solidFill>
                  <a:srgbClr val="007C83"/>
                </a:solidFill>
                <a:latin typeface="Arial"/>
                <a:ea typeface="Arial"/>
                <a:cs typeface="Arial"/>
              </a:rPr>
              <a:t>OpenMP</a:t>
            </a:r>
          </a:p>
        </p:txBody>
      </p:sp>
      <p:sp>
        <p:nvSpPr>
          <p:cNvPr id="12" name="Rectangle 11">
            <a:extLst xmlns:a="http://schemas.openxmlformats.org/drawingml/2006/main">
              <a:ext uri="{FF2B5EF4-FFF2-40B4-BE49-F238E27FC236}">
                <a16:creationId xmlns:a16="http://schemas.microsoft.com/office/drawing/2014/main" id="{FBAEC9DF-C641-44D1-A307-98CFFB316FB0}"/>
              </a:ext>
            </a:extLst>
          </p:cNvPr>
          <p:cNvSpPr>
            <a:spLocks xmlns:a="http://schemas.openxmlformats.org/drawingml/2006/main" noGrp="1"/>
          </p:cNvSpPr>
          <p:nvPr/>
        </p:nvSpPr>
        <p:spPr>
          <a:xfrm xmlns:a="http://schemas.openxmlformats.org/drawingml/2006/main">
            <a:off x="2409825"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4897"/>
          </a:bodyPr>
          <a:lstStyle xmlns:a="http://schemas.openxmlformats.org/drawingml/2006/main"/>
          <a:p xmlns:a="http://schemas.openxmlformats.org/drawingml/2006/main">
            <a:pPr algn="ctr">
              <a:buNone/>
              <a:defRPr sz="1125" b="0" i="0">
                <a:solidFill>
                  <a:srgbClr val="102A43"/>
                </a:solidFill>
                <a:latin typeface="Arial"/>
                <a:ea typeface="Arial"/>
                <a:cs typeface="Arial"/>
              </a:defRPr>
            </a:pPr>
            <a:r>
              <a:rPr sz="1125" b="0" i="0">
                <a:solidFill>
                  <a:srgbClr val="102A43"/>
                </a:solidFill>
                <a:latin typeface="Arial"/>
                <a:ea typeface="Arial"/>
                <a:cs typeface="Arial"/>
              </a:rPr>
              <a:t>dynamic schedule(64)</a:t>
            </a:r>
          </a:p>
          <a:p xmlns:a="http://schemas.openxmlformats.org/drawingml/2006/main">
            <a:pPr algn="ctr">
              <a:buNone/>
              <a:defRPr sz="1125" b="0" i="0">
                <a:solidFill>
                  <a:srgbClr val="102A43"/>
                </a:solidFill>
                <a:latin typeface="Arial"/>
                <a:ea typeface="Arial"/>
                <a:cs typeface="Arial"/>
              </a:defRPr>
            </a:pPr>
            <a:r>
              <a:rPr sz="1125" b="0" i="0">
                <a:solidFill>
                  <a:srgbClr val="102A43"/>
                </a:solidFill>
                <a:latin typeface="Arial"/>
                <a:ea typeface="Arial"/>
                <a:cs typeface="Arial"/>
              </a:rPr>
              <a:t>inside each process</a:t>
            </a:r>
          </a:p>
        </p:txBody>
      </p:sp>
      <p:sp>
        <p:nvSpPr>
          <p:cNvPr id="13" name="Rectangle 12">
            <a:extLst xmlns:a="http://schemas.openxmlformats.org/drawingml/2006/main">
              <a:ext uri="{FF2B5EF4-FFF2-40B4-BE49-F238E27FC236}">
                <a16:creationId xmlns:a16="http://schemas.microsoft.com/office/drawing/2014/main" id="{3833300B-0CB4-45A8-9E1F-609AB584CD23}"/>
              </a:ext>
            </a:extLst>
          </p:cNvPr>
          <p:cNvSpPr>
            <a:spLocks xmlns:a="http://schemas.openxmlformats.org/drawingml/2006/main" noGrp="1"/>
          </p:cNvSpPr>
          <p:nvPr/>
        </p:nvSpPr>
        <p:spPr>
          <a:xfrm xmlns:a="http://schemas.openxmlformats.org/drawingml/2006/main">
            <a:off x="3790950" y="2114550"/>
            <a:ext cx="266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31234"/>
          </a:bodyPr>
          <a:lstStyle xmlns:a="http://schemas.openxmlformats.org/drawingml/2006/main"/>
          <a:p xmlns:a="http://schemas.openxmlformats.org/drawingml/2006/main">
            <a:pPr algn="ctr">
              <a:buNone/>
              <a:defRPr sz="2100" b="1" i="0">
                <a:solidFill>
                  <a:srgbClr val="486581"/>
                </a:solidFill>
                <a:latin typeface="Arial"/>
                <a:ea typeface="Arial"/>
                <a:cs typeface="Arial"/>
              </a:defRPr>
            </a:pPr>
            <a:r>
              <a:rPr sz="2100" b="1" i="0">
                <a:solidFill>
                  <a:srgbClr val="486581"/>
                </a:solidFill>
                <a:latin typeface="Arial"/>
                <a:ea typeface="Arial"/>
                <a:cs typeface="Arial"/>
              </a:rPr>
              <a:t>→</a:t>
            </a:r>
          </a:p>
        </p:txBody>
      </p:sp>
      <p:sp>
        <p:nvSpPr>
          <p:cNvPr id="14" name="Rectangle: Rounded Corners 13">
            <a:extLst xmlns:a="http://schemas.openxmlformats.org/drawingml/2006/main">
              <a:ext uri="{FF2B5EF4-FFF2-40B4-BE49-F238E27FC236}">
                <a16:creationId xmlns:a16="http://schemas.microsoft.com/office/drawing/2014/main" id="{6C23EB0E-CB1F-4125-8336-8AEDADD7570E}"/>
              </a:ext>
            </a:extLst>
          </p:cNvPr>
          <p:cNvSpPr>
            <a:spLocks xmlns:a="http://schemas.openxmlformats.org/drawingml/2006/main" noGrp="1"/>
          </p:cNvSpPr>
          <p:nvPr/>
        </p:nvSpPr>
        <p:spPr>
          <a:xfrm xmlns:a="http://schemas.openxmlformats.org/drawingml/2006/main">
            <a:off x="4038600" y="1657350"/>
            <a:ext cx="1476375" cy="13335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15" name="Rectangle 14">
            <a:extLst xmlns:a="http://schemas.openxmlformats.org/drawingml/2006/main">
              <a:ext uri="{FF2B5EF4-FFF2-40B4-BE49-F238E27FC236}">
                <a16:creationId xmlns:a16="http://schemas.microsoft.com/office/drawing/2014/main" id="{B974EB10-E9FA-4E4D-AFBD-B2DBA60BB700}"/>
              </a:ext>
            </a:extLst>
          </p:cNvPr>
          <p:cNvSpPr>
            <a:spLocks xmlns:a="http://schemas.openxmlformats.org/drawingml/2006/main" noGrp="1"/>
          </p:cNvSpPr>
          <p:nvPr/>
        </p:nvSpPr>
        <p:spPr>
          <a:xfrm xmlns:a="http://schemas.openxmlformats.org/drawingml/2006/main">
            <a:off x="4152900" y="1847850"/>
            <a:ext cx="1247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9048"/>
          </a:bodyPr>
          <a:lstStyle xmlns:a="http://schemas.openxmlformats.org/drawingml/2006/main"/>
          <a:p xmlns:a="http://schemas.openxmlformats.org/drawingml/2006/main">
            <a:pPr algn="ctr">
              <a:buNone/>
              <a:defRPr sz="1575" b="1" i="0">
                <a:solidFill>
                  <a:srgbClr val="F28E2B"/>
                </a:solidFill>
                <a:latin typeface="Arial"/>
                <a:ea typeface="Arial"/>
                <a:cs typeface="Arial"/>
              </a:defRPr>
            </a:pPr>
            <a:r>
              <a:rPr sz="1575" b="1" i="0">
                <a:solidFill>
                  <a:srgbClr val="F28E2B"/>
                </a:solidFill>
                <a:latin typeface="Arial"/>
                <a:ea typeface="Arial"/>
                <a:cs typeface="Arial"/>
              </a:rPr>
              <a:t>Rank 0</a:t>
            </a:r>
          </a:p>
        </p:txBody>
      </p:sp>
      <p:sp>
        <p:nvSpPr>
          <p:cNvPr id="16" name="Rectangle 15">
            <a:extLst xmlns:a="http://schemas.openxmlformats.org/drawingml/2006/main">
              <a:ext uri="{FF2B5EF4-FFF2-40B4-BE49-F238E27FC236}">
                <a16:creationId xmlns:a16="http://schemas.microsoft.com/office/drawing/2014/main" id="{5CDC2862-FBCA-4E13-BA7A-F78DA790C164}"/>
              </a:ext>
            </a:extLst>
          </p:cNvPr>
          <p:cNvSpPr>
            <a:spLocks xmlns:a="http://schemas.openxmlformats.org/drawingml/2006/main" noGrp="1"/>
          </p:cNvSpPr>
          <p:nvPr/>
        </p:nvSpPr>
        <p:spPr>
          <a:xfrm xmlns:a="http://schemas.openxmlformats.org/drawingml/2006/main">
            <a:off x="4152900" y="2238375"/>
            <a:ext cx="12477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125" b="0" i="0">
                <a:solidFill>
                  <a:srgbClr val="102A43"/>
                </a:solidFill>
                <a:latin typeface="Arial"/>
                <a:ea typeface="Arial"/>
                <a:cs typeface="Arial"/>
              </a:defRPr>
            </a:pPr>
            <a:r>
              <a:rPr sz="1125" b="0" i="0">
                <a:solidFill>
                  <a:srgbClr val="102A43"/>
                </a:solidFill>
                <a:latin typeface="Arial"/>
                <a:ea typeface="Arial"/>
                <a:cs typeface="Arial"/>
              </a:rPr>
              <a:t>k-way merge +</a:t>
            </a:r>
          </a:p>
          <a:p xmlns:a="http://schemas.openxmlformats.org/drawingml/2006/main">
            <a:pPr algn="ctr">
              <a:buNone/>
              <a:defRPr sz="1125" b="0" i="0">
                <a:solidFill>
                  <a:srgbClr val="102A43"/>
                </a:solidFill>
                <a:latin typeface="Arial"/>
                <a:ea typeface="Arial"/>
                <a:cs typeface="Arial"/>
              </a:defRPr>
            </a:pPr>
            <a:r>
              <a:rPr sz="1125" b="0" i="0">
                <a:solidFill>
                  <a:srgbClr val="102A43"/>
                </a:solidFill>
                <a:latin typeface="Arial"/>
                <a:ea typeface="Arial"/>
                <a:cs typeface="Arial"/>
              </a:rPr>
              <a:t>buffered output</a:t>
            </a:r>
          </a:p>
        </p:txBody>
      </p:sp>
      <p:sp>
        <p:nvSpPr>
          <p:cNvPr id="17" name="Rectangle: Rounded Corners 16">
            <a:extLst xmlns:a="http://schemas.openxmlformats.org/drawingml/2006/main">
              <a:ext uri="{FF2B5EF4-FFF2-40B4-BE49-F238E27FC236}">
                <a16:creationId xmlns:a16="http://schemas.microsoft.com/office/drawing/2014/main" id="{0E1A9335-2D19-47CD-B8F7-35C370FD7081}"/>
              </a:ext>
            </a:extLst>
          </p:cNvPr>
          <p:cNvSpPr>
            <a:spLocks xmlns:a="http://schemas.openxmlformats.org/drawingml/2006/main" noGrp="1"/>
          </p:cNvSpPr>
          <p:nvPr/>
        </p:nvSpPr>
        <p:spPr>
          <a:xfrm xmlns:a="http://schemas.openxmlformats.org/drawingml/2006/main">
            <a:off x="552450" y="3314700"/>
            <a:ext cx="4962525" cy="2000250"/>
          </a:xfrm>
          <a:prstGeom xmlns:a="http://schemas.openxmlformats.org/drawingml/2006/main" prst="roundRect">
            <a:avLst>
              <a:gd name="adj" fmla="val 3810"/>
            </a:avLst>
          </a:prstGeom>
          <a:solidFill xmlns:a="http://schemas.openxmlformats.org/drawingml/2006/main">
            <a:srgbClr val="E6FFFA"/>
          </a:solidFill>
          <a:ln xmlns:a="http://schemas.openxmlformats.org/drawingml/2006/main" w="9525">
            <a:solidFill>
              <a:srgbClr val="9ED9D5"/>
            </a:solidFill>
          </a:ln>
        </p:spPr>
        <p:txBody>
          <a:bodyPr xmlns:a="http://schemas.openxmlformats.org/drawingml/2006/main"/>
          <a:lstStyle xmlns:a="http://schemas.openxmlformats.org/drawingml/2006/main"/>
          <a:p xmlns:a="http://schemas.openxmlformats.org/drawingml/2006/main">
            <a:endParaRPr/>
          </a:p>
        </p:txBody>
      </p:sp>
      <p:sp>
        <p:nvSpPr>
          <p:cNvPr id="18" name="Rectangle 17">
            <a:extLst xmlns:a="http://schemas.openxmlformats.org/drawingml/2006/main">
              <a:ext uri="{FF2B5EF4-FFF2-40B4-BE49-F238E27FC236}">
                <a16:creationId xmlns:a16="http://schemas.microsoft.com/office/drawing/2014/main" id="{FFAF9D05-3268-45E6-B61B-7BD39EB956DB}"/>
              </a:ext>
            </a:extLst>
          </p:cNvPr>
          <p:cNvSpPr>
            <a:spLocks xmlns:a="http://schemas.openxmlformats.org/drawingml/2006/main" noGrp="1"/>
          </p:cNvSpPr>
          <p:nvPr/>
        </p:nvSpPr>
        <p:spPr>
          <a:xfrm xmlns:a="http://schemas.openxmlformats.org/drawingml/2006/main">
            <a:off x="781050" y="3543300"/>
            <a:ext cx="4476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930"/>
          </a:bodyPr>
          <a:lstStyle xmlns:a="http://schemas.openxmlformats.org/drawingml/2006/main"/>
          <a:p xmlns:a="http://schemas.openxmlformats.org/drawingml/2006/main">
            <a:pPr algn="l">
              <a:buNone/>
              <a:defRPr sz="1425" b="1" i="0">
                <a:solidFill>
                  <a:srgbClr val="005F66"/>
                </a:solidFill>
                <a:latin typeface="Arial"/>
                <a:ea typeface="Arial"/>
                <a:cs typeface="Arial"/>
              </a:defRPr>
            </a:pPr>
            <a:r>
              <a:rPr sz="1425" b="1" i="0">
                <a:solidFill>
                  <a:srgbClr val="005F66"/>
                </a:solidFill>
                <a:latin typeface="Arial"/>
                <a:ea typeface="Arial"/>
                <a:cs typeface="Arial"/>
              </a:rPr>
              <a:t>Why dynamic scheduling remains useful</a:t>
            </a:r>
          </a:p>
        </p:txBody>
      </p:sp>
      <p:sp>
        <p:nvSpPr>
          <p:cNvPr id="19" name="Rectangle 18">
            <a:extLst xmlns:a="http://schemas.openxmlformats.org/drawingml/2006/main">
              <a:ext uri="{FF2B5EF4-FFF2-40B4-BE49-F238E27FC236}">
                <a16:creationId xmlns:a16="http://schemas.microsoft.com/office/drawing/2014/main" id="{1A6601BD-53D6-422D-8381-4F0102680303}"/>
              </a:ext>
            </a:extLst>
          </p:cNvPr>
          <p:cNvSpPr>
            <a:spLocks xmlns:a="http://schemas.openxmlformats.org/drawingml/2006/main" noGrp="1"/>
          </p:cNvSpPr>
          <p:nvPr/>
        </p:nvSpPr>
        <p:spPr>
          <a:xfrm xmlns:a="http://schemas.openxmlformats.org/drawingml/2006/main">
            <a:off x="781050" y="3981450"/>
            <a:ext cx="4476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Trial division has irregular per-candidate cost. MPI chunks balance rank-level work; OpenMP dynamic scheduling smooths the remaining variation between threads without changing output order.</a:t>
            </a:r>
          </a:p>
        </p:txBody>
      </p:sp>
      <p:sp>
        <p:nvSpPr>
          <p:cNvPr id="20" name="Rectangle 19">
            <a:extLst xmlns:a="http://schemas.openxmlformats.org/drawingml/2006/main">
              <a:ext uri="{FF2B5EF4-FFF2-40B4-BE49-F238E27FC236}">
                <a16:creationId xmlns:a16="http://schemas.microsoft.com/office/drawing/2014/main" id="{CDF5EFCD-274C-450C-8C75-C4501B37F2E1}"/>
              </a:ext>
            </a:extLst>
          </p:cNvPr>
          <p:cNvSpPr>
            <a:spLocks xmlns:a="http://schemas.openxmlformats.org/drawingml/2006/main" noGrp="1"/>
          </p:cNvSpPr>
          <p:nvPr/>
        </p:nvSpPr>
        <p:spPr>
          <a:xfrm xmlns:a="http://schemas.openxmlformats.org/drawingml/2006/main">
            <a:off x="5943600" y="1200150"/>
            <a:ext cx="5695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Representative local execution at n = 60M</a:t>
            </a:r>
          </a:p>
        </p:txBody>
      </p:sp>
      <p:graphicFrame>
        <p:nvGraphicFramePr>
          <p:cNvPr id="56" name="Table 55"/>
          <p:cNvGraphicFramePr/>
          <p:nvPr/>
        </p:nvGraphicFramePr>
        <p:xfrm>
          <a:off xmlns:a="http://schemas.openxmlformats.org/drawingml/2006/main" x="5943600" y="1638300"/>
          <a:ext xmlns:a="http://schemas.openxmlformats.org/drawingml/2006/main" cx="5695950" cy="1581150"/>
        </p:xfrm>
        <a:graphic xmlns:a="http://schemas.openxmlformats.org/drawingml/2006/main">
          <a:graphicData uri="http://schemas.openxmlformats.org/drawingml/2006/table">
            <a:tbl>
              <a:tblPr firstRow="1"/>
              <a:tblGrid>
                <a:gridCol w="1047750"/>
                <a:gridCol w="1190625"/>
                <a:gridCol w="1190625"/>
                <a:gridCol w="1190625"/>
                <a:gridCol w="1076325"/>
              </a:tblGrid>
              <a:tr h="52705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Configuration</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min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 compute</a:t>
                      </a:r>
                    </a:p>
                  </a:txBody>
                  <a:tcPr marL="76200" marR="76200" marT="57150" marB="57150" anchor="ctr">
                    <a:solidFill>
                      <a:srgbClr val="005F66"/>
                    </a:solidFill>
                  </a:tcPr>
                </a:tc>
                <a:tc>
                  <a:txBody>
                    <a:bodyPr/>
                    <a:lstStyle/>
                    <a:p>
                      <a:r>
                        <a:rPr sz="900" b="1">
                          <a:solidFill>
                            <a:srgbClr val="FFFFFF"/>
                          </a:solidFill>
                          <a:latin typeface="Arial"/>
                          <a:ea typeface="Arial"/>
                          <a:cs typeface="Arial"/>
                        </a:rPr>
                        <a:t>max/min</a:t>
                      </a:r>
                    </a:p>
                  </a:txBody>
                  <a:tcPr marL="76200" marR="76200" marT="57150" marB="57150" anchor="ctr">
                    <a:solidFill>
                      <a:srgbClr val="005F66"/>
                    </a:solidFill>
                  </a:tcPr>
                </a:tc>
              </a:tr>
              <a:tr h="527050">
                <a:tc>
                  <a:txBody>
                    <a:bodyPr/>
                    <a:lstStyle/>
                    <a:p>
                      <a:r>
                        <a:rPr sz="900">
                          <a:solidFill>
                            <a:srgbClr val="102A43"/>
                          </a:solidFill>
                          <a:latin typeface="Arial"/>
                          <a:ea typeface="Arial"/>
                          <a:cs typeface="Arial"/>
                        </a:rPr>
                        <a:t>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4 ranks</a:t>
                      </a:r>
                    </a:p>
                  </a:txBody>
                  <a:tcPr marL="76200" marR="76200" marT="47625" marB="47625" anchor="ctr">
                    <a:solidFill>
                      <a:srgbClr val="FFFFFF"/>
                    </a:solidFill>
                  </a:tcPr>
                </a:tc>
                <a:tc>
                  <a:txBody>
                    <a:bodyPr/>
                    <a:lstStyle/>
                    <a:p>
                      <a:r>
                        <a:rPr sz="900">
                          <a:solidFill>
                            <a:srgbClr val="102A43"/>
                          </a:solidFill>
                          <a:latin typeface="Arial"/>
                          <a:ea typeface="Arial"/>
                          <a:cs typeface="Arial"/>
                        </a:rPr>
                        <a:t>6.446 s</a:t>
                      </a:r>
                    </a:p>
                  </a:txBody>
                  <a:tcPr marL="76200" marR="76200" marT="47625" marB="47625" anchor="ctr">
                    <a:solidFill>
                      <a:srgbClr val="FFFFFF"/>
                    </a:solidFill>
                  </a:tcPr>
                </a:tc>
                <a:tc>
                  <a:txBody>
                    <a:bodyPr/>
                    <a:lstStyle/>
                    <a:p>
                      <a:r>
                        <a:rPr sz="900">
                          <a:solidFill>
                            <a:srgbClr val="102A43"/>
                          </a:solidFill>
                          <a:latin typeface="Arial"/>
                          <a:ea typeface="Arial"/>
                          <a:cs typeface="Arial"/>
                        </a:rPr>
                        <a:t>6.507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1.009</a:t>
                      </a:r>
                    </a:p>
                  </a:txBody>
                  <a:tcPr marL="76200" marR="76200" marT="47625" marB="47625" anchor="ctr">
                    <a:solidFill>
                      <a:srgbClr val="FFFFFF"/>
                    </a:solidFill>
                  </a:tcPr>
                </a:tc>
              </a:tr>
              <a:tr h="527050">
                <a:tc>
                  <a:txBody>
                    <a:bodyPr/>
                    <a:lstStyle/>
                    <a:p>
                      <a:r>
                        <a:rPr sz="900">
                          <a:solidFill>
                            <a:srgbClr val="102A43"/>
                          </a:solidFill>
                          <a:latin typeface="Arial"/>
                          <a:ea typeface="Arial"/>
                          <a:cs typeface="Arial"/>
                        </a:rPr>
                        <a:t>Task 2</a:t>
                      </a:r>
                    </a:p>
                  </a:txBody>
                  <a:tcPr marL="76200" marR="76200" marT="47625" marB="47625" anchor="ctr">
                    <a:solidFill>
                      <a:srgbClr val="FFFFFF"/>
                    </a:solidFill>
                  </a:tcPr>
                </a:tc>
                <a:tc>
                  <a:txBody>
                    <a:bodyPr/>
                    <a:lstStyle/>
                    <a:p>
                      <a:r>
                        <a:rPr sz="900">
                          <a:solidFill>
                            <a:srgbClr val="102A43"/>
                          </a:solidFill>
                          <a:latin typeface="Arial"/>
                          <a:ea typeface="Arial"/>
                          <a:cs typeface="Arial"/>
                        </a:rPr>
                        <a:t>4 × 2</a:t>
                      </a:r>
                    </a:p>
                  </a:txBody>
                  <a:tcPr marL="76200" marR="76200" marT="47625" marB="47625" anchor="ctr">
                    <a:solidFill>
                      <a:srgbClr val="FFFFFF"/>
                    </a:solidFill>
                  </a:tcPr>
                </a:tc>
                <a:tc>
                  <a:txBody>
                    <a:bodyPr/>
                    <a:lstStyle/>
                    <a:p>
                      <a:r>
                        <a:rPr sz="900">
                          <a:solidFill>
                            <a:srgbClr val="102A43"/>
                          </a:solidFill>
                          <a:latin typeface="Arial"/>
                          <a:ea typeface="Arial"/>
                          <a:cs typeface="Arial"/>
                        </a:rPr>
                        <a:t>4.567 s</a:t>
                      </a:r>
                    </a:p>
                  </a:txBody>
                  <a:tcPr marL="76200" marR="76200" marT="47625" marB="47625" anchor="ctr">
                    <a:solidFill>
                      <a:srgbClr val="FFFFFF"/>
                    </a:solidFill>
                  </a:tcPr>
                </a:tc>
                <a:tc>
                  <a:txBody>
                    <a:bodyPr/>
                    <a:lstStyle/>
                    <a:p>
                      <a:r>
                        <a:rPr sz="900">
                          <a:solidFill>
                            <a:srgbClr val="102A43"/>
                          </a:solidFill>
                          <a:latin typeface="Arial"/>
                          <a:ea typeface="Arial"/>
                          <a:cs typeface="Arial"/>
                        </a:rPr>
                        <a:t>4.685 s</a:t>
                      </a:r>
                    </a:p>
                  </a:txBody>
                  <a:tcPr marL="76200" marR="76200" marT="47625" marB="47625" anchor="ctr">
                    <a:solidFill>
                      <a:srgbClr val="FFFFFF"/>
                    </a:solidFill>
                  </a:tcPr>
                </a:tc>
                <a:tc>
                  <a:txBody>
                    <a:bodyPr/>
                    <a:lstStyle/>
                    <a:p>
                      <a:r>
                        <a:rPr sz="900">
                          <a:solidFill>
                            <a:srgbClr val="102A43"/>
                          </a:solidFill>
                          <a:latin typeface="Arial"/>
                          <a:ea typeface="Arial"/>
                          <a:cs typeface="Arial"/>
                        </a:rPr>
                        <a:t>1.026</a:t>
                      </a:r>
                    </a:p>
                  </a:txBody>
                  <a:tcPr marL="76200" marR="76200" marT="47625" marB="47625" anchor="ctr">
                    <a:solidFill>
                      <a:srgbClr val="FFFFFF"/>
                    </a:solidFill>
                  </a:tcPr>
                </a:tc>
              </a:tr>
            </a:tbl>
          </a:graphicData>
        </a:graphic>
      </p:graphicFrame>
      <p:sp>
        <p:nvSpPr>
          <p:cNvPr id="22" name="Rectangle: Rounded Corners 21">
            <a:extLst xmlns:a="http://schemas.openxmlformats.org/drawingml/2006/main">
              <a:ext uri="{FF2B5EF4-FFF2-40B4-BE49-F238E27FC236}">
                <a16:creationId xmlns:a16="http://schemas.microsoft.com/office/drawing/2014/main" id="{4B5CAE7E-61A2-41C2-9B12-E5B7F37AB5E9}"/>
              </a:ext>
            </a:extLst>
          </p:cNvPr>
          <p:cNvSpPr>
            <a:spLocks xmlns:a="http://schemas.openxmlformats.org/drawingml/2006/main" noGrp="1"/>
          </p:cNvSpPr>
          <p:nvPr/>
        </p:nvSpPr>
        <p:spPr>
          <a:xfrm xmlns:a="http://schemas.openxmlformats.org/drawingml/2006/main">
            <a:off x="59436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23" name="Rectangle 22">
            <a:extLst xmlns:a="http://schemas.openxmlformats.org/drawingml/2006/main">
              <a:ext uri="{FF2B5EF4-FFF2-40B4-BE49-F238E27FC236}">
                <a16:creationId xmlns:a16="http://schemas.microsoft.com/office/drawing/2014/main" id="{208F0CAC-FD21-4AF6-9567-922BA53BD95B}"/>
              </a:ext>
            </a:extLst>
          </p:cNvPr>
          <p:cNvSpPr>
            <a:spLocks xmlns:a="http://schemas.openxmlformats.org/drawingml/2006/main" noGrp="1"/>
          </p:cNvSpPr>
          <p:nvPr/>
        </p:nvSpPr>
        <p:spPr>
          <a:xfrm xmlns:a="http://schemas.openxmlformats.org/drawingml/2006/main">
            <a:off x="5943600" y="3581400"/>
            <a:ext cx="66675" cy="1714500"/>
          </a:xfrm>
          <a:prstGeom xmlns:a="http://schemas.openxmlformats.org/drawingml/2006/main" prst="rect">
            <a:avLst/>
          </a:prstGeom>
          <a:solidFill xmlns:a="http://schemas.openxmlformats.org/drawingml/2006/main">
            <a:srgbClr val="3B6FB6"/>
          </a:solidFill>
          <a:ln xmlns:a="http://schemas.openxmlformats.org/drawingml/2006/main" w="9525">
            <a:solidFill>
              <a:srgbClr val="3B6FB6"/>
            </a:solidFill>
          </a:ln>
        </p:spPr>
        <p:txBody>
          <a:bodyPr xmlns:a="http://schemas.openxmlformats.org/drawingml/2006/main"/>
          <a:lstStyle xmlns:a="http://schemas.openxmlformats.org/drawingml/2006/main"/>
          <a:p xmlns:a="http://schemas.openxmlformats.org/drawingml/2006/main">
            <a:endParaRPr/>
          </a:p>
        </p:txBody>
      </p:sp>
      <p:sp>
        <p:nvSpPr>
          <p:cNvPr id="24" name="Rectangle 23">
            <a:extLst xmlns:a="http://schemas.openxmlformats.org/drawingml/2006/main">
              <a:ext uri="{FF2B5EF4-FFF2-40B4-BE49-F238E27FC236}">
                <a16:creationId xmlns:a16="http://schemas.microsoft.com/office/drawing/2014/main" id="{6EC85864-F3C4-412C-9D14-A37092E8A0A5}"/>
              </a:ext>
            </a:extLst>
          </p:cNvPr>
          <p:cNvSpPr>
            <a:spLocks xmlns:a="http://schemas.openxmlformats.org/drawingml/2006/main" noGrp="1"/>
          </p:cNvSpPr>
          <p:nvPr/>
        </p:nvSpPr>
        <p:spPr>
          <a:xfrm xmlns:a="http://schemas.openxmlformats.org/drawingml/2006/main">
            <a:off x="61531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buNone/>
              <a:defRPr sz="975" b="1" i="0">
                <a:solidFill>
                  <a:srgbClr val="486581"/>
                </a:solidFill>
                <a:latin typeface="Arial"/>
                <a:ea typeface="Arial"/>
                <a:cs typeface="Arial"/>
              </a:defRPr>
            </a:pPr>
            <a:r>
              <a:rPr sz="975" b="1" i="0">
                <a:solidFill>
                  <a:srgbClr val="486581"/>
                </a:solidFill>
                <a:latin typeface="Arial"/>
                <a:ea typeface="Arial"/>
                <a:cs typeface="Arial"/>
              </a:rPr>
              <a:t>TASK 1</a:t>
            </a:r>
          </a:p>
        </p:txBody>
      </p:sp>
      <p:sp>
        <p:nvSpPr>
          <p:cNvPr id="25" name="Rectangle 24">
            <a:extLst xmlns:a="http://schemas.openxmlformats.org/drawingml/2006/main">
              <a:ext uri="{FF2B5EF4-FFF2-40B4-BE49-F238E27FC236}">
                <a16:creationId xmlns:a16="http://schemas.microsoft.com/office/drawing/2014/main" id="{7A0603EF-17F1-479C-A259-E4A6EC56BE27}"/>
              </a:ext>
            </a:extLst>
          </p:cNvPr>
          <p:cNvSpPr>
            <a:spLocks xmlns:a="http://schemas.openxmlformats.org/drawingml/2006/main" noGrp="1"/>
          </p:cNvSpPr>
          <p:nvPr/>
        </p:nvSpPr>
        <p:spPr>
          <a:xfrm xmlns:a="http://schemas.openxmlformats.org/drawingml/2006/main">
            <a:off x="61531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025" b="1" i="0">
                <a:solidFill>
                  <a:srgbClr val="102A43"/>
                </a:solidFill>
                <a:latin typeface="Arial"/>
                <a:ea typeface="Arial"/>
                <a:cs typeface="Arial"/>
              </a:defRPr>
            </a:pPr>
            <a:r>
              <a:rPr sz="2025" b="1" i="0">
                <a:solidFill>
                  <a:srgbClr val="102A43"/>
                </a:solidFill>
                <a:latin typeface="Arial"/>
                <a:ea typeface="Arial"/>
                <a:cs typeface="Arial"/>
              </a:rPr>
              <a:t>6.97 s</a:t>
            </a:r>
          </a:p>
        </p:txBody>
      </p:sp>
      <p:sp>
        <p:nvSpPr>
          <p:cNvPr id="26" name="Rectangle 25">
            <a:extLst xmlns:a="http://schemas.openxmlformats.org/drawingml/2006/main">
              <a:ext uri="{FF2B5EF4-FFF2-40B4-BE49-F238E27FC236}">
                <a16:creationId xmlns:a16="http://schemas.microsoft.com/office/drawing/2014/main" id="{A113C85E-76DD-4D68-9AAB-3223091498C4}"/>
              </a:ext>
            </a:extLst>
          </p:cNvPr>
          <p:cNvSpPr>
            <a:spLocks xmlns:a="http://schemas.openxmlformats.org/drawingml/2006/main" noGrp="1"/>
          </p:cNvSpPr>
          <p:nvPr/>
        </p:nvSpPr>
        <p:spPr>
          <a:xfrm xmlns:a="http://schemas.openxmlformats.org/drawingml/2006/main">
            <a:off x="61531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4 MPI processes</a:t>
            </a:r>
          </a:p>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27" name="Rectangle: Rounded Corners 26">
            <a:extLst xmlns:a="http://schemas.openxmlformats.org/drawingml/2006/main">
              <a:ext uri="{FF2B5EF4-FFF2-40B4-BE49-F238E27FC236}">
                <a16:creationId xmlns:a16="http://schemas.microsoft.com/office/drawing/2014/main" id="{C5BF3AF0-0F2F-4908-BC24-073923F1EF2C}"/>
              </a:ext>
            </a:extLst>
          </p:cNvPr>
          <p:cNvSpPr>
            <a:spLocks xmlns:a="http://schemas.openxmlformats.org/drawingml/2006/main" noGrp="1"/>
          </p:cNvSpPr>
          <p:nvPr/>
        </p:nvSpPr>
        <p:spPr>
          <a:xfrm xmlns:a="http://schemas.openxmlformats.org/drawingml/2006/main">
            <a:off x="8953500" y="3581400"/>
            <a:ext cx="2686050" cy="1714500"/>
          </a:xfrm>
          <a:prstGeom xmlns:a="http://schemas.openxmlformats.org/drawingml/2006/main" prst="roundRect">
            <a:avLst>
              <a:gd name="adj" fmla="val 4444"/>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28" name="Rectangle 27">
            <a:extLst xmlns:a="http://schemas.openxmlformats.org/drawingml/2006/main">
              <a:ext uri="{FF2B5EF4-FFF2-40B4-BE49-F238E27FC236}">
                <a16:creationId xmlns:a16="http://schemas.microsoft.com/office/drawing/2014/main" id="{292CB60D-5C7D-42E3-8C60-55BE5367559B}"/>
              </a:ext>
            </a:extLst>
          </p:cNvPr>
          <p:cNvSpPr>
            <a:spLocks xmlns:a="http://schemas.openxmlformats.org/drawingml/2006/main" noGrp="1"/>
          </p:cNvSpPr>
          <p:nvPr/>
        </p:nvSpPr>
        <p:spPr>
          <a:xfrm xmlns:a="http://schemas.openxmlformats.org/drawingml/2006/main">
            <a:off x="8953500" y="3581400"/>
            <a:ext cx="66675" cy="171450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9" name="Rectangle 28">
            <a:extLst xmlns:a="http://schemas.openxmlformats.org/drawingml/2006/main">
              <a:ext uri="{FF2B5EF4-FFF2-40B4-BE49-F238E27FC236}">
                <a16:creationId xmlns:a16="http://schemas.microsoft.com/office/drawing/2014/main" id="{84FA9B51-F805-471A-82CF-670F68EE1892}"/>
              </a:ext>
            </a:extLst>
          </p:cNvPr>
          <p:cNvSpPr>
            <a:spLocks xmlns:a="http://schemas.openxmlformats.org/drawingml/2006/main" noGrp="1"/>
          </p:cNvSpPr>
          <p:nvPr/>
        </p:nvSpPr>
        <p:spPr>
          <a:xfrm xmlns:a="http://schemas.openxmlformats.org/drawingml/2006/main">
            <a:off x="9163050" y="3733800"/>
            <a:ext cx="23241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9487"/>
          </a:bodyPr>
          <a:lstStyle xmlns:a="http://schemas.openxmlformats.org/drawingml/2006/main"/>
          <a:p xmlns:a="http://schemas.openxmlformats.org/drawingml/2006/main">
            <a:pPr algn="l">
              <a:buNone/>
              <a:defRPr sz="975" b="1" i="0">
                <a:solidFill>
                  <a:srgbClr val="486581"/>
                </a:solidFill>
                <a:latin typeface="Arial"/>
                <a:ea typeface="Arial"/>
                <a:cs typeface="Arial"/>
              </a:defRPr>
            </a:pPr>
            <a:r>
              <a:rPr sz="975" b="1" i="0">
                <a:solidFill>
                  <a:srgbClr val="486581"/>
                </a:solidFill>
                <a:latin typeface="Arial"/>
                <a:ea typeface="Arial"/>
                <a:cs typeface="Arial"/>
              </a:rPr>
              <a:t>TASK 2</a:t>
            </a:r>
          </a:p>
        </p:txBody>
      </p:sp>
      <p:sp>
        <p:nvSpPr>
          <p:cNvPr id="30" name="Rectangle 29">
            <a:extLst xmlns:a="http://schemas.openxmlformats.org/drawingml/2006/main">
              <a:ext uri="{FF2B5EF4-FFF2-40B4-BE49-F238E27FC236}">
                <a16:creationId xmlns:a16="http://schemas.microsoft.com/office/drawing/2014/main" id="{C7058AD9-DBF6-46FC-B705-E21794CDEDCB}"/>
              </a:ext>
            </a:extLst>
          </p:cNvPr>
          <p:cNvSpPr>
            <a:spLocks xmlns:a="http://schemas.openxmlformats.org/drawingml/2006/main" noGrp="1"/>
          </p:cNvSpPr>
          <p:nvPr/>
        </p:nvSpPr>
        <p:spPr>
          <a:xfrm xmlns:a="http://schemas.openxmlformats.org/drawingml/2006/main">
            <a:off x="9163050" y="4010025"/>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2025" b="1" i="0">
                <a:solidFill>
                  <a:srgbClr val="102A43"/>
                </a:solidFill>
                <a:latin typeface="Arial"/>
                <a:ea typeface="Arial"/>
                <a:cs typeface="Arial"/>
              </a:defRPr>
            </a:pPr>
            <a:r>
              <a:rPr sz="2025" b="1" i="0">
                <a:solidFill>
                  <a:srgbClr val="102A43"/>
                </a:solidFill>
                <a:latin typeface="Arial"/>
                <a:ea typeface="Arial"/>
                <a:cs typeface="Arial"/>
              </a:rPr>
              <a:t>5.16 s</a:t>
            </a:r>
          </a:p>
        </p:txBody>
      </p:sp>
      <p:sp>
        <p:nvSpPr>
          <p:cNvPr id="31" name="Rectangle 30">
            <a:extLst xmlns:a="http://schemas.openxmlformats.org/drawingml/2006/main">
              <a:ext uri="{FF2B5EF4-FFF2-40B4-BE49-F238E27FC236}">
                <a16:creationId xmlns:a16="http://schemas.microsoft.com/office/drawing/2014/main" id="{3F4898C2-ACEA-4B01-981B-C196E5D5CC4E}"/>
              </a:ext>
            </a:extLst>
          </p:cNvPr>
          <p:cNvSpPr>
            <a:spLocks xmlns:a="http://schemas.openxmlformats.org/drawingml/2006/main" noGrp="1"/>
          </p:cNvSpPr>
          <p:nvPr/>
        </p:nvSpPr>
        <p:spPr>
          <a:xfrm xmlns:a="http://schemas.openxmlformats.org/drawingml/2006/main">
            <a:off x="9163050" y="4448175"/>
            <a:ext cx="23241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4 MPI × 2 OpenMP</a:t>
            </a:r>
          </a:p>
          <a:p xmlns:a="http://schemas.openxmlformats.org/drawingml/2006/main">
            <a:pPr algn="l">
              <a:buNone/>
              <a:defRPr sz="1050" b="0" i="0">
                <a:solidFill>
                  <a:srgbClr val="486581"/>
                </a:solidFill>
                <a:latin typeface="Arial"/>
                <a:ea typeface="Arial"/>
                <a:cs typeface="Arial"/>
              </a:defRPr>
            </a:pPr>
            <a:r>
              <a:rPr sz="1050" b="0" i="0">
                <a:solidFill>
                  <a:srgbClr val="486581"/>
                </a:solidFill>
                <a:latin typeface="Arial"/>
                <a:ea typeface="Arial"/>
                <a:cs typeface="Arial"/>
              </a:rPr>
              <a:t>exact output validation: PASS</a:t>
            </a:r>
          </a:p>
        </p:txBody>
      </p:sp>
      <p:sp>
        <p:nvSpPr>
          <p:cNvPr id="32" name="Rectangle: Rounded Corners 31">
            <a:extLst xmlns:a="http://schemas.openxmlformats.org/drawingml/2006/main">
              <a:ext uri="{FF2B5EF4-FFF2-40B4-BE49-F238E27FC236}">
                <a16:creationId xmlns:a16="http://schemas.microsoft.com/office/drawing/2014/main" id="{AC4225F4-0D72-4C42-B723-325AEEC26B2C}"/>
              </a:ext>
            </a:extLst>
          </p:cNvPr>
          <p:cNvSpPr>
            <a:spLocks xmlns:a="http://schemas.openxmlformats.org/drawingml/2006/main" noGrp="1"/>
          </p:cNvSpPr>
          <p:nvPr/>
        </p:nvSpPr>
        <p:spPr>
          <a:xfrm xmlns:a="http://schemas.openxmlformats.org/drawingml/2006/main">
            <a:off x="6096000" y="5600700"/>
            <a:ext cx="539115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txBody>
          <a:bodyPr xmlns:a="http://schemas.openxmlformats.org/drawingml/2006/main"/>
          <a:lstStyle xmlns:a="http://schemas.openxmlformats.org/drawingml/2006/main"/>
          <a:p xmlns:a="http://schemas.openxmlformats.org/drawingml/2006/main">
            <a:endParaRPr/>
          </a:p>
        </p:txBody>
      </p:sp>
      <p:sp>
        <p:nvSpPr>
          <p:cNvPr id="33" name="Rectangle 32">
            <a:extLst xmlns:a="http://schemas.openxmlformats.org/drawingml/2006/main">
              <a:ext uri="{FF2B5EF4-FFF2-40B4-BE49-F238E27FC236}">
                <a16:creationId xmlns:a16="http://schemas.microsoft.com/office/drawing/2014/main" id="{7B43D4C4-3866-479E-A8D0-0D19DAD14404}"/>
              </a:ext>
            </a:extLst>
          </p:cNvPr>
          <p:cNvSpPr>
            <a:spLocks xmlns:a="http://schemas.openxmlformats.org/drawingml/2006/main" noGrp="1"/>
          </p:cNvSpPr>
          <p:nvPr/>
        </p:nvSpPr>
        <p:spPr>
          <a:xfrm xmlns:a="http://schemas.openxmlformats.org/drawingml/2006/main">
            <a:off x="6267450" y="57245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200" b="1" i="0">
                <a:solidFill>
                  <a:srgbClr val="8A4B08"/>
                </a:solidFill>
                <a:latin typeface="Arial"/>
                <a:ea typeface="Arial"/>
                <a:cs typeface="Arial"/>
              </a:defRPr>
            </a:pPr>
            <a:r>
              <a:rPr sz="1200" b="1" i="0">
                <a:solidFill>
                  <a:srgbClr val="8A4B08"/>
                </a:solidFill>
                <a:latin typeface="Arial"/>
                <a:ea typeface="Arial"/>
                <a:cs typeface="Arial"/>
              </a:rPr>
              <a:t>Hybrid speedup over the same 4-rank Task 1 run: 1.35×</a:t>
            </a:r>
          </a:p>
        </p:txBody>
      </p:sp>
    </p:spTree>
    <p:extLst>
      <p:ext uri="{BB962C8B-B14F-4D97-AF65-F5344CB8AC3E}">
        <p14:creationId xmlns:p14="http://schemas.microsoft.com/office/powerpoint/2010/main" val="2100034731"/>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C0919C4-37DD-400A-91FF-FFD590C94DB5}"/>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25FDFB05-2E72-46F2-AE11-5DA0A1F7AF67}"/>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Rectangle 2">
            <a:extLst xmlns:a="http://schemas.openxmlformats.org/drawingml/2006/main">
              <a:ext uri="{FF2B5EF4-FFF2-40B4-BE49-F238E27FC236}">
                <a16:creationId xmlns:a16="http://schemas.microsoft.com/office/drawing/2014/main" id="{2979B8DD-F330-4F04-BBA4-5ABBC3CB9AB7}"/>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Graphs 4 and 5 — hybrid scaling</a:t>
            </a:r>
          </a:p>
        </p:txBody>
      </p:sp>
      <p:sp>
        <p:nvSpPr>
          <p:cNvPr id="4" name="Rectangle 3">
            <a:extLst xmlns:a="http://schemas.openxmlformats.org/drawingml/2006/main">
              <a:ext uri="{FF2B5EF4-FFF2-40B4-BE49-F238E27FC236}">
                <a16:creationId xmlns:a16="http://schemas.microsoft.com/office/drawing/2014/main" id="{1DB8E5BC-FC0D-4A91-8D47-0B6109A43FFA}"/>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8 / 9</a:t>
            </a:r>
          </a:p>
        </p:txBody>
      </p:sp>
      <p:graphicFrame>
        <p:nvGraphicFramePr>
          <p:cNvPr id="16" name="Chart"/>
          <p:cNvGraphicFramePr/>
          <p:nvPr/>
        </p:nvGraphicFramePr>
        <p:xfrm>
          <a:off xmlns:a="http://schemas.openxmlformats.org/drawingml/2006/main" x="514350"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97662401eabb4304"/>
          </a:graphicData>
        </a:graphic>
      </p:graphicFrame>
      <p:graphicFrame>
        <p:nvGraphicFramePr>
          <p:cNvPr id="17" name="Chart"/>
          <p:cNvGraphicFramePr/>
          <p:nvPr/>
        </p:nvGraphicFramePr>
        <p:xfrm>
          <a:off xmlns:a="http://schemas.openxmlformats.org/drawingml/2006/main" x="6200775" y="1162050"/>
          <a:ext xmlns:a="http://schemas.openxmlformats.org/drawingml/2006/main" cx="5476875" cy="4191000"/>
        </p:xfrm>
        <a:graphic xmlns:a="http://schemas.openxmlformats.org/drawingml/2006/main">
          <a:graphicData uri="http://schemas.openxmlformats.org/drawingml/2006/chart">
            <c:chart xmlns:r="http://schemas.openxmlformats.org/officeDocument/2006/relationships" xmlns:c="http://schemas.openxmlformats.org/drawingml/2006/chart" r:id="R374411a878804211"/>
          </a:graphicData>
        </a:graphic>
      </p:graphicFrame>
      <p:sp>
        <p:nvSpPr>
          <p:cNvPr id="7" name="Rectangle: Rounded Corners 6">
            <a:extLst xmlns:a="http://schemas.openxmlformats.org/drawingml/2006/main">
              <a:ext uri="{FF2B5EF4-FFF2-40B4-BE49-F238E27FC236}">
                <a16:creationId xmlns:a16="http://schemas.microsoft.com/office/drawing/2014/main" id="{4C55644C-41C0-4193-9256-BBFBD54E7955}"/>
              </a:ext>
            </a:extLst>
          </p:cNvPr>
          <p:cNvSpPr>
            <a:spLocks xmlns:a="http://schemas.openxmlformats.org/drawingml/2006/main" noGrp="1"/>
          </p:cNvSpPr>
          <p:nvPr/>
        </p:nvSpPr>
        <p:spPr>
          <a:xfrm xmlns:a="http://schemas.openxmlformats.org/drawingml/2006/main">
            <a:off x="1333500" y="5619750"/>
            <a:ext cx="95250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DA72EFE8-B2D3-4A97-A1FF-82E4367D633D}"/>
              </a:ext>
            </a:extLst>
          </p:cNvPr>
          <p:cNvSpPr>
            <a:spLocks xmlns:a="http://schemas.openxmlformats.org/drawingml/2006/main" noGrp="1"/>
          </p:cNvSpPr>
          <p:nvPr/>
        </p:nvSpPr>
        <p:spPr>
          <a:xfrm xmlns:a="http://schemas.openxmlformats.org/drawingml/2006/main">
            <a:off x="1504950" y="5743575"/>
            <a:ext cx="9182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200" b="1" i="0">
                <a:solidFill>
                  <a:srgbClr val="8A4B08"/>
                </a:solidFill>
                <a:latin typeface="Arial"/>
                <a:ea typeface="Arial"/>
                <a:cs typeface="Arial"/>
              </a:defRPr>
            </a:pPr>
            <a:r>
              <a:rPr sz="1200" b="1" i="0">
                <a:solidFill>
                  <a:srgbClr val="8A4B08"/>
                </a:solidFill>
                <a:latin typeface="Arial"/>
                <a:ea typeface="Arial"/>
                <a:cs typeface="Arial"/>
              </a:rPr>
              <a:t>Best measured hybrid point: 8.46× at 1 × 16; 32- and 64-worker configurations (4×8 and 4×16) reduce efficiency.</a:t>
            </a:r>
          </a:p>
        </p:txBody>
      </p:sp>
    </p:spTree>
    <p:extLst>
      <p:ext uri="{BB962C8B-B14F-4D97-AF65-F5344CB8AC3E}">
        <p14:creationId xmlns:p14="http://schemas.microsoft.com/office/powerpoint/2010/main" val="597781431"/>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4D9649F8-3349-4295-B5D9-E54050AA851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007C83"/>
          </a:solidFill>
          <a:ln xmlns:a="http://schemas.openxmlformats.org/drawingml/2006/main" w="9525">
            <a:solidFill>
              <a:srgbClr val="007C83"/>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E45CFF54-0ECF-4C3E-A6EA-F66CDCAACB5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007C83"/>
                </a:solidFill>
                <a:latin typeface="Arial"/>
                <a:ea typeface="Arial"/>
                <a:cs typeface="Arial"/>
              </a:defRPr>
            </a:pPr>
            <a:r>
              <a:rPr sz="900" b="1" i="0">
                <a:solidFill>
                  <a:srgbClr val="007C83"/>
                </a:solidFill>
                <a:latin typeface="Arial"/>
                <a:ea typeface="Arial"/>
                <a:cs typeface="Arial"/>
              </a:rPr>
              <a:t>FIT3143 • LAB 2</a:t>
            </a:r>
          </a:p>
        </p:txBody>
      </p:sp>
      <p:sp>
        <p:nvSpPr>
          <p:cNvPr id="3" name="Rectangle 2">
            <a:extLst xmlns:a="http://schemas.openxmlformats.org/drawingml/2006/main">
              <a:ext uri="{FF2B5EF4-FFF2-40B4-BE49-F238E27FC236}">
                <a16:creationId xmlns:a16="http://schemas.microsoft.com/office/drawing/2014/main" id="{A3C7D4CF-15C2-4525-B638-C1FF1B2A2446}"/>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Graph 7 — hybrid scaling limits</a:t>
            </a:r>
          </a:p>
        </p:txBody>
      </p:sp>
      <p:sp>
        <p:nvSpPr>
          <p:cNvPr id="4" name="Rectangle 3">
            <a:extLst xmlns:a="http://schemas.openxmlformats.org/drawingml/2006/main">
              <a:ext uri="{FF2B5EF4-FFF2-40B4-BE49-F238E27FC236}">
                <a16:creationId xmlns:a16="http://schemas.microsoft.com/office/drawing/2014/main" id="{C6B52A07-308A-41B2-9692-915702504A04}"/>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9 / 9</a:t>
            </a:r>
          </a:p>
        </p:txBody>
      </p:sp>
      <p:graphicFrame>
        <p:nvGraphicFramePr>
          <p:cNvPr id="19" name="Chart"/>
          <p:cNvGraphicFramePr/>
          <p:nvPr/>
        </p:nvGraphicFramePr>
        <p:xfrm>
          <a:off xmlns:a="http://schemas.openxmlformats.org/drawingml/2006/main" x="476250" y="1143000"/>
          <a:ext xmlns:a="http://schemas.openxmlformats.org/drawingml/2006/main" cx="6238875" cy="4333875"/>
        </p:xfrm>
        <a:graphic xmlns:a="http://schemas.openxmlformats.org/drawingml/2006/main">
          <a:graphicData uri="http://schemas.openxmlformats.org/drawingml/2006/chart">
            <c:chart xmlns:r="http://schemas.openxmlformats.org/officeDocument/2006/relationships" xmlns:c="http://schemas.openxmlformats.org/drawingml/2006/chart" r:id="R56e82f574e784839"/>
          </a:graphicData>
        </a:graphic>
      </p:graphicFrame>
      <p:sp>
        <p:nvSpPr>
          <p:cNvPr id="6" name="Rectangle: Rounded Corners 5">
            <a:extLst xmlns:a="http://schemas.openxmlformats.org/drawingml/2006/main">
              <a:ext uri="{FF2B5EF4-FFF2-40B4-BE49-F238E27FC236}">
                <a16:creationId xmlns:a16="http://schemas.microsoft.com/office/drawing/2014/main" id="{BFDCCDC2-1EEF-42E9-893F-78CEE4F30334}"/>
              </a:ext>
            </a:extLst>
          </p:cNvPr>
          <p:cNvSpPr>
            <a:spLocks xmlns:a="http://schemas.openxmlformats.org/drawingml/2006/main" noGrp="1"/>
          </p:cNvSpPr>
          <p:nvPr/>
        </p:nvSpPr>
        <p:spPr>
          <a:xfrm xmlns:a="http://schemas.openxmlformats.org/drawingml/2006/main">
            <a:off x="7105650" y="1162050"/>
            <a:ext cx="45339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7" name="Rectangle 6">
            <a:extLst xmlns:a="http://schemas.openxmlformats.org/drawingml/2006/main">
              <a:ext uri="{FF2B5EF4-FFF2-40B4-BE49-F238E27FC236}">
                <a16:creationId xmlns:a16="http://schemas.microsoft.com/office/drawing/2014/main" id="{E71DB521-0ADD-4951-9702-18CC39654D62}"/>
              </a:ext>
            </a:extLst>
          </p:cNvPr>
          <p:cNvSpPr>
            <a:spLocks xmlns:a="http://schemas.openxmlformats.org/drawingml/2006/main" noGrp="1"/>
          </p:cNvSpPr>
          <p:nvPr/>
        </p:nvSpPr>
        <p:spPr>
          <a:xfrm xmlns:a="http://schemas.openxmlformats.org/drawingml/2006/main">
            <a:off x="7353300" y="13716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buNone/>
              <a:defRPr sz="1575" b="1" i="0">
                <a:solidFill>
                  <a:srgbClr val="005F66"/>
                </a:solidFill>
                <a:latin typeface="Arial"/>
                <a:ea typeface="Arial"/>
                <a:cs typeface="Arial"/>
              </a:defRPr>
            </a:pPr>
            <a:r>
              <a:rPr sz="1575" b="1" i="0">
                <a:solidFill>
                  <a:srgbClr val="005F66"/>
                </a:solidFill>
                <a:latin typeface="Arial"/>
                <a:ea typeface="Arial"/>
                <a:cs typeface="Arial"/>
              </a:rPr>
              <a:t>Why the curves diverge</a:t>
            </a:r>
          </a:p>
        </p:txBody>
      </p:sp>
      <p:sp>
        <p:nvSpPr>
          <p:cNvPr id="8" name="Rectangle 7">
            <a:extLst xmlns:a="http://schemas.openxmlformats.org/drawingml/2006/main">
              <a:ext uri="{FF2B5EF4-FFF2-40B4-BE49-F238E27FC236}">
                <a16:creationId xmlns:a16="http://schemas.microsoft.com/office/drawing/2014/main" id="{EFC8728D-7584-4BA7-A9BE-84F46E0E6D4F}"/>
              </a:ext>
            </a:extLst>
          </p:cNvPr>
          <p:cNvSpPr>
            <a:spLocks xmlns:a="http://schemas.openxmlformats.org/drawingml/2006/main" noGrp="1"/>
          </p:cNvSpPr>
          <p:nvPr/>
        </p:nvSpPr>
        <p:spPr>
          <a:xfrm xmlns:a="http://schemas.openxmlformats.org/drawingml/2006/main">
            <a:off x="7353300" y="1809750"/>
            <a:ext cx="4000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MPI collectives and rank-0 aggregation</a:t>
            </a:r>
          </a:p>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Memory and scheduler contention</a:t>
            </a:r>
          </a:p>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Oversubscription beyond 20 logical CPUs</a:t>
            </a:r>
          </a:p>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Amdahl assumes a fixed, ideal serial fraction</a:t>
            </a:r>
          </a:p>
        </p:txBody>
      </p:sp>
      <p:sp>
        <p:nvSpPr>
          <p:cNvPr id="9" name="Rectangle: Rounded Corners 8">
            <a:extLst xmlns:a="http://schemas.openxmlformats.org/drawingml/2006/main">
              <a:ext uri="{FF2B5EF4-FFF2-40B4-BE49-F238E27FC236}">
                <a16:creationId xmlns:a16="http://schemas.microsoft.com/office/drawing/2014/main" id="{BE2770BA-C65D-4B01-ABB7-4D9C3156CD32}"/>
              </a:ext>
            </a:extLst>
          </p:cNvPr>
          <p:cNvSpPr>
            <a:spLocks xmlns:a="http://schemas.openxmlformats.org/drawingml/2006/main" noGrp="1"/>
          </p:cNvSpPr>
          <p:nvPr/>
        </p:nvSpPr>
        <p:spPr>
          <a:xfrm xmlns:a="http://schemas.openxmlformats.org/drawingml/2006/main">
            <a:off x="7105650" y="3371850"/>
            <a:ext cx="4533900" cy="2076450"/>
          </a:xfrm>
          <a:prstGeom xmlns:a="http://schemas.openxmlformats.org/drawingml/2006/main" prst="roundRect">
            <a:avLst>
              <a:gd name="adj" fmla="val 3670"/>
            </a:avLst>
          </a:prstGeom>
          <a:solidFill xmlns:a="http://schemas.openxmlformats.org/drawingml/2006/main">
            <a:srgbClr val="FFF5E6"/>
          </a:solidFill>
          <a:ln xmlns:a="http://schemas.openxmlformats.org/drawingml/2006/main" w="9525">
            <a:solidFill>
              <a:srgbClr val="F5C98A"/>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22F14FB8-D2D4-4E52-9E6C-0E4D30F9CB4C}"/>
              </a:ext>
            </a:extLst>
          </p:cNvPr>
          <p:cNvSpPr>
            <a:spLocks xmlns:a="http://schemas.openxmlformats.org/drawingml/2006/main" noGrp="1"/>
          </p:cNvSpPr>
          <p:nvPr/>
        </p:nvSpPr>
        <p:spPr>
          <a:xfrm xmlns:a="http://schemas.openxmlformats.org/drawingml/2006/main">
            <a:off x="7353300" y="3581400"/>
            <a:ext cx="4000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buNone/>
              <a:defRPr sz="1575" b="1" i="0">
                <a:solidFill>
                  <a:srgbClr val="8A4B08"/>
                </a:solidFill>
                <a:latin typeface="Arial"/>
                <a:ea typeface="Arial"/>
                <a:cs typeface="Arial"/>
              </a:defRPr>
            </a:pPr>
            <a:r>
              <a:rPr sz="1575" b="1" i="0">
                <a:solidFill>
                  <a:srgbClr val="8A4B08"/>
                </a:solidFill>
                <a:latin typeface="Arial"/>
                <a:ea typeface="Arial"/>
                <a:cs typeface="Arial"/>
              </a:rPr>
              <a:t>Limitations and future work</a:t>
            </a:r>
          </a:p>
        </p:txBody>
      </p:sp>
      <p:sp>
        <p:nvSpPr>
          <p:cNvPr id="11" name="Rectangle 10">
            <a:extLst xmlns:a="http://schemas.openxmlformats.org/drawingml/2006/main">
              <a:ext uri="{FF2B5EF4-FFF2-40B4-BE49-F238E27FC236}">
                <a16:creationId xmlns:a16="http://schemas.microsoft.com/office/drawing/2014/main" id="{8327BEE2-2C48-4CCB-8599-2DEBB03728CC}"/>
              </a:ext>
            </a:extLst>
          </p:cNvPr>
          <p:cNvSpPr>
            <a:spLocks xmlns:a="http://schemas.openxmlformats.org/drawingml/2006/main" noGrp="1"/>
          </p:cNvSpPr>
          <p:nvPr/>
        </p:nvSpPr>
        <p:spPr>
          <a:xfrm xmlns:a="http://schemas.openxmlformats.org/drawingml/2006/main">
            <a:off x="7353300" y="4019550"/>
            <a:ext cx="4000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Single-node benchmark results do not quantify network cost. A two-node CAAS Task 1 functional test completed successfully; full multi-node performance measurements remain future work.</a:t>
            </a:r>
          </a:p>
        </p:txBody>
      </p:sp>
      <p:sp>
        <p:nvSpPr>
          <p:cNvPr id="12" name="Rectangle 11">
            <a:extLst xmlns:a="http://schemas.openxmlformats.org/drawingml/2006/main">
              <a:ext uri="{FF2B5EF4-FFF2-40B4-BE49-F238E27FC236}">
                <a16:creationId xmlns:a16="http://schemas.microsoft.com/office/drawing/2014/main" id="{B6BF64D2-B656-4F35-A7B8-D62F50702104}"/>
              </a:ext>
            </a:extLst>
          </p:cNvPr>
          <p:cNvSpPr>
            <a:spLocks xmlns:a="http://schemas.openxmlformats.org/drawingml/2006/main" noGrp="1"/>
          </p:cNvSpPr>
          <p:nvPr/>
        </p:nvSpPr>
        <p:spPr>
          <a:xfrm xmlns:a="http://schemas.openxmlformats.org/drawingml/2006/main">
            <a:off x="9505950" y="581025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619"/>
          </a:bodyPr>
          <a:lstStyle xmlns:a="http://schemas.openxmlformats.org/drawingml/2006/main"/>
          <a:p xmlns:a="http://schemas.openxmlformats.org/drawingml/2006/main">
            <a:pPr algn="r">
              <a:buNone/>
              <a:defRPr sz="2100" b="1" i="0">
                <a:solidFill>
                  <a:srgbClr val="005F66"/>
                </a:solidFill>
                <a:latin typeface="Arial"/>
                <a:ea typeface="Arial"/>
                <a:cs typeface="Arial"/>
              </a:defRPr>
            </a:pPr>
            <a:r>
              <a:rPr sz="2100" b="1" i="0">
                <a:solidFill>
                  <a:srgbClr val="005F66"/>
                </a:solidFill>
                <a:latin typeface="Arial"/>
                <a:ea typeface="Arial"/>
                <a:cs typeface="Arial"/>
              </a:rPr>
              <a:t>Q&amp;A</a:t>
            </a:r>
          </a:p>
        </p:txBody>
      </p:sp>
    </p:spTree>
    <p:extLst>
      <p:ext uri="{BB962C8B-B14F-4D97-AF65-F5344CB8AC3E}">
        <p14:creationId xmlns:p14="http://schemas.microsoft.com/office/powerpoint/2010/main" val="219229351"/>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A4D7E8DB-A984-4036-B42F-12223DDC166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E3DBAA7A-CE89-4F57-9ABE-C99878E9AA0B}"/>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Rectangle 2">
            <a:extLst xmlns:a="http://schemas.openxmlformats.org/drawingml/2006/main">
              <a:ext uri="{FF2B5EF4-FFF2-40B4-BE49-F238E27FC236}">
                <a16:creationId xmlns:a16="http://schemas.microsoft.com/office/drawing/2014/main" id="{B711B95E-4202-4543-9B70-9D5F13DB0FCD}"/>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Measured partition and Amdahl evidence</a:t>
            </a:r>
          </a:p>
        </p:txBody>
      </p:sp>
      <p:sp>
        <p:nvSpPr>
          <p:cNvPr id="4" name="Rectangle 3">
            <a:extLst xmlns:a="http://schemas.openxmlformats.org/drawingml/2006/main">
              <a:ext uri="{FF2B5EF4-FFF2-40B4-BE49-F238E27FC236}">
                <a16:creationId xmlns:a16="http://schemas.microsoft.com/office/drawing/2014/main" id="{528C02F6-59EC-439B-8A66-F4D915F3ABBA}"/>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Appendix 1</a:t>
            </a:r>
          </a:p>
        </p:txBody>
      </p:sp>
      <p:sp>
        <p:nvSpPr>
          <p:cNvPr id="5" name="Rectangle 4">
            <a:extLst xmlns:a="http://schemas.openxmlformats.org/drawingml/2006/main">
              <a:ext uri="{FF2B5EF4-FFF2-40B4-BE49-F238E27FC236}">
                <a16:creationId xmlns:a16="http://schemas.microsoft.com/office/drawing/2014/main" id="{6CEBBC63-9B0C-41D7-B20C-1B5CDF61CD93}"/>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Partition strategy comparison • n = 20M • median of 3 runs</a:t>
            </a:r>
          </a:p>
        </p:txBody>
      </p:sp>
      <p:graphicFrame>
        <p:nvGraphicFramePr>
          <p:cNvPr id="21" name="Table 20"/>
          <p:cNvGraphicFramePr/>
          <p:nvPr/>
        </p:nvGraphicFramePr>
        <p:xfrm>
          <a:off xmlns:a="http://schemas.openxmlformats.org/drawingml/2006/main" x="552450" y="1504950"/>
          <a:ext xmlns:a="http://schemas.openxmlformats.org/drawingml/2006/main" cx="11087100" cy="1866900"/>
        </p:xfrm>
        <a:graphic xmlns:a="http://schemas.openxmlformats.org/drawingml/2006/main">
          <a:graphicData uri="http://schemas.openxmlformats.org/drawingml/2006/table">
            <a:tbl>
              <a:tblPr firstRow="1"/>
              <a:tblGrid>
                <a:gridCol w="952500"/>
                <a:gridCol w="2381250"/>
                <a:gridCol w="2381250"/>
                <a:gridCol w="2190750"/>
                <a:gridCol w="3181350"/>
              </a:tblGrid>
              <a:tr h="466725">
                <a:tc>
                  <a:txBody>
                    <a:bodyPr/>
                    <a:lstStyle/>
                    <a:p>
                      <a:r>
                        <a:rPr sz="900" b="1">
                          <a:solidFill>
                            <a:srgbClr val="FFFFFF"/>
                          </a:solidFill>
                          <a:latin typeface="Arial"/>
                          <a:ea typeface="Arial"/>
                          <a:cs typeface="Arial"/>
                        </a:rPr>
                        <a: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Pure cyclic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 ratio</a:t>
                      </a:r>
                    </a:p>
                  </a:txBody>
                  <a:tcPr marL="76200" marR="76200" marT="57150" marB="57150" anchor="ctr">
                    <a:solidFill>
                      <a:srgbClr val="005F66"/>
                    </a:solidFill>
                  </a:tcPr>
                </a:tc>
                <a:tc>
                  <a:txBody>
                    <a:bodyPr/>
                    <a:lstStyle/>
                    <a:p>
                      <a:r>
                        <a:rPr sz="900" b="1">
                          <a:solidFill>
                            <a:srgbClr val="FFFFFF"/>
                          </a:solidFill>
                          <a:latin typeface="Arial"/>
                          <a:ea typeface="Arial"/>
                          <a:cs typeface="Arial"/>
                        </a:rPr>
                        <a:t>Block-cyclic total</a:t>
                      </a:r>
                    </a:p>
                  </a:txBody>
                  <a:tcPr marL="76200" marR="76200" marT="57150" marB="57150" anchor="ctr">
                    <a:solidFill>
                      <a:srgbClr val="005F66"/>
                    </a:solidFill>
                  </a:tcPr>
                </a:tc>
              </a:tr>
              <a:tr h="466725">
                <a:tc>
                  <a:txBody>
                    <a:bodyPr/>
                    <a:lstStyle/>
                    <a:p>
                      <a:r>
                        <a:rPr sz="975">
                          <a:solidFill>
                            <a:srgbClr val="102A43"/>
                          </a:solidFill>
                          <a:latin typeface="Arial"/>
                          <a:ea typeface="Arial"/>
                          <a:cs typeface="Arial"/>
                        </a:rPr>
                        <a:t>3</a:t>
                      </a:r>
                    </a:p>
                  </a:txBody>
                  <a:tcPr marL="76200" marR="76200" marT="47625" marB="47625" anchor="ctr">
                    <a:solidFill>
                      <a:srgbClr val="FFFFFF"/>
                    </a:solidFill>
                  </a:tcPr>
                </a:tc>
                <a:tc>
                  <a:txBody>
                    <a:bodyPr/>
                    <a:lstStyle/>
                    <a:p>
                      <a:r>
                        <a:rPr sz="975">
                          <a:solidFill>
                            <a:srgbClr val="102A43"/>
                          </a:solidFill>
                          <a:latin typeface="Arial"/>
                          <a:ea typeface="Arial"/>
                          <a:cs typeface="Arial"/>
                        </a:rPr>
                        <a:t>1.047</a:t>
                      </a:r>
                    </a:p>
                  </a:txBody>
                  <a:tcPr marL="76200" marR="76200" marT="47625" marB="47625" anchor="ctr">
                    <a:solidFill>
                      <a:srgbClr val="FFFFFF"/>
                    </a:solidFill>
                  </a:tcPr>
                </a:tc>
                <a:tc>
                  <a:txBody>
                    <a:bodyPr/>
                    <a:lstStyle/>
                    <a:p>
                      <a:r>
                        <a:rPr sz="975">
                          <a:solidFill>
                            <a:srgbClr val="102A43"/>
                          </a:solidFill>
                          <a:latin typeface="Arial"/>
                          <a:ea typeface="Arial"/>
                          <a:cs typeface="Arial"/>
                        </a:rPr>
                        <a:t>627.764</a:t>
                      </a:r>
                    </a:p>
                  </a:txBody>
                  <a:tcPr marL="76200" marR="76200" marT="47625" marB="47625" anchor="ctr">
                    <a:solidFill>
                      <a:srgbClr val="FFFFFF"/>
                    </a:solidFill>
                  </a:tcPr>
                </a:tc>
                <a:tc>
                  <a:txBody>
                    <a:bodyPr/>
                    <a:lstStyle/>
                    <a:p>
                      <a:r>
                        <a:rPr sz="975">
                          <a:solidFill>
                            <a:srgbClr val="102A43"/>
                          </a:solidFill>
                          <a:latin typeface="Arial"/>
                          <a:ea typeface="Arial"/>
                          <a:cs typeface="Arial"/>
                        </a:rPr>
                        <a:t>2.204</a:t>
                      </a:r>
                    </a:p>
                  </a:txBody>
                  <a:tcPr marL="76200" marR="76200" marT="47625" marB="47625" anchor="ctr">
                    <a:solidFill>
                      <a:srgbClr val="FFFFFF"/>
                    </a:solidFill>
                  </a:tcPr>
                </a:tc>
                <a:tc>
                  <a:txBody>
                    <a:bodyPr/>
                    <a:lstStyle/>
                    <a:p>
                      <a:r>
                        <a:rPr sz="975">
                          <a:solidFill>
                            <a:srgbClr val="102A43"/>
                          </a:solidFill>
                          <a:latin typeface="Arial"/>
                          <a:ea typeface="Arial"/>
                          <a:cs typeface="Arial"/>
                        </a:rPr>
                        <a:t>1.931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4</a:t>
                      </a:r>
                    </a:p>
                  </a:txBody>
                  <a:tcPr marL="76200" marR="76200" marT="47625" marB="47625" anchor="ctr">
                    <a:solidFill>
                      <a:srgbClr val="FFFFFF"/>
                    </a:solidFill>
                  </a:tcPr>
                </a:tc>
                <a:tc>
                  <a:txBody>
                    <a:bodyPr/>
                    <a:lstStyle/>
                    <a:p>
                      <a:r>
                        <a:rPr sz="975">
                          <a:solidFill>
                            <a:srgbClr val="102A43"/>
                          </a:solidFill>
                          <a:latin typeface="Arial"/>
                          <a:ea typeface="Arial"/>
                          <a:cs typeface="Arial"/>
                        </a:rPr>
                        <a:t>1.058</a:t>
                      </a:r>
                    </a:p>
                  </a:txBody>
                  <a:tcPr marL="76200" marR="76200" marT="47625" marB="47625" anchor="ctr">
                    <a:solidFill>
                      <a:srgbClr val="FFFFFF"/>
                    </a:solidFill>
                  </a:tcPr>
                </a:tc>
                <a:tc>
                  <a:txBody>
                    <a:bodyPr/>
                    <a:lstStyle/>
                    <a:p>
                      <a:r>
                        <a:rPr sz="975">
                          <a:solidFill>
                            <a:srgbClr val="102A43"/>
                          </a:solidFill>
                          <a:latin typeface="Arial"/>
                          <a:ea typeface="Arial"/>
                          <a:cs typeface="Arial"/>
                        </a:rPr>
                        <a:t>1.032</a:t>
                      </a:r>
                    </a:p>
                  </a:txBody>
                  <a:tcPr marL="76200" marR="76200" marT="47625" marB="47625" anchor="ctr">
                    <a:solidFill>
                      <a:srgbClr val="FFFFFF"/>
                    </a:solidFill>
                  </a:tcPr>
                </a:tc>
                <a:tc>
                  <a:txBody>
                    <a:bodyPr/>
                    <a:lstStyle/>
                    <a:p>
                      <a:r>
                        <a:rPr sz="975">
                          <a:solidFill>
                            <a:srgbClr val="102A43"/>
                          </a:solidFill>
                          <a:latin typeface="Arial"/>
                          <a:ea typeface="Arial"/>
                          <a:cs typeface="Arial"/>
                        </a:rPr>
                        <a:t>2.615</a:t>
                      </a:r>
                    </a:p>
                  </a:txBody>
                  <a:tcPr marL="76200" marR="76200" marT="47625" marB="47625" anchor="ctr">
                    <a:solidFill>
                      <a:srgbClr val="FFFFFF"/>
                    </a:solidFill>
                  </a:tcPr>
                </a:tc>
                <a:tc>
                  <a:txBody>
                    <a:bodyPr/>
                    <a:lstStyle/>
                    <a:p>
                      <a:r>
                        <a:rPr sz="975">
                          <a:solidFill>
                            <a:srgbClr val="102A43"/>
                          </a:solidFill>
                          <a:latin typeface="Arial"/>
                          <a:ea typeface="Arial"/>
                          <a:cs typeface="Arial"/>
                        </a:rPr>
                        <a:t>1.581 s</a:t>
                      </a:r>
                    </a:p>
                  </a:txBody>
                  <a:tcPr marL="76200" marR="76200" marT="47625" marB="47625" anchor="ctr">
                    <a:solidFill>
                      <a:srgbClr val="FFFFFF"/>
                    </a:solidFill>
                  </a:tcPr>
                </a:tc>
              </a:tr>
              <a:tr h="466725">
                <a:tc>
                  <a:txBody>
                    <a:bodyPr/>
                    <a:lstStyle/>
                    <a:p>
                      <a:r>
                        <a:rPr sz="975">
                          <a:solidFill>
                            <a:srgbClr val="102A43"/>
                          </a:solidFill>
                          <a:latin typeface="Arial"/>
                          <a:ea typeface="Arial"/>
                          <a:cs typeface="Arial"/>
                        </a:rPr>
                        <a:t>5</a:t>
                      </a:r>
                    </a:p>
                  </a:txBody>
                  <a:tcPr marL="76200" marR="76200" marT="47625" marB="47625" anchor="ctr">
                    <a:solidFill>
                      <a:srgbClr val="FFFFFF"/>
                    </a:solidFill>
                  </a:tcPr>
                </a:tc>
                <a:tc>
                  <a:txBody>
                    <a:bodyPr/>
                    <a:lstStyle/>
                    <a:p>
                      <a:r>
                        <a:rPr sz="975">
                          <a:solidFill>
                            <a:srgbClr val="102A43"/>
                          </a:solidFill>
                          <a:latin typeface="Arial"/>
                          <a:ea typeface="Arial"/>
                          <a:cs typeface="Arial"/>
                        </a:rPr>
                        <a:t>1.057</a:t>
                      </a:r>
                    </a:p>
                  </a:txBody>
                  <a:tcPr marL="76200" marR="76200" marT="47625" marB="47625" anchor="ctr">
                    <a:solidFill>
                      <a:srgbClr val="FFFFFF"/>
                    </a:solidFill>
                  </a:tcPr>
                </a:tc>
                <a:tc>
                  <a:txBody>
                    <a:bodyPr/>
                    <a:lstStyle/>
                    <a:p>
                      <a:r>
                        <a:rPr sz="975">
                          <a:solidFill>
                            <a:srgbClr val="102A43"/>
                          </a:solidFill>
                          <a:latin typeface="Arial"/>
                          <a:ea typeface="Arial"/>
                          <a:cs typeface="Arial"/>
                        </a:rPr>
                        <a:t>491.084</a:t>
                      </a:r>
                    </a:p>
                  </a:txBody>
                  <a:tcPr marL="76200" marR="76200" marT="47625" marB="47625" anchor="ctr">
                    <a:solidFill>
                      <a:srgbClr val="FFFFFF"/>
                    </a:solidFill>
                  </a:tcPr>
                </a:tc>
                <a:tc>
                  <a:txBody>
                    <a:bodyPr/>
                    <a:lstStyle/>
                    <a:p>
                      <a:r>
                        <a:rPr sz="975">
                          <a:solidFill>
                            <a:srgbClr val="102A43"/>
                          </a:solidFill>
                          <a:latin typeface="Arial"/>
                          <a:ea typeface="Arial"/>
                          <a:cs typeface="Arial"/>
                        </a:rPr>
                        <a:t>2.780</a:t>
                      </a:r>
                    </a:p>
                  </a:txBody>
                  <a:tcPr marL="76200" marR="76200" marT="47625" marB="47625" anchor="ctr">
                    <a:solidFill>
                      <a:srgbClr val="FFFFFF"/>
                    </a:solidFill>
                  </a:tcPr>
                </a:tc>
                <a:tc>
                  <a:txBody>
                    <a:bodyPr/>
                    <a:lstStyle/>
                    <a:p>
                      <a:r>
                        <a:rPr sz="975">
                          <a:solidFill>
                            <a:srgbClr val="102A43"/>
                          </a:solidFill>
                          <a:latin typeface="Arial"/>
                          <a:ea typeface="Arial"/>
                          <a:cs typeface="Arial"/>
                        </a:rPr>
                        <a:t>1.300 s</a:t>
                      </a:r>
                    </a:p>
                  </a:txBody>
                  <a:tcPr marL="76200" marR="76200" marT="47625" marB="47625" anchor="ctr">
                    <a:solidFill>
                      <a:srgbClr val="FFFFFF"/>
                    </a:solidFill>
                  </a:tcPr>
                </a:tc>
              </a:tr>
            </a:tbl>
          </a:graphicData>
        </a:graphic>
      </p:graphicFrame>
      <p:sp>
        <p:nvSpPr>
          <p:cNvPr id="7" name="Rectangle 6">
            <a:extLst xmlns:a="http://schemas.openxmlformats.org/drawingml/2006/main">
              <a:ext uri="{FF2B5EF4-FFF2-40B4-BE49-F238E27FC236}">
                <a16:creationId xmlns:a16="http://schemas.microsoft.com/office/drawing/2014/main" id="{046F1954-A427-418D-9E57-240993926244}"/>
              </a:ext>
            </a:extLst>
          </p:cNvPr>
          <p:cNvSpPr>
            <a:spLocks xmlns:a="http://schemas.openxmlformats.org/drawingml/2006/main" noGrp="1"/>
          </p:cNvSpPr>
          <p:nvPr/>
        </p:nvSpPr>
        <p:spPr>
          <a:xfrm xmlns:a="http://schemas.openxmlformats.org/drawingml/2006/main">
            <a:off x="552450" y="3733800"/>
            <a:ext cx="5143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Amdahl inputs are measured, not assumed</a:t>
            </a:r>
          </a:p>
        </p:txBody>
      </p:sp>
      <p:graphicFrame>
        <p:nvGraphicFramePr>
          <p:cNvPr id="23" name="Table 22"/>
          <p:cNvGraphicFramePr/>
          <p:nvPr/>
        </p:nvGraphicFramePr>
        <p:xfrm>
          <a:off xmlns:a="http://schemas.openxmlformats.org/drawingml/2006/main" x="552450" y="4114800"/>
          <a:ext xmlns:a="http://schemas.openxmlformats.org/drawingml/2006/main" cx="6381750" cy="1485900"/>
        </p:xfrm>
        <a:graphic xmlns:a="http://schemas.openxmlformats.org/drawingml/2006/main">
          <a:graphicData uri="http://schemas.openxmlformats.org/drawingml/2006/table">
            <a:tbl>
              <a:tblPr firstRow="1"/>
              <a:tblGrid>
                <a:gridCol w="1666875"/>
                <a:gridCol w="1476375"/>
                <a:gridCol w="1571625"/>
                <a:gridCol w="1666875"/>
              </a:tblGrid>
              <a:tr h="495300">
                <a:tc>
                  <a:txBody>
                    <a:bodyPr/>
                    <a:lstStyle/>
                    <a:p>
                      <a:r>
                        <a:rPr sz="900" b="1">
                          <a:solidFill>
                            <a:srgbClr val="FFFFFF"/>
                          </a:solidFill>
                          <a:latin typeface="Arial"/>
                          <a:ea typeface="Arial"/>
                          <a:cs typeface="Arial"/>
                        </a:rPr>
                        <a:t>Program</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Ts</a:t>
                      </a:r>
                    </a:p>
                  </a:txBody>
                  <a:tcPr marL="76200" marR="76200" marT="57150" marB="57150" anchor="ctr">
                    <a:solidFill>
                      <a:srgbClr val="005F66"/>
                    </a:solidFill>
                  </a:tcPr>
                </a:tc>
                <a:tc>
                  <a:txBody>
                    <a:bodyPr/>
                    <a:lstStyle/>
                    <a:p>
                      <a:r>
                        <a:rPr sz="900" b="1">
                          <a:solidFill>
                            <a:srgbClr val="FFFFFF"/>
                          </a:solidFill>
                          <a:latin typeface="Arial"/>
                          <a:ea typeface="Arial"/>
                          <a:cs typeface="Arial"/>
                        </a:rPr>
                        <a:t>Tp</a:t>
                      </a:r>
                    </a:p>
                  </a:txBody>
                  <a:tcPr marL="76200" marR="76200" marT="57150" marB="57150" anchor="ctr">
                    <a:solidFill>
                      <a:srgbClr val="005F66"/>
                    </a:solidFill>
                  </a:tcPr>
                </a:tc>
                <a:tc>
                  <a:txBody>
                    <a:bodyPr/>
                    <a:lstStyle/>
                    <a:p>
                      <a:r>
                        <a:rPr sz="900" b="1">
                          <a:solidFill>
                            <a:srgbClr val="FFFFFF"/>
                          </a:solidFill>
                          <a:latin typeface="Arial"/>
                          <a:ea typeface="Arial"/>
                          <a:cs typeface="Arial"/>
                        </a:rPr>
                        <a:t>fs = Ts / (Ts+Tp)</a:t>
                      </a:r>
                    </a:p>
                  </a:txBody>
                  <a:tcPr marL="76200" marR="76200" marT="57150" marB="57150" anchor="ctr">
                    <a:solidFill>
                      <a:srgbClr val="005F66"/>
                    </a:solidFill>
                  </a:tcPr>
                </a:tc>
              </a:tr>
              <a:tr h="495300">
                <a:tc>
                  <a:txBody>
                    <a:bodyPr/>
                    <a:lstStyle/>
                    <a:p>
                      <a:r>
                        <a:rPr sz="975">
                          <a:solidFill>
                            <a:srgbClr val="102A43"/>
                          </a:solidFill>
                          <a:latin typeface="Arial"/>
                          <a:ea typeface="Arial"/>
                          <a:cs typeface="Arial"/>
                        </a:rPr>
                        <a:t>Task 1 MPI</a:t>
                      </a:r>
                    </a:p>
                  </a:txBody>
                  <a:tcPr marL="76200" marR="76200" marT="47625" marB="47625" anchor="ctr">
                    <a:solidFill>
                      <a:srgbClr val="FFFFFF"/>
                    </a:solidFill>
                  </a:tcPr>
                </a:tc>
                <a:tc>
                  <a:txBody>
                    <a:bodyPr/>
                    <a:lstStyle/>
                    <a:p>
                      <a:r>
                        <a:rPr sz="975">
                          <a:solidFill>
                            <a:srgbClr val="102A43"/>
                          </a:solidFill>
                          <a:latin typeface="Arial"/>
                          <a:ea typeface="Arial"/>
                          <a:cs typeface="Arial"/>
                        </a:rPr>
                        <a:t>0.427566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23.948293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0.017541</a:t>
                      </a:r>
                    </a:p>
                  </a:txBody>
                  <a:tcPr marL="76200" marR="76200" marT="47625" marB="47625" anchor="ctr">
                    <a:solidFill>
                      <a:srgbClr val="FFFFFF"/>
                    </a:solidFill>
                  </a:tcPr>
                </a:tc>
              </a:tr>
              <a:tr h="495300">
                <a:tc>
                  <a:txBody>
                    <a:bodyPr/>
                    <a:lstStyle/>
                    <a:p>
                      <a:r>
                        <a:rPr sz="975">
                          <a:solidFill>
                            <a:srgbClr val="102A43"/>
                          </a:solidFill>
                          <a:latin typeface="Arial"/>
                          <a:ea typeface="Arial"/>
                          <a:cs typeface="Arial"/>
                        </a:rPr>
                        <a:t>Task 2 hybrid</a:t>
                      </a:r>
                    </a:p>
                  </a:txBody>
                  <a:tcPr marL="76200" marR="76200" marT="47625" marB="47625" anchor="ctr">
                    <a:solidFill>
                      <a:srgbClr val="FFFFFF"/>
                    </a:solidFill>
                  </a:tcPr>
                </a:tc>
                <a:tc>
                  <a:txBody>
                    <a:bodyPr/>
                    <a:lstStyle/>
                    <a:p>
                      <a:r>
                        <a:rPr sz="975">
                          <a:solidFill>
                            <a:srgbClr val="102A43"/>
                          </a:solidFill>
                          <a:latin typeface="Arial"/>
                          <a:ea typeface="Arial"/>
                          <a:cs typeface="Arial"/>
                        </a:rPr>
                        <a:t>0.411327 s</a:t>
                      </a:r>
                    </a:p>
                  </a:txBody>
                  <a:tcPr marL="76200" marR="76200" marT="47625" marB="47625" anchor="ctr">
                    <a:solidFill>
                      <a:srgbClr val="FFFFFF"/>
                    </a:solidFill>
                  </a:tcPr>
                </a:tc>
                <a:tc>
                  <a:txBody>
                    <a:bodyPr/>
                    <a:lstStyle/>
                    <a:p>
                      <a:r>
                        <a:rPr sz="975">
                          <a:solidFill>
                            <a:srgbClr val="102A43"/>
                          </a:solidFill>
                          <a:latin typeface="Arial"/>
                          <a:ea typeface="Arial"/>
                          <a:cs typeface="Arial"/>
                        </a:rPr>
                        <a:t>23.749574 s</a:t>
                      </a:r>
                    </a:p>
                  </a:txBody>
                  <a:tcPr marL="76200" marR="76200" marT="47625" marB="47625" anchor="ctr">
                    <a:solidFill>
                      <a:srgbClr val="FFFFFF"/>
                    </a:solidFill>
                  </a:tcPr>
                </a:tc>
                <a:tc>
                  <a:txBody>
                    <a:bodyPr/>
                    <a:lstStyle/>
                    <a:p>
                      <a:r>
                        <a:rPr sz="975">
                          <a:solidFill>
                            <a:srgbClr val="102A43"/>
                          </a:solidFill>
                          <a:latin typeface="Arial"/>
                          <a:ea typeface="Arial"/>
                          <a:cs typeface="Arial"/>
                        </a:rPr>
                        <a:t>0.017024</a:t>
                      </a:r>
                    </a:p>
                  </a:txBody>
                  <a:tcPr marL="76200" marR="76200" marT="47625" marB="47625" anchor="ctr">
                    <a:solidFill>
                      <a:srgbClr val="FFFFFF"/>
                    </a:solidFill>
                  </a:tcPr>
                </a:tc>
              </a:tr>
            </a:tbl>
          </a:graphicData>
        </a:graphic>
      </p:graphicFrame>
      <p:sp>
        <p:nvSpPr>
          <p:cNvPr id="9" name="Rectangle: Rounded Corners 8">
            <a:extLst xmlns:a="http://schemas.openxmlformats.org/drawingml/2006/main">
              <a:ext uri="{FF2B5EF4-FFF2-40B4-BE49-F238E27FC236}">
                <a16:creationId xmlns:a16="http://schemas.microsoft.com/office/drawing/2014/main" id="{217877BE-A23F-47AB-87BF-714E31B78031}"/>
              </a:ext>
            </a:extLst>
          </p:cNvPr>
          <p:cNvSpPr>
            <a:spLocks xmlns:a="http://schemas.openxmlformats.org/drawingml/2006/main" noGrp="1"/>
          </p:cNvSpPr>
          <p:nvPr/>
        </p:nvSpPr>
        <p:spPr>
          <a:xfrm xmlns:a="http://schemas.openxmlformats.org/drawingml/2006/main">
            <a:off x="7296150" y="3733800"/>
            <a:ext cx="4343400" cy="1866900"/>
          </a:xfrm>
          <a:prstGeom xmlns:a="http://schemas.openxmlformats.org/drawingml/2006/main" prst="roundRect">
            <a:avLst>
              <a:gd name="adj" fmla="val 4082"/>
            </a:avLst>
          </a:prstGeom>
          <a:solidFill xmlns:a="http://schemas.openxmlformats.org/drawingml/2006/main">
            <a:srgbClr val="EBF4FF"/>
          </a:solidFill>
          <a:ln xmlns:a="http://schemas.openxmlformats.org/drawingml/2006/main" w="9525">
            <a:solidFill>
              <a:srgbClr val="B6D4FE"/>
            </a:solidFill>
          </a:ln>
        </p:spPr>
        <p:txBody>
          <a:bodyPr xmlns:a="http://schemas.openxmlformats.org/drawingml/2006/main"/>
          <a:lstStyle xmlns:a="http://schemas.openxmlformats.org/drawingml/2006/main"/>
          <a:p xmlns:a="http://schemas.openxmlformats.org/drawingml/2006/main">
            <a:endParaRPr/>
          </a:p>
        </p:txBody>
      </p:sp>
      <p:sp>
        <p:nvSpPr>
          <p:cNvPr id="10" name="Rectangle 9">
            <a:extLst xmlns:a="http://schemas.openxmlformats.org/drawingml/2006/main">
              <a:ext uri="{FF2B5EF4-FFF2-40B4-BE49-F238E27FC236}">
                <a16:creationId xmlns:a16="http://schemas.microsoft.com/office/drawing/2014/main" id="{B13FE8DF-C444-40B4-A85C-3066A8D3F4C9}"/>
              </a:ext>
            </a:extLst>
          </p:cNvPr>
          <p:cNvSpPr>
            <a:spLocks xmlns:a="http://schemas.openxmlformats.org/drawingml/2006/main" noGrp="1"/>
          </p:cNvSpPr>
          <p:nvPr/>
        </p:nvSpPr>
        <p:spPr>
          <a:xfrm xmlns:a="http://schemas.openxmlformats.org/drawingml/2006/main">
            <a:off x="7543800" y="3943350"/>
            <a:ext cx="3714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3158"/>
          </a:bodyPr>
          <a:lstStyle xmlns:a="http://schemas.openxmlformats.org/drawingml/2006/main"/>
          <a:p xmlns:a="http://schemas.openxmlformats.org/drawingml/2006/main">
            <a:pPr algn="l">
              <a:buNone/>
              <a:defRPr sz="1425" b="1" i="0">
                <a:solidFill>
                  <a:srgbClr val="3B6FB6"/>
                </a:solidFill>
                <a:latin typeface="Arial"/>
                <a:ea typeface="Arial"/>
                <a:cs typeface="Arial"/>
              </a:defRPr>
            </a:pPr>
            <a:r>
              <a:rPr sz="1425" b="1" i="0">
                <a:solidFill>
                  <a:srgbClr val="3B6FB6"/>
                </a:solidFill>
                <a:latin typeface="Arial"/>
                <a:ea typeface="Arial"/>
                <a:cs typeface="Arial"/>
              </a:rPr>
              <a:t>Formula</a:t>
            </a:r>
          </a:p>
        </p:txBody>
      </p:sp>
      <p:sp>
        <p:nvSpPr>
          <p:cNvPr id="11" name="Rectangle 10">
            <a:extLst xmlns:a="http://schemas.openxmlformats.org/drawingml/2006/main">
              <a:ext uri="{FF2B5EF4-FFF2-40B4-BE49-F238E27FC236}">
                <a16:creationId xmlns:a16="http://schemas.microsoft.com/office/drawing/2014/main" id="{825725B2-CE16-4185-B0C4-016113F242A2}"/>
              </a:ext>
            </a:extLst>
          </p:cNvPr>
          <p:cNvSpPr>
            <a:spLocks xmlns:a="http://schemas.openxmlformats.org/drawingml/2006/main" noGrp="1"/>
          </p:cNvSpPr>
          <p:nvPr/>
        </p:nvSpPr>
        <p:spPr>
          <a:xfrm xmlns:a="http://schemas.openxmlformats.org/drawingml/2006/main">
            <a:off x="7543800" y="436245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650" b="1" i="0">
                <a:solidFill>
                  <a:srgbClr val="102A43"/>
                </a:solidFill>
                <a:latin typeface="Arial"/>
                <a:ea typeface="Arial"/>
                <a:cs typeface="Arial"/>
              </a:defRPr>
            </a:pPr>
            <a:r>
              <a:rPr sz="1650" b="1" i="0">
                <a:solidFill>
                  <a:srgbClr val="102A43"/>
                </a:solidFill>
                <a:latin typeface="Arial"/>
                <a:ea typeface="Arial"/>
                <a:cs typeface="Arial"/>
              </a:rPr>
              <a:t>S(W) = (Ts + Tp) / (Ts + Tp / W)</a:t>
            </a:r>
          </a:p>
        </p:txBody>
      </p:sp>
      <p:sp>
        <p:nvSpPr>
          <p:cNvPr id="12" name="Rectangle 11">
            <a:extLst xmlns:a="http://schemas.openxmlformats.org/drawingml/2006/main">
              <a:ext uri="{FF2B5EF4-FFF2-40B4-BE49-F238E27FC236}">
                <a16:creationId xmlns:a16="http://schemas.microsoft.com/office/drawing/2014/main" id="{A7F0CFDE-7B63-4522-87F0-C9DDEA0EAC70}"/>
              </a:ext>
            </a:extLst>
          </p:cNvPr>
          <p:cNvSpPr>
            <a:spLocks xmlns:a="http://schemas.openxmlformats.org/drawingml/2006/main" noGrp="1"/>
          </p:cNvSpPr>
          <p:nvPr/>
        </p:nvSpPr>
        <p:spPr>
          <a:xfrm xmlns:a="http://schemas.openxmlformats.org/drawingml/2006/main">
            <a:off x="7543800" y="487680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383"/>
          </a:bodyPr>
          <a:lstStyle xmlns:a="http://schemas.openxmlformats.org/drawingml/2006/main"/>
          <a:p xmlns:a="http://schemas.openxmlformats.org/drawingml/2006/main">
            <a:pPr algn="l">
              <a:buNone/>
              <a:defRPr sz="1125" b="0" i="0">
                <a:solidFill>
                  <a:srgbClr val="486581"/>
                </a:solidFill>
                <a:latin typeface="Arial"/>
                <a:ea typeface="Arial"/>
                <a:cs typeface="Arial"/>
              </a:defRPr>
            </a:pPr>
            <a:r>
              <a:rPr sz="1125" b="0" i="0">
                <a:solidFill>
                  <a:srgbClr val="486581"/>
                </a:solidFill>
                <a:latin typeface="Arial"/>
                <a:ea typeface="Arial"/>
                <a:cs typeface="Arial"/>
              </a:rPr>
              <a:t>Empirical speedup uses the Week 4 serial end-to-end baseline. Theoretical speedup uses each parallel program's measured one-worker decomposition; this difference is stated explicitly.</a:t>
            </a:r>
          </a:p>
        </p:txBody>
      </p:sp>
    </p:spTree>
    <p:extLst>
      <p:ext uri="{BB962C8B-B14F-4D97-AF65-F5344CB8AC3E}">
        <p14:creationId xmlns:p14="http://schemas.microsoft.com/office/powerpoint/2010/main" val="527175523"/>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B03309B4-B076-4D09-BA03-C8A123CE610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38DF2D00-3587-4912-8033-2D3C110DCDC0}"/>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Rectangle 2">
            <a:extLst xmlns:a="http://schemas.openxmlformats.org/drawingml/2006/main">
              <a:ext uri="{FF2B5EF4-FFF2-40B4-BE49-F238E27FC236}">
                <a16:creationId xmlns:a16="http://schemas.microsoft.com/office/drawing/2014/main" id="{D67EAD2F-0D90-4241-9FD6-B8E6BD2484A8}"/>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Evidence and Moodle submission readiness</a:t>
            </a:r>
          </a:p>
        </p:txBody>
      </p:sp>
      <p:sp>
        <p:nvSpPr>
          <p:cNvPr id="4" name="Rectangle 3">
            <a:extLst xmlns:a="http://schemas.openxmlformats.org/drawingml/2006/main">
              <a:ext uri="{FF2B5EF4-FFF2-40B4-BE49-F238E27FC236}">
                <a16:creationId xmlns:a16="http://schemas.microsoft.com/office/drawing/2014/main" id="{5EB905D4-46AB-48D9-B786-A19015C6449E}"/>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Appendix 2</a:t>
            </a:r>
          </a:p>
        </p:txBody>
      </p:sp>
      <p:sp>
        <p:nvSpPr>
          <p:cNvPr id="5" name="Rectangle 4">
            <a:extLst xmlns:a="http://schemas.openxmlformats.org/drawingml/2006/main">
              <a:ext uri="{FF2B5EF4-FFF2-40B4-BE49-F238E27FC236}">
                <a16:creationId xmlns:a16="http://schemas.microsoft.com/office/drawing/2014/main" id="{AC94D41E-29CC-412C-9050-B50EE923575D}"/>
              </a:ext>
            </a:extLst>
          </p:cNvPr>
          <p:cNvSpPr>
            <a:spLocks xmlns:a="http://schemas.openxmlformats.org/drawingml/2006/main" noGrp="1"/>
          </p:cNvSpPr>
          <p:nvPr/>
        </p:nvSpPr>
        <p:spPr>
          <a:xfrm xmlns:a="http://schemas.openxmlformats.org/drawingml/2006/main">
            <a:off x="552450" y="1104900"/>
            <a:ext cx="1104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Verified artifacts</a:t>
            </a:r>
          </a:p>
        </p:txBody>
      </p:sp>
      <p:graphicFrame>
        <p:nvGraphicFramePr>
          <p:cNvPr id="16" name="Table 15"/>
          <p:cNvGraphicFramePr/>
          <p:nvPr/>
        </p:nvGraphicFramePr>
        <p:xfrm>
          <a:off xmlns:a="http://schemas.openxmlformats.org/drawingml/2006/main" x="552450" y="1485900"/>
          <a:ext xmlns:a="http://schemas.openxmlformats.org/drawingml/2006/main" cx="11087100" cy="3285064"/>
        </p:xfrm>
        <a:graphic xmlns:a="http://schemas.openxmlformats.org/drawingml/2006/main">
          <a:graphicData uri="http://schemas.openxmlformats.org/drawingml/2006/table">
            <a:tbl>
              <a:tblPr firstRow="1"/>
              <a:tblGrid>
                <a:gridCol w="2571750"/>
                <a:gridCol w="6191250"/>
                <a:gridCol w="2324100"/>
              </a:tblGrid>
              <a:tr h="410633">
                <a:tc>
                  <a:txBody>
                    <a:bodyPr/>
                    <a:lstStyle/>
                    <a:p>
                      <a:r>
                        <a:rPr sz="900" b="1">
                          <a:solidFill>
                            <a:srgbClr val="FFFFFF"/>
                          </a:solidFill>
                          <a:latin typeface="Arial"/>
                          <a:ea typeface="Arial"/>
                          <a:cs typeface="Arial"/>
                        </a:rPr>
                        <a:t>Requirement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Artifact</a:t>
                      </a:r>
                    </a:p>
                  </a:txBody>
                  <a:tcPr marL="76200" marR="76200" marT="57150" marB="57150" anchor="ctr">
                    <a:solidFill>
                      <a:srgbClr val="005F66"/>
                    </a:solidFill>
                  </a:tcPr>
                </a:tc>
                <a:tc>
                  <a:txBody>
                    <a:bodyPr/>
                    <a:lstStyle/>
                    <a:p>
                      <a:r>
                        <a:rPr sz="900" b="1">
                          <a:solidFill>
                            <a:srgbClr val="FFFFFF"/>
                          </a:solidFill>
                          <a:latin typeface="Arial"/>
                          <a:ea typeface="Arial"/>
                          <a:cs typeface="Arial"/>
                        </a:rPr>
                        <a:t>Status</a:t>
                      </a:r>
                    </a:p>
                  </a:txBody>
                  <a:tcPr marL="76200" marR="76200" marT="57150" marB="57150" anchor="ctr">
                    <a:solidFill>
                      <a:srgbClr val="005F66"/>
                    </a:solidFill>
                  </a:tcPr>
                </a:tc>
              </a:tr>
              <a:tr h="410633">
                <a:tc>
                  <a:txBody>
                    <a:bodyPr/>
                    <a:lstStyle/>
                    <a:p>
                      <a:r>
                        <a:rPr sz="900">
                          <a:solidFill>
                            <a:srgbClr val="102A43"/>
                          </a:solidFill>
                          <a:latin typeface="Arial"/>
                          <a:ea typeface="Arial"/>
                          <a:cs typeface="Arial"/>
                        </a:rPr>
                        <a:t>Task 1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task1.c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Task 2 source</a:t>
                      </a:r>
                    </a:p>
                  </a:txBody>
                  <a:tcPr marL="76200" marR="76200" marT="47625" marB="47625" anchor="ctr">
                    <a:solidFill>
                      <a:srgbClr val="FFFFFF"/>
                    </a:solidFill>
                  </a:tcPr>
                </a:tc>
                <a:tc>
                  <a:txBody>
                    <a:bodyPr/>
                    <a:lstStyle/>
                    <a:p>
                      <a:r>
                        <a:rPr sz="900">
                          <a:solidFill>
                            <a:srgbClr val="102A43"/>
                          </a:solidFill>
                          <a:latin typeface="Arial"/>
                          <a:ea typeface="Arial"/>
                          <a:cs typeface="Arial"/>
                        </a:rPr>
                        <a:t>task2.c</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FIT3143_Week8_Lab2_Presentation_Submission.pptx</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scripts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supporting/scripts/ (retained for inspection)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Supporting results</a:t>
                      </a:r>
                    </a:p>
                  </a:txBody>
                  <a:tcPr marL="76200" marR="76200" marT="47625" marB="47625" anchor="ctr">
                    <a:solidFill>
                      <a:srgbClr val="FFFFFF"/>
                    </a:solidFill>
                  </a:tcPr>
                </a:tc>
                <a:tc>
                  <a:txBody>
                    <a:bodyPr/>
                    <a:lstStyle/>
                    <a:p>
                      <a:r>
                        <a:rPr sz="900">
                          <a:solidFill>
                            <a:srgbClr val="102A43"/>
                          </a:solidFill>
                          <a:latin typeface="Arial"/>
                          <a:ea typeface="Arial"/>
                          <a:cs typeface="Arial"/>
                        </a:rPr>
                        <a:t>supporting/results/ and evidence/ (retained for inspection)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Optional upload</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AI use declaration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Appendix 5 in this presentation</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r h="410633">
                <a:tc>
                  <a:txBody>
                    <a:bodyPr/>
                    <a:lstStyle/>
                    <a:p>
                      <a:r>
                        <a:rPr sz="900">
                          <a:solidFill>
                            <a:srgbClr val="102A43"/>
                          </a:solidFill>
                          <a:latin typeface="Arial"/>
                          <a:ea typeface="Arial"/>
                          <a:cs typeface="Arial"/>
                        </a:rPr>
                        <a:t>CAAS screenshots</a:t>
                      </a:r>
                    </a:p>
                  </a:txBody>
                  <a:tcPr marL="76200" marR="76200" marT="47625" marB="47625" anchor="ctr">
                    <a:solidFill>
                      <a:srgbClr val="FFFFFF"/>
                    </a:solidFill>
                  </a:tcPr>
                </a:tc>
                <a:tc>
                  <a:txBody>
                    <a:bodyPr/>
                    <a:lstStyle/>
                    <a:p>
                      <a:r>
                        <a:rPr sz="900">
                          <a:solidFill>
                            <a:srgbClr val="102A43"/>
                          </a:solidFill>
                          <a:latin typeface="Arial"/>
                          <a:ea typeface="Arial"/>
                          <a:cs typeface="Arial"/>
                        </a:rPr>
                        <a:t>Appendices 3-4: setup and two-node Task 1</a:t>
                      </a:r>
                    </a:p>
                  </a:txBody>
                  <a:tcPr marL="76200" marR="76200" marT="47625" marB="47625" anchor="ctr">
                    <a:solidFill>
                      <a:srgbClr val="FFFFFF"/>
                    </a:solidFill>
                  </a:tcPr>
                </a:tc>
                <a:tc>
                  <a:txBody>
                    <a:bodyPr/>
                    <a:lstStyle/>
                    <a:p>
                      <a:r>
                        <a:rPr sz="900">
                          <a:solidFill>
                            <a:srgbClr val="102A43"/>
                          </a:solidFill>
                          <a:latin typeface="Arial"/>
                          <a:ea typeface="Arial"/>
                          <a:cs typeface="Arial"/>
                        </a:rPr>
                        <a:t>Ready</a:t>
                      </a:r>
                    </a:p>
                  </a:txBody>
                  <a:tcPr marL="76200" marR="76200" marT="47625" marB="47625" anchor="ctr">
                    <a:solidFill>
                      <a:srgbClr val="FFFFFF"/>
                    </a:solidFill>
                  </a:tcPr>
                </a:tc>
              </a:tr>
            </a:tbl>
          </a:graphicData>
        </a:graphic>
      </p:graphicFrame>
    </p:spTree>
    <p:extLst>
      <p:ext uri="{BB962C8B-B14F-4D97-AF65-F5344CB8AC3E}">
        <p14:creationId xmlns:p14="http://schemas.microsoft.com/office/powerpoint/2010/main" val="1315512247"/>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74372A8-0EA6-4921-9303-286E650137B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A00C8A05-2709-44A3-BB04-F3948C775033}"/>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Rectangle 2">
            <a:extLst xmlns:a="http://schemas.openxmlformats.org/drawingml/2006/main">
              <a:ext uri="{FF2B5EF4-FFF2-40B4-BE49-F238E27FC236}">
                <a16:creationId xmlns:a16="http://schemas.microsoft.com/office/drawing/2014/main" id="{5FC69735-BC19-43F1-A383-2A9BCD876E06}"/>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CAAS evidence — access and job setup</a:t>
            </a:r>
          </a:p>
        </p:txBody>
      </p:sp>
      <p:sp>
        <p:nvSpPr>
          <p:cNvPr id="4" name="Rectangle 3">
            <a:extLst xmlns:a="http://schemas.openxmlformats.org/drawingml/2006/main">
              <a:ext uri="{FF2B5EF4-FFF2-40B4-BE49-F238E27FC236}">
                <a16:creationId xmlns:a16="http://schemas.microsoft.com/office/drawing/2014/main" id="{DC9C10E3-8F3D-49A6-AE8E-562E43FFC89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Appendix 3</a:t>
            </a:r>
          </a:p>
        </p:txBody>
      </p:sp>
      <p:sp>
        <p:nvSpPr>
          <p:cNvPr id="5" name="Rectangle 4">
            <a:extLst xmlns:a="http://schemas.openxmlformats.org/drawingml/2006/main">
              <a:ext uri="{FF2B5EF4-FFF2-40B4-BE49-F238E27FC236}">
                <a16:creationId xmlns:a16="http://schemas.microsoft.com/office/drawing/2014/main" id="{D63225E1-7A86-4422-AF75-5F8B29A03FB0}"/>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CAAS head-node access and source upload</a:t>
            </a:r>
          </a:p>
        </p:txBody>
      </p:sp>
      <p:sp>
        <p:nvSpPr>
          <p:cNvPr id="7" name="Rectangle: Rounded Corners 6">
            <a:extLst xmlns:a="http://schemas.openxmlformats.org/drawingml/2006/main">
              <a:ext uri="{FF2B5EF4-FFF2-40B4-BE49-F238E27FC236}">
                <a16:creationId xmlns:a16="http://schemas.microsoft.com/office/drawing/2014/main" id="{A24286EE-1B3D-471F-88CF-51259B990B49}"/>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7205266B-E48C-48A6-9230-B8AF8F7D4C79}"/>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Rectangle 8">
            <a:extLst xmlns:a="http://schemas.openxmlformats.org/drawingml/2006/main">
              <a:ext uri="{FF2B5EF4-FFF2-40B4-BE49-F238E27FC236}">
                <a16:creationId xmlns:a16="http://schemas.microsoft.com/office/drawing/2014/main" id="{93F5C35F-9946-45C4-9E07-CE85AC839189}"/>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275" b="0" i="0">
                <a:solidFill>
                  <a:srgbClr val="102A43"/>
                </a:solidFill>
                <a:latin typeface="Arial"/>
                <a:ea typeface="Arial"/>
                <a:cs typeface="Arial"/>
              </a:defRPr>
            </a:pPr>
            <a:r>
              <a:rPr sz="1275" b="0" i="0">
                <a:solidFill>
                  <a:srgbClr val="102A43"/>
                </a:solidFill>
                <a:latin typeface="Arial"/>
                <a:ea typeface="Arial"/>
                <a:cs typeface="Arial"/>
              </a:rPr>
              <a:t>• Authenticated CAAS head-node access</a:t>
            </a:r>
          </a:p>
          <a:p xmlns:a="http://schemas.openxmlformats.org/drawingml/2006/main">
            <a:pPr algn="l">
              <a:buNone/>
              <a:defRPr sz="1275" b="0" i="0">
                <a:solidFill>
                  <a:srgbClr val="102A43"/>
                </a:solidFill>
                <a:latin typeface="Arial"/>
                <a:ea typeface="Arial"/>
                <a:cs typeface="Arial"/>
              </a:defRPr>
            </a:pPr>
            <a:r>
              <a:rPr sz="1275" b="0" i="0">
                <a:solidFill>
                  <a:srgbClr val="102A43"/>
                </a:solidFill>
                <a:latin typeface="Arial"/>
                <a:ea typeface="Arial"/>
                <a:cs typeface="Arial"/>
              </a:rPr>
              <a:t>• SLURM defq reported idle compute nodes</a:t>
            </a:r>
          </a:p>
          <a:p xmlns:a="http://schemas.openxmlformats.org/drawingml/2006/main">
            <a:pPr algn="l">
              <a:buNone/>
              <a:defRPr sz="1275" b="0" i="0">
                <a:solidFill>
                  <a:srgbClr val="102A43"/>
                </a:solidFill>
                <a:latin typeface="Arial"/>
                <a:ea typeface="Arial"/>
                <a:cs typeface="Arial"/>
              </a:defRPr>
            </a:pPr>
            <a:r>
              <a:rPr sz="1275" b="0" i="0">
                <a:solidFill>
                  <a:srgbClr val="102A43"/>
                </a:solidFill>
                <a:latin typeface="Arial"/>
                <a:ea typeface="Arial"/>
                <a:cs typeface="Arial"/>
              </a:rPr>
              <a:t>• Task 1 and Task 2 sources uploaded</a:t>
            </a:r>
          </a:p>
          <a:p xmlns:a="http://schemas.openxmlformats.org/drawingml/2006/main">
            <a:pPr algn="l">
              <a:buNone/>
              <a:defRPr sz="1275" b="0" i="0">
                <a:solidFill>
                  <a:srgbClr val="102A43"/>
                </a:solidFill>
                <a:latin typeface="Arial"/>
                <a:ea typeface="Arial"/>
                <a:cs typeface="Arial"/>
              </a:defRPr>
            </a:pPr>
            <a:r>
              <a:rPr sz="1275" b="0" i="0">
                <a:solidFill>
                  <a:srgbClr val="102A43"/>
                </a:solidFill>
                <a:latin typeface="Arial"/>
                <a:ea typeface="Arial"/>
                <a:cs typeface="Arial"/>
              </a:rPr>
              <a:t>• Setup evidence only; no performance claim</a:t>
            </a:r>
          </a:p>
        </p:txBody>
      </p:sp>
      <p:sp>
        <p:nvSpPr>
          <p:cNvPr id="10" name="Rectangle: Rounded Corners 9">
            <a:extLst xmlns:a="http://schemas.openxmlformats.org/drawingml/2006/main">
              <a:ext uri="{FF2B5EF4-FFF2-40B4-BE49-F238E27FC236}">
                <a16:creationId xmlns:a16="http://schemas.microsoft.com/office/drawing/2014/main" id="{90C65EAC-8A96-4B1B-AE98-44A1C8FC998A}"/>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9B0F585C-34D5-41C6-8D8D-AE38905E8896}"/>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buNone/>
              <a:defRPr sz="1200" b="1" i="0">
                <a:solidFill>
                  <a:srgbClr val="8A4B08"/>
                </a:solidFill>
                <a:latin typeface="Arial"/>
                <a:ea typeface="Arial"/>
                <a:cs typeface="Arial"/>
              </a:defRPr>
            </a:pPr>
            <a:r>
              <a:rPr sz="1200" b="1" i="0">
                <a:solidFill>
                  <a:srgbClr val="8A4B08"/>
                </a:solidFill>
                <a:latin typeface="Arial"/>
                <a:ea typeface="Arial"/>
                <a:cs typeface="Arial"/>
              </a:rPr>
              <a:t>This capture establishes the CAAS environment before the submitted two-node Task 1 job shown in Appendix 4.</a:t>
            </a:r>
          </a:p>
        </p:txBody>
      </p:sp>
      <p:pic>
        <p:nvPicPr>
          <p:cNvPr id="24" name="Picture 23"/>
          <p:cNvPicPr>
            <a:picLocks xmlns:a="http://schemas.openxmlformats.org/drawingml/2006/main" noChangeAspect="1"/>
          </p:cNvPicPr>
          <p:nvPr/>
        </p:nvPicPr>
        <p:blipFill>
          <a:blip xmlns:r="http://schemas.openxmlformats.org/officeDocument/2006/relationships" xmlns:a="http://schemas.openxmlformats.org/drawingml/2006/main" r:embed="Radc258173c8548e2"/>
          <a:stretch xmlns:a="http://schemas.openxmlformats.org/drawingml/2006/main"/>
        </p:blipFill>
        <p:spPr>
          <a:xfrm xmlns:a="http://schemas.openxmlformats.org/drawingml/2006/main">
            <a:off x="1357912" y="1670344"/>
            <a:ext cx="4580325" cy="4031661"/>
          </a:xfrm>
          <a:prstGeom xmlns:a="http://schemas.openxmlformats.org/drawingml/2006/main" prst="rect">
            <a:avLst/>
          </a:prstGeom>
        </p:spPr>
      </p:pic>
    </p:spTree>
    <p:extLst>
      <p:ext uri="{BB962C8B-B14F-4D97-AF65-F5344CB8AC3E}">
        <p14:creationId xmlns:p14="http://schemas.microsoft.com/office/powerpoint/2010/main" val="1808794484"/>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74372A8-0EA6-4921-9303-286E650137B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A00C8A05-2709-44A3-BB04-F3948C775033}"/>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Rectangle 2">
            <a:extLst xmlns:a="http://schemas.openxmlformats.org/drawingml/2006/main">
              <a:ext uri="{FF2B5EF4-FFF2-40B4-BE49-F238E27FC236}">
                <a16:creationId xmlns:a16="http://schemas.microsoft.com/office/drawing/2014/main" id="{5FC69735-BC19-43F1-A383-2A9BCD876E06}"/>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CAAS evidence — two-node Task 1 run</a:t>
            </a:r>
          </a:p>
        </p:txBody>
      </p:sp>
      <p:sp>
        <p:nvSpPr>
          <p:cNvPr id="4" name="Rectangle 3">
            <a:extLst xmlns:a="http://schemas.openxmlformats.org/drawingml/2006/main">
              <a:ext uri="{FF2B5EF4-FFF2-40B4-BE49-F238E27FC236}">
                <a16:creationId xmlns:a16="http://schemas.microsoft.com/office/drawing/2014/main" id="{DC9C10E3-8F3D-49A6-AE8E-562E43FFC891}"/>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Appendix 4</a:t>
            </a:r>
          </a:p>
        </p:txBody>
      </p:sp>
      <p:sp>
        <p:nvSpPr>
          <p:cNvPr id="5" name="Rectangle 4">
            <a:extLst xmlns:a="http://schemas.openxmlformats.org/drawingml/2006/main">
              <a:ext uri="{FF2B5EF4-FFF2-40B4-BE49-F238E27FC236}">
                <a16:creationId xmlns:a16="http://schemas.microsoft.com/office/drawing/2014/main" id="{D63225E1-7A86-4422-AF75-5F8B29A03FB0}"/>
              </a:ext>
            </a:extLst>
          </p:cNvPr>
          <p:cNvSpPr>
            <a:spLocks xmlns:a="http://schemas.openxmlformats.org/drawingml/2006/main" noGrp="1"/>
          </p:cNvSpPr>
          <p:nvPr/>
        </p:nvSpPr>
        <p:spPr>
          <a:xfrm xmlns:a="http://schemas.openxmlformats.org/drawingml/2006/main">
            <a:off x="552450" y="110490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Two-node CAAS Task 1 functional execution</a:t>
            </a:r>
          </a:p>
        </p:txBody>
      </p:sp>
      <p:sp>
        <p:nvSpPr>
          <p:cNvPr id="7" name="Rectangle: Rounded Corners 6">
            <a:extLst xmlns:a="http://schemas.openxmlformats.org/drawingml/2006/main">
              <a:ext uri="{FF2B5EF4-FFF2-40B4-BE49-F238E27FC236}">
                <a16:creationId xmlns:a16="http://schemas.microsoft.com/office/drawing/2014/main" id="{A24286EE-1B3D-471F-88CF-51259B990B49}"/>
              </a:ext>
            </a:extLst>
          </p:cNvPr>
          <p:cNvSpPr>
            <a:spLocks xmlns:a="http://schemas.openxmlformats.org/drawingml/2006/main" noGrp="1"/>
          </p:cNvSpPr>
          <p:nvPr/>
        </p:nvSpPr>
        <p:spPr>
          <a:xfrm xmlns:a="http://schemas.openxmlformats.org/drawingml/2006/main">
            <a:off x="7124700" y="1581150"/>
            <a:ext cx="4305300" cy="3295650"/>
          </a:xfrm>
          <a:prstGeom xmlns:a="http://schemas.openxmlformats.org/drawingml/2006/main" prst="roundRect">
            <a:avLst>
              <a:gd name="adj" fmla="val 2312"/>
            </a:avLst>
          </a:prstGeom>
          <a:solidFill xmlns:a="http://schemas.openxmlformats.org/drawingml/2006/main">
            <a:srgbClr val="FFFFFF"/>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8" name="Rectangle 7">
            <a:extLst xmlns:a="http://schemas.openxmlformats.org/drawingml/2006/main">
              <a:ext uri="{FF2B5EF4-FFF2-40B4-BE49-F238E27FC236}">
                <a16:creationId xmlns:a16="http://schemas.microsoft.com/office/drawing/2014/main" id="{7205266B-E48C-48A6-9230-B8AF8F7D4C79}"/>
              </a:ext>
            </a:extLst>
          </p:cNvPr>
          <p:cNvSpPr>
            <a:spLocks xmlns:a="http://schemas.openxmlformats.org/drawingml/2006/main" noGrp="1"/>
          </p:cNvSpPr>
          <p:nvPr/>
        </p:nvSpPr>
        <p:spPr>
          <a:xfrm xmlns:a="http://schemas.openxmlformats.org/drawingml/2006/main">
            <a:off x="7410450" y="1847850"/>
            <a:ext cx="3524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8333"/>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What this proves</a:t>
            </a:r>
          </a:p>
        </p:txBody>
      </p:sp>
      <p:sp>
        <p:nvSpPr>
          <p:cNvPr id="9" name="Rectangle 8">
            <a:extLst xmlns:a="http://schemas.openxmlformats.org/drawingml/2006/main">
              <a:ext uri="{FF2B5EF4-FFF2-40B4-BE49-F238E27FC236}">
                <a16:creationId xmlns:a16="http://schemas.microsoft.com/office/drawing/2014/main" id="{93F5C35F-9946-45C4-9E07-CE85AC839189}"/>
              </a:ext>
            </a:extLst>
          </p:cNvPr>
          <p:cNvSpPr>
            <a:spLocks xmlns:a="http://schemas.openxmlformats.org/drawingml/2006/main" noGrp="1"/>
          </p:cNvSpPr>
          <p:nvPr/>
        </p:nvSpPr>
        <p:spPr>
          <a:xfrm xmlns:a="http://schemas.openxmlformats.org/drawingml/2006/main">
            <a:off x="7410450" y="2286000"/>
            <a:ext cx="3524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275" b="0" i="0">
                <a:solidFill>
                  <a:srgbClr val="102A43"/>
                </a:solidFill>
                <a:latin typeface="Arial"/>
                <a:ea typeface="Arial"/>
                <a:cs typeface="Arial"/>
              </a:defRPr>
            </a:pPr>
            <a:r>
              <a:rPr sz="1275" b="0" i="0">
                <a:solidFill>
                  <a:srgbClr val="102A43"/>
                </a:solidFill>
                <a:latin typeface="Arial"/>
                <a:ea typeface="Arial"/>
                <a:cs typeface="Arial"/>
              </a:rPr>
              <a:t>• Allocated nodes: student-caas-n03 and n04</a:t>
            </a:r>
          </a:p>
          <a:p xmlns:a="http://schemas.openxmlformats.org/drawingml/2006/main">
            <a:pPr algn="l">
              <a:buNone/>
              <a:defRPr sz="1275" b="0" i="0">
                <a:solidFill>
                  <a:srgbClr val="102A43"/>
                </a:solidFill>
                <a:latin typeface="Arial"/>
                <a:ea typeface="Arial"/>
                <a:cs typeface="Arial"/>
              </a:defRPr>
            </a:pPr>
            <a:r>
              <a:rPr sz="1275" b="0" i="0">
                <a:solidFill>
                  <a:srgbClr val="102A43"/>
                </a:solidFill>
                <a:latin typeface="Arial"/>
                <a:ea typeface="Arial"/>
                <a:cs typeface="Arial"/>
              </a:rPr>
              <a:t>• 8 MPI ranks, 4 ranks on each node</a:t>
            </a:r>
          </a:p>
          <a:p xmlns:a="http://schemas.openxmlformats.org/drawingml/2006/main">
            <a:pPr algn="l">
              <a:buNone/>
              <a:defRPr sz="1275" b="0" i="0">
                <a:solidFill>
                  <a:srgbClr val="102A43"/>
                </a:solidFill>
                <a:latin typeface="Arial"/>
                <a:ea typeface="Arial"/>
                <a:cs typeface="Arial"/>
              </a:defRPr>
            </a:pPr>
            <a:r>
              <a:rPr sz="1275" b="0" i="0">
                <a:solidFill>
                  <a:srgbClr val="102A43"/>
                </a:solidFill>
                <a:latin typeface="Arial"/>
                <a:ea typeface="Arial"/>
                <a:cs typeface="Arial"/>
              </a:rPr>
              <a:t>• Task 1 at n = 10,000 returned 1,229 primes</a:t>
            </a:r>
          </a:p>
          <a:p xmlns:a="http://schemas.openxmlformats.org/drawingml/2006/main">
            <a:pPr algn="l">
              <a:buNone/>
              <a:defRPr sz="1275" b="0" i="0">
                <a:solidFill>
                  <a:srgbClr val="102A43"/>
                </a:solidFill>
                <a:latin typeface="Arial"/>
                <a:ea typeface="Arial"/>
                <a:cs typeface="Arial"/>
              </a:defRPr>
            </a:pPr>
            <a:r>
              <a:rPr sz="1275" b="0" i="0">
                <a:solidFill>
                  <a:srgbClr val="102A43"/>
                </a:solidFill>
                <a:latin typeface="Arial"/>
                <a:ea typeface="Arial"/>
                <a:cs typeface="Arial"/>
              </a:rPr>
              <a:t>• Functional proof only; not performance or balance data</a:t>
            </a:r>
          </a:p>
        </p:txBody>
      </p:sp>
      <p:sp>
        <p:nvSpPr>
          <p:cNvPr id="10" name="Rectangle: Rounded Corners 9">
            <a:extLst xmlns:a="http://schemas.openxmlformats.org/drawingml/2006/main">
              <a:ext uri="{FF2B5EF4-FFF2-40B4-BE49-F238E27FC236}">
                <a16:creationId xmlns:a16="http://schemas.microsoft.com/office/drawing/2014/main" id="{90C65EAC-8A96-4B1B-AE98-44A1C8FC998A}"/>
              </a:ext>
            </a:extLst>
          </p:cNvPr>
          <p:cNvSpPr>
            <a:spLocks xmlns:a="http://schemas.openxmlformats.org/drawingml/2006/main" noGrp="1"/>
          </p:cNvSpPr>
          <p:nvPr/>
        </p:nvSpPr>
        <p:spPr>
          <a:xfrm xmlns:a="http://schemas.openxmlformats.org/drawingml/2006/main">
            <a:off x="990600" y="6057900"/>
            <a:ext cx="10210800" cy="514350"/>
          </a:xfrm>
          <a:prstGeom xmlns:a="http://schemas.openxmlformats.org/drawingml/2006/main" prst="roundRect">
            <a:avLst>
              <a:gd name="adj" fmla="val 14815"/>
            </a:avLst>
          </a:prstGeom>
          <a:solidFill xmlns:a="http://schemas.openxmlformats.org/drawingml/2006/main">
            <a:srgbClr val="FFF5E6"/>
          </a:solidFill>
          <a:ln xmlns:a="http://schemas.openxmlformats.org/drawingml/2006/main" w="9525">
            <a:solidFill>
              <a:srgbClr val="F5C98A"/>
            </a:solidFill>
          </a:ln>
        </p:spPr>
        <p:txBody>
          <a:bodyPr xmlns:a="http://schemas.openxmlformats.org/drawingml/2006/main"/>
          <a:lstStyle xmlns:a="http://schemas.openxmlformats.org/drawingml/2006/main"/>
          <a:p xmlns:a="http://schemas.openxmlformats.org/drawingml/2006/main">
            <a:endParaRPr/>
          </a:p>
        </p:txBody>
      </p:sp>
      <p:sp>
        <p:nvSpPr>
          <p:cNvPr id="11" name="Rectangle 10">
            <a:extLst xmlns:a="http://schemas.openxmlformats.org/drawingml/2006/main">
              <a:ext uri="{FF2B5EF4-FFF2-40B4-BE49-F238E27FC236}">
                <a16:creationId xmlns:a16="http://schemas.microsoft.com/office/drawing/2014/main" id="{9B0F585C-34D5-41C6-8D8D-AE38905E8896}"/>
              </a:ext>
            </a:extLst>
          </p:cNvPr>
          <p:cNvSpPr>
            <a:spLocks xmlns:a="http://schemas.openxmlformats.org/drawingml/2006/main" noGrp="1"/>
          </p:cNvSpPr>
          <p:nvPr/>
        </p:nvSpPr>
        <p:spPr>
          <a:xfrm xmlns:a="http://schemas.openxmlformats.org/drawingml/2006/main">
            <a:off x="1162050" y="6181725"/>
            <a:ext cx="986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ctr">
              <a:buNone/>
              <a:defRPr sz="1200" b="1" i="0">
                <a:solidFill>
                  <a:srgbClr val="8A4B08"/>
                </a:solidFill>
                <a:latin typeface="Arial"/>
                <a:ea typeface="Arial"/>
                <a:cs typeface="Arial"/>
              </a:defRPr>
            </a:pPr>
            <a:r>
              <a:rPr sz="1200" b="1" i="0">
                <a:solidFill>
                  <a:srgbClr val="8A4B08"/>
                </a:solidFill>
                <a:latin typeface="Arial"/>
                <a:ea typeface="Arial"/>
                <a:cs typeface="Arial"/>
              </a:rPr>
              <a:t>CAAS functional evidence. The existing graphs and balance findings remain based on the documented local measurement files.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8dae09d0204e42ab"/>
          <a:stretch xmlns:a="http://schemas.openxmlformats.org/drawingml/2006/main"/>
        </p:blipFill>
        <p:spPr>
          <a:xfrm xmlns:a="http://schemas.openxmlformats.org/drawingml/2006/main">
            <a:off x="1279495" y="1447800"/>
            <a:ext cx="4737160" cy="4476750"/>
          </a:xfrm>
          <a:prstGeom xmlns:a="http://schemas.openxmlformats.org/drawingml/2006/main" prst="rect">
            <a:avLst/>
          </a:prstGeom>
        </p:spPr>
      </p:pic>
    </p:spTree>
    <p:extLst>
      <p:ext uri="{BB962C8B-B14F-4D97-AF65-F5344CB8AC3E}">
        <p14:creationId xmlns:p14="http://schemas.microsoft.com/office/powerpoint/2010/main" val="1808794484"/>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16" name="Rectangle 15">
            <a:extLst xmlns:a="http://schemas.openxmlformats.org/drawingml/2006/main">
              <a:ext uri="{FF2B5EF4-FFF2-40B4-BE49-F238E27FC236}">
                <a16:creationId xmlns:a16="http://schemas.microsoft.com/office/drawing/2014/main" id="{E77DC7E3-08B8-4768-948C-3AAE8EC3E499}"/>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F28E2B"/>
          </a:solidFill>
          <a:ln xmlns:a="http://schemas.openxmlformats.org/drawingml/2006/main" w="9525">
            <a:solidFill>
              <a:srgbClr val="F28E2B"/>
            </a:solidFill>
          </a:ln>
        </p:spPr>
        <p:txBody>
          <a:bodyPr xmlns:a="http://schemas.openxmlformats.org/drawingml/2006/main"/>
          <a:lstStyle xmlns:a="http://schemas.openxmlformats.org/drawingml/2006/main"/>
          <a:p xmlns:a="http://schemas.openxmlformats.org/drawingml/2006/main">
            <a:endParaRPr/>
          </a:p>
        </p:txBody>
      </p:sp>
      <p:sp>
        <p:nvSpPr>
          <p:cNvPr id="2" name="Rectangle 1">
            <a:extLst xmlns:a="http://schemas.openxmlformats.org/drawingml/2006/main">
              <a:ext uri="{FF2B5EF4-FFF2-40B4-BE49-F238E27FC236}">
                <a16:creationId xmlns:a16="http://schemas.microsoft.com/office/drawing/2014/main" id="{9CF58F88-1851-45A6-898E-31690793A640}"/>
              </a:ext>
            </a:extLst>
          </p:cNvPr>
          <p:cNvSpPr>
            <a:spLocks xmlns:a="http://schemas.openxmlformats.org/drawingml/2006/main" noGrp="1"/>
          </p:cNvSpPr>
          <p:nvPr/>
        </p:nvSpPr>
        <p:spPr>
          <a:xfrm xmlns:a="http://schemas.openxmlformats.org/drawingml/2006/main">
            <a:off x="552450" y="266700"/>
            <a:ext cx="2286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l">
              <a:buNone/>
              <a:defRPr sz="900" b="1" i="0">
                <a:solidFill>
                  <a:srgbClr val="F28E2B"/>
                </a:solidFill>
                <a:latin typeface="Arial"/>
                <a:ea typeface="Arial"/>
                <a:cs typeface="Arial"/>
              </a:defRPr>
            </a:pPr>
            <a:r>
              <a:rPr sz="900" b="1" i="0">
                <a:solidFill>
                  <a:srgbClr val="F28E2B"/>
                </a:solidFill>
                <a:latin typeface="Arial"/>
                <a:ea typeface="Arial"/>
                <a:cs typeface="Arial"/>
              </a:rPr>
              <a:t>APPENDIX</a:t>
            </a:r>
          </a:p>
        </p:txBody>
      </p:sp>
      <p:sp>
        <p:nvSpPr>
          <p:cNvPr id="3" name="Rectangle 2">
            <a:extLst xmlns:a="http://schemas.openxmlformats.org/drawingml/2006/main">
              <a:ext uri="{FF2B5EF4-FFF2-40B4-BE49-F238E27FC236}">
                <a16:creationId xmlns:a16="http://schemas.microsoft.com/office/drawing/2014/main" id="{8F351796-A5E9-4ADE-87B7-29F24B7C7665}"/>
              </a:ext>
            </a:extLst>
          </p:cNvPr>
          <p:cNvSpPr>
            <a:spLocks xmlns:a="http://schemas.openxmlformats.org/drawingml/2006/main" noGrp="1"/>
          </p:cNvSpPr>
          <p:nvPr/>
        </p:nvSpPr>
        <p:spPr>
          <a:xfrm xmlns:a="http://schemas.openxmlformats.org/drawingml/2006/main">
            <a:off x="552450" y="49530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792"/>
          </a:bodyPr>
          <a:lstStyle xmlns:a="http://schemas.openxmlformats.org/drawingml/2006/main"/>
          <a:p xmlns:a="http://schemas.openxmlformats.org/drawingml/2006/main">
            <a:pPr algn="l">
              <a:buNone/>
              <a:defRPr sz="2400" b="1" i="0">
                <a:solidFill>
                  <a:srgbClr val="102A43"/>
                </a:solidFill>
                <a:latin typeface="Arial"/>
                <a:ea typeface="Arial"/>
                <a:cs typeface="Arial"/>
              </a:defRPr>
            </a:pPr>
            <a:r>
              <a:rPr sz="2400" b="1" i="0">
                <a:solidFill>
                  <a:srgbClr val="102A43"/>
                </a:solidFill>
                <a:latin typeface="Arial"/>
                <a:ea typeface="Arial"/>
                <a:cs typeface="Arial"/>
              </a:rPr>
              <a:t>Generative AI use declaration</a:t>
            </a:r>
          </a:p>
        </p:txBody>
      </p:sp>
      <p:sp>
        <p:nvSpPr>
          <p:cNvPr id="4" name="Rectangle 3">
            <a:extLst xmlns:a="http://schemas.openxmlformats.org/drawingml/2006/main">
              <a:ext uri="{FF2B5EF4-FFF2-40B4-BE49-F238E27FC236}">
                <a16:creationId xmlns:a16="http://schemas.microsoft.com/office/drawing/2014/main" id="{3D9E1EDB-7D60-4FAE-B61D-5D34A7E74CCC}"/>
              </a:ext>
            </a:extLst>
          </p:cNvPr>
          <p:cNvSpPr>
            <a:spLocks xmlns:a="http://schemas.openxmlformats.org/drawingml/2006/main" noGrp="1"/>
          </p:cNvSpPr>
          <p:nvPr/>
        </p:nvSpPr>
        <p:spPr>
          <a:xfrm xmlns:a="http://schemas.openxmlformats.org/drawingml/2006/main">
            <a:off x="10953750" y="6438900"/>
            <a:ext cx="7429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222"/>
          </a:bodyPr>
          <a:lstStyle xmlns:a="http://schemas.openxmlformats.org/drawingml/2006/main"/>
          <a:p xmlns:a="http://schemas.openxmlformats.org/drawingml/2006/main">
            <a:pPr algn="r">
              <a:buNone/>
              <a:defRPr sz="900" b="0" i="0">
                <a:solidFill>
                  <a:srgbClr val="486581"/>
                </a:solidFill>
                <a:latin typeface="Arial"/>
                <a:ea typeface="Arial"/>
                <a:cs typeface="Arial"/>
              </a:defRPr>
            </a:pPr>
            <a:r>
              <a:rPr sz="900" b="0" i="0">
                <a:solidFill>
                  <a:srgbClr val="486581"/>
                </a:solidFill>
                <a:latin typeface="Arial"/>
                <a:ea typeface="Arial"/>
                <a:cs typeface="Arial"/>
              </a:rPr>
              <a:t>Appendix 5</a:t>
            </a:r>
          </a:p>
        </p:txBody>
      </p:sp>
      <p:sp>
        <p:nvSpPr>
          <p:cNvPr id="5" name="Rectangle 4">
            <a:extLst xmlns:a="http://schemas.openxmlformats.org/drawingml/2006/main">
              <a:ext uri="{FF2B5EF4-FFF2-40B4-BE49-F238E27FC236}">
                <a16:creationId xmlns:a16="http://schemas.microsoft.com/office/drawing/2014/main" id="{0119EAFE-A1DC-4A3A-8404-DA43440D78FA}"/>
              </a:ext>
            </a:extLst>
          </p:cNvPr>
          <p:cNvSpPr>
            <a:spLocks xmlns:a="http://schemas.openxmlformats.org/drawingml/2006/main" noGrp="1"/>
          </p:cNvSpPr>
          <p:nvPr/>
        </p:nvSpPr>
        <p:spPr>
          <a:xfrm xmlns:a="http://schemas.openxmlformats.org/drawingml/2006/main">
            <a:off x="552450" y="1104900"/>
            <a:ext cx="590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667"/>
          </a:bodyPr>
          <a:lstStyle xmlns:a="http://schemas.openxmlformats.org/drawingml/2006/main"/>
          <a:p xmlns:a="http://schemas.openxmlformats.org/drawingml/2006/main">
            <a:pPr algn="l">
              <a:buNone/>
              <a:defRPr sz="1500" b="1" i="0">
                <a:solidFill>
                  <a:srgbClr val="005F66"/>
                </a:solidFill>
                <a:latin typeface="Arial"/>
                <a:ea typeface="Arial"/>
                <a:cs typeface="Arial"/>
              </a:defRPr>
            </a:pPr>
            <a:r>
              <a:rPr sz="1500" b="1" i="0">
                <a:solidFill>
                  <a:srgbClr val="005F66"/>
                </a:solidFill>
                <a:latin typeface="Arial"/>
                <a:ea typeface="Arial"/>
                <a:cs typeface="Arial"/>
              </a:rPr>
              <a:t>Included in this presentation</a:t>
            </a:r>
          </a:p>
        </p:txBody>
      </p:sp>
      <p:sp>
        <p:nvSpPr>
          <p:cNvPr id="6" name="Rectangle 5">
            <a:extLst xmlns:a="http://schemas.openxmlformats.org/drawingml/2006/main">
              <a:ext uri="{FF2B5EF4-FFF2-40B4-BE49-F238E27FC236}">
                <a16:creationId xmlns:a16="http://schemas.microsoft.com/office/drawing/2014/main" id="{4D01809A-15C9-4D02-981B-E362B42BDE9D}"/>
              </a:ext>
            </a:extLst>
          </p:cNvPr>
          <p:cNvSpPr>
            <a:spLocks xmlns:a="http://schemas.openxmlformats.org/drawingml/2006/main" noGrp="1"/>
          </p:cNvSpPr>
          <p:nvPr/>
        </p:nvSpPr>
        <p:spPr>
          <a:xfrm xmlns:a="http://schemas.openxmlformats.org/drawingml/2006/main">
            <a:off x="742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buNone/>
              <a:defRPr sz="1575" b="1" i="0">
                <a:solidFill>
                  <a:srgbClr val="005F66"/>
                </a:solidFill>
                <a:latin typeface="Arial"/>
                <a:ea typeface="Arial"/>
                <a:cs typeface="Arial"/>
              </a:defRPr>
            </a:pPr>
            <a:r>
              <a:rPr sz="1575" b="1" i="0">
                <a:solidFill>
                  <a:srgbClr val="005F66"/>
                </a:solidFill>
                <a:latin typeface="Arial"/>
                <a:ea typeface="Arial"/>
                <a:cs typeface="Arial"/>
              </a:rPr>
              <a:t>Scope of assistance</a:t>
            </a:r>
          </a:p>
        </p:txBody>
      </p:sp>
      <p:sp>
        <p:nvSpPr>
          <p:cNvPr id="7" name="Rectangle 6">
            <a:extLst xmlns:a="http://schemas.openxmlformats.org/drawingml/2006/main">
              <a:ext uri="{FF2B5EF4-FFF2-40B4-BE49-F238E27FC236}">
                <a16:creationId xmlns:a16="http://schemas.microsoft.com/office/drawing/2014/main" id="{DF700D65-A93C-4B39-963E-74228BFFF24A}"/>
              </a:ext>
            </a:extLst>
          </p:cNvPr>
          <p:cNvSpPr>
            <a:spLocks xmlns:a="http://schemas.openxmlformats.org/drawingml/2006/main" noGrp="1"/>
          </p:cNvSpPr>
          <p:nvPr/>
        </p:nvSpPr>
        <p:spPr>
          <a:xfrm xmlns:a="http://schemas.openxmlformats.org/drawingml/2006/main">
            <a:off x="742950" y="2047875"/>
            <a:ext cx="5048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Generative AI assisted with interpreting the specification and rubric, reviewing the MPI and hybrid implementation, planning experiments, drafting charts and slides, and preparing documentation.</a:t>
            </a:r>
          </a:p>
        </p:txBody>
      </p:sp>
      <p:sp>
        <p:nvSpPr>
          <p:cNvPr id="8" name="Rectangle 7">
            <a:extLst xmlns:a="http://schemas.openxmlformats.org/drawingml/2006/main">
              <a:ext uri="{FF2B5EF4-FFF2-40B4-BE49-F238E27FC236}">
                <a16:creationId xmlns:a16="http://schemas.microsoft.com/office/drawing/2014/main" id="{2BE08BCD-441B-40CB-A005-C44E0614FCAF}"/>
              </a:ext>
            </a:extLst>
          </p:cNvPr>
          <p:cNvSpPr>
            <a:spLocks xmlns:a="http://schemas.openxmlformats.org/drawingml/2006/main" noGrp="1"/>
          </p:cNvSpPr>
          <p:nvPr/>
        </p:nvSpPr>
        <p:spPr>
          <a:xfrm xmlns:a="http://schemas.openxmlformats.org/drawingml/2006/main">
            <a:off x="6096000" y="1562100"/>
            <a:ext cx="19050" cy="15811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
        <p:nvSpPr>
          <p:cNvPr id="9" name="Rectangle 8">
            <a:extLst xmlns:a="http://schemas.openxmlformats.org/drawingml/2006/main">
              <a:ext uri="{FF2B5EF4-FFF2-40B4-BE49-F238E27FC236}">
                <a16:creationId xmlns:a16="http://schemas.microsoft.com/office/drawing/2014/main" id="{998BD21F-8B41-42B0-85B9-4D8AF30F9A28}"/>
              </a:ext>
            </a:extLst>
          </p:cNvPr>
          <p:cNvSpPr>
            <a:spLocks xmlns:a="http://schemas.openxmlformats.org/drawingml/2006/main" noGrp="1"/>
          </p:cNvSpPr>
          <p:nvPr/>
        </p:nvSpPr>
        <p:spPr>
          <a:xfrm xmlns:a="http://schemas.openxmlformats.org/drawingml/2006/main">
            <a:off x="6457950" y="1676400"/>
            <a:ext cx="285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079"/>
          </a:bodyPr>
          <a:lstStyle xmlns:a="http://schemas.openxmlformats.org/drawingml/2006/main"/>
          <a:p xmlns:a="http://schemas.openxmlformats.org/drawingml/2006/main">
            <a:pPr algn="l">
              <a:buNone/>
              <a:defRPr sz="1575" b="1" i="0">
                <a:solidFill>
                  <a:srgbClr val="005F66"/>
                </a:solidFill>
                <a:latin typeface="Arial"/>
                <a:ea typeface="Arial"/>
                <a:cs typeface="Arial"/>
              </a:defRPr>
            </a:pPr>
            <a:r>
              <a:rPr sz="1575" b="1" i="0">
                <a:solidFill>
                  <a:srgbClr val="005F66"/>
                </a:solidFill>
                <a:latin typeface="Arial"/>
                <a:ea typeface="Arial"/>
                <a:cs typeface="Arial"/>
              </a:rPr>
              <a:t>Team responsibility</a:t>
            </a:r>
          </a:p>
        </p:txBody>
      </p:sp>
      <p:sp>
        <p:nvSpPr>
          <p:cNvPr id="10" name="Rectangle 9">
            <a:extLst xmlns:a="http://schemas.openxmlformats.org/drawingml/2006/main">
              <a:ext uri="{FF2B5EF4-FFF2-40B4-BE49-F238E27FC236}">
                <a16:creationId xmlns:a16="http://schemas.microsoft.com/office/drawing/2014/main" id="{3BB101EE-319E-44F6-BBA0-E5C0C5413E6B}"/>
              </a:ext>
            </a:extLst>
          </p:cNvPr>
          <p:cNvSpPr>
            <a:spLocks xmlns:a="http://schemas.openxmlformats.org/drawingml/2006/main" noGrp="1"/>
          </p:cNvSpPr>
          <p:nvPr/>
        </p:nvSpPr>
        <p:spPr>
          <a:xfrm xmlns:a="http://schemas.openxmlformats.org/drawingml/2006/main">
            <a:off x="6457950" y="2047875"/>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a:bodyPr>
          <a:lstStyle xmlns:a="http://schemas.openxmlformats.org/drawingml/2006/main"/>
          <a:p xmlns:a="http://schemas.openxmlformats.org/drawingml/2006/main">
            <a:pPr algn="l">
              <a:buNone/>
              <a:defRPr sz="1350" b="0" i="0">
                <a:solidFill>
                  <a:srgbClr val="102A43"/>
                </a:solidFill>
                <a:latin typeface="Arial"/>
                <a:ea typeface="Arial"/>
                <a:cs typeface="Arial"/>
              </a:defRPr>
            </a:pPr>
            <a:r>
              <a:rPr sz="1350" b="0" i="0">
                <a:solidFill>
                  <a:srgbClr val="102A43"/>
                </a:solidFill>
                <a:latin typeface="Arial"/>
                <a:ea typeface="Arial"/>
                <a:cs typeface="Arial"/>
              </a:rPr>
              <a:t>The team reviewed the material against the supplied requirements, compiled and executed the programs locally, validated prime output independently, and accepts responsibility for every submitted claim and result.</a:t>
            </a:r>
          </a:p>
        </p:txBody>
      </p:sp>
      <p:sp>
        <p:nvSpPr>
          <p:cNvPr id="11" name="Rectangle 10">
            <a:extLst xmlns:a="http://schemas.openxmlformats.org/drawingml/2006/main">
              <a:ext uri="{FF2B5EF4-FFF2-40B4-BE49-F238E27FC236}">
                <a16:creationId xmlns:a16="http://schemas.microsoft.com/office/drawing/2014/main" id="{50203D4E-9F2A-4F2C-8628-6E687E2512E6}"/>
              </a:ext>
            </a:extLst>
          </p:cNvPr>
          <p:cNvSpPr>
            <a:spLocks xmlns:a="http://schemas.openxmlformats.org/drawingml/2006/main" noGrp="1"/>
          </p:cNvSpPr>
          <p:nvPr/>
        </p:nvSpPr>
        <p:spPr>
          <a:xfrm xmlns:a="http://schemas.openxmlformats.org/drawingml/2006/main">
            <a:off x="742950" y="3524250"/>
            <a:ext cx="10687050" cy="19050"/>
          </a:xfrm>
          <a:prstGeom xmlns:a="http://schemas.openxmlformats.org/drawingml/2006/main" prst="rect">
            <a:avLst/>
          </a:prstGeom>
          <a:solidFill xmlns:a="http://schemas.openxmlformats.org/drawingml/2006/main">
            <a:srgbClr val="D9E2EC"/>
          </a:solidFill>
          <a:ln xmlns:a="http://schemas.openxmlformats.org/drawingml/2006/main" w="9525">
            <a:solidFill>
              <a:srgbClr val="D9E2EC"/>
            </a:solidFill>
          </a:ln>
        </p:spPr>
        <p:txBody>
          <a:bodyPr xmlns:a="http://schemas.openxmlformats.org/drawingml/2006/main"/>
          <a:lstStyle xmlns:a="http://schemas.openxmlformats.org/drawingml/2006/main"/>
          <a:p xmlns:a="http://schemas.openxmlformats.org/drawingml/2006/main">
            <a:endParaRPr/>
          </a:p>
        </p:txBody>
      </p:sp>
    </p:spTree>
    <p:extLst>
      <p:ext uri="{BB962C8B-B14F-4D97-AF65-F5344CB8AC3E}">
        <p14:creationId xmlns:p14="http://schemas.microsoft.com/office/powerpoint/2010/main" val="5031232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2026-09-18T06:54:11.8640000Z</dcterms:created>
  <dcterms:modified xsi:type="dcterms:W3CDTF">2026-09-18T06:54:11.8640000Z</dcterms:modified>
</coreProperties>
</file>