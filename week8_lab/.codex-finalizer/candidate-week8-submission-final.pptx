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8dc5a1b5b3404a" /><Relationship Type="http://schemas.openxmlformats.org/officeDocument/2006/relationships/extended-properties" Target="/docProps/app.xml" Id="R5159effe298c4fee" /><Relationship Type="http://schemas.openxmlformats.org/officeDocument/2006/relationships/officeDocument" Target="/ppt/presentation.xml" Id="Rf775f223df604381" /></Relationships>
</file>

<file path=ppt/presentation.xml><?xml version="1.0" encoding="utf-8"?>
<p:presentation xmlns:p="http://schemas.openxmlformats.org/presentationml/2006/main">
  <p:sldMasterIdLst>
    <p:sldMasterId xmlns:r="http://schemas.openxmlformats.org/officeDocument/2006/relationships" id="2147483648" r:id="R5a816b2fab7d4ba6"/>
  </p:sldMasterIdLst>
  <p:notesMasterIdLst>
    <p:notesMasterId xmlns:r="http://schemas.openxmlformats.org/officeDocument/2006/relationships" r:id="R64c5e6400f784eb5"/>
  </p:notesMasterIdLst>
  <p:sldIdLst>
    <p:sldId xmlns:r="http://schemas.openxmlformats.org/officeDocument/2006/relationships" id="256" r:id="Raece83ca90364a3e"/>
    <p:sldId xmlns:r="http://schemas.openxmlformats.org/officeDocument/2006/relationships" id="257" r:id="R8c385ec3c0714916"/>
    <p:sldId xmlns:r="http://schemas.openxmlformats.org/officeDocument/2006/relationships" id="258" r:id="R22ab082335ce40fa"/>
    <p:sldId xmlns:r="http://schemas.openxmlformats.org/officeDocument/2006/relationships" id="259" r:id="R4049c31a632a4fe6"/>
    <p:sldId xmlns:r="http://schemas.openxmlformats.org/officeDocument/2006/relationships" id="260" r:id="R664f2f2bd79e40f7"/>
    <p:sldId xmlns:r="http://schemas.openxmlformats.org/officeDocument/2006/relationships" id="261" r:id="R3c83a72217a64a27"/>
    <p:sldId xmlns:r="http://schemas.openxmlformats.org/officeDocument/2006/relationships" id="262" r:id="R5a49a5dc131b4fed"/>
    <p:sldId xmlns:r="http://schemas.openxmlformats.org/officeDocument/2006/relationships" id="263" r:id="R8bafdd9e81704fae"/>
    <p:sldId xmlns:r="http://schemas.openxmlformats.org/officeDocument/2006/relationships" id="264" r:id="R1fdd6b1540574bfa"/>
    <p:sldId xmlns:r="http://schemas.openxmlformats.org/officeDocument/2006/relationships" id="265" r:id="Re48b35b998dd4c65"/>
    <p:sldId xmlns:r="http://schemas.openxmlformats.org/officeDocument/2006/relationships" id="266" r:id="R5be2e8a5129044ca"/>
    <p:sldId xmlns:r="http://schemas.openxmlformats.org/officeDocument/2006/relationships" id="267" r:id="R382419e73a99483d"/>
    <p:sldId xmlns:r="http://schemas.openxmlformats.org/officeDocument/2006/relationships" id="268" r:id="Rc9ef8a6af7924515"/>
    <p:sldId xmlns:r="http://schemas.openxmlformats.org/officeDocument/2006/relationships" id="269" r:id="R3f6f6c18a28346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2dd6cea98148f5" /><Relationship Type="http://schemas.openxmlformats.org/officeDocument/2006/relationships/slideMaster" Target="/ppt/slideMasters/slideMaster1.xml" Id="R5a816b2fab7d4ba6" /><Relationship Type="http://schemas.openxmlformats.org/officeDocument/2006/relationships/notesMaster" Target="/ppt/notesMasters/notesMaster1.xml" Id="R64c5e6400f784eb5" /><Relationship Type="http://schemas.openxmlformats.org/officeDocument/2006/relationships/presProps" Target="/ppt/presProps.xml" Id="R2fa0666170194082" /><Relationship Type="http://schemas.openxmlformats.org/officeDocument/2006/relationships/tableStyles" Target="/ppt/tableStyles.xml" Id="R51f051f06b3d43d5" /><Relationship Type="http://schemas.openxmlformats.org/officeDocument/2006/relationships/slide" Target="/ppt/slides/slide1.xml" Id="Raece83ca90364a3e" /><Relationship Type="http://schemas.openxmlformats.org/officeDocument/2006/relationships/slide" Target="/ppt/slides/slide2.xml" Id="R8c385ec3c0714916" /><Relationship Type="http://schemas.openxmlformats.org/officeDocument/2006/relationships/slide" Target="/ppt/slides/slide3.xml" Id="R22ab082335ce40fa" /><Relationship Type="http://schemas.openxmlformats.org/officeDocument/2006/relationships/slide" Target="/ppt/slides/slide4.xml" Id="R4049c31a632a4fe6" /><Relationship Type="http://schemas.openxmlformats.org/officeDocument/2006/relationships/slide" Target="/ppt/slides/slide5.xml" Id="R664f2f2bd79e40f7" /><Relationship Type="http://schemas.openxmlformats.org/officeDocument/2006/relationships/slide" Target="/ppt/slides/slide6.xml" Id="R3c83a72217a64a27" /><Relationship Type="http://schemas.openxmlformats.org/officeDocument/2006/relationships/slide" Target="/ppt/slides/slide7.xml" Id="R5a49a5dc131b4fed" /><Relationship Type="http://schemas.openxmlformats.org/officeDocument/2006/relationships/slide" Target="/ppt/slides/slide8.xml" Id="R8bafdd9e81704fae" /><Relationship Type="http://schemas.openxmlformats.org/officeDocument/2006/relationships/slide" Target="/ppt/slides/slide9.xml" Id="R1fdd6b1540574bfa" /><Relationship Type="http://schemas.openxmlformats.org/officeDocument/2006/relationships/slide" Target="/ppt/slides/slide10.xml" Id="Re48b35b998dd4c65" /><Relationship Type="http://schemas.openxmlformats.org/officeDocument/2006/relationships/slide" Target="/ppt/slides/slide11.xml" Id="R5be2e8a5129044ca" /><Relationship Type="http://schemas.openxmlformats.org/officeDocument/2006/relationships/slide" Target="/ppt/slides/slide12.xml" Id="R382419e73a99483d" /><Relationship Type="http://schemas.openxmlformats.org/officeDocument/2006/relationships/slide" Target="/ppt/slides/slide13.xml" Id="Rc9ef8a6af7924515" /><Relationship Type="http://schemas.openxmlformats.org/officeDocument/2006/relationships/slide" Target="/ppt/slides/slide14.xml" Id="R3f6f6c18a28346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5b7056a0f84e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2b0fb5e70f4480" /><Relationship Type="http://schemas.openxmlformats.org/officeDocument/2006/relationships/notesMaster" Target="/ppt/notesMasters/notesMaster1.xml" Id="R4f0da1313fbd49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0369e0e6be465a" /><Relationship Type="http://schemas.openxmlformats.org/officeDocument/2006/relationships/notesMaster" Target="/ppt/notesMasters/notesMaster1.xml" Id="Re3c3727f55434a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39e00d81df410b" /><Relationship Type="http://schemas.openxmlformats.org/officeDocument/2006/relationships/notesMaster" Target="/ppt/notesMasters/notesMaster1.xml" Id="R12a064b4819447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f2947019dd4aa3" /><Relationship Type="http://schemas.openxmlformats.org/officeDocument/2006/relationships/notesMaster" Target="/ppt/notesMasters/notesMaster1.xml" Id="R7c48f475ea624d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9d3782bdbc4178" /><Relationship Type="http://schemas.openxmlformats.org/officeDocument/2006/relationships/notesMaster" Target="/ppt/notesMasters/notesMaster1.xml" Id="Rff7cf832f54249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57c789d1e54571" /><Relationship Type="http://schemas.openxmlformats.org/officeDocument/2006/relationships/notesMaster" Target="/ppt/notesMasters/notesMaster1.xml" Id="R61b9b64c2d8745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986862dc504a8e" /><Relationship Type="http://schemas.openxmlformats.org/officeDocument/2006/relationships/notesMaster" Target="/ppt/notesMasters/notesMaster1.xml" Id="R1a0ccbf689b84f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3c835379d249d4" /><Relationship Type="http://schemas.openxmlformats.org/officeDocument/2006/relationships/notesMaster" Target="/ppt/notesMasters/notesMaster1.xml" Id="R2e7fab2ed44043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afc12741714a53" /><Relationship Type="http://schemas.openxmlformats.org/officeDocument/2006/relationships/notesMaster" Target="/ppt/notesMasters/notesMaster1.xml" Id="R025a0c87611b4d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8392fde88349c9" /><Relationship Type="http://schemas.openxmlformats.org/officeDocument/2006/relationships/notesMaster" Target="/ppt/notesMasters/notesMaster1.xml" Id="R03d4c5f9af9d43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19899b16e946a8" /><Relationship Type="http://schemas.openxmlformats.org/officeDocument/2006/relationships/notesMaster" Target="/ppt/notesMasters/notesMaster1.xml" Id="R111c69ec2d2b45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ceda8d6e774474" /><Relationship Type="http://schemas.openxmlformats.org/officeDocument/2006/relationships/notesMaster" Target="/ppt/notesMasters/notesMaster1.xml" Id="R3c1188f20ca547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86593cf29d4fef" /><Relationship Type="http://schemas.openxmlformats.org/officeDocument/2006/relationships/notesMaster" Target="/ppt/notesMasters/notesMaster1.xml" Id="Rc6a2f24598774e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924641aa254306" /><Relationship Type="http://schemas.openxmlformats.org/officeDocument/2006/relationships/notesMaster" Target="/ppt/notesMasters/notesMaster1.xml" Id="R12ed557e0a394d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results/local_cluster_execution.txt; scripts/verify_correctness.sh; results/n_scaling.csv; results/task1_process_scaling.csv;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results/partition_balance.csv. Each value is the median of three runs at n=20,000,000. The strategy comparison uses identical primality testing, merge and output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results/n_scaling.csv (current serial and MPI sweep) and results/openmp_n_scaling.csv (prior Week 4 OpenMP sweep). Both use the same machine, n values and 4 workers, but were measured in separate sessions; absolute runtime may include session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MPI speedup from results/n_scaling.csv. OpenMP speedup = results/task3_n_scaling.csv serial_total divided by results/openmp_n_scaling.csv openmp_time for the same n. This avoids mixing serial baselines across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3 sources: results/task1_process_scaling.csv and results/openmp_thread_scaling.csv. Graph 6 source: results/task1_process_scaling.csv. Process-scaling points are medians of three runs at n=60,000,000.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results/local_cluster_execution.txt. This representative run records per-rank compute times, candidate-count range, total runtime, commands and exact sorted-output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results/hybrid_scaling.csv and results/openmp_thread_scaling.csv. Hybrid points are medians of three runs at n=60,000,000. Graph 5 compares equal total worker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results/hybrid_scaling.csv. Amdahl serial fraction is measured from the one-worker hybrid run: Ts=0.411327 s, Tp=23.749574 s, fs=0.017024. CAAS evidence in Appendices 3-4 verifies setup and a two-node Task 1 functional test; it is not graph or balance data. Main presentation ends here; appendix slides are for Q&amp;A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results/partition_balance.csv, results/task1_process_scaling.csv and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Moodle files are task1.c, task2.c, and the presentation. Supporting scripts, results, CSVs, and screenshots are retained for inspection but are not listed as compulsory uploads in the assessment specification. The prompt/conversation record must still be exported authentically if AI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evidence/screenshots/caas_login_and_setup.jpg. Authentic CAAS setup screenshot. It documents head-node access, scheduler visibility, and uploaded source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evidence/screenshots/caas_task1_two_node_execution_submitted.png. Authentic two-node CAAS Task 1 functional run at n = 10,000. It verifies allocation of student-caas-n03 and student-caas-n04, eight MPI ranks, the correct 1,229-prime result, and sorted output generation. It does not support the local benchmark or balance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declares the use of generative AI within the presentation itself. The assessment specification also requires the team to upload an authentic prompt/conversation record if AI was used. No separate AI declaration PDF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6ba442748547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8535c9c8484d01" /><Relationship Type="http://schemas.openxmlformats.org/officeDocument/2006/relationships/slideLayout" Target="/ppt/slideLayouts/slideLayout1.xml" Id="R9a3ecd5d98954b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3ecd5d98954b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03bd90966b4927" /><Relationship Type="http://schemas.openxmlformats.org/officeDocument/2006/relationships/notesSlide" Target="/ppt/notesSlides/notesSlide1.xml" Id="R92533283629348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41b83351214418" /><Relationship Type="http://schemas.openxmlformats.org/officeDocument/2006/relationships/notesSlide" Target="/ppt/notesSlides/notesSlide2.xml" Id="Rd664b2b644ac48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bf543e434c42a6" /><Relationship Type="http://schemas.openxmlformats.org/officeDocument/2006/relationships/notesSlide" Target="/ppt/notesSlides/notesSlide3.xml" Id="Rb850d72a337d40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901a8739104a4e" /><Relationship Type="http://schemas.openxmlformats.org/officeDocument/2006/relationships/chart" Target="/ppt/slides/charts/chart1.xml" Id="R6065d1b4b711463e" /><Relationship Type="http://schemas.openxmlformats.org/officeDocument/2006/relationships/notesSlide" Target="/ppt/notesSlides/notesSlide4.xml" Id="R532035e905b84b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3ed7fd072e4486" /><Relationship Type="http://schemas.openxmlformats.org/officeDocument/2006/relationships/chart" Target="/ppt/slides/charts/chart2.xml" Id="R941b8ccbec354e13" /><Relationship Type="http://schemas.openxmlformats.org/officeDocument/2006/relationships/notesSlide" Target="/ppt/notesSlides/notesSlide5.xml" Id="R5762c5cefedc4b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f6b17bedfd49b1" /><Relationship Type="http://schemas.openxmlformats.org/officeDocument/2006/relationships/chart" Target="/ppt/slides/charts/chart3.xml" Id="R796836dee4e44dff" /><Relationship Type="http://schemas.openxmlformats.org/officeDocument/2006/relationships/chart" Target="/ppt/slides/charts/chart4.xml" Id="R66e659beccee4780" /><Relationship Type="http://schemas.openxmlformats.org/officeDocument/2006/relationships/notesSlide" Target="/ppt/notesSlides/notesSlide6.xml" Id="R9296d242211d45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6dad122c934e12" /><Relationship Type="http://schemas.openxmlformats.org/officeDocument/2006/relationships/notesSlide" Target="/ppt/notesSlides/notesSlide7.xml" Id="R54e1f33b713549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a06587abf743d8" /><Relationship Type="http://schemas.openxmlformats.org/officeDocument/2006/relationships/chart" Target="/ppt/slides/charts/chart5.xml" Id="R0f82511cc3d94f3a" /><Relationship Type="http://schemas.openxmlformats.org/officeDocument/2006/relationships/chart" Target="/ppt/slides/charts/chart6.xml" Id="R342bd4e7a30a49be" /><Relationship Type="http://schemas.openxmlformats.org/officeDocument/2006/relationships/notesSlide" Target="/ppt/notesSlides/notesSlide8.xml" Id="Rdcd7e1c2946d48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787a47321374f78" /><Relationship Type="http://schemas.openxmlformats.org/officeDocument/2006/relationships/chart" Target="/ppt/slides/charts/chart7.xml" Id="R352099aa66de4741" /><Relationship Type="http://schemas.openxmlformats.org/officeDocument/2006/relationships/notesSlide" Target="/ppt/notesSlides/notesSlide9.xml" Id="Rf0282479326945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ff44973c9ac4a4a" /><Relationship Type="http://schemas.openxmlformats.org/officeDocument/2006/relationships/notesSlide" Target="/ppt/notesSlides/notesSlide10.xml" Id="R9e27f9e18f5442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4cc1b1345984619" /><Relationship Type="http://schemas.openxmlformats.org/officeDocument/2006/relationships/notesSlide" Target="/ppt/notesSlides/notesSlide11.xml" Id="R8f694d54e61b47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bcab64422604703" /><Relationship Type="http://schemas.openxmlformats.org/officeDocument/2006/relationships/image" Target="/ppt/media/image.jpeg" Id="R035103a0b8954026" /><Relationship Type="http://schemas.openxmlformats.org/officeDocument/2006/relationships/notesSlide" Target="/ppt/notesSlides/notesSlide12.xml" Id="R610a5d27569c4c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b46a0b9bec4cf1" /><Relationship Type="http://schemas.openxmlformats.org/officeDocument/2006/relationships/image" Target="/ppt/media/image.png" Id="R66768a7fc64f4083" /><Relationship Type="http://schemas.openxmlformats.org/officeDocument/2006/relationships/notesSlide" Target="/ppt/notesSlides/notesSlide13.xml" Id="R35ca63528b074e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ea1af623a24320" /><Relationship Type="http://schemas.openxmlformats.org/officeDocument/2006/relationships/notesSlide" Target="/ppt/notesSlides/notesSlide14.xml" Id="R91b05f822fe9493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End-to-end runtime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Serial baseline</c:v>
          </c:tx>
          <c:spPr>
            <a:ln xmlns:a="http://schemas.openxmlformats.org/drawingml/2006/main" w="21908">
              <a:solidFill>
                <a:srgbClr val="3B6FB6"/>
              </a:solidFill>
              <a:prstDash val="solid"/>
            </a:ln>
          </c:spPr>
          <c:marker>
            <c:symbol val="circle"/>
            <c:size val="4"/>
            <c:spPr>
              <a:solidFill xmlns:a="http://schemas.openxmlformats.org/drawingml/2006/main">
                <a:srgbClr val="3B6FB6"/>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c:formatCode>
              <c:ptCount val="30"/>
              <c:pt idx="0">
                <c:v>4.989752</c:v>
              </c:pt>
              <c:pt idx="1">
                <c:v>5.7932</c:v>
              </c:pt>
              <c:pt idx="2">
                <c:v>6.600539</c:v>
              </c:pt>
              <c:pt idx="3">
                <c:v>7.58008</c:v>
              </c:pt>
              <c:pt idx="4">
                <c:v>8.197113</c:v>
              </c:pt>
              <c:pt idx="5">
                <c:v>8.993253</c:v>
              </c:pt>
              <c:pt idx="6">
                <c:v>9.898929</c:v>
              </c:pt>
              <c:pt idx="7">
                <c:v>11.25524</c:v>
              </c:pt>
              <c:pt idx="8">
                <c:v>11.663884</c:v>
              </c:pt>
              <c:pt idx="9">
                <c:v>12.481058</c:v>
              </c:pt>
              <c:pt idx="10">
                <c:v>13.500245</c:v>
              </c:pt>
              <c:pt idx="11">
                <c:v>14.407534</c:v>
              </c:pt>
              <c:pt idx="12">
                <c:v>15.361246</c:v>
              </c:pt>
              <c:pt idx="13">
                <c:v>16.641048</c:v>
              </c:pt>
              <c:pt idx="14">
                <c:v>17.381228</c:v>
              </c:pt>
              <c:pt idx="15">
                <c:v>18.39205</c:v>
              </c:pt>
              <c:pt idx="16">
                <c:v>19.512275</c:v>
              </c:pt>
              <c:pt idx="17">
                <c:v>20.516872</c:v>
              </c:pt>
              <c:pt idx="18">
                <c:v>21.671941</c:v>
              </c:pt>
              <c:pt idx="19">
                <c:v>22.681507</c:v>
              </c:pt>
              <c:pt idx="20">
                <c:v>23.879297</c:v>
              </c:pt>
              <c:pt idx="21">
                <c:v>24.89455</c:v>
              </c:pt>
              <c:pt idx="22">
                <c:v>26.438953</c:v>
              </c:pt>
              <c:pt idx="23">
                <c:v>27.724465</c:v>
              </c:pt>
              <c:pt idx="24">
                <c:v>28.707587</c:v>
              </c:pt>
              <c:pt idx="25">
                <c:v>30.266235</c:v>
              </c:pt>
              <c:pt idx="26">
                <c:v>30.835879</c:v>
              </c:pt>
              <c:pt idx="27">
                <c:v>32.094736</c:v>
              </c:pt>
              <c:pt idx="28">
                <c:v>33.361352</c:v>
              </c:pt>
              <c:pt idx="29">
                <c:v>34.655354</c:v>
              </c:pt>
            </c:numLit>
          </c:yVal>
        </c:ser>
        <c:ser>
          <c:idx val="1"/>
          <c:order val="1"/>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c:formatCode>
              <c:ptCount val="30"/>
              <c:pt idx="0">
                <c:v>1.506796</c:v>
              </c:pt>
              <c:pt idx="1">
                <c:v>1.629617</c:v>
              </c:pt>
              <c:pt idx="2">
                <c:v>1.882136</c:v>
              </c:pt>
              <c:pt idx="3">
                <c:v>2.197054</c:v>
              </c:pt>
              <c:pt idx="4">
                <c:v>2.351178</c:v>
              </c:pt>
              <c:pt idx="5">
                <c:v>2.680151</c:v>
              </c:pt>
              <c:pt idx="6">
                <c:v>2.949921</c:v>
              </c:pt>
              <c:pt idx="7">
                <c:v>3.132021</c:v>
              </c:pt>
              <c:pt idx="8">
                <c:v>3.511267</c:v>
              </c:pt>
              <c:pt idx="9">
                <c:v>3.792676</c:v>
              </c:pt>
              <c:pt idx="10">
                <c:v>3.765773</c:v>
              </c:pt>
              <c:pt idx="11">
                <c:v>4.350641</c:v>
              </c:pt>
              <c:pt idx="12">
                <c:v>4.371929</c:v>
              </c:pt>
              <c:pt idx="13">
                <c:v>4.65037</c:v>
              </c:pt>
              <c:pt idx="14">
                <c:v>4.997748</c:v>
              </c:pt>
              <c:pt idx="15">
                <c:v>5.308287</c:v>
              </c:pt>
              <c:pt idx="16">
                <c:v>5.542288</c:v>
              </c:pt>
              <c:pt idx="17">
                <c:v>6.078635</c:v>
              </c:pt>
              <c:pt idx="18">
                <c:v>6.218323</c:v>
              </c:pt>
              <c:pt idx="19">
                <c:v>6.572295</c:v>
              </c:pt>
              <c:pt idx="20">
                <c:v>6.834096</c:v>
              </c:pt>
              <c:pt idx="21">
                <c:v>7.088691</c:v>
              </c:pt>
              <c:pt idx="22">
                <c:v>7.583849</c:v>
              </c:pt>
              <c:pt idx="23">
                <c:v>7.847521</c:v>
              </c:pt>
              <c:pt idx="24">
                <c:v>8.563484</c:v>
              </c:pt>
              <c:pt idx="25">
                <c:v>8.792589</c:v>
              </c:pt>
              <c:pt idx="26">
                <c:v>8.841267</c:v>
              </c:pt>
              <c:pt idx="27">
                <c:v>8.86051</c:v>
              </c:pt>
              <c:pt idx="28">
                <c:v>9.36652</c:v>
              </c:pt>
              <c:pt idx="29">
                <c:v>9.865707</c:v>
              </c:pt>
            </c:numLit>
          </c:yVal>
        </c:ser>
        <c:ser>
          <c:idx val="2"/>
          <c:order val="2"/>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c:formatCode>
              <c:ptCount val="30"/>
              <c:pt idx="0">
                <c:v>2.167603</c:v>
              </c:pt>
              <c:pt idx="1">
                <c:v>2.350731</c:v>
              </c:pt>
              <c:pt idx="2">
                <c:v>2.771374</c:v>
              </c:pt>
              <c:pt idx="3">
                <c:v>3.009852</c:v>
              </c:pt>
              <c:pt idx="4">
                <c:v>3.400205</c:v>
              </c:pt>
              <c:pt idx="5">
                <c:v>3.580981</c:v>
              </c:pt>
              <c:pt idx="6">
                <c:v>4.065718</c:v>
              </c:pt>
              <c:pt idx="7">
                <c:v>4.375723</c:v>
              </c:pt>
              <c:pt idx="8">
                <c:v>5.157762</c:v>
              </c:pt>
              <c:pt idx="9">
                <c:v>5.404324</c:v>
              </c:pt>
              <c:pt idx="10">
                <c:v>5.817264</c:v>
              </c:pt>
              <c:pt idx="11">
                <c:v>5.962411</c:v>
              </c:pt>
              <c:pt idx="12">
                <c:v>7.149659</c:v>
              </c:pt>
              <c:pt idx="13">
                <c:v>6.9077</c:v>
              </c:pt>
              <c:pt idx="14">
                <c:v>7.469348</c:v>
              </c:pt>
              <c:pt idx="15">
                <c:v>8.933063</c:v>
              </c:pt>
              <c:pt idx="16">
                <c:v>10.07874</c:v>
              </c:pt>
              <c:pt idx="17">
                <c:v>9.269982</c:v>
              </c:pt>
              <c:pt idx="18">
                <c:v>9.573097</c:v>
              </c:pt>
              <c:pt idx="19">
                <c:v>12.896376</c:v>
              </c:pt>
              <c:pt idx="20">
                <c:v>9.388351</c:v>
              </c:pt>
              <c:pt idx="21">
                <c:v>9.723761</c:v>
              </c:pt>
              <c:pt idx="22">
                <c:v>10.887108</c:v>
              </c:pt>
              <c:pt idx="23">
                <c:v>11.360931</c:v>
              </c:pt>
              <c:pt idx="24">
                <c:v>11.247044</c:v>
              </c:pt>
              <c:pt idx="25">
                <c:v>11.750655</c:v>
              </c:pt>
              <c:pt idx="26">
                <c:v>12.900694</c:v>
              </c:pt>
              <c:pt idx="27">
                <c:v>12.988591</c:v>
              </c:pt>
              <c:pt idx="28">
                <c:v>13.553135</c:v>
              </c:pt>
              <c:pt idx="29">
                <c:v>13.671737</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Runtime (seconds)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0"/>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Speedup against each implementation's matched serial baseline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0.0x</c:formatCode>
              <c:ptCount val="30"/>
              <c:pt idx="0">
                <c:v>3.311498</c:v>
              </c:pt>
              <c:pt idx="1">
                <c:v>3.554945</c:v>
              </c:pt>
              <c:pt idx="2">
                <c:v>3.50694</c:v>
              </c:pt>
              <c:pt idx="3">
                <c:v>3.450112</c:v>
              </c:pt>
              <c:pt idx="4">
                <c:v>3.486386</c:v>
              </c:pt>
              <c:pt idx="5">
                <c:v>3.355503</c:v>
              </c:pt>
              <c:pt idx="6">
                <c:v>3.355659</c:v>
              </c:pt>
              <c:pt idx="7">
                <c:v>3.593603</c:v>
              </c:pt>
              <c:pt idx="8">
                <c:v>3.321845</c:v>
              </c:pt>
              <c:pt idx="9">
                <c:v>3.290831</c:v>
              </c:pt>
              <c:pt idx="10">
                <c:v>3.584986</c:v>
              </c:pt>
              <c:pt idx="11">
                <c:v>3.311588</c:v>
              </c:pt>
              <c:pt idx="12">
                <c:v>3.513609</c:v>
              </c:pt>
              <c:pt idx="13">
                <c:v>3.578435</c:v>
              </c:pt>
              <c:pt idx="14">
                <c:v>3.477812</c:v>
              </c:pt>
              <c:pt idx="15">
                <c:v>3.46478</c:v>
              </c:pt>
              <c:pt idx="16">
                <c:v>3.520617</c:v>
              </c:pt>
              <c:pt idx="17">
                <c:v>3.375243</c:v>
              </c:pt>
              <c:pt idx="18">
                <c:v>3.485175</c:v>
              </c:pt>
              <c:pt idx="19">
                <c:v>3.451079</c:v>
              </c:pt>
              <c:pt idx="20">
                <c:v>3.494141</c:v>
              </c:pt>
              <c:pt idx="21">
                <c:v>3.511868</c:v>
              </c:pt>
              <c:pt idx="22">
                <c:v>3.486218</c:v>
              </c:pt>
              <c:pt idx="23">
                <c:v>3.532894</c:v>
              </c:pt>
              <c:pt idx="24">
                <c:v>3.352326</c:v>
              </c:pt>
              <c:pt idx="25">
                <c:v>3.442244</c:v>
              </c:pt>
              <c:pt idx="26">
                <c:v>3.487722</c:v>
              </c:pt>
              <c:pt idx="27">
                <c:v>3.622222</c:v>
              </c:pt>
              <c:pt idx="28">
                <c:v>3.561766</c:v>
              </c:pt>
              <c:pt idx="29">
                <c:v>3.512708</c:v>
              </c:pt>
            </c:numLit>
          </c:yVal>
        </c:ser>
        <c:ser>
          <c:idx val="1"/>
          <c:order val="1"/>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Lit>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Lit>
          </c:xVal>
          <c:yVal>
            <c:numLit>
              <c:formatCode>0.0x</c:formatCode>
              <c:ptCount val="30"/>
              <c:pt idx="0">
                <c:v>2.706644</c:v>
              </c:pt>
              <c:pt idx="1">
                <c:v>2.807679</c:v>
              </c:pt>
              <c:pt idx="2">
                <c:v>2.671431</c:v>
              </c:pt>
              <c:pt idx="3">
                <c:v>2.773163</c:v>
              </c:pt>
              <c:pt idx="4">
                <c:v>2.717482</c:v>
              </c:pt>
              <c:pt idx="5">
                <c:v>2.829962</c:v>
              </c:pt>
              <c:pt idx="6">
                <c:v>2.74614</c:v>
              </c:pt>
              <c:pt idx="7">
                <c:v>2.782729</c:v>
              </c:pt>
              <c:pt idx="8">
                <c:v>2.495577</c:v>
              </c:pt>
              <c:pt idx="9">
                <c:v>2.618487</c:v>
              </c:pt>
              <c:pt idx="10">
                <c:v>2.590082</c:v>
              </c:pt>
              <c:pt idx="11">
                <c:v>2.737466</c:v>
              </c:pt>
              <c:pt idx="12">
                <c:v>2.549498</c:v>
              </c:pt>
              <c:pt idx="13">
                <c:v>2.68205</c:v>
              </c:pt>
              <c:pt idx="14">
                <c:v>2.648153</c:v>
              </c:pt>
              <c:pt idx="15">
                <c:v>2.341455</c:v>
              </c:pt>
              <c:pt idx="16">
                <c:v>2.206639</c:v>
              </c:pt>
              <c:pt idx="17">
                <c:v>2.521772</c:v>
              </c:pt>
              <c:pt idx="18">
                <c:v>2.568987</c:v>
              </c:pt>
              <c:pt idx="19">
                <c:v>1.99623</c:v>
              </c:pt>
              <c:pt idx="20">
                <c:v>2.890972</c:v>
              </c:pt>
              <c:pt idx="21">
                <c:v>2.956234</c:v>
              </c:pt>
              <c:pt idx="22">
                <c:v>2.761738</c:v>
              </c:pt>
              <c:pt idx="23">
                <c:v>2.776618</c:v>
              </c:pt>
              <c:pt idx="24">
                <c:v>2.879432</c:v>
              </c:pt>
              <c:pt idx="25">
                <c:v>2.962694</c:v>
              </c:pt>
              <c:pt idx="26">
                <c:v>2.712369</c:v>
              </c:pt>
              <c:pt idx="27">
                <c:v>2.807667</c:v>
              </c:pt>
              <c:pt idx="28">
                <c:v>2.789214</c:v>
              </c:pt>
              <c:pt idx="29">
                <c:v>2.876845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3 • matching worker counts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MPI processes</c:v>
          </c:tx>
          <c:spPr>
            <a:ln xmlns:a="http://schemas.openxmlformats.org/drawingml/2006/main" w="21908">
              <a:solidFill>
                <a:srgbClr val="C2413B"/>
              </a:solidFill>
              <a:prstDash val="solid"/>
            </a:ln>
          </c:spPr>
          <c:marker>
            <c:symbol val="circle"/>
            <c:size val="5"/>
            <c:spPr>
              <a:solidFill xmlns:a="http://schemas.openxmlformats.org/drawingml/2006/main">
                <a:srgbClr val="C2413B"/>
              </a:solidFill>
            </c:spPr>
          </c:marker>
          <c:cat>
            <c:numLit>
              <c:formatCode>General</c:formatCode>
              <c:ptCount val="5"/>
              <c:pt idx="0">
                <c:v>1</c:v>
              </c:pt>
              <c:pt idx="1">
                <c:v>2</c:v>
              </c:pt>
              <c:pt idx="2">
                <c:v>4</c:v>
              </c:pt>
              <c:pt idx="3">
                <c:v>8</c:v>
              </c:pt>
              <c:pt idx="4">
                <c:v>16</c:v>
              </c:pt>
            </c:numLit>
          </c:cat>
          <c:val>
            <c:numLit>
              <c:formatCode>0.0x</c:formatCode>
              <c:ptCount val="5"/>
              <c:pt idx="0">
                <c:v>0.98963</c:v>
              </c:pt>
              <c:pt idx="1">
                <c:v>1.878171</c:v>
              </c:pt>
              <c:pt idx="2">
                <c:v>3.378454</c:v>
              </c:pt>
              <c:pt idx="3">
                <c:v>4.618865</c:v>
              </c:pt>
              <c:pt idx="4">
                <c:v>6.015093</c:v>
              </c:pt>
            </c:numLit>
          </c:val>
          <c:smooth val="0"/>
        </c:ser>
        <c:ser>
          <c:idx val="1"/>
          <c:order val="1"/>
          <c:tx>
            <c:v>OpenMP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numLit>
              <c:formatCode>General</c:formatCode>
              <c:ptCount val="5"/>
              <c:pt idx="0">
                <c:v>1</c:v>
              </c:pt>
              <c:pt idx="1">
                <c:v>2</c:v>
              </c:pt>
              <c:pt idx="2">
                <c:v>4</c:v>
              </c:pt>
              <c:pt idx="3">
                <c:v>8</c:v>
              </c:pt>
              <c:pt idx="4">
                <c:v>16</c:v>
              </c:pt>
            </c:numLit>
          </c:cat>
          <c:val>
            <c:numLit>
              <c:formatCode>0.0x</c:formatCode>
              <c:ptCount val="5"/>
              <c:pt idx="0">
                <c:v>1.004932</c:v>
              </c:pt>
              <c:pt idx="1">
                <c:v>1.550188</c:v>
              </c:pt>
              <c:pt idx="2">
                <c:v>2.693979</c:v>
              </c:pt>
              <c:pt idx="3">
                <c:v>4.337217</c:v>
              </c:pt>
              <c:pt idx="4">
                <c:v>7.075541</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Processes or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6 • MPI empirical vs Amdahl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Empirical</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Lit>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Lit>
          </c:xVal>
          <c:yVal>
            <c:numLit>
              <c:formatCode>0.0x</c:formatCode>
              <c:ptCount val="16"/>
              <c:pt idx="0">
                <c:v>0.98963</c:v>
              </c:pt>
              <c:pt idx="1">
                <c:v>1.878171</c:v>
              </c:pt>
              <c:pt idx="2">
                <c:v>2.635082</c:v>
              </c:pt>
              <c:pt idx="3">
                <c:v>3.378454</c:v>
              </c:pt>
              <c:pt idx="4">
                <c:v>3.906827</c:v>
              </c:pt>
              <c:pt idx="5">
                <c:v>4.232572</c:v>
              </c:pt>
              <c:pt idx="6">
                <c:v>4.432161</c:v>
              </c:pt>
              <c:pt idx="7">
                <c:v>4.618865</c:v>
              </c:pt>
              <c:pt idx="8">
                <c:v>4.420885</c:v>
              </c:pt>
              <c:pt idx="9">
                <c:v>4.156386</c:v>
              </c:pt>
              <c:pt idx="10">
                <c:v>4.550334</c:v>
              </c:pt>
              <c:pt idx="11">
                <c:v>5.308742</c:v>
              </c:pt>
              <c:pt idx="12">
                <c:v>5.4069</c:v>
              </c:pt>
              <c:pt idx="13">
                <c:v>5.821944</c:v>
              </c:pt>
              <c:pt idx="14">
                <c:v>5.971313</c:v>
              </c:pt>
              <c:pt idx="15">
                <c:v>6.015093</c:v>
              </c:pt>
            </c:numLit>
          </c:yVal>
        </c:ser>
        <c:ser>
          <c:idx val="1"/>
          <c:order val="1"/>
          <c:tx>
            <c:v>Amdahl ideal</c:v>
          </c:tx>
          <c:spPr>
            <a:ln xmlns:a="http://schemas.openxmlformats.org/drawingml/2006/main" w="21908">
              <a:solidFill>
                <a:srgbClr val="F28E2B"/>
              </a:solidFill>
              <a:prstDash val="solid"/>
            </a:ln>
          </c:spPr>
          <c:marker>
            <c:symbol val="circle"/>
            <c:size val="4"/>
            <c:spPr>
              <a:solidFill xmlns:a="http://schemas.openxmlformats.org/drawingml/2006/main">
                <a:srgbClr val="F28E2B"/>
              </a:solidFill>
            </c:spPr>
          </c:marker>
          <c:xVal>
            <c:numLit>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Lit>
          </c:xVal>
          <c:yVal>
            <c:numLit>
              <c:formatCode>0.0x</c:formatCode>
              <c:ptCount val="16"/>
              <c:pt idx="0">
                <c:v>1</c:v>
              </c:pt>
              <c:pt idx="1">
                <c:v>1.965524</c:v>
              </c:pt>
              <c:pt idx="2">
                <c:v>2.898324</c:v>
              </c:pt>
              <c:pt idx="3">
                <c:v>3.800036</c:v>
              </c:pt>
              <c:pt idx="4">
                <c:v>4.672189</c:v>
              </c:pt>
              <c:pt idx="5">
                <c:v>5.516213</c:v>
              </c:pt>
              <c:pt idx="6">
                <c:v>6.333447</c:v>
              </c:pt>
              <c:pt idx="7">
                <c:v>7.125147</c:v>
              </c:pt>
              <c:pt idx="8">
                <c:v>7.892491</c:v>
              </c:pt>
              <c:pt idx="9">
                <c:v>8.636586</c:v>
              </c:pt>
              <c:pt idx="10">
                <c:v>9.358472</c:v>
              </c:pt>
              <c:pt idx="11">
                <c:v>10.05913</c:v>
              </c:pt>
              <c:pt idx="12">
                <c:v>10.739483</c:v>
              </c:pt>
              <c:pt idx="13">
                <c:v>11.400399</c:v>
              </c:pt>
              <c:pt idx="14">
                <c:v>12.042701</c:v>
              </c:pt>
              <c:pt idx="15">
                <c:v>12.667164</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2"/>
      </c:valAx>
      <c:valAx>
        <c:axId val="48650112"/>
        <c:scaling>
          <c:orientation val="minMax"/>
          <c:max val="16"/>
          <c:min val="1"/>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processes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3"/>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4 • fixed 4 MPI processes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 Task 1</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numLit>
              <c:formatCode>General</c:formatCode>
              <c:ptCount val="5"/>
              <c:pt idx="0">
                <c:v>1</c:v>
              </c:pt>
              <c:pt idx="1">
                <c:v>2</c:v>
              </c:pt>
              <c:pt idx="2">
                <c:v>4</c:v>
              </c:pt>
              <c:pt idx="3">
                <c:v>8</c:v>
              </c:pt>
              <c:pt idx="4">
                <c:v>16</c:v>
              </c:pt>
            </c:numLit>
          </c:cat>
          <c:val>
            <c:numLit>
              <c:formatCode>0.0x</c:formatCode>
              <c:ptCount val="5"/>
              <c:pt idx="0">
                <c:v>1.012295</c:v>
              </c:pt>
              <c:pt idx="1">
                <c:v>1.530386</c:v>
              </c:pt>
              <c:pt idx="2">
                <c:v>2.386353</c:v>
              </c:pt>
              <c:pt idx="3">
                <c:v>2.358109</c:v>
              </c:pt>
              <c:pt idx="4">
                <c:v>2.245111</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Threads per MPI process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2.7"/>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 versus 4-rank Task 1</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0.5"/>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5 • matched total workers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MPI × OpenMP</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Lit>
              <c:ptCount val="5"/>
              <c:pt idx="0">
                <c:v>1×1</c:v>
              </c:pt>
              <c:pt idx="1">
                <c:v>2×1</c:v>
              </c:pt>
              <c:pt idx="2">
                <c:v>2×2</c:v>
              </c:pt>
              <c:pt idx="3">
                <c:v>4×2</c:v>
              </c:pt>
              <c:pt idx="4">
                <c:v>4×4</c:v>
              </c:pt>
            </c:strLit>
          </c:cat>
          <c:val>
            <c:numLit>
              <c:formatCode>0.0x</c:formatCode>
              <c:ptCount val="5"/>
              <c:pt idx="0">
                <c:v>0.996865</c:v>
              </c:pt>
              <c:pt idx="1">
                <c:v>1.91408</c:v>
              </c:pt>
              <c:pt idx="2">
                <c:v>3.515055</c:v>
              </c:pt>
              <c:pt idx="3">
                <c:v>5.15</c:v>
              </c:pt>
              <c:pt idx="4">
                <c:v>8.030471</c:v>
              </c:pt>
            </c:numLit>
          </c:val>
          <c:smooth val="0"/>
        </c:ser>
        <c:ser>
          <c:idx val="1"/>
          <c:order val="1"/>
          <c:tx>
            <c:v>OpenMP matched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strLit>
              <c:ptCount val="5"/>
              <c:pt idx="0">
                <c:v>1×1</c:v>
              </c:pt>
              <c:pt idx="1">
                <c:v>2×1</c:v>
              </c:pt>
              <c:pt idx="2">
                <c:v>2×2</c:v>
              </c:pt>
              <c:pt idx="3">
                <c:v>4×2</c:v>
              </c:pt>
              <c:pt idx="4">
                <c:v>4×4</c:v>
              </c:pt>
            </c:strLit>
          </c:cat>
          <c:val>
            <c:numLit>
              <c:formatCode>0.0x</c:formatCode>
              <c:ptCount val="5"/>
              <c:pt idx="0">
                <c:v>1.003352</c:v>
              </c:pt>
              <c:pt idx="1">
                <c:v>1.547751</c:v>
              </c:pt>
              <c:pt idx="2">
                <c:v>2.689743</c:v>
              </c:pt>
              <c:pt idx="3">
                <c:v>4.330398</c:v>
              </c:pt>
              <c:pt idx="4">
                <c:v>7.064416</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Hybrid empirical versus ideal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Empirical</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Lit>
              <c:ptCount val="7"/>
              <c:pt idx="0">
                <c:v>1×1</c:v>
              </c:pt>
              <c:pt idx="1">
                <c:v>2×1</c:v>
              </c:pt>
              <c:pt idx="2">
                <c:v>2×2</c:v>
              </c:pt>
              <c:pt idx="3">
                <c:v>4×2</c:v>
              </c:pt>
              <c:pt idx="4">
                <c:v>4×4</c:v>
              </c:pt>
              <c:pt idx="5">
                <c:v>4×8</c:v>
              </c:pt>
              <c:pt idx="6">
                <c:v>4×16</c:v>
              </c:pt>
            </c:strLit>
          </c:cat>
          <c:val>
            <c:numLit>
              <c:formatCode>0.0x</c:formatCode>
              <c:ptCount val="7"/>
              <c:pt idx="0">
                <c:v>0.996865</c:v>
              </c:pt>
              <c:pt idx="1">
                <c:v>1.91408</c:v>
              </c:pt>
              <c:pt idx="2">
                <c:v>3.515055</c:v>
              </c:pt>
              <c:pt idx="3">
                <c:v>5.15</c:v>
              </c:pt>
              <c:pt idx="4">
                <c:v>8.030471</c:v>
              </c:pt>
              <c:pt idx="5">
                <c:v>7.935425</c:v>
              </c:pt>
              <c:pt idx="6">
                <c:v>7.555168</c:v>
              </c:pt>
            </c:numLit>
          </c:val>
          <c:smooth val="0"/>
        </c:ser>
        <c:ser>
          <c:idx val="1"/>
          <c:order val="1"/>
          <c:tx>
            <c:v>Amdahl ideal</c:v>
          </c:tx>
          <c:spPr>
            <a:ln xmlns:a="http://schemas.openxmlformats.org/drawingml/2006/main" w="21908">
              <a:solidFill>
                <a:srgbClr val="F28E2B"/>
              </a:solidFill>
              <a:prstDash val="solid"/>
            </a:ln>
          </c:spPr>
          <c:marker>
            <c:symbol val="circle"/>
            <c:size val="5"/>
            <c:spPr>
              <a:solidFill xmlns:a="http://schemas.openxmlformats.org/drawingml/2006/main">
                <a:srgbClr val="F28E2B"/>
              </a:solidFill>
            </c:spPr>
          </c:marker>
          <c:cat>
            <c:strLit>
              <c:ptCount val="7"/>
              <c:pt idx="0">
                <c:v>1×1</c:v>
              </c:pt>
              <c:pt idx="1">
                <c:v>2×1</c:v>
              </c:pt>
              <c:pt idx="2">
                <c:v>2×2</c:v>
              </c:pt>
              <c:pt idx="3">
                <c:v>4×2</c:v>
              </c:pt>
              <c:pt idx="4">
                <c:v>4×4</c:v>
              </c:pt>
              <c:pt idx="5">
                <c:v>4×8</c:v>
              </c:pt>
              <c:pt idx="6">
                <c:v>4×16</c:v>
              </c:pt>
            </c:strLit>
          </c:cat>
          <c:val>
            <c:numLit>
              <c:formatCode>0.0x</c:formatCode>
              <c:ptCount val="7"/>
              <c:pt idx="0">
                <c:v>1</c:v>
              </c:pt>
              <c:pt idx="1">
                <c:v>1.966521</c:v>
              </c:pt>
              <c:pt idx="2">
                <c:v>3.805633</c:v>
              </c:pt>
              <c:pt idx="3">
                <c:v>7.148145</c:v>
              </c:pt>
              <c:pt idx="4">
                <c:v>12.745273</c:v>
              </c:pt>
              <c:pt idx="5">
                <c:v>20.945709</c:v>
              </c:pt>
              <c:pt idx="6">
                <c:v>30.879939</c:v>
              </c:pt>
            </c:numLit>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slide1.xml><?xml version="1.0" encoding="utf-8"?>
<p:sld xmlns:p="http://schemas.openxmlformats.org/presentationml/2006/main">
  <p:cSld>
    <p:bg>
      <p:bgPr>
        <a:solidFill xmlns:a="http://schemas.openxmlformats.org/drawingml/2006/main">
          <a:srgbClr val="005F6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6EB30F-F18E-4E19-98A9-4498FC339D4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267B0C82-7491-46DC-9664-BE97BE306B17}"/>
              </a:ext>
            </a:extLst>
          </p:cNvPr>
          <p:cNvSpPr>
            <a:spLocks xmlns:a="http://schemas.openxmlformats.org/drawingml/2006/main" noGrp="1"/>
          </p:cNvSpPr>
          <p:nvPr/>
        </p:nvSpPr>
        <p:spPr>
          <a:xfrm xmlns:a="http://schemas.openxmlformats.org/drawingml/2006/main">
            <a:off x="704850" y="704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FIT3143 • PARALLEL COMPUTING</a:t>
            </a:r>
          </a:p>
        </p:txBody>
      </p:sp>
      <p:sp>
        <p:nvSpPr>
          <p:cNvPr id="3" name="">
            <a:extLst xmlns:a="http://schemas.openxmlformats.org/drawingml/2006/main">
              <a:ext uri="{FF2B5EF4-FFF2-40B4-BE49-F238E27FC236}">
                <a16:creationId xmlns:a16="http://schemas.microsoft.com/office/drawing/2014/main" id="{5C6BE135-6059-40D0-897F-19A1D29F3DA9}"/>
              </a:ext>
            </a:extLst>
          </p:cNvPr>
          <p:cNvSpPr>
            <a:spLocks xmlns:a="http://schemas.openxmlformats.org/drawingml/2006/main" noGrp="1"/>
          </p:cNvSpPr>
          <p:nvPr/>
        </p:nvSpPr>
        <p:spPr>
          <a:xfrm xmlns:a="http://schemas.openxmlformats.org/drawingml/2006/main">
            <a:off x="704850" y="1285875"/>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900" b="1" i="0">
                <a:solidFill>
                  <a:srgbClr val="FFFFFF"/>
                </a:solidFill>
                <a:latin typeface="Arial"/>
                <a:ea typeface="Arial"/>
                <a:cs typeface="Arial"/>
              </a:defRPr>
            </a:pPr>
            <a:r>
              <a:rPr sz="3900" b="1" i="0">
                <a:solidFill>
                  <a:srgbClr val="FFFFFF"/>
                </a:solidFill>
                <a:latin typeface="Arial"/>
                <a:ea typeface="Arial"/>
                <a:cs typeface="Arial"/>
              </a:rPr>
              <a:t>Prime Search at Scale</a:t>
            </a:r>
          </a:p>
        </p:txBody>
      </p:sp>
      <p:sp>
        <p:nvSpPr>
          <p:cNvPr id="4" name="">
            <a:extLst xmlns:a="http://schemas.openxmlformats.org/drawingml/2006/main">
              <a:ext uri="{FF2B5EF4-FFF2-40B4-BE49-F238E27FC236}">
                <a16:creationId xmlns:a16="http://schemas.microsoft.com/office/drawing/2014/main" id="{7592E6E5-2186-4BEC-BAAB-6E2724EAAA49}"/>
              </a:ext>
            </a:extLst>
          </p:cNvPr>
          <p:cNvSpPr>
            <a:spLocks xmlns:a="http://schemas.openxmlformats.org/drawingml/2006/main" noGrp="1"/>
          </p:cNvSpPr>
          <p:nvPr/>
        </p:nvSpPr>
        <p:spPr>
          <a:xfrm xmlns:a="http://schemas.openxmlformats.org/drawingml/2006/main">
            <a:off x="704850" y="21145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0" i="0">
                <a:solidFill>
                  <a:srgbClr val="D4F4F2"/>
                </a:solidFill>
                <a:latin typeface="Arial"/>
                <a:ea typeface="Arial"/>
                <a:cs typeface="Arial"/>
              </a:defRPr>
            </a:pPr>
            <a:r>
              <a:rPr sz="2175" b="0" i="0">
                <a:solidFill>
                  <a:srgbClr val="D4F4F2"/>
                </a:solidFill>
                <a:latin typeface="Arial"/>
                <a:ea typeface="Arial"/>
                <a:cs typeface="Arial"/>
              </a:rPr>
              <a:t>Open MPI and hybrid MPI + OpenMP</a:t>
            </a:r>
          </a:p>
        </p:txBody>
      </p:sp>
      <p:sp>
        <p:nvSpPr>
          <p:cNvPr id="5" name="">
            <a:extLst xmlns:a="http://schemas.openxmlformats.org/drawingml/2006/main">
              <a:ext uri="{FF2B5EF4-FFF2-40B4-BE49-F238E27FC236}">
                <a16:creationId xmlns:a16="http://schemas.microsoft.com/office/drawing/2014/main" id="{9BFB9D71-9CF4-42F0-B6F1-68E35A1EC220}"/>
              </a:ext>
            </a:extLst>
          </p:cNvPr>
          <p:cNvSpPr>
            <a:spLocks xmlns:a="http://schemas.openxmlformats.org/drawingml/2006/main" noGrp="1"/>
          </p:cNvSpPr>
          <p:nvPr/>
        </p:nvSpPr>
        <p:spPr>
          <a:xfrm xmlns:a="http://schemas.openxmlformats.org/drawingml/2006/main">
            <a:off x="704850" y="3028950"/>
            <a:ext cx="4476750" cy="47625"/>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6" name="">
            <a:extLst xmlns:a="http://schemas.openxmlformats.org/drawingml/2006/main">
              <a:ext uri="{FF2B5EF4-FFF2-40B4-BE49-F238E27FC236}">
                <a16:creationId xmlns:a16="http://schemas.microsoft.com/office/drawing/2014/main" id="{131ADD29-EDA1-4DC4-94E9-7465F57FC044}"/>
              </a:ext>
            </a:extLst>
          </p:cNvPr>
          <p:cNvSpPr>
            <a:spLocks xmlns:a="http://schemas.openxmlformats.org/drawingml/2006/main" noGrp="1"/>
          </p:cNvSpPr>
          <p:nvPr/>
        </p:nvSpPr>
        <p:spPr>
          <a:xfrm xmlns:a="http://schemas.openxmlformats.org/drawingml/2006/main">
            <a:off x="704850" y="33337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0" i="0">
                <a:solidFill>
                  <a:srgbClr val="FFFFFF"/>
                </a:solidFill>
                <a:latin typeface="Arial"/>
                <a:ea typeface="Arial"/>
                <a:cs typeface="Arial"/>
              </a:defRPr>
            </a:pPr>
            <a:r>
              <a:rPr sz="1650" b="0" i="0">
                <a:solidFill>
                  <a:srgbClr val="FFFFFF"/>
                </a:solidFill>
                <a:latin typeface="Arial"/>
                <a:ea typeface="Arial"/>
                <a:cs typeface="Arial"/>
              </a:rPr>
              <a:t>Correctness • workload balance • measured scalability</a:t>
            </a:r>
          </a:p>
        </p:txBody>
      </p:sp>
      <p:sp>
        <p:nvSpPr>
          <p:cNvPr id="7" name="">
            <a:extLst xmlns:a="http://schemas.openxmlformats.org/drawingml/2006/main">
              <a:ext uri="{FF2B5EF4-FFF2-40B4-BE49-F238E27FC236}">
                <a16:creationId xmlns:a16="http://schemas.microsoft.com/office/drawing/2014/main" id="{510CDC22-0479-4132-B9FF-4F74DAE27760}"/>
              </a:ext>
            </a:extLst>
          </p:cNvPr>
          <p:cNvSpPr>
            <a:spLocks xmlns:a="http://schemas.openxmlformats.org/drawingml/2006/main" noGrp="1"/>
          </p:cNvSpPr>
          <p:nvPr/>
        </p:nvSpPr>
        <p:spPr>
          <a:xfrm xmlns:a="http://schemas.openxmlformats.org/drawingml/2006/main">
            <a:off x="704850" y="4810125"/>
            <a:ext cx="781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Savin Vindiv De Alwis (35221631)</a:t>
            </a:r>
          </a:p>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Willwara Arachchilage Shamle Imal Thilaksiri (35512075)</a:t>
            </a:r>
          </a:p>
        </p:txBody>
      </p:sp>
      <p:sp>
        <p:nvSpPr>
          <p:cNvPr id="8" name="">
            <a:extLst xmlns:a="http://schemas.openxmlformats.org/drawingml/2006/main">
              <a:ext uri="{FF2B5EF4-FFF2-40B4-BE49-F238E27FC236}">
                <a16:creationId xmlns:a16="http://schemas.microsoft.com/office/drawing/2014/main" id="{85A900BA-AF08-4324-9FDC-9DA67F3DED1E}"/>
              </a:ext>
            </a:extLst>
          </p:cNvPr>
          <p:cNvSpPr>
            <a:spLocks xmlns:a="http://schemas.openxmlformats.org/drawingml/2006/main" noGrp="1"/>
          </p:cNvSpPr>
          <p:nvPr/>
        </p:nvSpPr>
        <p:spPr>
          <a:xfrm xmlns:a="http://schemas.openxmlformats.org/drawingml/2006/main">
            <a:off x="704850" y="59055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Main presentation: 6 min 25 s</a:t>
            </a:r>
          </a:p>
        </p:txBody>
      </p:sp>
    </p:spTree>
    <p:extLst>
      <p:ext uri="{BB962C8B-B14F-4D97-AF65-F5344CB8AC3E}">
        <p14:creationId xmlns:p14="http://schemas.microsoft.com/office/powerpoint/2010/main" val="646704475"/>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2267554-F364-4288-8DF7-C3F72065D5A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8C322953-4E8F-4E25-A122-833C0B63B30B}"/>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8458CF1B-A60B-42EE-9DCA-3B55E5F0FE39}"/>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Experimental setup and correctness</a:t>
            </a:r>
          </a:p>
        </p:txBody>
      </p:sp>
      <p:sp>
        <p:nvSpPr>
          <p:cNvPr id="4" name="">
            <a:extLst xmlns:a="http://schemas.openxmlformats.org/drawingml/2006/main">
              <a:ext uri="{FF2B5EF4-FFF2-40B4-BE49-F238E27FC236}">
                <a16:creationId xmlns:a16="http://schemas.microsoft.com/office/drawing/2014/main" id="{634D80EE-9747-4E83-9715-82E46A79D41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2 / 9</a:t>
            </a:r>
          </a:p>
        </p:txBody>
      </p:sp>
      <p:sp>
        <p:nvSpPr>
          <p:cNvPr id="5" name="">
            <a:extLst xmlns:a="http://schemas.openxmlformats.org/drawingml/2006/main">
              <a:ext uri="{FF2B5EF4-FFF2-40B4-BE49-F238E27FC236}">
                <a16:creationId xmlns:a16="http://schemas.microsoft.com/office/drawing/2014/main" id="{833B677E-8817-4817-94E5-AA071193E615}"/>
              </a:ext>
            </a:extLst>
          </p:cNvPr>
          <p:cNvSpPr>
            <a:spLocks xmlns:a="http://schemas.openxmlformats.org/drawingml/2006/main" noGrp="1"/>
          </p:cNvSpPr>
          <p:nvPr/>
        </p:nvSpPr>
        <p:spPr>
          <a:xfrm xmlns:a="http://schemas.openxmlformats.org/drawingml/2006/main">
            <a:off x="5524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D952792C-9206-405F-ABE2-1792266FF635}"/>
              </a:ext>
            </a:extLst>
          </p:cNvPr>
          <p:cNvSpPr>
            <a:spLocks xmlns:a="http://schemas.openxmlformats.org/drawingml/2006/main" noGrp="1"/>
          </p:cNvSpPr>
          <p:nvPr/>
        </p:nvSpPr>
        <p:spPr>
          <a:xfrm xmlns:a="http://schemas.openxmlformats.org/drawingml/2006/main">
            <a:off x="552450" y="1162050"/>
            <a:ext cx="66675" cy="142875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FE8E77C1-06CF-4D30-88B5-F7D718881240}"/>
              </a:ext>
            </a:extLst>
          </p:cNvPr>
          <p:cNvSpPr>
            <a:spLocks xmlns:a="http://schemas.openxmlformats.org/drawingml/2006/main" noGrp="1"/>
          </p:cNvSpPr>
          <p:nvPr/>
        </p:nvSpPr>
        <p:spPr>
          <a:xfrm xmlns:a="http://schemas.openxmlformats.org/drawingml/2006/main">
            <a:off x="7620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PLATFORM</a:t>
            </a:r>
          </a:p>
        </p:txBody>
      </p:sp>
      <p:sp>
        <p:nvSpPr>
          <p:cNvPr id="8" name="">
            <a:extLst xmlns:a="http://schemas.openxmlformats.org/drawingml/2006/main">
              <a:ext uri="{FF2B5EF4-FFF2-40B4-BE49-F238E27FC236}">
                <a16:creationId xmlns:a16="http://schemas.microsoft.com/office/drawing/2014/main" id="{A4EC7FFF-36C7-43FD-9930-8C7519E3A633}"/>
              </a:ext>
            </a:extLst>
          </p:cNvPr>
          <p:cNvSpPr>
            <a:spLocks xmlns:a="http://schemas.openxmlformats.org/drawingml/2006/main" noGrp="1"/>
          </p:cNvSpPr>
          <p:nvPr/>
        </p:nvSpPr>
        <p:spPr>
          <a:xfrm xmlns:a="http://schemas.openxmlformats.org/drawingml/2006/main">
            <a:off x="7620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1 node • 14C / 20T</a:t>
            </a:r>
          </a:p>
        </p:txBody>
      </p:sp>
      <p:sp>
        <p:nvSpPr>
          <p:cNvPr id="9" name="">
            <a:extLst xmlns:a="http://schemas.openxmlformats.org/drawingml/2006/main">
              <a:ext uri="{FF2B5EF4-FFF2-40B4-BE49-F238E27FC236}">
                <a16:creationId xmlns:a16="http://schemas.microsoft.com/office/drawing/2014/main" id="{3C8779A4-248F-4B90-8B39-E6A5501F50B6}"/>
              </a:ext>
            </a:extLst>
          </p:cNvPr>
          <p:cNvSpPr>
            <a:spLocks xmlns:a="http://schemas.openxmlformats.org/drawingml/2006/main" noGrp="1"/>
          </p:cNvSpPr>
          <p:nvPr/>
        </p:nvSpPr>
        <p:spPr>
          <a:xfrm xmlns:a="http://schemas.openxmlformats.org/drawingml/2006/main">
            <a:off x="7620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WSL2 Ubuntu • Open MPI 4.1.6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Intel Core i7-13700H</a:t>
            </a:r>
          </a:p>
        </p:txBody>
      </p:sp>
      <p:sp>
        <p:nvSpPr>
          <p:cNvPr id="10" name="">
            <a:extLst xmlns:a="http://schemas.openxmlformats.org/drawingml/2006/main">
              <a:ext uri="{FF2B5EF4-FFF2-40B4-BE49-F238E27FC236}">
                <a16:creationId xmlns:a16="http://schemas.microsoft.com/office/drawing/2014/main" id="{54C46136-9C60-43E2-897D-CF0A123728CF}"/>
              </a:ext>
            </a:extLst>
          </p:cNvPr>
          <p:cNvSpPr>
            <a:spLocks xmlns:a="http://schemas.openxmlformats.org/drawingml/2006/main" noGrp="1"/>
          </p:cNvSpPr>
          <p:nvPr/>
        </p:nvSpPr>
        <p:spPr>
          <a:xfrm xmlns:a="http://schemas.openxmlformats.org/drawingml/2006/main">
            <a:off x="438150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1" name="">
            <a:extLst xmlns:a="http://schemas.openxmlformats.org/drawingml/2006/main">
              <a:ext uri="{FF2B5EF4-FFF2-40B4-BE49-F238E27FC236}">
                <a16:creationId xmlns:a16="http://schemas.microsoft.com/office/drawing/2014/main" id="{E36F814E-DB90-44DF-A16B-60B0630E6418}"/>
              </a:ext>
            </a:extLst>
          </p:cNvPr>
          <p:cNvSpPr>
            <a:spLocks xmlns:a="http://schemas.openxmlformats.org/drawingml/2006/main" noGrp="1"/>
          </p:cNvSpPr>
          <p:nvPr/>
        </p:nvSpPr>
        <p:spPr>
          <a:xfrm xmlns:a="http://schemas.openxmlformats.org/drawingml/2006/main">
            <a:off x="4381500" y="1162050"/>
            <a:ext cx="66675" cy="14287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12" name="">
            <a:extLst xmlns:a="http://schemas.openxmlformats.org/drawingml/2006/main">
              <a:ext uri="{FF2B5EF4-FFF2-40B4-BE49-F238E27FC236}">
                <a16:creationId xmlns:a16="http://schemas.microsoft.com/office/drawing/2014/main" id="{08F5DA6C-8FB8-459E-BA22-792B9B0668C3}"/>
              </a:ext>
            </a:extLst>
          </p:cNvPr>
          <p:cNvSpPr>
            <a:spLocks xmlns:a="http://schemas.openxmlformats.org/drawingml/2006/main" noGrp="1"/>
          </p:cNvSpPr>
          <p:nvPr/>
        </p:nvSpPr>
        <p:spPr>
          <a:xfrm xmlns:a="http://schemas.openxmlformats.org/drawingml/2006/main">
            <a:off x="459105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PRIMARY WORKLOAD</a:t>
            </a:r>
          </a:p>
        </p:txBody>
      </p:sp>
      <p:sp>
        <p:nvSpPr>
          <p:cNvPr id="13" name="">
            <a:extLst xmlns:a="http://schemas.openxmlformats.org/drawingml/2006/main">
              <a:ext uri="{FF2B5EF4-FFF2-40B4-BE49-F238E27FC236}">
                <a16:creationId xmlns:a16="http://schemas.microsoft.com/office/drawing/2014/main" id="{CF6DF5B9-39E3-4BD5-B9F6-F5D8DBF7EF3F}"/>
              </a:ext>
            </a:extLst>
          </p:cNvPr>
          <p:cNvSpPr>
            <a:spLocks xmlns:a="http://schemas.openxmlformats.org/drawingml/2006/main" noGrp="1"/>
          </p:cNvSpPr>
          <p:nvPr/>
        </p:nvSpPr>
        <p:spPr>
          <a:xfrm xmlns:a="http://schemas.openxmlformats.org/drawingml/2006/main">
            <a:off x="459105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n = 60,000,000</a:t>
            </a:r>
          </a:p>
        </p:txBody>
      </p:sp>
      <p:sp>
        <p:nvSpPr>
          <p:cNvPr id="14" name="">
            <a:extLst xmlns:a="http://schemas.openxmlformats.org/drawingml/2006/main">
              <a:ext uri="{FF2B5EF4-FFF2-40B4-BE49-F238E27FC236}">
                <a16:creationId xmlns:a16="http://schemas.microsoft.com/office/drawing/2014/main" id="{BDFE94AC-CFAF-4728-8336-EB2F264CDE4D}"/>
              </a:ext>
            </a:extLst>
          </p:cNvPr>
          <p:cNvSpPr>
            <a:spLocks xmlns:a="http://schemas.openxmlformats.org/drawingml/2006/main" noGrp="1"/>
          </p:cNvSpPr>
          <p:nvPr/>
        </p:nvSpPr>
        <p:spPr>
          <a:xfrm xmlns:a="http://schemas.openxmlformats.org/drawingml/2006/main">
            <a:off x="459105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3,562,115 primes below n</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all output written by rank 0</a:t>
            </a:r>
          </a:p>
        </p:txBody>
      </p:sp>
      <p:sp>
        <p:nvSpPr>
          <p:cNvPr id="15" name="">
            <a:extLst xmlns:a="http://schemas.openxmlformats.org/drawingml/2006/main">
              <a:ext uri="{FF2B5EF4-FFF2-40B4-BE49-F238E27FC236}">
                <a16:creationId xmlns:a16="http://schemas.microsoft.com/office/drawing/2014/main" id="{6670C44E-22CE-4A6D-A5A9-F5CF38813415}"/>
              </a:ext>
            </a:extLst>
          </p:cNvPr>
          <p:cNvSpPr>
            <a:spLocks xmlns:a="http://schemas.openxmlformats.org/drawingml/2006/main" noGrp="1"/>
          </p:cNvSpPr>
          <p:nvPr/>
        </p:nvSpPr>
        <p:spPr>
          <a:xfrm xmlns:a="http://schemas.openxmlformats.org/drawingml/2006/main">
            <a:off x="82105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6" name="">
            <a:extLst xmlns:a="http://schemas.openxmlformats.org/drawingml/2006/main">
              <a:ext uri="{FF2B5EF4-FFF2-40B4-BE49-F238E27FC236}">
                <a16:creationId xmlns:a16="http://schemas.microsoft.com/office/drawing/2014/main" id="{2D91255D-4E3E-4C26-859F-EE8E58DBEE5F}"/>
              </a:ext>
            </a:extLst>
          </p:cNvPr>
          <p:cNvSpPr>
            <a:spLocks xmlns:a="http://schemas.openxmlformats.org/drawingml/2006/main" noGrp="1"/>
          </p:cNvSpPr>
          <p:nvPr/>
        </p:nvSpPr>
        <p:spPr>
          <a:xfrm xmlns:a="http://schemas.openxmlformats.org/drawingml/2006/main">
            <a:off x="8210550" y="1162050"/>
            <a:ext cx="66675" cy="14287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17" name="">
            <a:extLst xmlns:a="http://schemas.openxmlformats.org/drawingml/2006/main">
              <a:ext uri="{FF2B5EF4-FFF2-40B4-BE49-F238E27FC236}">
                <a16:creationId xmlns:a16="http://schemas.microsoft.com/office/drawing/2014/main" id="{29AA79B7-CE77-4A32-AC11-384434C105FA}"/>
              </a:ext>
            </a:extLst>
          </p:cNvPr>
          <p:cNvSpPr>
            <a:spLocks xmlns:a="http://schemas.openxmlformats.org/drawingml/2006/main" noGrp="1"/>
          </p:cNvSpPr>
          <p:nvPr/>
        </p:nvSpPr>
        <p:spPr>
          <a:xfrm xmlns:a="http://schemas.openxmlformats.org/drawingml/2006/main">
            <a:off x="84201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COVERAGE</a:t>
            </a:r>
          </a:p>
        </p:txBody>
      </p:sp>
      <p:sp>
        <p:nvSpPr>
          <p:cNvPr id="18" name="">
            <a:extLst xmlns:a="http://schemas.openxmlformats.org/drawingml/2006/main">
              <a:ext uri="{FF2B5EF4-FFF2-40B4-BE49-F238E27FC236}">
                <a16:creationId xmlns:a16="http://schemas.microsoft.com/office/drawing/2014/main" id="{7A355920-34AB-4811-83B9-481456D524A1}"/>
              </a:ext>
            </a:extLst>
          </p:cNvPr>
          <p:cNvSpPr>
            <a:spLocks xmlns:a="http://schemas.openxmlformats.org/drawingml/2006/main" noGrp="1"/>
          </p:cNvSpPr>
          <p:nvPr/>
        </p:nvSpPr>
        <p:spPr>
          <a:xfrm xmlns:a="http://schemas.openxmlformats.org/drawingml/2006/main">
            <a:off x="84201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30 n values</a:t>
            </a:r>
          </a:p>
        </p:txBody>
      </p:sp>
      <p:sp>
        <p:nvSpPr>
          <p:cNvPr id="19" name="">
            <a:extLst xmlns:a="http://schemas.openxmlformats.org/drawingml/2006/main">
              <a:ext uri="{FF2B5EF4-FFF2-40B4-BE49-F238E27FC236}">
                <a16:creationId xmlns:a16="http://schemas.microsoft.com/office/drawing/2014/main" id="{B395960D-2BEF-4321-875A-B25D5EF4A4E4}"/>
              </a:ext>
            </a:extLst>
          </p:cNvPr>
          <p:cNvSpPr>
            <a:spLocks xmlns:a="http://schemas.openxmlformats.org/drawingml/2006/main" noGrp="1"/>
          </p:cNvSpPr>
          <p:nvPr/>
        </p:nvSpPr>
        <p:spPr>
          <a:xfrm xmlns:a="http://schemas.openxmlformats.org/drawingml/2006/main">
            <a:off x="84201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20M–78M • MPI ranks 1–16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OpenMP threads 1–16 • up to 64 workers</a:t>
            </a:r>
          </a:p>
        </p:txBody>
      </p:sp>
      <p:sp>
        <p:nvSpPr>
          <p:cNvPr id="20" name="">
            <a:extLst xmlns:a="http://schemas.openxmlformats.org/drawingml/2006/main">
              <a:ext uri="{FF2B5EF4-FFF2-40B4-BE49-F238E27FC236}">
                <a16:creationId xmlns:a16="http://schemas.microsoft.com/office/drawing/2014/main" id="{4A498571-ADBC-4F49-B850-DB732CDBA927}"/>
              </a:ext>
            </a:extLst>
          </p:cNvPr>
          <p:cNvSpPr>
            <a:spLocks xmlns:a="http://schemas.openxmlformats.org/drawingml/2006/main" noGrp="1"/>
          </p:cNvSpPr>
          <p:nvPr/>
        </p:nvSpPr>
        <p:spPr>
          <a:xfrm xmlns:a="http://schemas.openxmlformats.org/drawingml/2006/main">
            <a:off x="552450" y="2952750"/>
            <a:ext cx="53340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9525">
            <a:solidFill>
              <a:srgbClr val="D9E2EC"/>
            </a:solidFill>
          </a:ln>
        </p:spPr>
      </p:sp>
      <p:sp>
        <p:nvSpPr>
          <p:cNvPr id="21" name="">
            <a:extLst xmlns:a="http://schemas.openxmlformats.org/drawingml/2006/main">
              <a:ext uri="{FF2B5EF4-FFF2-40B4-BE49-F238E27FC236}">
                <a16:creationId xmlns:a16="http://schemas.microsoft.com/office/drawing/2014/main" id="{3D91B242-46D7-4520-9FE9-ECB83998D456}"/>
              </a:ext>
            </a:extLst>
          </p:cNvPr>
          <p:cNvSpPr>
            <a:spLocks xmlns:a="http://schemas.openxmlformats.org/drawingml/2006/main" noGrp="1"/>
          </p:cNvSpPr>
          <p:nvPr/>
        </p:nvSpPr>
        <p:spPr>
          <a:xfrm xmlns:a="http://schemas.openxmlformats.org/drawingml/2006/main">
            <a:off x="78105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Measurement discipline</a:t>
            </a:r>
          </a:p>
        </p:txBody>
      </p:sp>
      <p:sp>
        <p:nvSpPr>
          <p:cNvPr id="22" name="">
            <a:extLst xmlns:a="http://schemas.openxmlformats.org/drawingml/2006/main">
              <a:ext uri="{FF2B5EF4-FFF2-40B4-BE49-F238E27FC236}">
                <a16:creationId xmlns:a16="http://schemas.microsoft.com/office/drawing/2014/main" id="{00256FBD-39B7-442C-B9CA-AEC48AD2CB0A}"/>
              </a:ext>
            </a:extLst>
          </p:cNvPr>
          <p:cNvSpPr>
            <a:spLocks xmlns:a="http://schemas.openxmlformats.org/drawingml/2006/main" noGrp="1"/>
          </p:cNvSpPr>
          <p:nvPr/>
        </p:nvSpPr>
        <p:spPr>
          <a:xfrm xmlns:a="http://schemas.openxmlformats.org/drawingml/2006/main">
            <a:off x="781050" y="36766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Process and hybrid scaling</a:t>
            </a:r>
          </a:p>
        </p:txBody>
      </p:sp>
      <p:sp>
        <p:nvSpPr>
          <p:cNvPr id="23" name="">
            <a:extLst xmlns:a="http://schemas.openxmlformats.org/drawingml/2006/main">
              <a:ext uri="{FF2B5EF4-FFF2-40B4-BE49-F238E27FC236}">
                <a16:creationId xmlns:a16="http://schemas.microsoft.com/office/drawing/2014/main" id="{5B23FAAA-6858-4C13-8FA9-DC7BE6ACF417}"/>
              </a:ext>
            </a:extLst>
          </p:cNvPr>
          <p:cNvSpPr>
            <a:spLocks xmlns:a="http://schemas.openxmlformats.org/drawingml/2006/main" noGrp="1"/>
          </p:cNvSpPr>
          <p:nvPr/>
        </p:nvSpPr>
        <p:spPr>
          <a:xfrm xmlns:a="http://schemas.openxmlformats.org/drawingml/2006/main">
            <a:off x="781050" y="394335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Median of 3 end-to-end runs; computation, gather and root post-processing recorded separately.</a:t>
            </a:r>
          </a:p>
        </p:txBody>
      </p:sp>
      <p:sp>
        <p:nvSpPr>
          <p:cNvPr id="24" name="">
            <a:extLst xmlns:a="http://schemas.openxmlformats.org/drawingml/2006/main">
              <a:ext uri="{FF2B5EF4-FFF2-40B4-BE49-F238E27FC236}">
                <a16:creationId xmlns:a16="http://schemas.microsoft.com/office/drawing/2014/main" id="{A6F5FBBC-EC69-485B-BE64-A0A02A265BF6}"/>
              </a:ext>
            </a:extLst>
          </p:cNvPr>
          <p:cNvSpPr>
            <a:spLocks xmlns:a="http://schemas.openxmlformats.org/drawingml/2006/main" noGrp="1"/>
          </p:cNvSpPr>
          <p:nvPr/>
        </p:nvSpPr>
        <p:spPr>
          <a:xfrm xmlns:a="http://schemas.openxmlformats.org/drawingml/2006/main">
            <a:off x="781050" y="47244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n sweep</a:t>
            </a:r>
          </a:p>
        </p:txBody>
      </p:sp>
      <p:sp>
        <p:nvSpPr>
          <p:cNvPr id="25" name="">
            <a:extLst xmlns:a="http://schemas.openxmlformats.org/drawingml/2006/main">
              <a:ext uri="{FF2B5EF4-FFF2-40B4-BE49-F238E27FC236}">
                <a16:creationId xmlns:a16="http://schemas.microsoft.com/office/drawing/2014/main" id="{34E355F9-326D-47BB-A017-5D6F11073F7A}"/>
              </a:ext>
            </a:extLst>
          </p:cNvPr>
          <p:cNvSpPr>
            <a:spLocks xmlns:a="http://schemas.openxmlformats.org/drawingml/2006/main" noGrp="1"/>
          </p:cNvSpPr>
          <p:nvPr/>
        </p:nvSpPr>
        <p:spPr>
          <a:xfrm xmlns:a="http://schemas.openxmlformats.org/drawingml/2006/main">
            <a:off x="781050" y="499110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One run at every required n; every runtime exceeds one second. Oversubscription is included explicitly.</a:t>
            </a:r>
          </a:p>
        </p:txBody>
      </p:sp>
      <p:sp>
        <p:nvSpPr>
          <p:cNvPr id="26" name="">
            <a:extLst xmlns:a="http://schemas.openxmlformats.org/drawingml/2006/main">
              <a:ext uri="{FF2B5EF4-FFF2-40B4-BE49-F238E27FC236}">
                <a16:creationId xmlns:a16="http://schemas.microsoft.com/office/drawing/2014/main" id="{1A005C2E-0B69-4046-A142-8FA2A1BDA8E2}"/>
              </a:ext>
            </a:extLst>
          </p:cNvPr>
          <p:cNvSpPr>
            <a:spLocks xmlns:a="http://schemas.openxmlformats.org/drawingml/2006/main" noGrp="1"/>
          </p:cNvSpPr>
          <p:nvPr/>
        </p:nvSpPr>
        <p:spPr>
          <a:xfrm xmlns:a="http://schemas.openxmlformats.org/drawingml/2006/main">
            <a:off x="6210300" y="2952750"/>
            <a:ext cx="5429250" cy="2762250"/>
          </a:xfrm>
          <a:prstGeom xmlns:a="http://schemas.openxmlformats.org/drawingml/2006/main" prst="roundRect">
            <a:avLst>
              <a:gd name="adj" fmla="val 2759"/>
            </a:avLst>
          </a:prstGeom>
          <a:solidFill xmlns:a="http://schemas.openxmlformats.org/drawingml/2006/main">
            <a:srgbClr val="E6FFFA"/>
          </a:solidFill>
          <a:ln xmlns:a="http://schemas.openxmlformats.org/drawingml/2006/main" w="9525">
            <a:solidFill>
              <a:srgbClr val="9ED9D5"/>
            </a:solidFill>
          </a:ln>
        </p:spPr>
      </p:sp>
      <p:sp>
        <p:nvSpPr>
          <p:cNvPr id="27" name="">
            <a:extLst xmlns:a="http://schemas.openxmlformats.org/drawingml/2006/main">
              <a:ext uri="{FF2B5EF4-FFF2-40B4-BE49-F238E27FC236}">
                <a16:creationId xmlns:a16="http://schemas.microsoft.com/office/drawing/2014/main" id="{1AC5DF47-4C90-4518-BCC0-85D772B62277}"/>
              </a:ext>
            </a:extLst>
          </p:cNvPr>
          <p:cNvSpPr>
            <a:spLocks xmlns:a="http://schemas.openxmlformats.org/drawingml/2006/main" noGrp="1"/>
          </p:cNvSpPr>
          <p:nvPr/>
        </p:nvSpPr>
        <p:spPr>
          <a:xfrm xmlns:a="http://schemas.openxmlformats.org/drawingml/2006/main">
            <a:off x="647700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Independent exact validation</a:t>
            </a:r>
          </a:p>
        </p:txBody>
      </p:sp>
      <p:sp>
        <p:nvSpPr>
          <p:cNvPr id="28" name="">
            <a:extLst xmlns:a="http://schemas.openxmlformats.org/drawingml/2006/main">
              <a:ext uri="{FF2B5EF4-FFF2-40B4-BE49-F238E27FC236}">
                <a16:creationId xmlns:a16="http://schemas.microsoft.com/office/drawing/2014/main" id="{265692E7-599D-44D1-A36F-5404238D7961}"/>
              </a:ext>
            </a:extLst>
          </p:cNvPr>
          <p:cNvSpPr>
            <a:spLocks xmlns:a="http://schemas.openxmlformats.org/drawingml/2006/main" noGrp="1"/>
          </p:cNvSpPr>
          <p:nvPr/>
        </p:nvSpPr>
        <p:spPr>
          <a:xfrm xmlns:a="http://schemas.openxmlformats.org/drawingml/2006/main">
            <a:off x="6477000" y="36957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Both programs were compared value-for-value with a separate sieve across MPI ranks 1–5 and thread counts 1–3, including n = 0, 1, 2, 3, 4, 10 and 1000.</a:t>
            </a:r>
          </a:p>
        </p:txBody>
      </p:sp>
      <p:sp>
        <p:nvSpPr>
          <p:cNvPr id="29" name="">
            <a:extLst xmlns:a="http://schemas.openxmlformats.org/drawingml/2006/main">
              <a:ext uri="{FF2B5EF4-FFF2-40B4-BE49-F238E27FC236}">
                <a16:creationId xmlns:a16="http://schemas.microsoft.com/office/drawing/2014/main" id="{952449F6-89B9-47EF-8063-35BB2BFCFE63}"/>
              </a:ext>
            </a:extLst>
          </p:cNvPr>
          <p:cNvSpPr>
            <a:spLocks xmlns:a="http://schemas.openxmlformats.org/drawingml/2006/main" noGrp="1"/>
          </p:cNvSpPr>
          <p:nvPr/>
        </p:nvSpPr>
        <p:spPr>
          <a:xfrm xmlns:a="http://schemas.openxmlformats.org/drawingml/2006/main">
            <a:off x="6477000" y="4972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i="0">
                <a:solidFill>
                  <a:srgbClr val="2F855A"/>
                </a:solidFill>
                <a:latin typeface="Arial"/>
                <a:ea typeface="Arial"/>
                <a:cs typeface="Arial"/>
              </a:defRPr>
            </a:pPr>
            <a:r>
              <a:rPr sz="1425" b="1" i="0">
                <a:solidFill>
                  <a:srgbClr val="2F855A"/>
                </a:solidFill>
                <a:latin typeface="Arial"/>
                <a:ea typeface="Arial"/>
                <a:cs typeface="Arial"/>
              </a:rPr>
              <a:t>PASS: sorted • unique • complete • prime-only • &lt; n</a:t>
            </a:r>
          </a:p>
        </p:txBody>
      </p:sp>
    </p:spTree>
    <p:extLst>
      <p:ext uri="{BB962C8B-B14F-4D97-AF65-F5344CB8AC3E}">
        <p14:creationId xmlns:p14="http://schemas.microsoft.com/office/powerpoint/2010/main" val="941281507"/>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8271F10-53B7-45A6-A685-E6506F3BFE8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854BC805-4565-4328-8B57-16E60F4B3B30}"/>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B849A70D-D858-477F-B1B9-FBFD17CFD31A}"/>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1: robust block-cyclic MPI partition</a:t>
            </a:r>
          </a:p>
        </p:txBody>
      </p:sp>
      <p:sp>
        <p:nvSpPr>
          <p:cNvPr id="4" name="">
            <a:extLst xmlns:a="http://schemas.openxmlformats.org/drawingml/2006/main">
              <a:ext uri="{FF2B5EF4-FFF2-40B4-BE49-F238E27FC236}">
                <a16:creationId xmlns:a16="http://schemas.microsoft.com/office/drawing/2014/main" id="{B5E97539-646C-4E29-880F-6E3B1942B249}"/>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3 / 9</a:t>
            </a:r>
          </a:p>
        </p:txBody>
      </p:sp>
      <p:sp>
        <p:nvSpPr>
          <p:cNvPr id="5" name="">
            <a:extLst xmlns:a="http://schemas.openxmlformats.org/drawingml/2006/main">
              <a:ext uri="{FF2B5EF4-FFF2-40B4-BE49-F238E27FC236}">
                <a16:creationId xmlns:a16="http://schemas.microsoft.com/office/drawing/2014/main" id="{CABD0028-F244-4C78-A2C7-565F0C480D5E}"/>
              </a:ext>
            </a:extLst>
          </p:cNvPr>
          <p:cNvSpPr>
            <a:spLocks xmlns:a="http://schemas.openxmlformats.org/drawingml/2006/main" noGrp="1"/>
          </p:cNvSpPr>
          <p:nvPr/>
        </p:nvSpPr>
        <p:spPr>
          <a:xfrm xmlns:a="http://schemas.openxmlformats.org/drawingml/2006/main">
            <a:off x="552450" y="1143000"/>
            <a:ext cx="51435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D7588B33-19EE-42E5-8AAA-FEB67623ED8B}"/>
              </a:ext>
            </a:extLst>
          </p:cNvPr>
          <p:cNvSpPr>
            <a:spLocks xmlns:a="http://schemas.openxmlformats.org/drawingml/2006/main" noGrp="1"/>
          </p:cNvSpPr>
          <p:nvPr/>
        </p:nvSpPr>
        <p:spPr>
          <a:xfrm xmlns:a="http://schemas.openxmlformats.org/drawingml/2006/main">
            <a:off x="781050" y="135255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1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Odd-candidate index space</a:t>
            </a:r>
          </a:p>
        </p:txBody>
      </p:sp>
      <p:sp>
        <p:nvSpPr>
          <p:cNvPr id="7" name="">
            <a:extLst xmlns:a="http://schemas.openxmlformats.org/drawingml/2006/main">
              <a:ext uri="{FF2B5EF4-FFF2-40B4-BE49-F238E27FC236}">
                <a16:creationId xmlns:a16="http://schemas.microsoft.com/office/drawing/2014/main" id="{9EA651AA-EA5E-444C-9FAA-ECF311364EB7}"/>
              </a:ext>
            </a:extLst>
          </p:cNvPr>
          <p:cNvSpPr>
            <a:spLocks xmlns:a="http://schemas.openxmlformats.org/drawingml/2006/main" noGrp="1"/>
          </p:cNvSpPr>
          <p:nvPr/>
        </p:nvSpPr>
        <p:spPr>
          <a:xfrm xmlns:a="http://schemas.openxmlformats.org/drawingml/2006/main">
            <a:off x="781050" y="16954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Chunks of 64 odd candidates are assigned round-robin.</a:t>
            </a:r>
          </a:p>
        </p:txBody>
      </p:sp>
      <p:sp>
        <p:nvSpPr>
          <p:cNvPr id="8" name="">
            <a:extLst xmlns:a="http://schemas.openxmlformats.org/drawingml/2006/main">
              <a:ext uri="{FF2B5EF4-FFF2-40B4-BE49-F238E27FC236}">
                <a16:creationId xmlns:a16="http://schemas.microsoft.com/office/drawing/2014/main" id="{3308980B-0369-4BEE-B99A-38F0C8BF5363}"/>
              </a:ext>
            </a:extLst>
          </p:cNvPr>
          <p:cNvSpPr>
            <a:spLocks xmlns:a="http://schemas.openxmlformats.org/drawingml/2006/main" noGrp="1"/>
          </p:cNvSpPr>
          <p:nvPr/>
        </p:nvSpPr>
        <p:spPr>
          <a:xfrm xmlns:a="http://schemas.openxmlformats.org/drawingml/2006/main">
            <a:off x="819150" y="21907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3B6FB6"/>
                </a:solidFill>
                <a:latin typeface="Arial"/>
                <a:ea typeface="Arial"/>
                <a:cs typeface="Arial"/>
              </a:defRPr>
            </a:pPr>
            <a:r>
              <a:rPr sz="1125" b="1" i="0">
                <a:solidFill>
                  <a:srgbClr val="3B6FB6"/>
                </a:solidFill>
                <a:latin typeface="Arial"/>
                <a:ea typeface="Arial"/>
                <a:cs typeface="Arial"/>
              </a:rPr>
              <a:t>rank 0</a:t>
            </a:r>
          </a:p>
        </p:txBody>
      </p:sp>
      <p:sp>
        <p:nvSpPr>
          <p:cNvPr id="9" name="">
            <a:extLst xmlns:a="http://schemas.openxmlformats.org/drawingml/2006/main">
              <a:ext uri="{FF2B5EF4-FFF2-40B4-BE49-F238E27FC236}">
                <a16:creationId xmlns:a16="http://schemas.microsoft.com/office/drawing/2014/main" id="{8A4C6B68-978A-4AB5-8FC6-DAAC2FA14C2F}"/>
              </a:ext>
            </a:extLst>
          </p:cNvPr>
          <p:cNvSpPr>
            <a:spLocks xmlns:a="http://schemas.openxmlformats.org/drawingml/2006/main" noGrp="1"/>
          </p:cNvSpPr>
          <p:nvPr/>
        </p:nvSpPr>
        <p:spPr>
          <a:xfrm xmlns:a="http://schemas.openxmlformats.org/drawingml/2006/main">
            <a:off x="16192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0" name="">
            <a:extLst xmlns:a="http://schemas.openxmlformats.org/drawingml/2006/main">
              <a:ext uri="{FF2B5EF4-FFF2-40B4-BE49-F238E27FC236}">
                <a16:creationId xmlns:a16="http://schemas.microsoft.com/office/drawing/2014/main" id="{9089966F-9430-4415-A3BB-4D9B4780870A}"/>
              </a:ext>
            </a:extLst>
          </p:cNvPr>
          <p:cNvSpPr>
            <a:spLocks xmlns:a="http://schemas.openxmlformats.org/drawingml/2006/main" noGrp="1"/>
          </p:cNvSpPr>
          <p:nvPr/>
        </p:nvSpPr>
        <p:spPr>
          <a:xfrm xmlns:a="http://schemas.openxmlformats.org/drawingml/2006/main">
            <a:off x="16192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C0</a:t>
            </a:r>
          </a:p>
        </p:txBody>
      </p:sp>
      <p:sp>
        <p:nvSpPr>
          <p:cNvPr id="11" name="">
            <a:extLst xmlns:a="http://schemas.openxmlformats.org/drawingml/2006/main">
              <a:ext uri="{FF2B5EF4-FFF2-40B4-BE49-F238E27FC236}">
                <a16:creationId xmlns:a16="http://schemas.microsoft.com/office/drawing/2014/main" id="{6540DA3B-8069-4EFF-8AA5-698D5F8C62E8}"/>
              </a:ext>
            </a:extLst>
          </p:cNvPr>
          <p:cNvSpPr>
            <a:spLocks xmlns:a="http://schemas.openxmlformats.org/drawingml/2006/main" noGrp="1"/>
          </p:cNvSpPr>
          <p:nvPr/>
        </p:nvSpPr>
        <p:spPr>
          <a:xfrm xmlns:a="http://schemas.openxmlformats.org/drawingml/2006/main">
            <a:off x="24003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2" name="">
            <a:extLst xmlns:a="http://schemas.openxmlformats.org/drawingml/2006/main">
              <a:ext uri="{FF2B5EF4-FFF2-40B4-BE49-F238E27FC236}">
                <a16:creationId xmlns:a16="http://schemas.microsoft.com/office/drawing/2014/main" id="{9650B71B-52ED-40F3-86A2-77E0A5A472EF}"/>
              </a:ext>
            </a:extLst>
          </p:cNvPr>
          <p:cNvSpPr>
            <a:spLocks xmlns:a="http://schemas.openxmlformats.org/drawingml/2006/main" noGrp="1"/>
          </p:cNvSpPr>
          <p:nvPr/>
        </p:nvSpPr>
        <p:spPr>
          <a:xfrm xmlns:a="http://schemas.openxmlformats.org/drawingml/2006/main">
            <a:off x="24003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C3</a:t>
            </a:r>
          </a:p>
        </p:txBody>
      </p:sp>
      <p:sp>
        <p:nvSpPr>
          <p:cNvPr id="13" name="">
            <a:extLst xmlns:a="http://schemas.openxmlformats.org/drawingml/2006/main">
              <a:ext uri="{FF2B5EF4-FFF2-40B4-BE49-F238E27FC236}">
                <a16:creationId xmlns:a16="http://schemas.microsoft.com/office/drawing/2014/main" id="{FED078B7-9037-4DD1-B69C-19EB14D7DB70}"/>
              </a:ext>
            </a:extLst>
          </p:cNvPr>
          <p:cNvSpPr>
            <a:spLocks xmlns:a="http://schemas.openxmlformats.org/drawingml/2006/main" noGrp="1"/>
          </p:cNvSpPr>
          <p:nvPr/>
        </p:nvSpPr>
        <p:spPr>
          <a:xfrm xmlns:a="http://schemas.openxmlformats.org/drawingml/2006/main">
            <a:off x="31813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4" name="">
            <a:extLst xmlns:a="http://schemas.openxmlformats.org/drawingml/2006/main">
              <a:ext uri="{FF2B5EF4-FFF2-40B4-BE49-F238E27FC236}">
                <a16:creationId xmlns:a16="http://schemas.microsoft.com/office/drawing/2014/main" id="{829227B1-E700-4F9B-AAA8-447FA90F0308}"/>
              </a:ext>
            </a:extLst>
          </p:cNvPr>
          <p:cNvSpPr>
            <a:spLocks xmlns:a="http://schemas.openxmlformats.org/drawingml/2006/main" noGrp="1"/>
          </p:cNvSpPr>
          <p:nvPr/>
        </p:nvSpPr>
        <p:spPr>
          <a:xfrm xmlns:a="http://schemas.openxmlformats.org/drawingml/2006/main">
            <a:off x="31813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C6</a:t>
            </a:r>
          </a:p>
        </p:txBody>
      </p:sp>
      <p:sp>
        <p:nvSpPr>
          <p:cNvPr id="15" name="">
            <a:extLst xmlns:a="http://schemas.openxmlformats.org/drawingml/2006/main">
              <a:ext uri="{FF2B5EF4-FFF2-40B4-BE49-F238E27FC236}">
                <a16:creationId xmlns:a16="http://schemas.microsoft.com/office/drawing/2014/main" id="{D2C09464-A9AF-4A77-AE3F-8A77AF7F34CF}"/>
              </a:ext>
            </a:extLst>
          </p:cNvPr>
          <p:cNvSpPr>
            <a:spLocks xmlns:a="http://schemas.openxmlformats.org/drawingml/2006/main" noGrp="1"/>
          </p:cNvSpPr>
          <p:nvPr/>
        </p:nvSpPr>
        <p:spPr>
          <a:xfrm xmlns:a="http://schemas.openxmlformats.org/drawingml/2006/main">
            <a:off x="39624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6" name="">
            <a:extLst xmlns:a="http://schemas.openxmlformats.org/drawingml/2006/main">
              <a:ext uri="{FF2B5EF4-FFF2-40B4-BE49-F238E27FC236}">
                <a16:creationId xmlns:a16="http://schemas.microsoft.com/office/drawing/2014/main" id="{BF50724B-81B3-4B6B-ABB7-BB0F90E90440}"/>
              </a:ext>
            </a:extLst>
          </p:cNvPr>
          <p:cNvSpPr>
            <a:spLocks xmlns:a="http://schemas.openxmlformats.org/drawingml/2006/main" noGrp="1"/>
          </p:cNvSpPr>
          <p:nvPr/>
        </p:nvSpPr>
        <p:spPr>
          <a:xfrm xmlns:a="http://schemas.openxmlformats.org/drawingml/2006/main">
            <a:off x="39624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C9</a:t>
            </a:r>
          </a:p>
        </p:txBody>
      </p:sp>
      <p:sp>
        <p:nvSpPr>
          <p:cNvPr id="17" name="">
            <a:extLst xmlns:a="http://schemas.openxmlformats.org/drawingml/2006/main">
              <a:ext uri="{FF2B5EF4-FFF2-40B4-BE49-F238E27FC236}">
                <a16:creationId xmlns:a16="http://schemas.microsoft.com/office/drawing/2014/main" id="{3D16F647-1A40-44DE-B55D-9D318A8CAF68}"/>
              </a:ext>
            </a:extLst>
          </p:cNvPr>
          <p:cNvSpPr>
            <a:spLocks xmlns:a="http://schemas.openxmlformats.org/drawingml/2006/main" noGrp="1"/>
          </p:cNvSpPr>
          <p:nvPr/>
        </p:nvSpPr>
        <p:spPr>
          <a:xfrm xmlns:a="http://schemas.openxmlformats.org/drawingml/2006/main">
            <a:off x="819150" y="262890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007C83"/>
                </a:solidFill>
                <a:latin typeface="Arial"/>
                <a:ea typeface="Arial"/>
                <a:cs typeface="Arial"/>
              </a:defRPr>
            </a:pPr>
            <a:r>
              <a:rPr sz="1125" b="1" i="0">
                <a:solidFill>
                  <a:srgbClr val="007C83"/>
                </a:solidFill>
                <a:latin typeface="Arial"/>
                <a:ea typeface="Arial"/>
                <a:cs typeface="Arial"/>
              </a:rPr>
              <a:t>rank 1</a:t>
            </a:r>
          </a:p>
        </p:txBody>
      </p:sp>
      <p:sp>
        <p:nvSpPr>
          <p:cNvPr id="18" name="">
            <a:extLst xmlns:a="http://schemas.openxmlformats.org/drawingml/2006/main">
              <a:ext uri="{FF2B5EF4-FFF2-40B4-BE49-F238E27FC236}">
                <a16:creationId xmlns:a16="http://schemas.microsoft.com/office/drawing/2014/main" id="{A4DB07F5-2EF3-4750-B8CC-203036089046}"/>
              </a:ext>
            </a:extLst>
          </p:cNvPr>
          <p:cNvSpPr>
            <a:spLocks xmlns:a="http://schemas.openxmlformats.org/drawingml/2006/main" noGrp="1"/>
          </p:cNvSpPr>
          <p:nvPr/>
        </p:nvSpPr>
        <p:spPr>
          <a:xfrm xmlns:a="http://schemas.openxmlformats.org/drawingml/2006/main">
            <a:off x="16192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19" name="">
            <a:extLst xmlns:a="http://schemas.openxmlformats.org/drawingml/2006/main">
              <a:ext uri="{FF2B5EF4-FFF2-40B4-BE49-F238E27FC236}">
                <a16:creationId xmlns:a16="http://schemas.microsoft.com/office/drawing/2014/main" id="{0A85A439-8BA4-4235-939A-645FD2DFDD8C}"/>
              </a:ext>
            </a:extLst>
          </p:cNvPr>
          <p:cNvSpPr>
            <a:spLocks xmlns:a="http://schemas.openxmlformats.org/drawingml/2006/main" noGrp="1"/>
          </p:cNvSpPr>
          <p:nvPr/>
        </p:nvSpPr>
        <p:spPr>
          <a:xfrm xmlns:a="http://schemas.openxmlformats.org/drawingml/2006/main">
            <a:off x="16192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a:t>
            </a:r>
          </a:p>
        </p:txBody>
      </p:sp>
      <p:sp>
        <p:nvSpPr>
          <p:cNvPr id="20" name="">
            <a:extLst xmlns:a="http://schemas.openxmlformats.org/drawingml/2006/main">
              <a:ext uri="{FF2B5EF4-FFF2-40B4-BE49-F238E27FC236}">
                <a16:creationId xmlns:a16="http://schemas.microsoft.com/office/drawing/2014/main" id="{B7511858-E749-458F-B379-5DE8079AB741}"/>
              </a:ext>
            </a:extLst>
          </p:cNvPr>
          <p:cNvSpPr>
            <a:spLocks xmlns:a="http://schemas.openxmlformats.org/drawingml/2006/main" noGrp="1"/>
          </p:cNvSpPr>
          <p:nvPr/>
        </p:nvSpPr>
        <p:spPr>
          <a:xfrm xmlns:a="http://schemas.openxmlformats.org/drawingml/2006/main">
            <a:off x="24003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1" name="">
            <a:extLst xmlns:a="http://schemas.openxmlformats.org/drawingml/2006/main">
              <a:ext uri="{FF2B5EF4-FFF2-40B4-BE49-F238E27FC236}">
                <a16:creationId xmlns:a16="http://schemas.microsoft.com/office/drawing/2014/main" id="{E68A594E-4259-434C-9F58-7DA9BA712BB5}"/>
              </a:ext>
            </a:extLst>
          </p:cNvPr>
          <p:cNvSpPr>
            <a:spLocks xmlns:a="http://schemas.openxmlformats.org/drawingml/2006/main" noGrp="1"/>
          </p:cNvSpPr>
          <p:nvPr/>
        </p:nvSpPr>
        <p:spPr>
          <a:xfrm xmlns:a="http://schemas.openxmlformats.org/drawingml/2006/main">
            <a:off x="24003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C4</a:t>
            </a:r>
          </a:p>
        </p:txBody>
      </p:sp>
      <p:sp>
        <p:nvSpPr>
          <p:cNvPr id="22" name="">
            <a:extLst xmlns:a="http://schemas.openxmlformats.org/drawingml/2006/main">
              <a:ext uri="{FF2B5EF4-FFF2-40B4-BE49-F238E27FC236}">
                <a16:creationId xmlns:a16="http://schemas.microsoft.com/office/drawing/2014/main" id="{68D27682-A073-4F01-A085-6417204E7567}"/>
              </a:ext>
            </a:extLst>
          </p:cNvPr>
          <p:cNvSpPr>
            <a:spLocks xmlns:a="http://schemas.openxmlformats.org/drawingml/2006/main" noGrp="1"/>
          </p:cNvSpPr>
          <p:nvPr/>
        </p:nvSpPr>
        <p:spPr>
          <a:xfrm xmlns:a="http://schemas.openxmlformats.org/drawingml/2006/main">
            <a:off x="31813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3" name="">
            <a:extLst xmlns:a="http://schemas.openxmlformats.org/drawingml/2006/main">
              <a:ext uri="{FF2B5EF4-FFF2-40B4-BE49-F238E27FC236}">
                <a16:creationId xmlns:a16="http://schemas.microsoft.com/office/drawing/2014/main" id="{6510B08D-26F5-4656-B45A-3C73D1A48ED8}"/>
              </a:ext>
            </a:extLst>
          </p:cNvPr>
          <p:cNvSpPr>
            <a:spLocks xmlns:a="http://schemas.openxmlformats.org/drawingml/2006/main" noGrp="1"/>
          </p:cNvSpPr>
          <p:nvPr/>
        </p:nvSpPr>
        <p:spPr>
          <a:xfrm xmlns:a="http://schemas.openxmlformats.org/drawingml/2006/main">
            <a:off x="31813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C7</a:t>
            </a:r>
          </a:p>
        </p:txBody>
      </p:sp>
      <p:sp>
        <p:nvSpPr>
          <p:cNvPr id="24" name="">
            <a:extLst xmlns:a="http://schemas.openxmlformats.org/drawingml/2006/main">
              <a:ext uri="{FF2B5EF4-FFF2-40B4-BE49-F238E27FC236}">
                <a16:creationId xmlns:a16="http://schemas.microsoft.com/office/drawing/2014/main" id="{E5C8BB53-1ABB-45BE-A6C9-CB7DE5C65AFB}"/>
              </a:ext>
            </a:extLst>
          </p:cNvPr>
          <p:cNvSpPr>
            <a:spLocks xmlns:a="http://schemas.openxmlformats.org/drawingml/2006/main" noGrp="1"/>
          </p:cNvSpPr>
          <p:nvPr/>
        </p:nvSpPr>
        <p:spPr>
          <a:xfrm xmlns:a="http://schemas.openxmlformats.org/drawingml/2006/main">
            <a:off x="39624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5" name="">
            <a:extLst xmlns:a="http://schemas.openxmlformats.org/drawingml/2006/main">
              <a:ext uri="{FF2B5EF4-FFF2-40B4-BE49-F238E27FC236}">
                <a16:creationId xmlns:a16="http://schemas.microsoft.com/office/drawing/2014/main" id="{8DB437D1-1D4C-4749-AE53-5E2CE4E44EE3}"/>
              </a:ext>
            </a:extLst>
          </p:cNvPr>
          <p:cNvSpPr>
            <a:spLocks xmlns:a="http://schemas.openxmlformats.org/drawingml/2006/main" noGrp="1"/>
          </p:cNvSpPr>
          <p:nvPr/>
        </p:nvSpPr>
        <p:spPr>
          <a:xfrm xmlns:a="http://schemas.openxmlformats.org/drawingml/2006/main">
            <a:off x="39624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C10</a:t>
            </a:r>
          </a:p>
        </p:txBody>
      </p:sp>
      <p:sp>
        <p:nvSpPr>
          <p:cNvPr id="26" name="">
            <a:extLst xmlns:a="http://schemas.openxmlformats.org/drawingml/2006/main">
              <a:ext uri="{FF2B5EF4-FFF2-40B4-BE49-F238E27FC236}">
                <a16:creationId xmlns:a16="http://schemas.microsoft.com/office/drawing/2014/main" id="{FDCAF527-19C0-49BB-A6D2-D4B733D2CE12}"/>
              </a:ext>
            </a:extLst>
          </p:cNvPr>
          <p:cNvSpPr>
            <a:spLocks xmlns:a="http://schemas.openxmlformats.org/drawingml/2006/main" noGrp="1"/>
          </p:cNvSpPr>
          <p:nvPr/>
        </p:nvSpPr>
        <p:spPr>
          <a:xfrm xmlns:a="http://schemas.openxmlformats.org/drawingml/2006/main">
            <a:off x="819150" y="30670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F28E2B"/>
                </a:solidFill>
                <a:latin typeface="Arial"/>
                <a:ea typeface="Arial"/>
                <a:cs typeface="Arial"/>
              </a:defRPr>
            </a:pPr>
            <a:r>
              <a:rPr sz="1125" b="1" i="0">
                <a:solidFill>
                  <a:srgbClr val="F28E2B"/>
                </a:solidFill>
                <a:latin typeface="Arial"/>
                <a:ea typeface="Arial"/>
                <a:cs typeface="Arial"/>
              </a:rPr>
              <a:t>rank 2</a:t>
            </a:r>
          </a:p>
        </p:txBody>
      </p:sp>
      <p:sp>
        <p:nvSpPr>
          <p:cNvPr id="27" name="">
            <a:extLst xmlns:a="http://schemas.openxmlformats.org/drawingml/2006/main">
              <a:ext uri="{FF2B5EF4-FFF2-40B4-BE49-F238E27FC236}">
                <a16:creationId xmlns:a16="http://schemas.microsoft.com/office/drawing/2014/main" id="{0360C4B6-4D06-493E-BB1B-503B5ABC12C5}"/>
              </a:ext>
            </a:extLst>
          </p:cNvPr>
          <p:cNvSpPr>
            <a:spLocks xmlns:a="http://schemas.openxmlformats.org/drawingml/2006/main" noGrp="1"/>
          </p:cNvSpPr>
          <p:nvPr/>
        </p:nvSpPr>
        <p:spPr>
          <a:xfrm xmlns:a="http://schemas.openxmlformats.org/drawingml/2006/main">
            <a:off x="16192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28" name="">
            <a:extLst xmlns:a="http://schemas.openxmlformats.org/drawingml/2006/main">
              <a:ext uri="{FF2B5EF4-FFF2-40B4-BE49-F238E27FC236}">
                <a16:creationId xmlns:a16="http://schemas.microsoft.com/office/drawing/2014/main" id="{74770FFC-0F62-4D4B-95C6-1569956D9527}"/>
              </a:ext>
            </a:extLst>
          </p:cNvPr>
          <p:cNvSpPr>
            <a:spLocks xmlns:a="http://schemas.openxmlformats.org/drawingml/2006/main" noGrp="1"/>
          </p:cNvSpPr>
          <p:nvPr/>
        </p:nvSpPr>
        <p:spPr>
          <a:xfrm xmlns:a="http://schemas.openxmlformats.org/drawingml/2006/main">
            <a:off x="16192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C2</a:t>
            </a:r>
          </a:p>
        </p:txBody>
      </p:sp>
      <p:sp>
        <p:nvSpPr>
          <p:cNvPr id="29" name="">
            <a:extLst xmlns:a="http://schemas.openxmlformats.org/drawingml/2006/main">
              <a:ext uri="{FF2B5EF4-FFF2-40B4-BE49-F238E27FC236}">
                <a16:creationId xmlns:a16="http://schemas.microsoft.com/office/drawing/2014/main" id="{99219429-8B18-4794-AD0E-6BD986DD59F6}"/>
              </a:ext>
            </a:extLst>
          </p:cNvPr>
          <p:cNvSpPr>
            <a:spLocks xmlns:a="http://schemas.openxmlformats.org/drawingml/2006/main" noGrp="1"/>
          </p:cNvSpPr>
          <p:nvPr/>
        </p:nvSpPr>
        <p:spPr>
          <a:xfrm xmlns:a="http://schemas.openxmlformats.org/drawingml/2006/main">
            <a:off x="24003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0" name="">
            <a:extLst xmlns:a="http://schemas.openxmlformats.org/drawingml/2006/main">
              <a:ext uri="{FF2B5EF4-FFF2-40B4-BE49-F238E27FC236}">
                <a16:creationId xmlns:a16="http://schemas.microsoft.com/office/drawing/2014/main" id="{C92FEB22-2682-4DB7-9CA9-0C5F1AE76F7B}"/>
              </a:ext>
            </a:extLst>
          </p:cNvPr>
          <p:cNvSpPr>
            <a:spLocks xmlns:a="http://schemas.openxmlformats.org/drawingml/2006/main" noGrp="1"/>
          </p:cNvSpPr>
          <p:nvPr/>
        </p:nvSpPr>
        <p:spPr>
          <a:xfrm xmlns:a="http://schemas.openxmlformats.org/drawingml/2006/main">
            <a:off x="24003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C5</a:t>
            </a:r>
          </a:p>
        </p:txBody>
      </p:sp>
      <p:sp>
        <p:nvSpPr>
          <p:cNvPr id="31" name="">
            <a:extLst xmlns:a="http://schemas.openxmlformats.org/drawingml/2006/main">
              <a:ext uri="{FF2B5EF4-FFF2-40B4-BE49-F238E27FC236}">
                <a16:creationId xmlns:a16="http://schemas.microsoft.com/office/drawing/2014/main" id="{8E0C5C34-9622-40C1-805B-3C6437661C69}"/>
              </a:ext>
            </a:extLst>
          </p:cNvPr>
          <p:cNvSpPr>
            <a:spLocks xmlns:a="http://schemas.openxmlformats.org/drawingml/2006/main" noGrp="1"/>
          </p:cNvSpPr>
          <p:nvPr/>
        </p:nvSpPr>
        <p:spPr>
          <a:xfrm xmlns:a="http://schemas.openxmlformats.org/drawingml/2006/main">
            <a:off x="31813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2" name="">
            <a:extLst xmlns:a="http://schemas.openxmlformats.org/drawingml/2006/main">
              <a:ext uri="{FF2B5EF4-FFF2-40B4-BE49-F238E27FC236}">
                <a16:creationId xmlns:a16="http://schemas.microsoft.com/office/drawing/2014/main" id="{0D3D74DD-911C-4611-8931-5C5A32BDDAAE}"/>
              </a:ext>
            </a:extLst>
          </p:cNvPr>
          <p:cNvSpPr>
            <a:spLocks xmlns:a="http://schemas.openxmlformats.org/drawingml/2006/main" noGrp="1"/>
          </p:cNvSpPr>
          <p:nvPr/>
        </p:nvSpPr>
        <p:spPr>
          <a:xfrm xmlns:a="http://schemas.openxmlformats.org/drawingml/2006/main">
            <a:off x="31813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C8</a:t>
            </a:r>
          </a:p>
        </p:txBody>
      </p:sp>
      <p:sp>
        <p:nvSpPr>
          <p:cNvPr id="33" name="">
            <a:extLst xmlns:a="http://schemas.openxmlformats.org/drawingml/2006/main">
              <a:ext uri="{FF2B5EF4-FFF2-40B4-BE49-F238E27FC236}">
                <a16:creationId xmlns:a16="http://schemas.microsoft.com/office/drawing/2014/main" id="{501BD853-ACF6-4BDD-90F2-5B3AB314E180}"/>
              </a:ext>
            </a:extLst>
          </p:cNvPr>
          <p:cNvSpPr>
            <a:spLocks xmlns:a="http://schemas.openxmlformats.org/drawingml/2006/main" noGrp="1"/>
          </p:cNvSpPr>
          <p:nvPr/>
        </p:nvSpPr>
        <p:spPr>
          <a:xfrm xmlns:a="http://schemas.openxmlformats.org/drawingml/2006/main">
            <a:off x="39624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4" name="">
            <a:extLst xmlns:a="http://schemas.openxmlformats.org/drawingml/2006/main">
              <a:ext uri="{FF2B5EF4-FFF2-40B4-BE49-F238E27FC236}">
                <a16:creationId xmlns:a16="http://schemas.microsoft.com/office/drawing/2014/main" id="{67E05B8C-F36C-4BA7-979F-66B5CCD5BB8B}"/>
              </a:ext>
            </a:extLst>
          </p:cNvPr>
          <p:cNvSpPr>
            <a:spLocks xmlns:a="http://schemas.openxmlformats.org/drawingml/2006/main" noGrp="1"/>
          </p:cNvSpPr>
          <p:nvPr/>
        </p:nvSpPr>
        <p:spPr>
          <a:xfrm xmlns:a="http://schemas.openxmlformats.org/drawingml/2006/main">
            <a:off x="39624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C11</a:t>
            </a:r>
          </a:p>
        </p:txBody>
      </p:sp>
      <p:sp>
        <p:nvSpPr>
          <p:cNvPr id="35" name="">
            <a:extLst xmlns:a="http://schemas.openxmlformats.org/drawingml/2006/main">
              <a:ext uri="{FF2B5EF4-FFF2-40B4-BE49-F238E27FC236}">
                <a16:creationId xmlns:a16="http://schemas.microsoft.com/office/drawing/2014/main" id="{61BF9AC3-D55C-463D-A81E-7E77666963B2}"/>
              </a:ext>
            </a:extLst>
          </p:cNvPr>
          <p:cNvSpPr>
            <a:spLocks xmlns:a="http://schemas.openxmlformats.org/drawingml/2006/main" noGrp="1"/>
          </p:cNvSpPr>
          <p:nvPr/>
        </p:nvSpPr>
        <p:spPr>
          <a:xfrm xmlns:a="http://schemas.openxmlformats.org/drawingml/2006/main">
            <a:off x="781050" y="36957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Equal-sized chunks preserve locality while mixing cheap composites and expensive large candidates across ranks.</a:t>
            </a:r>
          </a:p>
        </p:txBody>
      </p:sp>
      <p:sp>
        <p:nvSpPr>
          <p:cNvPr id="36" name="">
            <a:extLst xmlns:a="http://schemas.openxmlformats.org/drawingml/2006/main">
              <a:ext uri="{FF2B5EF4-FFF2-40B4-BE49-F238E27FC236}">
                <a16:creationId xmlns:a16="http://schemas.microsoft.com/office/drawing/2014/main" id="{3D2C922E-4F47-4D0E-8556-2147708BF334}"/>
              </a:ext>
            </a:extLst>
          </p:cNvPr>
          <p:cNvSpPr>
            <a:spLocks xmlns:a="http://schemas.openxmlformats.org/drawingml/2006/main" noGrp="1"/>
          </p:cNvSpPr>
          <p:nvPr/>
        </p:nvSpPr>
        <p:spPr>
          <a:xfrm xmlns:a="http://schemas.openxmlformats.org/drawingml/2006/main">
            <a:off x="781050" y="4457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defRPr sz="1350" b="1" i="0">
                <a:solidFill>
                  <a:srgbClr val="102A43"/>
                </a:solidFill>
                <a:latin typeface="Arial"/>
                <a:ea typeface="Arial"/>
                <a:cs typeface="Arial"/>
              </a:defRPr>
            </a:pPr>
            <a:r>
              <a:rPr sz="1350" b="1" i="0">
                <a:solidFill>
                  <a:srgbClr val="102A43"/>
                </a:solidFill>
                <a:latin typeface="Arial"/>
                <a:ea typeface="Arial"/>
                <a:cs typeface="Arial"/>
              </a:rPr>
              <a:t>Rank 0 performs an O(m log p) k-way merge and buffered output.</a:t>
            </a:r>
          </a:p>
        </p:txBody>
      </p:sp>
      <p:sp>
        <p:nvSpPr>
          <p:cNvPr id="37" name="">
            <a:extLst xmlns:a="http://schemas.openxmlformats.org/drawingml/2006/main">
              <a:ext uri="{FF2B5EF4-FFF2-40B4-BE49-F238E27FC236}">
                <a16:creationId xmlns:a16="http://schemas.microsoft.com/office/drawing/2014/main" id="{FB8E2D47-35BD-4C71-88FE-309A61AD9FDA}"/>
              </a:ext>
            </a:extLst>
          </p:cNvPr>
          <p:cNvSpPr>
            <a:spLocks xmlns:a="http://schemas.openxmlformats.org/drawingml/2006/main" noGrp="1"/>
          </p:cNvSpPr>
          <p:nvPr/>
        </p:nvSpPr>
        <p:spPr>
          <a:xfrm xmlns:a="http://schemas.openxmlformats.org/drawingml/2006/main">
            <a:off x="6057900" y="1200150"/>
            <a:ext cx="558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Measured computation-time imbalance (max / min)</a:t>
            </a:r>
          </a:p>
        </p:txBody>
      </p:sp>
      <p:graphicFrame>
        <p:nvGraphicFramePr>
          <p:cNvPr id="79" name=""/>
          <p:cNvGraphicFramePr/>
          <p:nvPr/>
        </p:nvGraphicFramePr>
        <p:xfrm>
          <a:off xmlns:a="http://schemas.openxmlformats.org/drawingml/2006/main" x="6057900" y="1619250"/>
          <a:ext xmlns:a="http://schemas.openxmlformats.org/drawingml/2006/main" cx="5581650" cy="2019300"/>
        </p:xfrm>
        <a:graphic xmlns:a="http://schemas.openxmlformats.org/drawingml/2006/main">
          <a:graphicData uri="http://schemas.openxmlformats.org/drawingml/2006/table">
            <a:tbl>
              <a:tblPr firstRow="1" bandRow="0"/>
              <a:tblGrid>
                <a:gridCol w="2000250"/>
                <a:gridCol w="1190625"/>
                <a:gridCol w="1190625"/>
                <a:gridCol w="1200150"/>
              </a:tblGrid>
              <a:tr h="504825">
                <a:tc>
                  <a:txBody>
                    <a:bodyPr/>
                    <a:lstStyle/>
                    <a:p>
                      <a:r>
                        <a:rPr sz="900" b="1">
                          <a:solidFill>
                            <a:srgbClr val="FFFFFF"/>
                          </a:solidFill>
                          <a:latin typeface="Arial"/>
                          <a:ea typeface="Arial"/>
                          <a:cs typeface="Arial"/>
                        </a:rPr>
                        <a:t>Strategy</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3</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4</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5</a:t>
                      </a:r>
                    </a:p>
                  </a:txBody>
                  <a:tcPr marL="76200" marR="76200" marT="57150" marB="57150" anchor="ctr">
                    <a:solidFill>
                      <a:srgbClr val="005F66"/>
                    </a:solidFill>
                  </a:tcPr>
                </a:tc>
              </a:tr>
              <a:tr h="504825">
                <a:tc>
                  <a:txBody>
                    <a:bodyPr/>
                    <a:lstStyle/>
                    <a:p>
                      <a:r>
                        <a:rPr sz="975">
                          <a:solidFill>
                            <a:srgbClr val="102A43"/>
                          </a:solidFill>
                          <a:latin typeface="Arial"/>
                          <a:ea typeface="Arial"/>
                          <a:cs typeface="Arial"/>
                        </a:rPr>
                        <a:t>Block-cyclic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1.05</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Pure 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a:t>
                      </a:r>
                    </a:p>
                  </a:txBody>
                  <a:tcPr marL="76200" marR="76200" marT="47625" marB="47625" anchor="ctr">
                    <a:solidFill>
                      <a:srgbClr val="FFFFFF"/>
                    </a:solidFill>
                  </a:tcPr>
                </a:tc>
                <a:tc>
                  <a:txBody>
                    <a:bodyPr/>
                    <a:lstStyle/>
                    <a:p>
                      <a:r>
                        <a:rPr sz="975">
                          <a:solidFill>
                            <a:srgbClr val="102A43"/>
                          </a:solidFill>
                          <a:latin typeface="Arial"/>
                          <a:ea typeface="Arial"/>
                          <a:cs typeface="Arial"/>
                        </a:rPr>
                        <a:t>1.03</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Contiguous block</a:t>
                      </a:r>
                    </a:p>
                  </a:txBody>
                  <a:tcPr marL="76200" marR="76200" marT="47625" marB="47625" anchor="ctr">
                    <a:solidFill>
                      <a:srgbClr val="FFFFFF"/>
                    </a:solidFill>
                  </a:tcPr>
                </a:tc>
                <a:tc>
                  <a:txBody>
                    <a:bodyPr/>
                    <a:lstStyle/>
                    <a:p>
                      <a:r>
                        <a:rPr sz="975">
                          <a:solidFill>
                            <a:srgbClr val="102A43"/>
                          </a:solidFill>
                          <a:latin typeface="Arial"/>
                          <a:ea typeface="Arial"/>
                          <a:cs typeface="Arial"/>
                        </a:rPr>
                        <a:t>2.20</a:t>
                      </a:r>
                    </a:p>
                  </a:txBody>
                  <a:tcPr marL="76200" marR="76200" marT="47625" marB="47625" anchor="ctr">
                    <a:solidFill>
                      <a:srgbClr val="FFFFFF"/>
                    </a:solidFill>
                  </a:tcPr>
                </a:tc>
                <a:tc>
                  <a:txBody>
                    <a:bodyPr/>
                    <a:lstStyle/>
                    <a:p>
                      <a:r>
                        <a:rPr sz="975">
                          <a:solidFill>
                            <a:srgbClr val="102A43"/>
                          </a:solidFill>
                          <a:latin typeface="Arial"/>
                          <a:ea typeface="Arial"/>
                          <a:cs typeface="Arial"/>
                        </a:rPr>
                        <a:t>2.61</a:t>
                      </a:r>
                    </a:p>
                  </a:txBody>
                  <a:tcPr marL="76200" marR="76200" marT="47625" marB="47625" anchor="ctr">
                    <a:solidFill>
                      <a:srgbClr val="FFFFFF"/>
                    </a:solidFill>
                  </a:tcPr>
                </a:tc>
                <a:tc>
                  <a:txBody>
                    <a:bodyPr/>
                    <a:lstStyle/>
                    <a:p>
                      <a:r>
                        <a:rPr sz="975">
                          <a:solidFill>
                            <a:srgbClr val="102A43"/>
                          </a:solidFill>
                          <a:latin typeface="Arial"/>
                          <a:ea typeface="Arial"/>
                          <a:cs typeface="Arial"/>
                        </a:rPr>
                        <a:t>2.78</a:t>
                      </a:r>
                    </a:p>
                  </a:txBody>
                  <a:tcPr marL="76200" marR="76200" marT="47625" marB="47625" anchor="ctr">
                    <a:solidFill>
                      <a:srgbClr val="FFFFFF"/>
                    </a:solidFill>
                  </a:tcPr>
                </a:tc>
              </a:tr>
            </a:tbl>
          </a:graphicData>
        </a:graphic>
      </p:graphicFrame>
      <p:sp>
        <p:nvSpPr>
          <p:cNvPr id="39" name="">
            <a:extLst xmlns:a="http://schemas.openxmlformats.org/drawingml/2006/main">
              <a:ext uri="{FF2B5EF4-FFF2-40B4-BE49-F238E27FC236}">
                <a16:creationId xmlns:a16="http://schemas.microsoft.com/office/drawing/2014/main" id="{F399C926-3EDC-48FB-AE4F-35FABAB4096F}"/>
              </a:ext>
            </a:extLst>
          </p:cNvPr>
          <p:cNvSpPr>
            <a:spLocks xmlns:a="http://schemas.openxmlformats.org/drawingml/2006/main" noGrp="1"/>
          </p:cNvSpPr>
          <p:nvPr/>
        </p:nvSpPr>
        <p:spPr>
          <a:xfrm xmlns:a="http://schemas.openxmlformats.org/drawingml/2006/main">
            <a:off x="6057900" y="3943350"/>
            <a:ext cx="5581650" cy="1390650"/>
          </a:xfrm>
          <a:prstGeom xmlns:a="http://schemas.openxmlformats.org/drawingml/2006/main" prst="roundRect">
            <a:avLst>
              <a:gd name="adj" fmla="val 5479"/>
            </a:avLst>
          </a:prstGeom>
          <a:solidFill xmlns:a="http://schemas.openxmlformats.org/drawingml/2006/main">
            <a:srgbClr val="FFF5E6"/>
          </a:solidFill>
          <a:ln xmlns:a="http://schemas.openxmlformats.org/drawingml/2006/main" w="9525">
            <a:solidFill>
              <a:srgbClr val="F5C98A"/>
            </a:solidFill>
          </a:ln>
        </p:spPr>
      </p:sp>
      <p:sp>
        <p:nvSpPr>
          <p:cNvPr id="40" name="">
            <a:extLst xmlns:a="http://schemas.openxmlformats.org/drawingml/2006/main">
              <a:ext uri="{FF2B5EF4-FFF2-40B4-BE49-F238E27FC236}">
                <a16:creationId xmlns:a16="http://schemas.microsoft.com/office/drawing/2014/main" id="{FA993493-6095-483D-A46A-675496C52D44}"/>
              </a:ext>
            </a:extLst>
          </p:cNvPr>
          <p:cNvSpPr>
            <a:spLocks xmlns:a="http://schemas.openxmlformats.org/drawingml/2006/main" noGrp="1"/>
          </p:cNvSpPr>
          <p:nvPr/>
        </p:nvSpPr>
        <p:spPr>
          <a:xfrm xmlns:a="http://schemas.openxmlformats.org/drawingml/2006/main">
            <a:off x="6286500" y="415290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7544"/>
          </a:bodyPr>
          <a:lstStyle xmlns:a="http://schemas.openxmlformats.org/drawingml/2006/main"/>
          <a:p xmlns:a="http://schemas.openxmlformats.org/drawingml/2006/main">
            <a:pPr algn="l">
              <a:defRPr sz="1425" b="1" i="0">
                <a:solidFill>
                  <a:srgbClr val="8A4B08"/>
                </a:solidFill>
                <a:latin typeface="Arial"/>
                <a:ea typeface="Arial"/>
                <a:cs typeface="Arial"/>
              </a:defRPr>
            </a:pPr>
            <a:r>
              <a:rPr sz="1425" b="1" i="0">
                <a:solidFill>
                  <a:srgbClr val="8A4B08"/>
                </a:solidFill>
                <a:latin typeface="Arial"/>
                <a:ea typeface="Arial"/>
                <a:cs typeface="Arial"/>
              </a:rPr>
              <a:t>Why this is the selected partition</a:t>
            </a:r>
          </a:p>
        </p:txBody>
      </p:sp>
      <p:sp>
        <p:nvSpPr>
          <p:cNvPr id="41" name="">
            <a:extLst xmlns:a="http://schemas.openxmlformats.org/drawingml/2006/main">
              <a:ext uri="{FF2B5EF4-FFF2-40B4-BE49-F238E27FC236}">
                <a16:creationId xmlns:a16="http://schemas.microsoft.com/office/drawing/2014/main" id="{7CFE2B7A-12FF-410B-93BF-B8E58B0ACF44}"/>
              </a:ext>
            </a:extLst>
          </p:cNvPr>
          <p:cNvSpPr>
            <a:spLocks xmlns:a="http://schemas.openxmlformats.org/drawingml/2006/main" noGrp="1"/>
          </p:cNvSpPr>
          <p:nvPr/>
        </p:nvSpPr>
        <p:spPr>
          <a:xfrm xmlns:a="http://schemas.openxmlformats.org/drawingml/2006/main">
            <a:off x="6286500" y="45148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93"/>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It had the lowest worst-case imbalance among the three measured strategies: ≤ 1.06 for p = 3–5. Pure cyclic collapses at odd p because divisibility patterns align with rank strides.</a:t>
            </a:r>
          </a:p>
        </p:txBody>
      </p:sp>
    </p:spTree>
    <p:extLst>
      <p:ext uri="{BB962C8B-B14F-4D97-AF65-F5344CB8AC3E}">
        <p14:creationId xmlns:p14="http://schemas.microsoft.com/office/powerpoint/2010/main" val="1797805802"/>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5552A1-40F6-420E-BE91-01C78B8C9BC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A0092FA4-2677-454A-8BE6-078722414A16}"/>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642B2042-8635-4F19-875D-F846743ACB71}"/>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1 — runtime across 30 problem sizes</a:t>
            </a:r>
          </a:p>
        </p:txBody>
      </p:sp>
      <p:sp>
        <p:nvSpPr>
          <p:cNvPr id="4" name="">
            <a:extLst xmlns:a="http://schemas.openxmlformats.org/drawingml/2006/main">
              <a:ext uri="{FF2B5EF4-FFF2-40B4-BE49-F238E27FC236}">
                <a16:creationId xmlns:a16="http://schemas.microsoft.com/office/drawing/2014/main" id="{3F83D4E1-78FA-4A3C-8FF6-998215741C98}"/>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4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6065d1b4b711463e"/>
          </a:graphicData>
        </a:graphic>
      </p:graphicFrame>
      <p:sp>
        <p:nvSpPr>
          <p:cNvPr id="6" name="">
            <a:extLst xmlns:a="http://schemas.openxmlformats.org/drawingml/2006/main">
              <a:ext uri="{FF2B5EF4-FFF2-40B4-BE49-F238E27FC236}">
                <a16:creationId xmlns:a16="http://schemas.microsoft.com/office/drawing/2014/main" id="{EB39E755-A0AB-4C7D-9F0B-E96438883B35}"/>
              </a:ext>
            </a:extLst>
          </p:cNvPr>
          <p:cNvSpPr>
            <a:spLocks xmlns:a="http://schemas.openxmlformats.org/drawingml/2006/main" noGrp="1"/>
          </p:cNvSpPr>
          <p:nvPr/>
        </p:nvSpPr>
        <p:spPr>
          <a:xfrm xmlns:a="http://schemas.openxmlformats.org/drawingml/2006/main">
            <a:off x="2524125" y="5753100"/>
            <a:ext cx="7143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51FD8472-FAA4-4BA7-A2CE-EBCE1253DB1D}"/>
              </a:ext>
            </a:extLst>
          </p:cNvPr>
          <p:cNvSpPr>
            <a:spLocks xmlns:a="http://schemas.openxmlformats.org/drawingml/2006/main" noGrp="1"/>
          </p:cNvSpPr>
          <p:nvPr/>
        </p:nvSpPr>
        <p:spPr>
          <a:xfrm xmlns:a="http://schemas.openxmlformats.org/drawingml/2006/main">
            <a:off x="2695575" y="58769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All 30 values are shown; no run is below one second.</a:t>
            </a:r>
          </a:p>
        </p:txBody>
      </p:sp>
    </p:spTree>
    <p:extLst>
      <p:ext uri="{BB962C8B-B14F-4D97-AF65-F5344CB8AC3E}">
        <p14:creationId xmlns:p14="http://schemas.microsoft.com/office/powerpoint/2010/main" val="1411460109"/>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78BA87-2B67-4BBE-B1C2-D2338D04776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2F04801D-A89E-4697-B15B-A48EE3E7B9C1}"/>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49A8FF73-B214-45F3-9713-F0FA0A1D40F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2 — speedup across 30 problem sizes</a:t>
            </a:r>
          </a:p>
        </p:txBody>
      </p:sp>
      <p:sp>
        <p:nvSpPr>
          <p:cNvPr id="4" name="">
            <a:extLst xmlns:a="http://schemas.openxmlformats.org/drawingml/2006/main">
              <a:ext uri="{FF2B5EF4-FFF2-40B4-BE49-F238E27FC236}">
                <a16:creationId xmlns:a16="http://schemas.microsoft.com/office/drawing/2014/main" id="{34FF38A1-467B-42E7-BFD9-EC3EC7DEE523}"/>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5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941b8ccbec354e13"/>
          </a:graphicData>
        </a:graphic>
      </p:graphicFrame>
      <p:sp>
        <p:nvSpPr>
          <p:cNvPr id="6" name="">
            <a:extLst xmlns:a="http://schemas.openxmlformats.org/drawingml/2006/main">
              <a:ext uri="{FF2B5EF4-FFF2-40B4-BE49-F238E27FC236}">
                <a16:creationId xmlns:a16="http://schemas.microsoft.com/office/drawing/2014/main" id="{EE87A13E-B808-4C34-995C-4527CE13B3B4}"/>
              </a:ext>
            </a:extLst>
          </p:cNvPr>
          <p:cNvSpPr>
            <a:spLocks xmlns:a="http://schemas.openxmlformats.org/drawingml/2006/main" noGrp="1"/>
          </p:cNvSpPr>
          <p:nvPr/>
        </p:nvSpPr>
        <p:spPr>
          <a:xfrm xmlns:a="http://schemas.openxmlformats.org/drawingml/2006/main">
            <a:off x="1381125" y="5753100"/>
            <a:ext cx="9429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385E50BA-0AFA-4CE3-AE74-0D9852A81299}"/>
              </a:ext>
            </a:extLst>
          </p:cNvPr>
          <p:cNvSpPr>
            <a:spLocks xmlns:a="http://schemas.openxmlformats.org/drawingml/2006/main" noGrp="1"/>
          </p:cNvSpPr>
          <p:nvPr/>
        </p:nvSpPr>
        <p:spPr>
          <a:xfrm xmlns:a="http://schemas.openxmlformats.org/drawingml/2006/main">
            <a:off x="1552575" y="5876925"/>
            <a:ext cx="908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MPI stays near 3.3–3.6× at four processes; the OpenMP series is noisier but uses its own matched serial session.</a:t>
            </a:r>
          </a:p>
        </p:txBody>
      </p:sp>
    </p:spTree>
    <p:extLst>
      <p:ext uri="{BB962C8B-B14F-4D97-AF65-F5344CB8AC3E}">
        <p14:creationId xmlns:p14="http://schemas.microsoft.com/office/powerpoint/2010/main" val="333519449"/>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714586-6DAF-4E9F-A5B7-7E145758D61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0F9EA3A6-1EE7-41B3-9A10-9B87EEBA4DD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2EEDDAF2-432F-46F5-9E86-E894D4F32942}"/>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3 and 6 — Task 1 scaling and Amdahl comparison</a:t>
            </a:r>
          </a:p>
        </p:txBody>
      </p:sp>
      <p:sp>
        <p:nvSpPr>
          <p:cNvPr id="4" name="">
            <a:extLst xmlns:a="http://schemas.openxmlformats.org/drawingml/2006/main">
              <a:ext uri="{FF2B5EF4-FFF2-40B4-BE49-F238E27FC236}">
                <a16:creationId xmlns:a16="http://schemas.microsoft.com/office/drawing/2014/main" id="{341268DD-FC8F-43B2-9698-52A31FA1D90B}"/>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6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796836dee4e44dff"/>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66e659beccee4780"/>
          </a:graphicData>
        </a:graphic>
      </p:graphicFrame>
      <p:sp>
        <p:nvSpPr>
          <p:cNvPr id="7" name="">
            <a:extLst xmlns:a="http://schemas.openxmlformats.org/drawingml/2006/main">
              <a:ext uri="{FF2B5EF4-FFF2-40B4-BE49-F238E27FC236}">
                <a16:creationId xmlns:a16="http://schemas.microsoft.com/office/drawing/2014/main" id="{D9B37357-96EA-4661-A133-D9D831EB9095}"/>
              </a:ext>
            </a:extLst>
          </p:cNvPr>
          <p:cNvSpPr>
            <a:spLocks xmlns:a="http://schemas.openxmlformats.org/drawingml/2006/main" noGrp="1"/>
          </p:cNvSpPr>
          <p:nvPr/>
        </p:nvSpPr>
        <p:spPr>
          <a:xfrm xmlns:a="http://schemas.openxmlformats.org/drawingml/2006/main">
            <a:off x="1095375" y="5619750"/>
            <a:ext cx="100012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5C86443A-2499-462C-A16F-56B7F32AFD69}"/>
              </a:ext>
            </a:extLst>
          </p:cNvPr>
          <p:cNvSpPr>
            <a:spLocks xmlns:a="http://schemas.openxmlformats.org/drawingml/2006/main" noGrp="1"/>
          </p:cNvSpPr>
          <p:nvPr/>
        </p:nvSpPr>
        <p:spPr>
          <a:xfrm xmlns:a="http://schemas.openxmlformats.org/drawingml/2006/main">
            <a:off x="1266825" y="5743575"/>
            <a:ext cx="965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At p = 16: 6.02× empirical versus 12.67× Amdahl — collectives, contention and root-only output are not in the ideal model.</a:t>
            </a:r>
          </a:p>
        </p:txBody>
      </p:sp>
    </p:spTree>
    <p:extLst>
      <p:ext uri="{BB962C8B-B14F-4D97-AF65-F5344CB8AC3E}">
        <p14:creationId xmlns:p14="http://schemas.microsoft.com/office/powerpoint/2010/main" val="257345169"/>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DCAABCE-17B7-4770-A0D8-3839647CC18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CECB2582-8147-4F07-A49D-8E5E068AF678}"/>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F1AC2F3B-82AA-400E-8AF3-36136F6DDC9C}"/>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2: hybrid decomposition and measured balance</a:t>
            </a:r>
          </a:p>
        </p:txBody>
      </p:sp>
      <p:sp>
        <p:nvSpPr>
          <p:cNvPr id="4" name="">
            <a:extLst xmlns:a="http://schemas.openxmlformats.org/drawingml/2006/main">
              <a:ext uri="{FF2B5EF4-FFF2-40B4-BE49-F238E27FC236}">
                <a16:creationId xmlns:a16="http://schemas.microsoft.com/office/drawing/2014/main" id="{F3DAB1C5-7FB5-4CFA-8A62-7051E621F2E0}"/>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7 / 9</a:t>
            </a:r>
          </a:p>
        </p:txBody>
      </p:sp>
      <p:sp>
        <p:nvSpPr>
          <p:cNvPr id="5" name="">
            <a:extLst xmlns:a="http://schemas.openxmlformats.org/drawingml/2006/main">
              <a:ext uri="{FF2B5EF4-FFF2-40B4-BE49-F238E27FC236}">
                <a16:creationId xmlns:a16="http://schemas.microsoft.com/office/drawing/2014/main" id="{3227E86F-4727-4E58-A976-B7A15070570D}"/>
              </a:ext>
            </a:extLst>
          </p:cNvPr>
          <p:cNvSpPr>
            <a:spLocks xmlns:a="http://schemas.openxmlformats.org/drawingml/2006/main" noGrp="1"/>
          </p:cNvSpPr>
          <p:nvPr/>
        </p:nvSpPr>
        <p:spPr>
          <a:xfrm xmlns:a="http://schemas.openxmlformats.org/drawingml/2006/main">
            <a:off x="552450" y="1162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Two-level parallelism</a:t>
            </a:r>
          </a:p>
        </p:txBody>
      </p:sp>
      <p:sp>
        <p:nvSpPr>
          <p:cNvPr id="6" name="">
            <a:extLst xmlns:a="http://schemas.openxmlformats.org/drawingml/2006/main">
              <a:ext uri="{FF2B5EF4-FFF2-40B4-BE49-F238E27FC236}">
                <a16:creationId xmlns:a16="http://schemas.microsoft.com/office/drawing/2014/main" id="{F5D28D5B-7A63-4177-947B-12CD6B800706}"/>
              </a:ext>
            </a:extLst>
          </p:cNvPr>
          <p:cNvSpPr>
            <a:spLocks xmlns:a="http://schemas.openxmlformats.org/drawingml/2006/main" noGrp="1"/>
          </p:cNvSpPr>
          <p:nvPr/>
        </p:nvSpPr>
        <p:spPr>
          <a:xfrm xmlns:a="http://schemas.openxmlformats.org/drawingml/2006/main">
            <a:off x="55245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7A67F76D-8C0F-4705-ACBB-E8630DAE70E0}"/>
              </a:ext>
            </a:extLst>
          </p:cNvPr>
          <p:cNvSpPr>
            <a:spLocks xmlns:a="http://schemas.openxmlformats.org/drawingml/2006/main" noGrp="1"/>
          </p:cNvSpPr>
          <p:nvPr/>
        </p:nvSpPr>
        <p:spPr>
          <a:xfrm xmlns:a="http://schemas.openxmlformats.org/drawingml/2006/main">
            <a:off x="66675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3B6FB6"/>
                </a:solidFill>
                <a:latin typeface="Arial"/>
                <a:ea typeface="Arial"/>
                <a:cs typeface="Arial"/>
              </a:defRPr>
            </a:pPr>
            <a:r>
              <a:rPr sz="1575" b="1" i="0">
                <a:solidFill>
                  <a:srgbClr val="3B6FB6"/>
                </a:solidFill>
                <a:latin typeface="Arial"/>
                <a:ea typeface="Arial"/>
                <a:cs typeface="Arial"/>
              </a:rPr>
              <a:t>MPI</a:t>
            </a:r>
          </a:p>
        </p:txBody>
      </p:sp>
      <p:sp>
        <p:nvSpPr>
          <p:cNvPr id="8" name="">
            <a:extLst xmlns:a="http://schemas.openxmlformats.org/drawingml/2006/main">
              <a:ext uri="{FF2B5EF4-FFF2-40B4-BE49-F238E27FC236}">
                <a16:creationId xmlns:a16="http://schemas.microsoft.com/office/drawing/2014/main" id="{1668F0F2-9234-4A97-9BF8-A7ADB0D384FB}"/>
              </a:ext>
            </a:extLst>
          </p:cNvPr>
          <p:cNvSpPr>
            <a:spLocks xmlns:a="http://schemas.openxmlformats.org/drawingml/2006/main" noGrp="1"/>
          </p:cNvSpPr>
          <p:nvPr/>
        </p:nvSpPr>
        <p:spPr>
          <a:xfrm xmlns:a="http://schemas.openxmlformats.org/drawingml/2006/main">
            <a:off x="66675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63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block-cyclic chunks</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across processes</a:t>
            </a:r>
          </a:p>
        </p:txBody>
      </p:sp>
      <p:sp>
        <p:nvSpPr>
          <p:cNvPr id="9" name="">
            <a:extLst xmlns:a="http://schemas.openxmlformats.org/drawingml/2006/main">
              <a:ext uri="{FF2B5EF4-FFF2-40B4-BE49-F238E27FC236}">
                <a16:creationId xmlns:a16="http://schemas.microsoft.com/office/drawing/2014/main" id="{7FF5B276-4D23-46E9-90AE-033BAC95C182}"/>
              </a:ext>
            </a:extLst>
          </p:cNvPr>
          <p:cNvSpPr>
            <a:spLocks xmlns:a="http://schemas.openxmlformats.org/drawingml/2006/main" noGrp="1"/>
          </p:cNvSpPr>
          <p:nvPr/>
        </p:nvSpPr>
        <p:spPr>
          <a:xfrm xmlns:a="http://schemas.openxmlformats.org/drawingml/2006/main">
            <a:off x="2047875"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7777D6D-B372-4A9F-9377-6CBCF3484AF5}"/>
              </a:ext>
            </a:extLst>
          </p:cNvPr>
          <p:cNvSpPr>
            <a:spLocks xmlns:a="http://schemas.openxmlformats.org/drawingml/2006/main" noGrp="1"/>
          </p:cNvSpPr>
          <p:nvPr/>
        </p:nvSpPr>
        <p:spPr>
          <a:xfrm xmlns:a="http://schemas.openxmlformats.org/drawingml/2006/main">
            <a:off x="2295525"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007C83"/>
            </a:solidFill>
          </a:ln>
        </p:spPr>
      </p:sp>
      <p:sp>
        <p:nvSpPr>
          <p:cNvPr id="11" name="">
            <a:extLst xmlns:a="http://schemas.openxmlformats.org/drawingml/2006/main">
              <a:ext uri="{FF2B5EF4-FFF2-40B4-BE49-F238E27FC236}">
                <a16:creationId xmlns:a16="http://schemas.microsoft.com/office/drawing/2014/main" id="{02F0DED6-F60D-4BB2-B517-F6AA77F309C3}"/>
              </a:ext>
            </a:extLst>
          </p:cNvPr>
          <p:cNvSpPr>
            <a:spLocks xmlns:a="http://schemas.openxmlformats.org/drawingml/2006/main" noGrp="1"/>
          </p:cNvSpPr>
          <p:nvPr/>
        </p:nvSpPr>
        <p:spPr>
          <a:xfrm xmlns:a="http://schemas.openxmlformats.org/drawingml/2006/main">
            <a:off x="2409825"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007C83"/>
                </a:solidFill>
                <a:latin typeface="Arial"/>
                <a:ea typeface="Arial"/>
                <a:cs typeface="Arial"/>
              </a:defRPr>
            </a:pPr>
            <a:r>
              <a:rPr sz="1575" b="1" i="0">
                <a:solidFill>
                  <a:srgbClr val="007C83"/>
                </a:solidFill>
                <a:latin typeface="Arial"/>
                <a:ea typeface="Arial"/>
                <a:cs typeface="Arial"/>
              </a:rPr>
              <a:t>OpenMP</a:t>
            </a:r>
          </a:p>
        </p:txBody>
      </p:sp>
      <p:sp>
        <p:nvSpPr>
          <p:cNvPr id="12" name="">
            <a:extLst xmlns:a="http://schemas.openxmlformats.org/drawingml/2006/main">
              <a:ext uri="{FF2B5EF4-FFF2-40B4-BE49-F238E27FC236}">
                <a16:creationId xmlns:a16="http://schemas.microsoft.com/office/drawing/2014/main" id="{94CD0F93-27EA-4301-A124-C62B01024801}"/>
              </a:ext>
            </a:extLst>
          </p:cNvPr>
          <p:cNvSpPr>
            <a:spLocks xmlns:a="http://schemas.openxmlformats.org/drawingml/2006/main" noGrp="1"/>
          </p:cNvSpPr>
          <p:nvPr/>
        </p:nvSpPr>
        <p:spPr>
          <a:xfrm xmlns:a="http://schemas.openxmlformats.org/drawingml/2006/main">
            <a:off x="2409825"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97"/>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dynamic schedule(64)</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inside each process</a:t>
            </a:r>
          </a:p>
        </p:txBody>
      </p:sp>
      <p:sp>
        <p:nvSpPr>
          <p:cNvPr id="13" name="">
            <a:extLst xmlns:a="http://schemas.openxmlformats.org/drawingml/2006/main">
              <a:ext uri="{FF2B5EF4-FFF2-40B4-BE49-F238E27FC236}">
                <a16:creationId xmlns:a16="http://schemas.microsoft.com/office/drawing/2014/main" id="{402E2C1E-090D-436A-AAE3-6B996BB7F054}"/>
              </a:ext>
            </a:extLst>
          </p:cNvPr>
          <p:cNvSpPr>
            <a:spLocks xmlns:a="http://schemas.openxmlformats.org/drawingml/2006/main" noGrp="1"/>
          </p:cNvSpPr>
          <p:nvPr/>
        </p:nvSpPr>
        <p:spPr>
          <a:xfrm xmlns:a="http://schemas.openxmlformats.org/drawingml/2006/main">
            <a:off x="3790950"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615A1D20-3897-4043-9E43-7F834BA69323}"/>
              </a:ext>
            </a:extLst>
          </p:cNvPr>
          <p:cNvSpPr>
            <a:spLocks xmlns:a="http://schemas.openxmlformats.org/drawingml/2006/main" noGrp="1"/>
          </p:cNvSpPr>
          <p:nvPr/>
        </p:nvSpPr>
        <p:spPr>
          <a:xfrm xmlns:a="http://schemas.openxmlformats.org/drawingml/2006/main">
            <a:off x="403860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F28E2B"/>
            </a:solidFill>
          </a:ln>
        </p:spPr>
      </p:sp>
      <p:sp>
        <p:nvSpPr>
          <p:cNvPr id="15" name="">
            <a:extLst xmlns:a="http://schemas.openxmlformats.org/drawingml/2006/main">
              <a:ext uri="{FF2B5EF4-FFF2-40B4-BE49-F238E27FC236}">
                <a16:creationId xmlns:a16="http://schemas.microsoft.com/office/drawing/2014/main" id="{26EA54E6-489D-4AB8-A01E-E8D2C8AAC9DD}"/>
              </a:ext>
            </a:extLst>
          </p:cNvPr>
          <p:cNvSpPr>
            <a:spLocks xmlns:a="http://schemas.openxmlformats.org/drawingml/2006/main" noGrp="1"/>
          </p:cNvSpPr>
          <p:nvPr/>
        </p:nvSpPr>
        <p:spPr>
          <a:xfrm xmlns:a="http://schemas.openxmlformats.org/drawingml/2006/main">
            <a:off x="415290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F28E2B"/>
                </a:solidFill>
                <a:latin typeface="Arial"/>
                <a:ea typeface="Arial"/>
                <a:cs typeface="Arial"/>
              </a:defRPr>
            </a:pPr>
            <a:r>
              <a:rPr sz="1575" b="1" i="0">
                <a:solidFill>
                  <a:srgbClr val="F28E2B"/>
                </a:solidFill>
                <a:latin typeface="Arial"/>
                <a:ea typeface="Arial"/>
                <a:cs typeface="Arial"/>
              </a:rPr>
              <a:t>Rank 0</a:t>
            </a:r>
          </a:p>
        </p:txBody>
      </p:sp>
      <p:sp>
        <p:nvSpPr>
          <p:cNvPr id="16" name="">
            <a:extLst xmlns:a="http://schemas.openxmlformats.org/drawingml/2006/main">
              <a:ext uri="{FF2B5EF4-FFF2-40B4-BE49-F238E27FC236}">
                <a16:creationId xmlns:a16="http://schemas.microsoft.com/office/drawing/2014/main" id="{6D01BAC2-35A8-4EDE-A382-52E4E5FB3275}"/>
              </a:ext>
            </a:extLst>
          </p:cNvPr>
          <p:cNvSpPr>
            <a:spLocks xmlns:a="http://schemas.openxmlformats.org/drawingml/2006/main" noGrp="1"/>
          </p:cNvSpPr>
          <p:nvPr/>
        </p:nvSpPr>
        <p:spPr>
          <a:xfrm xmlns:a="http://schemas.openxmlformats.org/drawingml/2006/main">
            <a:off x="415290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k-way merge +</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buffered output</a:t>
            </a:r>
          </a:p>
        </p:txBody>
      </p:sp>
      <p:sp>
        <p:nvSpPr>
          <p:cNvPr id="17" name="">
            <a:extLst xmlns:a="http://schemas.openxmlformats.org/drawingml/2006/main">
              <a:ext uri="{FF2B5EF4-FFF2-40B4-BE49-F238E27FC236}">
                <a16:creationId xmlns:a16="http://schemas.microsoft.com/office/drawing/2014/main" id="{6274C742-2BC3-44C6-A1C6-1A1CC8C81427}"/>
              </a:ext>
            </a:extLst>
          </p:cNvPr>
          <p:cNvSpPr>
            <a:spLocks xmlns:a="http://schemas.openxmlformats.org/drawingml/2006/main" noGrp="1"/>
          </p:cNvSpPr>
          <p:nvPr/>
        </p:nvSpPr>
        <p:spPr>
          <a:xfrm xmlns:a="http://schemas.openxmlformats.org/drawingml/2006/main">
            <a:off x="552450" y="3314700"/>
            <a:ext cx="4962525" cy="2000250"/>
          </a:xfrm>
          <a:prstGeom xmlns:a="http://schemas.openxmlformats.org/drawingml/2006/main" prst="roundRect">
            <a:avLst>
              <a:gd name="adj" fmla="val 3810"/>
            </a:avLst>
          </a:prstGeom>
          <a:solidFill xmlns:a="http://schemas.openxmlformats.org/drawingml/2006/main">
            <a:srgbClr val="E6FFFA"/>
          </a:solidFill>
          <a:ln xmlns:a="http://schemas.openxmlformats.org/drawingml/2006/main" w="9525">
            <a:solidFill>
              <a:srgbClr val="9ED9D5"/>
            </a:solidFill>
          </a:ln>
        </p:spPr>
      </p:sp>
      <p:sp>
        <p:nvSpPr>
          <p:cNvPr id="18" name="">
            <a:extLst xmlns:a="http://schemas.openxmlformats.org/drawingml/2006/main">
              <a:ext uri="{FF2B5EF4-FFF2-40B4-BE49-F238E27FC236}">
                <a16:creationId xmlns:a16="http://schemas.microsoft.com/office/drawing/2014/main" id="{1ED70284-98EE-464F-AE38-319FE6C08144}"/>
              </a:ext>
            </a:extLst>
          </p:cNvPr>
          <p:cNvSpPr>
            <a:spLocks xmlns:a="http://schemas.openxmlformats.org/drawingml/2006/main" noGrp="1"/>
          </p:cNvSpPr>
          <p:nvPr/>
        </p:nvSpPr>
        <p:spPr>
          <a:xfrm xmlns:a="http://schemas.openxmlformats.org/drawingml/2006/main">
            <a:off x="781050" y="35433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005F66"/>
                </a:solidFill>
                <a:latin typeface="Arial"/>
                <a:ea typeface="Arial"/>
                <a:cs typeface="Arial"/>
              </a:defRPr>
            </a:pPr>
            <a:r>
              <a:rPr sz="1425" b="1" i="0">
                <a:solidFill>
                  <a:srgbClr val="005F66"/>
                </a:solidFill>
                <a:latin typeface="Arial"/>
                <a:ea typeface="Arial"/>
                <a:cs typeface="Arial"/>
              </a:rPr>
              <a:t>Why dynamic scheduling remains useful</a:t>
            </a:r>
          </a:p>
        </p:txBody>
      </p:sp>
      <p:sp>
        <p:nvSpPr>
          <p:cNvPr id="19" name="">
            <a:extLst xmlns:a="http://schemas.openxmlformats.org/drawingml/2006/main">
              <a:ext uri="{FF2B5EF4-FFF2-40B4-BE49-F238E27FC236}">
                <a16:creationId xmlns:a16="http://schemas.microsoft.com/office/drawing/2014/main" id="{23EF90B0-4D19-447B-8D41-E6A78D8155B0}"/>
              </a:ext>
            </a:extLst>
          </p:cNvPr>
          <p:cNvSpPr>
            <a:spLocks xmlns:a="http://schemas.openxmlformats.org/drawingml/2006/main" noGrp="1"/>
          </p:cNvSpPr>
          <p:nvPr/>
        </p:nvSpPr>
        <p:spPr>
          <a:xfrm xmlns:a="http://schemas.openxmlformats.org/drawingml/2006/main">
            <a:off x="781050" y="398145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Trial division has irregular per-candidate cost. MPI chunks balance rank-level work; OpenMP dynamic scheduling smooths the remaining variation between threads without changing output order.</a:t>
            </a:r>
          </a:p>
        </p:txBody>
      </p:sp>
      <p:sp>
        <p:nvSpPr>
          <p:cNvPr id="20" name="">
            <a:extLst xmlns:a="http://schemas.openxmlformats.org/drawingml/2006/main">
              <a:ext uri="{FF2B5EF4-FFF2-40B4-BE49-F238E27FC236}">
                <a16:creationId xmlns:a16="http://schemas.microsoft.com/office/drawing/2014/main" id="{D34590AC-1FFE-436F-B6AD-CEEF60CEFE8E}"/>
              </a:ext>
            </a:extLst>
          </p:cNvPr>
          <p:cNvSpPr>
            <a:spLocks xmlns:a="http://schemas.openxmlformats.org/drawingml/2006/main" noGrp="1"/>
          </p:cNvSpPr>
          <p:nvPr/>
        </p:nvSpPr>
        <p:spPr>
          <a:xfrm xmlns:a="http://schemas.openxmlformats.org/drawingml/2006/main">
            <a:off x="5943600" y="1200150"/>
            <a:ext cx="569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Representative local execution at n = 60M</a:t>
            </a:r>
          </a:p>
        </p:txBody>
      </p:sp>
      <p:graphicFrame>
        <p:nvGraphicFramePr>
          <p:cNvPr id="54" name=""/>
          <p:cNvGraphicFramePr/>
          <p:nvPr/>
        </p:nvGraphicFramePr>
        <p:xfrm>
          <a:off xmlns:a="http://schemas.openxmlformats.org/drawingml/2006/main" x="5943600" y="1638300"/>
          <a:ext xmlns:a="http://schemas.openxmlformats.org/drawingml/2006/main" cx="5695950" cy="1581150"/>
        </p:xfrm>
        <a:graphic xmlns:a="http://schemas.openxmlformats.org/drawingml/2006/main">
          <a:graphicData uri="http://schemas.openxmlformats.org/drawingml/2006/table">
            <a:tbl>
              <a:tblPr firstRow="1" bandRow="0"/>
              <a:tblGrid>
                <a:gridCol w="1047750"/>
                <a:gridCol w="1190625"/>
                <a:gridCol w="1190625"/>
                <a:gridCol w="1190625"/>
                <a:gridCol w="1076325"/>
              </a:tblGrid>
              <a:tr h="52705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Configuration</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min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max/min</a:t>
                      </a:r>
                    </a:p>
                  </a:txBody>
                  <a:tcPr marL="76200" marR="76200" marT="57150" marB="57150" anchor="ctr">
                    <a:solidFill>
                      <a:srgbClr val="005F66"/>
                    </a:solidFill>
                  </a:tcPr>
                </a:tc>
              </a:tr>
              <a:tr h="527050">
                <a:tc>
                  <a:txBody>
                    <a:bodyPr/>
                    <a:lstStyle/>
                    <a:p>
                      <a:r>
                        <a:rPr sz="900">
                          <a:solidFill>
                            <a:srgbClr val="102A43"/>
                          </a:solidFill>
                          <a:latin typeface="Arial"/>
                          <a:ea typeface="Arial"/>
                          <a:cs typeface="Arial"/>
                        </a:rPr>
                        <a:t>Task 1</a:t>
                      </a:r>
                    </a:p>
                  </a:txBody>
                  <a:tcPr marL="76200" marR="76200" marT="47625" marB="47625" anchor="ctr">
                    <a:solidFill>
                      <a:srgbClr val="FFFFFF"/>
                    </a:solidFill>
                  </a:tcPr>
                </a:tc>
                <a:tc>
                  <a:txBody>
                    <a:bodyPr/>
                    <a:lstStyle/>
                    <a:p>
                      <a:r>
                        <a:rPr sz="900">
                          <a:solidFill>
                            <a:srgbClr val="102A43"/>
                          </a:solidFill>
                          <a:latin typeface="Arial"/>
                          <a:ea typeface="Arial"/>
                          <a:cs typeface="Arial"/>
                        </a:rPr>
                        <a:t>4 ranks</a:t>
                      </a:r>
                    </a:p>
                  </a:txBody>
                  <a:tcPr marL="76200" marR="76200" marT="47625" marB="47625" anchor="ctr">
                    <a:solidFill>
                      <a:srgbClr val="FFFFFF"/>
                    </a:solidFill>
                  </a:tcPr>
                </a:tc>
                <a:tc>
                  <a:txBody>
                    <a:bodyPr/>
                    <a:lstStyle/>
                    <a:p>
                      <a:r>
                        <a:rPr sz="900">
                          <a:solidFill>
                            <a:srgbClr val="102A43"/>
                          </a:solidFill>
                          <a:latin typeface="Arial"/>
                          <a:ea typeface="Arial"/>
                          <a:cs typeface="Arial"/>
                        </a:rPr>
                        <a:t>6.446 s</a:t>
                      </a:r>
                    </a:p>
                  </a:txBody>
                  <a:tcPr marL="76200" marR="76200" marT="47625" marB="47625" anchor="ctr">
                    <a:solidFill>
                      <a:srgbClr val="FFFFFF"/>
                    </a:solidFill>
                  </a:tcPr>
                </a:tc>
                <a:tc>
                  <a:txBody>
                    <a:bodyPr/>
                    <a:lstStyle/>
                    <a:p>
                      <a:r>
                        <a:rPr sz="900">
                          <a:solidFill>
                            <a:srgbClr val="102A43"/>
                          </a:solidFill>
                          <a:latin typeface="Arial"/>
                          <a:ea typeface="Arial"/>
                          <a:cs typeface="Arial"/>
                        </a:rPr>
                        <a:t>6.507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1.009</a:t>
                      </a:r>
                    </a:p>
                  </a:txBody>
                  <a:tcPr marL="76200" marR="76200" marT="47625" marB="47625" anchor="ctr">
                    <a:solidFill>
                      <a:srgbClr val="FFFFFF"/>
                    </a:solidFill>
                  </a:tcPr>
                </a:tc>
              </a:tr>
              <a:tr h="527050">
                <a:tc>
                  <a:txBody>
                    <a:bodyPr/>
                    <a:lstStyle/>
                    <a:p>
                      <a:r>
                        <a:rPr sz="900">
                          <a:solidFill>
                            <a:srgbClr val="102A43"/>
                          </a:solidFill>
                          <a:latin typeface="Arial"/>
                          <a:ea typeface="Arial"/>
                          <a:cs typeface="Arial"/>
                        </a:rPr>
                        <a:t>Task 2</a:t>
                      </a:r>
                    </a:p>
                  </a:txBody>
                  <a:tcPr marL="76200" marR="76200" marT="47625" marB="47625" anchor="ctr">
                    <a:solidFill>
                      <a:srgbClr val="FFFFFF"/>
                    </a:solidFill>
                  </a:tcPr>
                </a:tc>
                <a:tc>
                  <a:txBody>
                    <a:bodyPr/>
                    <a:lstStyle/>
                    <a:p>
                      <a:r>
                        <a:rPr sz="900">
                          <a:solidFill>
                            <a:srgbClr val="102A43"/>
                          </a:solidFill>
                          <a:latin typeface="Arial"/>
                          <a:ea typeface="Arial"/>
                          <a:cs typeface="Arial"/>
                        </a:rPr>
                        <a:t>4 × 2</a:t>
                      </a:r>
                    </a:p>
                  </a:txBody>
                  <a:tcPr marL="76200" marR="76200" marT="47625" marB="47625" anchor="ctr">
                    <a:solidFill>
                      <a:srgbClr val="FFFFFF"/>
                    </a:solidFill>
                  </a:tcPr>
                </a:tc>
                <a:tc>
                  <a:txBody>
                    <a:bodyPr/>
                    <a:lstStyle/>
                    <a:p>
                      <a:r>
                        <a:rPr sz="900">
                          <a:solidFill>
                            <a:srgbClr val="102A43"/>
                          </a:solidFill>
                          <a:latin typeface="Arial"/>
                          <a:ea typeface="Arial"/>
                          <a:cs typeface="Arial"/>
                        </a:rPr>
                        <a:t>4.567 s</a:t>
                      </a:r>
                    </a:p>
                  </a:txBody>
                  <a:tcPr marL="76200" marR="76200" marT="47625" marB="47625" anchor="ctr">
                    <a:solidFill>
                      <a:srgbClr val="FFFFFF"/>
                    </a:solidFill>
                  </a:tcPr>
                </a:tc>
                <a:tc>
                  <a:txBody>
                    <a:bodyPr/>
                    <a:lstStyle/>
                    <a:p>
                      <a:r>
                        <a:rPr sz="900">
                          <a:solidFill>
                            <a:srgbClr val="102A43"/>
                          </a:solidFill>
                          <a:latin typeface="Arial"/>
                          <a:ea typeface="Arial"/>
                          <a:cs typeface="Arial"/>
                        </a:rPr>
                        <a:t>4.685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1.026</a:t>
                      </a:r>
                    </a:p>
                  </a:txBody>
                  <a:tcPr marL="76200" marR="76200" marT="47625" marB="47625" anchor="ctr">
                    <a:solidFill>
                      <a:srgbClr val="FFFFFF"/>
                    </a:solidFill>
                  </a:tcPr>
                </a:tc>
              </a:tr>
            </a:tbl>
          </a:graphicData>
        </a:graphic>
      </p:graphicFrame>
      <p:sp>
        <p:nvSpPr>
          <p:cNvPr id="22" name="">
            <a:extLst xmlns:a="http://schemas.openxmlformats.org/drawingml/2006/main">
              <a:ext uri="{FF2B5EF4-FFF2-40B4-BE49-F238E27FC236}">
                <a16:creationId xmlns:a16="http://schemas.microsoft.com/office/drawing/2014/main" id="{E98C1928-4190-4A33-BC68-9E734709EFB9}"/>
              </a:ext>
            </a:extLst>
          </p:cNvPr>
          <p:cNvSpPr>
            <a:spLocks xmlns:a="http://schemas.openxmlformats.org/drawingml/2006/main" noGrp="1"/>
          </p:cNvSpPr>
          <p:nvPr/>
        </p:nvSpPr>
        <p:spPr>
          <a:xfrm xmlns:a="http://schemas.openxmlformats.org/drawingml/2006/main">
            <a:off x="59436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3" name="">
            <a:extLst xmlns:a="http://schemas.openxmlformats.org/drawingml/2006/main">
              <a:ext uri="{FF2B5EF4-FFF2-40B4-BE49-F238E27FC236}">
                <a16:creationId xmlns:a16="http://schemas.microsoft.com/office/drawing/2014/main" id="{659D75C1-F220-4F24-8AF6-B70CF3BA12CA}"/>
              </a:ext>
            </a:extLst>
          </p:cNvPr>
          <p:cNvSpPr>
            <a:spLocks xmlns:a="http://schemas.openxmlformats.org/drawingml/2006/main" noGrp="1"/>
          </p:cNvSpPr>
          <p:nvPr/>
        </p:nvSpPr>
        <p:spPr>
          <a:xfrm xmlns:a="http://schemas.openxmlformats.org/drawingml/2006/main">
            <a:off x="5943600" y="3581400"/>
            <a:ext cx="66675" cy="171450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24" name="">
            <a:extLst xmlns:a="http://schemas.openxmlformats.org/drawingml/2006/main">
              <a:ext uri="{FF2B5EF4-FFF2-40B4-BE49-F238E27FC236}">
                <a16:creationId xmlns:a16="http://schemas.microsoft.com/office/drawing/2014/main" id="{F3AB576C-A9A7-4388-9516-073428C6FCBD}"/>
              </a:ext>
            </a:extLst>
          </p:cNvPr>
          <p:cNvSpPr>
            <a:spLocks xmlns:a="http://schemas.openxmlformats.org/drawingml/2006/main" noGrp="1"/>
          </p:cNvSpPr>
          <p:nvPr/>
        </p:nvSpPr>
        <p:spPr>
          <a:xfrm xmlns:a="http://schemas.openxmlformats.org/drawingml/2006/main">
            <a:off x="61531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1</a:t>
            </a:r>
          </a:p>
        </p:txBody>
      </p:sp>
      <p:sp>
        <p:nvSpPr>
          <p:cNvPr id="25" name="">
            <a:extLst xmlns:a="http://schemas.openxmlformats.org/drawingml/2006/main">
              <a:ext uri="{FF2B5EF4-FFF2-40B4-BE49-F238E27FC236}">
                <a16:creationId xmlns:a16="http://schemas.microsoft.com/office/drawing/2014/main" id="{3494358F-5FA2-47AE-AB4F-7A764E965E10}"/>
              </a:ext>
            </a:extLst>
          </p:cNvPr>
          <p:cNvSpPr>
            <a:spLocks xmlns:a="http://schemas.openxmlformats.org/drawingml/2006/main" noGrp="1"/>
          </p:cNvSpPr>
          <p:nvPr/>
        </p:nvSpPr>
        <p:spPr>
          <a:xfrm xmlns:a="http://schemas.openxmlformats.org/drawingml/2006/main">
            <a:off x="61531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6.97 s</a:t>
            </a:r>
          </a:p>
        </p:txBody>
      </p:sp>
      <p:sp>
        <p:nvSpPr>
          <p:cNvPr id="26" name="">
            <a:extLst xmlns:a="http://schemas.openxmlformats.org/drawingml/2006/main">
              <a:ext uri="{FF2B5EF4-FFF2-40B4-BE49-F238E27FC236}">
                <a16:creationId xmlns:a16="http://schemas.microsoft.com/office/drawing/2014/main" id="{E861F2C0-E750-4351-8677-A5D83FC05A94}"/>
              </a:ext>
            </a:extLst>
          </p:cNvPr>
          <p:cNvSpPr>
            <a:spLocks xmlns:a="http://schemas.openxmlformats.org/drawingml/2006/main" noGrp="1"/>
          </p:cNvSpPr>
          <p:nvPr/>
        </p:nvSpPr>
        <p:spPr>
          <a:xfrm xmlns:a="http://schemas.openxmlformats.org/drawingml/2006/main">
            <a:off x="61531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processes</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27" name="">
            <a:extLst xmlns:a="http://schemas.openxmlformats.org/drawingml/2006/main">
              <a:ext uri="{FF2B5EF4-FFF2-40B4-BE49-F238E27FC236}">
                <a16:creationId xmlns:a16="http://schemas.microsoft.com/office/drawing/2014/main" id="{F9412A88-F0CB-49D6-95A5-FB146D033CC7}"/>
              </a:ext>
            </a:extLst>
          </p:cNvPr>
          <p:cNvSpPr>
            <a:spLocks xmlns:a="http://schemas.openxmlformats.org/drawingml/2006/main" noGrp="1"/>
          </p:cNvSpPr>
          <p:nvPr/>
        </p:nvSpPr>
        <p:spPr>
          <a:xfrm xmlns:a="http://schemas.openxmlformats.org/drawingml/2006/main">
            <a:off x="89535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8" name="">
            <a:extLst xmlns:a="http://schemas.openxmlformats.org/drawingml/2006/main">
              <a:ext uri="{FF2B5EF4-FFF2-40B4-BE49-F238E27FC236}">
                <a16:creationId xmlns:a16="http://schemas.microsoft.com/office/drawing/2014/main" id="{1C144723-74BE-4C94-9B3C-142E4E7583CC}"/>
              </a:ext>
            </a:extLst>
          </p:cNvPr>
          <p:cNvSpPr>
            <a:spLocks xmlns:a="http://schemas.openxmlformats.org/drawingml/2006/main" noGrp="1"/>
          </p:cNvSpPr>
          <p:nvPr/>
        </p:nvSpPr>
        <p:spPr>
          <a:xfrm xmlns:a="http://schemas.openxmlformats.org/drawingml/2006/main">
            <a:off x="8953500" y="3581400"/>
            <a:ext cx="66675" cy="171450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9" name="">
            <a:extLst xmlns:a="http://schemas.openxmlformats.org/drawingml/2006/main">
              <a:ext uri="{FF2B5EF4-FFF2-40B4-BE49-F238E27FC236}">
                <a16:creationId xmlns:a16="http://schemas.microsoft.com/office/drawing/2014/main" id="{1D9C4124-4862-4B17-A9FA-5E834BBBC930}"/>
              </a:ext>
            </a:extLst>
          </p:cNvPr>
          <p:cNvSpPr>
            <a:spLocks xmlns:a="http://schemas.openxmlformats.org/drawingml/2006/main" noGrp="1"/>
          </p:cNvSpPr>
          <p:nvPr/>
        </p:nvSpPr>
        <p:spPr>
          <a:xfrm xmlns:a="http://schemas.openxmlformats.org/drawingml/2006/main">
            <a:off x="91630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2</a:t>
            </a:r>
          </a:p>
        </p:txBody>
      </p:sp>
      <p:sp>
        <p:nvSpPr>
          <p:cNvPr id="30" name="">
            <a:extLst xmlns:a="http://schemas.openxmlformats.org/drawingml/2006/main">
              <a:ext uri="{FF2B5EF4-FFF2-40B4-BE49-F238E27FC236}">
                <a16:creationId xmlns:a16="http://schemas.microsoft.com/office/drawing/2014/main" id="{BF502F4C-01AC-4D1C-B5AA-47EB50B18DE7}"/>
              </a:ext>
            </a:extLst>
          </p:cNvPr>
          <p:cNvSpPr>
            <a:spLocks xmlns:a="http://schemas.openxmlformats.org/drawingml/2006/main" noGrp="1"/>
          </p:cNvSpPr>
          <p:nvPr/>
        </p:nvSpPr>
        <p:spPr>
          <a:xfrm xmlns:a="http://schemas.openxmlformats.org/drawingml/2006/main">
            <a:off x="91630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5.16 s</a:t>
            </a:r>
          </a:p>
        </p:txBody>
      </p:sp>
      <p:sp>
        <p:nvSpPr>
          <p:cNvPr id="31" name="">
            <a:extLst xmlns:a="http://schemas.openxmlformats.org/drawingml/2006/main">
              <a:ext uri="{FF2B5EF4-FFF2-40B4-BE49-F238E27FC236}">
                <a16:creationId xmlns:a16="http://schemas.microsoft.com/office/drawing/2014/main" id="{8099C808-D183-4233-92A5-766AB9F51511}"/>
              </a:ext>
            </a:extLst>
          </p:cNvPr>
          <p:cNvSpPr>
            <a:spLocks xmlns:a="http://schemas.openxmlformats.org/drawingml/2006/main" noGrp="1"/>
          </p:cNvSpPr>
          <p:nvPr/>
        </p:nvSpPr>
        <p:spPr>
          <a:xfrm xmlns:a="http://schemas.openxmlformats.org/drawingml/2006/main">
            <a:off x="91630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 2 OpenMP</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32" name="">
            <a:extLst xmlns:a="http://schemas.openxmlformats.org/drawingml/2006/main">
              <a:ext uri="{FF2B5EF4-FFF2-40B4-BE49-F238E27FC236}">
                <a16:creationId xmlns:a16="http://schemas.microsoft.com/office/drawing/2014/main" id="{5CEE9412-A7CE-4B11-B00A-ECCA08FFF090}"/>
              </a:ext>
            </a:extLst>
          </p:cNvPr>
          <p:cNvSpPr>
            <a:spLocks xmlns:a="http://schemas.openxmlformats.org/drawingml/2006/main" noGrp="1"/>
          </p:cNvSpPr>
          <p:nvPr/>
        </p:nvSpPr>
        <p:spPr>
          <a:xfrm xmlns:a="http://schemas.openxmlformats.org/drawingml/2006/main">
            <a:off x="6096000" y="5600700"/>
            <a:ext cx="53911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33" name="">
            <a:extLst xmlns:a="http://schemas.openxmlformats.org/drawingml/2006/main">
              <a:ext uri="{FF2B5EF4-FFF2-40B4-BE49-F238E27FC236}">
                <a16:creationId xmlns:a16="http://schemas.microsoft.com/office/drawing/2014/main" id="{02775949-28A8-4AA6-A533-05E3AB16B7E6}"/>
              </a:ext>
            </a:extLst>
          </p:cNvPr>
          <p:cNvSpPr>
            <a:spLocks xmlns:a="http://schemas.openxmlformats.org/drawingml/2006/main" noGrp="1"/>
          </p:cNvSpPr>
          <p:nvPr/>
        </p:nvSpPr>
        <p:spPr>
          <a:xfrm xmlns:a="http://schemas.openxmlformats.org/drawingml/2006/main">
            <a:off x="6267450" y="57245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Hybrid speedup over the same 4-rank Task 1 run: 1.35×</a:t>
            </a:r>
          </a:p>
        </p:txBody>
      </p:sp>
    </p:spTree>
    <p:extLst>
      <p:ext uri="{BB962C8B-B14F-4D97-AF65-F5344CB8AC3E}">
        <p14:creationId xmlns:p14="http://schemas.microsoft.com/office/powerpoint/2010/main" val="578445949"/>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F50E58-02C6-4133-AF65-FBED25CCF1C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2B57840C-9BB3-4906-AA8F-B2E769A8EC92}"/>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B57A1DBA-C907-4BF3-ACA8-1353F94E1142}"/>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4 and 5 — hybrid scaling</a:t>
            </a:r>
          </a:p>
        </p:txBody>
      </p:sp>
      <p:sp>
        <p:nvSpPr>
          <p:cNvPr id="4" name="">
            <a:extLst xmlns:a="http://schemas.openxmlformats.org/drawingml/2006/main">
              <a:ext uri="{FF2B5EF4-FFF2-40B4-BE49-F238E27FC236}">
                <a16:creationId xmlns:a16="http://schemas.microsoft.com/office/drawing/2014/main" id="{E0C97BA5-89EC-48AB-AA54-153E6C9A9B16}"/>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8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0f82511cc3d94f3a"/>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342bd4e7a30a49be"/>
          </a:graphicData>
        </a:graphic>
      </p:graphicFrame>
      <p:sp>
        <p:nvSpPr>
          <p:cNvPr id="7" name="">
            <a:extLst xmlns:a="http://schemas.openxmlformats.org/drawingml/2006/main">
              <a:ext uri="{FF2B5EF4-FFF2-40B4-BE49-F238E27FC236}">
                <a16:creationId xmlns:a16="http://schemas.microsoft.com/office/drawing/2014/main" id="{7556CC95-F1FF-4865-AEB1-A6CC7F1702FF}"/>
              </a:ext>
            </a:extLst>
          </p:cNvPr>
          <p:cNvSpPr>
            <a:spLocks xmlns:a="http://schemas.openxmlformats.org/drawingml/2006/main" noGrp="1"/>
          </p:cNvSpPr>
          <p:nvPr/>
        </p:nvSpPr>
        <p:spPr>
          <a:xfrm xmlns:a="http://schemas.openxmlformats.org/drawingml/2006/main">
            <a:off x="1333500" y="5619750"/>
            <a:ext cx="95250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68C4DB42-7D73-441E-AE26-434E6FABEB15}"/>
              </a:ext>
            </a:extLst>
          </p:cNvPr>
          <p:cNvSpPr>
            <a:spLocks xmlns:a="http://schemas.openxmlformats.org/drawingml/2006/main" noGrp="1"/>
          </p:cNvSpPr>
          <p:nvPr/>
        </p:nvSpPr>
        <p:spPr>
          <a:xfrm xmlns:a="http://schemas.openxmlformats.org/drawingml/2006/main">
            <a:off x="1504950" y="5743575"/>
            <a:ext cx="9182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Best measured hybrid point: 8.46× at 1 × 16; 32- and 64-worker configurations (4×8 and 4×16) reduce efficiency.</a:t>
            </a:r>
          </a:p>
        </p:txBody>
      </p:sp>
    </p:spTree>
    <p:extLst>
      <p:ext uri="{BB962C8B-B14F-4D97-AF65-F5344CB8AC3E}">
        <p14:creationId xmlns:p14="http://schemas.microsoft.com/office/powerpoint/2010/main" val="441999726"/>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2EDC88-F563-4BFC-B627-1F3BACE8599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362F2D01-A86C-4C6E-816B-2C65710BE10B}"/>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A81E4F44-11D1-4B98-98D9-230E17515474}"/>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7 — hybrid scaling limits</a:t>
            </a:r>
          </a:p>
        </p:txBody>
      </p:sp>
      <p:sp>
        <p:nvSpPr>
          <p:cNvPr id="4" name="">
            <a:extLst xmlns:a="http://schemas.openxmlformats.org/drawingml/2006/main">
              <a:ext uri="{FF2B5EF4-FFF2-40B4-BE49-F238E27FC236}">
                <a16:creationId xmlns:a16="http://schemas.microsoft.com/office/drawing/2014/main" id="{3DC92BEA-F66B-496D-AFB7-2D7F48A3D944}"/>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9 / 9</a:t>
            </a:r>
          </a:p>
        </p:txBody>
      </p:sp>
      <p:graphicFrame>
        <p:nvGraphicFramePr>
          <p:cNvPr id="17" name="Chart"/>
          <p:cNvGraphicFramePr/>
          <p:nvPr/>
        </p:nvGraphicFramePr>
        <p:xfrm>
          <a:off xmlns:a="http://schemas.openxmlformats.org/drawingml/2006/main" x="476250" y="1143000"/>
          <a:ext xmlns:a="http://schemas.openxmlformats.org/drawingml/2006/main" cx="6238875" cy="4333875"/>
        </p:xfrm>
        <a:graphic xmlns:a="http://schemas.openxmlformats.org/drawingml/2006/main">
          <a:graphicData uri="http://schemas.openxmlformats.org/drawingml/2006/chart">
            <c:chart xmlns:r="http://schemas.openxmlformats.org/officeDocument/2006/relationships" xmlns:c="http://schemas.openxmlformats.org/drawingml/2006/chart" r:id="R352099aa66de4741"/>
          </a:graphicData>
        </a:graphic>
      </p:graphicFrame>
      <p:sp>
        <p:nvSpPr>
          <p:cNvPr id="6" name="">
            <a:extLst xmlns:a="http://schemas.openxmlformats.org/drawingml/2006/main">
              <a:ext uri="{FF2B5EF4-FFF2-40B4-BE49-F238E27FC236}">
                <a16:creationId xmlns:a16="http://schemas.microsoft.com/office/drawing/2014/main" id="{F538DD23-DD8F-413C-A114-A8D9DABA4770}"/>
              </a:ext>
            </a:extLst>
          </p:cNvPr>
          <p:cNvSpPr>
            <a:spLocks xmlns:a="http://schemas.openxmlformats.org/drawingml/2006/main" noGrp="1"/>
          </p:cNvSpPr>
          <p:nvPr/>
        </p:nvSpPr>
        <p:spPr>
          <a:xfrm xmlns:a="http://schemas.openxmlformats.org/drawingml/2006/main">
            <a:off x="7105650" y="1162050"/>
            <a:ext cx="45339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E2EC"/>
            </a:solidFill>
          </a:ln>
        </p:spPr>
      </p:sp>
      <p:sp>
        <p:nvSpPr>
          <p:cNvPr id="7" name="">
            <a:extLst xmlns:a="http://schemas.openxmlformats.org/drawingml/2006/main">
              <a:ext uri="{FF2B5EF4-FFF2-40B4-BE49-F238E27FC236}">
                <a16:creationId xmlns:a16="http://schemas.microsoft.com/office/drawing/2014/main" id="{B6D45864-1265-4FB2-9825-715FC2DC517A}"/>
              </a:ext>
            </a:extLst>
          </p:cNvPr>
          <p:cNvSpPr>
            <a:spLocks xmlns:a="http://schemas.openxmlformats.org/drawingml/2006/main" noGrp="1"/>
          </p:cNvSpPr>
          <p:nvPr/>
        </p:nvSpPr>
        <p:spPr>
          <a:xfrm xmlns:a="http://schemas.openxmlformats.org/drawingml/2006/main">
            <a:off x="7353300" y="13716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Why the curves diverge</a:t>
            </a:r>
          </a:p>
        </p:txBody>
      </p:sp>
      <p:sp>
        <p:nvSpPr>
          <p:cNvPr id="8" name="">
            <a:extLst xmlns:a="http://schemas.openxmlformats.org/drawingml/2006/main">
              <a:ext uri="{FF2B5EF4-FFF2-40B4-BE49-F238E27FC236}">
                <a16:creationId xmlns:a16="http://schemas.microsoft.com/office/drawing/2014/main" id="{4DAA8066-B082-4A62-9A1D-EEF9901FEDBD}"/>
              </a:ext>
            </a:extLst>
          </p:cNvPr>
          <p:cNvSpPr>
            <a:spLocks xmlns:a="http://schemas.openxmlformats.org/drawingml/2006/main" noGrp="1"/>
          </p:cNvSpPr>
          <p:nvPr/>
        </p:nvSpPr>
        <p:spPr>
          <a:xfrm xmlns:a="http://schemas.openxmlformats.org/drawingml/2006/main">
            <a:off x="7353300" y="1809750"/>
            <a:ext cx="400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MPI collectives and rank-0 aggregation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Memory and scheduler contention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Oversubscription beyond 20 logical CPUs</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Amdahl assumes a fixed, ideal serial fraction</a:t>
            </a:r>
          </a:p>
        </p:txBody>
      </p:sp>
      <p:sp>
        <p:nvSpPr>
          <p:cNvPr id="9" name="">
            <a:extLst xmlns:a="http://schemas.openxmlformats.org/drawingml/2006/main">
              <a:ext uri="{FF2B5EF4-FFF2-40B4-BE49-F238E27FC236}">
                <a16:creationId xmlns:a16="http://schemas.microsoft.com/office/drawing/2014/main" id="{711D2D96-3B2A-4D27-BCE9-3C6CA5127A16}"/>
              </a:ext>
            </a:extLst>
          </p:cNvPr>
          <p:cNvSpPr>
            <a:spLocks xmlns:a="http://schemas.openxmlformats.org/drawingml/2006/main" noGrp="1"/>
          </p:cNvSpPr>
          <p:nvPr/>
        </p:nvSpPr>
        <p:spPr>
          <a:xfrm xmlns:a="http://schemas.openxmlformats.org/drawingml/2006/main">
            <a:off x="7105650" y="3371850"/>
            <a:ext cx="4533900" cy="2076450"/>
          </a:xfrm>
          <a:prstGeom xmlns:a="http://schemas.openxmlformats.org/drawingml/2006/main" prst="roundRect">
            <a:avLst>
              <a:gd name="adj" fmla="val 3670"/>
            </a:avLst>
          </a:prstGeom>
          <a:solidFill xmlns:a="http://schemas.openxmlformats.org/drawingml/2006/main">
            <a:srgbClr val="FFF5E6"/>
          </a:solidFill>
          <a:ln xmlns:a="http://schemas.openxmlformats.org/drawingml/2006/main" w="9525">
            <a:solidFill>
              <a:srgbClr val="F5C98A"/>
            </a:solidFill>
          </a:ln>
        </p:spPr>
      </p:sp>
      <p:sp>
        <p:nvSpPr>
          <p:cNvPr id="10" name="">
            <a:extLst xmlns:a="http://schemas.openxmlformats.org/drawingml/2006/main">
              <a:ext uri="{FF2B5EF4-FFF2-40B4-BE49-F238E27FC236}">
                <a16:creationId xmlns:a16="http://schemas.microsoft.com/office/drawing/2014/main" id="{3527C9BC-DD79-4062-85C3-4389069018A0}"/>
              </a:ext>
            </a:extLst>
          </p:cNvPr>
          <p:cNvSpPr>
            <a:spLocks xmlns:a="http://schemas.openxmlformats.org/drawingml/2006/main" noGrp="1"/>
          </p:cNvSpPr>
          <p:nvPr/>
        </p:nvSpPr>
        <p:spPr>
          <a:xfrm xmlns:a="http://schemas.openxmlformats.org/drawingml/2006/main">
            <a:off x="7353300" y="3581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8A4B08"/>
                </a:solidFill>
                <a:latin typeface="Arial"/>
                <a:ea typeface="Arial"/>
                <a:cs typeface="Arial"/>
              </a:defRPr>
            </a:pPr>
            <a:r>
              <a:rPr sz="1575" b="1" i="0">
                <a:solidFill>
                  <a:srgbClr val="8A4B08"/>
                </a:solidFill>
                <a:latin typeface="Arial"/>
                <a:ea typeface="Arial"/>
                <a:cs typeface="Arial"/>
              </a:rPr>
              <a:t>Limitations and future work</a:t>
            </a:r>
          </a:p>
        </p:txBody>
      </p:sp>
      <p:sp>
        <p:nvSpPr>
          <p:cNvPr id="11" name="">
            <a:extLst xmlns:a="http://schemas.openxmlformats.org/drawingml/2006/main">
              <a:ext uri="{FF2B5EF4-FFF2-40B4-BE49-F238E27FC236}">
                <a16:creationId xmlns:a16="http://schemas.microsoft.com/office/drawing/2014/main" id="{6BAB1048-B3E0-4F53-B0C8-C01A09F510D7}"/>
              </a:ext>
            </a:extLst>
          </p:cNvPr>
          <p:cNvSpPr>
            <a:spLocks xmlns:a="http://schemas.openxmlformats.org/drawingml/2006/main" noGrp="1"/>
          </p:cNvSpPr>
          <p:nvPr/>
        </p:nvSpPr>
        <p:spPr>
          <a:xfrm xmlns:a="http://schemas.openxmlformats.org/drawingml/2006/main">
            <a:off x="7353300" y="40195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15"/>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benchmark series is single-node data, so it does not quantify network cost. A two-node CAAS functional run completed successfully. Next: multi-node CAAS measurements, segmented-sieve work units, and distributed output.</a:t>
            </a:r>
          </a:p>
        </p:txBody>
      </p:sp>
      <p:sp>
        <p:nvSpPr>
          <p:cNvPr id="12" name="">
            <a:extLst xmlns:a="http://schemas.openxmlformats.org/drawingml/2006/main">
              <a:ext uri="{FF2B5EF4-FFF2-40B4-BE49-F238E27FC236}">
                <a16:creationId xmlns:a16="http://schemas.microsoft.com/office/drawing/2014/main" id="{25C515CE-6246-4214-BCD5-F6AC9CD48BE3}"/>
              </a:ext>
            </a:extLst>
          </p:cNvPr>
          <p:cNvSpPr>
            <a:spLocks xmlns:a="http://schemas.openxmlformats.org/drawingml/2006/main" noGrp="1"/>
          </p:cNvSpPr>
          <p:nvPr/>
        </p:nvSpPr>
        <p:spPr>
          <a:xfrm xmlns:a="http://schemas.openxmlformats.org/drawingml/2006/main">
            <a:off x="9505950" y="58102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619"/>
          </a:bodyPr>
          <a:lstStyle xmlns:a="http://schemas.openxmlformats.org/drawingml/2006/main"/>
          <a:p xmlns:a="http://schemas.openxmlformats.org/drawingml/2006/main">
            <a:pPr algn="r">
              <a:defRPr sz="2100" b="1" i="0">
                <a:solidFill>
                  <a:srgbClr val="005F66"/>
                </a:solidFill>
                <a:latin typeface="Arial"/>
                <a:ea typeface="Arial"/>
                <a:cs typeface="Arial"/>
              </a:defRPr>
            </a:pPr>
            <a:r>
              <a:rPr sz="2100" b="1" i="0">
                <a:solidFill>
                  <a:srgbClr val="005F66"/>
                </a:solidFill>
                <a:latin typeface="Arial"/>
                <a:ea typeface="Arial"/>
                <a:cs typeface="Arial"/>
              </a:rPr>
              <a:t>Q&amp;A</a:t>
            </a:r>
          </a:p>
        </p:txBody>
      </p:sp>
    </p:spTree>
    <p:extLst>
      <p:ext uri="{BB962C8B-B14F-4D97-AF65-F5344CB8AC3E}">
        <p14:creationId xmlns:p14="http://schemas.microsoft.com/office/powerpoint/2010/main" val="1228116449"/>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B6D3F6-891F-473A-B12A-B0A5B3553EB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9C9CC1D2-6F55-4E54-8E4F-1FA9385ED640}"/>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B1C3B83A-7F5F-4546-9B06-52C0EA5852F2}"/>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Measured partition and Amdahl evidence</a:t>
            </a:r>
          </a:p>
        </p:txBody>
      </p:sp>
      <p:sp>
        <p:nvSpPr>
          <p:cNvPr id="4" name="">
            <a:extLst xmlns:a="http://schemas.openxmlformats.org/drawingml/2006/main">
              <a:ext uri="{FF2B5EF4-FFF2-40B4-BE49-F238E27FC236}">
                <a16:creationId xmlns:a16="http://schemas.microsoft.com/office/drawing/2014/main" id="{B3EAFEC3-4E6C-4913-8EDC-835A9AF2A775}"/>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1</a:t>
            </a:r>
          </a:p>
        </p:txBody>
      </p:sp>
      <p:sp>
        <p:nvSpPr>
          <p:cNvPr id="5" name="">
            <a:extLst xmlns:a="http://schemas.openxmlformats.org/drawingml/2006/main">
              <a:ext uri="{FF2B5EF4-FFF2-40B4-BE49-F238E27FC236}">
                <a16:creationId xmlns:a16="http://schemas.microsoft.com/office/drawing/2014/main" id="{B5E34AEE-28FA-4FCA-9BA4-68FD307D62B6}"/>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Partition strategy comparison • n = 20M • median of 3 runs</a:t>
            </a:r>
          </a:p>
        </p:txBody>
      </p:sp>
      <p:graphicFrame>
        <p:nvGraphicFramePr>
          <p:cNvPr id="18" name=""/>
          <p:cNvGraphicFramePr/>
          <p:nvPr/>
        </p:nvGraphicFramePr>
        <p:xfrm>
          <a:off xmlns:a="http://schemas.openxmlformats.org/drawingml/2006/main" x="552450" y="1504950"/>
          <a:ext xmlns:a="http://schemas.openxmlformats.org/drawingml/2006/main" cx="11087100" cy="1866900"/>
        </p:xfrm>
        <a:graphic xmlns:a="http://schemas.openxmlformats.org/drawingml/2006/main">
          <a:graphicData uri="http://schemas.openxmlformats.org/drawingml/2006/table">
            <a:tbl>
              <a:tblPr firstRow="1" bandRow="0"/>
              <a:tblGrid>
                <a:gridCol w="952500"/>
                <a:gridCol w="2381250"/>
                <a:gridCol w="2381250"/>
                <a:gridCol w="2190750"/>
                <a:gridCol w="3181350"/>
              </a:tblGrid>
              <a:tr h="466725">
                <a:tc>
                  <a:txBody>
                    <a:bodyPr/>
                    <a:lstStyle/>
                    <a:p>
                      <a:r>
                        <a:rPr sz="900" b="1">
                          <a:solidFill>
                            <a:srgbClr val="FFFFFF"/>
                          </a:solidFill>
                          <a:latin typeface="Arial"/>
                          <a:ea typeface="Arial"/>
                          <a:cs typeface="Arial"/>
                        </a:rPr>
                        <a: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Pure 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total</a:t>
                      </a:r>
                    </a:p>
                  </a:txBody>
                  <a:tcPr marL="76200" marR="76200" marT="57150" marB="57150" anchor="ctr">
                    <a:solidFill>
                      <a:srgbClr val="005F66"/>
                    </a:solidFill>
                  </a:tcPr>
                </a:tc>
              </a:tr>
              <a:tr h="466725">
                <a:tc>
                  <a:txBody>
                    <a:bodyPr/>
                    <a:lstStyle/>
                    <a:p>
                      <a:r>
                        <a:rPr sz="975">
                          <a:solidFill>
                            <a:srgbClr val="102A43"/>
                          </a:solidFill>
                          <a:latin typeface="Arial"/>
                          <a:ea typeface="Arial"/>
                          <a:cs typeface="Arial"/>
                        </a:rPr>
                        <a:t>3</a:t>
                      </a:r>
                    </a:p>
                  </a:txBody>
                  <a:tcPr marL="76200" marR="76200" marT="47625" marB="47625" anchor="ctr">
                    <a:solidFill>
                      <a:srgbClr val="FFFFFF"/>
                    </a:solidFill>
                  </a:tcPr>
                </a:tc>
                <a:tc>
                  <a:txBody>
                    <a:bodyPr/>
                    <a:lstStyle/>
                    <a:p>
                      <a:r>
                        <a:rPr sz="975">
                          <a:solidFill>
                            <a:srgbClr val="102A43"/>
                          </a:solidFill>
                          <a:latin typeface="Arial"/>
                          <a:ea typeface="Arial"/>
                          <a:cs typeface="Arial"/>
                        </a:rPr>
                        <a:t>1.047</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627.764</a:t>
                      </a:r>
                    </a:p>
                  </a:txBody>
                  <a:tcPr marL="76200" marR="76200" marT="47625" marB="47625" anchor="ctr">
                    <a:solidFill>
                      <a:srgbClr val="FFFFFF"/>
                    </a:solidFill>
                  </a:tcPr>
                </a:tc>
                <a:tc>
                  <a:txBody>
                    <a:bodyPr/>
                    <a:lstStyle/>
                    <a:p>
                      <a:r>
                        <a:rPr sz="975">
                          <a:solidFill>
                            <a:srgbClr val="102A43"/>
                          </a:solidFill>
                          <a:latin typeface="Arial"/>
                          <a:ea typeface="Arial"/>
                          <a:cs typeface="Arial"/>
                        </a:rPr>
                        <a:t>2.204</a:t>
                      </a:r>
                    </a:p>
                  </a:txBody>
                  <a:tcPr marL="76200" marR="76200" marT="47625" marB="47625" anchor="ctr">
                    <a:solidFill>
                      <a:srgbClr val="FFFFFF"/>
                    </a:solidFill>
                  </a:tcPr>
                </a:tc>
                <a:tc>
                  <a:txBody>
                    <a:bodyPr/>
                    <a:lstStyle/>
                    <a:p>
                      <a:r>
                        <a:rPr sz="975">
                          <a:solidFill>
                            <a:srgbClr val="102A43"/>
                          </a:solidFill>
                          <a:latin typeface="Arial"/>
                          <a:ea typeface="Arial"/>
                          <a:cs typeface="Arial"/>
                        </a:rPr>
                        <a:t>1.931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4</a:t>
                      </a:r>
                    </a:p>
                  </a:txBody>
                  <a:tcPr marL="76200" marR="76200" marT="47625" marB="47625" anchor="ctr">
                    <a:solidFill>
                      <a:srgbClr val="FFFFFF"/>
                    </a:solidFill>
                  </a:tcPr>
                </a:tc>
                <a:tc>
                  <a:txBody>
                    <a:bodyPr/>
                    <a:lstStyle/>
                    <a:p>
                      <a:r>
                        <a:rPr sz="975">
                          <a:solidFill>
                            <a:srgbClr val="102A43"/>
                          </a:solidFill>
                          <a:latin typeface="Arial"/>
                          <a:ea typeface="Arial"/>
                          <a:cs typeface="Arial"/>
                        </a:rPr>
                        <a:t>1.058</a:t>
                      </a:r>
                    </a:p>
                  </a:txBody>
                  <a:tcPr marL="76200" marR="76200" marT="47625" marB="47625" anchor="ctr">
                    <a:solidFill>
                      <a:srgbClr val="FFFFFF"/>
                    </a:solidFill>
                  </a:tcPr>
                </a:tc>
                <a:tc>
                  <a:txBody>
                    <a:bodyPr/>
                    <a:lstStyle/>
                    <a:p>
                      <a:r>
                        <a:rPr sz="975">
                          <a:solidFill>
                            <a:srgbClr val="102A43"/>
                          </a:solidFill>
                          <a:latin typeface="Arial"/>
                          <a:ea typeface="Arial"/>
                          <a:cs typeface="Arial"/>
                        </a:rPr>
                        <a:t>1.032</a:t>
                      </a:r>
                    </a:p>
                  </a:txBody>
                  <a:tcPr marL="76200" marR="76200" marT="47625" marB="47625" anchor="ctr">
                    <a:solidFill>
                      <a:srgbClr val="FFFFFF"/>
                    </a:solidFill>
                  </a:tcPr>
                </a:tc>
                <a:tc>
                  <a:txBody>
                    <a:bodyPr/>
                    <a:lstStyle/>
                    <a:p>
                      <a:r>
                        <a:rPr sz="975">
                          <a:solidFill>
                            <a:srgbClr val="102A43"/>
                          </a:solidFill>
                          <a:latin typeface="Arial"/>
                          <a:ea typeface="Arial"/>
                          <a:cs typeface="Arial"/>
                        </a:rPr>
                        <a:t>2.615</a:t>
                      </a:r>
                    </a:p>
                  </a:txBody>
                  <a:tcPr marL="76200" marR="76200" marT="47625" marB="47625" anchor="ctr">
                    <a:solidFill>
                      <a:srgbClr val="FFFFFF"/>
                    </a:solidFill>
                  </a:tcPr>
                </a:tc>
                <a:tc>
                  <a:txBody>
                    <a:bodyPr/>
                    <a:lstStyle/>
                    <a:p>
                      <a:r>
                        <a:rPr sz="975">
                          <a:solidFill>
                            <a:srgbClr val="102A43"/>
                          </a:solidFill>
                          <a:latin typeface="Arial"/>
                          <a:ea typeface="Arial"/>
                          <a:cs typeface="Arial"/>
                        </a:rPr>
                        <a:t>1.581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5</a:t>
                      </a:r>
                    </a:p>
                  </a:txBody>
                  <a:tcPr marL="76200" marR="76200" marT="47625" marB="47625" anchor="ctr">
                    <a:solidFill>
                      <a:srgbClr val="FFFFFF"/>
                    </a:solidFill>
                  </a:tcPr>
                </a:tc>
                <a:tc>
                  <a:txBody>
                    <a:bodyPr/>
                    <a:lstStyle/>
                    <a:p>
                      <a:r>
                        <a:rPr sz="975">
                          <a:solidFill>
                            <a:srgbClr val="102A43"/>
                          </a:solidFill>
                          <a:latin typeface="Arial"/>
                          <a:ea typeface="Arial"/>
                          <a:cs typeface="Arial"/>
                        </a:rPr>
                        <a:t>1.057</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491.084</a:t>
                      </a:r>
                    </a:p>
                  </a:txBody>
                  <a:tcPr marL="76200" marR="76200" marT="47625" marB="47625" anchor="ctr">
                    <a:solidFill>
                      <a:srgbClr val="FFFFFF"/>
                    </a:solidFill>
                  </a:tcPr>
                </a:tc>
                <a:tc>
                  <a:txBody>
                    <a:bodyPr/>
                    <a:lstStyle/>
                    <a:p>
                      <a:r>
                        <a:rPr sz="975">
                          <a:solidFill>
                            <a:srgbClr val="102A43"/>
                          </a:solidFill>
                          <a:latin typeface="Arial"/>
                          <a:ea typeface="Arial"/>
                          <a:cs typeface="Arial"/>
                        </a:rPr>
                        <a:t>2.780</a:t>
                      </a:r>
                    </a:p>
                  </a:txBody>
                  <a:tcPr marL="76200" marR="76200" marT="47625" marB="47625" anchor="ctr">
                    <a:solidFill>
                      <a:srgbClr val="FFFFFF"/>
                    </a:solidFill>
                  </a:tcPr>
                </a:tc>
                <a:tc>
                  <a:txBody>
                    <a:bodyPr/>
                    <a:lstStyle/>
                    <a:p>
                      <a:r>
                        <a:rPr sz="975">
                          <a:solidFill>
                            <a:srgbClr val="102A43"/>
                          </a:solidFill>
                          <a:latin typeface="Arial"/>
                          <a:ea typeface="Arial"/>
                          <a:cs typeface="Arial"/>
                        </a:rPr>
                        <a:t>1.300 s</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B6A6BA5-352E-476F-9565-E6A7097421B1}"/>
              </a:ext>
            </a:extLst>
          </p:cNvPr>
          <p:cNvSpPr>
            <a:spLocks xmlns:a="http://schemas.openxmlformats.org/drawingml/2006/main" noGrp="1"/>
          </p:cNvSpPr>
          <p:nvPr/>
        </p:nvSpPr>
        <p:spPr>
          <a:xfrm xmlns:a="http://schemas.openxmlformats.org/drawingml/2006/main">
            <a:off x="552450" y="37338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Amdahl inputs are measured, not assumed</a:t>
            </a:r>
          </a:p>
        </p:txBody>
      </p:sp>
      <p:graphicFrame>
        <p:nvGraphicFramePr>
          <p:cNvPr id="20" name=""/>
          <p:cNvGraphicFramePr/>
          <p:nvPr/>
        </p:nvGraphicFramePr>
        <p:xfrm>
          <a:off xmlns:a="http://schemas.openxmlformats.org/drawingml/2006/main" x="552450" y="4114800"/>
          <a:ext xmlns:a="http://schemas.openxmlformats.org/drawingml/2006/main" cx="6381750" cy="1485900"/>
        </p:xfrm>
        <a:graphic xmlns:a="http://schemas.openxmlformats.org/drawingml/2006/main">
          <a:graphicData uri="http://schemas.openxmlformats.org/drawingml/2006/table">
            <a:tbl>
              <a:tblPr firstRow="1" bandRow="0"/>
              <a:tblGrid>
                <a:gridCol w="1666875"/>
                <a:gridCol w="1476375"/>
                <a:gridCol w="1571625"/>
                <a:gridCol w="1666875"/>
              </a:tblGrid>
              <a:tr h="49530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Ts</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fs = Ts / (Ts+Tp)</a:t>
                      </a:r>
                    </a:p>
                  </a:txBody>
                  <a:tcPr marL="76200" marR="76200" marT="57150" marB="57150" anchor="ctr">
                    <a:solidFill>
                      <a:srgbClr val="005F66"/>
                    </a:solidFill>
                  </a:tcPr>
                </a:tc>
              </a:tr>
              <a:tr h="495300">
                <a:tc>
                  <a:txBody>
                    <a:bodyPr/>
                    <a:lstStyle/>
                    <a:p>
                      <a:r>
                        <a:rPr sz="975">
                          <a:solidFill>
                            <a:srgbClr val="102A43"/>
                          </a:solidFill>
                          <a:latin typeface="Arial"/>
                          <a:ea typeface="Arial"/>
                          <a:cs typeface="Arial"/>
                        </a:rPr>
                        <a:t>Task 1 MPI</a:t>
                      </a:r>
                    </a:p>
                  </a:txBody>
                  <a:tcPr marL="76200" marR="76200" marT="47625" marB="47625" anchor="ctr">
                    <a:solidFill>
                      <a:srgbClr val="FFFFFF"/>
                    </a:solidFill>
                  </a:tcPr>
                </a:tc>
                <a:tc>
                  <a:txBody>
                    <a:bodyPr/>
                    <a:lstStyle/>
                    <a:p>
                      <a:r>
                        <a:rPr sz="975">
                          <a:solidFill>
                            <a:srgbClr val="102A43"/>
                          </a:solidFill>
                          <a:latin typeface="Arial"/>
                          <a:ea typeface="Arial"/>
                          <a:cs typeface="Arial"/>
                        </a:rPr>
                        <a:t>0.427566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23.948293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0.017541</a:t>
                      </a:r>
                    </a:p>
                  </a:txBody>
                  <a:tcPr marL="76200" marR="76200" marT="47625" marB="47625" anchor="ctr">
                    <a:solidFill>
                      <a:srgbClr val="FFFFFF"/>
                    </a:solidFill>
                  </a:tcPr>
                </a:tc>
              </a:tr>
              <a:tr h="495300">
                <a:tc>
                  <a:txBody>
                    <a:bodyPr/>
                    <a:lstStyle/>
                    <a:p>
                      <a:r>
                        <a:rPr sz="975">
                          <a:solidFill>
                            <a:srgbClr val="102A43"/>
                          </a:solidFill>
                          <a:latin typeface="Arial"/>
                          <a:ea typeface="Arial"/>
                          <a:cs typeface="Arial"/>
                        </a:rPr>
                        <a:t>Task 2 hybrid</a:t>
                      </a:r>
                    </a:p>
                  </a:txBody>
                  <a:tcPr marL="76200" marR="76200" marT="47625" marB="47625" anchor="ctr">
                    <a:solidFill>
                      <a:srgbClr val="FFFFFF"/>
                    </a:solidFill>
                  </a:tcPr>
                </a:tc>
                <a:tc>
                  <a:txBody>
                    <a:bodyPr/>
                    <a:lstStyle/>
                    <a:p>
                      <a:r>
                        <a:rPr sz="975">
                          <a:solidFill>
                            <a:srgbClr val="102A43"/>
                          </a:solidFill>
                          <a:latin typeface="Arial"/>
                          <a:ea typeface="Arial"/>
                          <a:cs typeface="Arial"/>
                        </a:rPr>
                        <a:t>0.411327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23.749574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0.017024</a:t>
                      </a:r>
                    </a:p>
                  </a:txBody>
                  <a:tcPr marL="76200" marR="76200" marT="47625" marB="476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D67B5E0D-2388-473E-9B80-E841D616933B}"/>
              </a:ext>
            </a:extLst>
          </p:cNvPr>
          <p:cNvSpPr>
            <a:spLocks xmlns:a="http://schemas.openxmlformats.org/drawingml/2006/main" noGrp="1"/>
          </p:cNvSpPr>
          <p:nvPr/>
        </p:nvSpPr>
        <p:spPr>
          <a:xfrm xmlns:a="http://schemas.openxmlformats.org/drawingml/2006/main">
            <a:off x="7296150" y="3733800"/>
            <a:ext cx="4343400" cy="1866900"/>
          </a:xfrm>
          <a:prstGeom xmlns:a="http://schemas.openxmlformats.org/drawingml/2006/main" prst="roundRect">
            <a:avLst>
              <a:gd name="adj" fmla="val 4082"/>
            </a:avLst>
          </a:prstGeom>
          <a:solidFill xmlns:a="http://schemas.openxmlformats.org/drawingml/2006/main">
            <a:srgbClr val="EBF4FF"/>
          </a:solidFill>
          <a:ln xmlns:a="http://schemas.openxmlformats.org/drawingml/2006/main" w="9525">
            <a:solidFill>
              <a:srgbClr val="B6D4FE"/>
            </a:solidFill>
          </a:ln>
        </p:spPr>
      </p:sp>
      <p:sp>
        <p:nvSpPr>
          <p:cNvPr id="10" name="">
            <a:extLst xmlns:a="http://schemas.openxmlformats.org/drawingml/2006/main">
              <a:ext uri="{FF2B5EF4-FFF2-40B4-BE49-F238E27FC236}">
                <a16:creationId xmlns:a16="http://schemas.microsoft.com/office/drawing/2014/main" id="{81E0B307-1B18-41CA-B7F5-B852D3F5C9FE}"/>
              </a:ext>
            </a:extLst>
          </p:cNvPr>
          <p:cNvSpPr>
            <a:spLocks xmlns:a="http://schemas.openxmlformats.org/drawingml/2006/main" noGrp="1"/>
          </p:cNvSpPr>
          <p:nvPr/>
        </p:nvSpPr>
        <p:spPr>
          <a:xfrm xmlns:a="http://schemas.openxmlformats.org/drawingml/2006/main">
            <a:off x="7543800" y="3943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158"/>
          </a:bodyPr>
          <a:lstStyle xmlns:a="http://schemas.openxmlformats.org/drawingml/2006/main"/>
          <a:p xmlns:a="http://schemas.openxmlformats.org/drawingml/2006/main">
            <a:pPr algn="l">
              <a:defRPr sz="1425" b="1" i="0">
                <a:solidFill>
                  <a:srgbClr val="3B6FB6"/>
                </a:solidFill>
                <a:latin typeface="Arial"/>
                <a:ea typeface="Arial"/>
                <a:cs typeface="Arial"/>
              </a:defRPr>
            </a:pPr>
            <a:r>
              <a:rPr sz="1425" b="1" i="0">
                <a:solidFill>
                  <a:srgbClr val="3B6FB6"/>
                </a:solidFill>
                <a:latin typeface="Arial"/>
                <a:ea typeface="Arial"/>
                <a:cs typeface="Arial"/>
              </a:rPr>
              <a:t>Formula</a:t>
            </a:r>
          </a:p>
        </p:txBody>
      </p:sp>
      <p:sp>
        <p:nvSpPr>
          <p:cNvPr id="11" name="">
            <a:extLst xmlns:a="http://schemas.openxmlformats.org/drawingml/2006/main">
              <a:ext uri="{FF2B5EF4-FFF2-40B4-BE49-F238E27FC236}">
                <a16:creationId xmlns:a16="http://schemas.microsoft.com/office/drawing/2014/main" id="{00AAE1A9-0055-49EA-8A79-8A8B1DF2F8AD}"/>
              </a:ext>
            </a:extLst>
          </p:cNvPr>
          <p:cNvSpPr>
            <a:spLocks xmlns:a="http://schemas.openxmlformats.org/drawingml/2006/main" noGrp="1"/>
          </p:cNvSpPr>
          <p:nvPr/>
        </p:nvSpPr>
        <p:spPr>
          <a:xfrm xmlns:a="http://schemas.openxmlformats.org/drawingml/2006/main">
            <a:off x="7543800" y="4362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102A43"/>
                </a:solidFill>
                <a:latin typeface="Arial"/>
                <a:ea typeface="Arial"/>
                <a:cs typeface="Arial"/>
              </a:defRPr>
            </a:pPr>
            <a:r>
              <a:rPr sz="1650" b="1" i="0">
                <a:solidFill>
                  <a:srgbClr val="102A43"/>
                </a:solidFill>
                <a:latin typeface="Arial"/>
                <a:ea typeface="Arial"/>
                <a:cs typeface="Arial"/>
              </a:rPr>
              <a:t>S(W) = (Ts + Tp) / (Ts + Tp / W)</a:t>
            </a:r>
          </a:p>
        </p:txBody>
      </p:sp>
      <p:sp>
        <p:nvSpPr>
          <p:cNvPr id="12" name="">
            <a:extLst xmlns:a="http://schemas.openxmlformats.org/drawingml/2006/main">
              <a:ext uri="{FF2B5EF4-FFF2-40B4-BE49-F238E27FC236}">
                <a16:creationId xmlns:a16="http://schemas.microsoft.com/office/drawing/2014/main" id="{1C75CB70-7412-4C4A-9C46-80C304FCC228}"/>
              </a:ext>
            </a:extLst>
          </p:cNvPr>
          <p:cNvSpPr>
            <a:spLocks xmlns:a="http://schemas.openxmlformats.org/drawingml/2006/main" noGrp="1"/>
          </p:cNvSpPr>
          <p:nvPr/>
        </p:nvSpPr>
        <p:spPr>
          <a:xfrm xmlns:a="http://schemas.openxmlformats.org/drawingml/2006/main">
            <a:off x="7543800" y="48768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383"/>
          </a:bodyPr>
          <a:lstStyle xmlns:a="http://schemas.openxmlformats.org/drawingml/2006/main"/>
          <a:p xmlns:a="http://schemas.openxmlformats.org/drawingml/2006/main">
            <a:pPr algn="l">
              <a:defRPr sz="1125" b="0" i="0">
                <a:solidFill>
                  <a:srgbClr val="486581"/>
                </a:solidFill>
                <a:latin typeface="Arial"/>
                <a:ea typeface="Arial"/>
                <a:cs typeface="Arial"/>
              </a:defRPr>
            </a:pPr>
            <a:r>
              <a:rPr sz="1125" b="0" i="0">
                <a:solidFill>
                  <a:srgbClr val="486581"/>
                </a:solidFill>
                <a:latin typeface="Arial"/>
                <a:ea typeface="Arial"/>
                <a:cs typeface="Arial"/>
              </a:rPr>
              <a:t>Empirical speedup uses the Week 4 serial end-to-end baseline. Theoretical speedup uses each parallel program's measured one-worker decomposition; this difference is stated explicitly.</a:t>
            </a:r>
          </a:p>
        </p:txBody>
      </p:sp>
    </p:spTree>
    <p:extLst>
      <p:ext uri="{BB962C8B-B14F-4D97-AF65-F5344CB8AC3E}">
        <p14:creationId xmlns:p14="http://schemas.microsoft.com/office/powerpoint/2010/main" val="1217240119"/>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38FEFC-D8A7-4779-B8E4-40228EA41C2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B3F39731-C318-44A9-B112-CA2CFD411AD2}"/>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C915FA6D-4958-4ADA-9D12-9F14EC6F70A5}"/>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Evidence and Moodle submission readiness</a:t>
            </a:r>
          </a:p>
        </p:txBody>
      </p:sp>
      <p:sp>
        <p:nvSpPr>
          <p:cNvPr id="4" name="">
            <a:extLst xmlns:a="http://schemas.openxmlformats.org/drawingml/2006/main">
              <a:ext uri="{FF2B5EF4-FFF2-40B4-BE49-F238E27FC236}">
                <a16:creationId xmlns:a16="http://schemas.microsoft.com/office/drawing/2014/main" id="{139E1B0A-67BA-47A9-86CC-BF56A597155C}"/>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2</a:t>
            </a:r>
          </a:p>
        </p:txBody>
      </p:sp>
      <p:sp>
        <p:nvSpPr>
          <p:cNvPr id="5" name="">
            <a:extLst xmlns:a="http://schemas.openxmlformats.org/drawingml/2006/main">
              <a:ext uri="{FF2B5EF4-FFF2-40B4-BE49-F238E27FC236}">
                <a16:creationId xmlns:a16="http://schemas.microsoft.com/office/drawing/2014/main" id="{64169966-032E-4F60-B692-C14A947E41BD}"/>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Verified artifacts</a:t>
            </a:r>
          </a:p>
        </p:txBody>
      </p:sp>
      <p:graphicFrame>
        <p:nvGraphicFramePr>
          <p:cNvPr id="14" name=""/>
          <p:cNvGraphicFramePr/>
          <p:nvPr/>
        </p:nvGraphicFramePr>
        <p:xfrm>
          <a:off xmlns:a="http://schemas.openxmlformats.org/drawingml/2006/main" x="552450" y="1485900"/>
          <a:ext xmlns:a="http://schemas.openxmlformats.org/drawingml/2006/main" cx="11087100" cy="3695700"/>
        </p:xfrm>
        <a:graphic xmlns:a="http://schemas.openxmlformats.org/drawingml/2006/main">
          <a:graphicData uri="http://schemas.openxmlformats.org/drawingml/2006/table">
            <a:tbl>
              <a:tblPr firstRow="1" bandRow="0"/>
              <a:tblGrid>
                <a:gridCol w="2571750"/>
                <a:gridCol w="6191250"/>
                <a:gridCol w="2324100"/>
              </a:tblGrid>
              <a:tr h="410633">
                <a:tc>
                  <a:txBody>
                    <a:bodyPr/>
                    <a:lstStyle/>
                    <a:p>
                      <a:r>
                        <a:rPr sz="900" b="1">
                          <a:solidFill>
                            <a:srgbClr val="FFFFFF"/>
                          </a:solidFill>
                          <a:latin typeface="Arial"/>
                          <a:ea typeface="Arial"/>
                          <a:cs typeface="Arial"/>
                        </a:rPr>
                        <a:t>Requirement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Artifact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Status</a:t>
                      </a:r>
                    </a:p>
                  </a:txBody>
                  <a:tcPr marL="76200" marR="76200" marT="57150" marB="57150" anchor="ctr">
                    <a:solidFill>
                      <a:srgbClr val="005F66"/>
                    </a:solidFill>
                  </a:tcPr>
                </a:tc>
              </a:tr>
              <a:tr h="410633">
                <a:tc>
                  <a:txBody>
                    <a:bodyPr/>
                    <a:lstStyle/>
                    <a:p>
                      <a:r>
                        <a:rPr sz="900">
                          <a:solidFill>
                            <a:srgbClr val="102A43"/>
                          </a:solidFill>
                          <a:latin typeface="Arial"/>
                          <a:ea typeface="Arial"/>
                          <a:cs typeface="Arial"/>
                        </a:rPr>
                        <a:t>Task 1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task1.c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Task 2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task2.c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FIT3143_Week8_Lab2_Presentation_Submission.pptx</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scripts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supporting/scripts/ (retained for inspection)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results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supporting/results/ and supporting/evidence/</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use declaration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Appendix 5 in this 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prompt record PDF</a:t>
                      </a:r>
                    </a:p>
                  </a:txBody>
                  <a:tcPr marL="76200" marR="76200" marT="47625" marB="47625" anchor="ctr">
                    <a:solidFill>
                      <a:srgbClr val="FFFFFF"/>
                    </a:solidFill>
                  </a:tcPr>
                </a:tc>
                <a:tc>
                  <a:txBody>
                    <a:bodyPr/>
                    <a:lstStyle/>
                    <a:p>
                      <a:r>
                        <a:rPr sz="900">
                          <a:solidFill>
                            <a:srgbClr val="102A43"/>
                          </a:solidFill>
                          <a:latin typeface="Arial"/>
                          <a:ea typeface="Arial"/>
                          <a:cs typeface="Arial"/>
                        </a:rPr>
                        <a:t>Export from the actual AI conversation</a:t>
                      </a:r>
                    </a:p>
                  </a:txBody>
                  <a:tcPr marL="76200" marR="76200" marT="47625" marB="47625" anchor="ctr">
                    <a:solidFill>
                      <a:srgbClr val="FFFFFF"/>
                    </a:solidFill>
                  </a:tcPr>
                </a:tc>
                <a:tc>
                  <a:txBody>
                    <a:bodyPr/>
                    <a:lstStyle/>
                    <a:p>
                      <a:r>
                        <a:rPr sz="900" b="1">
                          <a:solidFill>
                            <a:srgbClr val="C2413B"/>
                          </a:solidFill>
                          <a:latin typeface="Arial"/>
                          <a:ea typeface="Arial"/>
                          <a:cs typeface="Arial"/>
                        </a:rPr>
                        <a:t>ADD BEFORE MOODLE</a:t>
                      </a:r>
                    </a:p>
                  </a:txBody>
                  <a:tcPr marL="76200" marR="76200" marT="47625" marB="47625" anchor="ctr">
                    <a:solidFill>
                      <a:srgbClr val="FFF1F0"/>
                    </a:solidFill>
                  </a:tcPr>
                </a:tc>
              </a:tr>
              <a:tr h="410633">
                <a:tc>
                  <a:txBody>
                    <a:bodyPr/>
                    <a:lstStyle/>
                    <a:p>
                      <a:r>
                        <a:rPr sz="900">
                          <a:solidFill>
                            <a:srgbClr val="102A43"/>
                          </a:solidFill>
                          <a:latin typeface="Arial"/>
                          <a:ea typeface="Arial"/>
                          <a:cs typeface="Arial"/>
                        </a:rPr>
                        <a:t>CAAS screenshots</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Appendices 3–4: setup and two-node Task 1</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8B43E81-EC93-4011-8A7C-662070695D75}"/>
              </a:ext>
            </a:extLst>
          </p:cNvPr>
          <p:cNvSpPr>
            <a:spLocks xmlns:a="http://schemas.openxmlformats.org/drawingml/2006/main" noGrp="1"/>
          </p:cNvSpPr>
          <p:nvPr/>
        </p:nvSpPr>
        <p:spPr>
          <a:xfrm xmlns:a="http://schemas.openxmlformats.org/drawingml/2006/main">
            <a:off x="1619250" y="5543550"/>
            <a:ext cx="89535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3280E2C8-9FA9-4A44-8656-C3E4F52CA8B7}"/>
              </a:ext>
            </a:extLst>
          </p:cNvPr>
          <p:cNvSpPr>
            <a:spLocks xmlns:a="http://schemas.openxmlformats.org/drawingml/2006/main" noGrp="1"/>
          </p:cNvSpPr>
          <p:nvPr/>
        </p:nvSpPr>
        <p:spPr>
          <a:xfrm xmlns:a="http://schemas.openxmlformats.org/drawingml/2006/main">
            <a:off x="1790700" y="5667375"/>
            <a:ext cx="861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Do not submit until the red item is authentic, legible and included. This review cannot fabricate it.</a:t>
            </a:r>
          </a:p>
        </p:txBody>
      </p:sp>
    </p:spTree>
    <p:extLst>
      <p:ext uri="{BB962C8B-B14F-4D97-AF65-F5344CB8AC3E}">
        <p14:creationId xmlns:p14="http://schemas.microsoft.com/office/powerpoint/2010/main" val="719287126"/>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A8AED1-1598-47C6-8A37-B4A1524C4E6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ECA8FA2E-B02F-40C7-841D-CED7E952886C}"/>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75A2CFA8-6809-43AA-8FBF-CF0D589AC342}"/>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access and job setup</a:t>
            </a:r>
          </a:p>
        </p:txBody>
      </p:sp>
      <p:sp>
        <p:nvSpPr>
          <p:cNvPr id="4" name="">
            <a:extLst xmlns:a="http://schemas.openxmlformats.org/drawingml/2006/main">
              <a:ext uri="{FF2B5EF4-FFF2-40B4-BE49-F238E27FC236}">
                <a16:creationId xmlns:a16="http://schemas.microsoft.com/office/drawing/2014/main" id="{FCD0CB43-B34D-457D-9A57-813FE356634E}"/>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3</a:t>
            </a:r>
          </a:p>
        </p:txBody>
      </p:sp>
      <p:sp>
        <p:nvSpPr>
          <p:cNvPr id="5" name="">
            <a:extLst xmlns:a="http://schemas.openxmlformats.org/drawingml/2006/main">
              <a:ext uri="{FF2B5EF4-FFF2-40B4-BE49-F238E27FC236}">
                <a16:creationId xmlns:a16="http://schemas.microsoft.com/office/drawing/2014/main" id="{93F605AA-F968-4BA9-B722-0B09A280A9BA}"/>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CAAS head-node access and source upload</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35103a0b8954026"/>
          <a:stretch xmlns:a="http://schemas.openxmlformats.org/drawingml/2006/main"/>
        </p:blipFill>
        <p:spPr>
          <a:xfrm xmlns:a="http://schemas.openxmlformats.org/drawingml/2006/main">
            <a:off x="1105082" y="1447800"/>
            <a:ext cx="5085985"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D4F6CB2-CD65-4D04-AF74-96FC189A9D51}"/>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F1075201-8C19-4196-9109-1E7357803995}"/>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3684CCB0-DDFA-41D5-B045-CF86583F5CB4}"/>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Authenticated CAAS head-node access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SLURM defq reported idle compute nodes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and Task 2 sources uploaded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Setup evidence only; no performance claim</a:t>
            </a:r>
          </a:p>
        </p:txBody>
      </p:sp>
      <p:sp>
        <p:nvSpPr>
          <p:cNvPr id="10" name="">
            <a:extLst xmlns:a="http://schemas.openxmlformats.org/drawingml/2006/main">
              <a:ext uri="{FF2B5EF4-FFF2-40B4-BE49-F238E27FC236}">
                <a16:creationId xmlns:a16="http://schemas.microsoft.com/office/drawing/2014/main" id="{89DB9C7F-F5CF-43A5-8662-AE5E506ABE62}"/>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20F733C8-E66A-4FC9-865E-01C6EEFE0E2F}"/>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capture establishes the CAAS environment before the submitted two-node Task 1 job shown in Appendix 4.</a:t>
            </a:r>
          </a:p>
        </p:txBody>
      </p:sp>
    </p:spTree>
    <p:extLst>
      <p:ext uri="{BB962C8B-B14F-4D97-AF65-F5344CB8AC3E}">
        <p14:creationId xmlns:p14="http://schemas.microsoft.com/office/powerpoint/2010/main" val="97762254"/>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277E62-5805-4741-A528-D18123B7254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7E61B879-807A-42E5-A962-B09DAC0D44BA}"/>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AF404E84-5D8C-4336-8415-FBD24BE3F2CF}"/>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two-node Task 1 run</a:t>
            </a:r>
          </a:p>
        </p:txBody>
      </p:sp>
      <p:sp>
        <p:nvSpPr>
          <p:cNvPr id="4" name="">
            <a:extLst xmlns:a="http://schemas.openxmlformats.org/drawingml/2006/main">
              <a:ext uri="{FF2B5EF4-FFF2-40B4-BE49-F238E27FC236}">
                <a16:creationId xmlns:a16="http://schemas.microsoft.com/office/drawing/2014/main" id="{075F76E9-4805-4585-A279-52CBB61B07AA}"/>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4</a:t>
            </a:r>
          </a:p>
        </p:txBody>
      </p:sp>
      <p:sp>
        <p:nvSpPr>
          <p:cNvPr id="5" name="">
            <a:extLst xmlns:a="http://schemas.openxmlformats.org/drawingml/2006/main">
              <a:ext uri="{FF2B5EF4-FFF2-40B4-BE49-F238E27FC236}">
                <a16:creationId xmlns:a16="http://schemas.microsoft.com/office/drawing/2014/main" id="{01E7B4B9-869E-4196-94FA-912D1534D1A6}"/>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Two-node CAAS Task 1 functional execution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6768a7fc64f4083"/>
          <a:stretch xmlns:a="http://schemas.openxmlformats.org/drawingml/2006/main"/>
        </p:blipFill>
        <p:spPr>
          <a:xfrm xmlns:a="http://schemas.openxmlformats.org/drawingml/2006/main">
            <a:off x="1279495" y="1447800"/>
            <a:ext cx="4737160"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C76A438-8927-4F36-98F2-58851C09A5F8}"/>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1DA56DA0-526E-42C9-8A76-C874C9A94C3B}"/>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3F0A2AFC-476B-4171-8C71-CE15376E9ACF}"/>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Allocated nodes: student-caas-n03 and n04</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8 MPI ranks, 4 ranks on each node</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at n = 10,000 returned 1,229 primes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Functional proof only; not performance or balance data</a:t>
            </a:r>
          </a:p>
        </p:txBody>
      </p:sp>
      <p:sp>
        <p:nvSpPr>
          <p:cNvPr id="10" name="">
            <a:extLst xmlns:a="http://schemas.openxmlformats.org/drawingml/2006/main">
              <a:ext uri="{FF2B5EF4-FFF2-40B4-BE49-F238E27FC236}">
                <a16:creationId xmlns:a16="http://schemas.microsoft.com/office/drawing/2014/main" id="{446D9718-6B71-400E-8B3D-F4F68BBE4B59}"/>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F68CEE15-F574-4CCD-BA09-28D559D8402D}"/>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CAAS functional evidence. The existing graphs and balance findings remain based on the documented local measurement files.</a:t>
            </a:r>
          </a:p>
        </p:txBody>
      </p:sp>
    </p:spTree>
    <p:extLst>
      <p:ext uri="{BB962C8B-B14F-4D97-AF65-F5344CB8AC3E}">
        <p14:creationId xmlns:p14="http://schemas.microsoft.com/office/powerpoint/2010/main" val="638972945"/>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C9A78D4-6EFB-4CAB-B1CD-3F2E6C504A8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606F8ACC-5161-43DE-A3F2-E8FFB19F435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1998C59C-5CFC-4303-B8C6-0B4667BF5A7F}"/>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Generative AI use declaration</a:t>
            </a:r>
          </a:p>
        </p:txBody>
      </p:sp>
      <p:sp>
        <p:nvSpPr>
          <p:cNvPr id="4" name="">
            <a:extLst xmlns:a="http://schemas.openxmlformats.org/drawingml/2006/main">
              <a:ext uri="{FF2B5EF4-FFF2-40B4-BE49-F238E27FC236}">
                <a16:creationId xmlns:a16="http://schemas.microsoft.com/office/drawing/2014/main" id="{ED2435A5-215E-4BCD-B6B2-7AC20BE8F9D0}"/>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5</a:t>
            </a:r>
          </a:p>
        </p:txBody>
      </p:sp>
      <p:sp>
        <p:nvSpPr>
          <p:cNvPr id="5" name="">
            <a:extLst xmlns:a="http://schemas.openxmlformats.org/drawingml/2006/main">
              <a:ext uri="{FF2B5EF4-FFF2-40B4-BE49-F238E27FC236}">
                <a16:creationId xmlns:a16="http://schemas.microsoft.com/office/drawing/2014/main" id="{F29FFFC2-74AF-49DA-AA11-4AA032CBF0CD}"/>
              </a:ext>
            </a:extLst>
          </p:cNvPr>
          <p:cNvSpPr>
            <a:spLocks xmlns:a="http://schemas.openxmlformats.org/drawingml/2006/main" noGrp="1"/>
          </p:cNvSpPr>
          <p:nvPr/>
        </p:nvSpPr>
        <p:spPr>
          <a:xfrm xmlns:a="http://schemas.openxmlformats.org/drawingml/2006/main">
            <a:off x="552450" y="110490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Included in this presentation</a:t>
            </a:r>
          </a:p>
        </p:txBody>
      </p:sp>
      <p:sp>
        <p:nvSpPr>
          <p:cNvPr id="6" name="">
            <a:extLst xmlns:a="http://schemas.openxmlformats.org/drawingml/2006/main">
              <a:ext uri="{FF2B5EF4-FFF2-40B4-BE49-F238E27FC236}">
                <a16:creationId xmlns:a16="http://schemas.microsoft.com/office/drawing/2014/main" id="{3462E034-4646-4BF4-B382-9A9945417575}"/>
              </a:ext>
            </a:extLst>
          </p:cNvPr>
          <p:cNvSpPr>
            <a:spLocks xmlns:a="http://schemas.openxmlformats.org/drawingml/2006/main" noGrp="1"/>
          </p:cNvSpPr>
          <p:nvPr/>
        </p:nvSpPr>
        <p:spPr>
          <a:xfrm xmlns:a="http://schemas.openxmlformats.org/drawingml/2006/main">
            <a:off x="742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Scope of assistance</a:t>
            </a:r>
          </a:p>
        </p:txBody>
      </p:sp>
      <p:sp>
        <p:nvSpPr>
          <p:cNvPr id="7" name="">
            <a:extLst xmlns:a="http://schemas.openxmlformats.org/drawingml/2006/main">
              <a:ext uri="{FF2B5EF4-FFF2-40B4-BE49-F238E27FC236}">
                <a16:creationId xmlns:a16="http://schemas.microsoft.com/office/drawing/2014/main" id="{26BB11FC-44AF-4B4A-8084-E0E9655CA5DC}"/>
              </a:ext>
            </a:extLst>
          </p:cNvPr>
          <p:cNvSpPr>
            <a:spLocks xmlns:a="http://schemas.openxmlformats.org/drawingml/2006/main" noGrp="1"/>
          </p:cNvSpPr>
          <p:nvPr/>
        </p:nvSpPr>
        <p:spPr>
          <a:xfrm xmlns:a="http://schemas.openxmlformats.org/drawingml/2006/main">
            <a:off x="742950" y="204787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Generative AI assisted with interpreting the specification and rubric, reviewing the MPI and hybrid implementation, planning experiments, drafting charts and slides, and preparing documentation.</a:t>
            </a:r>
          </a:p>
        </p:txBody>
      </p:sp>
      <p:sp>
        <p:nvSpPr>
          <p:cNvPr id="8" name="">
            <a:extLst xmlns:a="http://schemas.openxmlformats.org/drawingml/2006/main">
              <a:ext uri="{FF2B5EF4-FFF2-40B4-BE49-F238E27FC236}">
                <a16:creationId xmlns:a16="http://schemas.microsoft.com/office/drawing/2014/main" id="{BA4E6748-56E7-4DA6-A674-495475E98B04}"/>
              </a:ext>
            </a:extLst>
          </p:cNvPr>
          <p:cNvSpPr>
            <a:spLocks xmlns:a="http://schemas.openxmlformats.org/drawingml/2006/main" noGrp="1"/>
          </p:cNvSpPr>
          <p:nvPr/>
        </p:nvSpPr>
        <p:spPr>
          <a:xfrm xmlns:a="http://schemas.openxmlformats.org/drawingml/2006/main">
            <a:off x="6096000" y="1562100"/>
            <a:ext cx="19050" cy="15811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9" name="">
            <a:extLst xmlns:a="http://schemas.openxmlformats.org/drawingml/2006/main">
              <a:ext uri="{FF2B5EF4-FFF2-40B4-BE49-F238E27FC236}">
                <a16:creationId xmlns:a16="http://schemas.microsoft.com/office/drawing/2014/main" id="{5261BC13-0418-431D-81A1-704E87FD1695}"/>
              </a:ext>
            </a:extLst>
          </p:cNvPr>
          <p:cNvSpPr>
            <a:spLocks xmlns:a="http://schemas.openxmlformats.org/drawingml/2006/main" noGrp="1"/>
          </p:cNvSpPr>
          <p:nvPr/>
        </p:nvSpPr>
        <p:spPr>
          <a:xfrm xmlns:a="http://schemas.openxmlformats.org/drawingml/2006/main">
            <a:off x="6457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Team responsibility</a:t>
            </a:r>
          </a:p>
        </p:txBody>
      </p:sp>
      <p:sp>
        <p:nvSpPr>
          <p:cNvPr id="10" name="">
            <a:extLst xmlns:a="http://schemas.openxmlformats.org/drawingml/2006/main">
              <a:ext uri="{FF2B5EF4-FFF2-40B4-BE49-F238E27FC236}">
                <a16:creationId xmlns:a16="http://schemas.microsoft.com/office/drawing/2014/main" id="{67183DED-4821-49B5-879B-F5158B938DE0}"/>
              </a:ext>
            </a:extLst>
          </p:cNvPr>
          <p:cNvSpPr>
            <a:spLocks xmlns:a="http://schemas.openxmlformats.org/drawingml/2006/main" noGrp="1"/>
          </p:cNvSpPr>
          <p:nvPr/>
        </p:nvSpPr>
        <p:spPr>
          <a:xfrm xmlns:a="http://schemas.openxmlformats.org/drawingml/2006/main">
            <a:off x="6457950" y="2047875"/>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reviewed the material against the supplied requirements, compiled and executed the programs locally, validated prime output independently, and accepts responsibility for every submitted claim and result.</a:t>
            </a:r>
          </a:p>
        </p:txBody>
      </p:sp>
      <p:sp>
        <p:nvSpPr>
          <p:cNvPr id="11" name="">
            <a:extLst xmlns:a="http://schemas.openxmlformats.org/drawingml/2006/main">
              <a:ext uri="{FF2B5EF4-FFF2-40B4-BE49-F238E27FC236}">
                <a16:creationId xmlns:a16="http://schemas.microsoft.com/office/drawing/2014/main" id="{2DDEB59F-1075-48AE-B015-DC1CAE0A8F9A}"/>
              </a:ext>
            </a:extLst>
          </p:cNvPr>
          <p:cNvSpPr>
            <a:spLocks xmlns:a="http://schemas.openxmlformats.org/drawingml/2006/main" noGrp="1"/>
          </p:cNvSpPr>
          <p:nvPr/>
        </p:nvSpPr>
        <p:spPr>
          <a:xfrm xmlns:a="http://schemas.openxmlformats.org/drawingml/2006/main">
            <a:off x="742950" y="3524250"/>
            <a:ext cx="10687050" cy="190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12" name="">
            <a:extLst xmlns:a="http://schemas.openxmlformats.org/drawingml/2006/main">
              <a:ext uri="{FF2B5EF4-FFF2-40B4-BE49-F238E27FC236}">
                <a16:creationId xmlns:a16="http://schemas.microsoft.com/office/drawing/2014/main" id="{6BAF3CA5-6B0F-487A-804D-410A8CCD0991}"/>
              </a:ext>
            </a:extLst>
          </p:cNvPr>
          <p:cNvSpPr>
            <a:spLocks xmlns:a="http://schemas.openxmlformats.org/drawingml/2006/main" noGrp="1"/>
          </p:cNvSpPr>
          <p:nvPr/>
        </p:nvSpPr>
        <p:spPr>
          <a:xfrm xmlns:a="http://schemas.openxmlformats.org/drawingml/2006/main">
            <a:off x="742950" y="38481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Presentation and Q&amp;A</a:t>
            </a:r>
          </a:p>
        </p:txBody>
      </p:sp>
      <p:sp>
        <p:nvSpPr>
          <p:cNvPr id="13" name="">
            <a:extLst xmlns:a="http://schemas.openxmlformats.org/drawingml/2006/main">
              <a:ext uri="{FF2B5EF4-FFF2-40B4-BE49-F238E27FC236}">
                <a16:creationId xmlns:a16="http://schemas.microsoft.com/office/drawing/2014/main" id="{B51F1B53-C846-4001-BCA8-433D57792FFC}"/>
              </a:ext>
            </a:extLst>
          </p:cNvPr>
          <p:cNvSpPr>
            <a:spLocks xmlns:a="http://schemas.openxmlformats.org/drawingml/2006/main" noGrp="1"/>
          </p:cNvSpPr>
          <p:nvPr/>
        </p:nvSpPr>
        <p:spPr>
          <a:xfrm xmlns:a="http://schemas.openxmlformats.org/drawingml/2006/main">
            <a:off x="742950" y="42291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03"/>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will explain the partitioning decision, MPI collectives, OpenMP scheduling, timing method, and performance observations without external tools.</a:t>
            </a:r>
          </a:p>
        </p:txBody>
      </p:sp>
      <p:sp>
        <p:nvSpPr>
          <p:cNvPr id="14" name="">
            <a:extLst xmlns:a="http://schemas.openxmlformats.org/drawingml/2006/main">
              <a:ext uri="{FF2B5EF4-FFF2-40B4-BE49-F238E27FC236}">
                <a16:creationId xmlns:a16="http://schemas.microsoft.com/office/drawing/2014/main" id="{371EBF0B-630F-40D8-A832-DA71DE68CDD0}"/>
              </a:ext>
            </a:extLst>
          </p:cNvPr>
          <p:cNvSpPr>
            <a:spLocks xmlns:a="http://schemas.openxmlformats.org/drawingml/2006/main" noGrp="1"/>
          </p:cNvSpPr>
          <p:nvPr/>
        </p:nvSpPr>
        <p:spPr>
          <a:xfrm xmlns:a="http://schemas.openxmlformats.org/drawingml/2006/main">
            <a:off x="990600" y="51816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5" name="">
            <a:extLst xmlns:a="http://schemas.openxmlformats.org/drawingml/2006/main">
              <a:ext uri="{FF2B5EF4-FFF2-40B4-BE49-F238E27FC236}">
                <a16:creationId xmlns:a16="http://schemas.microsoft.com/office/drawing/2014/main" id="{5BB1A096-A870-4FE1-8955-FFD9D239C557}"/>
              </a:ext>
            </a:extLst>
          </p:cNvPr>
          <p:cNvSpPr>
            <a:spLocks xmlns:a="http://schemas.openxmlformats.org/drawingml/2006/main" noGrp="1"/>
          </p:cNvSpPr>
          <p:nvPr/>
        </p:nvSpPr>
        <p:spPr>
          <a:xfrm xmlns:a="http://schemas.openxmlformats.org/drawingml/2006/main">
            <a:off x="1162050" y="53054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897"/>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presentation records the AI-use declaration. Export the authentic prompt/conversation record from the AI service before Moodle submission.</a:t>
            </a:r>
          </a:p>
        </p:txBody>
      </p:sp>
    </p:spTree>
    <p:extLst>
      <p:ext uri="{BB962C8B-B14F-4D97-AF65-F5344CB8AC3E}">
        <p14:creationId xmlns:p14="http://schemas.microsoft.com/office/powerpoint/2010/main" val="12568340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2026-09-18T06:57:20.5670000Z</dcterms:created>
  <dcterms:modified xsi:type="dcterms:W3CDTF">2026-09-18T06:57:20.5670000Z</dcterms:modified>
</coreProperties>
</file>