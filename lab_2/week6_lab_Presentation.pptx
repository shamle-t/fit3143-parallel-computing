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8" autoAdjust="0"/>
    <p:restoredTop sz="94610"/>
  </p:normalViewPr>
  <p:slideViewPr>
    <p:cSldViewPr snapToGrid="0" snapToObjects="1">
      <p:cViewPr>
        <p:scale>
          <a:sx n="116" d="100"/>
          <a:sy n="116" d="100"/>
        </p:scale>
        <p:origin x="10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5"/>
          <c:w val="0.78"/>
          <c:h val="0.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STATUS_UPDATE</c:v>
                </c:pt>
              </c:strCache>
            </c:strRef>
          </c:tx>
          <c:spPr>
            <a:ln w="27940" cap="flat">
              <a:solidFill>
                <a:srgbClr val="4C7D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C7DFF"/>
              </a:solidFill>
              <a:ln w="9525" cap="flat">
                <a:solidFill>
                  <a:srgbClr val="4C7DF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4</c:v>
                </c:pt>
                <c:pt idx="1">
                  <c:v>16</c:v>
                </c:pt>
                <c:pt idx="2">
                  <c:v>36</c:v>
                </c:pt>
                <c:pt idx="3">
                  <c:v>64</c:v>
                </c:pt>
                <c:pt idx="4">
                  <c:v>100</c:v>
                </c:pt>
                <c:pt idx="5">
                  <c:v>144</c:v>
                </c:pt>
                <c:pt idx="6">
                  <c:v>196</c:v>
                </c:pt>
                <c:pt idx="7">
                  <c:v>256</c:v>
                </c:pt>
                <c:pt idx="8">
                  <c:v>400</c:v>
                </c:pt>
                <c:pt idx="9">
                  <c:v>576</c:v>
                </c:pt>
                <c:pt idx="10">
                  <c:v>784</c:v>
                </c:pt>
                <c:pt idx="11">
                  <c:v>1024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0.89600000000000002</c:v>
                </c:pt>
                <c:pt idx="1">
                  <c:v>3.5840000000000001</c:v>
                </c:pt>
                <c:pt idx="2">
                  <c:v>8.0640000000000001</c:v>
                </c:pt>
                <c:pt idx="3">
                  <c:v>14.336</c:v>
                </c:pt>
                <c:pt idx="4">
                  <c:v>22.400000000000002</c:v>
                </c:pt>
                <c:pt idx="5">
                  <c:v>32.256</c:v>
                </c:pt>
                <c:pt idx="6">
                  <c:v>43.904000000000003</c:v>
                </c:pt>
                <c:pt idx="7">
                  <c:v>57.344000000000001</c:v>
                </c:pt>
                <c:pt idx="8">
                  <c:v>89.600000000000009</c:v>
                </c:pt>
                <c:pt idx="9">
                  <c:v>129.024</c:v>
                </c:pt>
                <c:pt idx="10">
                  <c:v>175.61600000000001</c:v>
                </c:pt>
                <c:pt idx="11">
                  <c:v>229.376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42-46BE-8655-181AA40B23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NEIGHBOUR_QUERY</c:v>
                </c:pt>
              </c:strCache>
            </c:strRef>
          </c:tx>
          <c:spPr>
            <a:ln w="27940" cap="flat">
              <a:solidFill>
                <a:srgbClr val="FFB8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84D"/>
              </a:solidFill>
              <a:ln w="9525" cap="flat">
                <a:solidFill>
                  <a:srgbClr val="FFB84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4</c:v>
                </c:pt>
                <c:pt idx="1">
                  <c:v>16</c:v>
                </c:pt>
                <c:pt idx="2">
                  <c:v>36</c:v>
                </c:pt>
                <c:pt idx="3">
                  <c:v>64</c:v>
                </c:pt>
                <c:pt idx="4">
                  <c:v>100</c:v>
                </c:pt>
                <c:pt idx="5">
                  <c:v>144</c:v>
                </c:pt>
                <c:pt idx="6">
                  <c:v>196</c:v>
                </c:pt>
                <c:pt idx="7">
                  <c:v>256</c:v>
                </c:pt>
                <c:pt idx="8">
                  <c:v>400</c:v>
                </c:pt>
                <c:pt idx="9">
                  <c:v>576</c:v>
                </c:pt>
                <c:pt idx="10">
                  <c:v>784</c:v>
                </c:pt>
                <c:pt idx="11">
                  <c:v>1024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0.51200000000000001</c:v>
                </c:pt>
                <c:pt idx="1">
                  <c:v>3.0720000000000001</c:v>
                </c:pt>
                <c:pt idx="2">
                  <c:v>7.68</c:v>
                </c:pt>
                <c:pt idx="3">
                  <c:v>14.336</c:v>
                </c:pt>
                <c:pt idx="4">
                  <c:v>23.04</c:v>
                </c:pt>
                <c:pt idx="5">
                  <c:v>33.792000000000002</c:v>
                </c:pt>
                <c:pt idx="6">
                  <c:v>46.591999999999999</c:v>
                </c:pt>
                <c:pt idx="7">
                  <c:v>61.44</c:v>
                </c:pt>
                <c:pt idx="8">
                  <c:v>97.28</c:v>
                </c:pt>
                <c:pt idx="9">
                  <c:v>141.31200000000001</c:v>
                </c:pt>
                <c:pt idx="10">
                  <c:v>193.536</c:v>
                </c:pt>
                <c:pt idx="11">
                  <c:v>253.952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42-46BE-8655-181AA40B23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NEIGHBOUR_REPLY</c:v>
                </c:pt>
              </c:strCache>
            </c:strRef>
          </c:tx>
          <c:spPr>
            <a:ln w="27940" cap="flat">
              <a:solidFill>
                <a:srgbClr val="34E7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E7B2"/>
              </a:solidFill>
              <a:ln w="9525" cap="flat">
                <a:solidFill>
                  <a:srgbClr val="34E7B2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4</c:v>
                </c:pt>
                <c:pt idx="1">
                  <c:v>16</c:v>
                </c:pt>
                <c:pt idx="2">
                  <c:v>36</c:v>
                </c:pt>
                <c:pt idx="3">
                  <c:v>64</c:v>
                </c:pt>
                <c:pt idx="4">
                  <c:v>100</c:v>
                </c:pt>
                <c:pt idx="5">
                  <c:v>144</c:v>
                </c:pt>
                <c:pt idx="6">
                  <c:v>196</c:v>
                </c:pt>
                <c:pt idx="7">
                  <c:v>256</c:v>
                </c:pt>
                <c:pt idx="8">
                  <c:v>400</c:v>
                </c:pt>
                <c:pt idx="9">
                  <c:v>576</c:v>
                </c:pt>
                <c:pt idx="10">
                  <c:v>784</c:v>
                </c:pt>
                <c:pt idx="11">
                  <c:v>1024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1.28</c:v>
                </c:pt>
                <c:pt idx="1">
                  <c:v>7.68</c:v>
                </c:pt>
                <c:pt idx="2">
                  <c:v>19.2</c:v>
                </c:pt>
                <c:pt idx="3">
                  <c:v>35.840000000000003</c:v>
                </c:pt>
                <c:pt idx="4">
                  <c:v>57.6</c:v>
                </c:pt>
                <c:pt idx="5">
                  <c:v>84.48</c:v>
                </c:pt>
                <c:pt idx="6">
                  <c:v>116.48</c:v>
                </c:pt>
                <c:pt idx="7">
                  <c:v>153.6</c:v>
                </c:pt>
                <c:pt idx="8">
                  <c:v>243.20000000000002</c:v>
                </c:pt>
                <c:pt idx="9">
                  <c:v>353.28000000000003</c:v>
                </c:pt>
                <c:pt idx="10">
                  <c:v>483.84000000000003</c:v>
                </c:pt>
                <c:pt idx="11">
                  <c:v>634.88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242-46BE-8655-181AA40B230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CONGESTION_ALERT</c:v>
                </c:pt>
              </c:strCache>
            </c:strRef>
          </c:tx>
          <c:spPr>
            <a:ln w="27940" cap="flat">
              <a:solidFill>
                <a:srgbClr val="FF5F7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5F73"/>
              </a:solidFill>
              <a:ln w="9525" cap="flat">
                <a:solidFill>
                  <a:srgbClr val="FF5F7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4</c:v>
                </c:pt>
                <c:pt idx="1">
                  <c:v>16</c:v>
                </c:pt>
                <c:pt idx="2">
                  <c:v>36</c:v>
                </c:pt>
                <c:pt idx="3">
                  <c:v>64</c:v>
                </c:pt>
                <c:pt idx="4">
                  <c:v>100</c:v>
                </c:pt>
                <c:pt idx="5">
                  <c:v>144</c:v>
                </c:pt>
                <c:pt idx="6">
                  <c:v>196</c:v>
                </c:pt>
                <c:pt idx="7">
                  <c:v>256</c:v>
                </c:pt>
                <c:pt idx="8">
                  <c:v>400</c:v>
                </c:pt>
                <c:pt idx="9">
                  <c:v>576</c:v>
                </c:pt>
                <c:pt idx="10">
                  <c:v>784</c:v>
                </c:pt>
                <c:pt idx="11">
                  <c:v>1024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1.024</c:v>
                </c:pt>
                <c:pt idx="1">
                  <c:v>4.0960000000000001</c:v>
                </c:pt>
                <c:pt idx="2">
                  <c:v>9.2160000000000011</c:v>
                </c:pt>
                <c:pt idx="3">
                  <c:v>16.384</c:v>
                </c:pt>
                <c:pt idx="4">
                  <c:v>25.6</c:v>
                </c:pt>
                <c:pt idx="5">
                  <c:v>36.864000000000004</c:v>
                </c:pt>
                <c:pt idx="6">
                  <c:v>50.176000000000002</c:v>
                </c:pt>
                <c:pt idx="7">
                  <c:v>65.536000000000001</c:v>
                </c:pt>
                <c:pt idx="8">
                  <c:v>102.4</c:v>
                </c:pt>
                <c:pt idx="9">
                  <c:v>147.45600000000002</c:v>
                </c:pt>
                <c:pt idx="10">
                  <c:v>200.70400000000001</c:v>
                </c:pt>
                <c:pt idx="11">
                  <c:v>262.14400000000001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242-46BE-8655-181AA40B230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REDIRECT_COMMAND</c:v>
                </c:pt>
              </c:strCache>
            </c:strRef>
          </c:tx>
          <c:spPr>
            <a:ln w="27940" cap="flat">
              <a:solidFill>
                <a:srgbClr val="A77B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77BFF"/>
              </a:solidFill>
              <a:ln w="9525" cap="flat">
                <a:solidFill>
                  <a:srgbClr val="A77BF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4</c:v>
                </c:pt>
                <c:pt idx="1">
                  <c:v>16</c:v>
                </c:pt>
                <c:pt idx="2">
                  <c:v>36</c:v>
                </c:pt>
                <c:pt idx="3">
                  <c:v>64</c:v>
                </c:pt>
                <c:pt idx="4">
                  <c:v>100</c:v>
                </c:pt>
                <c:pt idx="5">
                  <c:v>144</c:v>
                </c:pt>
                <c:pt idx="6">
                  <c:v>196</c:v>
                </c:pt>
                <c:pt idx="7">
                  <c:v>256</c:v>
                </c:pt>
                <c:pt idx="8">
                  <c:v>400</c:v>
                </c:pt>
                <c:pt idx="9">
                  <c:v>576</c:v>
                </c:pt>
                <c:pt idx="10">
                  <c:v>784</c:v>
                </c:pt>
                <c:pt idx="11">
                  <c:v>1024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0.51200000000000001</c:v>
                </c:pt>
                <c:pt idx="1">
                  <c:v>2.048</c:v>
                </c:pt>
                <c:pt idx="2">
                  <c:v>4.6080000000000005</c:v>
                </c:pt>
                <c:pt idx="3">
                  <c:v>8.1920000000000002</c:v>
                </c:pt>
                <c:pt idx="4">
                  <c:v>12.8</c:v>
                </c:pt>
                <c:pt idx="5">
                  <c:v>18.432000000000002</c:v>
                </c:pt>
                <c:pt idx="6">
                  <c:v>25.088000000000001</c:v>
                </c:pt>
                <c:pt idx="7">
                  <c:v>32.768000000000001</c:v>
                </c:pt>
                <c:pt idx="8">
                  <c:v>51.2</c:v>
                </c:pt>
                <c:pt idx="9">
                  <c:v>73.728000000000009</c:v>
                </c:pt>
                <c:pt idx="10">
                  <c:v>100.352</c:v>
                </c:pt>
                <c:pt idx="11">
                  <c:v>131.072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242-46BE-8655-181AA40B23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14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7BD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731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14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7BD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7BD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5"/>
          <c:w val="0.78"/>
          <c:h val="0.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STATUS_UPDATE</c:v>
                </c:pt>
              </c:strCache>
            </c:strRef>
          </c:tx>
          <c:spPr>
            <a:ln w="27940" cap="flat">
              <a:solidFill>
                <a:srgbClr val="4C7D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C7DFF"/>
              </a:solidFill>
              <a:ln w="9525" cap="flat">
                <a:solidFill>
                  <a:srgbClr val="4C7DFF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57.344000000000001</c:v>
                </c:pt>
                <c:pt idx="1">
                  <c:v>28.672000000000001</c:v>
                </c:pt>
                <c:pt idx="2">
                  <c:v>19.114666666666665</c:v>
                </c:pt>
                <c:pt idx="3">
                  <c:v>14.336</c:v>
                </c:pt>
                <c:pt idx="4">
                  <c:v>11.468800000000002</c:v>
                </c:pt>
                <c:pt idx="5">
                  <c:v>9.5573333333333323</c:v>
                </c:pt>
                <c:pt idx="6">
                  <c:v>8.1920000000000002</c:v>
                </c:pt>
                <c:pt idx="7">
                  <c:v>7.1680000000000001</c:v>
                </c:pt>
                <c:pt idx="8">
                  <c:v>6.3715555555555552</c:v>
                </c:pt>
                <c:pt idx="9">
                  <c:v>5.7344000000000008</c:v>
                </c:pt>
                <c:pt idx="10">
                  <c:v>5.2130909090909094</c:v>
                </c:pt>
                <c:pt idx="11">
                  <c:v>4.7786666666666662</c:v>
                </c:pt>
                <c:pt idx="12">
                  <c:v>4.4110769230769238</c:v>
                </c:pt>
                <c:pt idx="13">
                  <c:v>4.0960000000000001</c:v>
                </c:pt>
                <c:pt idx="14">
                  <c:v>3.8229333333333333</c:v>
                </c:pt>
                <c:pt idx="15">
                  <c:v>3.5840000000000001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94-49CD-8310-F7B780E27B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CONGESTION_ALERT</c:v>
                </c:pt>
              </c:strCache>
            </c:strRef>
          </c:tx>
          <c:spPr>
            <a:ln w="27940" cap="flat">
              <a:solidFill>
                <a:srgbClr val="FF5F7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5F73"/>
              </a:solidFill>
              <a:ln w="9525" cap="flat">
                <a:solidFill>
                  <a:srgbClr val="FF5F73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65.536000000000001</c:v>
                </c:pt>
                <c:pt idx="1">
                  <c:v>32.768000000000001</c:v>
                </c:pt>
                <c:pt idx="2">
                  <c:v>21.845333333333333</c:v>
                </c:pt>
                <c:pt idx="3">
                  <c:v>16.384</c:v>
                </c:pt>
                <c:pt idx="4">
                  <c:v>13.107200000000001</c:v>
                </c:pt>
                <c:pt idx="5">
                  <c:v>10.922666666666666</c:v>
                </c:pt>
                <c:pt idx="6">
                  <c:v>9.3622857142857132</c:v>
                </c:pt>
                <c:pt idx="7">
                  <c:v>8.1920000000000002</c:v>
                </c:pt>
                <c:pt idx="8">
                  <c:v>7.2817777777777772</c:v>
                </c:pt>
                <c:pt idx="9">
                  <c:v>6.5536000000000003</c:v>
                </c:pt>
                <c:pt idx="10">
                  <c:v>5.9578181818181823</c:v>
                </c:pt>
                <c:pt idx="11">
                  <c:v>5.4613333333333332</c:v>
                </c:pt>
                <c:pt idx="12">
                  <c:v>5.0412307692307694</c:v>
                </c:pt>
                <c:pt idx="13">
                  <c:v>4.6811428571428566</c:v>
                </c:pt>
                <c:pt idx="14">
                  <c:v>4.3690666666666669</c:v>
                </c:pt>
                <c:pt idx="15">
                  <c:v>4.0960000000000001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94-49CD-8310-F7B780E27B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REDIRECT_COMMAND</c:v>
                </c:pt>
              </c:strCache>
            </c:strRef>
          </c:tx>
          <c:spPr>
            <a:ln w="27940" cap="flat">
              <a:solidFill>
                <a:srgbClr val="A77B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77BFF"/>
              </a:solidFill>
              <a:ln w="9525" cap="flat">
                <a:solidFill>
                  <a:srgbClr val="A77BFF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32.768000000000001</c:v>
                </c:pt>
                <c:pt idx="1">
                  <c:v>16.384</c:v>
                </c:pt>
                <c:pt idx="2">
                  <c:v>10.922666666666666</c:v>
                </c:pt>
                <c:pt idx="3">
                  <c:v>8.1920000000000002</c:v>
                </c:pt>
                <c:pt idx="4">
                  <c:v>6.5536000000000003</c:v>
                </c:pt>
                <c:pt idx="5">
                  <c:v>5.4613333333333332</c:v>
                </c:pt>
                <c:pt idx="6">
                  <c:v>4.6811428571428566</c:v>
                </c:pt>
                <c:pt idx="7">
                  <c:v>4.0960000000000001</c:v>
                </c:pt>
                <c:pt idx="8">
                  <c:v>3.6408888888888886</c:v>
                </c:pt>
                <c:pt idx="9">
                  <c:v>3.2768000000000002</c:v>
                </c:pt>
                <c:pt idx="10">
                  <c:v>2.9789090909090912</c:v>
                </c:pt>
                <c:pt idx="11">
                  <c:v>2.7306666666666666</c:v>
                </c:pt>
                <c:pt idx="12">
                  <c:v>2.5206153846153847</c:v>
                </c:pt>
                <c:pt idx="13">
                  <c:v>2.3405714285714283</c:v>
                </c:pt>
                <c:pt idx="14">
                  <c:v>2.1845333333333334</c:v>
                </c:pt>
                <c:pt idx="15">
                  <c:v>2.048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994-49CD-8310-F7B780E27B2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NEIGHBOUR_QUERY</c:v>
                </c:pt>
              </c:strCache>
            </c:strRef>
          </c:tx>
          <c:spPr>
            <a:ln w="27940" cap="flat">
              <a:solidFill>
                <a:srgbClr val="FFB8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84D"/>
              </a:solidFill>
              <a:ln w="9525" cap="flat">
                <a:solidFill>
                  <a:srgbClr val="FFB84D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0.25600000000000001</c:v>
                </c:pt>
                <c:pt idx="1">
                  <c:v>0.25600000000000001</c:v>
                </c:pt>
                <c:pt idx="2">
                  <c:v>0.25600000000000001</c:v>
                </c:pt>
                <c:pt idx="3">
                  <c:v>0.25600000000000001</c:v>
                </c:pt>
                <c:pt idx="4">
                  <c:v>0.25600000000000001</c:v>
                </c:pt>
                <c:pt idx="5">
                  <c:v>0.25600000000000001</c:v>
                </c:pt>
                <c:pt idx="6">
                  <c:v>0.25600000000000001</c:v>
                </c:pt>
                <c:pt idx="7">
                  <c:v>0.25600000000000001</c:v>
                </c:pt>
                <c:pt idx="8">
                  <c:v>0.25600000000000001</c:v>
                </c:pt>
                <c:pt idx="9">
                  <c:v>0.25600000000000001</c:v>
                </c:pt>
                <c:pt idx="10">
                  <c:v>0.25600000000000001</c:v>
                </c:pt>
                <c:pt idx="11">
                  <c:v>0.25600000000000001</c:v>
                </c:pt>
                <c:pt idx="12">
                  <c:v>0.25600000000000001</c:v>
                </c:pt>
                <c:pt idx="13">
                  <c:v>0.25600000000000001</c:v>
                </c:pt>
                <c:pt idx="14">
                  <c:v>0.25600000000000001</c:v>
                </c:pt>
                <c:pt idx="15">
                  <c:v>0.25600000000000001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994-49CD-8310-F7B780E27B2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NEIGHBOUR_REPLY</c:v>
                </c:pt>
              </c:strCache>
            </c:strRef>
          </c:tx>
          <c:spPr>
            <a:ln w="27940" cap="flat">
              <a:solidFill>
                <a:srgbClr val="34E7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E7B2"/>
              </a:solidFill>
              <a:ln w="9525" cap="flat">
                <a:solidFill>
                  <a:srgbClr val="34E7B2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0.64</c:v>
                </c:pt>
                <c:pt idx="1">
                  <c:v>0.64</c:v>
                </c:pt>
                <c:pt idx="2">
                  <c:v>0.64</c:v>
                </c:pt>
                <c:pt idx="3">
                  <c:v>0.64</c:v>
                </c:pt>
                <c:pt idx="4">
                  <c:v>0.64</c:v>
                </c:pt>
                <c:pt idx="5">
                  <c:v>0.64</c:v>
                </c:pt>
                <c:pt idx="6">
                  <c:v>0.64</c:v>
                </c:pt>
                <c:pt idx="7">
                  <c:v>0.64</c:v>
                </c:pt>
                <c:pt idx="8">
                  <c:v>0.64</c:v>
                </c:pt>
                <c:pt idx="9">
                  <c:v>0.64</c:v>
                </c:pt>
                <c:pt idx="10">
                  <c:v>0.64</c:v>
                </c:pt>
                <c:pt idx="11">
                  <c:v>0.64</c:v>
                </c:pt>
                <c:pt idx="12">
                  <c:v>0.64</c:v>
                </c:pt>
                <c:pt idx="13">
                  <c:v>0.64</c:v>
                </c:pt>
                <c:pt idx="14">
                  <c:v>0.64</c:v>
                </c:pt>
                <c:pt idx="15">
                  <c:v>0.64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994-49CD-8310-F7B780E27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14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7BD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731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14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7BD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7BD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"/>
          <c:y val="0.05"/>
          <c:w val="0.78"/>
          <c:h val="0.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worst-case WSN payload</c:v>
                </c:pt>
              </c:strCache>
            </c:strRef>
          </c:tx>
          <c:spPr>
            <a:ln w="30480" cap="flat">
              <a:solidFill>
                <a:srgbClr val="20D9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0D9FF"/>
              </a:solidFill>
              <a:ln w="9525" cap="flat">
                <a:solidFill>
                  <a:srgbClr val="20D9FF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0.37068800000000002</c:v>
                </c:pt>
                <c:pt idx="1">
                  <c:v>0.74137600000000003</c:v>
                </c:pt>
                <c:pt idx="2">
                  <c:v>1.1120639999999999</c:v>
                </c:pt>
                <c:pt idx="3">
                  <c:v>1.4827520000000001</c:v>
                </c:pt>
                <c:pt idx="4">
                  <c:v>1.85344</c:v>
                </c:pt>
                <c:pt idx="5">
                  <c:v>2.2241279999999999</c:v>
                </c:pt>
                <c:pt idx="6">
                  <c:v>2.5948159999999998</c:v>
                </c:pt>
                <c:pt idx="7">
                  <c:v>2.9655040000000001</c:v>
                </c:pt>
                <c:pt idx="8">
                  <c:v>3.336192</c:v>
                </c:pt>
                <c:pt idx="9">
                  <c:v>3.70688</c:v>
                </c:pt>
                <c:pt idx="10">
                  <c:v>4.0775680000000003</c:v>
                </c:pt>
                <c:pt idx="11">
                  <c:v>4.4482559999999998</c:v>
                </c:pt>
                <c:pt idx="12">
                  <c:v>4.8189440000000001</c:v>
                </c:pt>
                <c:pt idx="13">
                  <c:v>5.1896319999999996</c:v>
                </c:pt>
                <c:pt idx="14">
                  <c:v>5.5603199999999999</c:v>
                </c:pt>
                <c:pt idx="15">
                  <c:v>5.9310080000000003</c:v>
                </c:pt>
                <c:pt idx="16">
                  <c:v>6.3016959999999997</c:v>
                </c:pt>
                <c:pt idx="17">
                  <c:v>6.6723840000000001</c:v>
                </c:pt>
                <c:pt idx="18">
                  <c:v>7.0430720000000004</c:v>
                </c:pt>
                <c:pt idx="19">
                  <c:v>7.4137599999999999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FE-4D2E-B8E4-704B74B08F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Base-station-bound payload</c:v>
                </c:pt>
              </c:strCache>
            </c:strRef>
          </c:tx>
          <c:spPr>
            <a:ln w="30480" cap="flat">
              <a:solidFill>
                <a:srgbClr val="FFB8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84D"/>
              </a:solidFill>
              <a:ln w="9525" cap="flat">
                <a:solidFill>
                  <a:srgbClr val="FFB84D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0.15564800000000001</c:v>
                </c:pt>
                <c:pt idx="1">
                  <c:v>0.31129600000000002</c:v>
                </c:pt>
                <c:pt idx="2">
                  <c:v>0.46694400000000003</c:v>
                </c:pt>
                <c:pt idx="3">
                  <c:v>0.62259200000000003</c:v>
                </c:pt>
                <c:pt idx="4">
                  <c:v>0.77824000000000004</c:v>
                </c:pt>
                <c:pt idx="5">
                  <c:v>0.93388800000000005</c:v>
                </c:pt>
                <c:pt idx="6">
                  <c:v>1.0895360000000001</c:v>
                </c:pt>
                <c:pt idx="7">
                  <c:v>1.2451840000000001</c:v>
                </c:pt>
                <c:pt idx="8">
                  <c:v>1.4008320000000001</c:v>
                </c:pt>
                <c:pt idx="9">
                  <c:v>1.5564800000000001</c:v>
                </c:pt>
                <c:pt idx="10">
                  <c:v>1.7121280000000001</c:v>
                </c:pt>
                <c:pt idx="11">
                  <c:v>1.8677760000000001</c:v>
                </c:pt>
                <c:pt idx="12">
                  <c:v>2.0234239999999999</c:v>
                </c:pt>
                <c:pt idx="13">
                  <c:v>2.1790720000000001</c:v>
                </c:pt>
                <c:pt idx="14">
                  <c:v>2.3347199999999999</c:v>
                </c:pt>
                <c:pt idx="15">
                  <c:v>2.4903680000000001</c:v>
                </c:pt>
                <c:pt idx="16">
                  <c:v>2.6460159999999999</c:v>
                </c:pt>
                <c:pt idx="17">
                  <c:v>2.8016640000000002</c:v>
                </c:pt>
                <c:pt idx="18">
                  <c:v>2.9573119999999999</c:v>
                </c:pt>
                <c:pt idx="19">
                  <c:v>3.1129600000000002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FE-4D2E-B8E4-704B74B08F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7314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7BD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731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17314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7BD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7BD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8534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0D9FF"/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37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10" dirty="0">
                <a:solidFill>
                  <a:srgbClr val="6075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FIT3143  •  APPLIED #1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229600" y="65379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075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 Vindiv De Alwis  |  Shamle Thilaksiri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914400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44968" y="950976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17536" y="978408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54112" y="1572768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18120" y="1609344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90688" y="1636776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80960" y="2231136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44968" y="2267712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17536" y="2295144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54112" y="2889504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818120" y="2926080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90688" y="2953512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80960" y="3547872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44968" y="3584448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83880" y="914400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47888" y="950976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0456" y="978408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57032" y="1572768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21040" y="1609344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93608" y="1636776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83880" y="2231136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47888" y="2267712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20456" y="2295144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57032" y="2889504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321040" y="2926080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93608" y="2953512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83880" y="3547872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247888" y="3584448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686800" y="914400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750808" y="950976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723376" y="978408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759952" y="1572768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823960" y="1609344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796528" y="1636776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686800" y="2231136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750808" y="2267712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723376" y="2295144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759952" y="2889504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823960" y="2926080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796528" y="2953512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686800" y="3547872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750808" y="3584448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189720" y="914400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253728" y="950976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226296" y="978408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262872" y="1572768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326880" y="1609344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299448" y="1636776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189720" y="2231136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9253728" y="2267712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9226296" y="2295144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9262872" y="2889504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9326880" y="2926080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9299448" y="2953512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9189720" y="3547872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9253728" y="3584448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9692640" y="914400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756648" y="950976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729216" y="978408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765792" y="1572768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829800" y="1609344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9802368" y="1636776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692640" y="2231136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9756648" y="2267712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9729216" y="2295144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765792" y="2889504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9829800" y="2926080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802368" y="2953512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692640" y="3547872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756648" y="3584448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195560" y="914400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10259568" y="950976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10232136" y="978408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10268712" y="1572768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332720" y="1609344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305288" y="1636776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195560" y="2231136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259568" y="2267712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232136" y="2295144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0268712" y="2889504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0332720" y="2926080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305288" y="2953512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0195560" y="3547872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0259568" y="3584448"/>
            <a:ext cx="438912" cy="0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0698480" y="914400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0735056" y="978408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0771632" y="1572768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0808208" y="1636776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0698480" y="2231136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0735056" y="2295144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10771632" y="2889504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10808208" y="2953512"/>
            <a:ext cx="0" cy="585216"/>
          </a:xfrm>
          <a:prstGeom prst="line">
            <a:avLst/>
          </a:prstGeom>
          <a:noFill/>
          <a:ln w="1397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10698480" y="3547872"/>
            <a:ext cx="73152" cy="73152"/>
          </a:xfrm>
          <a:prstGeom prst="ellipse">
            <a:avLst/>
          </a:prstGeom>
          <a:solidFill>
            <a:srgbClr val="20D9FF">
              <a:alpha val="55000"/>
            </a:srgbClr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9738360" y="4233672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0243A"/>
          </a:solidFill>
          <a:ln w="17780">
            <a:solidFill>
              <a:srgbClr val="20D9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9875520" y="44256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STATION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9098280" y="3703320"/>
            <a:ext cx="658368" cy="594360"/>
          </a:xfrm>
          <a:prstGeom prst="line">
            <a:avLst/>
          </a:prstGeom>
          <a:noFill/>
          <a:ln w="17780">
            <a:solidFill>
              <a:srgbClr val="A77B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8549640" y="3044952"/>
            <a:ext cx="1207008" cy="1252728"/>
          </a:xfrm>
          <a:prstGeom prst="line">
            <a:avLst/>
          </a:prstGeom>
          <a:noFill/>
          <a:ln w="17780">
            <a:solidFill>
              <a:srgbClr val="A77B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621792" y="566928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10243A"/>
          </a:solidFill>
          <a:ln w="10160">
            <a:solidFill>
              <a:srgbClr val="20D9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94944" y="640080"/>
            <a:ext cx="17282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FIT3143 • APPLIED #1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621792" y="1170432"/>
            <a:ext cx="65836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Wireless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Network</a:t>
            </a:r>
            <a:endParaRPr lang="en-US" sz="3400" dirty="0"/>
          </a:p>
        </p:txBody>
      </p:sp>
      <p:sp>
        <p:nvSpPr>
          <p:cNvPr id="102" name="Text 100"/>
          <p:cNvSpPr/>
          <p:nvPr/>
        </p:nvSpPr>
        <p:spPr>
          <a:xfrm>
            <a:off x="658368" y="277063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Electric Vehicle Charging Navigation System Simulation</a:t>
            </a:r>
            <a:endParaRPr lang="en-US" sz="1900" dirty="0"/>
          </a:p>
        </p:txBody>
      </p:sp>
      <p:sp>
        <p:nvSpPr>
          <p:cNvPr id="103" name="Text 101"/>
          <p:cNvSpPr/>
          <p:nvPr/>
        </p:nvSpPr>
        <p:spPr>
          <a:xfrm>
            <a:off x="658368" y="352958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hybrid MPI + OpenMP architecture over a 2-D mesh topology</a:t>
            </a:r>
            <a:endParaRPr lang="en-US" sz="1550" dirty="0"/>
          </a:p>
        </p:txBody>
      </p:sp>
      <p:sp>
        <p:nvSpPr>
          <p:cNvPr id="104" name="Shape 102"/>
          <p:cNvSpPr/>
          <p:nvPr/>
        </p:nvSpPr>
        <p:spPr>
          <a:xfrm>
            <a:off x="658368" y="4187952"/>
            <a:ext cx="4617720" cy="0"/>
          </a:xfrm>
          <a:prstGeom prst="line">
            <a:avLst/>
          </a:prstGeom>
          <a:noFill/>
          <a:ln w="1524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658368" y="4443984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 Vindiv De Alwis  •  35221631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Shamle Thilaksiri  •  35512075</a:t>
            </a:r>
            <a:endParaRPr lang="en-US" sz="1250" dirty="0"/>
          </a:p>
        </p:txBody>
      </p:sp>
      <p:sp>
        <p:nvSpPr>
          <p:cNvPr id="106" name="Text 104"/>
          <p:cNvSpPr/>
          <p:nvPr/>
        </p:nvSpPr>
        <p:spPr>
          <a:xfrm>
            <a:off x="658368" y="60624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075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6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at a glance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report converges on four decisions that define the simulator and its communication behaviour.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1856232"/>
            <a:ext cx="2304288" cy="3246120"/>
          </a:xfrm>
          <a:prstGeom prst="roundRect">
            <a:avLst>
              <a:gd name="adj" fmla="val 3175"/>
            </a:avLst>
          </a:prstGeom>
          <a:solidFill>
            <a:srgbClr val="0D1B2A"/>
          </a:solidFill>
          <a:ln w="12700">
            <a:solidFill>
              <a:srgbClr val="20D9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8096" y="201168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0A1727"/>
          </a:solidFill>
          <a:ln w="10160">
            <a:solidFill>
              <a:srgbClr val="20D9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2084832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542032"/>
            <a:ext cx="1984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2-D mesh topology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346704"/>
            <a:ext cx="19751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Orthogonal north / south / east / west neighbours model immediate geographic adjacency.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745736"/>
            <a:ext cx="1097280" cy="0"/>
          </a:xfrm>
          <a:prstGeom prst="line">
            <a:avLst/>
          </a:prstGeom>
          <a:noFill/>
          <a:ln w="27940">
            <a:solidFill>
              <a:srgbClr val="2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20440" y="1856232"/>
            <a:ext cx="2304288" cy="3246120"/>
          </a:xfrm>
          <a:prstGeom prst="roundRect">
            <a:avLst>
              <a:gd name="adj" fmla="val 3175"/>
            </a:avLst>
          </a:prstGeom>
          <a:solidFill>
            <a:srgbClr val="0D1B2A"/>
          </a:solidFill>
          <a:ln w="12700">
            <a:solidFill>
              <a:srgbClr val="4C7D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66744" y="201168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0A1727"/>
          </a:solidFill>
          <a:ln w="10160">
            <a:solidFill>
              <a:srgbClr val="4C7D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39896" y="2084832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75888" y="2542032"/>
            <a:ext cx="1984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MIMD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75888" y="3346704"/>
            <a:ext cx="19751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ranks model distributed EV charging stations; OpenMP threads parallelise work within each station.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75888" y="4745736"/>
            <a:ext cx="1097280" cy="0"/>
          </a:xfrm>
          <a:prstGeom prst="line">
            <a:avLst/>
          </a:prstGeom>
          <a:noFill/>
          <a:ln w="27940">
            <a:solidFill>
              <a:srgbClr val="4C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19088" y="1856232"/>
            <a:ext cx="2304288" cy="3246120"/>
          </a:xfrm>
          <a:prstGeom prst="roundRect">
            <a:avLst>
              <a:gd name="adj" fmla="val 3175"/>
            </a:avLst>
          </a:prstGeom>
          <a:solidFill>
            <a:srgbClr val="0D1B2A"/>
          </a:solidFill>
          <a:ln w="12700">
            <a:solidFill>
              <a:srgbClr val="34E7B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65392" y="201168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0A1727"/>
          </a:solidFill>
          <a:ln w="10160">
            <a:solidFill>
              <a:srgbClr val="34E7B2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38544" y="2084832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74536" y="2542032"/>
            <a:ext cx="1984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Non-blocking MPI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74536" y="3346704"/>
            <a:ext cx="19751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Neighbour queries and replies use MPI_Isend / MPI_Irecv with local MPI_Waitall synchronization.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74536" y="4745736"/>
            <a:ext cx="1097280" cy="0"/>
          </a:xfrm>
          <a:prstGeom prst="line">
            <a:avLst/>
          </a:prstGeom>
          <a:noFill/>
          <a:ln w="27940">
            <a:solidFill>
              <a:srgbClr val="34E7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317736" y="1856232"/>
            <a:ext cx="2304288" cy="3246120"/>
          </a:xfrm>
          <a:prstGeom prst="roundRect">
            <a:avLst>
              <a:gd name="adj" fmla="val 3175"/>
            </a:avLst>
          </a:prstGeom>
          <a:solidFill>
            <a:srgbClr val="0D1B2A"/>
          </a:solidFill>
          <a:ln w="12700">
            <a:solidFill>
              <a:srgbClr val="FFB84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64040" y="2011680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0A1727"/>
          </a:solidFill>
          <a:ln w="10160">
            <a:solidFill>
              <a:srgbClr val="FFB84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37192" y="2084832"/>
            <a:ext cx="603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73184" y="2542032"/>
            <a:ext cx="1984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traffic model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73184" y="3346704"/>
            <a:ext cx="197510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fixed message stays O(1); aggregate traffic grows O(N), while S base stations reduce peak load toward O(N/S).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473184" y="4745736"/>
            <a:ext cx="1097280" cy="0"/>
          </a:xfrm>
          <a:prstGeom prst="line">
            <a:avLst/>
          </a:prstGeom>
          <a:noFill/>
          <a:ln w="2794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1792" y="5422392"/>
            <a:ext cx="2304288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20D9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49808" y="556869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≤ 4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31520" y="5971032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MESH NODE DEGREE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20440" y="5422392"/>
            <a:ext cx="2304288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4C7D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48456" y="556869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+ 1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3630168" y="5971032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PROCESSES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19088" y="5422392"/>
            <a:ext cx="2304288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34E7B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47104" y="556869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Gbit/s</a:t>
            </a:r>
            <a:endParaRPr lang="en-US" sz="2300" dirty="0"/>
          </a:p>
        </p:txBody>
      </p:sp>
      <p:sp>
        <p:nvSpPr>
          <p:cNvPr id="37" name="Text 35"/>
          <p:cNvSpPr/>
          <p:nvPr/>
        </p:nvSpPr>
        <p:spPr>
          <a:xfrm>
            <a:off x="6528816" y="5971032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LINK BANDWIDTH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317736" y="5422392"/>
            <a:ext cx="2304288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FFB84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445752" y="556869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1%</a:t>
            </a:r>
            <a:endParaRPr lang="en-US" sz="2300" dirty="0"/>
          </a:p>
        </p:txBody>
      </p:sp>
      <p:sp>
        <p:nvSpPr>
          <p:cNvPr id="40" name="Text 38"/>
          <p:cNvSpPr/>
          <p:nvPr/>
        </p:nvSpPr>
        <p:spPr>
          <a:xfrm>
            <a:off x="9427464" y="5971032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MODELLED LOAD AT N=256, 20 HZ</a:t>
            </a:r>
            <a:endParaRPr lang="en-US" sz="9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 • NETWORK TOPOLOGY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the 2-D mesh wins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selected topology trades absolute minimum diameter for geographic realism, bounded fan-out and O(N) link cost.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2798064" cy="4142232"/>
          </a:xfrm>
          <a:prstGeom prst="roundRect">
            <a:avLst>
              <a:gd name="adj" fmla="val 2614"/>
            </a:avLst>
          </a:prstGeom>
          <a:solidFill>
            <a:srgbClr val="0A1727"/>
          </a:solidFill>
          <a:ln w="12700">
            <a:solidFill>
              <a:srgbClr val="17314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PRIORITIES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50392" y="2423160"/>
            <a:ext cx="164592" cy="164592"/>
          </a:xfrm>
          <a:prstGeom prst="ellipse">
            <a:avLst/>
          </a:prstGeom>
          <a:solidFill>
            <a:srgbClr val="20D9FF"/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2404872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adjacency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66090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Stations communicate with physically adjacent nodes.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0392" y="3209544"/>
            <a:ext cx="164592" cy="164592"/>
          </a:xfrm>
          <a:prstGeom prst="ellipse">
            <a:avLst/>
          </a:prstGeom>
          <a:solidFill>
            <a:srgbClr val="20D9FF"/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8992" y="3191256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2-D geography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344728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network represents a Cartesian area, not an abstract logical cube.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0392" y="3995928"/>
            <a:ext cx="164592" cy="164592"/>
          </a:xfrm>
          <a:prstGeom prst="ellipse">
            <a:avLst/>
          </a:prstGeom>
          <a:solidFill>
            <a:srgbClr val="20D9FF"/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8992" y="3977640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local fan-out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" y="4233672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Corner / edge / interior degree is 2 / 3 / 4.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0392" y="4782312"/>
            <a:ext cx="164592" cy="164592"/>
          </a:xfrm>
          <a:prstGeom prst="ellipse">
            <a:avLst/>
          </a:prstGeom>
          <a:solidFill>
            <a:srgbClr val="20D9FF"/>
          </a:solidFill>
          <a:ln w="12700">
            <a:solidFill>
              <a:srgbClr val="20D9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78992" y="4764024"/>
            <a:ext cx="2029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link cost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502005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 O(N) rather than O(N²) physical connectivity.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30752" y="1828800"/>
            <a:ext cx="19659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Topology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96712" y="1828800"/>
            <a:ext cx="1856232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realism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52944" y="1828800"/>
            <a:ext cx="1810512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Neighbour fit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63456" y="1828800"/>
            <a:ext cx="1133856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cost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497312" y="1828800"/>
            <a:ext cx="105156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30752" y="2258568"/>
            <a:ext cx="7818120" cy="621792"/>
          </a:xfrm>
          <a:prstGeom prst="roundRect">
            <a:avLst>
              <a:gd name="adj" fmla="val 11765"/>
            </a:avLst>
          </a:prstGeom>
          <a:solidFill>
            <a:srgbClr val="0C2A35"/>
          </a:solidFill>
          <a:ln w="12700">
            <a:solidFill>
              <a:srgbClr val="20D9FF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03904" y="24414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2-D mesh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69864" y="244144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26096" y="244144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436608" y="244144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570464" y="244144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30752" y="3035808"/>
            <a:ext cx="7818120" cy="621792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2700">
            <a:solidFill>
              <a:srgbClr val="1731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03904" y="321868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2-D torus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769864" y="321868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26096" y="321868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436608" y="321868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570464" y="321868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730752" y="3813048"/>
            <a:ext cx="7818120" cy="621792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2700">
            <a:solidFill>
              <a:srgbClr val="1731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03904" y="39959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Hypercube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69864" y="399592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626096" y="39959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Logical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436608" y="39959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 log N)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570464" y="399592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730752" y="4590288"/>
            <a:ext cx="7818120" cy="621792"/>
          </a:xfrm>
          <a:prstGeom prst="roundRect">
            <a:avLst>
              <a:gd name="adj" fmla="val 11765"/>
            </a:avLst>
          </a:prstGeom>
          <a:solidFill>
            <a:srgbClr val="0D1B2A"/>
          </a:solidFill>
          <a:ln w="12700">
            <a:solidFill>
              <a:srgbClr val="17314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803904" y="477316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769864" y="4773168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626096" y="477316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node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436608" y="47731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O(N²)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570464" y="4773168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730752" y="5504688"/>
            <a:ext cx="7818120" cy="521208"/>
          </a:xfrm>
          <a:prstGeom prst="roundRect">
            <a:avLst>
              <a:gd name="adj" fmla="val 14035"/>
            </a:avLst>
          </a:prstGeom>
          <a:solidFill>
            <a:srgbClr val="0B2331"/>
          </a:solidFill>
          <a:ln w="12700">
            <a:solidFill>
              <a:srgbClr val="20D9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941064" y="565099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2-D mesh is the closest match to the specification because neighbour relationships are native to the topology — not imposed through a hub or abstract logical mapping.</a:t>
            </a:r>
            <a:endParaRPr lang="en-US" sz="11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1 • SELECTED TOPOLOGY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logical WSN: 3 × 3 mesh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links represent immediate orthogonal neighbours. Dashed links represent direct logical MPI communication with the base station.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1755648"/>
            <a:ext cx="7406640" cy="4370832"/>
          </a:xfrm>
          <a:prstGeom prst="roundRect">
            <a:avLst>
              <a:gd name="adj" fmla="val 1674"/>
            </a:avLst>
          </a:prstGeom>
          <a:solidFill>
            <a:srgbClr val="0A1727"/>
          </a:solidFill>
          <a:ln w="12700">
            <a:solidFill>
              <a:srgbClr val="17314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84248" y="2660904"/>
            <a:ext cx="1371600" cy="0"/>
          </a:xfrm>
          <a:prstGeom prst="line">
            <a:avLst/>
          </a:prstGeom>
          <a:noFill/>
          <a:ln w="25400">
            <a:solidFill>
              <a:srgbClr val="20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00784" y="2990088"/>
            <a:ext cx="0" cy="676656"/>
          </a:xfrm>
          <a:prstGeom prst="line">
            <a:avLst/>
          </a:prstGeom>
          <a:noFill/>
          <a:ln w="25400">
            <a:solidFill>
              <a:srgbClr val="20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922776" y="2660904"/>
            <a:ext cx="1371600" cy="0"/>
          </a:xfrm>
          <a:prstGeom prst="line">
            <a:avLst/>
          </a:prstGeom>
          <a:noFill/>
          <a:ln w="25400">
            <a:solidFill>
              <a:srgbClr val="20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39312" y="2990088"/>
            <a:ext cx="0" cy="676656"/>
          </a:xfrm>
          <a:prstGeom prst="line">
            <a:avLst/>
          </a:prstGeom>
          <a:noFill/>
          <a:ln w="25400">
            <a:solidFill>
              <a:srgbClr val="20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77840" y="2990088"/>
            <a:ext cx="0" cy="676656"/>
          </a:xfrm>
          <a:prstGeom prst="line">
            <a:avLst/>
          </a:prstGeom>
          <a:noFill/>
          <a:ln w="25400">
            <a:solidFill>
              <a:srgbClr val="20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84248" y="3995928"/>
            <a:ext cx="1371600" cy="0"/>
          </a:xfrm>
          <a:prstGeom prst="line">
            <a:avLst/>
          </a:prstGeom>
          <a:noFill/>
          <a:ln w="25400">
            <a:solidFill>
              <a:srgbClr val="20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00784" y="4325112"/>
            <a:ext cx="0" cy="676656"/>
          </a:xfrm>
          <a:prstGeom prst="line">
            <a:avLst/>
          </a:prstGeom>
          <a:noFill/>
          <a:ln w="25400">
            <a:solidFill>
              <a:srgbClr val="20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22776" y="3995928"/>
            <a:ext cx="1371600" cy="0"/>
          </a:xfrm>
          <a:prstGeom prst="line">
            <a:avLst/>
          </a:prstGeom>
          <a:noFill/>
          <a:ln w="25400">
            <a:solidFill>
              <a:srgbClr val="20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39312" y="4325112"/>
            <a:ext cx="0" cy="676656"/>
          </a:xfrm>
          <a:prstGeom prst="line">
            <a:avLst/>
          </a:prstGeom>
          <a:noFill/>
          <a:ln w="25400">
            <a:solidFill>
              <a:srgbClr val="20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577840" y="4325112"/>
            <a:ext cx="0" cy="676656"/>
          </a:xfrm>
          <a:prstGeom prst="line">
            <a:avLst/>
          </a:prstGeom>
          <a:noFill/>
          <a:ln w="25400">
            <a:solidFill>
              <a:srgbClr val="20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84248" y="5330952"/>
            <a:ext cx="1371600" cy="0"/>
          </a:xfrm>
          <a:prstGeom prst="line">
            <a:avLst/>
          </a:prstGeom>
          <a:noFill/>
          <a:ln w="25400">
            <a:solidFill>
              <a:srgbClr val="20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922776" y="5330952"/>
            <a:ext cx="1371600" cy="0"/>
          </a:xfrm>
          <a:prstGeom prst="line">
            <a:avLst/>
          </a:prstGeom>
          <a:noFill/>
          <a:ln w="25400">
            <a:solidFill>
              <a:srgbClr val="20D9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984248" y="2660904"/>
            <a:ext cx="4617720" cy="1133856"/>
          </a:xfrm>
          <a:prstGeom prst="line">
            <a:avLst/>
          </a:prstGeom>
          <a:noFill/>
          <a:ln w="9525">
            <a:solidFill>
              <a:srgbClr val="A77B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922776" y="2660904"/>
            <a:ext cx="2679192" cy="1133856"/>
          </a:xfrm>
          <a:prstGeom prst="line">
            <a:avLst/>
          </a:prstGeom>
          <a:noFill/>
          <a:ln w="9525">
            <a:solidFill>
              <a:srgbClr val="A77B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61304" y="2660904"/>
            <a:ext cx="740664" cy="1133856"/>
          </a:xfrm>
          <a:prstGeom prst="line">
            <a:avLst/>
          </a:prstGeom>
          <a:noFill/>
          <a:ln w="9525">
            <a:solidFill>
              <a:srgbClr val="A77B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84248" y="3995928"/>
            <a:ext cx="4617720" cy="0"/>
          </a:xfrm>
          <a:prstGeom prst="line">
            <a:avLst/>
          </a:prstGeom>
          <a:noFill/>
          <a:ln w="9525">
            <a:solidFill>
              <a:srgbClr val="A77B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22776" y="3995928"/>
            <a:ext cx="2679192" cy="0"/>
          </a:xfrm>
          <a:prstGeom prst="line">
            <a:avLst/>
          </a:prstGeom>
          <a:noFill/>
          <a:ln w="9525">
            <a:solidFill>
              <a:srgbClr val="A77B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61304" y="3995928"/>
            <a:ext cx="740664" cy="0"/>
          </a:xfrm>
          <a:prstGeom prst="line">
            <a:avLst/>
          </a:prstGeom>
          <a:noFill/>
          <a:ln w="9525">
            <a:solidFill>
              <a:srgbClr val="A77B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984248" y="5330952"/>
            <a:ext cx="4617720" cy="0"/>
          </a:xfrm>
          <a:prstGeom prst="line">
            <a:avLst/>
          </a:prstGeom>
          <a:noFill/>
          <a:ln w="9525">
            <a:solidFill>
              <a:srgbClr val="A77B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22776" y="5330952"/>
            <a:ext cx="2679192" cy="0"/>
          </a:xfrm>
          <a:prstGeom prst="line">
            <a:avLst/>
          </a:prstGeom>
          <a:noFill/>
          <a:ln w="9525">
            <a:solidFill>
              <a:srgbClr val="A77B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61304" y="5330952"/>
            <a:ext cx="740664" cy="0"/>
          </a:xfrm>
          <a:prstGeom prst="line">
            <a:avLst/>
          </a:prstGeom>
          <a:noFill/>
          <a:ln w="9525">
            <a:solidFill>
              <a:srgbClr val="A77BFF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417320" y="2331720"/>
            <a:ext cx="658368" cy="658368"/>
          </a:xfrm>
          <a:prstGeom prst="ellipse">
            <a:avLst/>
          </a:prstGeom>
          <a:solidFill>
            <a:srgbClr val="0D2835"/>
          </a:solidFill>
          <a:ln w="20320">
            <a:solidFill>
              <a:srgbClr val="2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35608" y="254203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1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3355848" y="2331720"/>
            <a:ext cx="658368" cy="658368"/>
          </a:xfrm>
          <a:prstGeom prst="ellipse">
            <a:avLst/>
          </a:prstGeom>
          <a:solidFill>
            <a:srgbClr val="0D2835"/>
          </a:solidFill>
          <a:ln w="20320">
            <a:solidFill>
              <a:srgbClr val="2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74136" y="254203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2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294376" y="2331720"/>
            <a:ext cx="658368" cy="658368"/>
          </a:xfrm>
          <a:prstGeom prst="ellipse">
            <a:avLst/>
          </a:prstGeom>
          <a:solidFill>
            <a:srgbClr val="0D2835"/>
          </a:solidFill>
          <a:ln w="20320">
            <a:solidFill>
              <a:srgbClr val="2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12664" y="254203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3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1417320" y="3666744"/>
            <a:ext cx="658368" cy="658368"/>
          </a:xfrm>
          <a:prstGeom prst="ellipse">
            <a:avLst/>
          </a:prstGeom>
          <a:solidFill>
            <a:srgbClr val="0D2835"/>
          </a:solidFill>
          <a:ln w="20320">
            <a:solidFill>
              <a:srgbClr val="2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435608" y="387705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4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3355848" y="3666744"/>
            <a:ext cx="658368" cy="658368"/>
          </a:xfrm>
          <a:prstGeom prst="ellipse">
            <a:avLst/>
          </a:prstGeom>
          <a:solidFill>
            <a:srgbClr val="0D2835"/>
          </a:solidFill>
          <a:ln w="20320">
            <a:solidFill>
              <a:srgbClr val="2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74136" y="387705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5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5294376" y="3666744"/>
            <a:ext cx="658368" cy="658368"/>
          </a:xfrm>
          <a:prstGeom prst="ellipse">
            <a:avLst/>
          </a:prstGeom>
          <a:solidFill>
            <a:srgbClr val="0D2835"/>
          </a:solidFill>
          <a:ln w="20320">
            <a:solidFill>
              <a:srgbClr val="2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312664" y="387705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6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1417320" y="5001768"/>
            <a:ext cx="658368" cy="658368"/>
          </a:xfrm>
          <a:prstGeom prst="ellipse">
            <a:avLst/>
          </a:prstGeom>
          <a:solidFill>
            <a:srgbClr val="0D2835"/>
          </a:solidFill>
          <a:ln w="20320">
            <a:solidFill>
              <a:srgbClr val="2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435608" y="5212080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7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3355848" y="5001768"/>
            <a:ext cx="658368" cy="658368"/>
          </a:xfrm>
          <a:prstGeom prst="ellipse">
            <a:avLst/>
          </a:prstGeom>
          <a:solidFill>
            <a:srgbClr val="0D2835"/>
          </a:solidFill>
          <a:ln w="20320">
            <a:solidFill>
              <a:srgbClr val="2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74136" y="5212080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8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5294376" y="5001768"/>
            <a:ext cx="658368" cy="658368"/>
          </a:xfrm>
          <a:prstGeom prst="ellipse">
            <a:avLst/>
          </a:prstGeom>
          <a:solidFill>
            <a:srgbClr val="0D2835"/>
          </a:solidFill>
          <a:ln w="20320">
            <a:solidFill>
              <a:srgbClr val="2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12664" y="5212080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9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6601968" y="3493008"/>
            <a:ext cx="1078992" cy="685800"/>
          </a:xfrm>
          <a:prstGeom prst="roundRect">
            <a:avLst>
              <a:gd name="adj" fmla="val 10667"/>
            </a:avLst>
          </a:prstGeom>
          <a:solidFill>
            <a:srgbClr val="151D36"/>
          </a:solidFill>
          <a:ln w="12700">
            <a:solidFill>
              <a:srgbClr val="A77BFF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75120" y="3648456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720840" y="4005072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dirty="0">
                <a:solidFill>
                  <a:srgbClr val="A7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rank 0</a:t>
            </a:r>
            <a:endParaRPr lang="en-US" sz="770" dirty="0"/>
          </a:p>
        </p:txBody>
      </p:sp>
      <p:sp>
        <p:nvSpPr>
          <p:cNvPr id="48" name="Shape 46"/>
          <p:cNvSpPr/>
          <p:nvPr/>
        </p:nvSpPr>
        <p:spPr>
          <a:xfrm>
            <a:off x="8302752" y="1755648"/>
            <a:ext cx="3246120" cy="4370832"/>
          </a:xfrm>
          <a:prstGeom prst="roundRect">
            <a:avLst>
              <a:gd name="adj" fmla="val 2254"/>
            </a:avLst>
          </a:prstGeom>
          <a:solidFill>
            <a:srgbClr val="0D1B2A"/>
          </a:solidFill>
          <a:ln w="12700">
            <a:solidFill>
              <a:srgbClr val="20D9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540496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FITS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540496" y="2395728"/>
            <a:ext cx="1234440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20D9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668512" y="2542032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 4</a:t>
            </a:r>
            <a:endParaRPr lang="en-US" sz="2300" dirty="0"/>
          </a:p>
        </p:txBody>
      </p:sp>
      <p:sp>
        <p:nvSpPr>
          <p:cNvPr id="52" name="Text 50"/>
          <p:cNvSpPr/>
          <p:nvPr/>
        </p:nvSpPr>
        <p:spPr>
          <a:xfrm>
            <a:off x="8650224" y="2944368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 DEGREE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893808" y="2395728"/>
            <a:ext cx="1234440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34E7B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0021824" y="2542032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O(N)</a:t>
            </a:r>
            <a:endParaRPr lang="en-US" sz="2300" dirty="0"/>
          </a:p>
        </p:txBody>
      </p:sp>
      <p:sp>
        <p:nvSpPr>
          <p:cNvPr id="55" name="Text 53"/>
          <p:cNvSpPr/>
          <p:nvPr/>
        </p:nvSpPr>
        <p:spPr>
          <a:xfrm>
            <a:off x="10003536" y="2944368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COST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540496" y="3547872"/>
            <a:ext cx="1234440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4C7D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668512" y="3694176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O(√N)</a:t>
            </a:r>
            <a:endParaRPr lang="en-US" sz="2300" dirty="0"/>
          </a:p>
        </p:txBody>
      </p:sp>
      <p:sp>
        <p:nvSpPr>
          <p:cNvPr id="58" name="Text 56"/>
          <p:cNvSpPr/>
          <p:nvPr/>
        </p:nvSpPr>
        <p:spPr>
          <a:xfrm>
            <a:off x="8650224" y="4096512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DIAMETER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893808" y="3547872"/>
            <a:ext cx="1234440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A77B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0021824" y="3694176"/>
            <a:ext cx="978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7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√N</a:t>
            </a:r>
            <a:endParaRPr lang="en-US" sz="2300" dirty="0"/>
          </a:p>
        </p:txBody>
      </p:sp>
      <p:sp>
        <p:nvSpPr>
          <p:cNvPr id="61" name="Text 59"/>
          <p:cNvSpPr/>
          <p:nvPr/>
        </p:nvSpPr>
        <p:spPr>
          <a:xfrm>
            <a:off x="10003536" y="4096512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BISECTION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540496" y="4791456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Nearest-node redirection uses Manhattan distance: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8540496" y="519379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= |rₛ − rⱼ| + |cₛ − cⱼ|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8540496" y="5650992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matches the minimum number of orthogonal grid steps.</a:t>
            </a:r>
            <a:endParaRPr lang="en-US" sz="107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 • DEPLOYMENT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MIMD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maps distributed components across machines; OpenMP parallelises work inside each EVCS process.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1609344"/>
            <a:ext cx="1874520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4C7D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75564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2157984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RANKS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33472" y="1609344"/>
            <a:ext cx="1874520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34E7B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61488" y="175564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2743200" y="2157984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CORES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45152" y="1609344"/>
            <a:ext cx="1874520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20D9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175564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54880" y="2157984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16-CORE MACHINES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56832" y="1609344"/>
            <a:ext cx="1874520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A77B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84848" y="175564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A7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6766560" y="2157984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THREADS / EVCS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68512" y="1609344"/>
            <a:ext cx="1874520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FFB84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96528" y="175564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Gbit/s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778240" y="2157984"/>
            <a:ext cx="1655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INTER-MACHINE LINK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2788920"/>
            <a:ext cx="2852928" cy="2916936"/>
          </a:xfrm>
          <a:prstGeom prst="roundRect">
            <a:avLst>
              <a:gd name="adj" fmla="val 2564"/>
            </a:avLst>
          </a:prstGeom>
          <a:solidFill>
            <a:srgbClr val="0A1727"/>
          </a:solidFill>
          <a:ln w="12700">
            <a:solidFill>
              <a:srgbClr val="4C7DFF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6384" y="29260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21408" y="292608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075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cores used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86384" y="3328416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151D36"/>
          </a:solidFill>
          <a:ln w="12700">
            <a:solidFill>
              <a:srgbClr val="A77BF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6112" y="3419856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A7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• rank 0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786384" y="38404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7314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6112" y="3931920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1 • rank 1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2404872" y="3931920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×4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86384" y="4352544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7314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6112" y="444398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2 • rank 2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2404872" y="4443984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×4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786384" y="4864608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7314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96112" y="4956048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3 • rank 3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2404872" y="4956048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×4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3886200" y="2788920"/>
            <a:ext cx="2852928" cy="2916936"/>
          </a:xfrm>
          <a:prstGeom prst="roundRect">
            <a:avLst>
              <a:gd name="adj" fmla="val 2564"/>
            </a:avLst>
          </a:prstGeom>
          <a:solidFill>
            <a:srgbClr val="0A1727"/>
          </a:solidFill>
          <a:ln w="12700">
            <a:solidFill>
              <a:srgbClr val="1731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032504" y="29260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67528" y="292608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075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cores used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4032504" y="3328416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7314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42232" y="3419856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4 • rank 4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5650992" y="3419856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×4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4032504" y="38404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7314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42232" y="3931920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5 • rank 5</a:t>
            </a:r>
            <a:endParaRPr lang="en-US" sz="960" dirty="0"/>
          </a:p>
        </p:txBody>
      </p:sp>
      <p:sp>
        <p:nvSpPr>
          <p:cNvPr id="42" name="Text 40"/>
          <p:cNvSpPr/>
          <p:nvPr/>
        </p:nvSpPr>
        <p:spPr>
          <a:xfrm>
            <a:off x="5650992" y="3931920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×4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4032504" y="4352544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7314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42232" y="444398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6 • rank 6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5650992" y="4443984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×4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7132320" y="2788920"/>
            <a:ext cx="2852928" cy="2916936"/>
          </a:xfrm>
          <a:prstGeom prst="roundRect">
            <a:avLst>
              <a:gd name="adj" fmla="val 2564"/>
            </a:avLst>
          </a:prstGeom>
          <a:solidFill>
            <a:srgbClr val="0A1727"/>
          </a:solidFill>
          <a:ln w="12700">
            <a:solidFill>
              <a:srgbClr val="17314A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78624" y="29260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13648" y="292608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dirty="0">
                <a:solidFill>
                  <a:srgbClr val="6075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cores used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7278624" y="3328416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7314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388352" y="3419856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7 • rank 7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8897112" y="3419856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×4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7278624" y="384048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7314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388352" y="3931920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8 • rank 8</a:t>
            </a:r>
            <a:endParaRPr lang="en-US" sz="960" dirty="0"/>
          </a:p>
        </p:txBody>
      </p:sp>
      <p:sp>
        <p:nvSpPr>
          <p:cNvPr id="54" name="Text 52"/>
          <p:cNvSpPr/>
          <p:nvPr/>
        </p:nvSpPr>
        <p:spPr>
          <a:xfrm>
            <a:off x="8897112" y="3931920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×4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7278624" y="4352544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D1B2A"/>
          </a:solidFill>
          <a:ln w="12700">
            <a:solidFill>
              <a:srgbClr val="17314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388352" y="4443984"/>
            <a:ext cx="1426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9 • rank 9</a:t>
            </a:r>
            <a:endParaRPr lang="en-US" sz="960" dirty="0"/>
          </a:p>
        </p:txBody>
      </p:sp>
      <p:sp>
        <p:nvSpPr>
          <p:cNvPr id="57" name="Text 55"/>
          <p:cNvSpPr/>
          <p:nvPr/>
        </p:nvSpPr>
        <p:spPr>
          <a:xfrm>
            <a:off x="8897112" y="4443984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7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×4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10222992" y="2788920"/>
            <a:ext cx="1298448" cy="2916936"/>
          </a:xfrm>
          <a:prstGeom prst="roundRect">
            <a:avLst>
              <a:gd name="adj" fmla="val 5634"/>
            </a:avLst>
          </a:prstGeom>
          <a:solidFill>
            <a:srgbClr val="0C2630"/>
          </a:solidFill>
          <a:ln w="12700">
            <a:solidFill>
              <a:srgbClr val="FFB84D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369296" y="303580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INTERCONNECT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0351008" y="3867912"/>
            <a:ext cx="1042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distributed-memory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passing</a:t>
            </a:r>
            <a:endParaRPr lang="en-US" sz="1040" dirty="0"/>
          </a:p>
        </p:txBody>
      </p:sp>
      <p:sp>
        <p:nvSpPr>
          <p:cNvPr id="61" name="Text 59"/>
          <p:cNvSpPr/>
          <p:nvPr/>
        </p:nvSpPr>
        <p:spPr>
          <a:xfrm>
            <a:off x="10442448" y="4892040"/>
            <a:ext cx="859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Gbit/s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493008" y="4261104"/>
            <a:ext cx="6729984" cy="0"/>
          </a:xfrm>
          <a:prstGeom prst="line">
            <a:avLst/>
          </a:prstGeom>
          <a:noFill/>
          <a:ln w="13970">
            <a:solidFill>
              <a:srgbClr val="FFB84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739128" y="4261104"/>
            <a:ext cx="3483864" cy="0"/>
          </a:xfrm>
          <a:prstGeom prst="line">
            <a:avLst/>
          </a:prstGeom>
          <a:noFill/>
          <a:ln w="13970">
            <a:solidFill>
              <a:srgbClr val="FFB84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985248" y="4261104"/>
            <a:ext cx="237744" cy="0"/>
          </a:xfrm>
          <a:prstGeom prst="line">
            <a:avLst/>
          </a:prstGeom>
          <a:noFill/>
          <a:ln w="13970">
            <a:solidFill>
              <a:srgbClr val="FFB84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58368" y="592531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Logical WSN coordinates remain independent of physical MPI rank placement.</a:t>
            </a:r>
            <a:endParaRPr lang="en-US" sz="1150" dirty="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 • STATIC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structure and message protocol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MPI process owns its local state. Shared memory exists only inside an EVCS process; cross-process state moves through explicit messages.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6784848" cy="4407408"/>
          </a:xfrm>
          <a:prstGeom prst="roundRect">
            <a:avLst>
              <a:gd name="adj" fmla="val 1660"/>
            </a:avLst>
          </a:prstGeom>
          <a:solidFill>
            <a:srgbClr val="0A1727"/>
          </a:solidFill>
          <a:ln w="12700">
            <a:solidFill>
              <a:srgbClr val="17314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COMPONENTS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96112" y="2404872"/>
            <a:ext cx="2039112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12700">
            <a:solidFill>
              <a:srgbClr val="A77B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254203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272" y="2843784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A7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rank 0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033272" y="3081528"/>
            <a:ext cx="17647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table • congestion alerts • nearest available node • redirect command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160520" y="2404872"/>
            <a:ext cx="2267712" cy="1353312"/>
          </a:xfrm>
          <a:prstGeom prst="roundRect">
            <a:avLst>
              <a:gd name="adj" fmla="val 5405"/>
            </a:avLst>
          </a:prstGeom>
          <a:solidFill>
            <a:srgbClr val="0D1B2A"/>
          </a:solidFill>
          <a:ln w="12700">
            <a:solidFill>
              <a:srgbClr val="20D9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0" y="254203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EVChargingNode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284378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ranks 1…N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297680" y="3081528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Coordinates • threshold • neighbour ranks • local ports • status / query / alert logic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4160520" y="4315968"/>
            <a:ext cx="2267712" cy="1051560"/>
          </a:xfrm>
          <a:prstGeom prst="roundRect">
            <a:avLst>
              <a:gd name="adj" fmla="val 6957"/>
            </a:avLst>
          </a:prstGeom>
          <a:solidFill>
            <a:srgbClr val="0D1B2A"/>
          </a:solidFill>
          <a:ln w="12700">
            <a:solidFill>
              <a:srgbClr val="34E7B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0" y="445312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ChargingPort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0" y="47548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Shared-memory object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297680" y="4992624"/>
            <a:ext cx="1993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/ occupied state; OpenMP partitions port work.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96112" y="4315968"/>
            <a:ext cx="2039112" cy="1051560"/>
          </a:xfrm>
          <a:prstGeom prst="roundRect">
            <a:avLst>
              <a:gd name="adj" fmla="val 6957"/>
            </a:avLst>
          </a:prstGeom>
          <a:solidFill>
            <a:srgbClr val="0D1B2A"/>
          </a:solidFill>
          <a:ln w="12700">
            <a:solidFill>
              <a:srgbClr val="4C7D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33272" y="4453128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NodeStatus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33272" y="4754880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Compact record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033272" y="4992624"/>
            <a:ext cx="1764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 ID • row • column • free/total ports • utilisation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2935224" y="2999232"/>
            <a:ext cx="1225296" cy="0"/>
          </a:xfrm>
          <a:prstGeom prst="line">
            <a:avLst/>
          </a:prstGeom>
          <a:noFill/>
          <a:ln w="19050">
            <a:solidFill>
              <a:srgbClr val="A77B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27248" y="27614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A7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messages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5294376" y="3767328"/>
            <a:ext cx="0" cy="548640"/>
          </a:xfrm>
          <a:prstGeom prst="line">
            <a:avLst/>
          </a:prstGeom>
          <a:noFill/>
          <a:ln w="17780">
            <a:solidFill>
              <a:srgbClr val="34E7B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58968" y="398678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1…P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160520" y="3346704"/>
            <a:ext cx="0" cy="1371600"/>
          </a:xfrm>
          <a:prstGeom prst="line">
            <a:avLst/>
          </a:prstGeom>
          <a:noFill/>
          <a:ln w="15240">
            <a:solidFill>
              <a:srgbClr val="4C7D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73552" y="4014216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produces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680960" y="1719072"/>
            <a:ext cx="3867912" cy="4407408"/>
          </a:xfrm>
          <a:prstGeom prst="roundRect">
            <a:avLst>
              <a:gd name="adj" fmla="val 1891"/>
            </a:avLst>
          </a:prstGeom>
          <a:solidFill>
            <a:srgbClr val="0D1B2A"/>
          </a:solidFill>
          <a:ln w="12700">
            <a:solidFill>
              <a:srgbClr val="20D9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27848" y="19476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TAGS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55280" y="2587752"/>
            <a:ext cx="310896" cy="0"/>
          </a:xfrm>
          <a:prstGeom prst="line">
            <a:avLst/>
          </a:prstGeom>
          <a:noFill/>
          <a:ln w="38100">
            <a:solidFill>
              <a:srgbClr val="4C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57616" y="233172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STATUS_UPDATE</a:t>
            </a:r>
            <a:endParaRPr lang="en-US" sz="1070" dirty="0"/>
          </a:p>
        </p:txBody>
      </p:sp>
      <p:sp>
        <p:nvSpPr>
          <p:cNvPr id="33" name="Text 31"/>
          <p:cNvSpPr/>
          <p:nvPr/>
        </p:nvSpPr>
        <p:spPr>
          <a:xfrm>
            <a:off x="8357616" y="2587752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→ base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10680192" y="2404872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0A1727"/>
          </a:solidFill>
          <a:ln w="10160">
            <a:solidFill>
              <a:srgbClr val="4C7D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753344" y="2478024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55280" y="3209544"/>
            <a:ext cx="310896" cy="0"/>
          </a:xfrm>
          <a:prstGeom prst="line">
            <a:avLst/>
          </a:prstGeom>
          <a:noFill/>
          <a:ln w="3810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357616" y="2953512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NEIGHBOUR_QUERY</a:t>
            </a:r>
            <a:endParaRPr lang="en-US" sz="1070" dirty="0"/>
          </a:p>
        </p:txBody>
      </p:sp>
      <p:sp>
        <p:nvSpPr>
          <p:cNvPr id="38" name="Text 36"/>
          <p:cNvSpPr/>
          <p:nvPr/>
        </p:nvSpPr>
        <p:spPr>
          <a:xfrm>
            <a:off x="8357616" y="320954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→ adjacent EVCS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10680192" y="3026664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0A1727"/>
          </a:solidFill>
          <a:ln w="10160">
            <a:solidFill>
              <a:srgbClr val="FFB84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753344" y="3099816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955280" y="3831336"/>
            <a:ext cx="310896" cy="0"/>
          </a:xfrm>
          <a:prstGeom prst="line">
            <a:avLst/>
          </a:prstGeom>
          <a:noFill/>
          <a:ln w="38100">
            <a:solidFill>
              <a:srgbClr val="34E7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57616" y="3575304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NEIGHBOUR_REPLY</a:t>
            </a:r>
            <a:endParaRPr lang="en-US" sz="1070" dirty="0"/>
          </a:p>
        </p:txBody>
      </p:sp>
      <p:sp>
        <p:nvSpPr>
          <p:cNvPr id="43" name="Text 41"/>
          <p:cNvSpPr/>
          <p:nvPr/>
        </p:nvSpPr>
        <p:spPr>
          <a:xfrm>
            <a:off x="8357616" y="383133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adjacent EVCS → requester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10680192" y="3648456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0A1727"/>
          </a:solidFill>
          <a:ln w="10160">
            <a:solidFill>
              <a:srgbClr val="34E7B2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753344" y="3721608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B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955280" y="4453128"/>
            <a:ext cx="310896" cy="0"/>
          </a:xfrm>
          <a:prstGeom prst="line">
            <a:avLst/>
          </a:prstGeom>
          <a:noFill/>
          <a:ln w="38100">
            <a:solidFill>
              <a:srgbClr val="FF5F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357616" y="4197096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CONGESTION_ALERT</a:t>
            </a:r>
            <a:endParaRPr lang="en-US" sz="1070" dirty="0"/>
          </a:p>
        </p:txBody>
      </p:sp>
      <p:sp>
        <p:nvSpPr>
          <p:cNvPr id="48" name="Text 46"/>
          <p:cNvSpPr/>
          <p:nvPr/>
        </p:nvSpPr>
        <p:spPr>
          <a:xfrm>
            <a:off x="8357616" y="4453128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EVCS → base</a:t>
            </a:r>
            <a:endParaRPr lang="en-US" sz="890" dirty="0"/>
          </a:p>
        </p:txBody>
      </p:sp>
      <p:sp>
        <p:nvSpPr>
          <p:cNvPr id="49" name="Shape 47"/>
          <p:cNvSpPr/>
          <p:nvPr/>
        </p:nvSpPr>
        <p:spPr>
          <a:xfrm>
            <a:off x="10680192" y="4270248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0A1727"/>
          </a:solidFill>
          <a:ln w="10160">
            <a:solidFill>
              <a:srgbClr val="FF5F7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753344" y="4343400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955280" y="5074920"/>
            <a:ext cx="310896" cy="0"/>
          </a:xfrm>
          <a:prstGeom prst="line">
            <a:avLst/>
          </a:prstGeom>
          <a:noFill/>
          <a:ln w="38100">
            <a:solidFill>
              <a:srgbClr val="A77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357616" y="481888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REDIRECT_COMMAND</a:t>
            </a:r>
            <a:endParaRPr lang="en-US" sz="1070" dirty="0"/>
          </a:p>
        </p:txBody>
      </p:sp>
      <p:sp>
        <p:nvSpPr>
          <p:cNvPr id="53" name="Text 51"/>
          <p:cNvSpPr/>
          <p:nvPr/>
        </p:nvSpPr>
        <p:spPr>
          <a:xfrm>
            <a:off x="8357616" y="5074920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→ EVCS</a:t>
            </a:r>
            <a:endParaRPr lang="en-US" sz="890" dirty="0"/>
          </a:p>
        </p:txBody>
      </p:sp>
      <p:sp>
        <p:nvSpPr>
          <p:cNvPr id="54" name="Shape 52"/>
          <p:cNvSpPr/>
          <p:nvPr/>
        </p:nvSpPr>
        <p:spPr>
          <a:xfrm>
            <a:off x="10680192" y="4892040"/>
            <a:ext cx="576072" cy="310896"/>
          </a:xfrm>
          <a:prstGeom prst="roundRect">
            <a:avLst>
              <a:gd name="adj" fmla="val 23529"/>
            </a:avLst>
          </a:prstGeom>
          <a:solidFill>
            <a:srgbClr val="0A1727"/>
          </a:solidFill>
          <a:ln w="10160">
            <a:solidFill>
              <a:srgbClr val="A77B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753344" y="4965192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B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936992" y="5596128"/>
            <a:ext cx="3255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NodeStatus can be sent as one logical message using an MPI derived datatype or packed representation.</a:t>
            </a:r>
            <a:endParaRPr lang="en-US" sz="103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 • MESSAGE PASSING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workflow: local work, local synchronization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critical design choice is to avoid a global barrier: each node waits only for the neighbour information required for its own decision.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956816"/>
            <a:ext cx="1920240" cy="786384"/>
          </a:xfrm>
          <a:prstGeom prst="roundRect">
            <a:avLst>
              <a:gd name="adj" fmla="val 9302"/>
            </a:avLst>
          </a:prstGeom>
          <a:solidFill>
            <a:srgbClr val="0D1B2A"/>
          </a:solidFill>
          <a:ln w="12700">
            <a:solidFill>
              <a:srgbClr val="34E7B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" y="207568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local ports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1133856" y="2404872"/>
            <a:ext cx="1316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parallel-for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788920" y="1956816"/>
            <a:ext cx="1920240" cy="786384"/>
          </a:xfrm>
          <a:prstGeom prst="roundRect">
            <a:avLst>
              <a:gd name="adj" fmla="val 9302"/>
            </a:avLst>
          </a:prstGeom>
          <a:solidFill>
            <a:srgbClr val="0D1B2A"/>
          </a:solidFill>
          <a:ln w="12700">
            <a:solidFill>
              <a:srgbClr val="34E7B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07792" y="207568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64408" y="207568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utilisation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3264408" y="2404872"/>
            <a:ext cx="1316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OpenMP reduction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919472" y="1956816"/>
            <a:ext cx="1920240" cy="786384"/>
          </a:xfrm>
          <a:prstGeom prst="roundRect">
            <a:avLst>
              <a:gd name="adj" fmla="val 9302"/>
            </a:avLst>
          </a:prstGeom>
          <a:solidFill>
            <a:srgbClr val="0D1B2A"/>
          </a:solidFill>
          <a:ln w="12700">
            <a:solidFill>
              <a:srgbClr val="4C7D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38344" y="207568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94960" y="207568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NodeStatus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5394960" y="2404872"/>
            <a:ext cx="1316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MPI_Isend → rank 0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7050024" y="1956816"/>
            <a:ext cx="1920240" cy="786384"/>
          </a:xfrm>
          <a:prstGeom prst="roundRect">
            <a:avLst>
              <a:gd name="adj" fmla="val 9302"/>
            </a:avLst>
          </a:prstGeom>
          <a:solidFill>
            <a:srgbClr val="0D1B2A"/>
          </a:solidFill>
          <a:ln w="12700">
            <a:solidFill>
              <a:srgbClr val="FFB84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68896" y="2075688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25512" y="207568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 check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7525512" y="2404872"/>
            <a:ext cx="1316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utilisation &gt; threshold?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2578608" y="2350008"/>
            <a:ext cx="210312" cy="0"/>
          </a:xfrm>
          <a:prstGeom prst="line">
            <a:avLst/>
          </a:prstGeom>
          <a:noFill/>
          <a:ln w="20320">
            <a:solidFill>
              <a:srgbClr val="1731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2350008"/>
            <a:ext cx="210312" cy="0"/>
          </a:xfrm>
          <a:prstGeom prst="line">
            <a:avLst/>
          </a:prstGeom>
          <a:noFill/>
          <a:ln w="20320">
            <a:solidFill>
              <a:srgbClr val="1731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39712" y="2350008"/>
            <a:ext cx="210312" cy="0"/>
          </a:xfrm>
          <a:prstGeom prst="line">
            <a:avLst/>
          </a:prstGeom>
          <a:noFill/>
          <a:ln w="20320">
            <a:solidFill>
              <a:srgbClr val="1731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10144" y="2743200"/>
            <a:ext cx="0" cy="530352"/>
          </a:xfrm>
          <a:prstGeom prst="line">
            <a:avLst/>
          </a:prstGeom>
          <a:noFill/>
          <a:ln w="19050">
            <a:solidFill>
              <a:srgbClr val="FFB84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19872" y="297180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97280" y="3703320"/>
            <a:ext cx="2304288" cy="950976"/>
          </a:xfrm>
          <a:prstGeom prst="roundRect">
            <a:avLst>
              <a:gd name="adj" fmla="val 7692"/>
            </a:avLst>
          </a:prstGeom>
          <a:solidFill>
            <a:srgbClr val="0A1727"/>
          </a:solidFill>
          <a:ln w="12700">
            <a:solidFill>
              <a:srgbClr val="20D9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52728" y="3858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neighbour receives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1252728" y="423367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MPI_Irecv first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3401568" y="4178808"/>
            <a:ext cx="329184" cy="0"/>
          </a:xfrm>
          <a:prstGeom prst="line">
            <a:avLst/>
          </a:prstGeom>
          <a:noFill/>
          <a:ln w="20320">
            <a:solidFill>
              <a:srgbClr val="1731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30752" y="3703320"/>
            <a:ext cx="2304288" cy="950976"/>
          </a:xfrm>
          <a:prstGeom prst="roundRect">
            <a:avLst>
              <a:gd name="adj" fmla="val 7692"/>
            </a:avLst>
          </a:prstGeom>
          <a:solidFill>
            <a:srgbClr val="0A1727"/>
          </a:solidFill>
          <a:ln w="12700">
            <a:solidFill>
              <a:srgbClr val="20D9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86200" y="3858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neighbour queries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3886200" y="423367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MPI_Isend to valid mesh neighbours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035040" y="4178808"/>
            <a:ext cx="329184" cy="0"/>
          </a:xfrm>
          <a:prstGeom prst="line">
            <a:avLst/>
          </a:prstGeom>
          <a:noFill/>
          <a:ln w="20320">
            <a:solidFill>
              <a:srgbClr val="1731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64224" y="3703320"/>
            <a:ext cx="2304288" cy="950976"/>
          </a:xfrm>
          <a:prstGeom prst="roundRect">
            <a:avLst>
              <a:gd name="adj" fmla="val 7692"/>
            </a:avLst>
          </a:prstGeom>
          <a:solidFill>
            <a:srgbClr val="0A1727"/>
          </a:solidFill>
          <a:ln w="12700">
            <a:solidFill>
              <a:srgbClr val="A77B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19672" y="3858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Wait for required replies</a:t>
            </a:r>
            <a:endParaRPr lang="en-US" sz="1230" dirty="0"/>
          </a:p>
        </p:txBody>
      </p:sp>
      <p:sp>
        <p:nvSpPr>
          <p:cNvPr id="36" name="Text 34"/>
          <p:cNvSpPr/>
          <p:nvPr/>
        </p:nvSpPr>
        <p:spPr>
          <a:xfrm>
            <a:off x="6519672" y="423367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MPI_Waitall — local synchronization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8668512" y="4178808"/>
            <a:ext cx="329184" cy="0"/>
          </a:xfrm>
          <a:prstGeom prst="line">
            <a:avLst/>
          </a:prstGeom>
          <a:noFill/>
          <a:ln w="20320">
            <a:solidFill>
              <a:srgbClr val="1731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997696" y="3703320"/>
            <a:ext cx="2304288" cy="950976"/>
          </a:xfrm>
          <a:prstGeom prst="roundRect">
            <a:avLst>
              <a:gd name="adj" fmla="val 7692"/>
            </a:avLst>
          </a:prstGeom>
          <a:solidFill>
            <a:srgbClr val="0A1727"/>
          </a:solidFill>
          <a:ln w="12700">
            <a:solidFill>
              <a:srgbClr val="FF5F73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153144" y="3858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neighbours congested?</a:t>
            </a:r>
            <a:endParaRPr lang="en-US" sz="1230" dirty="0"/>
          </a:p>
        </p:txBody>
      </p:sp>
      <p:sp>
        <p:nvSpPr>
          <p:cNvPr id="40" name="Text 38"/>
          <p:cNvSpPr/>
          <p:nvPr/>
        </p:nvSpPr>
        <p:spPr>
          <a:xfrm>
            <a:off x="9153144" y="4233672"/>
            <a:ext cx="1993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yes → CONGESTION_ALERT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10149840" y="4654296"/>
            <a:ext cx="0" cy="548640"/>
          </a:xfrm>
          <a:prstGeom prst="line">
            <a:avLst/>
          </a:prstGeom>
          <a:noFill/>
          <a:ln w="19050">
            <a:solidFill>
              <a:srgbClr val="FF5F7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092440" y="5285232"/>
            <a:ext cx="3529584" cy="649224"/>
          </a:xfrm>
          <a:prstGeom prst="roundRect">
            <a:avLst>
              <a:gd name="adj" fmla="val 11268"/>
            </a:avLst>
          </a:prstGeom>
          <a:solidFill>
            <a:srgbClr val="231322"/>
          </a:solidFill>
          <a:ln w="12700">
            <a:solidFill>
              <a:srgbClr val="FF5F7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02752" y="5477256"/>
            <a:ext cx="3108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station selects closest available EVCS and sends REDIRECT_COMMAND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658368" y="5285232"/>
            <a:ext cx="6931152" cy="649224"/>
          </a:xfrm>
          <a:prstGeom prst="roundRect">
            <a:avLst>
              <a:gd name="adj" fmla="val 11268"/>
            </a:avLst>
          </a:prstGeom>
          <a:solidFill>
            <a:srgbClr val="0C2630"/>
          </a:solidFill>
          <a:ln w="12700">
            <a:solidFill>
              <a:srgbClr val="34E7B2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86968" y="54589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GLOBAL MPI_BARRIER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98064" y="5422392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ranks do not wait for the slowest rank; message passing provides both data movement and the synchronization needed by the decision.</a:t>
            </a:r>
            <a:endParaRPr lang="en-US" sz="108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2 • SIZING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mapping and base-station selection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simulator scales by MPI process count across stations and by OpenMP thread count inside each charging node.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764792"/>
            <a:ext cx="1993392" cy="1636776"/>
          </a:xfrm>
          <a:prstGeom prst="roundRect">
            <a:avLst>
              <a:gd name="adj" fmla="val 4469"/>
            </a:avLst>
          </a:prstGeom>
          <a:solidFill>
            <a:srgbClr val="0A1727"/>
          </a:solidFill>
          <a:ln w="12700">
            <a:solidFill>
              <a:srgbClr val="4C7D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99339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+ 1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6384" y="2523744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processes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charging nodes + one base station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2926080" y="1764792"/>
            <a:ext cx="1993392" cy="1636776"/>
          </a:xfrm>
          <a:prstGeom prst="roundRect">
            <a:avLst>
              <a:gd name="adj" fmla="val 4469"/>
            </a:avLst>
          </a:prstGeom>
          <a:solidFill>
            <a:srgbClr val="0A1727"/>
          </a:solidFill>
          <a:ln w="12700">
            <a:solidFill>
              <a:srgbClr val="34E7B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17520" y="199339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NT + 1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54096" y="2523744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Physical-core demand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3090672" y="2834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OpenMP threads per EVCS + rank 0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5193792" y="1764792"/>
            <a:ext cx="1993392" cy="1636776"/>
          </a:xfrm>
          <a:prstGeom prst="roundRect">
            <a:avLst>
              <a:gd name="adj" fmla="val 4469"/>
            </a:avLst>
          </a:prstGeom>
          <a:solidFill>
            <a:srgbClr val="0A1727"/>
          </a:solidFill>
          <a:ln w="12700">
            <a:solidFill>
              <a:srgbClr val="20D9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85232" y="199339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⌈(NT + 1) / C⌉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21808" y="2523744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Machines required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358384" y="2834640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1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 usable physical cores per machine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7516368" y="1764792"/>
            <a:ext cx="4023360" cy="1636776"/>
          </a:xfrm>
          <a:prstGeom prst="roundRect">
            <a:avLst>
              <a:gd name="adj" fmla="val 4469"/>
            </a:avLst>
          </a:prstGeom>
          <a:solidFill>
            <a:srgbClr val="0A2232"/>
          </a:solidFill>
          <a:ln w="12700">
            <a:solidFill>
              <a:srgbClr val="FFB84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54112" y="1965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× 3 WORKED EXAMPLE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54112" y="23591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= 9   •   T = 4   •   C = 16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54112" y="28163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MPI ranks  →  37 cores  →  3 machines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" y="3685032"/>
            <a:ext cx="6711696" cy="2295144"/>
          </a:xfrm>
          <a:prstGeom prst="roundRect">
            <a:avLst>
              <a:gd name="adj" fmla="val 3187"/>
            </a:avLst>
          </a:prstGeom>
          <a:solidFill>
            <a:srgbClr val="0D1B2A"/>
          </a:solidFill>
          <a:ln w="12700">
            <a:solidFill>
              <a:srgbClr val="A77B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6112" y="3922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A7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BASE-STATION REDIRECTION ALGORITHM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96112" y="4480560"/>
            <a:ext cx="310896" cy="310896"/>
          </a:xfrm>
          <a:prstGeom prst="ellipse">
            <a:avLst/>
          </a:prstGeom>
          <a:solidFill>
            <a:srgbClr val="A77BFF"/>
          </a:solidFill>
          <a:ln w="12700">
            <a:solidFill>
              <a:srgbClr val="A7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96112" y="456285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325880" y="446227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6112" y="4937760"/>
            <a:ext cx="1399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candidates with a free port and utilisation ≤ threshold.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267712" y="4617720"/>
            <a:ext cx="173736" cy="0"/>
          </a:xfrm>
          <a:prstGeom prst="line">
            <a:avLst/>
          </a:prstGeom>
          <a:noFill/>
          <a:ln w="17780">
            <a:solidFill>
              <a:srgbClr val="1731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68880" y="4480560"/>
            <a:ext cx="310896" cy="310896"/>
          </a:xfrm>
          <a:prstGeom prst="ellipse">
            <a:avLst/>
          </a:prstGeom>
          <a:solidFill>
            <a:srgbClr val="A77BFF"/>
          </a:solidFill>
          <a:ln w="12700">
            <a:solidFill>
              <a:srgbClr val="A7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468880" y="456285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898648" y="446227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68880" y="4937760"/>
            <a:ext cx="1399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Manhattan distance from alerting source to each candidate.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3840480" y="4617720"/>
            <a:ext cx="173736" cy="0"/>
          </a:xfrm>
          <a:prstGeom prst="line">
            <a:avLst/>
          </a:prstGeom>
          <a:noFill/>
          <a:ln w="17780">
            <a:solidFill>
              <a:srgbClr val="1731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41648" y="4480560"/>
            <a:ext cx="310896" cy="310896"/>
          </a:xfrm>
          <a:prstGeom prst="ellipse">
            <a:avLst/>
          </a:prstGeom>
          <a:solidFill>
            <a:srgbClr val="A77BFF"/>
          </a:solidFill>
          <a:ln w="12700">
            <a:solidFill>
              <a:srgbClr val="A7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41648" y="456285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471416" y="446227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041648" y="4937760"/>
            <a:ext cx="1399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minimum distance; break ties by lowest MPI rank.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5413248" y="4617720"/>
            <a:ext cx="173736" cy="0"/>
          </a:xfrm>
          <a:prstGeom prst="line">
            <a:avLst/>
          </a:prstGeom>
          <a:noFill/>
          <a:ln w="17780">
            <a:solidFill>
              <a:srgbClr val="1731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614416" y="4480560"/>
            <a:ext cx="310896" cy="310896"/>
          </a:xfrm>
          <a:prstGeom prst="ellipse">
            <a:avLst/>
          </a:prstGeom>
          <a:solidFill>
            <a:srgbClr val="A77BFF"/>
          </a:solidFill>
          <a:ln w="12700">
            <a:solidFill>
              <a:srgbClr val="A7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14416" y="456285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44184" y="4462272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14416" y="4937760"/>
            <a:ext cx="13990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target node ID and coordinates back to the alerting EVCS.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896112" y="567842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search cost: O(N) per congestion alert.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680960" y="3685032"/>
            <a:ext cx="3858768" cy="2295144"/>
          </a:xfrm>
          <a:prstGeom prst="roundRect">
            <a:avLst>
              <a:gd name="adj" fmla="val 3187"/>
            </a:avLst>
          </a:prstGeom>
          <a:solidFill>
            <a:srgbClr val="0A1727"/>
          </a:solidFill>
          <a:ln w="12700">
            <a:solidFill>
              <a:srgbClr val="34E7B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918704" y="39227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THREADING RULE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955280" y="4443984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= min(P, Tₘₐₓ)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8028432" y="49834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create one thread per charging port. Bind cores to prevent OpenMP oversubscription.</a:t>
            </a:r>
            <a:endParaRPr lang="en-US" sz="112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3 • ANALYTICAL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model: fixed messages stay O(1)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baseline, each message is one logical hop over a 1 Gbit/s link. Queueing, processing and propagation delay are intentionally excluded.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746504"/>
            <a:ext cx="3703320" cy="2039112"/>
          </a:xfrm>
          <a:prstGeom prst="roundRect">
            <a:avLst>
              <a:gd name="adj" fmla="val 3587"/>
            </a:avLst>
          </a:prstGeom>
          <a:solidFill>
            <a:srgbClr val="0A1727"/>
          </a:solidFill>
          <a:ln w="12700">
            <a:solidFill>
              <a:srgbClr val="20D9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9842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STORE-AND-FORWARD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" y="2505456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Tₜₓ = (L × H) / B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24128" y="3072384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= message length (bits)</a:t>
            </a:r>
            <a:endParaRPr lang="en-US" sz="1130" dirty="0"/>
          </a:p>
          <a:p>
            <a:pPr marL="0" indent="0" algn="ctr">
              <a:buNone/>
            </a:pPr>
            <a:r>
              <a:rPr lang="en-US" sz="113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 = hop count = 1</a:t>
            </a:r>
            <a:endParaRPr lang="en-US" sz="1130" dirty="0"/>
          </a:p>
          <a:p>
            <a:pPr marL="0" indent="0" algn="ctr">
              <a:buNone/>
            </a:pPr>
            <a:r>
              <a:rPr lang="en-US" sz="113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= 10⁹ bit/s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58368" y="4059936"/>
            <a:ext cx="3703320" cy="1810512"/>
          </a:xfrm>
          <a:prstGeom prst="roundRect">
            <a:avLst>
              <a:gd name="adj" fmla="val 4040"/>
            </a:avLst>
          </a:prstGeom>
          <a:solidFill>
            <a:srgbClr val="0D1B2A"/>
          </a:solidFill>
          <a:ln w="12700">
            <a:solidFill>
              <a:srgbClr val="4C7D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42885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INTERPRETATION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4709160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Increasing N does not change a fixed message’s bit length.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5157216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Per-message transmission time remains O(1); N increases how many messages are exchanged.</a:t>
            </a:r>
            <a:endParaRPr lang="en-US" sz="1110" dirty="0"/>
          </a:p>
        </p:txBody>
      </p:sp>
      <p:sp>
        <p:nvSpPr>
          <p:cNvPr id="13" name="Shape 11"/>
          <p:cNvSpPr/>
          <p:nvPr/>
        </p:nvSpPr>
        <p:spPr>
          <a:xfrm>
            <a:off x="4617720" y="1746504"/>
            <a:ext cx="6922008" cy="4123944"/>
          </a:xfrm>
          <a:prstGeom prst="roundRect">
            <a:avLst>
              <a:gd name="adj" fmla="val 1774"/>
            </a:avLst>
          </a:prstGeom>
          <a:solidFill>
            <a:srgbClr val="0D1B2A"/>
          </a:solidFill>
          <a:ln w="12700">
            <a:solidFill>
              <a:srgbClr val="17314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64608" y="19842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ONE-HOP PAYLOAD TRANSMISSION 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82896" y="243230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CONGESTION_ALERT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601968" y="2450592"/>
            <a:ext cx="3703320" cy="201168"/>
          </a:xfrm>
          <a:prstGeom prst="roundRect">
            <a:avLst>
              <a:gd name="adj" fmla="val 22727"/>
            </a:avLst>
          </a:prstGeom>
          <a:solidFill>
            <a:srgbClr val="0A1727"/>
          </a:solidFill>
          <a:ln w="12700">
            <a:solidFill>
              <a:srgbClr val="0A17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01968" y="2450592"/>
            <a:ext cx="3703320" cy="201168"/>
          </a:xfrm>
          <a:prstGeom prst="roundRect">
            <a:avLst>
              <a:gd name="adj" fmla="val 22727"/>
            </a:avLst>
          </a:prstGeom>
          <a:solidFill>
            <a:srgbClr val="FF5F73"/>
          </a:solidFill>
          <a:ln w="12700">
            <a:solidFill>
              <a:srgbClr val="FF5F7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451592" y="242316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0.256 μs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137392" y="242316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075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B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4882896" y="304495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STATUS_UPDATE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601968" y="3063240"/>
            <a:ext cx="3703320" cy="201168"/>
          </a:xfrm>
          <a:prstGeom prst="roundRect">
            <a:avLst>
              <a:gd name="adj" fmla="val 22727"/>
            </a:avLst>
          </a:prstGeom>
          <a:solidFill>
            <a:srgbClr val="0A1727"/>
          </a:solidFill>
          <a:ln w="12700">
            <a:solidFill>
              <a:srgbClr val="0A17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601968" y="3063240"/>
            <a:ext cx="3240405" cy="201168"/>
          </a:xfrm>
          <a:prstGeom prst="roundRect">
            <a:avLst>
              <a:gd name="adj" fmla="val 22727"/>
            </a:avLst>
          </a:prstGeom>
          <a:solidFill>
            <a:srgbClr val="4C7DFF"/>
          </a:solidFill>
          <a:ln w="12700">
            <a:solidFill>
              <a:srgbClr val="4C7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451592" y="303580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0.224 μs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137392" y="303580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075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B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4882896" y="365760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NEIGHBOUR_REPLY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601968" y="3675888"/>
            <a:ext cx="3703320" cy="201168"/>
          </a:xfrm>
          <a:prstGeom prst="roundRect">
            <a:avLst>
              <a:gd name="adj" fmla="val 22727"/>
            </a:avLst>
          </a:prstGeom>
          <a:solidFill>
            <a:srgbClr val="0A1727"/>
          </a:solidFill>
          <a:ln w="12700">
            <a:solidFill>
              <a:srgbClr val="0A17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601968" y="3675888"/>
            <a:ext cx="2314575" cy="201168"/>
          </a:xfrm>
          <a:prstGeom prst="roundRect">
            <a:avLst>
              <a:gd name="adj" fmla="val 22727"/>
            </a:avLst>
          </a:prstGeom>
          <a:solidFill>
            <a:srgbClr val="34E7B2"/>
          </a:solidFill>
          <a:ln w="12700">
            <a:solidFill>
              <a:srgbClr val="34E7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451592" y="3648456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0.160 μs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137392" y="364845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075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B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4882896" y="427024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REDIRECT_COMMAND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6601968" y="4288536"/>
            <a:ext cx="3703320" cy="201168"/>
          </a:xfrm>
          <a:prstGeom prst="roundRect">
            <a:avLst>
              <a:gd name="adj" fmla="val 22727"/>
            </a:avLst>
          </a:prstGeom>
          <a:solidFill>
            <a:srgbClr val="0A1727"/>
          </a:solidFill>
          <a:ln w="12700">
            <a:solidFill>
              <a:srgbClr val="0A17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601968" y="4288536"/>
            <a:ext cx="1851660" cy="201168"/>
          </a:xfrm>
          <a:prstGeom prst="roundRect">
            <a:avLst>
              <a:gd name="adj" fmla="val 22727"/>
            </a:avLst>
          </a:prstGeom>
          <a:solidFill>
            <a:srgbClr val="A77BFF"/>
          </a:solidFill>
          <a:ln w="12700">
            <a:solidFill>
              <a:srgbClr val="A7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451592" y="4261104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A7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0.128 μs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137392" y="426110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075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B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4882896" y="488289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NEIGHBOUR_QUERY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601968" y="4901184"/>
            <a:ext cx="3703320" cy="201168"/>
          </a:xfrm>
          <a:prstGeom prst="roundRect">
            <a:avLst>
              <a:gd name="adj" fmla="val 22727"/>
            </a:avLst>
          </a:prstGeom>
          <a:solidFill>
            <a:srgbClr val="0A1727"/>
          </a:solidFill>
          <a:ln w="12700">
            <a:solidFill>
              <a:srgbClr val="0A172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601968" y="4901184"/>
            <a:ext cx="925830" cy="201168"/>
          </a:xfrm>
          <a:prstGeom prst="roundRect">
            <a:avLst>
              <a:gd name="adj" fmla="val 22727"/>
            </a:avLst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451592" y="487375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0.064 μs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137392" y="487375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6075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B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4882896" y="5550408"/>
            <a:ext cx="6172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five curves would be flat versus N because L, H and B are fixed.</a:t>
            </a:r>
            <a:endParaRPr lang="en-US" sz="10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3 • N SCALING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with charging nodes: aggregate demand grows O(N)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mesh keeps local degree bounded, but more active MPI ranks increase the number of status, query/reply and alert/redirect messages per simulation round.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728216"/>
          <a:ext cx="7635240" cy="4462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67928" y="1728216"/>
            <a:ext cx="2971800" cy="4462272"/>
          </a:xfrm>
          <a:prstGeom prst="roundRect">
            <a:avLst>
              <a:gd name="adj" fmla="val 2462"/>
            </a:avLst>
          </a:prstGeom>
          <a:solidFill>
            <a:srgbClr val="0A1727"/>
          </a:solidFill>
          <a:ln w="12700">
            <a:solidFill>
              <a:srgbClr val="20D9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814816" y="1965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SCALES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814816" y="2331720"/>
            <a:ext cx="1106424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20D9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942832" y="2478024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O(1)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924544" y="2880360"/>
            <a:ext cx="886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MESSAGE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049256" y="2331720"/>
            <a:ext cx="1106424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FFB84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177272" y="2478024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O(N)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10158984" y="2880360"/>
            <a:ext cx="886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TRAFFIC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814816" y="355701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Square mesh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820656" y="354787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= 2(N − √N)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814816" y="39959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Directed query/reply relationships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814816" y="42885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4(N − √N)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814816" y="4773168"/>
            <a:ext cx="2331720" cy="0"/>
          </a:xfrm>
          <a:prstGeom prst="line">
            <a:avLst/>
          </a:prstGeom>
          <a:noFill/>
          <a:ln w="1270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814816" y="50292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fan-in point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814816" y="53309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base station receives O(N) status / alert traffic per interval.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3 • S SCALING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base stations distributes the fan-in load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N = 256 and balanced assignment, base-station-bound service demand falls approximately as 1/S. Neighbour traffic does not change.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728216"/>
          <a:ext cx="7635240" cy="4462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67928" y="1728216"/>
            <a:ext cx="2971800" cy="4462272"/>
          </a:xfrm>
          <a:prstGeom prst="roundRect">
            <a:avLst>
              <a:gd name="adj" fmla="val 2462"/>
            </a:avLst>
          </a:prstGeom>
          <a:solidFill>
            <a:srgbClr val="0A1727"/>
          </a:solidFill>
          <a:ln w="12700">
            <a:solidFill>
              <a:srgbClr val="FFB84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814816" y="1965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RESULT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814816" y="2377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O(N/S)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814816" y="28254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base-station load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814816" y="3291840"/>
            <a:ext cx="2331720" cy="0"/>
          </a:xfrm>
          <a:prstGeom prst="line">
            <a:avLst/>
          </a:prstGeom>
          <a:noFill/>
          <a:ln w="1270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96528" y="3566160"/>
            <a:ext cx="2395728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11189" indent="-111189">
              <a:buSzPct val="100000"/>
              <a:buChar char="•"/>
            </a:pPr>
            <a:r>
              <a:rPr lang="en-US" sz="103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STATUS_UPDATE, CONGESTION_ALERT and REDIRECT_COMMAND fall as S grows.</a:t>
            </a:r>
            <a:endParaRPr lang="en-US" sz="1030" dirty="0"/>
          </a:p>
          <a:p>
            <a:pPr marL="111189" indent="-111189">
              <a:buSzPct val="100000"/>
              <a:buChar char="•"/>
            </a:pPr>
            <a:r>
              <a:rPr lang="en-US" sz="103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NEIGHBOUR_QUERY / REPLY remain constant because EVCS degree stays ≤ 4.</a:t>
            </a:r>
            <a:endParaRPr lang="en-US" sz="1030" dirty="0"/>
          </a:p>
          <a:p>
            <a:pPr marL="111189" indent="-111189">
              <a:buSzPct val="100000"/>
              <a:buChar char="•"/>
            </a:pPr>
            <a:r>
              <a:rPr lang="en-US" sz="103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systems may gain further from reduced queueing, but base-station coordination adds overhead.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3 • SENSITIVITY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frequency scales bandwidth linearly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N = 256 under the report’s worst-case message mix, payload bandwidth is O(f) and remains far below the 1 Gbit/s analytical link capacity.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728216"/>
          <a:ext cx="7635240" cy="4462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67928" y="1728216"/>
            <a:ext cx="2971800" cy="4462272"/>
          </a:xfrm>
          <a:prstGeom prst="roundRect">
            <a:avLst>
              <a:gd name="adj" fmla="val 2462"/>
            </a:avLst>
          </a:prstGeom>
          <a:solidFill>
            <a:srgbClr val="0A1727"/>
          </a:solidFill>
          <a:ln w="12700">
            <a:solidFill>
              <a:srgbClr val="20D9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814816" y="19659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N = 256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814816" y="2304288"/>
            <a:ext cx="2331720" cy="941832"/>
          </a:xfrm>
          <a:prstGeom prst="roundRect">
            <a:avLst>
              <a:gd name="adj" fmla="val 7767"/>
            </a:avLst>
          </a:prstGeom>
          <a:solidFill>
            <a:srgbClr val="0A1727"/>
          </a:solidFill>
          <a:ln w="12700">
            <a:solidFill>
              <a:srgbClr val="20D9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942832" y="2450592"/>
            <a:ext cx="207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46,336 B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924544" y="2852928"/>
            <a:ext cx="21122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WORST-CASE PAYLOAD / ROUND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814816" y="3529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0.371 Mbit/s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814816" y="381304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1 Hz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814816" y="41879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3.707 Mbit/s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814816" y="44714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10 Hz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814816" y="4846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7.414 Mbit/s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814816" y="51480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20 Hz  •  &lt; 1% of 1 Gbit/s</a:t>
            </a:r>
            <a:endParaRPr lang="en-US" sz="970" dirty="0"/>
          </a:p>
        </p:txBody>
      </p:sp>
      <p:sp>
        <p:nvSpPr>
          <p:cNvPr id="17" name="Text 14"/>
          <p:cNvSpPr/>
          <p:nvPr/>
        </p:nvSpPr>
        <p:spPr>
          <a:xfrm>
            <a:off x="8814816" y="5559552"/>
            <a:ext cx="2331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Headers, wireless interference, simultaneous-flow queueing and MPI protocol effects can raise observed latency beyond this payload-only model.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analysis supports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architecture is communication-light under the baseline model, while preserving a clear path to scale the base-station layer and improve realism.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2340864" cy="1408176"/>
          </a:xfrm>
          <a:prstGeom prst="roundRect">
            <a:avLst>
              <a:gd name="adj" fmla="val 5195"/>
            </a:avLst>
          </a:prstGeom>
          <a:solidFill>
            <a:srgbClr val="0A1727"/>
          </a:solidFill>
          <a:ln w="12700">
            <a:solidFill>
              <a:srgbClr val="20D9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" y="202996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2-D mesh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2514600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fit for immediate geographic neighbours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493008" y="1755648"/>
            <a:ext cx="2340864" cy="1408176"/>
          </a:xfrm>
          <a:prstGeom prst="roundRect">
            <a:avLst>
              <a:gd name="adj" fmla="val 5195"/>
            </a:avLst>
          </a:prstGeom>
          <a:solidFill>
            <a:srgbClr val="0A1727"/>
          </a:solidFill>
          <a:ln w="12700">
            <a:solidFill>
              <a:srgbClr val="4C7D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02736" y="202996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7D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MIMD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39312" y="2514600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across processes • OpenMP inside EVCS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327648" y="1755648"/>
            <a:ext cx="2340864" cy="1408176"/>
          </a:xfrm>
          <a:prstGeom prst="roundRect">
            <a:avLst>
              <a:gd name="adj" fmla="val 5195"/>
            </a:avLst>
          </a:prstGeom>
          <a:solidFill>
            <a:srgbClr val="0A1727"/>
          </a:solidFill>
          <a:ln w="12700">
            <a:solidFill>
              <a:srgbClr val="FFB84D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7376" y="202996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8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3952" y="2514600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communication as the WSN grows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9162288" y="1755648"/>
            <a:ext cx="2340864" cy="1408176"/>
          </a:xfrm>
          <a:prstGeom prst="roundRect">
            <a:avLst>
              <a:gd name="adj" fmla="val 5195"/>
            </a:avLst>
          </a:prstGeom>
          <a:solidFill>
            <a:srgbClr val="0A1727"/>
          </a:solidFill>
          <a:ln w="12700">
            <a:solidFill>
              <a:srgbClr val="34E7B2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72016" y="202996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O(N/S)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308592" y="2514600"/>
            <a:ext cx="20482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Peak base-station load with S balanced servers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58368" y="3511296"/>
            <a:ext cx="5413248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 w="12700">
            <a:solidFill>
              <a:srgbClr val="FF5F73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" y="37673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FF5F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LIMITATIONS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6112" y="4151376"/>
            <a:ext cx="4882896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4143" indent="-124143">
              <a:buSzPct val="100000"/>
              <a:buChar char="•"/>
            </a:pPr>
            <a:r>
              <a:rPr lang="en-US" sz="11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Excludes wireless interference, packet loss, propagation, queueing, MPI headers and OS scheduling.</a:t>
            </a:r>
            <a:endParaRPr lang="en-US" sz="1150" dirty="0"/>
          </a:p>
          <a:p>
            <a:pPr marL="124143" indent="-124143">
              <a:buSzPct val="100000"/>
              <a:buChar char="•"/>
            </a:pPr>
            <a:r>
              <a:rPr lang="en-US" sz="11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station is a direct MPI endpoint rather than a multi-hop wireless destination.</a:t>
            </a:r>
            <a:endParaRPr lang="en-US" sz="1150" dirty="0"/>
          </a:p>
          <a:p>
            <a:pPr marL="124143" indent="-124143">
              <a:buSzPct val="100000"/>
              <a:buChar char="•"/>
            </a:pPr>
            <a:r>
              <a:rPr lang="en-US" sz="115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Manhattan distance approximates proximity; real road / GPS distance is not modelled.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27648" y="3511296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 w="12700">
            <a:solidFill>
              <a:srgbClr val="34E7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65392" y="37673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65392" y="4151376"/>
            <a:ext cx="4700016" cy="14081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0904" indent="-120904">
              <a:buSzPct val="100000"/>
              <a:buChar char="•"/>
            </a:pPr>
            <a:r>
              <a:rPr lang="en-US" sz="112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base stations with synchronized status replication.</a:t>
            </a:r>
            <a:endParaRPr lang="en-US" sz="1120" dirty="0"/>
          </a:p>
          <a:p>
            <a:pPr marL="120904" indent="-120904">
              <a:buSzPct val="100000"/>
              <a:buChar char="•"/>
            </a:pPr>
            <a:r>
              <a:rPr lang="en-US" sz="112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Failure-aware and multi-hop routing over the wireless mesh.</a:t>
            </a:r>
            <a:endParaRPr lang="en-US" sz="1120" dirty="0"/>
          </a:p>
          <a:p>
            <a:pPr marL="120904" indent="-120904">
              <a:buSzPct val="100000"/>
              <a:buChar char="•"/>
            </a:pPr>
            <a:r>
              <a:rPr lang="en-US" sz="112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MPI latency / throughput and dynamic vehicle arrival workloads.</a:t>
            </a:r>
            <a:endParaRPr lang="en-US" sz="1120" dirty="0"/>
          </a:p>
          <a:p>
            <a:pPr marL="120904" indent="-120904">
              <a:buSzPct val="100000"/>
              <a:buChar char="•"/>
            </a:pPr>
            <a:r>
              <a:rPr lang="en-US" sz="112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/ road-network distance for practical redirection.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58368" y="6053328"/>
            <a:ext cx="10881360" cy="320040"/>
          </a:xfrm>
          <a:prstGeom prst="roundRect">
            <a:avLst>
              <a:gd name="adj" fmla="val 22857"/>
            </a:avLst>
          </a:prstGeom>
          <a:solidFill>
            <a:srgbClr val="0C2630"/>
          </a:solidFill>
          <a:ln w="12700">
            <a:solidFill>
              <a:srgbClr val="20D9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6144768"/>
            <a:ext cx="10369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 line: fixed-size messages remain cheap; the primary scalability pressure is aggregate fan-in at the base station, not neighbour communication.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 REFERENCE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Appendix: topology comparison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network parameters reproduced from the report’s Week 5 comparison, with the selected mesh highlighted.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46504"/>
          <a:ext cx="10881360" cy="44348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 dirty="0">
                          <a:solidFill>
                            <a:srgbClr val="0711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Topology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D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0711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Degree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D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0711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Diameter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D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0711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Bisection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D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0711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 conn.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D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0711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D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Linear array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1–2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N−1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N−1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Ring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N/2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or N−1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N−1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Binary tree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1–3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 log₂((N+1)/2)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N−1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b="1" dirty="0">
                          <a:solidFill>
                            <a:srgbClr val="20D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2-D mesh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20D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2–4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20D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2(√N−1)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20D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√N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20D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20D9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2(N−√N)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2-D torus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√N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2√N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2N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3-D cube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3–6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3(∛N−1)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N^(2/3)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3(N−N^(2/3))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Hypercube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log₂N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log₂N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N/2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log₂N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 log₂N / 2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Complete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N−1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N²/4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N−1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N(N−1)/2</a:t>
                      </a:r>
                      <a:endParaRPr lang="en-US" sz="10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 REFERENCE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Appendix: message protocol and complexity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Message sizes are payload-only: 4-byte int and 8-byte double fields; MPI / transport headers and padding are excluded.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55648"/>
          <a:ext cx="10881360" cy="3127248"/>
        </p:xfrm>
        <a:graphic>
          <a:graphicData uri="http://schemas.openxmlformats.org/drawingml/2006/table">
            <a:tbl>
              <a:tblPr/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b="1" dirty="0">
                          <a:solidFill>
                            <a:srgbClr val="0711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Tag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D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b="1" dirty="0">
                          <a:solidFill>
                            <a:srgbClr val="0711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Direction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D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b="1" dirty="0">
                          <a:solidFill>
                            <a:srgbClr val="0711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Bytes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D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b="1" dirty="0">
                          <a:solidFill>
                            <a:srgbClr val="0711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MPI behaviour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D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b="1" dirty="0">
                          <a:solidFill>
                            <a:srgbClr val="07111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Complexity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D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STATUS_UPDATE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EVCS → base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28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MPI_Isend; async receive at base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O(1) / msg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NEIGHBOUR_QUERY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EVCS → neighbour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MPI_Isend after posting replies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O(1) / msg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NEIGHBOUR_REPLY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Neighbour → requester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MPI_Isend / Irecv + Waitall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O(1) / msg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CONGESTION_ALERT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EVCS → base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32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MPI_Isend; event-driven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O(1) / msg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REDIRECT_COMMAND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 → EVCS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Point-to-point response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40" dirty="0">
                          <a:solidFill>
                            <a:srgbClr val="F3F7F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O(1) / msg</a:t>
                      </a:r>
                      <a:endParaRPr lang="en-US" sz="104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7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7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58368" y="5175504"/>
            <a:ext cx="10881360" cy="676656"/>
          </a:xfrm>
          <a:prstGeom prst="roundRect">
            <a:avLst>
              <a:gd name="adj" fmla="val 10811"/>
            </a:avLst>
          </a:prstGeom>
          <a:solidFill>
            <a:srgbClr val="0A1727"/>
          </a:solidFill>
          <a:ln w="12700">
            <a:solidFill>
              <a:srgbClr val="34E7B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96112" y="53766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E7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Synchronization rule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395728" y="5321808"/>
            <a:ext cx="8759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reply receives first → issue non-blocking queries → wait only for required neighbour replies. This avoids circular blocking and removes the need for a global barrier.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67512"/>
            <a:ext cx="10835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and AI declaration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2529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presentation is condensed from the submitted report and preserves its references and declared assumptions.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764792"/>
            <a:ext cx="7114032" cy="4352544"/>
          </a:xfrm>
          <a:prstGeom prst="roundRect">
            <a:avLst>
              <a:gd name="adj" fmla="val 1681"/>
            </a:avLst>
          </a:prstGeom>
          <a:solidFill>
            <a:srgbClr val="0A1727"/>
          </a:solidFill>
          <a:ln w="12700">
            <a:solidFill>
              <a:srgbClr val="17314A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20D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6492240" cy="3273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10109" indent="-110109">
              <a:buSzPct val="100000"/>
              <a:buChar char="•"/>
            </a:pPr>
            <a:r>
              <a:rPr lang="en-US" sz="102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Monash University, FIT3143 Applied #1 Assessment (Week 6): Distributed Wireless Sensor Network, 2026.</a:t>
            </a:r>
            <a:endParaRPr lang="en-US" sz="1020" dirty="0"/>
          </a:p>
          <a:p>
            <a:pPr marL="110109" indent="-110109">
              <a:buSzPct val="100000"/>
              <a:buChar char="•"/>
            </a:pPr>
            <a:r>
              <a:rPr lang="en-US" sz="102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 Monash University, FIT3143 Applied #1 Marking Rubric (Week 6), 2026.</a:t>
            </a:r>
            <a:endParaRPr lang="en-US" sz="1020" dirty="0"/>
          </a:p>
          <a:p>
            <a:pPr marL="110109" indent="-110109">
              <a:buSzPct val="100000"/>
              <a:buChar char="•"/>
            </a:pPr>
            <a:r>
              <a:rPr lang="en-US" sz="102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[3] FIT3143 Topic 5: Multiple Instruction Multiple Data and Distributed Memory Architectures, 2024.</a:t>
            </a:r>
            <a:endParaRPr lang="en-US" sz="1020" dirty="0"/>
          </a:p>
          <a:p>
            <a:pPr marL="110109" indent="-110109">
              <a:buSzPct val="100000"/>
              <a:buChar char="•"/>
            </a:pPr>
            <a:r>
              <a:rPr lang="en-US" sz="102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[4] FIT3143 Week 5 Applied Preparation / MPI material, 2024.</a:t>
            </a:r>
            <a:endParaRPr lang="en-US" sz="1020" dirty="0"/>
          </a:p>
          <a:p>
            <a:pPr marL="110109" indent="-110109">
              <a:buSzPct val="100000"/>
              <a:buChar char="•"/>
            </a:pPr>
            <a:r>
              <a:rPr lang="en-US" sz="102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[5] FIT3143 Week 3 Lab Preparation: OpenMP shared-memory data environment, work sharing and reduction, 2024.</a:t>
            </a:r>
            <a:endParaRPr lang="en-US" sz="1020" dirty="0"/>
          </a:p>
          <a:p>
            <a:pPr marL="110109" indent="-110109">
              <a:buSzPct val="100000"/>
              <a:buChar char="•"/>
            </a:pPr>
            <a:r>
              <a:rPr lang="en-US" sz="102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[6] FIT3143 Topic 1: Introduction to Parallel Computing, 2024.</a:t>
            </a:r>
            <a:endParaRPr lang="en-US" sz="1020" dirty="0"/>
          </a:p>
          <a:p>
            <a:pPr marL="110109" indent="-110109">
              <a:buSzPct val="100000"/>
              <a:buChar char="•"/>
            </a:pPr>
            <a:r>
              <a:rPr lang="en-US" sz="102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[7] Consolidated MPI examples supplied with the unit / project sources.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8065008" y="1764792"/>
            <a:ext cx="3474720" cy="4352544"/>
          </a:xfrm>
          <a:prstGeom prst="roundRect">
            <a:avLst>
              <a:gd name="adj" fmla="val 2105"/>
            </a:avLst>
          </a:prstGeom>
          <a:solidFill>
            <a:srgbClr val="0D1B2A"/>
          </a:solidFill>
          <a:ln w="12700">
            <a:solidFill>
              <a:srgbClr val="A77B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02752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A77B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DECLARATION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02752" y="245059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Declared tool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372600" y="241401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 (OpenAI)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02752" y="2816352"/>
            <a:ext cx="2852928" cy="0"/>
          </a:xfrm>
          <a:prstGeom prst="line">
            <a:avLst/>
          </a:prstGeom>
          <a:noFill/>
          <a:ln w="12700">
            <a:solidFill>
              <a:srgbClr val="17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02752" y="30632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02752" y="3410712"/>
            <a:ext cx="2852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Preparation, analysis support, editing, diagram / graph generation and formatting.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8302752" y="437083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7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Responsibility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02752" y="4718304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F3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Authors remain responsible for validating technical accuracy and explaining the work independently during presentation and Q&amp;A.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10528"/>
            <a:ext cx="3931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0758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2303</Words>
  <Application>Microsoft Office PowerPoint</Application>
  <PresentationFormat>Widescreen</PresentationFormat>
  <Paragraphs>470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Monash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Wireless Sensor Network - EV Charging Navigation System Simulation</dc:title>
  <dc:subject>FIT3143 Applied #1 Assessment - Distributed Wireless Sensor Network</dc:subject>
  <dc:creator>Savin Vindiv De Alwis &amp; Shamle Thilaksiri</dc:creator>
  <cp:lastModifiedBy>Shane</cp:lastModifiedBy>
  <cp:revision>2</cp:revision>
  <dcterms:created xsi:type="dcterms:W3CDTF">2026-09-03T22:11:38Z</dcterms:created>
  <dcterms:modified xsi:type="dcterms:W3CDTF">2026-09-03T22:22:27Z</dcterms:modified>
</cp:coreProperties>
</file>