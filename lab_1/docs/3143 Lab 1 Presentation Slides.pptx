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Petrona" panose="020B0604020202020204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nnpV9HNwZiOA9Sht8I0TgZupQ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76dbef1c5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9" name="Google Shape;209;g3f76dbef1c5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76dbef1c5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76dbef1c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2" name="Google Shape;222;g3f76dbef1c5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f76dbef1c5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1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685900" y="1022228"/>
            <a:ext cx="30591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5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FIT3143 PARALLEL COMPUTING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61475" y="1536105"/>
            <a:ext cx="10868745" cy="62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900"/>
              <a:buFont typeface="Petrona"/>
              <a:buNone/>
            </a:pPr>
            <a:r>
              <a:rPr lang="en-US" sz="39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Lab #1 | Shared-Memory</a:t>
            </a:r>
            <a:endParaRPr sz="3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61475" y="2439789"/>
            <a:ext cx="10868745" cy="855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5350"/>
              <a:buFont typeface="Petrona"/>
              <a:buNone/>
            </a:pPr>
            <a:r>
              <a:rPr lang="en-US" sz="535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Prime Search</a:t>
            </a:r>
            <a:endParaRPr sz="5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85900" y="4082150"/>
            <a:ext cx="4728000" cy="688200"/>
          </a:xfrm>
          <a:prstGeom prst="roundRect">
            <a:avLst>
              <a:gd name="adj" fmla="val 6464"/>
            </a:avLst>
          </a:prstGeom>
          <a:solidFill>
            <a:srgbClr val="FF8A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74007" y="3768130"/>
            <a:ext cx="5097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Petrona"/>
              <a:buNone/>
            </a:pP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39644" y="4283997"/>
            <a:ext cx="48213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Serial C → POSIX Threads → OpenMP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332776" y="3768130"/>
            <a:ext cx="5203794" cy="3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950"/>
              <a:buFont typeface="Petrona"/>
              <a:buNone/>
            </a:pP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165776" y="3962700"/>
            <a:ext cx="5203800" cy="12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8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35221631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30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Inter"/>
              <a:buNone/>
            </a:pPr>
            <a:r>
              <a:rPr lang="en-US" sz="18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Shamle Imal Thilaksiri | 35512075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661475" y="675481"/>
            <a:ext cx="1090684" cy="229691"/>
          </a:xfrm>
          <a:prstGeom prst="roundRect">
            <a:avLst>
              <a:gd name="adj" fmla="val 22120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52159" y="720824"/>
            <a:ext cx="1518902" cy="13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61475" y="953492"/>
            <a:ext cx="10868745" cy="496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100"/>
              <a:buFont typeface="Petrona"/>
              <a:buNone/>
            </a:pPr>
            <a:r>
              <a:rPr lang="en-US" sz="31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Task 1 | Serial Baseline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61475" y="1631057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Parallel Computing · ~45 seconds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61475" y="1984776"/>
            <a:ext cx="52500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550"/>
              <a:buFont typeface="Petrona"/>
              <a:buNone/>
            </a:pPr>
            <a:r>
              <a:rPr lang="en-US" sz="2150" b="1" i="0" u="none" strike="noStrike" cap="none" dirty="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Approach – Odd Sieve Method</a:t>
            </a:r>
            <a:endParaRPr sz="2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61475" y="2474731"/>
            <a:ext cx="5250000" cy="23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475" rIns="0" bIns="0" anchor="t" anchorCtr="0">
            <a:normAutofit fontScale="92500"/>
          </a:bodyPr>
          <a:lstStyle/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Search for every prime strictly below n.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Skip even candidates completely.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For each odd candidate, test every odd divisor until √candidate.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Store results by candidate index so output remains sorted.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Measure elapsed computation time with a monotonic clock.</a:t>
            </a:r>
          </a:p>
          <a:p>
            <a:pPr marL="233680" lvl="0" indent="-255905">
              <a:lnSpc>
                <a:spcPct val="120000"/>
              </a:lnSpc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/>
                <a:ea typeface="Inter"/>
                <a:cs typeface="Calibri"/>
                <a:sym typeface="Inter"/>
              </a:rPr>
              <a:t>O(n</a:t>
            </a:r>
            <a:r>
              <a:rPr lang="en-US" sz="150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√n)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77800" y="1984772"/>
            <a:ext cx="5467610" cy="2967137"/>
          </a:xfrm>
          <a:prstGeom prst="roundRect">
            <a:avLst>
              <a:gd name="adj" fmla="val 3669"/>
            </a:avLst>
          </a:prstGeom>
          <a:solidFill>
            <a:srgbClr val="FF8A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329006" y="2105720"/>
            <a:ext cx="5165199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Petrona"/>
              <a:buNone/>
            </a:pPr>
            <a:r>
              <a:rPr lang="en-US" sz="1550" b="1" i="0" u="none" strike="noStrike" cap="non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Example output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329006" y="2474714"/>
            <a:ext cx="5165199" cy="54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Input: n = 30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Primes: 2 3 5 7 11 13 17 19 23 29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329006" y="3192760"/>
            <a:ext cx="5165199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329006" y="3385641"/>
            <a:ext cx="5165199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Petrona"/>
              <a:buNone/>
            </a:pPr>
            <a:r>
              <a:rPr lang="en-US" sz="1550" b="1" i="0" u="none" strike="noStrike" cap="non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Measured baseline at n = 10,000,000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329006" y="3754636"/>
            <a:ext cx="5165199" cy="108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Prime count: 664,579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Computation time: 1.2006749 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serial implementation is used as the baseline when comparing the parallel runtimes.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61475" y="5087938"/>
            <a:ext cx="10868745" cy="740767"/>
          </a:xfrm>
          <a:prstGeom prst="roundRect">
            <a:avLst>
              <a:gd name="adj" fmla="val 8574"/>
            </a:avLst>
          </a:prstGeom>
          <a:solidFill>
            <a:srgbClr val="2F1D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680" y="5260380"/>
            <a:ext cx="189007" cy="1512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1152893" y="5246688"/>
            <a:ext cx="10226122" cy="43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lang="en-US" sz="1150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 optimisation: avoiding even candidates and stopping at √candidate removes a large amount of </a:t>
            </a:r>
            <a:endParaRPr sz="1150" b="0" i="1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lang="en-US" sz="1150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unnecessary work before parallelism is introduced.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61475" y="5964734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661475" y="757734"/>
            <a:ext cx="1090684" cy="229691"/>
          </a:xfrm>
          <a:prstGeom prst="roundRect">
            <a:avLst>
              <a:gd name="adj" fmla="val 22120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752159" y="803077"/>
            <a:ext cx="1518902" cy="13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61475" y="1035745"/>
            <a:ext cx="10868745" cy="496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100"/>
              <a:buFont typeface="Petrona"/>
              <a:buNone/>
            </a:pPr>
            <a:r>
              <a:rPr lang="en-US" sz="31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Experimental Setup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61475" y="1713309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Parallel Computing · Same machine for all measurements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61475" y="2187972"/>
            <a:ext cx="5249930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550"/>
              <a:buFont typeface="Petrona"/>
              <a:buNone/>
            </a:pPr>
            <a:r>
              <a:rPr lang="en-US" sz="18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Problem-size scaling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61475" y="2556966"/>
            <a:ext cx="5250000" cy="12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475" rIns="0" bIns="0" anchor="t" anchorCtr="0">
            <a:normAutofit fontScale="92500" lnSpcReduction="20000"/>
          </a:bodyPr>
          <a:lstStyle/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n = 1,000,000 to 30,000,000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30 different n values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Task 2 and Task 3 use 20 threads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Task 2 speedup graph is shown only up to n = 10,000,000, as selected for the presentation.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337100" y="2349150"/>
            <a:ext cx="5467500" cy="2166300"/>
          </a:xfrm>
          <a:prstGeom prst="roundRect">
            <a:avLst>
              <a:gd name="adj" fmla="val 6231"/>
            </a:avLst>
          </a:prstGeom>
          <a:solidFill>
            <a:srgbClr val="FF8A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673025" y="2556975"/>
            <a:ext cx="4929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Petrona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Thread scaling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724400" y="2954700"/>
            <a:ext cx="49290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475" rIns="0" bIns="0" anchor="t" anchorCtr="0">
            <a:normAutofit fontScale="92500" lnSpcReduction="20000"/>
          </a:bodyPr>
          <a:lstStyle/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Fixed n = 10,000,000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Thread count = 1 to 40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lets us see performance before and after the available hardware thread count is reached.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61475" y="4071441"/>
            <a:ext cx="5249930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550"/>
              <a:buFont typeface="Petrona"/>
              <a:buNone/>
            </a:pPr>
            <a:r>
              <a:rPr lang="en-US" sz="18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Test computer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61475" y="4440436"/>
            <a:ext cx="5249930" cy="737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475" rIns="0" bIns="0" anchor="t" anchorCtr="0">
            <a:normAutofit fontScale="70000" lnSpcReduction="20000"/>
          </a:bodyPr>
          <a:lstStyle/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14 physical hardware cores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20 logical processors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Thread counts above 20 oversubscribe the available logical processors.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61475" y="5882580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661475" y="678061"/>
            <a:ext cx="1090684" cy="229691"/>
          </a:xfrm>
          <a:prstGeom prst="roundRect">
            <a:avLst>
              <a:gd name="adj" fmla="val 22120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52159" y="723404"/>
            <a:ext cx="1518902" cy="13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61475" y="956072"/>
            <a:ext cx="10868745" cy="496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100"/>
              <a:buFont typeface="Petrona"/>
              <a:buNone/>
            </a:pPr>
            <a:r>
              <a:rPr lang="en-US" sz="31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Task 2 | POSIX Threads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61475" y="1633637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Parallel Computing · Parallel design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61475" y="2065206"/>
            <a:ext cx="5249930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550"/>
              <a:buFont typeface="Petrona"/>
              <a:buNone/>
            </a:pPr>
            <a:r>
              <a:rPr lang="en-US" sz="1800" b="1" i="0" u="none" strike="noStrike" cap="none" dirty="0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Workload partitioning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61475" y="2477293"/>
            <a:ext cx="5249930" cy="2995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475" rIns="0" bIns="0" anchor="t" anchorCtr="0">
            <a:normAutofit lnSpcReduction="10000"/>
          </a:bodyPr>
          <a:lstStyle/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We use an odd-candidate array (flag array)    </a:t>
            </a:r>
            <a:r>
              <a:rPr lang="en-US" sz="1500" b="1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[3 : n)</a:t>
            </a: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It </a:t>
            </a: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is split into contiguous ranges – </a:t>
            </a:r>
            <a:r>
              <a:rPr lang="en-US" sz="1500" b="1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static block partitioning</a:t>
            </a:r>
            <a:endParaRPr sz="1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Each worker receives roughly the same number of candidates and </a:t>
            </a:r>
            <a:r>
              <a:rPr lang="en-US" sz="1500" b="1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runs the serial prime check</a:t>
            </a: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Any remainder is distributed one extra candidate at a time to the first workers.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Each thread writes only to its own section of the shared result array.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5590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Inter"/>
              <a:buChar char="•"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Each thread keeps a local prime count, which is added after </a:t>
            </a:r>
            <a:r>
              <a:rPr lang="en-US" sz="1500" b="0" i="0" u="none" strike="noStrike" cap="none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pthread_join</a:t>
            </a: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() – </a:t>
            </a:r>
            <a:r>
              <a:rPr lang="en-US" sz="1500" b="1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serial section</a:t>
            </a:r>
            <a:endParaRPr sz="1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177800" y="1987352"/>
            <a:ext cx="5467610" cy="3485158"/>
          </a:xfrm>
          <a:prstGeom prst="roundRect">
            <a:avLst>
              <a:gd name="adj" fmla="val 3124"/>
            </a:avLst>
          </a:prstGeom>
          <a:solidFill>
            <a:srgbClr val="FF8A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329006" y="2108299"/>
            <a:ext cx="5165199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Petrona"/>
              <a:buNone/>
            </a:pPr>
            <a:r>
              <a:rPr lang="en-US" sz="1550" b="1" i="0" u="none" strike="noStrike" cap="none" dirty="0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Example static partitioning</a:t>
            </a:r>
            <a:endParaRPr sz="15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329006" y="2477294"/>
            <a:ext cx="5165199" cy="54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lang="en-US" sz="115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Thread 0 · Thread 1 · Thread 2 · Thread 3 · Thread 4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lang="en-US" sz="115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Each worker owns a disjoint range of candidate indices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329006" y="3195340"/>
            <a:ext cx="5165199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329006" y="3388221"/>
            <a:ext cx="5165199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Petrona"/>
              <a:buNone/>
            </a:pPr>
            <a:r>
              <a:rPr lang="en-US" sz="1550" b="1" i="0" u="none" strike="noStrike" cap="non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Why no mutex in the main loop?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329006" y="3757216"/>
            <a:ext cx="5165199" cy="43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>
              <a:lnSpc>
                <a:spcPct val="120000"/>
              </a:lnSpc>
              <a:buSzPts val="1150"/>
            </a:pPr>
            <a:r>
              <a:rPr lang="en-US" sz="1150" dirty="0">
                <a:latin typeface="Inter"/>
                <a:ea typeface="Inter"/>
                <a:cs typeface="Inter"/>
                <a:sym typeface="Inter"/>
              </a:rPr>
              <a:t>Each worker writes to a unique array range, so there is </a:t>
            </a:r>
            <a:r>
              <a:rPr lang="en-US" sz="1150" b="1" dirty="0">
                <a:latin typeface="Inter"/>
                <a:ea typeface="Inter"/>
                <a:cs typeface="Inter"/>
                <a:sym typeface="Inter"/>
              </a:rPr>
              <a:t>no</a:t>
            </a:r>
            <a:r>
              <a:rPr lang="en-US" sz="1150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50" b="1" dirty="0">
                <a:latin typeface="Inter"/>
                <a:ea typeface="Inter"/>
                <a:cs typeface="Inter"/>
                <a:sym typeface="Inter"/>
              </a:rPr>
              <a:t>race condition </a:t>
            </a:r>
            <a:r>
              <a:rPr lang="en-US" sz="1150" dirty="0">
                <a:latin typeface="Inter"/>
                <a:ea typeface="Inter"/>
                <a:cs typeface="Inter"/>
                <a:sym typeface="Inter"/>
              </a:rPr>
              <a:t>and the expensive prime test runs </a:t>
            </a:r>
            <a:r>
              <a:rPr lang="en-US" sz="1150" b="1" dirty="0">
                <a:latin typeface="Inter"/>
                <a:ea typeface="Inter"/>
                <a:cs typeface="Inter"/>
                <a:sym typeface="Inter"/>
              </a:rPr>
              <a:t>without a critical section</a:t>
            </a:r>
            <a:r>
              <a:rPr lang="en-US" sz="1150" dirty="0">
                <a:latin typeface="Inter"/>
                <a:ea typeface="Inter"/>
                <a:cs typeface="Inter"/>
                <a:sym typeface="Inter"/>
              </a:rPr>
              <a:t>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329006" y="4366419"/>
            <a:ext cx="5165199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329006" y="4559300"/>
            <a:ext cx="5165199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Petrona"/>
              <a:buNone/>
            </a:pPr>
            <a:r>
              <a:rPr lang="en-US" sz="1550" b="1" i="0" u="none" strike="noStrike" cap="non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Main limitation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329005" y="4879926"/>
            <a:ext cx="5165199" cy="43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lang="en-US" sz="115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Equal candidate counts do not guarantee equal work. Larger candidates can require more divisor tests.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61475" y="5906488"/>
            <a:ext cx="10868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1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Test computer: 14 physical cores | 20 logical processors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5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  <p:pic>
        <p:nvPicPr>
          <p:cNvPr id="91" name="Google Shape;9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3442" y="1183429"/>
            <a:ext cx="5467599" cy="5581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2;p4">
            <a:extLst>
              <a:ext uri="{FF2B5EF4-FFF2-40B4-BE49-F238E27FC236}">
                <a16:creationId xmlns:a16="http://schemas.microsoft.com/office/drawing/2014/main" id="{4F52F4DF-35D2-A710-1B13-61F68B4BA46D}"/>
              </a:ext>
            </a:extLst>
          </p:cNvPr>
          <p:cNvSpPr/>
          <p:nvPr/>
        </p:nvSpPr>
        <p:spPr>
          <a:xfrm>
            <a:off x="6329005" y="1503610"/>
            <a:ext cx="5582800" cy="544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0000"/>
              </a:lnSpc>
              <a:buSzPts val="1150"/>
            </a:pPr>
            <a:r>
              <a:rPr lang="en-US" sz="1100" dirty="0">
                <a:latin typeface="Inter"/>
                <a:ea typeface="Inter"/>
                <a:cs typeface="Inter"/>
                <a:sym typeface="Inter"/>
              </a:rPr>
              <a:t>   3, 5, 7                 9, 11, 13 	            15, 17, 19             21, 23, 25            27, 29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	              	                  11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7;p4">
            <a:extLst>
              <a:ext uri="{FF2B5EF4-FFF2-40B4-BE49-F238E27FC236}">
                <a16:creationId xmlns:a16="http://schemas.microsoft.com/office/drawing/2014/main" id="{2ABD888D-04B4-9190-5076-DBF862E6426A}"/>
              </a:ext>
            </a:extLst>
          </p:cNvPr>
          <p:cNvSpPr/>
          <p:nvPr/>
        </p:nvSpPr>
        <p:spPr>
          <a:xfrm>
            <a:off x="8724298" y="873974"/>
            <a:ext cx="3342567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n = 30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661475" y="607020"/>
            <a:ext cx="953964" cy="201116"/>
          </a:xfrm>
          <a:prstGeom prst="roundRect">
            <a:avLst>
              <a:gd name="adj" fmla="val 22105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40848" y="646708"/>
            <a:ext cx="1404803" cy="121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61475" y="845145"/>
            <a:ext cx="10868745" cy="434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700"/>
              <a:buFont typeface="Petrona"/>
              <a:buNone/>
            </a:pPr>
            <a:r>
              <a:rPr lang="en-US" sz="27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Task 2 | Scaling with Problem Size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7944903" y="1062424"/>
            <a:ext cx="41949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0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Parallel Computing · 20 POSIX Threads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1494799"/>
            <a:ext cx="5218377" cy="3010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8601" y="1494969"/>
            <a:ext cx="5218374" cy="301050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658275" y="4770434"/>
            <a:ext cx="52731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50"/>
              <a:buFont typeface="Petrona"/>
              <a:buNone/>
            </a:pPr>
            <a:r>
              <a:rPr lang="en-US" sz="15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Interpretation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58275" y="5080001"/>
            <a:ext cx="5273100" cy="8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925" rIns="0" bIns="0" anchor="t" anchorCtr="0">
            <a:normAutofit/>
          </a:bodyPr>
          <a:lstStyle/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At n = 30M, Task 1 takes 6.27 s while </a:t>
            </a:r>
            <a:r>
              <a:rPr lang="en-US" sz="1300" b="0" i="0" u="none" strike="noStrike" cap="none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Pthreads</a:t>
            </a:r>
            <a:r>
              <a:rPr lang="en-US" sz="13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takes 0.739 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Both runtimes increase with n, but the parallel implementation remains much faster across all 30 values.</a:t>
            </a:r>
          </a:p>
        </p:txBody>
      </p:sp>
      <p:sp>
        <p:nvSpPr>
          <p:cNvPr id="105" name="Google Shape;105;p5"/>
          <p:cNvSpPr/>
          <p:nvPr/>
        </p:nvSpPr>
        <p:spPr>
          <a:xfrm>
            <a:off x="6260323" y="4770434"/>
            <a:ext cx="52731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50"/>
              <a:buFont typeface="Petrona"/>
              <a:buNone/>
            </a:pPr>
            <a:r>
              <a:rPr lang="en-US" sz="15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Interpretation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260323" y="5079997"/>
            <a:ext cx="5273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925" rIns="0" bIns="0" anchor="t" anchorCtr="0">
            <a:noAutofit/>
          </a:bodyPr>
          <a:lstStyle/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2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For n ≤ 10M, measured speedup ranges from 6.38× to 8.17×; at 10M it is 7.45×.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2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Speedup is not monotonic, so the small rises and drops should not be interpreted as a fixed increasing or decreasing trend.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61475" y="6349673"/>
            <a:ext cx="114783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0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661475" y="638076"/>
            <a:ext cx="953964" cy="201116"/>
          </a:xfrm>
          <a:prstGeom prst="roundRect">
            <a:avLst>
              <a:gd name="adj" fmla="val 22105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740848" y="677763"/>
            <a:ext cx="1404803" cy="121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61475" y="876201"/>
            <a:ext cx="10868745" cy="434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700"/>
              <a:buFont typeface="Petrona"/>
              <a:buNone/>
            </a:pPr>
            <a:r>
              <a:rPr lang="en-US" sz="27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Task 2 | Scaling with Thread Count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518897" y="876237"/>
            <a:ext cx="54096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0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Parallel Computing · n = 10,000,000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000"/>
              </a:lnSpc>
              <a:spcBef>
                <a:spcPts val="80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000" b="1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Test computer: 14 physical hardware cores | 20 logical processors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1530850"/>
            <a:ext cx="4912225" cy="283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3526" y="1530848"/>
            <a:ext cx="4912218" cy="28339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661475" y="4585377"/>
            <a:ext cx="52731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50"/>
              <a:buFont typeface="Petrona"/>
              <a:buNone/>
            </a:pPr>
            <a:r>
              <a:rPr lang="en-US" sz="15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Interpretation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61500" y="4932765"/>
            <a:ext cx="52731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925" rIns="0" bIns="0" anchor="t" anchorCtr="0">
            <a:normAutofit fontScale="92500" lnSpcReduction="20000"/>
          </a:bodyPr>
          <a:lstStyle/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Runtime falls to 0.187 s at 14 threads and 0.169 s at 20 threads as more hardware resources are used.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Above 20 threads the program is oversubscribed; results fluctuate, with the lowest single run 0.145 s at 35 threads.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263523" y="4585277"/>
            <a:ext cx="52731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50"/>
              <a:buFont typeface="Petrona"/>
              <a:buNone/>
            </a:pPr>
            <a:r>
              <a:rPr lang="en-US" sz="15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Interpretation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263548" y="4933840"/>
            <a:ext cx="5273100" cy="88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925" rIns="0" bIns="0" anchor="t" anchorCtr="0">
            <a:noAutofit/>
          </a:bodyPr>
          <a:lstStyle/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2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Speedup is 6.56× at 14 threads and 7.31× at 20; the highest recorded value is 8.59× at 35 threads.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2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Scaling is clearly sub-linear (due to Amdahls’s law): adding threads continues to help in some runs, but the gain per extra thread becomes smaller and less predictable.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61475" y="6322566"/>
            <a:ext cx="114783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0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661475" y="925612"/>
            <a:ext cx="953964" cy="201116"/>
          </a:xfrm>
          <a:prstGeom prst="roundRect">
            <a:avLst>
              <a:gd name="adj" fmla="val 22105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740848" y="965299"/>
            <a:ext cx="1404803" cy="121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61475" y="1163737"/>
            <a:ext cx="10868745" cy="434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700"/>
              <a:buFont typeface="Petrona"/>
              <a:buNone/>
            </a:pPr>
            <a:r>
              <a:rPr lang="en-US" sz="27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Task 3 | OpenMP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61475" y="1736824"/>
            <a:ext cx="11478330" cy="17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3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Parallel Computing · Parallel 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61475" y="2020975"/>
            <a:ext cx="5273100" cy="1111500"/>
          </a:xfrm>
          <a:prstGeom prst="roundRect">
            <a:avLst>
              <a:gd name="adj" fmla="val 5000"/>
            </a:avLst>
          </a:prstGeom>
          <a:solidFill>
            <a:srgbClr val="1912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36" name="Google Shape;136;p7"/>
          <p:cNvSpPr/>
          <p:nvPr/>
        </p:nvSpPr>
        <p:spPr>
          <a:xfrm>
            <a:off x="820225" y="2153250"/>
            <a:ext cx="51144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000"/>
              <a:buFont typeface="Consolas"/>
              <a:buNone/>
            </a:pPr>
            <a:r>
              <a:rPr lang="en-US" sz="1300" b="0" i="0" u="none" strike="noStrike" cap="non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#pragma omp parallel for default(none)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000"/>
              <a:buFont typeface="Consolas"/>
              <a:buNone/>
            </a:pPr>
            <a:r>
              <a:rPr lang="en-US" sz="1300" b="0" i="0" u="none" strike="noStrike" cap="non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shared(is_prime, odd_count, partition_count)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000"/>
              <a:buFont typeface="Consolas"/>
              <a:buNone/>
            </a:pPr>
            <a:r>
              <a:rPr lang="en-US" sz="1300" b="0" i="0" u="none" strike="noStrike" cap="non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num_threads(thread_count) schedule(static)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1000"/>
              <a:buFont typeface="Consolas"/>
              <a:buNone/>
            </a:pPr>
            <a:r>
              <a:rPr lang="en-US" sz="1300" b="0" i="0" u="none" strike="noStrike" cap="non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reduction(+ : prime_count)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61475" y="3464594"/>
            <a:ext cx="52731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50"/>
              <a:buFont typeface="Petrona"/>
              <a:buNone/>
            </a:pPr>
            <a:r>
              <a:rPr lang="en-US" sz="15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What OpenMP handles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61475" y="3774159"/>
            <a:ext cx="5199000" cy="162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50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 runtime creates the worker team, executes the partition loop in parallel, and combines local prime counts using reduction.</a:t>
            </a:r>
          </a:p>
          <a:p>
            <a:pPr marL="285750" marR="0" lvl="0" indent="-2857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E0D6DE"/>
                </a:solidFill>
                <a:latin typeface="Inter"/>
                <a:ea typeface="Inter"/>
                <a:cs typeface="Calibri"/>
                <a:sym typeface="Inter"/>
              </a:rPr>
              <a:t>Workload Distribution</a:t>
            </a:r>
            <a:endParaRPr lang="en-US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cs typeface="Calibri"/>
                <a:sym typeface="Inter"/>
              </a:rPr>
              <a:t>Race condition</a:t>
            </a:r>
          </a:p>
          <a:p>
            <a:pPr marL="285750" marR="0" lvl="0" indent="-2857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cs typeface="Calibri"/>
                <a:sym typeface="Inter"/>
              </a:rPr>
              <a:t>OpenMP reduction </a:t>
            </a: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cs typeface="Calibri"/>
                <a:sym typeface="Wingdings" panose="05000000000000000000" pitchFamily="2" charset="2"/>
              </a:rPr>
              <a:t> Total prime count </a:t>
            </a:r>
            <a:endParaRPr lang="en-US" sz="1500" dirty="0">
              <a:solidFill>
                <a:schemeClr val="bg1"/>
              </a:solidFill>
              <a:latin typeface="Inter"/>
              <a:ea typeface="Inter"/>
              <a:cs typeface="Calibri"/>
              <a:sym typeface="Inter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168275" y="2010699"/>
            <a:ext cx="5463600" cy="2938500"/>
          </a:xfrm>
          <a:prstGeom prst="roundRect">
            <a:avLst>
              <a:gd name="adj" fmla="val 3950"/>
            </a:avLst>
          </a:prstGeom>
          <a:solidFill>
            <a:srgbClr val="FF8A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40" name="Google Shape;140;p7"/>
          <p:cNvSpPr/>
          <p:nvPr/>
        </p:nvSpPr>
        <p:spPr>
          <a:xfrm>
            <a:off x="6300531" y="2103260"/>
            <a:ext cx="51990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Petrona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schedule (static)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300526" y="2412824"/>
            <a:ext cx="49449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Each partition iteration is assigned deterministically, giving low scheduling overhead.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300506" y="3008262"/>
            <a:ext cx="5199000" cy="19200"/>
          </a:xfrm>
          <a:prstGeom prst="roundRect">
            <a:avLst>
              <a:gd name="adj" fmla="val 49999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43" name="Google Shape;143;p7"/>
          <p:cNvSpPr/>
          <p:nvPr/>
        </p:nvSpPr>
        <p:spPr>
          <a:xfrm>
            <a:off x="6300531" y="3133214"/>
            <a:ext cx="51990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Petrona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reduction (+)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300526" y="3442769"/>
            <a:ext cx="49449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Local prime counts are combined safely without an explicit mutex or critical section.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300581" y="3978896"/>
            <a:ext cx="5199000" cy="19200"/>
          </a:xfrm>
          <a:prstGeom prst="roundRect">
            <a:avLst>
              <a:gd name="adj" fmla="val 49999"/>
            </a:avLst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46" name="Google Shape;146;p7"/>
          <p:cNvSpPr/>
          <p:nvPr/>
        </p:nvSpPr>
        <p:spPr>
          <a:xfrm>
            <a:off x="6300531" y="4107412"/>
            <a:ext cx="51990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Petrona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Same algorithm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300531" y="4416974"/>
            <a:ext cx="5199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odd-only prime test and √candidate stopping rule are unchanged from Tasks 1 and 2.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61488" y="6035019"/>
            <a:ext cx="114783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0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661475" y="637282"/>
            <a:ext cx="1022721" cy="215305"/>
          </a:xfrm>
          <a:prstGeom prst="roundRect">
            <a:avLst>
              <a:gd name="adj" fmla="val 22123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46503" y="679748"/>
            <a:ext cx="1462249" cy="13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61475" y="895052"/>
            <a:ext cx="1086874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900"/>
              <a:buFont typeface="Petrona"/>
              <a:buNone/>
            </a:pPr>
            <a:r>
              <a:rPr lang="en-US" sz="29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Task 3 | Scaling with Problem Size</a:t>
            </a:r>
            <a:endParaRPr sz="2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022725" y="1028409"/>
            <a:ext cx="114783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Inter"/>
              <a:buNone/>
            </a:pPr>
            <a:r>
              <a:rPr lang="en-US" sz="11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Parallel Computing · 20 OpenMP threads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701" y="1566469"/>
            <a:ext cx="5261449" cy="3035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6774" y="1566475"/>
            <a:ext cx="5178584" cy="29876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661475" y="4894163"/>
            <a:ext cx="5261439" cy="23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450"/>
              <a:buFont typeface="Petrona"/>
              <a:buNone/>
            </a:pPr>
            <a:r>
              <a:rPr lang="en-US" sz="145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Interpretation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61475" y="5232896"/>
            <a:ext cx="5261439" cy="63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700" rIns="0" bIns="0" anchor="t" anchorCtr="0">
            <a:normAutofit fontScale="92500" lnSpcReduction="20000"/>
          </a:bodyPr>
          <a:lstStyle/>
          <a:p>
            <a:pPr marL="223520" marR="0" lvl="0" indent="-23622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At n = 30M, Task 1 takes 6.27 s while OpenMP takes 0.743 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3622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OpenMP remains well below the serial runtime for every problem size, showing a strong shared-memory speedup.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275131" y="4894163"/>
            <a:ext cx="5261439" cy="23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450"/>
              <a:buFont typeface="Petrona"/>
              <a:buNone/>
            </a:pPr>
            <a:r>
              <a:rPr lang="en-US" sz="145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Interpretation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275125" y="5232900"/>
            <a:ext cx="52614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700" rIns="0" bIns="0" anchor="t" anchorCtr="0">
            <a:normAutofit fontScale="85000" lnSpcReduction="10000"/>
          </a:bodyPr>
          <a:lstStyle/>
          <a:p>
            <a:pPr marL="223520" marR="0" lvl="0" indent="-23622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OpenMP speedup is mostly around 7–8×, with a peak of 8.98× at n = 6M.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520" marR="0" lvl="0" indent="-23622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 dips around 18–20M show that the single-run measurements are variable rather than a smooth monotonic curve.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61475" y="6255181"/>
            <a:ext cx="114783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00"/>
              <a:buFont typeface="Inter"/>
              <a:buNone/>
            </a:pPr>
            <a:r>
              <a:rPr lang="en-US" sz="11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661475" y="576362"/>
            <a:ext cx="938685" cy="197743"/>
          </a:xfrm>
          <a:prstGeom prst="roundRect">
            <a:avLst>
              <a:gd name="adj" fmla="val 22131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739558" y="615355"/>
            <a:ext cx="1392103" cy="11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61475" y="809923"/>
            <a:ext cx="10868745" cy="427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2650"/>
              <a:buFont typeface="Petrona"/>
              <a:buNone/>
            </a:pPr>
            <a:r>
              <a:rPr lang="en-US" sz="265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Task 3 | POSIX Threads vs OpenMP</a:t>
            </a:r>
            <a:endParaRPr sz="2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8278728" y="870749"/>
            <a:ext cx="3861000" cy="1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0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Parallel Computing · Direct comparison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3" y="1482888"/>
            <a:ext cx="4589439" cy="264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8550" y="1482900"/>
            <a:ext cx="4589671" cy="26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661475" y="4422180"/>
            <a:ext cx="5275527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00"/>
              <a:buFont typeface="Petrona"/>
              <a:buNone/>
            </a:pPr>
            <a:r>
              <a:rPr lang="en-US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Interpretation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61475" y="4725491"/>
            <a:ext cx="5275527" cy="73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075" rIns="0" bIns="0" anchor="t" anchorCtr="0">
            <a:normAutofit fontScale="92500" lnSpcReduction="20000"/>
          </a:bodyPr>
          <a:lstStyle/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OpenMP is faster in 21 of 30 problem-size measurements; mean time is 0.339 s vs 0.350 s for Pthreads.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The difference is small and inconsistent, so these data do not support saying OpenMP is always faster.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261043" y="4422180"/>
            <a:ext cx="5275527" cy="21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300"/>
              <a:buFont typeface="Petrona"/>
              <a:buNone/>
            </a:pPr>
            <a:r>
              <a:rPr lang="en-US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Interpretation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261043" y="4725491"/>
            <a:ext cx="5275527" cy="735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075" rIns="0" bIns="0" anchor="t" anchorCtr="0">
            <a:normAutofit fontScale="92500" lnSpcReduction="20000"/>
          </a:bodyPr>
          <a:lstStyle/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Across 1–40 threads, Pthreads is faster at 21 points and OpenMP at 19; mean times are almost identical (0.244 s vs 0.246 s).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After 20 logical processors both curves flatten and fluctuate, which is expected once software threads oversubscribe the hardware.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9"/>
          <p:cNvGrpSpPr/>
          <p:nvPr/>
        </p:nvGrpSpPr>
        <p:grpSpPr>
          <a:xfrm>
            <a:off x="3778375" y="6093125"/>
            <a:ext cx="5926200" cy="411600"/>
            <a:chOff x="4745675" y="5830375"/>
            <a:chExt cx="5926200" cy="411600"/>
          </a:xfrm>
        </p:grpSpPr>
        <p:sp>
          <p:nvSpPr>
            <p:cNvPr id="183" name="Google Shape;183;p9"/>
            <p:cNvSpPr/>
            <p:nvPr/>
          </p:nvSpPr>
          <p:spPr>
            <a:xfrm>
              <a:off x="4745675" y="5830375"/>
              <a:ext cx="5926200" cy="411600"/>
            </a:xfrm>
            <a:prstGeom prst="roundRect">
              <a:avLst>
                <a:gd name="adj" fmla="val 13292"/>
              </a:avLst>
            </a:prstGeom>
            <a:solidFill>
              <a:srgbClr val="2F1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4852950" y="5948125"/>
              <a:ext cx="57393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Inter"/>
                <a:buNone/>
              </a:pPr>
              <a:r>
                <a:rPr lang="en-US" sz="1000" b="0" i="1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Thread-scaling comparison uses the same machine: 14 physical cores | 20 logical processors.</a:t>
              </a:r>
              <a:endPara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9"/>
          <p:cNvSpPr/>
          <p:nvPr/>
        </p:nvSpPr>
        <p:spPr>
          <a:xfrm>
            <a:off x="661475" y="6169325"/>
            <a:ext cx="2881800" cy="1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00"/>
              <a:buFont typeface="Inter"/>
              <a:buNone/>
            </a:pPr>
            <a:r>
              <a:rPr lang="en-US" sz="100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/>
          <p:nvPr/>
        </p:nvSpPr>
        <p:spPr>
          <a:xfrm>
            <a:off x="661475" y="673199"/>
            <a:ext cx="1090684" cy="229691"/>
          </a:xfrm>
          <a:prstGeom prst="roundRect">
            <a:avLst>
              <a:gd name="adj" fmla="val 22120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752159" y="718542"/>
            <a:ext cx="1518902" cy="13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61475" y="951210"/>
            <a:ext cx="10868745" cy="496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100"/>
              <a:buFont typeface="Petrona"/>
              <a:buNone/>
            </a:pPr>
            <a:r>
              <a:rPr lang="en-US" sz="310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Conclusion &amp; Recommendations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61475" y="1628775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52635" y="1982490"/>
            <a:ext cx="5467610" cy="1747441"/>
          </a:xfrm>
          <a:prstGeom prst="roundRect">
            <a:avLst>
              <a:gd name="adj" fmla="val 6231"/>
            </a:avLst>
          </a:prstGeom>
          <a:solidFill>
            <a:srgbClr val="FF8A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703840" y="2103438"/>
            <a:ext cx="5165199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Petrona"/>
              <a:buNone/>
            </a:pPr>
            <a:r>
              <a:rPr lang="en-US" sz="1550" b="1" i="0" u="none" strike="noStrike" cap="non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Main results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703840" y="2472432"/>
            <a:ext cx="5165199" cy="1172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475" rIns="0" bIns="0" anchor="t" anchorCtr="0">
            <a:normAutofit/>
          </a:bodyPr>
          <a:lstStyle/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Char char="•"/>
            </a:pPr>
            <a:r>
              <a:rPr lang="en-US" sz="11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Task 2 and Task 3 produce the same prime counts as Task 1.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Char char="•"/>
            </a:pPr>
            <a:r>
              <a:rPr lang="en-US" sz="11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Both parallel implementations are substantially faster than the serial version.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Char char="•"/>
            </a:pPr>
            <a:r>
              <a:rPr lang="en-US" sz="11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Pthreads and OpenMP give broadly similar performance on this workload.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286640" y="2103438"/>
            <a:ext cx="5249930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550"/>
              <a:buFont typeface="Petrona"/>
              <a:buNone/>
            </a:pPr>
            <a:r>
              <a:rPr lang="en-US" sz="155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What limits speedup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286640" y="2472432"/>
            <a:ext cx="5249930" cy="1215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475" rIns="0" bIns="0" anchor="t" anchorCtr="0">
            <a:normAutofit/>
          </a:bodyPr>
          <a:lstStyle/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Char char="•"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Thread creation and scheduling overhead.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Char char="•"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Static contiguous partitions balance candidate count, not exact computational cost.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Char char="•"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Above 20 logical processors the machine is oversubscribed.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Char char="•"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Single-run timing introduces visible noise.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61475" y="3986907"/>
            <a:ext cx="5249930" cy="24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1550"/>
              <a:buFont typeface="Petrona"/>
              <a:buNone/>
            </a:pPr>
            <a:r>
              <a:rPr lang="en-US" sz="1550" b="1" i="0" u="none" strike="noStrike" cap="none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What we would improve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19109" y="4261742"/>
            <a:ext cx="5249930" cy="143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475" rIns="0" bIns="0" anchor="t" anchorCtr="0">
            <a:normAutofit lnSpcReduction="10000"/>
          </a:bodyPr>
          <a:lstStyle/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Char char="•"/>
            </a:pPr>
            <a:r>
              <a:rPr lang="en-US" sz="115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Repeat each configuration multiple times and use a mean/median.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Char char="•"/>
            </a:pPr>
            <a:r>
              <a:rPr lang="en-US" sz="115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Add error bars.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Char char="•"/>
            </a:pPr>
            <a:r>
              <a:rPr lang="en-US" sz="115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Compare static contiguous partitioning against cyclic or dynamic scheduling.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Char char="•"/>
            </a:pPr>
            <a:r>
              <a:rPr lang="en-US" sz="115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Benchmark an </a:t>
            </a:r>
            <a:r>
              <a:rPr lang="en-US" sz="1150" b="0" i="0" u="none" strike="noStrike" cap="none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unoptimised</a:t>
            </a:r>
            <a:r>
              <a:rPr lang="en-US" sz="115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 Task 1 version to quantify the serial </a:t>
            </a:r>
            <a:r>
              <a:rPr lang="en-US" sz="1150" b="0" i="0" u="none" strike="noStrike" cap="none" dirty="0" err="1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optimisation</a:t>
            </a:r>
            <a:r>
              <a:rPr lang="en-US" sz="1150" b="0" i="0" u="none" strike="noStrike" cap="none" dirty="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33680" marR="0" lvl="0" indent="-23368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Char char="•"/>
            </a:pPr>
            <a:r>
              <a:rPr lang="en-US" sz="1150" dirty="0">
                <a:solidFill>
                  <a:srgbClr val="E0D6DE"/>
                </a:solidFill>
                <a:latin typeface="Inter"/>
                <a:ea typeface="Inter"/>
                <a:cs typeface="Calibri"/>
                <a:sym typeface="Inter"/>
              </a:rPr>
              <a:t>Consider dynamic scheduling 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513449" y="4110831"/>
            <a:ext cx="5023121" cy="65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1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Overall: OpenMP is simpler to express, while Pthreads gives more explicit control. On this dataset, performance is close enough that neither is a universal winner.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286640" y="4001988"/>
            <a:ext cx="19050" cy="870744"/>
          </a:xfrm>
          <a:prstGeom prst="roundRect">
            <a:avLst>
              <a:gd name="adj" fmla="val 49999"/>
            </a:avLst>
          </a:prstGeom>
          <a:solidFill>
            <a:srgbClr val="876C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661475" y="5967115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76dbef1c5_0_17"/>
          <p:cNvSpPr/>
          <p:nvPr/>
        </p:nvSpPr>
        <p:spPr>
          <a:xfrm>
            <a:off x="661475" y="757734"/>
            <a:ext cx="1090800" cy="229800"/>
          </a:xfrm>
          <a:prstGeom prst="roundRect">
            <a:avLst>
              <a:gd name="adj" fmla="val 22120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f76dbef1c5_0_17"/>
          <p:cNvSpPr/>
          <p:nvPr/>
        </p:nvSpPr>
        <p:spPr>
          <a:xfrm>
            <a:off x="752159" y="803077"/>
            <a:ext cx="1518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76dbef1c5_0_17"/>
          <p:cNvSpPr/>
          <p:nvPr/>
        </p:nvSpPr>
        <p:spPr>
          <a:xfrm>
            <a:off x="661475" y="1035745"/>
            <a:ext cx="108687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100"/>
              <a:buFont typeface="Petrona"/>
              <a:buNone/>
            </a:pPr>
            <a:r>
              <a:rPr lang="en-US" sz="31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Appendix - Run Instructions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76dbef1c5_0_17"/>
          <p:cNvSpPr/>
          <p:nvPr/>
        </p:nvSpPr>
        <p:spPr>
          <a:xfrm>
            <a:off x="661475" y="1713309"/>
            <a:ext cx="114783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Parallel Computing · Same machine for all measurements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76dbef1c5_0_17"/>
          <p:cNvSpPr/>
          <p:nvPr/>
        </p:nvSpPr>
        <p:spPr>
          <a:xfrm>
            <a:off x="661475" y="5882580"/>
            <a:ext cx="114783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76dbef1c5_0_17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  <p:pic>
        <p:nvPicPr>
          <p:cNvPr id="218" name="Google Shape;218;g3f76dbef1c5_0_17"/>
          <p:cNvPicPr preferRelativeResize="0"/>
          <p:nvPr/>
        </p:nvPicPr>
        <p:blipFill rotWithShape="1">
          <a:blip r:embed="rId3">
            <a:alphaModFix/>
          </a:blip>
          <a:srcRect t="6577"/>
          <a:stretch/>
        </p:blipFill>
        <p:spPr>
          <a:xfrm>
            <a:off x="661475" y="2112450"/>
            <a:ext cx="4939226" cy="3406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76dbef1c5_0_17"/>
          <p:cNvSpPr txBox="1"/>
          <p:nvPr/>
        </p:nvSpPr>
        <p:spPr>
          <a:xfrm>
            <a:off x="6127950" y="2112450"/>
            <a:ext cx="33714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222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00"/>
              <a:buFont typeface="Inter"/>
              <a:buChar char="•"/>
            </a:pPr>
            <a:r>
              <a:rPr lang="en-US" sz="1300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Run these commands from the directory that the .C files are stored 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76dbef1c5_0_38"/>
          <p:cNvSpPr/>
          <p:nvPr/>
        </p:nvSpPr>
        <p:spPr>
          <a:xfrm>
            <a:off x="661475" y="757734"/>
            <a:ext cx="1090800" cy="229800"/>
          </a:xfrm>
          <a:prstGeom prst="roundRect">
            <a:avLst>
              <a:gd name="adj" fmla="val 22120"/>
            </a:avLst>
          </a:prstGeom>
          <a:noFill/>
          <a:ln w="9525" cap="flat" cmpd="sng">
            <a:solidFill>
              <a:srgbClr val="876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f76dbef1c5_0_38"/>
          <p:cNvSpPr/>
          <p:nvPr/>
        </p:nvSpPr>
        <p:spPr>
          <a:xfrm>
            <a:off x="752159" y="803077"/>
            <a:ext cx="15189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876CD4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876CD4"/>
                </a:solidFill>
                <a:latin typeface="Inter"/>
                <a:ea typeface="Inter"/>
                <a:cs typeface="Inter"/>
                <a:sym typeface="Inter"/>
              </a:rPr>
              <a:t>FIT3143 | LAB #1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76dbef1c5_0_38"/>
          <p:cNvSpPr/>
          <p:nvPr/>
        </p:nvSpPr>
        <p:spPr>
          <a:xfrm>
            <a:off x="661475" y="1035745"/>
            <a:ext cx="108687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8AAF"/>
              </a:buClr>
              <a:buSzPts val="3100"/>
              <a:buFont typeface="Petrona"/>
              <a:buNone/>
            </a:pPr>
            <a:r>
              <a:rPr lang="en-US" sz="3100" b="1">
                <a:solidFill>
                  <a:srgbClr val="FF8AAF"/>
                </a:solidFill>
                <a:latin typeface="Petrona"/>
                <a:ea typeface="Petrona"/>
                <a:cs typeface="Petrona"/>
                <a:sym typeface="Petrona"/>
              </a:rPr>
              <a:t>Appendix - AI Declaration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76dbef1c5_0_38"/>
          <p:cNvSpPr/>
          <p:nvPr/>
        </p:nvSpPr>
        <p:spPr>
          <a:xfrm>
            <a:off x="661475" y="5882580"/>
            <a:ext cx="114783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Inter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Inter"/>
                <a:ea typeface="Inter"/>
                <a:cs typeface="Inter"/>
                <a:sym typeface="Inter"/>
              </a:rPr>
              <a:t>Savin Vindiv De Alwis | Shamle Imal Thilaksiri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76dbef1c5_0_38"/>
          <p:cNvSpPr/>
          <p:nvPr/>
        </p:nvSpPr>
        <p:spPr>
          <a:xfrm>
            <a:off x="10910925" y="6255185"/>
            <a:ext cx="1228800" cy="594900"/>
          </a:xfrm>
          <a:prstGeom prst="rect">
            <a:avLst/>
          </a:prstGeom>
          <a:solidFill>
            <a:srgbClr val="0C0626"/>
          </a:solidFill>
          <a:ln w="9525" cap="flat" cmpd="sng">
            <a:solidFill>
              <a:srgbClr val="0C0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C0626"/>
              </a:solidFill>
            </a:endParaRPr>
          </a:p>
        </p:txBody>
      </p:sp>
      <p:sp>
        <p:nvSpPr>
          <p:cNvPr id="230" name="Google Shape;230;g3f76dbef1c5_0_38"/>
          <p:cNvSpPr/>
          <p:nvPr/>
        </p:nvSpPr>
        <p:spPr>
          <a:xfrm>
            <a:off x="552626" y="1982500"/>
            <a:ext cx="10977600" cy="1453200"/>
          </a:xfrm>
          <a:prstGeom prst="roundRect">
            <a:avLst>
              <a:gd name="adj" fmla="val 6231"/>
            </a:avLst>
          </a:prstGeom>
          <a:solidFill>
            <a:srgbClr val="FF8A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76dbef1c5_0_38"/>
          <p:cNvSpPr/>
          <p:nvPr/>
        </p:nvSpPr>
        <p:spPr>
          <a:xfrm>
            <a:off x="752150" y="2269450"/>
            <a:ext cx="10559700" cy="14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Generative AI was used during preparation to help organise presentation content and create charts from the team’s supplied CSV measurements. </a:t>
            </a:r>
            <a:endParaRPr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400"/>
              <a:buFont typeface="Calibri"/>
              <a:buChar char="●"/>
            </a:pPr>
            <a:r>
              <a:rPr lang="en-US">
                <a:solidFill>
                  <a:srgbClr val="263238"/>
                </a:solidFill>
                <a:latin typeface="Calibri"/>
                <a:ea typeface="Calibri"/>
                <a:cs typeface="Calibri"/>
                <a:sym typeface="Calibri"/>
              </a:rPr>
              <a:t>The source code, measured results, interpretation, and final submitted material remain the responsibility of the team.</a:t>
            </a:r>
            <a:endParaRPr>
              <a:solidFill>
                <a:srgbClr val="2632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 b="1">
              <a:solidFill>
                <a:schemeClr val="dk1"/>
              </a:solidFill>
              <a:latin typeface="Petrona"/>
              <a:ea typeface="Petrona"/>
              <a:cs typeface="Petrona"/>
              <a:sym typeface="Petro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1416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Inter</vt:lpstr>
      <vt:lpstr>Calibri</vt:lpstr>
      <vt:lpstr>Arial</vt:lpstr>
      <vt:lpstr>Petrona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Savin de Alwis</cp:lastModifiedBy>
  <cp:revision>5</cp:revision>
  <dcterms:created xsi:type="dcterms:W3CDTF">2026-08-19T15:22:16Z</dcterms:created>
  <dcterms:modified xsi:type="dcterms:W3CDTF">2026-08-21T09:34:35Z</dcterms:modified>
</cp:coreProperties>
</file>