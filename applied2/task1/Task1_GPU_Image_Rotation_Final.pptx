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1c266ee6ba14443" /><Relationship Type="http://schemas.openxmlformats.org/officeDocument/2006/relationships/extended-properties" Target="/docProps/app.xml" Id="R6d84ed57c17a4154" /><Relationship Type="http://schemas.openxmlformats.org/officeDocument/2006/relationships/officeDocument" Target="/ppt/presentation.xml" Id="R5aee4d602c134773" /></Relationships>
</file>

<file path=ppt/presentation.xml><?xml version="1.0" encoding="utf-8"?>
<p:presentation xmlns:p="http://schemas.openxmlformats.org/presentationml/2006/main">
  <p:sldMasterIdLst>
    <p:sldMasterId xmlns:r="http://schemas.openxmlformats.org/officeDocument/2006/relationships" id="2147483648" r:id="Rdbf3778366df41e3"/>
  </p:sldMasterIdLst>
  <p:notesMasterIdLst>
    <p:notesMasterId xmlns:r="http://schemas.openxmlformats.org/officeDocument/2006/relationships" r:id="Ra726815f6d4a416b"/>
  </p:notesMasterIdLst>
  <p:sldIdLst>
    <p:sldId xmlns:r="http://schemas.openxmlformats.org/officeDocument/2006/relationships" id="256" r:id="R5903bc36325a4465"/>
    <p:sldId xmlns:r="http://schemas.openxmlformats.org/officeDocument/2006/relationships" id="257" r:id="Rd2a04c1e301d417d"/>
    <p:sldId xmlns:r="http://schemas.openxmlformats.org/officeDocument/2006/relationships" id="258" r:id="R3d86b498a45e42b9"/>
    <p:sldId xmlns:r="http://schemas.openxmlformats.org/officeDocument/2006/relationships" id="259" r:id="R575e59954aa84468"/>
    <p:sldId xmlns:r="http://schemas.openxmlformats.org/officeDocument/2006/relationships" id="260" r:id="Rd83d370dde734d0a"/>
    <p:sldId xmlns:r="http://schemas.openxmlformats.org/officeDocument/2006/relationships" id="261" r:id="R5fd2e4dade464ba6"/>
    <p:sldId xmlns:r="http://schemas.openxmlformats.org/officeDocument/2006/relationships" id="262" r:id="R567b4bbbdd38417a"/>
    <p:sldId xmlns:r="http://schemas.openxmlformats.org/officeDocument/2006/relationships" id="263" r:id="R5287f3af20754d71"/>
    <p:sldId xmlns:r="http://schemas.openxmlformats.org/officeDocument/2006/relationships" id="264" r:id="R8fbb939ff5644c2b"/>
    <p:sldId xmlns:r="http://schemas.openxmlformats.org/officeDocument/2006/relationships" id="265" r:id="Re239c10f847a44d5"/>
    <p:sldId xmlns:r="http://schemas.openxmlformats.org/officeDocument/2006/relationships" id="266" r:id="Rb90a13ed09c744b1"/>
    <p:sldId xmlns:r="http://schemas.openxmlformats.org/officeDocument/2006/relationships" id="267" r:id="R5860e16fc94d4bf7"/>
    <p:sldId xmlns:r="http://schemas.openxmlformats.org/officeDocument/2006/relationships" id="268" r:id="Rab2a5ad1c5a14962"/>
    <p:sldId xmlns:r="http://schemas.openxmlformats.org/officeDocument/2006/relationships" id="269" r:id="Rb70e989b88794355"/>
    <p:sldId xmlns:r="http://schemas.openxmlformats.org/officeDocument/2006/relationships" id="270" r:id="Re512b1229e124cf3"/>
    <p:sldId xmlns:r="http://schemas.openxmlformats.org/officeDocument/2006/relationships" id="271" r:id="R0641154279174c40"/>
    <p:sldId xmlns:r="http://schemas.openxmlformats.org/officeDocument/2006/relationships" id="272" r:id="R7128d189ef3749e6"/>
    <p:sldId xmlns:r="http://schemas.openxmlformats.org/officeDocument/2006/relationships" id="273" r:id="R8a505c22910d4552"/>
    <p:sldId xmlns:r="http://schemas.openxmlformats.org/officeDocument/2006/relationships" id="274" r:id="Rc591568d18cf4edd"/>
    <p:sldId xmlns:r="http://schemas.openxmlformats.org/officeDocument/2006/relationships" id="275" r:id="Rf0ea1dcd6486458c"/>
    <p:sldId xmlns:r="http://schemas.openxmlformats.org/officeDocument/2006/relationships" id="276" r:id="R4c8552686e7a42d3"/>
    <p:sldId xmlns:r="http://schemas.openxmlformats.org/officeDocument/2006/relationships" id="277" r:id="R44a36f4d15b74783"/>
    <p:sldId xmlns:r="http://schemas.openxmlformats.org/officeDocument/2006/relationships" id="278" r:id="R2eee166954e449f9"/>
    <p:sldId xmlns:r="http://schemas.openxmlformats.org/officeDocument/2006/relationships" id="279" r:id="Rc19cd18fde994f15"/>
    <p:sldId xmlns:r="http://schemas.openxmlformats.org/officeDocument/2006/relationships" id="280" r:id="Rd10d300cf29c4c01"/>
    <p:sldId xmlns:r="http://schemas.openxmlformats.org/officeDocument/2006/relationships" id="281" r:id="R2d373c49587849f8"/>
    <p:sldId xmlns:r="http://schemas.openxmlformats.org/officeDocument/2006/relationships" id="282" r:id="Rf971a678108f4271"/>
    <p:sldId xmlns:r="http://schemas.openxmlformats.org/officeDocument/2006/relationships" id="283" r:id="R84683fb5b0b641a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4a44930af294f41" /><Relationship Type="http://schemas.openxmlformats.org/officeDocument/2006/relationships/slideMaster" Target="/ppt/slideMasters/slideMaster1.xml" Id="Rdbf3778366df41e3" /><Relationship Type="http://schemas.openxmlformats.org/officeDocument/2006/relationships/notesMaster" Target="/ppt/notesMasters/notesMaster1.xml" Id="Ra726815f6d4a416b" /><Relationship Type="http://schemas.openxmlformats.org/officeDocument/2006/relationships/presProps" Target="/ppt/presProps.xml" Id="R42e5e7ba5d874984" /><Relationship Type="http://schemas.openxmlformats.org/officeDocument/2006/relationships/tableStyles" Target="/ppt/tableStyles.xml" Id="R0610637a4e8c46ee" /><Relationship Type="http://schemas.openxmlformats.org/officeDocument/2006/relationships/slide" Target="/ppt/slides/slide1.xml" Id="R5903bc36325a4465" /><Relationship Type="http://schemas.openxmlformats.org/officeDocument/2006/relationships/slide" Target="/ppt/slides/slide2.xml" Id="Rd2a04c1e301d417d" /><Relationship Type="http://schemas.openxmlformats.org/officeDocument/2006/relationships/slide" Target="/ppt/slides/slide3.xml" Id="R3d86b498a45e42b9" /><Relationship Type="http://schemas.openxmlformats.org/officeDocument/2006/relationships/slide" Target="/ppt/slides/slide4.xml" Id="R575e59954aa84468" /><Relationship Type="http://schemas.openxmlformats.org/officeDocument/2006/relationships/slide" Target="/ppt/slides/slide5.xml" Id="Rd83d370dde734d0a" /><Relationship Type="http://schemas.openxmlformats.org/officeDocument/2006/relationships/slide" Target="/ppt/slides/slide6.xml" Id="R5fd2e4dade464ba6" /><Relationship Type="http://schemas.openxmlformats.org/officeDocument/2006/relationships/slide" Target="/ppt/slides/slide7.xml" Id="R567b4bbbdd38417a" /><Relationship Type="http://schemas.openxmlformats.org/officeDocument/2006/relationships/slide" Target="/ppt/slides/slide8.xml" Id="R5287f3af20754d71" /><Relationship Type="http://schemas.openxmlformats.org/officeDocument/2006/relationships/slide" Target="/ppt/slides/slide9.xml" Id="R8fbb939ff5644c2b" /><Relationship Type="http://schemas.openxmlformats.org/officeDocument/2006/relationships/slide" Target="/ppt/slides/slide10.xml" Id="Re239c10f847a44d5" /><Relationship Type="http://schemas.openxmlformats.org/officeDocument/2006/relationships/slide" Target="/ppt/slides/slide11.xml" Id="Rb90a13ed09c744b1" /><Relationship Type="http://schemas.openxmlformats.org/officeDocument/2006/relationships/slide" Target="/ppt/slides/slide12.xml" Id="R5860e16fc94d4bf7" /><Relationship Type="http://schemas.openxmlformats.org/officeDocument/2006/relationships/slide" Target="/ppt/slides/slide13.xml" Id="Rab2a5ad1c5a14962" /><Relationship Type="http://schemas.openxmlformats.org/officeDocument/2006/relationships/slide" Target="/ppt/slides/slide14.xml" Id="Rb70e989b88794355" /><Relationship Type="http://schemas.openxmlformats.org/officeDocument/2006/relationships/slide" Target="/ppt/slides/slide15.xml" Id="Re512b1229e124cf3" /><Relationship Type="http://schemas.openxmlformats.org/officeDocument/2006/relationships/slide" Target="/ppt/slides/slide16.xml" Id="R0641154279174c40" /><Relationship Type="http://schemas.openxmlformats.org/officeDocument/2006/relationships/slide" Target="/ppt/slides/slide17.xml" Id="R7128d189ef3749e6" /><Relationship Type="http://schemas.openxmlformats.org/officeDocument/2006/relationships/slide" Target="/ppt/slides/slide18.xml" Id="R8a505c22910d4552" /><Relationship Type="http://schemas.openxmlformats.org/officeDocument/2006/relationships/slide" Target="/ppt/slides/slide19.xml" Id="Rc591568d18cf4edd" /><Relationship Type="http://schemas.openxmlformats.org/officeDocument/2006/relationships/slide" Target="/ppt/slides/slide20.xml" Id="Rf0ea1dcd6486458c" /><Relationship Type="http://schemas.openxmlformats.org/officeDocument/2006/relationships/slide" Target="/ppt/slides/slide21.xml" Id="R4c8552686e7a42d3" /><Relationship Type="http://schemas.openxmlformats.org/officeDocument/2006/relationships/slide" Target="/ppt/slides/slide22.xml" Id="R44a36f4d15b74783" /><Relationship Type="http://schemas.openxmlformats.org/officeDocument/2006/relationships/slide" Target="/ppt/slides/slide23.xml" Id="R2eee166954e449f9" /><Relationship Type="http://schemas.openxmlformats.org/officeDocument/2006/relationships/slide" Target="/ppt/slides/slide24.xml" Id="Rc19cd18fde994f15" /><Relationship Type="http://schemas.openxmlformats.org/officeDocument/2006/relationships/slide" Target="/ppt/slides/slide25.xml" Id="Rd10d300cf29c4c01" /><Relationship Type="http://schemas.openxmlformats.org/officeDocument/2006/relationships/slide" Target="/ppt/slides/slide26.xml" Id="R2d373c49587849f8" /><Relationship Type="http://schemas.openxmlformats.org/officeDocument/2006/relationships/slide" Target="/ppt/slides/slide27.xml" Id="Rf971a678108f4271" /><Relationship Type="http://schemas.openxmlformats.org/officeDocument/2006/relationships/slide" Target="/ppt/slides/slide28.xml" Id="R84683fb5b0b641a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d9a71368c9c41c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fac985d3958458c" /><Relationship Type="http://schemas.openxmlformats.org/officeDocument/2006/relationships/notesMaster" Target="/ppt/notesMasters/notesMaster1.xml" Id="R15c534a261f14b54" /></Relationships>
</file>

<file path=ppt/notesSlides/_rels/notesSlide2.xml.rels>&#65279;<?xml version="1.0" encoding="utf-8"?><Relationships xmlns="http://schemas.openxmlformats.org/package/2006/relationships"><Relationship Type="http://schemas.openxmlformats.org/officeDocument/2006/relationships/slide" Target="/ppt/slides/slide2.xml" Id="R7a05c4c9c67b4f10" /><Relationship Type="http://schemas.openxmlformats.org/officeDocument/2006/relationships/notesMaster" Target="/ppt/notesMasters/notesMaster1.xml" Id="R67a2c073df13428f" /></Relationships>
</file>

<file path=ppt/notesSlides/_rels/notesSlide3.xml.rels>&#65279;<?xml version="1.0" encoding="utf-8"?><Relationships xmlns="http://schemas.openxmlformats.org/package/2006/relationships"><Relationship Type="http://schemas.openxmlformats.org/officeDocument/2006/relationships/slide" Target="/ppt/slides/slide3.xml" Id="R4f78cd427bc54bbf" /><Relationship Type="http://schemas.openxmlformats.org/officeDocument/2006/relationships/notesMaster" Target="/ppt/notesMasters/notesMaster1.xml" Id="R9e3fa8fd8feb4e88" /></Relationships>
</file>

<file path=ppt/notesSlides/_rels/notesSlide4.xml.rels>&#65279;<?xml version="1.0" encoding="utf-8"?><Relationships xmlns="http://schemas.openxmlformats.org/package/2006/relationships"><Relationship Type="http://schemas.openxmlformats.org/officeDocument/2006/relationships/slide" Target="/ppt/slides/slide4.xml" Id="R9ce66f7f8b524bf5" /><Relationship Type="http://schemas.openxmlformats.org/officeDocument/2006/relationships/notesMaster" Target="/ppt/notesMasters/notesMaster1.xml" Id="R22574a3dba564514" /></Relationships>
</file>

<file path=ppt/notesSlides/_rels/notesSlide5.xml.rels>&#65279;<?xml version="1.0" encoding="utf-8"?><Relationships xmlns="http://schemas.openxmlformats.org/package/2006/relationships"><Relationship Type="http://schemas.openxmlformats.org/officeDocument/2006/relationships/slide" Target="/ppt/slides/slide5.xml" Id="R66828f3c86254d00" /><Relationship Type="http://schemas.openxmlformats.org/officeDocument/2006/relationships/notesMaster" Target="/ppt/notesMasters/notesMaster1.xml" Id="Rf169b89a2fa54f75" /></Relationships>
</file>

<file path=ppt/notesSlides/_rels/notesSlide6.xml.rels>&#65279;<?xml version="1.0" encoding="utf-8"?><Relationships xmlns="http://schemas.openxmlformats.org/package/2006/relationships"><Relationship Type="http://schemas.openxmlformats.org/officeDocument/2006/relationships/slide" Target="/ppt/slides/slide6.xml" Id="Rafd02f3c18bc4b77" /><Relationship Type="http://schemas.openxmlformats.org/officeDocument/2006/relationships/notesMaster" Target="/ppt/notesMasters/notesMaster1.xml" Id="Rca7f68e46d644aa7" /></Relationships>
</file>

<file path=ppt/notesSlides/_rels/notesSlide7.xml.rels>&#65279;<?xml version="1.0" encoding="utf-8"?><Relationships xmlns="http://schemas.openxmlformats.org/package/2006/relationships"><Relationship Type="http://schemas.openxmlformats.org/officeDocument/2006/relationships/slide" Target="/ppt/slides/slide7.xml" Id="Rd103392e80c54995" /><Relationship Type="http://schemas.openxmlformats.org/officeDocument/2006/relationships/notesMaster" Target="/ppt/notesMasters/notesMaster1.xml" Id="R4e84d320bef842fb" /></Relationships>
</file>

<file path=ppt/notesSlides/_rels/notesSlide8.xml.rels>&#65279;<?xml version="1.0" encoding="utf-8"?><Relationships xmlns="http://schemas.openxmlformats.org/package/2006/relationships"><Relationship Type="http://schemas.openxmlformats.org/officeDocument/2006/relationships/slide" Target="/ppt/slides/slide8.xml" Id="R8e3c07a457f64f08" /><Relationship Type="http://schemas.openxmlformats.org/officeDocument/2006/relationships/notesMaster" Target="/ppt/notesMasters/notesMaster1.xml" Id="R73f009b8b6d248f2" /></Relationships>
</file>

<file path=ppt/notesSlides/_rels/notesSlide9.xml.rels>&#65279;<?xml version="1.0" encoding="utf-8"?><Relationships xmlns="http://schemas.openxmlformats.org/package/2006/relationships"><Relationship Type="http://schemas.openxmlformats.org/officeDocument/2006/relationships/slide" Target="/ppt/slides/slide9.xml" Id="R598767d0a1cb43f5" /><Relationship Type="http://schemas.openxmlformats.org/officeDocument/2006/relationships/notesMaster" Target="/ppt/notesMasters/notesMaster1.xml" Id="R8503ad1392bd476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58a8b6c2a4b4847" /><Relationship Type="http://schemas.openxmlformats.org/officeDocument/2006/relationships/notesMaster" Target="/ppt/notesMasters/notesMaster1.xml" Id="R60d6f27dcc5444e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af15c20dbb24712" /><Relationship Type="http://schemas.openxmlformats.org/officeDocument/2006/relationships/notesMaster" Target="/ppt/notesMasters/notesMaster1.xml" Id="R1a224c2293c3404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3532b47b3394510" /><Relationship Type="http://schemas.openxmlformats.org/officeDocument/2006/relationships/notesMaster" Target="/ppt/notesMasters/notesMaster1.xml" Id="R880d0d08931b463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a90b0e43c764c1e" /><Relationship Type="http://schemas.openxmlformats.org/officeDocument/2006/relationships/notesMaster" Target="/ppt/notesMasters/notesMaster1.xml" Id="R14df156d0d2e4fa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204ddf48e4644f2" /><Relationship Type="http://schemas.openxmlformats.org/officeDocument/2006/relationships/notesMaster" Target="/ppt/notesMasters/notesMaster1.xml" Id="R62b22679548c48c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a9e6dbcedd145c4" /><Relationship Type="http://schemas.openxmlformats.org/officeDocument/2006/relationships/notesMaster" Target="/ppt/notesMasters/notesMaster1.xml" Id="R61904bcf946248f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dfec1e013c443c5" /><Relationship Type="http://schemas.openxmlformats.org/officeDocument/2006/relationships/notesMaster" Target="/ppt/notesMasters/notesMaster1.xml" Id="R5af20d7eebd9467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d63e73d59da4f6e" /><Relationship Type="http://schemas.openxmlformats.org/officeDocument/2006/relationships/notesMaster" Target="/ppt/notesMasters/notesMaster1.xml" Id="R686c3af559ab4ef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414f69d12094746" /><Relationship Type="http://schemas.openxmlformats.org/officeDocument/2006/relationships/notesMaster" Target="/ppt/notesMasters/notesMaster1.xml" Id="R588e263c28654a3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586c4f8e7804c3a" /><Relationship Type="http://schemas.openxmlformats.org/officeDocument/2006/relationships/notesMaster" Target="/ppt/notesMasters/notesMaster1.xml" Id="R445dae3f911544f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ae7affc99b14a03" /><Relationship Type="http://schemas.openxmlformats.org/officeDocument/2006/relationships/notesMaster" Target="/ppt/notesMasters/notesMaster1.xml" Id="R51ae4448763847c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39159ab5ac64f3f" /><Relationship Type="http://schemas.openxmlformats.org/officeDocument/2006/relationships/notesMaster" Target="/ppt/notesMasters/notesMaster1.xml" Id="R929000459cc1439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8c9868403b44c46" /><Relationship Type="http://schemas.openxmlformats.org/officeDocument/2006/relationships/notesMaster" Target="/ppt/notesMasters/notesMaster1.xml" Id="Rfcfc44abe06f48c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498531c8e4a4333" /><Relationship Type="http://schemas.openxmlformats.org/officeDocument/2006/relationships/notesMaster" Target="/ppt/notesMasters/notesMaster1.xml" Id="R91a6026f0d7741b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21da26570ba4aea" /><Relationship Type="http://schemas.openxmlformats.org/officeDocument/2006/relationships/notesMaster" Target="/ppt/notesMasters/notesMaster1.xml" Id="R0d9ef8b268fa4b4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5dbf57dc49d460d" /><Relationship Type="http://schemas.openxmlformats.org/officeDocument/2006/relationships/notesMaster" Target="/ppt/notesMasters/notesMaster1.xml" Id="R5141515f734c4c5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b03b8137d584050" /><Relationship Type="http://schemas.openxmlformats.org/officeDocument/2006/relationships/notesMaster" Target="/ppt/notesMasters/notesMaster1.xml" Id="Rdb89de55c84b4d5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13f395a13224959" /><Relationship Type="http://schemas.openxmlformats.org/officeDocument/2006/relationships/notesMaster" Target="/ppt/notesMasters/notesMaster1.xml" Id="Rda9fbb5b0d1c477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e6d3b84c8f548f7" /><Relationship Type="http://schemas.openxmlformats.org/officeDocument/2006/relationships/notesMaster" Target="/ppt/notesMasters/notesMaster1.xml" Id="R77903853b978469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10 seconds.</a:t>
            </a:r>
          </a:p>
          <a:p xmlns:a="http://schemas.openxmlformats.org/drawingml/2006/main">
            <a:r>
              <a:t/>
            </a:r>
          </a:p>
          <a:p xmlns:a="http://schemas.openxmlformats.org/drawingml/2006/main">
            <a:r>
              <a:t>We address GPU image rotation and responsible HPC scaling. The appendix retains our full implementation, research and calculations.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30 seconds.</a:t>
            </a:r>
          </a:p>
          <a:p xmlns:a="http://schemas.openxmlformats.org/drawingml/2006/main">
            <a:r>
              <a:t/>
            </a:r>
          </a:p>
          <a:p xmlns:a="http://schemas.openxmlformats.org/drawingml/2006/main">
            <a:r>
              <a:t>The CPU loads and decodes an image into host RAM, allocates separate device input and output buffers, and launches the GPU work. DMA transfers decoded pixels to GPU memory over PCIe. The kernel rotates the pixels, and completed output returns to host RAM for saving. GPU memory bandwidth is different from link bandwidth. Pinned RAM supports efficient transfer; pageable memory may require staging.</a:t>
            </a:r>
          </a:p>
          <a:p xmlns:a="http://schemas.openxmlformats.org/drawingml/2006/main">
            <a:r>
              <a:t/>
            </a:r>
          </a:p>
          <a:p xmlns:a="http://schemas.openxmlformats.org/drawingml/2006/main">
            <a:r>
              <a:t>[1] NVIDIA, “Programming model,” CUDA Programming Guide, online documentation, accessed Oct. 8, 2026.</a:t>
            </a:r>
          </a:p>
          <a:p xmlns:a="http://schemas.openxmlformats.org/drawingml/2006/main">
            <a:r>
              <a:t>https://docs.nvidia.com/cuda/cuda-programming-guide/01-introduction/programming-model.html</a:t>
            </a:r>
          </a:p>
          <a:p xmlns:a="http://schemas.openxmlformats.org/drawingml/2006/main">
            <a:r>
              <a:t/>
            </a:r>
          </a:p>
          <a:p xmlns:a="http://schemas.openxmlformats.org/drawingml/2006/main">
            <a:r>
              <a:t>[2] NVIDIA, CUDA C++ Best Practices Guide, online documentation, accessed Oct. 8, 2026.</a:t>
            </a:r>
          </a:p>
          <a:p xmlns:a="http://schemas.openxmlformats.org/drawingml/2006/main">
            <a:r>
              <a:t>https://docs.nvidia.com/cuda/cuda-c-best-practices-guide/index.html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35 seconds.</a:t>
            </a:r>
          </a:p>
          <a:p xmlns:a="http://schemas.openxmlformats.org/drawingml/2006/main">
            <a:r>
              <a:t/>
            </a:r>
          </a:p>
          <a:p xmlns:a="http://schemas.openxmlformats.org/drawingml/2006/main">
            <a:r>
              <a:t>Each thread owns one output pixel. Inverse rotation gathers the nearest source pixel, avoiding scatter holes. With y pointing down, positive angles are visually counterclockwise. Copy three RGB channels, or write black when rounded source indices fall outside the image. Separate output locations require no atomics or barrier. The fixed canvas can crop corners and nearest-neighbour sampling can alias. Full kernels and a worked example remain in the appendix.</a:t>
            </a:r>
          </a:p>
          <a:p xmlns:a="http://schemas.openxmlformats.org/drawingml/2006/main">
            <a:r>
              <a:t/>
            </a:r>
          </a:p>
          <a:p xmlns:a="http://schemas.openxmlformats.org/drawingml/2006/main">
            <a:r>
              <a:t>[1] NVIDIA, “Programming model,” CUDA Programming Guide, online documentation, accessed Oct. 8, 2026.</a:t>
            </a:r>
          </a:p>
          <a:p xmlns:a="http://schemas.openxmlformats.org/drawingml/2006/main">
            <a:r>
              <a:t>https://docs.nvidia.com/cuda/cuda-programming-guide/01-introduction/programming-model.html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40 seconds.</a:t>
            </a:r>
          </a:p>
          <a:p xmlns:a="http://schemas.openxmlformats.org/drawingml/2006/main">
            <a:r>
              <a:t/>
            </a:r>
          </a:p>
          <a:p xmlns:a="http://schemas.openxmlformats.org/drawingml/2006/main">
            <a:r>
              <a:t>The CPU launches a grid of blocks; each block contains threads. A sixteen-by-sixteen block has two hundred and fifty-six threads, or eight warps. For a one-thousand-and-twenty-four-square image, the grid is sixty-four by sixty-four blocks. Each thread computes its global pixel coordinate and checks the image boundary. Streaming multiprocessors schedule resident warps using SIMT. The brightness excerpt shows a second independent pixel operation with clamping. More resident warps can hide latency, but registers and divergence affect execution; these examples are uncompiled.</a:t>
            </a:r>
          </a:p>
          <a:p xmlns:a="http://schemas.openxmlformats.org/drawingml/2006/main">
            <a:r>
              <a:t/>
            </a:r>
          </a:p>
          <a:p xmlns:a="http://schemas.openxmlformats.org/drawingml/2006/main">
            <a:r>
              <a:t>[1] NVIDIA, “Programming model,” CUDA Programming Guide, online documentation, accessed Oct. 8, 2026.</a:t>
            </a:r>
          </a:p>
          <a:p xmlns:a="http://schemas.openxmlformats.org/drawingml/2006/main">
            <a:r>
              <a:t>https://docs.nvidia.com/cuda/cuda-programming-guide/01-introduction/programming-model.html</a:t>
            </a:r>
          </a:p>
          <a:p xmlns:a="http://schemas.openxmlformats.org/drawingml/2006/main">
            <a:r>
              <a:t/>
            </a:r>
          </a:p>
          <a:p xmlns:a="http://schemas.openxmlformats.org/drawingml/2006/main">
            <a:r>
              <a:t>[2] NVIDIA, CUDA C++ Best Practices Guide, online documentation, accessed Oct. 8, 2026.</a:t>
            </a:r>
          </a:p>
          <a:p xmlns:a="http://schemas.openxmlformats.org/drawingml/2006/main">
            <a:r>
              <a:t>https://docs.nvidia.com/cuda/cuda-c-best-practices-guide/index.html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30 seconds.</a:t>
            </a:r>
          </a:p>
          <a:p xmlns:a="http://schemas.openxmlformats.org/drawingml/2006/main">
            <a:r>
              <a:t/>
            </a:r>
          </a:p>
          <a:p xmlns:a="http://schemas.openxmlformats.org/drawingml/2006/main">
            <a:r>
              <a:t>Compare identical rotation against one CPU thread and a multithreaded CPU. GPU execution units and memory bandwidth favor parallel work. Coalesced output writes help; rotated gathers can limit bandwidth. Include setup, both transfers and completed kernel execution in timing. Streams can overlap work with supporting hardware and pinned buffers. Serial work and transfers bound gains. No measured speedup is claimed.</a:t>
            </a:r>
          </a:p>
          <a:p xmlns:a="http://schemas.openxmlformats.org/drawingml/2006/main">
            <a:r>
              <a:t/>
            </a:r>
          </a:p>
          <a:p xmlns:a="http://schemas.openxmlformats.org/drawingml/2006/main">
            <a:r>
              <a:t>[2] NVIDIA, CUDA C++ Best Practices Guide, online documentation, accessed Oct. 8, 2026.</a:t>
            </a:r>
          </a:p>
          <a:p xmlns:a="http://schemas.openxmlformats.org/drawingml/2006/main">
            <a:r>
              <a:t>https://docs.nvidia.com/cuda/cuda-c-best-practices-guide/index.html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30 seconds.</a:t>
            </a:r>
          </a:p>
          <a:p xmlns:a="http://schemas.openxmlformats.org/drawingml/2006/main">
            <a:r>
              <a:t/>
            </a:r>
          </a:p>
          <a:p xmlns:a="http://schemas.openxmlformats.org/drawingml/2006/main">
            <a:r>
              <a:t>Conventional storage reads stage bytes in host RAM. GPUDirect Storage can move bytes directly into GPU memory using storage-side DMA; the CPU still issues cuFile requests. GDS does not decode images or speed rotation arithmetic. Our CPU-decoded path needs host RAM. Consider supported storage-bound GPU-ready batches or compatible GPU decoding only after measuring completed workload benefits. Fallback may still stage through RAM.</a:t>
            </a:r>
          </a:p>
          <a:p xmlns:a="http://schemas.openxmlformats.org/drawingml/2006/main">
            <a:r>
              <a:t/>
            </a:r>
          </a:p>
          <a:p xmlns:a="http://schemas.openxmlformats.org/drawingml/2006/main">
            <a:r>
              <a:t>[3] NVIDIA, GPUDirect Storage Overview Guide, online documentation, accessed Oct. 8, 2026.</a:t>
            </a:r>
          </a:p>
          <a:p xmlns:a="http://schemas.openxmlformats.org/drawingml/2006/main">
            <a:r>
              <a:t>https://docs.nvidia.com/gpudirect-storage/overview-guide/index.html</a:t>
            </a:r>
          </a:p>
          <a:p xmlns:a="http://schemas.openxmlformats.org/drawingml/2006/main">
            <a:r>
              <a:t/>
            </a:r>
          </a:p>
          <a:p xmlns:a="http://schemas.openxmlformats.org/drawingml/2006/main">
            <a:r>
              <a:t>[4] NVIDIA, GPUDirect Storage Design Guide, online documentation, accessed Oct. 8, 2026.</a:t>
            </a:r>
          </a:p>
          <a:p xmlns:a="http://schemas.openxmlformats.org/drawingml/2006/main">
            <a:r>
              <a:t>https://docs.nvidia.com/gpudirect-storage/design-guide/index.html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20 seconds.</a:t>
            </a:r>
          </a:p>
          <a:p xmlns:a="http://schemas.openxmlformats.org/drawingml/2006/main">
            <a:r>
              <a:t/>
            </a:r>
          </a:p>
          <a:p xmlns:a="http://schemas.openxmlformats.org/drawingml/2006/main">
            <a:r>
              <a:t>CUDA is promising for independent pixels, but performance needs measurement. Responsible HPC requires useful outcomes, protected data and equitable access. Next, compile and validate the rotation, then measure a real cluster job and revise decisions using evidence.</a:t>
            </a:r>
          </a:p>
          <a:p xmlns:a="http://schemas.openxmlformats.org/drawingml/2006/main">
            <a:r>
              <a:t/>
            </a:r>
          </a:p>
          <a:p xmlns:a="http://schemas.openxmlformats.org/drawingml/2006/main">
            <a:r>
              <a:t>[2] NVIDIA, CUDA C++ Best Practices Guide, online documentation, accessed Oct. 8, 2026.</a:t>
            </a:r>
          </a:p>
          <a:p xmlns:a="http://schemas.openxmlformats.org/drawingml/2006/main">
            <a:r>
              <a:t>https://docs.nvidia.com/cuda/cuda-c-best-practices-guide/index.html</a:t>
            </a:r>
          </a:p>
          <a:p xmlns:a="http://schemas.openxmlformats.org/drawingml/2006/main">
            <a:r>
              <a:t/>
            </a:r>
          </a:p>
          <a:p xmlns:a="http://schemas.openxmlformats.org/drawingml/2006/main">
            <a:r>
              <a:t>[3] NVIDIA, GPUDirect Storage Overview Guide, online documentation, accessed Oct. 8, 2026.</a:t>
            </a:r>
          </a:p>
          <a:p xmlns:a="http://schemas.openxmlformats.org/drawingml/2006/main">
            <a:r>
              <a:t>https://docs.nvidia.com/gpudirect-storage/overview-guide/index.html</a:t>
            </a:r>
          </a:p>
          <a:p xmlns:a="http://schemas.openxmlformats.org/drawingml/2006/main">
            <a:r>
              <a:t/>
            </a:r>
          </a:p>
          <a:p xmlns:a="http://schemas.openxmlformats.org/drawingml/2006/main">
            <a:r>
              <a:t>[4] NVIDIA, GPUDirect Storage Design Guide, online documentation, accessed Oct. 8, 2026.</a:t>
            </a:r>
          </a:p>
          <a:p xmlns:a="http://schemas.openxmlformats.org/drawingml/2006/main">
            <a:r>
              <a:t>https://docs.nvidia.com/gpudirect-storage/design-guide/index.html</a:t>
            </a:r>
          </a:p>
          <a:p xmlns:a="http://schemas.openxmlformats.org/drawingml/2006/main">
            <a:r>
              <a:t/>
            </a:r>
          </a:p>
          <a:p xmlns:a="http://schemas.openxmlformats.org/drawingml/2006/main">
            <a:r>
              <a:t>[10] R. Schwartz, J. Dodge, N. A. Smith, and O. Etzioni, “Green AI,” arXiv:1907.10597, 2019.</a:t>
            </a:r>
          </a:p>
          <a:p xmlns:a="http://schemas.openxmlformats.org/drawingml/2006/main">
            <a:r>
              <a:t>https://arxiv.org/abs/1907.10597</a:t>
            </a:r>
          </a:p>
          <a:p xmlns:a="http://schemas.openxmlformats.org/drawingml/2006/main">
            <a:r>
              <a:t/>
            </a:r>
          </a:p>
          <a:p xmlns:a="http://schemas.openxmlformats.org/drawingml/2006/main">
            <a:r>
              <a:t>[16] NIST, AI Risk Management Framework 1.0 Playbook, framework 2023, current online resource, accessed Oct. 8, 2026.</a:t>
            </a:r>
          </a:p>
          <a:p xmlns:a="http://schemas.openxmlformats.org/drawingml/2006/main">
            <a:r>
              <a:t>https://airc.nist.gov/airmf-resources/playbook/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NVIDIA, “Programming model,” CUDA Programming Guide, online documentation, accessed Oct. 8, 2026.</a:t>
            </a:r>
          </a:p>
          <a:p xmlns:a="http://schemas.openxmlformats.org/drawingml/2006/main">
            <a:r>
              <a:t>https://docs.nvidia.com/cuda/cuda-programming-guide/01-introduction/programming-model.html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NVIDIA, “Programming model,” CUDA Programming Guide, online documentation, accessed Oct. 8, 2026.</a:t>
            </a:r>
          </a:p>
          <a:p xmlns:a="http://schemas.openxmlformats.org/drawingml/2006/main">
            <a:r>
              <a:t>https://docs.nvidia.com/cuda/cuda-programming-guide/01-introduction/programming-model.html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NVIDIA, “Programming model,” CUDA Programming Guide, online documentation, accessed Oct. 8, 2026.</a:t>
            </a:r>
          </a:p>
          <a:p xmlns:a="http://schemas.openxmlformats.org/drawingml/2006/main">
            <a:r>
              <a:t>https://docs.nvidia.com/cuda/cuda-programming-guide/01-introduction/programming-model.html</a:t>
            </a:r>
          </a:p>
          <a:p xmlns:a="http://schemas.openxmlformats.org/drawingml/2006/main">
            <a:r>
              <a:t/>
            </a:r>
          </a:p>
          <a:p xmlns:a="http://schemas.openxmlformats.org/drawingml/2006/main">
            <a:r>
              <a:t>[2] NVIDIA, CUDA C++ Best Practices Guide, online documentation, accessed Oct. 8, 2026.</a:t>
            </a:r>
          </a:p>
          <a:p xmlns:a="http://schemas.openxmlformats.org/drawingml/2006/main">
            <a:r>
              <a:t>https://docs.nvidia.com/cuda/cuda-c-best-practices-guide/index.html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NVIDIA, “Programming model,” CUDA Programming Guide, online documentation, accessed Oct. 8, 2026.</a:t>
            </a:r>
          </a:p>
          <a:p xmlns:a="http://schemas.openxmlformats.org/drawingml/2006/main">
            <a:r>
              <a:t>https://docs.nvidia.com/cuda/cuda-programming-guide/01-introduction/programming-model.html</a:t>
            </a:r>
          </a:p>
          <a:p xmlns:a="http://schemas.openxmlformats.org/drawingml/2006/main">
            <a:r>
              <a:t/>
            </a:r>
          </a:p>
          <a:p xmlns:a="http://schemas.openxmlformats.org/drawingml/2006/main">
            <a:r>
              <a:t>[2] NVIDIA, CUDA C++ Best Practices Guide, online documentation, accessed Oct. 8, 2026.</a:t>
            </a:r>
          </a:p>
          <a:p xmlns:a="http://schemas.openxmlformats.org/drawingml/2006/main">
            <a:r>
              <a:t>https://docs.nvidia.com/cuda/cuda-c-best-practices-guide/index.html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NVIDIA, “Programming model,” CUDA Programming Guide, online documentation, accessed Oct. 8, 2026.</a:t>
            </a:r>
          </a:p>
          <a:p xmlns:a="http://schemas.openxmlformats.org/drawingml/2006/main">
            <a:r>
              <a:t>https://docs.nvidia.com/cuda/cuda-programming-guide/01-introduction/programming-model.html</a:t>
            </a:r>
          </a:p>
          <a:p xmlns:a="http://schemas.openxmlformats.org/drawingml/2006/main">
            <a:r>
              <a:t/>
            </a:r>
          </a:p>
          <a:p xmlns:a="http://schemas.openxmlformats.org/drawingml/2006/main">
            <a:r>
              <a:t>[2] NVIDIA, CUDA C++ Best Practices Guide, online documentation, accessed Oct. 8, 2026.</a:t>
            </a:r>
          </a:p>
          <a:p xmlns:a="http://schemas.openxmlformats.org/drawingml/2006/main">
            <a:r>
              <a:t>https://docs.nvidia.com/cuda/cuda-c-best-practices-guide/index.html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NVIDIA, CUDA C++ Best Practices Guide, online documentation, accessed Oct. 8, 2026.</a:t>
            </a:r>
          </a:p>
          <a:p xmlns:a="http://schemas.openxmlformats.org/drawingml/2006/main">
            <a:r>
              <a:t>https://docs.nvidia.com/cuda/cuda-c-best-practices-guide/index.html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NVIDIA, CUDA C++ Best Practices Guide, online documentation, accessed Oct. 8, 2026.</a:t>
            </a:r>
          </a:p>
          <a:p xmlns:a="http://schemas.openxmlformats.org/drawingml/2006/main">
            <a:r>
              <a:t>https://docs.nvidia.com/cuda/cuda-c-best-practices-guide/index.html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NVIDIA, CUDA C++ Best Practices Guide, online documentation, accessed Oct. 8, 2026.</a:t>
            </a:r>
          </a:p>
          <a:p xmlns:a="http://schemas.openxmlformats.org/drawingml/2006/main">
            <a:r>
              <a:t>https://docs.nvidia.com/cuda/cuda-c-best-practices-guide/index.html</a:t>
            </a:r>
          </a:p>
          <a:p xmlns:a="http://schemas.openxmlformats.org/drawingml/2006/main">
            <a:r>
              <a:t/>
            </a:r>
          </a:p>
          <a:p xmlns:a="http://schemas.openxmlformats.org/drawingml/2006/main">
            <a:r>
              <a:t>[3] NVIDIA, GPUDirect Storage Overview Guide, online documentation, accessed Oct. 8, 2026.</a:t>
            </a:r>
          </a:p>
          <a:p xmlns:a="http://schemas.openxmlformats.org/drawingml/2006/main">
            <a:r>
              <a:t>https://docs.nvidia.com/gpudirect-storage/overview-guide/index.html</a:t>
            </a:r>
          </a:p>
          <a:p xmlns:a="http://schemas.openxmlformats.org/drawingml/2006/main">
            <a:r>
              <a:t/>
            </a:r>
          </a:p>
          <a:p xmlns:a="http://schemas.openxmlformats.org/drawingml/2006/main">
            <a:r>
              <a:t>[4] NVIDIA, GPUDirect Storage Design Guide, online documentation, accessed Oct. 8, 2026.</a:t>
            </a:r>
          </a:p>
          <a:p xmlns:a="http://schemas.openxmlformats.org/drawingml/2006/main">
            <a:r>
              <a:t>https://docs.nvidia.com/gpudirect-storage/design-guide/index.html</a:t>
            </a:r>
          </a:p>
          <a:p xmlns:a="http://schemas.openxmlformats.org/drawingml/2006/main">
            <a:r>
              <a:t/>
            </a:r>
          </a:p>
          <a:p xmlns:a="http://schemas.openxmlformats.org/drawingml/2006/main">
            <a:r>
              <a:t>[10] R. Schwartz, J. Dodge, N. A. Smith, and O. Etzioni, “Green AI,” arXiv:1907.10597, 2019.</a:t>
            </a:r>
          </a:p>
          <a:p xmlns:a="http://schemas.openxmlformats.org/drawingml/2006/main">
            <a:r>
              <a:t>https://arxiv.org/abs/1907.10597</a:t>
            </a:r>
          </a:p>
          <a:p xmlns:a="http://schemas.openxmlformats.org/drawingml/2006/main">
            <a:r>
              <a:t/>
            </a:r>
          </a:p>
          <a:p xmlns:a="http://schemas.openxmlformats.org/drawingml/2006/main">
            <a:r>
              <a:t>[14] A. Radovanovic et al., “Carbon-aware computing for datacenters,” arXiv:2106.11750v1, 2021.</a:t>
            </a:r>
          </a:p>
          <a:p xmlns:a="http://schemas.openxmlformats.org/drawingml/2006/main">
            <a:r>
              <a:t>https://arxiv.org/abs/2106.11750v1</a:t>
            </a:r>
          </a:p>
          <a:p xmlns:a="http://schemas.openxmlformats.org/drawingml/2006/main">
            <a:r>
              <a:t/>
            </a:r>
          </a:p>
          <a:p xmlns:a="http://schemas.openxmlformats.org/drawingml/2006/main">
            <a:r>
              <a:t>[16] NIST, AI Risk Management Framework 1.0 Playbook, framework 2023, current online resource, accessed Oct. 8, 2026.</a:t>
            </a:r>
          </a:p>
          <a:p xmlns:a="http://schemas.openxmlformats.org/drawingml/2006/main">
            <a:r>
              <a:t>https://airc.nist.gov/airmf-resources/playbook/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[17] NVIDIA, “Rotate,” NPP Image Geometry Transforms, CUDA 13.0.3 archive documentation, accessed Oct. 8, 2026.</a:t>
            </a:r>
          </a:p>
          <a:p xmlns:a="http://schemas.openxmlformats.org/drawingml/2006/main">
            <a:r>
              <a:t>https://docs.nvidia.com/cuda/archive/13.0.3/npp/image_geometry_transforms.html#rotate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NVIDIA, “Programming model,” CUDA Programming Guide, online documentation, accessed Oct. 8, 2026.</a:t>
            </a:r>
          </a:p>
          <a:p xmlns:a="http://schemas.openxmlformats.org/drawingml/2006/main">
            <a:r>
              <a:t>https://docs.nvidia.com/cuda/cuda-programming-guide/01-introduction/programming-model.html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NVIDIA, “Programming model,” CUDA Programming Guide, online documentation, accessed Oct. 8, 2026.</a:t>
            </a:r>
          </a:p>
          <a:p xmlns:a="http://schemas.openxmlformats.org/drawingml/2006/main">
            <a:r>
              <a:t>https://docs.nvidia.com/cuda/cuda-programming-guide/01-introduction/programming-model.html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NVIDIA, “Programming model,” CUDA Programming Guide, online documentation, accessed Oct. 8, 2026.</a:t>
            </a:r>
          </a:p>
          <a:p xmlns:a="http://schemas.openxmlformats.org/drawingml/2006/main">
            <a:r>
              <a:t>https://docs.nvidia.com/cuda/cuda-programming-guide/01-introduction/programming-model.html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NVIDIA, CUDA C++ Best Practices Guide, online documentation, accessed Oct. 8, 2026.</a:t>
            </a:r>
          </a:p>
          <a:p xmlns:a="http://schemas.openxmlformats.org/drawingml/2006/main">
            <a:r>
              <a:t>https://docs.nvidia.com/cuda/cuda-c-best-practices-guide/index.html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NVIDIA, CUDA C++ Best Practices Guide, online documentation, accessed Oct. 8, 2026.</a:t>
            </a:r>
          </a:p>
          <a:p xmlns:a="http://schemas.openxmlformats.org/drawingml/2006/main">
            <a:r>
              <a:t>https://docs.nvidia.com/cuda/cuda-c-best-practices-guide/index.html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NVIDIA, GPUDirect Storage Overview Guide, online documentation, accessed Oct. 8, 2026.</a:t>
            </a:r>
          </a:p>
          <a:p xmlns:a="http://schemas.openxmlformats.org/drawingml/2006/main">
            <a:r>
              <a:t>https://docs.nvidia.com/gpudirect-storage/overview-guide/index.html</a:t>
            </a:r>
          </a:p>
          <a:p xmlns:a="http://schemas.openxmlformats.org/drawingml/2006/main">
            <a:r>
              <a:t/>
            </a:r>
          </a:p>
          <a:p xmlns:a="http://schemas.openxmlformats.org/drawingml/2006/main">
            <a:r>
              <a:t>[4] NVIDIA, GPUDirect Storage Design Guide, online documentation, accessed Oct. 8, 2026.</a:t>
            </a:r>
          </a:p>
          <a:p xmlns:a="http://schemas.openxmlformats.org/drawingml/2006/main">
            <a:r>
              <a:t>https://docs.nvidia.com/gpudirect-storage/design-guide/index.html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68d36b8f7b84dd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62ce7a5fb894c7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f269613d992415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c8b7dff63204e0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b39bdbda8844a5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edaf28bc7c64a3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8478E3B-C30E-4186-BDF6-F8B6644115B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6432C49-6D23-4C50-BEC3-C7EE8AB696E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C9F05FC-4747-4B03-9724-8D841F6692F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3CFF82B-EB77-431D-A6AA-1EF1DA0119B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944801F-00D8-46D8-B0DF-5995BE70175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EE79B6C-9366-44E3-9CBA-DD4B63018A7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FD0D44E-F106-4728-AF0D-414B60801E0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6AFD552-D286-41F1-BBE7-2FE4D8B454D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6F5DAA5-27E4-49A0-8883-55DAB1B42AB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2FA145F-E056-44BA-8E46-8825B8FAF58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996d4265b1c4956" /><Relationship Type="http://schemas.openxmlformats.org/officeDocument/2006/relationships/slideLayout" Target="/ppt/slideLayouts/slideLayout1.xml" Id="R06a4aaeca4f24517" /><Relationship Type="http://schemas.openxmlformats.org/officeDocument/2006/relationships/slideLayout" Target="/ppt/slideLayouts/slideLayout2.xml" Id="R20f6a8543c3c4d54" /><Relationship Type="http://schemas.openxmlformats.org/officeDocument/2006/relationships/slideLayout" Target="/ppt/slideLayouts/slideLayout3.xml" Id="R9c15df555ac54ca7" /><Relationship Type="http://schemas.openxmlformats.org/officeDocument/2006/relationships/slideLayout" Target="/ppt/slideLayouts/slideLayout4.xml" Id="Reacb627047e04c0e" /><Relationship Type="http://schemas.openxmlformats.org/officeDocument/2006/relationships/slideLayout" Target="/ppt/slideLayouts/slideLayout5.xml" Id="Rd913d6e704514afe" /><Relationship Type="http://schemas.openxmlformats.org/officeDocument/2006/relationships/slideLayout" Target="/ppt/slideLayouts/slideLayout6.xml" Id="R7c0162c69f7b474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6a4aaeca4f24517"/>
    <p:sldLayoutId xmlns:r="http://schemas.openxmlformats.org/officeDocument/2006/relationships" id="2147483650" r:id="R20f6a8543c3c4d54"/>
    <p:sldLayoutId xmlns:r="http://schemas.openxmlformats.org/officeDocument/2006/relationships" id="2147483651" r:id="R9c15df555ac54ca7"/>
    <p:sldLayoutId xmlns:r="http://schemas.openxmlformats.org/officeDocument/2006/relationships" id="2147483652" r:id="Reacb627047e04c0e"/>
    <p:sldLayoutId xmlns:r="http://schemas.openxmlformats.org/officeDocument/2006/relationships" id="2147483653" r:id="Rd913d6e704514afe"/>
    <p:sldLayoutId xmlns:r="http://schemas.openxmlformats.org/officeDocument/2006/relationships" id="2147483654" r:id="R7c0162c69f7b474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ec08a9dc4cb4c72" /><Relationship Type="http://schemas.openxmlformats.org/officeDocument/2006/relationships/notesSlide" Target="/ppt/notesSlides/notesSlide1.xml" Id="R853ea8824f9a48a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9a531fbaa244291" /><Relationship Type="http://schemas.openxmlformats.org/officeDocument/2006/relationships/notesSlide" Target="/ppt/notesSlides/notesSlide2.xml" Id="Re4ed505cefa149d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f27572baf424e1c" /><Relationship Type="http://schemas.openxmlformats.org/officeDocument/2006/relationships/notesSlide" Target="/ppt/notesSlides/notesSlide3.xml" Id="R6f753fd9f19c4e9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6d60f8d81ce4705" /><Relationship Type="http://schemas.openxmlformats.org/officeDocument/2006/relationships/notesSlide" Target="/ppt/notesSlides/notesSlide4.xml" Id="R9f104e3fe1054bb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aebdaaac351428c" /><Relationship Type="http://schemas.openxmlformats.org/officeDocument/2006/relationships/notesSlide" Target="/ppt/notesSlides/notesSlide5.xml" Id="R1147eba91d6548e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678fdec3d6f4cf0" /><Relationship Type="http://schemas.openxmlformats.org/officeDocument/2006/relationships/notesSlide" Target="/ppt/notesSlides/notesSlide6.xml" Id="R86334c8c0b3e42c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0997ef670904bd9" /><Relationship Type="http://schemas.openxmlformats.org/officeDocument/2006/relationships/notesSlide" Target="/ppt/notesSlides/notesSlide7.xml" Id="R69c8d937a888419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c6cf5f876d448d7" /><Relationship Type="http://schemas.openxmlformats.org/officeDocument/2006/relationships/notesSlide" Target="/ppt/notesSlides/notesSlide8.xml" Id="Re2b1986d9ac147e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2cf9462c1d8466f" /><Relationship Type="http://schemas.openxmlformats.org/officeDocument/2006/relationships/notesSlide" Target="/ppt/notesSlides/notesSlide9.xml" Id="Re810d2128aec43b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37c96adc88246b7" /><Relationship Type="http://schemas.openxmlformats.org/officeDocument/2006/relationships/notesSlide" Target="/ppt/notesSlides/notesSlide10.xml" Id="R2e628d682f0a4a3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431d88a7a724cb0" /><Relationship Type="http://schemas.openxmlformats.org/officeDocument/2006/relationships/notesSlide" Target="/ppt/notesSlides/notesSlide11.xml" Id="R382ea01d8e7c415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4a7c7ad3cbb4717" /><Relationship Type="http://schemas.openxmlformats.org/officeDocument/2006/relationships/notesSlide" Target="/ppt/notesSlides/notesSlide12.xml" Id="Rc3478e9dd2304fb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28c86d787bc4dfe" /><Relationship Type="http://schemas.openxmlformats.org/officeDocument/2006/relationships/notesSlide" Target="/ppt/notesSlides/notesSlide13.xml" Id="Rd83f29252cde400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3803153f100485e" /><Relationship Type="http://schemas.openxmlformats.org/officeDocument/2006/relationships/notesSlide" Target="/ppt/notesSlides/notesSlide14.xml" Id="R189d079818a14a0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cce444382f3a4215" /><Relationship Type="http://schemas.openxmlformats.org/officeDocument/2006/relationships/notesSlide" Target="/ppt/notesSlides/notesSlide15.xml" Id="Rfd499e7f11dc4a4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f008261e094940b5" /><Relationship Type="http://schemas.openxmlformats.org/officeDocument/2006/relationships/notesSlide" Target="/ppt/notesSlides/notesSlide16.xml" Id="R2cf4cb4fe018428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af8e3fd904174a1c" /><Relationship Type="http://schemas.openxmlformats.org/officeDocument/2006/relationships/notesSlide" Target="/ppt/notesSlides/notesSlide17.xml" Id="R63f0e79decfd4de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d72acf78b5924062" /><Relationship Type="http://schemas.openxmlformats.org/officeDocument/2006/relationships/notesSlide" Target="/ppt/notesSlides/notesSlide18.xml" Id="Rf4f728e55a0049f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e0c67d64ad2949ce" /><Relationship Type="http://schemas.openxmlformats.org/officeDocument/2006/relationships/notesSlide" Target="/ppt/notesSlides/notesSlide19.xml" Id="R470502e503cf47e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eeafe50128214db0" /><Relationship Type="http://schemas.openxmlformats.org/officeDocument/2006/relationships/notesSlide" Target="/ppt/notesSlides/notesSlide20.xml" Id="R06510e6b51164d8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c1cc6952d79b49e2" /><Relationship Type="http://schemas.openxmlformats.org/officeDocument/2006/relationships/notesSlide" Target="/ppt/notesSlides/notesSlide21.xml" Id="R1fe438732d4b4ab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42add8ce1d23468a" /><Relationship Type="http://schemas.openxmlformats.org/officeDocument/2006/relationships/notesSlide" Target="/ppt/notesSlides/notesSlide22.xml" Id="Ra2b0bbc990124bd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83cd645f53bd4220" /><Relationship Type="http://schemas.openxmlformats.org/officeDocument/2006/relationships/notesSlide" Target="/ppt/notesSlides/notesSlide23.xml" Id="R4414391d231b4ae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7aaa90f461c14ec4" /><Relationship Type="http://schemas.openxmlformats.org/officeDocument/2006/relationships/notesSlide" Target="/ppt/notesSlides/notesSlide24.xml" Id="Ra45ecf6c6e35439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82866f65353c4dc7" /><Relationship Type="http://schemas.openxmlformats.org/officeDocument/2006/relationships/notesSlide" Target="/ppt/notesSlides/notesSlide25.xml" Id="R1069e16f92a54ee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d24b3336912840de" /><Relationship Type="http://schemas.openxmlformats.org/officeDocument/2006/relationships/hyperlink" Target="https://docs.nvidia.com/cuda/cuda-programming-guide/01-introduction/programming-model.html" TargetMode="External" Id="Rf0540f44dac84a72" /><Relationship Type="http://schemas.openxmlformats.org/officeDocument/2006/relationships/hyperlink" Target="https://docs.nvidia.com/cuda/cuda-c-best-practices-guide/index.html" TargetMode="External" Id="R4551004b17624818" /><Relationship Type="http://schemas.openxmlformats.org/officeDocument/2006/relationships/hyperlink" Target="https://docs.nvidia.com/gpudirect-storage/overview-guide/index.html" TargetMode="External" Id="R16e802e995454792" /><Relationship Type="http://schemas.openxmlformats.org/officeDocument/2006/relationships/hyperlink" Target="https://docs.nvidia.com/gpudirect-storage/design-guide/index.html" TargetMode="External" Id="Ra9dc51f693ef4fa4" /><Relationship Type="http://schemas.openxmlformats.org/officeDocument/2006/relationships/notesSlide" Target="/ppt/notesSlides/notesSlide26.xml" Id="Re98d2db421df43d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97c6a1e6ee3c4ab3" /><Relationship Type="http://schemas.openxmlformats.org/officeDocument/2006/relationships/hyperlink" Target="https://arxiv.org/abs/1907.10597" TargetMode="External" Id="R40bfe9a598e54384" /><Relationship Type="http://schemas.openxmlformats.org/officeDocument/2006/relationships/hyperlink" Target="https://arxiv.org/abs/2106.11750v1" TargetMode="External" Id="Rcd71821ba4b54b8e" /><Relationship Type="http://schemas.openxmlformats.org/officeDocument/2006/relationships/hyperlink" Target="https://airc.nist.gov/airmf-resources/playbook/" TargetMode="External" Id="R1230c7deabbe4bcb" /><Relationship Type="http://schemas.openxmlformats.org/officeDocument/2006/relationships/hyperlink" Target="https://docs.nvidia.com/cuda/archive/13.0.3/npp/image_geometry_transforms.html#rotate" TargetMode="External" Id="R1d49b8aade124c03" /><Relationship Type="http://schemas.openxmlformats.org/officeDocument/2006/relationships/notesSlide" Target="/ppt/notesSlides/notesSlide27.xml" Id="Rb06dbed5c0a3461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da87c10e14d646a1" /><Relationship Type="http://schemas.openxmlformats.org/officeDocument/2006/relationships/notesSlide" Target="/ppt/notesSlides/notesSlide28.xml" Id="R967d821952804fe4" /></Relationships>
</file>

<file path=ppt/slides/slide1.xml><?xml version="1.0" encoding="utf-8"?>
<p:sld xmlns:p="http://schemas.openxmlformats.org/presentationml/2006/main">
  <p:cSld>
    <p:bg>
      <p:bgPr>
        <a:solidFill xmlns:a="http://schemas.openxmlformats.org/drawingml/2006/main">
          <a:srgbClr val="142D45"/>
        </a:solidFill>
      </p:bgPr>
    </p:bg>
    <p:spTree>
      <p:nvGrpSpPr>
        <p:cNvPr id="1" name=""/>
        <p:cNvGrpSpPr/>
        <p:nvPr/>
      </p:nvGrpSpPr>
      <p:grpSpPr>
        <a:xfrm xmlns:a="http://schemas.openxmlformats.org/drawingml/2006/main"/>
      </p:grpSpPr>
      <p:sp>
        <p:nvSpPr>
          <p:cNvPr id="10" name="FIT3143 • Applied 2 • Task 1">
            <a:extLst xmlns:a="http://schemas.openxmlformats.org/drawingml/2006/main">
              <a:ext uri="{FF2B5EF4-FFF2-40B4-BE49-F238E27FC236}">
                <a16:creationId xmlns:a16="http://schemas.microsoft.com/office/drawing/2014/main" id="{B969CB35-5609-4074-BB73-D441F0D5AA3F}"/>
              </a:ext>
            </a:extLst>
          </p:cNvPr>
          <p:cNvSpPr>
            <a:spLocks xmlns:a="http://schemas.openxmlformats.org/drawingml/2006/main" noGrp="1"/>
          </p:cNvSpPr>
          <p:nvPr/>
        </p:nvSpPr>
        <p:spPr>
          <a:xfrm xmlns:a="http://schemas.openxmlformats.org/drawingml/2006/main">
            <a:off x="609600" y="619125"/>
            <a:ext cx="1085850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8CD7D5"/>
                </a:solidFill>
                <a:latin typeface="Arial"/>
                <a:ea typeface="Arial"/>
                <a:cs typeface="Arial"/>
              </a:defRPr>
            </a:defPPr>
          </a:lstStyle>
          <a:p xmlns:a="http://schemas.openxmlformats.org/drawingml/2006/main">
            <a:pPr algn="l">
              <a:defRPr sz="1500" b="1">
                <a:solidFill>
                  <a:srgbClr val="8CD7D5"/>
                </a:solidFill>
                <a:latin typeface="Arial"/>
                <a:ea typeface="Arial"/>
                <a:cs typeface="Arial"/>
              </a:defRPr>
            </a:pPr>
            <a:r>
              <a:rPr sz="1500" b="1">
                <a:solidFill>
                  <a:srgbClr val="8CD7D5"/>
                </a:solidFill>
                <a:latin typeface="Arial"/>
                <a:ea typeface="Arial"/>
                <a:cs typeface="Arial"/>
              </a:rPr>
              <a:t>FIT3143 • Applied 2 • Task 1</a:t>
            </a:r>
          </a:p>
        </p:txBody>
      </p:sp>
      <p:sp>
        <p:nvSpPr>
          <p:cNvPr id="2" name="GPU image rotation">
            <a:extLst xmlns:a="http://schemas.openxmlformats.org/drawingml/2006/main">
              <a:ext uri="{FF2B5EF4-FFF2-40B4-BE49-F238E27FC236}">
                <a16:creationId xmlns:a16="http://schemas.microsoft.com/office/drawing/2014/main" id="{F7B24182-CA68-4A84-B422-6DA715E5B529}"/>
              </a:ext>
            </a:extLst>
          </p:cNvPr>
          <p:cNvSpPr>
            <a:spLocks xmlns:a="http://schemas.openxmlformats.org/drawingml/2006/main" noGrp="1"/>
          </p:cNvSpPr>
          <p:nvPr/>
        </p:nvSpPr>
        <p:spPr>
          <a:xfrm xmlns:a="http://schemas.openxmlformats.org/drawingml/2006/main">
            <a:off x="609600" y="1562100"/>
            <a:ext cx="10858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FFFFFF"/>
                </a:solidFill>
                <a:latin typeface="Arial"/>
                <a:ea typeface="Arial"/>
                <a:cs typeface="Arial"/>
              </a:defRPr>
            </a:defPPr>
          </a:lstStyle>
          <a:p xmlns:a="http://schemas.openxmlformats.org/drawingml/2006/main">
            <a:pPr algn="l">
              <a:defRPr sz="4050" b="1">
                <a:solidFill>
                  <a:srgbClr val="FFFFFF"/>
                </a:solidFill>
                <a:latin typeface="Arial"/>
                <a:ea typeface="Arial"/>
                <a:cs typeface="Arial"/>
              </a:defRPr>
            </a:pPr>
            <a:r>
              <a:rPr sz="4050" b="1">
                <a:solidFill>
                  <a:srgbClr val="FFFFFF"/>
                </a:solidFill>
                <a:latin typeface="Arial"/>
                <a:ea typeface="Arial"/>
                <a:cs typeface="Arial"/>
              </a:rPr>
              <a:t>GPU image rotation</a:t>
            </a:r>
          </a:p>
        </p:txBody>
      </p:sp>
      <p:sp>
        <p:nvSpPr>
          <p:cNvPr id="3" name="CUDA design and performance • Evidence, trade-offs and ">
            <a:extLst xmlns:a="http://schemas.openxmlformats.org/drawingml/2006/main">
              <a:ext uri="{FF2B5EF4-FFF2-40B4-BE49-F238E27FC236}">
                <a16:creationId xmlns:a16="http://schemas.microsoft.com/office/drawing/2014/main" id="{43247C88-2366-43DB-B459-1CDD87FFD268}"/>
              </a:ext>
            </a:extLst>
          </p:cNvPr>
          <p:cNvSpPr>
            <a:spLocks xmlns:a="http://schemas.openxmlformats.org/drawingml/2006/main" noGrp="1"/>
          </p:cNvSpPr>
          <p:nvPr/>
        </p:nvSpPr>
        <p:spPr>
          <a:xfrm xmlns:a="http://schemas.openxmlformats.org/drawingml/2006/main">
            <a:off x="609600" y="3209925"/>
            <a:ext cx="10858500" cy="3451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CCDCE4"/>
                </a:solidFill>
                <a:latin typeface="Arial"/>
                <a:ea typeface="Arial"/>
                <a:cs typeface="Arial"/>
              </a:defRPr>
            </a:defPPr>
          </a:lstStyle>
          <a:p xmlns:a="http://schemas.openxmlformats.org/drawingml/2006/main">
            <a:pPr algn="l">
              <a:defRPr sz="1950" b="0">
                <a:solidFill>
                  <a:srgbClr val="CCDCE4"/>
                </a:solidFill>
                <a:latin typeface="Arial"/>
                <a:ea typeface="Arial"/>
                <a:cs typeface="Arial"/>
              </a:defRPr>
            </a:pPr>
            <a:r>
              <a:rPr sz="1950" b="0">
                <a:solidFill>
                  <a:srgbClr val="CCDCE4"/>
                </a:solidFill>
                <a:latin typeface="Arial"/>
                <a:ea typeface="Arial"/>
                <a:cs typeface="Arial"/>
              </a:rPr>
              <a:t>CUDA design and performance • Evidence, trade-offs and accountable use</a:t>
            </a:r>
          </a:p>
        </p:txBody>
      </p:sp>
      <p:sp>
        <p:nvSpPr>
          <p:cNvPr id="4" name="">
            <a:extLst xmlns:a="http://schemas.openxmlformats.org/drawingml/2006/main">
              <a:ext uri="{FF2B5EF4-FFF2-40B4-BE49-F238E27FC236}">
                <a16:creationId xmlns:a16="http://schemas.microsoft.com/office/drawing/2014/main" id="{DC3BB10E-2605-41FD-941C-7E0E5F342B09}"/>
              </a:ext>
            </a:extLst>
          </p:cNvPr>
          <p:cNvSpPr>
            <a:spLocks xmlns:a="http://schemas.openxmlformats.org/drawingml/2006/main" noGrp="1"/>
          </p:cNvSpPr>
          <p:nvPr/>
        </p:nvSpPr>
        <p:spPr>
          <a:xfrm xmlns:a="http://schemas.openxmlformats.org/drawingml/2006/main">
            <a:off x="609600" y="4095750"/>
            <a:ext cx="10972800" cy="0"/>
          </a:xfrm>
          <a:prstGeom xmlns:a="http://schemas.openxmlformats.org/drawingml/2006/main" prst="line">
            <a:avLst/>
          </a:prstGeom>
          <a:noFill xmlns:a="http://schemas.openxmlformats.org/drawingml/2006/main"/>
          <a:ln xmlns:a="http://schemas.openxmlformats.org/drawingml/2006/main" w="9525">
            <a:solidFill>
              <a:srgbClr val="577082"/>
            </a:solidFill>
            <a:prstDash val="solid"/>
          </a:ln>
        </p:spPr>
      </p:sp>
      <p:sp>
        <p:nvSpPr>
          <p:cNvPr id="5" name="Savin Vindiv De Alwis  ·  35221631">
            <a:extLst xmlns:a="http://schemas.openxmlformats.org/drawingml/2006/main">
              <a:ext uri="{FF2B5EF4-FFF2-40B4-BE49-F238E27FC236}">
                <a16:creationId xmlns:a16="http://schemas.microsoft.com/office/drawing/2014/main" id="{E472E3FC-C996-461C-B92C-45CA8803F687}"/>
              </a:ext>
            </a:extLst>
          </p:cNvPr>
          <p:cNvSpPr>
            <a:spLocks xmlns:a="http://schemas.openxmlformats.org/drawingml/2006/main" noGrp="1"/>
          </p:cNvSpPr>
          <p:nvPr/>
        </p:nvSpPr>
        <p:spPr>
          <a:xfrm xmlns:a="http://schemas.openxmlformats.org/drawingml/2006/main">
            <a:off x="609600" y="4429125"/>
            <a:ext cx="10858500" cy="3451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FFFFFF"/>
                </a:solidFill>
                <a:latin typeface="Arial"/>
                <a:ea typeface="Arial"/>
                <a:cs typeface="Arial"/>
              </a:defRPr>
            </a:defPPr>
          </a:lstStyle>
          <a:p xmlns:a="http://schemas.openxmlformats.org/drawingml/2006/main">
            <a:pPr algn="l">
              <a:defRPr sz="1950" b="1">
                <a:solidFill>
                  <a:srgbClr val="FFFFFF"/>
                </a:solidFill>
                <a:latin typeface="Arial"/>
                <a:ea typeface="Arial"/>
                <a:cs typeface="Arial"/>
              </a:defRPr>
            </a:pPr>
            <a:r>
              <a:rPr sz="1950" b="1">
                <a:solidFill>
                  <a:srgbClr val="FFFFFF"/>
                </a:solidFill>
                <a:latin typeface="Arial"/>
                <a:ea typeface="Arial"/>
                <a:cs typeface="Arial"/>
              </a:rPr>
              <a:t>Savin Vindiv De Alwis · 35221631</a:t>
            </a:r>
          </a:p>
        </p:txBody>
      </p:sp>
      <p:sp>
        <p:nvSpPr>
          <p:cNvPr id="6" name="sdea0018@student.monash.edu">
            <a:extLst xmlns:a="http://schemas.openxmlformats.org/drawingml/2006/main">
              <a:ext uri="{FF2B5EF4-FFF2-40B4-BE49-F238E27FC236}">
                <a16:creationId xmlns:a16="http://schemas.microsoft.com/office/drawing/2014/main" id="{9964B8D3-4796-4D09-8921-D852C153FCB9}"/>
              </a:ext>
            </a:extLst>
          </p:cNvPr>
          <p:cNvSpPr>
            <a:spLocks xmlns:a="http://schemas.openxmlformats.org/drawingml/2006/main" noGrp="1"/>
          </p:cNvSpPr>
          <p:nvPr/>
        </p:nvSpPr>
        <p:spPr>
          <a:xfrm xmlns:a="http://schemas.openxmlformats.org/drawingml/2006/main">
            <a:off x="609600" y="4772025"/>
            <a:ext cx="10858500" cy="297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C8D9E3"/>
                </a:solidFill>
                <a:latin typeface="Arial"/>
                <a:ea typeface="Arial"/>
                <a:cs typeface="Arial"/>
              </a:defRPr>
            </a:defPPr>
          </a:lstStyle>
          <a:p xmlns:a="http://schemas.openxmlformats.org/drawingml/2006/main">
            <a:pPr algn="l">
              <a:defRPr sz="1650" b="0">
                <a:solidFill>
                  <a:srgbClr val="C8D9E3"/>
                </a:solidFill>
                <a:latin typeface="Arial"/>
                <a:ea typeface="Arial"/>
                <a:cs typeface="Arial"/>
              </a:defRPr>
            </a:pPr>
            <a:r>
              <a:rPr sz="1650" b="0">
                <a:solidFill>
                  <a:srgbClr val="C8D9E3"/>
                </a:solidFill>
                <a:latin typeface="Arial"/>
                <a:ea typeface="Arial"/>
                <a:cs typeface="Arial"/>
              </a:rPr>
              <a:t>sdea0018@student.monash.edu</a:t>
            </a:r>
          </a:p>
        </p:txBody>
      </p:sp>
      <p:sp>
        <p:nvSpPr>
          <p:cNvPr id="7" name="Shamle Thilaksiri  ·  35512075">
            <a:extLst xmlns:a="http://schemas.openxmlformats.org/drawingml/2006/main">
              <a:ext uri="{FF2B5EF4-FFF2-40B4-BE49-F238E27FC236}">
                <a16:creationId xmlns:a16="http://schemas.microsoft.com/office/drawing/2014/main" id="{B3636C0A-B65D-4167-ADF6-24E96FE919F4}"/>
              </a:ext>
            </a:extLst>
          </p:cNvPr>
          <p:cNvSpPr>
            <a:spLocks xmlns:a="http://schemas.openxmlformats.org/drawingml/2006/main" noGrp="1"/>
          </p:cNvSpPr>
          <p:nvPr/>
        </p:nvSpPr>
        <p:spPr>
          <a:xfrm xmlns:a="http://schemas.openxmlformats.org/drawingml/2006/main">
            <a:off x="609600" y="5210175"/>
            <a:ext cx="10858500" cy="3451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FFFFFF"/>
                </a:solidFill>
                <a:latin typeface="Arial"/>
                <a:ea typeface="Arial"/>
                <a:cs typeface="Arial"/>
              </a:defRPr>
            </a:defPPr>
          </a:lstStyle>
          <a:p xmlns:a="http://schemas.openxmlformats.org/drawingml/2006/main">
            <a:pPr algn="l">
              <a:defRPr sz="1950" b="1">
                <a:solidFill>
                  <a:srgbClr val="FFFFFF"/>
                </a:solidFill>
                <a:latin typeface="Arial"/>
                <a:ea typeface="Arial"/>
                <a:cs typeface="Arial"/>
              </a:defRPr>
            </a:pPr>
            <a:r>
              <a:rPr sz="1950" b="1">
                <a:solidFill>
                  <a:srgbClr val="FFFFFF"/>
                </a:solidFill>
                <a:latin typeface="Arial"/>
                <a:ea typeface="Arial"/>
                <a:cs typeface="Arial"/>
              </a:rPr>
              <a:t>Shamle Thilaksiri · 35512075</a:t>
            </a:r>
          </a:p>
        </p:txBody>
      </p:sp>
      <p:sp>
        <p:nvSpPr>
          <p:cNvPr id="8" name="wthi0003@student.monash.edu">
            <a:extLst xmlns:a="http://schemas.openxmlformats.org/drawingml/2006/main">
              <a:ext uri="{FF2B5EF4-FFF2-40B4-BE49-F238E27FC236}">
                <a16:creationId xmlns:a16="http://schemas.microsoft.com/office/drawing/2014/main" id="{AFFDDB5F-8771-44FF-A0F7-A4BB1E18ECE1}"/>
              </a:ext>
            </a:extLst>
          </p:cNvPr>
          <p:cNvSpPr>
            <a:spLocks xmlns:a="http://schemas.openxmlformats.org/drawingml/2006/main" noGrp="1"/>
          </p:cNvSpPr>
          <p:nvPr/>
        </p:nvSpPr>
        <p:spPr>
          <a:xfrm xmlns:a="http://schemas.openxmlformats.org/drawingml/2006/main">
            <a:off x="609600" y="5553075"/>
            <a:ext cx="10858500" cy="297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C8D9E3"/>
                </a:solidFill>
                <a:latin typeface="Arial"/>
                <a:ea typeface="Arial"/>
                <a:cs typeface="Arial"/>
              </a:defRPr>
            </a:defPPr>
          </a:lstStyle>
          <a:p xmlns:a="http://schemas.openxmlformats.org/drawingml/2006/main">
            <a:pPr algn="l">
              <a:defRPr sz="1650" b="0">
                <a:solidFill>
                  <a:srgbClr val="C8D9E3"/>
                </a:solidFill>
                <a:latin typeface="Arial"/>
                <a:ea typeface="Arial"/>
                <a:cs typeface="Arial"/>
              </a:defRPr>
            </a:pPr>
            <a:r>
              <a:rPr sz="1650" b="0">
                <a:solidFill>
                  <a:srgbClr val="C8D9E3"/>
                </a:solidFill>
                <a:latin typeface="Arial"/>
                <a:ea typeface="Arial"/>
                <a:cs typeface="Arial"/>
              </a:rPr>
              <a:t>wthi0003@student.monash.edu</a:t>
            </a:r>
          </a:p>
        </p:txBody>
      </p:sp>
      <p:sp>
        <p:nvSpPr>
          <p:cNvPr id="9" name="8 October 2026  •  Focused answers first; full implemen">
            <a:extLst xmlns:a="http://schemas.openxmlformats.org/drawingml/2006/main">
              <a:ext uri="{FF2B5EF4-FFF2-40B4-BE49-F238E27FC236}">
                <a16:creationId xmlns:a16="http://schemas.microsoft.com/office/drawing/2014/main" id="{121A7F85-EE0E-4203-B485-18A53AA806A3}"/>
              </a:ext>
            </a:extLst>
          </p:cNvPr>
          <p:cNvSpPr>
            <a:spLocks xmlns:a="http://schemas.openxmlformats.org/drawingml/2006/main" noGrp="1"/>
          </p:cNvSpPr>
          <p:nvPr/>
        </p:nvSpPr>
        <p:spPr>
          <a:xfrm xmlns:a="http://schemas.openxmlformats.org/drawingml/2006/main">
            <a:off x="609600" y="6391275"/>
            <a:ext cx="10858500" cy="2152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C8D9E3"/>
                </a:solidFill>
                <a:latin typeface="Arial"/>
                <a:ea typeface="Arial"/>
                <a:cs typeface="Arial"/>
              </a:defRPr>
            </a:defPPr>
          </a:lstStyle>
          <a:p xmlns:a="http://schemas.openxmlformats.org/drawingml/2006/main">
            <a:pPr algn="l">
              <a:defRPr sz="1125" b="0">
                <a:solidFill>
                  <a:srgbClr val="C8D9E3"/>
                </a:solidFill>
                <a:latin typeface="Arial"/>
                <a:ea typeface="Arial"/>
                <a:cs typeface="Arial"/>
              </a:defRPr>
            </a:pPr>
            <a:r>
              <a:rPr sz="1125" b="0">
                <a:solidFill>
                  <a:srgbClr val="C8D9E3"/>
                </a:solidFill>
                <a:latin typeface="Arial"/>
                <a:ea typeface="Arial"/>
                <a:cs typeface="Arial"/>
              </a:rPr>
              <a:t>8 October 2026 • Focused answers first; full implementation and evidence in the appendix</a:t>
            </a:r>
          </a:p>
        </p:txBody>
      </p:sp>
    </p:spTree>
    <p:extLst>
      <p:ext uri="{BB962C8B-B14F-4D97-AF65-F5344CB8AC3E}">
        <p14:creationId xmlns:p14="http://schemas.microsoft.com/office/powerpoint/2010/main" val="849548347"/>
      </p:ext>
    </p:extLst>
  </p:cSld>
</p:sld>
</file>

<file path=ppt/slides/slide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6E34FD20-F875-43AB-92A0-83BE54719B41}"/>
              </a:ext>
            </a:extLst>
          </p:cNvPr>
          <p:cNvCxnSpPr>
            <a:stCxn xmlns:a="http://schemas.openxmlformats.org/drawingml/2006/main" id="8" idx="3"/>
            <a:endCxn xmlns:a="http://schemas.openxmlformats.org/drawingml/2006/main" id="9" idx="1"/>
          </p:cNvCxnSpPr>
          <p:nvPr/>
        </p:nvCxnSpPr>
        <p:spPr>
          <a:xfrm xmlns:a="http://schemas.openxmlformats.org/drawingml/2006/main">
            <a:off x="9258300" y="2962275"/>
            <a:ext cx="647700" cy="0"/>
          </a:xfrm>
          <a:prstGeom xmlns:a="http://schemas.openxmlformats.org/drawingml/2006/main" prst="straightConnector1">
            <a:avLst/>
          </a:prstGeom>
          <a:ln xmlns:a="http://schemas.openxmlformats.org/drawingml/2006/main" w="19050">
            <a:solidFill>
              <a:srgbClr val="007B83"/>
            </a:solidFill>
            <a:prstDash val="solid"/>
            <a:tailEnd type="arrow" w="med" len="med"/>
          </a:ln>
        </p:spPr>
      </p:cxnSp>
      <p:cxnSp>
        <p:nvCxnSpPr>
          <p:cNvPr id="12" name="">
            <a:extLst xmlns:a="http://schemas.openxmlformats.org/drawingml/2006/main">
              <a:ext uri="{FF2B5EF4-FFF2-40B4-BE49-F238E27FC236}">
                <a16:creationId xmlns:a16="http://schemas.microsoft.com/office/drawing/2014/main" id="{D9212D36-14B1-4C9A-9836-C7FCDF8F551C}"/>
              </a:ext>
            </a:extLst>
          </p:cNvPr>
          <p:cNvCxnSpPr>
            <a:stCxn xmlns:a="http://schemas.openxmlformats.org/drawingml/2006/main" id="7" idx="3"/>
            <a:endCxn xmlns:a="http://schemas.openxmlformats.org/drawingml/2006/main" id="8" idx="1"/>
          </p:cNvCxnSpPr>
          <p:nvPr/>
        </p:nvCxnSpPr>
        <p:spPr>
          <a:xfrm xmlns:a="http://schemas.openxmlformats.org/drawingml/2006/main">
            <a:off x="6934200" y="2962275"/>
            <a:ext cx="647700" cy="0"/>
          </a:xfrm>
          <a:prstGeom xmlns:a="http://schemas.openxmlformats.org/drawingml/2006/main" prst="straightConnector1">
            <a:avLst/>
          </a:prstGeom>
          <a:ln xmlns:a="http://schemas.openxmlformats.org/drawingml/2006/main" w="19050">
            <a:solidFill>
              <a:srgbClr val="007B83"/>
            </a:solidFill>
            <a:prstDash val="solid"/>
            <a:tailEnd type="arrow" w="med" len="med"/>
          </a:ln>
        </p:spPr>
      </p:cxnSp>
      <p:cxnSp>
        <p:nvCxnSpPr>
          <p:cNvPr id="11" name="">
            <a:extLst xmlns:a="http://schemas.openxmlformats.org/drawingml/2006/main">
              <a:ext uri="{FF2B5EF4-FFF2-40B4-BE49-F238E27FC236}">
                <a16:creationId xmlns:a16="http://schemas.microsoft.com/office/drawing/2014/main" id="{6ECA715F-BC2E-4F7F-9E6E-5D05C1CF5CC1}"/>
              </a:ext>
            </a:extLst>
          </p:cNvPr>
          <p:cNvCxnSpPr>
            <a:stCxn xmlns:a="http://schemas.openxmlformats.org/drawingml/2006/main" id="6" idx="3"/>
            <a:endCxn xmlns:a="http://schemas.openxmlformats.org/drawingml/2006/main" id="7" idx="1"/>
          </p:cNvCxnSpPr>
          <p:nvPr/>
        </p:nvCxnSpPr>
        <p:spPr>
          <a:xfrm xmlns:a="http://schemas.openxmlformats.org/drawingml/2006/main">
            <a:off x="4610100" y="2962275"/>
            <a:ext cx="647700" cy="0"/>
          </a:xfrm>
          <a:prstGeom xmlns:a="http://schemas.openxmlformats.org/drawingml/2006/main" prst="straightConnector1">
            <a:avLst/>
          </a:prstGeom>
          <a:ln xmlns:a="http://schemas.openxmlformats.org/drawingml/2006/main" w="19050">
            <a:solidFill>
              <a:srgbClr val="007B83"/>
            </a:solidFill>
            <a:prstDash val="solid"/>
            <a:tailEnd type="arrow" w="med" len="med"/>
          </a:ln>
        </p:spPr>
      </p:cxnSp>
      <p:cxnSp>
        <p:nvCxnSpPr>
          <p:cNvPr id="10" name="">
            <a:extLst xmlns:a="http://schemas.openxmlformats.org/drawingml/2006/main">
              <a:ext uri="{FF2B5EF4-FFF2-40B4-BE49-F238E27FC236}">
                <a16:creationId xmlns:a16="http://schemas.microsoft.com/office/drawing/2014/main" id="{1C1C02BD-ED18-4CAB-92CF-D7D8A7768E51}"/>
              </a:ext>
            </a:extLst>
          </p:cNvPr>
          <p:cNvCxnSpPr>
            <a:stCxn xmlns:a="http://schemas.openxmlformats.org/drawingml/2006/main" id="5" idx="3"/>
            <a:endCxn xmlns:a="http://schemas.openxmlformats.org/drawingml/2006/main" id="6" idx="1"/>
          </p:cNvCxnSpPr>
          <p:nvPr/>
        </p:nvCxnSpPr>
        <p:spPr>
          <a:xfrm xmlns:a="http://schemas.openxmlformats.org/drawingml/2006/main">
            <a:off x="2286000" y="2962275"/>
            <a:ext cx="647700" cy="0"/>
          </a:xfrm>
          <a:prstGeom xmlns:a="http://schemas.openxmlformats.org/drawingml/2006/main" prst="straightConnector1">
            <a:avLst/>
          </a:prstGeom>
          <a:ln xmlns:a="http://schemas.openxmlformats.org/drawingml/2006/main" w="19050">
            <a:solidFill>
              <a:srgbClr val="007B83"/>
            </a:solidFill>
            <a:prstDash val="solid"/>
            <a:tailEnd type="arrow" w="med" len="med"/>
          </a:ln>
        </p:spPr>
      </p:cxnSp>
      <p:sp>
        <p:nvSpPr>
          <p:cNvPr id="25" name="Task 1(a)">
            <a:extLst xmlns:a="http://schemas.openxmlformats.org/drawingml/2006/main">
              <a:ext uri="{FF2B5EF4-FFF2-40B4-BE49-F238E27FC236}">
                <a16:creationId xmlns:a16="http://schemas.microsoft.com/office/drawing/2014/main" id="{6AABFD80-795A-4F36-970F-11688A71785F}"/>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Task 1(a)</a:t>
            </a:r>
          </a:p>
        </p:txBody>
      </p:sp>
      <p:sp>
        <p:nvSpPr>
          <p:cNvPr id="2" name="Host–GPU image data flow">
            <a:extLst xmlns:a="http://schemas.openxmlformats.org/drawingml/2006/main">
              <a:ext uri="{FF2B5EF4-FFF2-40B4-BE49-F238E27FC236}">
                <a16:creationId xmlns:a16="http://schemas.microsoft.com/office/drawing/2014/main" id="{6DE77A67-2566-45DD-9620-13ABE5C7937D}"/>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Host–GPU image data flow</a:t>
            </a:r>
          </a:p>
        </p:txBody>
      </p:sp>
      <p:sp>
        <p:nvSpPr>
          <p:cNvPr id="3" name="CPU: load/decode, allocate, launch, save">
            <a:extLst xmlns:a="http://schemas.openxmlformats.org/drawingml/2006/main">
              <a:ext uri="{FF2B5EF4-FFF2-40B4-BE49-F238E27FC236}">
                <a16:creationId xmlns:a16="http://schemas.microsoft.com/office/drawing/2014/main" id="{22334899-985C-46F2-9E6F-5FA27CFF444A}"/>
              </a:ext>
            </a:extLst>
          </p:cNvPr>
          <p:cNvSpPr>
            <a:spLocks xmlns:a="http://schemas.openxmlformats.org/drawingml/2006/main" noGrp="1"/>
          </p:cNvSpPr>
          <p:nvPr/>
        </p:nvSpPr>
        <p:spPr>
          <a:xfrm xmlns:a="http://schemas.openxmlformats.org/drawingml/2006/main">
            <a:off x="609600" y="1524000"/>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42D45"/>
                </a:solidFill>
                <a:latin typeface="Arial"/>
                <a:ea typeface="Arial"/>
                <a:cs typeface="Arial"/>
              </a:defRPr>
            </a:defPPr>
          </a:lstStyle>
          <a:p xmlns:a="http://schemas.openxmlformats.org/drawingml/2006/main">
            <a:pPr algn="l">
              <a:defRPr sz="1875" b="1">
                <a:solidFill>
                  <a:srgbClr val="142D45"/>
                </a:solidFill>
                <a:latin typeface="Arial"/>
                <a:ea typeface="Arial"/>
                <a:cs typeface="Arial"/>
              </a:defRPr>
            </a:pPr>
            <a:r>
              <a:rPr sz="1875" b="1">
                <a:solidFill>
                  <a:srgbClr val="142D45"/>
                </a:solidFill>
                <a:latin typeface="Arial"/>
                <a:ea typeface="Arial"/>
                <a:cs typeface="Arial"/>
              </a:rPr>
              <a:t>CPU: load/decode, allocate, launch, save</a:t>
            </a:r>
          </a:p>
        </p:txBody>
      </p:sp>
      <p:sp>
        <p:nvSpPr>
          <p:cNvPr id="4" name="GPU: read input, rotate, write output">
            <a:extLst xmlns:a="http://schemas.openxmlformats.org/drawingml/2006/main">
              <a:ext uri="{FF2B5EF4-FFF2-40B4-BE49-F238E27FC236}">
                <a16:creationId xmlns:a16="http://schemas.microsoft.com/office/drawing/2014/main" id="{7E9678AB-7F53-44BA-B947-50BFDB7DB5F9}"/>
              </a:ext>
            </a:extLst>
          </p:cNvPr>
          <p:cNvSpPr>
            <a:spLocks xmlns:a="http://schemas.openxmlformats.org/drawingml/2006/main" noGrp="1"/>
          </p:cNvSpPr>
          <p:nvPr/>
        </p:nvSpPr>
        <p:spPr>
          <a:xfrm xmlns:a="http://schemas.openxmlformats.org/drawingml/2006/main">
            <a:off x="6324600" y="1524000"/>
            <a:ext cx="5257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42D45"/>
                </a:solidFill>
                <a:latin typeface="Arial"/>
                <a:ea typeface="Arial"/>
                <a:cs typeface="Arial"/>
              </a:defRPr>
            </a:defPPr>
          </a:lstStyle>
          <a:p xmlns:a="http://schemas.openxmlformats.org/drawingml/2006/main">
            <a:pPr algn="l">
              <a:defRPr sz="1875" b="1">
                <a:solidFill>
                  <a:srgbClr val="142D45"/>
                </a:solidFill>
                <a:latin typeface="Arial"/>
                <a:ea typeface="Arial"/>
                <a:cs typeface="Arial"/>
              </a:defRPr>
            </a:pPr>
            <a:r>
              <a:rPr sz="1875" b="1">
                <a:solidFill>
                  <a:srgbClr val="142D45"/>
                </a:solidFill>
                <a:latin typeface="Arial"/>
                <a:ea typeface="Arial"/>
                <a:cs typeface="Arial"/>
              </a:rPr>
              <a:t>GPU: read input, rotate, write output</a:t>
            </a:r>
          </a:p>
        </p:txBody>
      </p:sp>
      <p:sp>
        <p:nvSpPr>
          <p:cNvPr id="5" name="">
            <a:extLst xmlns:a="http://schemas.openxmlformats.org/drawingml/2006/main">
              <a:ext uri="{FF2B5EF4-FFF2-40B4-BE49-F238E27FC236}">
                <a16:creationId xmlns:a16="http://schemas.microsoft.com/office/drawing/2014/main" id="{2A636728-2F92-44AE-93C4-BAAEF6E38485}"/>
              </a:ext>
            </a:extLst>
          </p:cNvPr>
          <p:cNvSpPr>
            <a:spLocks xmlns:a="http://schemas.openxmlformats.org/drawingml/2006/main" noGrp="1"/>
          </p:cNvSpPr>
          <p:nvPr/>
        </p:nvSpPr>
        <p:spPr>
          <a:xfrm xmlns:a="http://schemas.openxmlformats.org/drawingml/2006/main">
            <a:off x="609600" y="2286000"/>
            <a:ext cx="1676400" cy="135255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Storage</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encoded</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image</a:t>
            </a:r>
          </a:p>
        </p:txBody>
      </p:sp>
      <p:sp>
        <p:nvSpPr>
          <p:cNvPr id="6" name="">
            <a:extLst xmlns:a="http://schemas.openxmlformats.org/drawingml/2006/main">
              <a:ext uri="{FF2B5EF4-FFF2-40B4-BE49-F238E27FC236}">
                <a16:creationId xmlns:a16="http://schemas.microsoft.com/office/drawing/2014/main" id="{C1AF0F42-5B7A-437B-B7A7-E3A9D1604D67}"/>
              </a:ext>
            </a:extLst>
          </p:cNvPr>
          <p:cNvSpPr>
            <a:spLocks xmlns:a="http://schemas.openxmlformats.org/drawingml/2006/main" noGrp="1"/>
          </p:cNvSpPr>
          <p:nvPr/>
        </p:nvSpPr>
        <p:spPr>
          <a:xfrm xmlns:a="http://schemas.openxmlformats.org/drawingml/2006/main">
            <a:off x="2933700" y="2286000"/>
            <a:ext cx="1676400" cy="135255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Host RAM</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DDR example</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input pixels</a:t>
            </a:r>
          </a:p>
        </p:txBody>
      </p:sp>
      <p:sp>
        <p:nvSpPr>
          <p:cNvPr id="7" name="">
            <a:extLst xmlns:a="http://schemas.openxmlformats.org/drawingml/2006/main">
              <a:ext uri="{FF2B5EF4-FFF2-40B4-BE49-F238E27FC236}">
                <a16:creationId xmlns:a16="http://schemas.microsoft.com/office/drawing/2014/main" id="{424D1B0E-4C13-4FBC-974C-472D88D1F072}"/>
              </a:ext>
            </a:extLst>
          </p:cNvPr>
          <p:cNvSpPr>
            <a:spLocks xmlns:a="http://schemas.openxmlformats.org/drawingml/2006/main" noGrp="1"/>
          </p:cNvSpPr>
          <p:nvPr/>
        </p:nvSpPr>
        <p:spPr>
          <a:xfrm xmlns:a="http://schemas.openxmlformats.org/drawingml/2006/main">
            <a:off x="5257800" y="2286000"/>
            <a:ext cx="1676400" cy="135255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GPU memory</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GDDR / HBM</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input buffer</a:t>
            </a:r>
          </a:p>
        </p:txBody>
      </p:sp>
      <p:sp>
        <p:nvSpPr>
          <p:cNvPr id="8" name="">
            <a:extLst xmlns:a="http://schemas.openxmlformats.org/drawingml/2006/main">
              <a:ext uri="{FF2B5EF4-FFF2-40B4-BE49-F238E27FC236}">
                <a16:creationId xmlns:a16="http://schemas.microsoft.com/office/drawing/2014/main" id="{C1A9A067-A7ED-43BC-B0E2-FC38D73D4592}"/>
              </a:ext>
            </a:extLst>
          </p:cNvPr>
          <p:cNvSpPr>
            <a:spLocks xmlns:a="http://schemas.openxmlformats.org/drawingml/2006/main" noGrp="1"/>
          </p:cNvSpPr>
          <p:nvPr/>
        </p:nvSpPr>
        <p:spPr>
          <a:xfrm xmlns:a="http://schemas.openxmlformats.org/drawingml/2006/main">
            <a:off x="7581900" y="2286000"/>
            <a:ext cx="1676400" cy="135255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GPU memory</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GDDR / HBM</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output buffer</a:t>
            </a:r>
          </a:p>
        </p:txBody>
      </p:sp>
      <p:sp>
        <p:nvSpPr>
          <p:cNvPr id="9" name="">
            <a:extLst xmlns:a="http://schemas.openxmlformats.org/drawingml/2006/main">
              <a:ext uri="{FF2B5EF4-FFF2-40B4-BE49-F238E27FC236}">
                <a16:creationId xmlns:a16="http://schemas.microsoft.com/office/drawing/2014/main" id="{D7911B20-2298-457A-A55C-6A162AD7227D}"/>
              </a:ext>
            </a:extLst>
          </p:cNvPr>
          <p:cNvSpPr>
            <a:spLocks xmlns:a="http://schemas.openxmlformats.org/drawingml/2006/main" noGrp="1"/>
          </p:cNvSpPr>
          <p:nvPr/>
        </p:nvSpPr>
        <p:spPr>
          <a:xfrm xmlns:a="http://schemas.openxmlformats.org/drawingml/2006/main">
            <a:off x="9906000" y="2286000"/>
            <a:ext cx="1676400" cy="135255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Host RAM</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output pixels</a:t>
            </a:r>
          </a:p>
        </p:txBody>
      </p:sp>
      <p:sp>
        <p:nvSpPr>
          <p:cNvPr id="14" name="CPU&#10;decode">
            <a:extLst xmlns:a="http://schemas.openxmlformats.org/drawingml/2006/main">
              <a:ext uri="{FF2B5EF4-FFF2-40B4-BE49-F238E27FC236}">
                <a16:creationId xmlns:a16="http://schemas.microsoft.com/office/drawing/2014/main" id="{8E28503E-0EB8-4001-8243-00B72F78BC08}"/>
              </a:ext>
            </a:extLst>
          </p:cNvPr>
          <p:cNvSpPr>
            <a:spLocks xmlns:a="http://schemas.openxmlformats.org/drawingml/2006/main" noGrp="1"/>
          </p:cNvSpPr>
          <p:nvPr/>
        </p:nvSpPr>
        <p:spPr>
          <a:xfrm xmlns:a="http://schemas.openxmlformats.org/drawingml/2006/main">
            <a:off x="2133600" y="1828800"/>
            <a:ext cx="990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0">
                <a:solidFill>
                  <a:srgbClr val="007B83"/>
                </a:solidFill>
                <a:latin typeface="Arial"/>
                <a:ea typeface="Arial"/>
                <a:cs typeface="Arial"/>
              </a:defRPr>
            </a:defPPr>
          </a:lstStyle>
          <a:p xmlns:a="http://schemas.openxmlformats.org/drawingml/2006/main">
            <a:pPr algn="ctr">
              <a:defRPr sz="1350" b="0">
                <a:solidFill>
                  <a:srgbClr val="007B83"/>
                </a:solidFill>
                <a:latin typeface="Arial"/>
                <a:ea typeface="Arial"/>
                <a:cs typeface="Arial"/>
              </a:defRPr>
            </a:pPr>
            <a:r>
              <a:rPr sz="1350" b="0">
                <a:solidFill>
                  <a:srgbClr val="007B83"/>
                </a:solidFill>
                <a:latin typeface="Arial"/>
                <a:ea typeface="Arial"/>
                <a:cs typeface="Arial"/>
              </a:rPr>
              <a:t>CPU</a:t>
            </a:r>
          </a:p>
          <a:p xmlns:a="http://schemas.openxmlformats.org/drawingml/2006/main">
            <a:pPr algn="ctr">
              <a:defRPr sz="1350" b="0">
                <a:solidFill>
                  <a:srgbClr val="007B83"/>
                </a:solidFill>
                <a:latin typeface="Arial"/>
                <a:ea typeface="Arial"/>
                <a:cs typeface="Arial"/>
              </a:defRPr>
            </a:pPr>
            <a:r>
              <a:rPr sz="1350" b="0">
                <a:solidFill>
                  <a:srgbClr val="007B83"/>
                </a:solidFill>
                <a:latin typeface="Arial"/>
                <a:ea typeface="Arial"/>
                <a:cs typeface="Arial"/>
              </a:rPr>
              <a:t>decode</a:t>
            </a:r>
          </a:p>
        </p:txBody>
      </p:sp>
      <p:sp>
        <p:nvSpPr>
          <p:cNvPr id="15" name="H2D&#10;PCIe">
            <a:extLst xmlns:a="http://schemas.openxmlformats.org/drawingml/2006/main">
              <a:ext uri="{FF2B5EF4-FFF2-40B4-BE49-F238E27FC236}">
                <a16:creationId xmlns:a16="http://schemas.microsoft.com/office/drawing/2014/main" id="{9AF0393B-2F3B-4CFA-82C4-C09EFEBB2240}"/>
              </a:ext>
            </a:extLst>
          </p:cNvPr>
          <p:cNvSpPr>
            <a:spLocks xmlns:a="http://schemas.openxmlformats.org/drawingml/2006/main" noGrp="1"/>
          </p:cNvSpPr>
          <p:nvPr/>
        </p:nvSpPr>
        <p:spPr>
          <a:xfrm xmlns:a="http://schemas.openxmlformats.org/drawingml/2006/main">
            <a:off x="4457700" y="1828800"/>
            <a:ext cx="990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0">
                <a:solidFill>
                  <a:srgbClr val="007B83"/>
                </a:solidFill>
                <a:latin typeface="Arial"/>
                <a:ea typeface="Arial"/>
                <a:cs typeface="Arial"/>
              </a:defRPr>
            </a:defPPr>
          </a:lstStyle>
          <a:p xmlns:a="http://schemas.openxmlformats.org/drawingml/2006/main">
            <a:pPr algn="ctr">
              <a:defRPr sz="1350" b="0">
                <a:solidFill>
                  <a:srgbClr val="007B83"/>
                </a:solidFill>
                <a:latin typeface="Arial"/>
                <a:ea typeface="Arial"/>
                <a:cs typeface="Arial"/>
              </a:defRPr>
            </a:pPr>
            <a:r>
              <a:rPr sz="1350" b="0">
                <a:solidFill>
                  <a:srgbClr val="007B83"/>
                </a:solidFill>
                <a:latin typeface="Arial"/>
                <a:ea typeface="Arial"/>
                <a:cs typeface="Arial"/>
              </a:rPr>
              <a:t>H2D</a:t>
            </a:r>
          </a:p>
          <a:p xmlns:a="http://schemas.openxmlformats.org/drawingml/2006/main">
            <a:pPr algn="ctr">
              <a:defRPr sz="1350" b="0">
                <a:solidFill>
                  <a:srgbClr val="007B83"/>
                </a:solidFill>
                <a:latin typeface="Arial"/>
                <a:ea typeface="Arial"/>
                <a:cs typeface="Arial"/>
              </a:defRPr>
            </a:pPr>
            <a:r>
              <a:rPr sz="1350" b="0">
                <a:solidFill>
                  <a:srgbClr val="007B83"/>
                </a:solidFill>
                <a:latin typeface="Arial"/>
                <a:ea typeface="Arial"/>
                <a:cs typeface="Arial"/>
              </a:rPr>
              <a:t>PCIe</a:t>
            </a:r>
          </a:p>
        </p:txBody>
      </p:sp>
      <p:sp>
        <p:nvSpPr>
          <p:cNvPr id="16" name="CUDA&#10;kernel">
            <a:extLst xmlns:a="http://schemas.openxmlformats.org/drawingml/2006/main">
              <a:ext uri="{FF2B5EF4-FFF2-40B4-BE49-F238E27FC236}">
                <a16:creationId xmlns:a16="http://schemas.microsoft.com/office/drawing/2014/main" id="{BA270FAB-08FA-4ADA-9796-20ABCC0AA122}"/>
              </a:ext>
            </a:extLst>
          </p:cNvPr>
          <p:cNvSpPr>
            <a:spLocks xmlns:a="http://schemas.openxmlformats.org/drawingml/2006/main" noGrp="1"/>
          </p:cNvSpPr>
          <p:nvPr/>
        </p:nvSpPr>
        <p:spPr>
          <a:xfrm xmlns:a="http://schemas.openxmlformats.org/drawingml/2006/main">
            <a:off x="6781800" y="1828800"/>
            <a:ext cx="990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0">
                <a:solidFill>
                  <a:srgbClr val="007B83"/>
                </a:solidFill>
                <a:latin typeface="Arial"/>
                <a:ea typeface="Arial"/>
                <a:cs typeface="Arial"/>
              </a:defRPr>
            </a:defPPr>
          </a:lstStyle>
          <a:p xmlns:a="http://schemas.openxmlformats.org/drawingml/2006/main">
            <a:pPr algn="ctr">
              <a:defRPr sz="1350" b="0">
                <a:solidFill>
                  <a:srgbClr val="007B83"/>
                </a:solidFill>
                <a:latin typeface="Arial"/>
                <a:ea typeface="Arial"/>
                <a:cs typeface="Arial"/>
              </a:defRPr>
            </a:pPr>
            <a:r>
              <a:rPr sz="1350" b="0">
                <a:solidFill>
                  <a:srgbClr val="007B83"/>
                </a:solidFill>
                <a:latin typeface="Arial"/>
                <a:ea typeface="Arial"/>
                <a:cs typeface="Arial"/>
              </a:rPr>
              <a:t>CUDA</a:t>
            </a:r>
          </a:p>
          <a:p xmlns:a="http://schemas.openxmlformats.org/drawingml/2006/main">
            <a:pPr algn="ctr">
              <a:defRPr sz="1350" b="0">
                <a:solidFill>
                  <a:srgbClr val="007B83"/>
                </a:solidFill>
                <a:latin typeface="Arial"/>
                <a:ea typeface="Arial"/>
                <a:cs typeface="Arial"/>
              </a:defRPr>
            </a:pPr>
            <a:r>
              <a:rPr sz="1350" b="0">
                <a:solidFill>
                  <a:srgbClr val="007B83"/>
                </a:solidFill>
                <a:latin typeface="Arial"/>
                <a:ea typeface="Arial"/>
                <a:cs typeface="Arial"/>
              </a:rPr>
              <a:t>kernel</a:t>
            </a:r>
          </a:p>
        </p:txBody>
      </p:sp>
      <p:sp>
        <p:nvSpPr>
          <p:cNvPr id="17" name="D2H&#10;PCIe">
            <a:extLst xmlns:a="http://schemas.openxmlformats.org/drawingml/2006/main">
              <a:ext uri="{FF2B5EF4-FFF2-40B4-BE49-F238E27FC236}">
                <a16:creationId xmlns:a16="http://schemas.microsoft.com/office/drawing/2014/main" id="{3EDCA7B8-1563-46C2-B038-6A64FD179E76}"/>
              </a:ext>
            </a:extLst>
          </p:cNvPr>
          <p:cNvSpPr>
            <a:spLocks xmlns:a="http://schemas.openxmlformats.org/drawingml/2006/main" noGrp="1"/>
          </p:cNvSpPr>
          <p:nvPr/>
        </p:nvSpPr>
        <p:spPr>
          <a:xfrm xmlns:a="http://schemas.openxmlformats.org/drawingml/2006/main">
            <a:off x="9105900" y="1828800"/>
            <a:ext cx="990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0">
                <a:solidFill>
                  <a:srgbClr val="007B83"/>
                </a:solidFill>
                <a:latin typeface="Arial"/>
                <a:ea typeface="Arial"/>
                <a:cs typeface="Arial"/>
              </a:defRPr>
            </a:defPPr>
          </a:lstStyle>
          <a:p xmlns:a="http://schemas.openxmlformats.org/drawingml/2006/main">
            <a:pPr algn="ctr">
              <a:defRPr sz="1350" b="0">
                <a:solidFill>
                  <a:srgbClr val="007B83"/>
                </a:solidFill>
                <a:latin typeface="Arial"/>
                <a:ea typeface="Arial"/>
                <a:cs typeface="Arial"/>
              </a:defRPr>
            </a:pPr>
            <a:r>
              <a:rPr sz="1350" b="0">
                <a:solidFill>
                  <a:srgbClr val="007B83"/>
                </a:solidFill>
                <a:latin typeface="Arial"/>
                <a:ea typeface="Arial"/>
                <a:cs typeface="Arial"/>
              </a:rPr>
              <a:t>D2H</a:t>
            </a:r>
          </a:p>
          <a:p xmlns:a="http://schemas.openxmlformats.org/drawingml/2006/main">
            <a:pPr algn="ctr">
              <a:defRPr sz="1350" b="0">
                <a:solidFill>
                  <a:srgbClr val="007B83"/>
                </a:solidFill>
                <a:latin typeface="Arial"/>
                <a:ea typeface="Arial"/>
                <a:cs typeface="Arial"/>
              </a:defRPr>
            </a:pPr>
            <a:r>
              <a:rPr sz="1350" b="0">
                <a:solidFill>
                  <a:srgbClr val="007B83"/>
                </a:solidFill>
                <a:latin typeface="Arial"/>
                <a:ea typeface="Arial"/>
                <a:cs typeface="Arial"/>
              </a:rPr>
              <a:t>PCIe</a:t>
            </a:r>
          </a:p>
        </p:txBody>
      </p:sp>
      <p:sp>
        <p:nvSpPr>
          <p:cNvPr id="18" name="H2D: host → device. D2H: device → host. Separate buffer">
            <a:extLst xmlns:a="http://schemas.openxmlformats.org/drawingml/2006/main">
              <a:ext uri="{FF2B5EF4-FFF2-40B4-BE49-F238E27FC236}">
                <a16:creationId xmlns:a16="http://schemas.microsoft.com/office/drawing/2014/main" id="{998E6209-352B-4B6C-BF79-292136DB57A0}"/>
              </a:ext>
            </a:extLst>
          </p:cNvPr>
          <p:cNvSpPr>
            <a:spLocks xmlns:a="http://schemas.openxmlformats.org/drawingml/2006/main" noGrp="1"/>
          </p:cNvSpPr>
          <p:nvPr/>
        </p:nvSpPr>
        <p:spPr>
          <a:xfrm xmlns:a="http://schemas.openxmlformats.org/drawingml/2006/main">
            <a:off x="609600" y="4114800"/>
            <a:ext cx="10972800" cy="6050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42D45"/>
                </a:solidFill>
                <a:latin typeface="Arial"/>
                <a:ea typeface="Arial"/>
                <a:cs typeface="Arial"/>
              </a:defRPr>
            </a:defPPr>
          </a:lstStyle>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H2D: host → device. D2H: device → host. Separate buffers; DMA (direct memory access) engines transfer</a:t>
            </a:r>
          </a:p>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bytes over PCIe.</a:t>
            </a:r>
          </a:p>
        </p:txBody>
      </p:sp>
      <p:sp>
        <p:nvSpPr>
          <p:cNvPr id="19" name="GPU memory bandwidth differs from PCIe bandwidth. Pinne">
            <a:extLst xmlns:a="http://schemas.openxmlformats.org/drawingml/2006/main">
              <a:ext uri="{FF2B5EF4-FFF2-40B4-BE49-F238E27FC236}">
                <a16:creationId xmlns:a16="http://schemas.microsoft.com/office/drawing/2014/main" id="{25225F79-2474-4307-9FB0-3EBCED477A50}"/>
              </a:ext>
            </a:extLst>
          </p:cNvPr>
          <p:cNvSpPr>
            <a:spLocks xmlns:a="http://schemas.openxmlformats.org/drawingml/2006/main" noGrp="1"/>
          </p:cNvSpPr>
          <p:nvPr/>
        </p:nvSpPr>
        <p:spPr>
          <a:xfrm xmlns:a="http://schemas.openxmlformats.org/drawingml/2006/main">
            <a:off x="609600" y="4872228"/>
            <a:ext cx="10972800" cy="6050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42D45"/>
                </a:solidFill>
                <a:latin typeface="Arial"/>
                <a:ea typeface="Arial"/>
                <a:cs typeface="Arial"/>
              </a:defRPr>
            </a:defPPr>
          </a:lstStyle>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GPU memory bandwidth differs from PCIe bandwidth. Pinned RAM supports DMA; pageable RAM may</a:t>
            </a:r>
          </a:p>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stage. Complete output before saving or reuse.</a:t>
            </a:r>
          </a:p>
        </p:txBody>
      </p:sp>
      <p:sp>
        <p:nvSpPr>
          <p:cNvPr id="20" name="">
            <a:extLst xmlns:a="http://schemas.openxmlformats.org/drawingml/2006/main">
              <a:ext uri="{FF2B5EF4-FFF2-40B4-BE49-F238E27FC236}">
                <a16:creationId xmlns:a16="http://schemas.microsoft.com/office/drawing/2014/main" id="{181F2985-117E-4442-8838-DA3DD7AF0C21}"/>
              </a:ext>
            </a:extLst>
          </p:cNvPr>
          <p:cNvSpPr>
            <a:spLocks xmlns:a="http://schemas.openxmlformats.org/drawingml/2006/main" noGrp="1"/>
          </p:cNvSpPr>
          <p:nvPr/>
        </p:nvSpPr>
        <p:spPr>
          <a:xfrm xmlns:a="http://schemas.openxmlformats.org/drawingml/2006/main">
            <a:off x="609600" y="5686425"/>
            <a:ext cx="10972800" cy="0"/>
          </a:xfrm>
          <a:prstGeom xmlns:a="http://schemas.openxmlformats.org/drawingml/2006/main" prst="line">
            <a:avLst/>
          </a:prstGeom>
          <a:noFill xmlns:a="http://schemas.openxmlformats.org/drawingml/2006/main"/>
          <a:ln xmlns:a="http://schemas.openxmlformats.org/drawingml/2006/main" w="19050">
            <a:solidFill>
              <a:srgbClr val="007B83"/>
            </a:solidFill>
            <a:prstDash val="solid"/>
          </a:ln>
        </p:spPr>
      </p:sp>
      <p:sp>
        <p:nvSpPr>
          <p:cNvPr id="21" name="The CPU orchestrates I/O and launches; the GPU rotates ">
            <a:extLst xmlns:a="http://schemas.openxmlformats.org/drawingml/2006/main">
              <a:ext uri="{FF2B5EF4-FFF2-40B4-BE49-F238E27FC236}">
                <a16:creationId xmlns:a16="http://schemas.microsoft.com/office/drawing/2014/main" id="{8938034B-5F8C-483C-8B79-B54EBCD401FB}"/>
              </a:ext>
            </a:extLst>
          </p:cNvPr>
          <p:cNvSpPr>
            <a:spLocks xmlns:a="http://schemas.openxmlformats.org/drawingml/2006/main" noGrp="1"/>
          </p:cNvSpPr>
          <p:nvPr/>
        </p:nvSpPr>
        <p:spPr>
          <a:xfrm xmlns:a="http://schemas.openxmlformats.org/drawingml/2006/main">
            <a:off x="609600" y="5819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42D45"/>
                </a:solidFill>
                <a:latin typeface="Arial"/>
                <a:ea typeface="Arial"/>
                <a:cs typeface="Arial"/>
              </a:defRPr>
            </a:defPPr>
          </a:lstStyle>
          <a:p xmlns:a="http://schemas.openxmlformats.org/drawingml/2006/main">
            <a:pPr algn="l">
              <a:defRPr sz="1650" b="1">
                <a:solidFill>
                  <a:srgbClr val="142D45"/>
                </a:solidFill>
                <a:latin typeface="Arial"/>
                <a:ea typeface="Arial"/>
                <a:cs typeface="Arial"/>
              </a:defRPr>
            </a:pPr>
            <a:r>
              <a:rPr sz="1650" b="1">
                <a:solidFill>
                  <a:srgbClr val="142D45"/>
                </a:solidFill>
                <a:latin typeface="Arial"/>
                <a:ea typeface="Arial"/>
                <a:cs typeface="Arial"/>
              </a:rPr>
              <a:t>The CPU orchestrates I/O and launches; the GPU rotates decoded pixels.</a:t>
            </a:r>
          </a:p>
        </p:txBody>
      </p:sp>
      <p:sp>
        <p:nvSpPr>
          <p:cNvPr id="22" name="">
            <a:extLst xmlns:a="http://schemas.openxmlformats.org/drawingml/2006/main">
              <a:ext uri="{FF2B5EF4-FFF2-40B4-BE49-F238E27FC236}">
                <a16:creationId xmlns:a16="http://schemas.microsoft.com/office/drawing/2014/main" id="{BD0DBBC1-92A8-4899-B339-E3B28385F0FE}"/>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23" name="Sources: [1] NVIDIA CUDA programming model; [2] NVIDIA ">
            <a:extLst xmlns:a="http://schemas.openxmlformats.org/drawingml/2006/main">
              <a:ext uri="{FF2B5EF4-FFF2-40B4-BE49-F238E27FC236}">
                <a16:creationId xmlns:a16="http://schemas.microsoft.com/office/drawing/2014/main" id="{06664CA0-0A24-4EB2-B0F9-718E794E1C92}"/>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[1] NVIDIA CUDA programming model; [2] NVIDIA CUDA Best Practices</a:t>
            </a:r>
          </a:p>
        </p:txBody>
      </p:sp>
      <p:sp>
        <p:nvSpPr>
          <p:cNvPr id="24" name="2 / 28">
            <a:extLst xmlns:a="http://schemas.openxmlformats.org/drawingml/2006/main">
              <a:ext uri="{FF2B5EF4-FFF2-40B4-BE49-F238E27FC236}">
                <a16:creationId xmlns:a16="http://schemas.microsoft.com/office/drawing/2014/main" id="{C961B198-96D4-44A0-8E29-8980DD46F981}"/>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2 / 28</a:t>
            </a:r>
          </a:p>
        </p:txBody>
      </p:sp>
    </p:spTree>
    <p:extLst>
      <p:ext uri="{BB962C8B-B14F-4D97-AF65-F5344CB8AC3E}">
        <p14:creationId xmlns:p14="http://schemas.microsoft.com/office/powerpoint/2010/main" val="1593249796"/>
      </p:ext>
    </p:extLst>
  </p:cSld>
</p:sld>
</file>

<file path=ppt/slides/slide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4A1F957B-4E30-4D49-A5B5-360CF31604A7}"/>
              </a:ext>
            </a:extLst>
          </p:cNvPr>
          <p:cNvCxnSpPr>
            <a:stCxn xmlns:a="http://schemas.openxmlformats.org/drawingml/2006/main" id="7" idx="2"/>
            <a:endCxn xmlns:a="http://schemas.openxmlformats.org/drawingml/2006/main" id="8" idx="0"/>
          </p:cNvCxnSpPr>
          <p:nvPr/>
        </p:nvCxnSpPr>
        <p:spPr>
          <a:xfrm xmlns:a="http://schemas.openxmlformats.org/drawingml/2006/main">
            <a:off x="10025063" y="2762250"/>
            <a:ext cx="0" cy="638175"/>
          </a:xfrm>
          <a:prstGeom xmlns:a="http://schemas.openxmlformats.org/drawingml/2006/main" prst="straightConnector1">
            <a:avLst/>
          </a:prstGeom>
          <a:ln xmlns:a="http://schemas.openxmlformats.org/drawingml/2006/main" w="19050">
            <a:solidFill>
              <a:srgbClr val="007B83"/>
            </a:solidFill>
            <a:prstDash val="solid"/>
            <a:tailEnd type="arrow" w="med" len="med"/>
          </a:ln>
        </p:spPr>
      </p:cxnSp>
      <p:sp>
        <p:nvSpPr>
          <p:cNvPr id="18" name="Task 1(b)">
            <a:extLst xmlns:a="http://schemas.openxmlformats.org/drawingml/2006/main">
              <a:ext uri="{FF2B5EF4-FFF2-40B4-BE49-F238E27FC236}">
                <a16:creationId xmlns:a16="http://schemas.microsoft.com/office/drawing/2014/main" id="{4317F968-C199-4DA1-A556-7F1C454EB432}"/>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Task 1(b)</a:t>
            </a:r>
          </a:p>
        </p:txBody>
      </p:sp>
      <p:sp>
        <p:nvSpPr>
          <p:cNvPr id="2" name="Rotation as independent output work">
            <a:extLst xmlns:a="http://schemas.openxmlformats.org/drawingml/2006/main">
              <a:ext uri="{FF2B5EF4-FFF2-40B4-BE49-F238E27FC236}">
                <a16:creationId xmlns:a16="http://schemas.microsoft.com/office/drawing/2014/main" id="{5EC1207B-BD31-4518-B4FA-A645FB151358}"/>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Rotation as independent output work</a:t>
            </a:r>
          </a:p>
        </p:txBody>
      </p:sp>
      <p:sp>
        <p:nvSpPr>
          <p:cNvPr id="3" name="Inverse mapping in y-down image coordinates">
            <a:extLst xmlns:a="http://schemas.openxmlformats.org/drawingml/2006/main">
              <a:ext uri="{FF2B5EF4-FFF2-40B4-BE49-F238E27FC236}">
                <a16:creationId xmlns:a16="http://schemas.microsoft.com/office/drawing/2014/main" id="{23C1246B-B46C-4E18-A53E-58114F10F3CA}"/>
              </a:ext>
            </a:extLst>
          </p:cNvPr>
          <p:cNvSpPr>
            <a:spLocks xmlns:a="http://schemas.openxmlformats.org/drawingml/2006/main" noGrp="1"/>
          </p:cNvSpPr>
          <p:nvPr/>
        </p:nvSpPr>
        <p:spPr>
          <a:xfrm xmlns:a="http://schemas.openxmlformats.org/drawingml/2006/main">
            <a:off x="609600" y="1514475"/>
            <a:ext cx="65722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Inverse mapping in y-down image coordinates</a:t>
            </a:r>
          </a:p>
        </p:txBody>
      </p:sp>
      <p:sp>
        <p:nvSpPr>
          <p:cNvPr id="4" name="">
            <a:extLst xmlns:a="http://schemas.openxmlformats.org/drawingml/2006/main">
              <a:ext uri="{FF2B5EF4-FFF2-40B4-BE49-F238E27FC236}">
                <a16:creationId xmlns:a16="http://schemas.microsoft.com/office/drawing/2014/main" id="{CD25F7D1-A640-447E-AB87-E33302272111}"/>
              </a:ext>
            </a:extLst>
          </p:cNvPr>
          <p:cNvSpPr>
            <a:spLocks xmlns:a="http://schemas.openxmlformats.org/drawingml/2006/main" noGrp="1"/>
          </p:cNvSpPr>
          <p:nvPr/>
        </p:nvSpPr>
        <p:spPr>
          <a:xfrm xmlns:a="http://schemas.openxmlformats.org/drawingml/2006/main">
            <a:off x="609600" y="2009775"/>
            <a:ext cx="6800850" cy="1280160"/>
          </a:xfrm>
          <a:prstGeom xmlns:a="http://schemas.openxmlformats.org/drawingml/2006/main" prst="rect">
            <a:avLst/>
          </a:prstGeom>
          <a:solidFill xmlns:a="http://schemas.openxmlformats.org/drawingml/2006/main">
            <a:srgbClr val="EDF1F5"/>
          </a:solidFill>
          <a:ln xmlns:a="http://schemas.openxmlformats.org/drawingml/2006/main" w="14288">
            <a:noFill/>
            <a:prstDash val="solid"/>
          </a:ln>
        </p:spPr>
      </p:sp>
      <p:sp>
        <p:nvSpPr>
          <p:cNvPr id="5" name="sx = c*(x-cx) - s*(y-cy) + cx;&#10;sy = s*(x-cx) + c*(y-cy)">
            <a:extLst xmlns:a="http://schemas.openxmlformats.org/drawingml/2006/main">
              <a:ext uri="{FF2B5EF4-FFF2-40B4-BE49-F238E27FC236}">
                <a16:creationId xmlns:a16="http://schemas.microsoft.com/office/drawing/2014/main" id="{31B552FC-AD09-422A-B415-F7A852DF33D4}"/>
              </a:ext>
            </a:extLst>
          </p:cNvPr>
          <p:cNvSpPr>
            <a:spLocks xmlns:a="http://schemas.openxmlformats.org/drawingml/2006/main" noGrp="1"/>
          </p:cNvSpPr>
          <p:nvPr/>
        </p:nvSpPr>
        <p:spPr>
          <a:xfrm xmlns:a="http://schemas.openxmlformats.org/drawingml/2006/main">
            <a:off x="723900" y="2095500"/>
            <a:ext cx="6572250" cy="11468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42D45"/>
                </a:solidFill>
                <a:latin typeface="Consolas"/>
                <a:ea typeface="Consolas"/>
                <a:cs typeface="Consolas"/>
              </a:defRPr>
            </a:defPPr>
          </a:lstStyle>
          <a:p xmlns:a="http://schemas.openxmlformats.org/drawingml/2006/main">
            <a:pPr algn="l">
              <a:defRPr sz="1725" b="0">
                <a:solidFill>
                  <a:srgbClr val="142D45"/>
                </a:solidFill>
                <a:latin typeface="Consolas"/>
                <a:ea typeface="Consolas"/>
                <a:cs typeface="Consolas"/>
              </a:defRPr>
            </a:pPr>
            <a:r>
              <a:rPr sz="1725" b="0">
                <a:solidFill>
                  <a:srgbClr val="142D45"/>
                </a:solidFill>
                <a:latin typeface="Consolas"/>
                <a:ea typeface="Consolas"/>
                <a:cs typeface="Consolas"/>
              </a:rPr>
              <a:t>sx = c*(x-cx) - s*(y-cy) + cx;</a:t>
            </a:r>
          </a:p>
          <a:p xmlns:a="http://schemas.openxmlformats.org/drawingml/2006/main">
            <a:pPr algn="l">
              <a:defRPr sz="1725" b="0">
                <a:solidFill>
                  <a:srgbClr val="142D45"/>
                </a:solidFill>
                <a:latin typeface="Consolas"/>
                <a:ea typeface="Consolas"/>
                <a:cs typeface="Consolas"/>
              </a:defRPr>
            </a:pPr>
            <a:r>
              <a:rPr sz="1725" b="0">
                <a:solidFill>
                  <a:srgbClr val="142D45"/>
                </a:solidFill>
                <a:latin typeface="Consolas"/>
                <a:ea typeface="Consolas"/>
                <a:cs typeface="Consolas"/>
              </a:rPr>
              <a:t>sy = s*(x-cx) + c*(y-cy) + cy;</a:t>
            </a:r>
          </a:p>
          <a:p xmlns:a="http://schemas.openxmlformats.org/drawingml/2006/main">
            <a:pPr algn="l">
              <a:defRPr sz="1725" b="0">
                <a:solidFill>
                  <a:srgbClr val="142D45"/>
                </a:solidFill>
                <a:latin typeface="Consolas"/>
                <a:ea typeface="Consolas"/>
                <a:cs typeface="Consolas"/>
              </a:defRPr>
            </a:pPr>
            <a:r>
              <a:rPr sz="1725" b="0">
                <a:solidFill>
                  <a:srgbClr val="142D45"/>
                </a:solidFill>
                <a:latin typeface="Consolas"/>
                <a:ea typeface="Consolas"/>
                <a:cs typeface="Consolas"/>
              </a:rPr>
              <a:t>ix = floor(sx + 0.5);</a:t>
            </a:r>
          </a:p>
          <a:p xmlns:a="http://schemas.openxmlformats.org/drawingml/2006/main">
            <a:pPr algn="l">
              <a:defRPr sz="1725" b="0">
                <a:solidFill>
                  <a:srgbClr val="142D45"/>
                </a:solidFill>
                <a:latin typeface="Consolas"/>
                <a:ea typeface="Consolas"/>
                <a:cs typeface="Consolas"/>
              </a:defRPr>
            </a:pPr>
            <a:r>
              <a:rPr sz="1725" b="0">
                <a:solidFill>
                  <a:srgbClr val="142D45"/>
                </a:solidFill>
                <a:latin typeface="Consolas"/>
                <a:ea typeface="Consolas"/>
                <a:cs typeface="Consolas"/>
              </a:rPr>
              <a:t>iy = floor(sy + 0.5);</a:t>
            </a:r>
          </a:p>
        </p:txBody>
      </p:sp>
      <p:sp>
        <p:nvSpPr>
          <p:cNvPr id="6" name="c = cos θ; s = sin θ; θ in radians; center = ((W−1)/2, ">
            <a:extLst xmlns:a="http://schemas.openxmlformats.org/drawingml/2006/main">
              <a:ext uri="{FF2B5EF4-FFF2-40B4-BE49-F238E27FC236}">
                <a16:creationId xmlns:a16="http://schemas.microsoft.com/office/drawing/2014/main" id="{8233B651-3D02-461D-BB04-A73E095BC7AB}"/>
              </a:ext>
            </a:extLst>
          </p:cNvPr>
          <p:cNvSpPr>
            <a:spLocks xmlns:a="http://schemas.openxmlformats.org/drawingml/2006/main" noGrp="1"/>
          </p:cNvSpPr>
          <p:nvPr/>
        </p:nvSpPr>
        <p:spPr>
          <a:xfrm xmlns:a="http://schemas.openxmlformats.org/drawingml/2006/main">
            <a:off x="609600" y="3571875"/>
            <a:ext cx="7715250" cy="2861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c = cos θ; s = sin θ; θ in radians; center = ((W−1)/2, (H−1)/2)</a:t>
            </a:r>
          </a:p>
        </p:txBody>
      </p:sp>
      <p:sp>
        <p:nvSpPr>
          <p:cNvPr id="7" name="">
            <a:extLst xmlns:a="http://schemas.openxmlformats.org/drawingml/2006/main">
              <a:ext uri="{FF2B5EF4-FFF2-40B4-BE49-F238E27FC236}">
                <a16:creationId xmlns:a16="http://schemas.microsoft.com/office/drawing/2014/main" id="{D3A82EC7-73B2-42CE-B78A-60C24817B1E1}"/>
              </a:ext>
            </a:extLst>
          </p:cNvPr>
          <p:cNvSpPr>
            <a:spLocks xmlns:a="http://schemas.openxmlformats.org/drawingml/2006/main" noGrp="1"/>
          </p:cNvSpPr>
          <p:nvPr/>
        </p:nvSpPr>
        <p:spPr>
          <a:xfrm xmlns:a="http://schemas.openxmlformats.org/drawingml/2006/main">
            <a:off x="8858250" y="1876425"/>
            <a:ext cx="2333625" cy="885825"/>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Output pixel</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(x,y)</a:t>
            </a:r>
          </a:p>
        </p:txBody>
      </p:sp>
      <p:sp>
        <p:nvSpPr>
          <p:cNvPr id="8" name="">
            <a:extLst xmlns:a="http://schemas.openxmlformats.org/drawingml/2006/main">
              <a:ext uri="{FF2B5EF4-FFF2-40B4-BE49-F238E27FC236}">
                <a16:creationId xmlns:a16="http://schemas.microsoft.com/office/drawing/2014/main" id="{15A1D860-FF9A-47FF-A390-3FE67389AAA8}"/>
              </a:ext>
            </a:extLst>
          </p:cNvPr>
          <p:cNvSpPr>
            <a:spLocks xmlns:a="http://schemas.openxmlformats.org/drawingml/2006/main" noGrp="1"/>
          </p:cNvSpPr>
          <p:nvPr/>
        </p:nvSpPr>
        <p:spPr>
          <a:xfrm xmlns:a="http://schemas.openxmlformats.org/drawingml/2006/main">
            <a:off x="8858250" y="3400425"/>
            <a:ext cx="2333625" cy="885825"/>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Nearest input</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(ix,iy)</a:t>
            </a:r>
          </a:p>
        </p:txBody>
      </p:sp>
      <p:sp>
        <p:nvSpPr>
          <p:cNvPr id="10" name="lookup">
            <a:extLst xmlns:a="http://schemas.openxmlformats.org/drawingml/2006/main">
              <a:ext uri="{FF2B5EF4-FFF2-40B4-BE49-F238E27FC236}">
                <a16:creationId xmlns:a16="http://schemas.microsoft.com/office/drawing/2014/main" id="{91B3E661-945F-4707-93B9-851CE3850962}"/>
              </a:ext>
            </a:extLst>
          </p:cNvPr>
          <p:cNvSpPr>
            <a:spLocks xmlns:a="http://schemas.openxmlformats.org/drawingml/2006/main" noGrp="1"/>
          </p:cNvSpPr>
          <p:nvPr/>
        </p:nvSpPr>
        <p:spPr>
          <a:xfrm xmlns:a="http://schemas.openxmlformats.org/drawingml/2006/main">
            <a:off x="10210800" y="2924175"/>
            <a:ext cx="1066800" cy="2861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07B83"/>
                </a:solidFill>
                <a:latin typeface="Arial"/>
                <a:ea typeface="Arial"/>
                <a:cs typeface="Arial"/>
              </a:defRPr>
            </a:defPPr>
          </a:lstStyle>
          <a:p xmlns:a="http://schemas.openxmlformats.org/drawingml/2006/main">
            <a:pPr algn="l">
              <a:defRPr sz="1575" b="0">
                <a:solidFill>
                  <a:srgbClr val="007B83"/>
                </a:solidFill>
                <a:latin typeface="Arial"/>
                <a:ea typeface="Arial"/>
                <a:cs typeface="Arial"/>
              </a:defRPr>
            </a:pPr>
            <a:r>
              <a:rPr sz="1575" b="0">
                <a:solidFill>
                  <a:srgbClr val="007B83"/>
                </a:solidFill>
                <a:latin typeface="Arial"/>
                <a:ea typeface="Arial"/>
                <a:cs typeface="Arial"/>
              </a:rPr>
              <a:t>lookup</a:t>
            </a:r>
          </a:p>
        </p:txBody>
      </p:sp>
      <p:sp>
        <p:nvSpPr>
          <p:cNvPr id="11" name="Forward [c s; −s c]; inverse [c −s; s c]. Positive θ is">
            <a:extLst xmlns:a="http://schemas.openxmlformats.org/drawingml/2006/main">
              <a:ext uri="{FF2B5EF4-FFF2-40B4-BE49-F238E27FC236}">
                <a16:creationId xmlns:a16="http://schemas.microsoft.com/office/drawing/2014/main" id="{73F55A81-EF9E-4EF0-8BAB-7FEE7B256094}"/>
              </a:ext>
            </a:extLst>
          </p:cNvPr>
          <p:cNvSpPr>
            <a:spLocks xmlns:a="http://schemas.openxmlformats.org/drawingml/2006/main" noGrp="1"/>
          </p:cNvSpPr>
          <p:nvPr/>
        </p:nvSpPr>
        <p:spPr>
          <a:xfrm xmlns:a="http://schemas.openxmlformats.org/drawingml/2006/main">
            <a:off x="609600" y="4191000"/>
            <a:ext cx="7715250" cy="297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Forward [c s; −s c]; inverse [c −s; s c]. Positive θ is visually counterclockwise.</a:t>
            </a:r>
          </a:p>
        </p:txBody>
      </p:sp>
      <p:sp>
        <p:nvSpPr>
          <p:cNvPr id="12" name="Fixed RGB canvas can crop; black borders. Gathering avo">
            <a:extLst xmlns:a="http://schemas.openxmlformats.org/drawingml/2006/main">
              <a:ext uri="{FF2B5EF4-FFF2-40B4-BE49-F238E27FC236}">
                <a16:creationId xmlns:a16="http://schemas.microsoft.com/office/drawing/2014/main" id="{1469B07A-BBCE-41A4-838E-CE539399C5FD}"/>
              </a:ext>
            </a:extLst>
          </p:cNvPr>
          <p:cNvSpPr>
            <a:spLocks xmlns:a="http://schemas.openxmlformats.org/drawingml/2006/main" noGrp="1"/>
          </p:cNvSpPr>
          <p:nvPr/>
        </p:nvSpPr>
        <p:spPr>
          <a:xfrm xmlns:a="http://schemas.openxmlformats.org/drawingml/2006/main">
            <a:off x="609600" y="4641342"/>
            <a:ext cx="7715250" cy="5577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Fixed RGB canvas can crop; black borders. Gathering avoids scatter holes;</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nearest-neighbour can alias.</a:t>
            </a:r>
          </a:p>
        </p:txBody>
      </p:sp>
      <p:sp>
        <p:nvSpPr>
          <p:cNvPr id="13" name="">
            <a:extLst xmlns:a="http://schemas.openxmlformats.org/drawingml/2006/main">
              <a:ext uri="{FF2B5EF4-FFF2-40B4-BE49-F238E27FC236}">
                <a16:creationId xmlns:a16="http://schemas.microsoft.com/office/drawing/2014/main" id="{6E905E40-3F11-4C5A-A04B-F6810A73EFCA}"/>
              </a:ext>
            </a:extLst>
          </p:cNvPr>
          <p:cNvSpPr>
            <a:spLocks xmlns:a="http://schemas.openxmlformats.org/drawingml/2006/main" noGrp="1"/>
          </p:cNvSpPr>
          <p:nvPr/>
        </p:nvSpPr>
        <p:spPr>
          <a:xfrm xmlns:a="http://schemas.openxmlformats.org/drawingml/2006/main">
            <a:off x="609600" y="5686425"/>
            <a:ext cx="10972800" cy="0"/>
          </a:xfrm>
          <a:prstGeom xmlns:a="http://schemas.openxmlformats.org/drawingml/2006/main" prst="line">
            <a:avLst/>
          </a:prstGeom>
          <a:noFill xmlns:a="http://schemas.openxmlformats.org/drawingml/2006/main"/>
          <a:ln xmlns:a="http://schemas.openxmlformats.org/drawingml/2006/main" w="19050">
            <a:solidFill>
              <a:srgbClr val="007B83"/>
            </a:solidFill>
            <a:prstDash val="solid"/>
          </a:ln>
        </p:spPr>
      </p:sp>
      <p:sp>
        <p:nvSpPr>
          <p:cNvPr id="14" name="One thread owns one output pixel: gather a source value">
            <a:extLst xmlns:a="http://schemas.openxmlformats.org/drawingml/2006/main">
              <a:ext uri="{FF2B5EF4-FFF2-40B4-BE49-F238E27FC236}">
                <a16:creationId xmlns:a16="http://schemas.microsoft.com/office/drawing/2014/main" id="{4987F95E-AFD7-4638-BC33-9032D31C9611}"/>
              </a:ext>
            </a:extLst>
          </p:cNvPr>
          <p:cNvSpPr>
            <a:spLocks xmlns:a="http://schemas.openxmlformats.org/drawingml/2006/main" noGrp="1"/>
          </p:cNvSpPr>
          <p:nvPr/>
        </p:nvSpPr>
        <p:spPr>
          <a:xfrm xmlns:a="http://schemas.openxmlformats.org/drawingml/2006/main">
            <a:off x="609600" y="5819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42D45"/>
                </a:solidFill>
                <a:latin typeface="Arial"/>
                <a:ea typeface="Arial"/>
                <a:cs typeface="Arial"/>
              </a:defRPr>
            </a:defPPr>
          </a:lstStyle>
          <a:p xmlns:a="http://schemas.openxmlformats.org/drawingml/2006/main">
            <a:pPr algn="l">
              <a:defRPr sz="1650" b="1">
                <a:solidFill>
                  <a:srgbClr val="142D45"/>
                </a:solidFill>
                <a:latin typeface="Arial"/>
                <a:ea typeface="Arial"/>
                <a:cs typeface="Arial"/>
              </a:defRPr>
            </a:pPr>
            <a:r>
              <a:rPr sz="1650" b="1">
                <a:solidFill>
                  <a:srgbClr val="142D45"/>
                </a:solidFill>
                <a:latin typeface="Arial"/>
                <a:ea typeface="Arial"/>
                <a:cs typeface="Arial"/>
              </a:rPr>
              <a:t>One thread owns one output pixel: gather a source value, then write once.</a:t>
            </a:r>
          </a:p>
        </p:txBody>
      </p:sp>
      <p:sp>
        <p:nvSpPr>
          <p:cNvPr id="15" name="">
            <a:extLst xmlns:a="http://schemas.openxmlformats.org/drawingml/2006/main">
              <a:ext uri="{FF2B5EF4-FFF2-40B4-BE49-F238E27FC236}">
                <a16:creationId xmlns:a16="http://schemas.microsoft.com/office/drawing/2014/main" id="{EB20C2CD-48F2-4B09-B42C-2DEC044C8831}"/>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6" name="Sources: [1] NVIDIA CUDA programming model">
            <a:extLst xmlns:a="http://schemas.openxmlformats.org/drawingml/2006/main">
              <a:ext uri="{FF2B5EF4-FFF2-40B4-BE49-F238E27FC236}">
                <a16:creationId xmlns:a16="http://schemas.microsoft.com/office/drawing/2014/main" id="{E63213A5-3968-4BC3-A0B9-A74CC202C0BD}"/>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[1] NVIDIA CUDA programming model</a:t>
            </a:r>
          </a:p>
        </p:txBody>
      </p:sp>
      <p:sp>
        <p:nvSpPr>
          <p:cNvPr id="17" name="3 / 28">
            <a:extLst xmlns:a="http://schemas.openxmlformats.org/drawingml/2006/main">
              <a:ext uri="{FF2B5EF4-FFF2-40B4-BE49-F238E27FC236}">
                <a16:creationId xmlns:a16="http://schemas.microsoft.com/office/drawing/2014/main" id="{6601702A-F00F-4A69-97C5-D4EA03D076DA}"/>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3 / 28</a:t>
            </a:r>
          </a:p>
        </p:txBody>
      </p:sp>
    </p:spTree>
    <p:extLst>
      <p:ext uri="{BB962C8B-B14F-4D97-AF65-F5344CB8AC3E}">
        <p14:creationId xmlns:p14="http://schemas.microsoft.com/office/powerpoint/2010/main" val="1816257791"/>
      </p:ext>
    </p:extLst>
  </p:cSld>
</p:sld>
</file>

<file path=ppt/slides/slide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0E83FBC3-5585-401F-A31F-7D693123DB99}"/>
              </a:ext>
            </a:extLst>
          </p:cNvPr>
          <p:cNvCxnSpPr>
            <a:stCxn xmlns:a="http://schemas.openxmlformats.org/drawingml/2006/main" id="7" idx="2"/>
            <a:endCxn xmlns:a="http://schemas.openxmlformats.org/drawingml/2006/main" id="8" idx="0"/>
          </p:cNvCxnSpPr>
          <p:nvPr/>
        </p:nvCxnSpPr>
        <p:spPr>
          <a:xfrm xmlns:a="http://schemas.openxmlformats.org/drawingml/2006/main">
            <a:off x="9801225" y="3429000"/>
            <a:ext cx="0" cy="476250"/>
          </a:xfrm>
          <a:prstGeom xmlns:a="http://schemas.openxmlformats.org/drawingml/2006/main" prst="straightConnector1">
            <a:avLst/>
          </a:prstGeom>
          <a:ln xmlns:a="http://schemas.openxmlformats.org/drawingml/2006/main" w="19050">
            <a:solidFill>
              <a:srgbClr val="007B83"/>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C483144A-DDC6-482A-BD1A-8D0D126FE9FA}"/>
              </a:ext>
            </a:extLst>
          </p:cNvPr>
          <p:cNvCxnSpPr>
            <a:stCxn xmlns:a="http://schemas.openxmlformats.org/drawingml/2006/main" id="6" idx="2"/>
            <a:endCxn xmlns:a="http://schemas.openxmlformats.org/drawingml/2006/main" id="7" idx="0"/>
          </p:cNvCxnSpPr>
          <p:nvPr/>
        </p:nvCxnSpPr>
        <p:spPr>
          <a:xfrm xmlns:a="http://schemas.openxmlformats.org/drawingml/2006/main">
            <a:off x="9801225" y="2171700"/>
            <a:ext cx="0" cy="476250"/>
          </a:xfrm>
          <a:prstGeom xmlns:a="http://schemas.openxmlformats.org/drawingml/2006/main" prst="straightConnector1">
            <a:avLst/>
          </a:prstGeom>
          <a:ln xmlns:a="http://schemas.openxmlformats.org/drawingml/2006/main" w="19050">
            <a:solidFill>
              <a:srgbClr val="007B83"/>
            </a:solidFill>
            <a:prstDash val="solid"/>
            <a:tailEnd type="arrow" w="med" len="med"/>
          </a:ln>
        </p:spPr>
      </p:cxnSp>
      <p:sp>
        <p:nvSpPr>
          <p:cNvPr id="21" name="Task 1(b) • Execution model">
            <a:extLst xmlns:a="http://schemas.openxmlformats.org/drawingml/2006/main">
              <a:ext uri="{FF2B5EF4-FFF2-40B4-BE49-F238E27FC236}">
                <a16:creationId xmlns:a16="http://schemas.microsoft.com/office/drawing/2014/main" id="{ACE31924-4BE3-4A84-A0DC-82DB4A33F8B5}"/>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Task 1(b) • Execution model</a:t>
            </a:r>
          </a:p>
        </p:txBody>
      </p:sp>
      <p:sp>
        <p:nvSpPr>
          <p:cNvPr id="2" name="CUDA maps pixels to scheduled threads">
            <a:extLst xmlns:a="http://schemas.openxmlformats.org/drawingml/2006/main">
              <a:ext uri="{FF2B5EF4-FFF2-40B4-BE49-F238E27FC236}">
                <a16:creationId xmlns:a16="http://schemas.microsoft.com/office/drawing/2014/main" id="{B429EF3C-5A46-4FCB-8B40-6D2CA71389AD}"/>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CUDA maps pixels to scheduled threads</a:t>
            </a:r>
          </a:p>
        </p:txBody>
      </p:sp>
      <p:sp>
        <p:nvSpPr>
          <p:cNvPr id="3" name="Host launch + device pixel indexing">
            <a:extLst xmlns:a="http://schemas.openxmlformats.org/drawingml/2006/main">
              <a:ext uri="{FF2B5EF4-FFF2-40B4-BE49-F238E27FC236}">
                <a16:creationId xmlns:a16="http://schemas.microsoft.com/office/drawing/2014/main" id="{D1EA0686-23CE-4376-916D-B84AC0A65205}"/>
              </a:ext>
            </a:extLst>
          </p:cNvPr>
          <p:cNvSpPr>
            <a:spLocks xmlns:a="http://schemas.openxmlformats.org/drawingml/2006/main" noGrp="1"/>
          </p:cNvSpPr>
          <p:nvPr/>
        </p:nvSpPr>
        <p:spPr>
          <a:xfrm xmlns:a="http://schemas.openxmlformats.org/drawingml/2006/main">
            <a:off x="609600" y="1476375"/>
            <a:ext cx="6534150" cy="3451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07B83"/>
                </a:solidFill>
                <a:latin typeface="Arial"/>
                <a:ea typeface="Arial"/>
                <a:cs typeface="Arial"/>
              </a:defRPr>
            </a:defPPr>
          </a:lstStyle>
          <a:p xmlns:a="http://schemas.openxmlformats.org/drawingml/2006/main">
            <a:pPr algn="l">
              <a:defRPr sz="1950" b="1">
                <a:solidFill>
                  <a:srgbClr val="007B83"/>
                </a:solidFill>
                <a:latin typeface="Arial"/>
                <a:ea typeface="Arial"/>
                <a:cs typeface="Arial"/>
              </a:defRPr>
            </a:pPr>
            <a:r>
              <a:rPr sz="1950" b="1">
                <a:solidFill>
                  <a:srgbClr val="007B83"/>
                </a:solidFill>
                <a:latin typeface="Arial"/>
                <a:ea typeface="Arial"/>
                <a:cs typeface="Arial"/>
              </a:rPr>
              <a:t>Host launch + device pixel indexing</a:t>
            </a:r>
          </a:p>
        </p:txBody>
      </p:sp>
      <p:sp>
        <p:nvSpPr>
          <p:cNvPr id="4" name="">
            <a:extLst xmlns:a="http://schemas.openxmlformats.org/drawingml/2006/main">
              <a:ext uri="{FF2B5EF4-FFF2-40B4-BE49-F238E27FC236}">
                <a16:creationId xmlns:a16="http://schemas.microsoft.com/office/drawing/2014/main" id="{FA42C4CC-7921-4418-9AE2-718A1803FE8A}"/>
              </a:ext>
            </a:extLst>
          </p:cNvPr>
          <p:cNvSpPr>
            <a:spLocks xmlns:a="http://schemas.openxmlformats.org/drawingml/2006/main" noGrp="1"/>
          </p:cNvSpPr>
          <p:nvPr/>
        </p:nvSpPr>
        <p:spPr>
          <a:xfrm xmlns:a="http://schemas.openxmlformats.org/drawingml/2006/main">
            <a:off x="609600" y="1876425"/>
            <a:ext cx="6800850" cy="1600200"/>
          </a:xfrm>
          <a:prstGeom xmlns:a="http://schemas.openxmlformats.org/drawingml/2006/main" prst="rect">
            <a:avLst/>
          </a:prstGeom>
          <a:solidFill xmlns:a="http://schemas.openxmlformats.org/drawingml/2006/main">
            <a:srgbClr val="EDF1F5"/>
          </a:solidFill>
          <a:ln xmlns:a="http://schemas.openxmlformats.org/drawingml/2006/main" w="14288">
            <a:noFill/>
            <a:prstDash val="solid"/>
          </a:ln>
        </p:spPr>
      </p:sp>
      <p:sp>
        <p:nvSpPr>
          <p:cNvPr id="5" name="dim3 block(16,16), grid(64,64);&#10;rotate_rgb&lt;&lt;&lt;grid,block">
            <a:extLst xmlns:a="http://schemas.openxmlformats.org/drawingml/2006/main">
              <a:ext uri="{FF2B5EF4-FFF2-40B4-BE49-F238E27FC236}">
                <a16:creationId xmlns:a16="http://schemas.microsoft.com/office/drawing/2014/main" id="{6968CB2F-80B7-4C96-A937-117F1EAD1828}"/>
              </a:ext>
            </a:extLst>
          </p:cNvPr>
          <p:cNvSpPr>
            <a:spLocks xmlns:a="http://schemas.openxmlformats.org/drawingml/2006/main" noGrp="1"/>
          </p:cNvSpPr>
          <p:nvPr/>
        </p:nvSpPr>
        <p:spPr>
          <a:xfrm xmlns:a="http://schemas.openxmlformats.org/drawingml/2006/main">
            <a:off x="723900" y="1962150"/>
            <a:ext cx="65722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42D45"/>
                </a:solidFill>
                <a:latin typeface="Consolas"/>
                <a:ea typeface="Consolas"/>
                <a:cs typeface="Consolas"/>
              </a:defRPr>
            </a:defPPr>
          </a:lstStyle>
          <a:p xmlns:a="http://schemas.openxmlformats.org/drawingml/2006/main">
            <a:pPr algn="l">
              <a:defRPr sz="1500" b="0">
                <a:solidFill>
                  <a:srgbClr val="142D45"/>
                </a:solidFill>
                <a:latin typeface="Consolas"/>
                <a:ea typeface="Consolas"/>
                <a:cs typeface="Consolas"/>
              </a:defRPr>
            </a:pPr>
            <a:r>
              <a:rPr sz="1500" b="0">
                <a:solidFill>
                  <a:srgbClr val="142D45"/>
                </a:solidFill>
                <a:latin typeface="Consolas"/>
                <a:ea typeface="Consolas"/>
                <a:cs typeface="Consolas"/>
              </a:rPr>
              <a:t>dim3 block(16,16), grid(64,64);</a:t>
            </a:r>
          </a:p>
          <a:p xmlns:a="http://schemas.openxmlformats.org/drawingml/2006/main">
            <a:pPr algn="l">
              <a:defRPr sz="1500" b="0">
                <a:solidFill>
                  <a:srgbClr val="142D45"/>
                </a:solidFill>
                <a:latin typeface="Consolas"/>
                <a:ea typeface="Consolas"/>
                <a:cs typeface="Consolas"/>
              </a:defRPr>
            </a:pPr>
            <a:r>
              <a:rPr sz="1500" b="0">
                <a:solidFill>
                  <a:srgbClr val="142D45"/>
                </a:solidFill>
                <a:latin typeface="Consolas"/>
                <a:ea typeface="Consolas"/>
                <a:cs typeface="Consolas"/>
              </a:rPr>
              <a:t>rotate_rgb&lt;&lt;&lt;grid,block&gt;&gt;&gt;(</a:t>
            </a:r>
          </a:p>
          <a:p xmlns:a="http://schemas.openxmlformats.org/drawingml/2006/main">
            <a:pPr algn="l">
              <a:defRPr sz="1500" b="0">
                <a:solidFill>
                  <a:srgbClr val="142D45"/>
                </a:solidFill>
                <a:latin typeface="Consolas"/>
                <a:ea typeface="Consolas"/>
                <a:cs typeface="Consolas"/>
              </a:defRPr>
            </a:pPr>
            <a:r>
              <a:rPr sz="1500" b="0">
                <a:solidFill>
                  <a:srgbClr val="142D45"/>
                </a:solidFill>
                <a:latin typeface="Consolas"/>
                <a:ea typeface="Consolas"/>
                <a:cs typeface="Consolas"/>
              </a:rPr>
              <a:t>    d_in,d_out,1024,1024,c,s);</a:t>
            </a:r>
          </a:p>
          <a:p xmlns:a="http://schemas.openxmlformats.org/drawingml/2006/main">
            <a:pPr algn="l">
              <a:defRPr sz="1500" b="0">
                <a:solidFill>
                  <a:srgbClr val="142D45"/>
                </a:solidFill>
                <a:latin typeface="Consolas"/>
                <a:ea typeface="Consolas"/>
                <a:cs typeface="Consolas"/>
              </a:defRPr>
            </a:pPr>
            <a:r>
              <a:rPr sz="1500" b="0">
                <a:solidFill>
                  <a:srgbClr val="142D45"/>
                </a:solidFill>
                <a:latin typeface="Consolas"/>
                <a:ea typeface="Consolas"/>
                <a:cs typeface="Consolas"/>
              </a:rPr>
              <a:t>int x = blockIdx.x*blockDim.x + threadIdx.x;</a:t>
            </a:r>
          </a:p>
          <a:p xmlns:a="http://schemas.openxmlformats.org/drawingml/2006/main">
            <a:pPr algn="l">
              <a:defRPr sz="1500" b="0">
                <a:solidFill>
                  <a:srgbClr val="142D45"/>
                </a:solidFill>
                <a:latin typeface="Consolas"/>
                <a:ea typeface="Consolas"/>
                <a:cs typeface="Consolas"/>
              </a:defRPr>
            </a:pPr>
            <a:r>
              <a:rPr sz="1500" b="0">
                <a:solidFill>
                  <a:srgbClr val="142D45"/>
                </a:solidFill>
                <a:latin typeface="Consolas"/>
                <a:ea typeface="Consolas"/>
                <a:cs typeface="Consolas"/>
              </a:rPr>
              <a:t>int y = blockIdx.y*blockDim.y + threadIdx.y;</a:t>
            </a:r>
          </a:p>
          <a:p xmlns:a="http://schemas.openxmlformats.org/drawingml/2006/main">
            <a:pPr algn="l">
              <a:defRPr sz="1500" b="0">
                <a:solidFill>
                  <a:srgbClr val="142D45"/>
                </a:solidFill>
                <a:latin typeface="Consolas"/>
                <a:ea typeface="Consolas"/>
                <a:cs typeface="Consolas"/>
              </a:defRPr>
            </a:pPr>
            <a:r>
              <a:rPr sz="1500" b="0">
                <a:solidFill>
                  <a:srgbClr val="142D45"/>
                </a:solidFill>
                <a:latin typeface="Consolas"/>
                <a:ea typeface="Consolas"/>
                <a:cs typeface="Consolas"/>
              </a:rPr>
              <a:t>if (x &gt;= W || y &gt;= H) return;</a:t>
            </a:r>
          </a:p>
        </p:txBody>
      </p:sp>
      <p:sp>
        <p:nvSpPr>
          <p:cNvPr id="6" name="">
            <a:extLst xmlns:a="http://schemas.openxmlformats.org/drawingml/2006/main">
              <a:ext uri="{FF2B5EF4-FFF2-40B4-BE49-F238E27FC236}">
                <a16:creationId xmlns:a16="http://schemas.microsoft.com/office/drawing/2014/main" id="{778B4F4C-24CC-48B8-B2C3-169E1AEE02CB}"/>
              </a:ext>
            </a:extLst>
          </p:cNvPr>
          <p:cNvSpPr>
            <a:spLocks xmlns:a="http://schemas.openxmlformats.org/drawingml/2006/main" noGrp="1"/>
          </p:cNvSpPr>
          <p:nvPr/>
        </p:nvSpPr>
        <p:spPr>
          <a:xfrm xmlns:a="http://schemas.openxmlformats.org/drawingml/2006/main">
            <a:off x="8020050" y="1571625"/>
            <a:ext cx="3562350" cy="600075"/>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Grid: 64 × 64 blocks</a:t>
            </a:r>
          </a:p>
        </p:txBody>
      </p:sp>
      <p:sp>
        <p:nvSpPr>
          <p:cNvPr id="7" name="">
            <a:extLst xmlns:a="http://schemas.openxmlformats.org/drawingml/2006/main">
              <a:ext uri="{FF2B5EF4-FFF2-40B4-BE49-F238E27FC236}">
                <a16:creationId xmlns:a16="http://schemas.microsoft.com/office/drawing/2014/main" id="{06F0CBE7-3448-4A65-8FA4-1767377F0164}"/>
              </a:ext>
            </a:extLst>
          </p:cNvPr>
          <p:cNvSpPr>
            <a:spLocks xmlns:a="http://schemas.openxmlformats.org/drawingml/2006/main" noGrp="1"/>
          </p:cNvSpPr>
          <p:nvPr/>
        </p:nvSpPr>
        <p:spPr>
          <a:xfrm xmlns:a="http://schemas.openxmlformats.org/drawingml/2006/main">
            <a:off x="8020050" y="2647950"/>
            <a:ext cx="3562350" cy="78105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Block: 16 × 16 threads</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256 threads = 8 warps</a:t>
            </a:r>
          </a:p>
        </p:txBody>
      </p:sp>
      <p:sp>
        <p:nvSpPr>
          <p:cNvPr id="8" name="">
            <a:extLst xmlns:a="http://schemas.openxmlformats.org/drawingml/2006/main">
              <a:ext uri="{FF2B5EF4-FFF2-40B4-BE49-F238E27FC236}">
                <a16:creationId xmlns:a16="http://schemas.microsoft.com/office/drawing/2014/main" id="{BDFA8CE2-C201-43B2-BF1F-DFD3DF26CC0C}"/>
              </a:ext>
            </a:extLst>
          </p:cNvPr>
          <p:cNvSpPr>
            <a:spLocks xmlns:a="http://schemas.openxmlformats.org/drawingml/2006/main" noGrp="1"/>
          </p:cNvSpPr>
          <p:nvPr/>
        </p:nvSpPr>
        <p:spPr>
          <a:xfrm xmlns:a="http://schemas.openxmlformats.org/drawingml/2006/main">
            <a:off x="8020050" y="3905250"/>
            <a:ext cx="3562350" cy="78105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SMs schedule resident warps</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32 threads/warp • SIMT</a:t>
            </a:r>
          </a:p>
        </p:txBody>
      </p:sp>
      <p:sp>
        <p:nvSpPr>
          <p:cNvPr id="11" name="Second kernel feature: clamp a brightness channel">
            <a:extLst xmlns:a="http://schemas.openxmlformats.org/drawingml/2006/main">
              <a:ext uri="{FF2B5EF4-FFF2-40B4-BE49-F238E27FC236}">
                <a16:creationId xmlns:a16="http://schemas.microsoft.com/office/drawing/2014/main" id="{F02F11CA-226F-41AB-8EA8-71FF8FC3DE38}"/>
              </a:ext>
            </a:extLst>
          </p:cNvPr>
          <p:cNvSpPr>
            <a:spLocks xmlns:a="http://schemas.openxmlformats.org/drawingml/2006/main" noGrp="1"/>
          </p:cNvSpPr>
          <p:nvPr/>
        </p:nvSpPr>
        <p:spPr>
          <a:xfrm xmlns:a="http://schemas.openxmlformats.org/drawingml/2006/main">
            <a:off x="609600" y="3743325"/>
            <a:ext cx="6534150" cy="3097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07B83"/>
                </a:solidFill>
                <a:latin typeface="Arial"/>
                <a:ea typeface="Arial"/>
                <a:cs typeface="Arial"/>
              </a:defRPr>
            </a:defPPr>
          </a:lstStyle>
          <a:p xmlns:a="http://schemas.openxmlformats.org/drawingml/2006/main">
            <a:pPr algn="l">
              <a:defRPr sz="1725" b="1">
                <a:solidFill>
                  <a:srgbClr val="007B83"/>
                </a:solidFill>
                <a:latin typeface="Arial"/>
                <a:ea typeface="Arial"/>
                <a:cs typeface="Arial"/>
              </a:defRPr>
            </a:pPr>
            <a:r>
              <a:rPr sz="1725" b="1">
                <a:solidFill>
                  <a:srgbClr val="007B83"/>
                </a:solidFill>
                <a:latin typeface="Arial"/>
                <a:ea typeface="Arial"/>
                <a:cs typeface="Arial"/>
              </a:rPr>
              <a:t>Second kernel feature: clamp a brightness channel</a:t>
            </a:r>
          </a:p>
        </p:txBody>
      </p:sp>
      <p:sp>
        <p:nvSpPr>
          <p:cNvPr id="12" name="">
            <a:extLst xmlns:a="http://schemas.openxmlformats.org/drawingml/2006/main">
              <a:ext uri="{FF2B5EF4-FFF2-40B4-BE49-F238E27FC236}">
                <a16:creationId xmlns:a16="http://schemas.microsoft.com/office/drawing/2014/main" id="{FD792A16-0DBC-448C-A27C-71EB86A6EB3D}"/>
              </a:ext>
            </a:extLst>
          </p:cNvPr>
          <p:cNvSpPr>
            <a:spLocks xmlns:a="http://schemas.openxmlformats.org/drawingml/2006/main" noGrp="1"/>
          </p:cNvSpPr>
          <p:nvPr/>
        </p:nvSpPr>
        <p:spPr>
          <a:xfrm xmlns:a="http://schemas.openxmlformats.org/drawingml/2006/main">
            <a:off x="609600" y="4105275"/>
            <a:ext cx="6800850" cy="685800"/>
          </a:xfrm>
          <a:prstGeom xmlns:a="http://schemas.openxmlformats.org/drawingml/2006/main" prst="rect">
            <a:avLst/>
          </a:prstGeom>
          <a:solidFill xmlns:a="http://schemas.openxmlformats.org/drawingml/2006/main">
            <a:srgbClr val="EDF1F5"/>
          </a:solidFill>
          <a:ln xmlns:a="http://schemas.openxmlformats.org/drawingml/2006/main" w="14288">
            <a:noFill/>
            <a:prstDash val="solid"/>
          </a:ln>
        </p:spPr>
      </p:sp>
      <p:sp>
        <p:nvSpPr>
          <p:cNvPr id="13" name="int v = int(in[p]) + delta;&#10;out[p] = v&lt;0 ? 0 : (v&gt;255 ?">
            <a:extLst xmlns:a="http://schemas.openxmlformats.org/drawingml/2006/main">
              <a:ext uri="{FF2B5EF4-FFF2-40B4-BE49-F238E27FC236}">
                <a16:creationId xmlns:a16="http://schemas.microsoft.com/office/drawing/2014/main" id="{DCAD1DF1-5266-4F36-9045-6FF4F9B2D382}"/>
              </a:ext>
            </a:extLst>
          </p:cNvPr>
          <p:cNvSpPr>
            <a:spLocks xmlns:a="http://schemas.openxmlformats.org/drawingml/2006/main" noGrp="1"/>
          </p:cNvSpPr>
          <p:nvPr/>
        </p:nvSpPr>
        <p:spPr>
          <a:xfrm xmlns:a="http://schemas.openxmlformats.org/drawingml/2006/main">
            <a:off x="723900" y="4191000"/>
            <a:ext cx="657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42D45"/>
                </a:solidFill>
                <a:latin typeface="Consolas"/>
                <a:ea typeface="Consolas"/>
                <a:cs typeface="Consolas"/>
              </a:defRPr>
            </a:defPPr>
          </a:lstStyle>
          <a:p xmlns:a="http://schemas.openxmlformats.org/drawingml/2006/main">
            <a:pPr algn="l">
              <a:defRPr sz="1500" b="0">
                <a:solidFill>
                  <a:srgbClr val="142D45"/>
                </a:solidFill>
                <a:latin typeface="Consolas"/>
                <a:ea typeface="Consolas"/>
                <a:cs typeface="Consolas"/>
              </a:defRPr>
            </a:pPr>
            <a:r>
              <a:rPr sz="1500" b="0">
                <a:solidFill>
                  <a:srgbClr val="142D45"/>
                </a:solidFill>
                <a:latin typeface="Consolas"/>
                <a:ea typeface="Consolas"/>
                <a:cs typeface="Consolas"/>
              </a:rPr>
              <a:t>int v = int(in[p]) + delta;</a:t>
            </a:r>
          </a:p>
          <a:p xmlns:a="http://schemas.openxmlformats.org/drawingml/2006/main">
            <a:pPr algn="l">
              <a:defRPr sz="1500" b="0">
                <a:solidFill>
                  <a:srgbClr val="142D45"/>
                </a:solidFill>
                <a:latin typeface="Consolas"/>
                <a:ea typeface="Consolas"/>
                <a:cs typeface="Consolas"/>
              </a:defRPr>
            </a:pPr>
            <a:r>
              <a:rPr sz="1500" b="0">
                <a:solidFill>
                  <a:srgbClr val="142D45"/>
                </a:solidFill>
                <a:latin typeface="Consolas"/>
                <a:ea typeface="Consolas"/>
                <a:cs typeface="Consolas"/>
              </a:rPr>
              <a:t>out[p] = v&lt;0 ? 0 : (v&gt;255 ? 255 : v);</a:t>
            </a:r>
          </a:p>
        </p:txBody>
      </p:sp>
      <p:sp>
        <p:nvSpPr>
          <p:cNvPr id="14" name="After bounds checks: p = 3*(size_t(y)*W+x)+ch; ch ∈ [0,">
            <a:extLst xmlns:a="http://schemas.openxmlformats.org/drawingml/2006/main">
              <a:ext uri="{FF2B5EF4-FFF2-40B4-BE49-F238E27FC236}">
                <a16:creationId xmlns:a16="http://schemas.microsoft.com/office/drawing/2014/main" id="{CA811EF5-E506-42FE-AD94-70842877EBF6}"/>
              </a:ext>
            </a:extLst>
          </p:cNvPr>
          <p:cNvSpPr>
            <a:spLocks xmlns:a="http://schemas.openxmlformats.org/drawingml/2006/main" noGrp="1"/>
          </p:cNvSpPr>
          <p:nvPr/>
        </p:nvSpPr>
        <p:spPr>
          <a:xfrm xmlns:a="http://schemas.openxmlformats.org/drawingml/2006/main">
            <a:off x="609600" y="4981575"/>
            <a:ext cx="6762750" cy="4869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142D45"/>
                </a:solidFill>
                <a:latin typeface="Arial"/>
                <a:ea typeface="Arial"/>
                <a:cs typeface="Arial"/>
              </a:defRPr>
            </a:defPPr>
          </a:lstStyle>
          <a:p xmlns:a="http://schemas.openxmlformats.org/drawingml/2006/main">
            <a:pPr algn="l">
              <a:defRPr sz="1425" b="0">
                <a:solidFill>
                  <a:srgbClr val="142D45"/>
                </a:solidFill>
                <a:latin typeface="Arial"/>
                <a:ea typeface="Arial"/>
                <a:cs typeface="Arial"/>
              </a:defRPr>
            </a:pPr>
            <a:r>
              <a:rPr sz="1425" b="0">
                <a:solidFill>
                  <a:srgbClr val="142D45"/>
                </a:solidFill>
                <a:latin typeface="Arial"/>
                <a:ea typeface="Arial"/>
                <a:cs typeface="Arial"/>
              </a:rPr>
              <a:t>After bounds checks: p = 3*(size_t(y)*W+x)+ch; ch ∈ [0,2]; delta ∈ [−255,255].</a:t>
            </a:r>
          </a:p>
          <a:p xmlns:a="http://schemas.openxmlformats.org/drawingml/2006/main">
            <a:pPr algn="l">
              <a:defRPr sz="1425" b="0">
                <a:solidFill>
                  <a:srgbClr val="142D45"/>
                </a:solidFill>
                <a:latin typeface="Arial"/>
                <a:ea typeface="Arial"/>
                <a:cs typeface="Arial"/>
              </a:defRPr>
            </a:pPr>
            <a:r>
              <a:rPr sz="1425" b="0">
                <a:solidFill>
                  <a:srgbClr val="142D45"/>
                </a:solidFill>
                <a:latin typeface="Arial"/>
                <a:ea typeface="Arial"/>
                <a:cs typeface="Arial"/>
              </a:rPr>
              <a:t>Separate RGB buffers. Uncompiled excerpts.</a:t>
            </a:r>
          </a:p>
        </p:txBody>
      </p:sp>
      <p:sp>
        <p:nvSpPr>
          <p:cNvPr id="15" name="Residency hides latency; registers and divergence limit">
            <a:extLst xmlns:a="http://schemas.openxmlformats.org/drawingml/2006/main">
              <a:ext uri="{FF2B5EF4-FFF2-40B4-BE49-F238E27FC236}">
                <a16:creationId xmlns:a16="http://schemas.microsoft.com/office/drawing/2014/main" id="{E24C26C0-73CF-4EC3-ABED-929100615709}"/>
              </a:ext>
            </a:extLst>
          </p:cNvPr>
          <p:cNvSpPr>
            <a:spLocks xmlns:a="http://schemas.openxmlformats.org/drawingml/2006/main" noGrp="1"/>
          </p:cNvSpPr>
          <p:nvPr/>
        </p:nvSpPr>
        <p:spPr>
          <a:xfrm xmlns:a="http://schemas.openxmlformats.org/drawingml/2006/main">
            <a:off x="8020050" y="4981575"/>
            <a:ext cx="3562350" cy="5341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Residency hides latency; registers and</a:t>
            </a:r>
          </a:p>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divergence limit execution.</a:t>
            </a:r>
          </a:p>
        </p:txBody>
      </p:sp>
      <p:sp>
        <p:nvSpPr>
          <p:cNvPr id="16" name="">
            <a:extLst xmlns:a="http://schemas.openxmlformats.org/drawingml/2006/main">
              <a:ext uri="{FF2B5EF4-FFF2-40B4-BE49-F238E27FC236}">
                <a16:creationId xmlns:a16="http://schemas.microsoft.com/office/drawing/2014/main" id="{140D0CD2-285C-4DE4-B9E5-9A4BEBCC9BED}"/>
              </a:ext>
            </a:extLst>
          </p:cNvPr>
          <p:cNvSpPr>
            <a:spLocks xmlns:a="http://schemas.openxmlformats.org/drawingml/2006/main" noGrp="1"/>
          </p:cNvSpPr>
          <p:nvPr/>
        </p:nvSpPr>
        <p:spPr>
          <a:xfrm xmlns:a="http://schemas.openxmlformats.org/drawingml/2006/main">
            <a:off x="609600" y="5686425"/>
            <a:ext cx="10972800" cy="0"/>
          </a:xfrm>
          <a:prstGeom xmlns:a="http://schemas.openxmlformats.org/drawingml/2006/main" prst="line">
            <a:avLst/>
          </a:prstGeom>
          <a:noFill xmlns:a="http://schemas.openxmlformats.org/drawingml/2006/main"/>
          <a:ln xmlns:a="http://schemas.openxmlformats.org/drawingml/2006/main" w="19050">
            <a:solidFill>
              <a:srgbClr val="007B83"/>
            </a:solidFill>
            <a:prstDash val="solid"/>
          </a:ln>
        </p:spPr>
      </p:sp>
      <p:sp>
        <p:nvSpPr>
          <p:cNvPr id="17" name="A logical grid exposes work; SMs execute resident warps">
            <a:extLst xmlns:a="http://schemas.openxmlformats.org/drawingml/2006/main">
              <a:ext uri="{FF2B5EF4-FFF2-40B4-BE49-F238E27FC236}">
                <a16:creationId xmlns:a16="http://schemas.microsoft.com/office/drawing/2014/main" id="{315CE9BE-61E1-4446-BE9B-3E4C94D14EB7}"/>
              </a:ext>
            </a:extLst>
          </p:cNvPr>
          <p:cNvSpPr>
            <a:spLocks xmlns:a="http://schemas.openxmlformats.org/drawingml/2006/main" noGrp="1"/>
          </p:cNvSpPr>
          <p:nvPr/>
        </p:nvSpPr>
        <p:spPr>
          <a:xfrm xmlns:a="http://schemas.openxmlformats.org/drawingml/2006/main">
            <a:off x="609600" y="5819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42D45"/>
                </a:solidFill>
                <a:latin typeface="Arial"/>
                <a:ea typeface="Arial"/>
                <a:cs typeface="Arial"/>
              </a:defRPr>
            </a:defPPr>
          </a:lstStyle>
          <a:p xmlns:a="http://schemas.openxmlformats.org/drawingml/2006/main">
            <a:pPr algn="l">
              <a:defRPr sz="1650" b="1">
                <a:solidFill>
                  <a:srgbClr val="142D45"/>
                </a:solidFill>
                <a:latin typeface="Arial"/>
                <a:ea typeface="Arial"/>
                <a:cs typeface="Arial"/>
              </a:defRPr>
            </a:pPr>
            <a:r>
              <a:rPr sz="1650" b="1">
                <a:solidFill>
                  <a:srgbClr val="142D45"/>
                </a:solidFill>
                <a:latin typeface="Arial"/>
                <a:ea typeface="Arial"/>
                <a:cs typeface="Arial"/>
              </a:rPr>
              <a:t>A logical grid exposes work; SMs execute resident warps with SIMT.</a:t>
            </a:r>
          </a:p>
        </p:txBody>
      </p:sp>
      <p:sp>
        <p:nvSpPr>
          <p:cNvPr id="18" name="">
            <a:extLst xmlns:a="http://schemas.openxmlformats.org/drawingml/2006/main">
              <a:ext uri="{FF2B5EF4-FFF2-40B4-BE49-F238E27FC236}">
                <a16:creationId xmlns:a16="http://schemas.microsoft.com/office/drawing/2014/main" id="{BEB79FB7-5384-4F5C-A93B-40AF3D78F85F}"/>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9" name="Sources: [1] NVIDIA CUDA programming model; [2] NVIDIA ">
            <a:extLst xmlns:a="http://schemas.openxmlformats.org/drawingml/2006/main">
              <a:ext uri="{FF2B5EF4-FFF2-40B4-BE49-F238E27FC236}">
                <a16:creationId xmlns:a16="http://schemas.microsoft.com/office/drawing/2014/main" id="{422396D8-476E-4D01-8454-1647E8260A9F}"/>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[1] NVIDIA CUDA programming model; [2] NVIDIA CUDA Best Practices</a:t>
            </a:r>
          </a:p>
        </p:txBody>
      </p:sp>
      <p:sp>
        <p:nvSpPr>
          <p:cNvPr id="20" name="4 / 28">
            <a:extLst xmlns:a="http://schemas.openxmlformats.org/drawingml/2006/main">
              <a:ext uri="{FF2B5EF4-FFF2-40B4-BE49-F238E27FC236}">
                <a16:creationId xmlns:a16="http://schemas.microsoft.com/office/drawing/2014/main" id="{8C29B6E0-BAFE-4C1E-9C22-846B9FC7199F}"/>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4 / 28</a:t>
            </a:r>
          </a:p>
        </p:txBody>
      </p:sp>
    </p:spTree>
    <p:extLst>
      <p:ext uri="{BB962C8B-B14F-4D97-AF65-F5344CB8AC3E}">
        <p14:creationId xmlns:p14="http://schemas.microsoft.com/office/powerpoint/2010/main" val="1425593291"/>
      </p:ext>
    </p:extLst>
  </p:cSld>
</p:sld>
</file>

<file path=ppt/slides/slide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Task 1(b) • Expected speedup">
            <a:extLst xmlns:a="http://schemas.openxmlformats.org/drawingml/2006/main">
              <a:ext uri="{FF2B5EF4-FFF2-40B4-BE49-F238E27FC236}">
                <a16:creationId xmlns:a16="http://schemas.microsoft.com/office/drawing/2014/main" id="{D10B62A8-92BF-4A6F-A60B-A135311E396D}"/>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Task 1(b) • Expected speedup</a:t>
            </a:r>
          </a:p>
        </p:txBody>
      </p:sp>
      <p:sp>
        <p:nvSpPr>
          <p:cNvPr id="2" name="Throughput gains depend on the bottleneck">
            <a:extLst xmlns:a="http://schemas.openxmlformats.org/drawingml/2006/main">
              <a:ext uri="{FF2B5EF4-FFF2-40B4-BE49-F238E27FC236}">
                <a16:creationId xmlns:a16="http://schemas.microsoft.com/office/drawing/2014/main" id="{69843898-D1E4-40F9-95F0-F54E110C034C}"/>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Throughput gains depend on the bottleneck</a:t>
            </a:r>
          </a:p>
        </p:txBody>
      </p:sp>
      <p:sp>
        <p:nvSpPr>
          <p:cNvPr id="3" name="Why a GPU can be faster">
            <a:extLst xmlns:a="http://schemas.openxmlformats.org/drawingml/2006/main">
              <a:ext uri="{FF2B5EF4-FFF2-40B4-BE49-F238E27FC236}">
                <a16:creationId xmlns:a16="http://schemas.microsoft.com/office/drawing/2014/main" id="{BFA83929-2398-4525-BB13-B54D077066EF}"/>
              </a:ext>
            </a:extLst>
          </p:cNvPr>
          <p:cNvSpPr>
            <a:spLocks xmlns:a="http://schemas.openxmlformats.org/drawingml/2006/main" noGrp="1"/>
          </p:cNvSpPr>
          <p:nvPr/>
        </p:nvSpPr>
        <p:spPr>
          <a:xfrm xmlns:a="http://schemas.openxmlformats.org/drawingml/2006/main">
            <a:off x="60960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Why a GPU can be faster</a:t>
            </a:r>
          </a:p>
        </p:txBody>
      </p:sp>
      <p:sp>
        <p:nvSpPr>
          <p:cNvPr id="4" name="Many execution units and high device-memory bandwidth p">
            <a:extLst xmlns:a="http://schemas.openxmlformats.org/drawingml/2006/main">
              <a:ext uri="{FF2B5EF4-FFF2-40B4-BE49-F238E27FC236}">
                <a16:creationId xmlns:a16="http://schemas.microsoft.com/office/drawing/2014/main" id="{39DF6ECE-16BD-4982-A881-EB523A82D5BA}"/>
              </a:ext>
            </a:extLst>
          </p:cNvPr>
          <p:cNvSpPr>
            <a:spLocks xmlns:a="http://schemas.openxmlformats.org/drawingml/2006/main" noGrp="1"/>
          </p:cNvSpPr>
          <p:nvPr/>
        </p:nvSpPr>
        <p:spPr>
          <a:xfrm xmlns:a="http://schemas.openxmlformats.org/drawingml/2006/main">
            <a:off x="609600" y="1971675"/>
            <a:ext cx="5124450" cy="581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Many execution units and high device-memory</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bandwidth process independent pixels concurrently.</a:t>
            </a:r>
          </a:p>
        </p:txBody>
      </p:sp>
      <p:sp>
        <p:nvSpPr>
          <p:cNvPr id="5" name="Coalesced writes help; rotated gathers, registers and d">
            <a:extLst xmlns:a="http://schemas.openxmlformats.org/drawingml/2006/main">
              <a:ext uri="{FF2B5EF4-FFF2-40B4-BE49-F238E27FC236}">
                <a16:creationId xmlns:a16="http://schemas.microsoft.com/office/drawing/2014/main" id="{886F2637-A615-429F-9877-364196641F3D}"/>
              </a:ext>
            </a:extLst>
          </p:cNvPr>
          <p:cNvSpPr>
            <a:spLocks xmlns:a="http://schemas.openxmlformats.org/drawingml/2006/main" noGrp="1"/>
          </p:cNvSpPr>
          <p:nvPr/>
        </p:nvSpPr>
        <p:spPr>
          <a:xfrm xmlns:a="http://schemas.openxmlformats.org/drawingml/2006/main">
            <a:off x="609600" y="2724531"/>
            <a:ext cx="5124450" cy="581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Coalesced writes help; rotated gathers, registers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and divergence can limit throughput.</a:t>
            </a:r>
          </a:p>
        </p:txBody>
      </p:sp>
      <p:sp>
        <p:nvSpPr>
          <p:cNvPr id="6" name="Large/resident images amortize setup. Streams can overl">
            <a:extLst xmlns:a="http://schemas.openxmlformats.org/drawingml/2006/main">
              <a:ext uri="{FF2B5EF4-FFF2-40B4-BE49-F238E27FC236}">
                <a16:creationId xmlns:a16="http://schemas.microsoft.com/office/drawing/2014/main" id="{D329947B-DC49-4E05-92BF-67C341B2AC35}"/>
              </a:ext>
            </a:extLst>
          </p:cNvPr>
          <p:cNvSpPr>
            <a:spLocks xmlns:a="http://schemas.openxmlformats.org/drawingml/2006/main" noGrp="1"/>
          </p:cNvSpPr>
          <p:nvPr/>
        </p:nvSpPr>
        <p:spPr>
          <a:xfrm xmlns:a="http://schemas.openxmlformats.org/drawingml/2006/main">
            <a:off x="609600" y="3477387"/>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Large/resident images amortize setup. Streams can</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overlap transfers/compute with separate pinned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buffers and supporting hardware.</a:t>
            </a:r>
          </a:p>
        </p:txBody>
      </p:sp>
      <p:sp>
        <p:nvSpPr>
          <p:cNvPr id="7" name="Compare completed equivalent work">
            <a:extLst xmlns:a="http://schemas.openxmlformats.org/drawingml/2006/main">
              <a:ext uri="{FF2B5EF4-FFF2-40B4-BE49-F238E27FC236}">
                <a16:creationId xmlns:a16="http://schemas.microsoft.com/office/drawing/2014/main" id="{DB4E44B3-BA3A-4EC7-A89A-08B94D1B7DAF}"/>
              </a:ext>
            </a:extLst>
          </p:cNvPr>
          <p:cNvSpPr>
            <a:spLocks xmlns:a="http://schemas.openxmlformats.org/drawingml/2006/main" noGrp="1"/>
          </p:cNvSpPr>
          <p:nvPr/>
        </p:nvSpPr>
        <p:spPr>
          <a:xfrm xmlns:a="http://schemas.openxmlformats.org/drawingml/2006/main">
            <a:off x="641985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Compare completed equivalent work</a:t>
            </a:r>
          </a:p>
        </p:txBody>
      </p:sp>
      <p:sp>
        <p:nvSpPr>
          <p:cNvPr id="8" name="Speedup = TCPU / TGPU,total. Same rotation/sampling on ">
            <a:extLst xmlns:a="http://schemas.openxmlformats.org/drawingml/2006/main">
              <a:ext uri="{FF2B5EF4-FFF2-40B4-BE49-F238E27FC236}">
                <a16:creationId xmlns:a16="http://schemas.microsoft.com/office/drawing/2014/main" id="{87F0FACB-7B80-4B08-88AE-B5DE903856FA}"/>
              </a:ext>
            </a:extLst>
          </p:cNvPr>
          <p:cNvSpPr>
            <a:spLocks xmlns:a="http://schemas.openxmlformats.org/drawingml/2006/main" noGrp="1"/>
          </p:cNvSpPr>
          <p:nvPr/>
        </p:nvSpPr>
        <p:spPr>
          <a:xfrm xmlns:a="http://schemas.openxmlformats.org/drawingml/2006/main">
            <a:off x="6419850" y="1971675"/>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Speedup = TCPU / TGPU,total. Same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rotation/sampling on one CPU thread; also test a</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multithreaded CPU.</a:t>
            </a:r>
          </a:p>
        </p:txBody>
      </p:sp>
      <p:sp>
        <p:nvSpPr>
          <p:cNvPr id="9" name="Sequential time: setup + H2D + kernel + D2H. For overla">
            <a:extLst xmlns:a="http://schemas.openxmlformats.org/drawingml/2006/main">
              <a:ext uri="{FF2B5EF4-FFF2-40B4-BE49-F238E27FC236}">
                <a16:creationId xmlns:a16="http://schemas.microsoft.com/office/drawing/2014/main" id="{40A60D9B-B4D9-4063-9B94-72782266718F}"/>
              </a:ext>
            </a:extLst>
          </p:cNvPr>
          <p:cNvSpPr>
            <a:spLocks xmlns:a="http://schemas.openxmlformats.org/drawingml/2006/main" noGrp="1"/>
          </p:cNvSpPr>
          <p:nvPr/>
        </p:nvSpPr>
        <p:spPr>
          <a:xfrm xmlns:a="http://schemas.openxmlformats.org/drawingml/2006/main">
            <a:off x="6419850" y="2996184"/>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Sequential time: setup + H2D + kernel + D2H. For</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overlapped batches, measure the completed critical</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path; wait before reusing buffers.</a:t>
            </a:r>
          </a:p>
        </p:txBody>
      </p:sp>
      <p:sp>
        <p:nvSpPr>
          <p:cNvPr id="10" name="Amdahl: serial work bounds gains. No measured speedup; ">
            <a:extLst xmlns:a="http://schemas.openxmlformats.org/drawingml/2006/main">
              <a:ext uri="{FF2B5EF4-FFF2-40B4-BE49-F238E27FC236}">
                <a16:creationId xmlns:a16="http://schemas.microsoft.com/office/drawing/2014/main" id="{35737F2F-A990-4EAE-95FA-EDC636C773B0}"/>
              </a:ext>
            </a:extLst>
          </p:cNvPr>
          <p:cNvSpPr>
            <a:spLocks xmlns:a="http://schemas.openxmlformats.org/drawingml/2006/main" noGrp="1"/>
          </p:cNvSpPr>
          <p:nvPr/>
        </p:nvSpPr>
        <p:spPr>
          <a:xfrm xmlns:a="http://schemas.openxmlformats.org/drawingml/2006/main">
            <a:off x="6419850" y="4020693"/>
            <a:ext cx="5124450" cy="581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Amdahl: serial work bounds gains. No measured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speedup; compile, verify and profile.</a:t>
            </a:r>
          </a:p>
        </p:txBody>
      </p:sp>
      <p:sp>
        <p:nvSpPr>
          <p:cNvPr id="11" name="">
            <a:extLst xmlns:a="http://schemas.openxmlformats.org/drawingml/2006/main">
              <a:ext uri="{FF2B5EF4-FFF2-40B4-BE49-F238E27FC236}">
                <a16:creationId xmlns:a16="http://schemas.microsoft.com/office/drawing/2014/main" id="{B28C24BB-9E33-4169-BFE5-54E7061A8DE3}"/>
              </a:ext>
            </a:extLst>
          </p:cNvPr>
          <p:cNvSpPr>
            <a:spLocks xmlns:a="http://schemas.openxmlformats.org/drawingml/2006/main" noGrp="1"/>
          </p:cNvSpPr>
          <p:nvPr/>
        </p:nvSpPr>
        <p:spPr>
          <a:xfrm xmlns:a="http://schemas.openxmlformats.org/drawingml/2006/main">
            <a:off x="6086475" y="1543050"/>
            <a:ext cx="9525"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2" name="">
            <a:extLst xmlns:a="http://schemas.openxmlformats.org/drawingml/2006/main">
              <a:ext uri="{FF2B5EF4-FFF2-40B4-BE49-F238E27FC236}">
                <a16:creationId xmlns:a16="http://schemas.microsoft.com/office/drawing/2014/main" id="{130CF65D-82FE-45A1-B9E1-54DCDC17CAA4}"/>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3" name="Sources: [2] NVIDIA CUDA Best Practices">
            <a:extLst xmlns:a="http://schemas.openxmlformats.org/drawingml/2006/main">
              <a:ext uri="{FF2B5EF4-FFF2-40B4-BE49-F238E27FC236}">
                <a16:creationId xmlns:a16="http://schemas.microsoft.com/office/drawing/2014/main" id="{58116CDB-EA24-44B1-A346-0B3BEB1E6739}"/>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[2] NVIDIA CUDA Best Practices</a:t>
            </a:r>
          </a:p>
        </p:txBody>
      </p:sp>
      <p:sp>
        <p:nvSpPr>
          <p:cNvPr id="14" name="5 / 28">
            <a:extLst xmlns:a="http://schemas.openxmlformats.org/drawingml/2006/main">
              <a:ext uri="{FF2B5EF4-FFF2-40B4-BE49-F238E27FC236}">
                <a16:creationId xmlns:a16="http://schemas.microsoft.com/office/drawing/2014/main" id="{559C3FC0-961E-4A50-8989-7C52384B2BA2}"/>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5 / 28</a:t>
            </a:r>
          </a:p>
        </p:txBody>
      </p:sp>
    </p:spTree>
    <p:extLst>
      <p:ext uri="{BB962C8B-B14F-4D97-AF65-F5344CB8AC3E}">
        <p14:creationId xmlns:p14="http://schemas.microsoft.com/office/powerpoint/2010/main" val="602569014"/>
      </p:ext>
    </p:extLst>
  </p:cSld>
</p:sld>
</file>

<file path=ppt/slides/slide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0DDA490C-C0D6-4567-922D-41D8F434B747}"/>
              </a:ext>
            </a:extLst>
          </p:cNvPr>
          <p:cNvCxnSpPr>
            <a:stCxn xmlns:a="http://schemas.openxmlformats.org/drawingml/2006/main" id="12" idx="3"/>
            <a:endCxn xmlns:a="http://schemas.openxmlformats.org/drawingml/2006/main" id="13" idx="1"/>
          </p:cNvCxnSpPr>
          <p:nvPr/>
        </p:nvCxnSpPr>
        <p:spPr>
          <a:xfrm xmlns:a="http://schemas.openxmlformats.org/drawingml/2006/main">
            <a:off x="3086100" y="3743325"/>
            <a:ext cx="6191250" cy="0"/>
          </a:xfrm>
          <a:prstGeom xmlns:a="http://schemas.openxmlformats.org/drawingml/2006/main" prst="straightConnector1">
            <a:avLst/>
          </a:prstGeom>
          <a:ln xmlns:a="http://schemas.openxmlformats.org/drawingml/2006/main" w="19050">
            <a:solidFill>
              <a:srgbClr val="007B83"/>
            </a:solidFill>
            <a:prstDash val="solid"/>
            <a:tailEnd type="arrow" w="med" len="med"/>
          </a:ln>
        </p:spPr>
      </p:cxnSp>
      <p:cxnSp>
        <p:nvCxnSpPr>
          <p:cNvPr id="8" name="">
            <a:extLst xmlns:a="http://schemas.openxmlformats.org/drawingml/2006/main">
              <a:ext uri="{FF2B5EF4-FFF2-40B4-BE49-F238E27FC236}">
                <a16:creationId xmlns:a16="http://schemas.microsoft.com/office/drawing/2014/main" id="{ED90B41B-16C0-45D6-BE68-00055C3D00F3}"/>
              </a:ext>
            </a:extLst>
          </p:cNvPr>
          <p:cNvCxnSpPr>
            <a:stCxn xmlns:a="http://schemas.openxmlformats.org/drawingml/2006/main" id="5" idx="3"/>
            <a:endCxn xmlns:a="http://schemas.openxmlformats.org/drawingml/2006/main" id="6" idx="1"/>
          </p:cNvCxnSpPr>
          <p:nvPr/>
        </p:nvCxnSpPr>
        <p:spPr>
          <a:xfrm xmlns:a="http://schemas.openxmlformats.org/drawingml/2006/main">
            <a:off x="7372350" y="2343150"/>
            <a:ext cx="1905000" cy="0"/>
          </a:xfrm>
          <a:prstGeom xmlns:a="http://schemas.openxmlformats.org/drawingml/2006/main" prst="straightConnector1">
            <a:avLst/>
          </a:prstGeom>
          <a:ln xmlns:a="http://schemas.openxmlformats.org/drawingml/2006/main" w="19050">
            <a:solidFill>
              <a:srgbClr val="007B83"/>
            </a:solidFill>
            <a:prstDash val="solid"/>
            <a:tailEnd type="arrow" w="med" len="med"/>
          </a:ln>
        </p:spPr>
      </p:cxnSp>
      <p:cxnSp>
        <p:nvCxnSpPr>
          <p:cNvPr id="7" name="">
            <a:extLst xmlns:a="http://schemas.openxmlformats.org/drawingml/2006/main">
              <a:ext uri="{FF2B5EF4-FFF2-40B4-BE49-F238E27FC236}">
                <a16:creationId xmlns:a16="http://schemas.microsoft.com/office/drawing/2014/main" id="{C97858AA-43E5-4EF8-90B6-58A42A0FB887}"/>
              </a:ext>
            </a:extLst>
          </p:cNvPr>
          <p:cNvCxnSpPr>
            <a:stCxn xmlns:a="http://schemas.openxmlformats.org/drawingml/2006/main" id="4" idx="3"/>
            <a:endCxn xmlns:a="http://schemas.openxmlformats.org/drawingml/2006/main" id="5" idx="1"/>
          </p:cNvCxnSpPr>
          <p:nvPr/>
        </p:nvCxnSpPr>
        <p:spPr>
          <a:xfrm xmlns:a="http://schemas.openxmlformats.org/drawingml/2006/main">
            <a:off x="2657475" y="2343150"/>
            <a:ext cx="1762125" cy="0"/>
          </a:xfrm>
          <a:prstGeom xmlns:a="http://schemas.openxmlformats.org/drawingml/2006/main" prst="straightConnector1">
            <a:avLst/>
          </a:prstGeom>
          <a:ln xmlns:a="http://schemas.openxmlformats.org/drawingml/2006/main" w="19050">
            <a:solidFill>
              <a:srgbClr val="007B83"/>
            </a:solidFill>
            <a:prstDash val="solid"/>
            <a:tailEnd type="arrow" w="med" len="med"/>
          </a:ln>
        </p:spPr>
      </p:cxnSp>
      <p:sp>
        <p:nvSpPr>
          <p:cNvPr id="23" name="Task 1(c)">
            <a:extLst xmlns:a="http://schemas.openxmlformats.org/drawingml/2006/main">
              <a:ext uri="{FF2B5EF4-FFF2-40B4-BE49-F238E27FC236}">
                <a16:creationId xmlns:a16="http://schemas.microsoft.com/office/drawing/2014/main" id="{4C3105D3-31B0-4DE2-89F4-788A39DBABB3}"/>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Task 1(c)</a:t>
            </a:r>
          </a:p>
        </p:txBody>
      </p:sp>
      <p:sp>
        <p:nvSpPr>
          <p:cNvPr id="2" name="GPUDirect Storage and rotation">
            <a:extLst xmlns:a="http://schemas.openxmlformats.org/drawingml/2006/main">
              <a:ext uri="{FF2B5EF4-FFF2-40B4-BE49-F238E27FC236}">
                <a16:creationId xmlns:a16="http://schemas.microsoft.com/office/drawing/2014/main" id="{B839D517-F689-4F93-95B5-CBCFB7E87212}"/>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GPUDirect Storage and rotation</a:t>
            </a:r>
          </a:p>
        </p:txBody>
      </p:sp>
      <p:sp>
        <p:nvSpPr>
          <p:cNvPr id="3" name="Conventional storage path">
            <a:extLst xmlns:a="http://schemas.openxmlformats.org/drawingml/2006/main">
              <a:ext uri="{FF2B5EF4-FFF2-40B4-BE49-F238E27FC236}">
                <a16:creationId xmlns:a16="http://schemas.microsoft.com/office/drawing/2014/main" id="{DE94A6D0-490E-4F3C-9F83-628B3CE0814C}"/>
              </a:ext>
            </a:extLst>
          </p:cNvPr>
          <p:cNvSpPr>
            <a:spLocks xmlns:a="http://schemas.openxmlformats.org/drawingml/2006/main" noGrp="1"/>
          </p:cNvSpPr>
          <p:nvPr/>
        </p:nvSpPr>
        <p:spPr>
          <a:xfrm xmlns:a="http://schemas.openxmlformats.org/drawingml/2006/main">
            <a:off x="609600" y="1524000"/>
            <a:ext cx="10972800" cy="3451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07B83"/>
                </a:solidFill>
                <a:latin typeface="Arial"/>
                <a:ea typeface="Arial"/>
                <a:cs typeface="Arial"/>
              </a:defRPr>
            </a:defPPr>
          </a:lstStyle>
          <a:p xmlns:a="http://schemas.openxmlformats.org/drawingml/2006/main">
            <a:pPr algn="l">
              <a:defRPr sz="1950" b="1">
                <a:solidFill>
                  <a:srgbClr val="007B83"/>
                </a:solidFill>
                <a:latin typeface="Arial"/>
                <a:ea typeface="Arial"/>
                <a:cs typeface="Arial"/>
              </a:defRPr>
            </a:pPr>
            <a:r>
              <a:rPr sz="1950" b="1">
                <a:solidFill>
                  <a:srgbClr val="007B83"/>
                </a:solidFill>
                <a:latin typeface="Arial"/>
                <a:ea typeface="Arial"/>
                <a:cs typeface="Arial"/>
              </a:rPr>
              <a:t>Conventional storage path</a:t>
            </a:r>
          </a:p>
        </p:txBody>
      </p:sp>
      <p:sp>
        <p:nvSpPr>
          <p:cNvPr id="4" name="">
            <a:extLst xmlns:a="http://schemas.openxmlformats.org/drawingml/2006/main">
              <a:ext uri="{FF2B5EF4-FFF2-40B4-BE49-F238E27FC236}">
                <a16:creationId xmlns:a16="http://schemas.microsoft.com/office/drawing/2014/main" id="{D15E84CE-1103-4211-91AB-22A0FE0EF446}"/>
              </a:ext>
            </a:extLst>
          </p:cNvPr>
          <p:cNvSpPr>
            <a:spLocks xmlns:a="http://schemas.openxmlformats.org/drawingml/2006/main" noGrp="1"/>
          </p:cNvSpPr>
          <p:nvPr/>
        </p:nvSpPr>
        <p:spPr>
          <a:xfrm xmlns:a="http://schemas.openxmlformats.org/drawingml/2006/main">
            <a:off x="609600" y="1971675"/>
            <a:ext cx="2047875" cy="74295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Storage</a:t>
            </a:r>
          </a:p>
        </p:txBody>
      </p:sp>
      <p:sp>
        <p:nvSpPr>
          <p:cNvPr id="5" name="">
            <a:extLst xmlns:a="http://schemas.openxmlformats.org/drawingml/2006/main">
              <a:ext uri="{FF2B5EF4-FFF2-40B4-BE49-F238E27FC236}">
                <a16:creationId xmlns:a16="http://schemas.microsoft.com/office/drawing/2014/main" id="{1654B10A-11EC-4730-BCF5-21611259C5AB}"/>
              </a:ext>
            </a:extLst>
          </p:cNvPr>
          <p:cNvSpPr>
            <a:spLocks xmlns:a="http://schemas.openxmlformats.org/drawingml/2006/main" noGrp="1"/>
          </p:cNvSpPr>
          <p:nvPr/>
        </p:nvSpPr>
        <p:spPr>
          <a:xfrm xmlns:a="http://schemas.openxmlformats.org/drawingml/2006/main">
            <a:off x="4419600" y="1971675"/>
            <a:ext cx="2952750" cy="74295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Host staging RAM</a:t>
            </a:r>
          </a:p>
        </p:txBody>
      </p:sp>
      <p:sp>
        <p:nvSpPr>
          <p:cNvPr id="6" name="">
            <a:extLst xmlns:a="http://schemas.openxmlformats.org/drawingml/2006/main">
              <a:ext uri="{FF2B5EF4-FFF2-40B4-BE49-F238E27FC236}">
                <a16:creationId xmlns:a16="http://schemas.microsoft.com/office/drawing/2014/main" id="{A8055210-9D87-4455-A6FA-3D6051B6EB30}"/>
              </a:ext>
            </a:extLst>
          </p:cNvPr>
          <p:cNvSpPr>
            <a:spLocks xmlns:a="http://schemas.openxmlformats.org/drawingml/2006/main" noGrp="1"/>
          </p:cNvSpPr>
          <p:nvPr/>
        </p:nvSpPr>
        <p:spPr>
          <a:xfrm xmlns:a="http://schemas.openxmlformats.org/drawingml/2006/main">
            <a:off x="9277350" y="1971675"/>
            <a:ext cx="2305050" cy="74295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GPU memory</a:t>
            </a:r>
          </a:p>
        </p:txBody>
      </p:sp>
      <p:sp>
        <p:nvSpPr>
          <p:cNvPr id="9" name="storage read">
            <a:extLst xmlns:a="http://schemas.openxmlformats.org/drawingml/2006/main">
              <a:ext uri="{FF2B5EF4-FFF2-40B4-BE49-F238E27FC236}">
                <a16:creationId xmlns:a16="http://schemas.microsoft.com/office/drawing/2014/main" id="{318DB098-324B-4C28-B36B-5DE8DA038595}"/>
              </a:ext>
            </a:extLst>
          </p:cNvPr>
          <p:cNvSpPr>
            <a:spLocks xmlns:a="http://schemas.openxmlformats.org/drawingml/2006/main" noGrp="1"/>
          </p:cNvSpPr>
          <p:nvPr/>
        </p:nvSpPr>
        <p:spPr>
          <a:xfrm xmlns:a="http://schemas.openxmlformats.org/drawingml/2006/main">
            <a:off x="2743200" y="2057400"/>
            <a:ext cx="1524000" cy="2506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0">
                <a:solidFill>
                  <a:srgbClr val="142D45"/>
                </a:solidFill>
                <a:latin typeface="Arial"/>
                <a:ea typeface="Arial"/>
                <a:cs typeface="Arial"/>
              </a:defRPr>
            </a:defPPr>
          </a:lstStyle>
          <a:p xmlns:a="http://schemas.openxmlformats.org/drawingml/2006/main">
            <a:pPr algn="ctr">
              <a:defRPr sz="1350" b="0">
                <a:solidFill>
                  <a:srgbClr val="142D45"/>
                </a:solidFill>
                <a:latin typeface="Arial"/>
                <a:ea typeface="Arial"/>
                <a:cs typeface="Arial"/>
              </a:defRPr>
            </a:pPr>
            <a:r>
              <a:rPr sz="1350" b="0">
                <a:solidFill>
                  <a:srgbClr val="142D45"/>
                </a:solidFill>
                <a:latin typeface="Arial"/>
                <a:ea typeface="Arial"/>
                <a:cs typeface="Arial"/>
              </a:rPr>
              <a:t>storage read</a:t>
            </a:r>
          </a:p>
        </p:txBody>
      </p:sp>
      <p:sp>
        <p:nvSpPr>
          <p:cNvPr id="10" name="H2D / PCIe">
            <a:extLst xmlns:a="http://schemas.openxmlformats.org/drawingml/2006/main">
              <a:ext uri="{FF2B5EF4-FFF2-40B4-BE49-F238E27FC236}">
                <a16:creationId xmlns:a16="http://schemas.microsoft.com/office/drawing/2014/main" id="{C4403BC4-A4B1-42D4-A89C-ED4C295D7D50}"/>
              </a:ext>
            </a:extLst>
          </p:cNvPr>
          <p:cNvSpPr>
            <a:spLocks xmlns:a="http://schemas.openxmlformats.org/drawingml/2006/main" noGrp="1"/>
          </p:cNvSpPr>
          <p:nvPr/>
        </p:nvSpPr>
        <p:spPr>
          <a:xfrm xmlns:a="http://schemas.openxmlformats.org/drawingml/2006/main">
            <a:off x="7524750" y="2057400"/>
            <a:ext cx="1628775" cy="2506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0">
                <a:solidFill>
                  <a:srgbClr val="142D45"/>
                </a:solidFill>
                <a:latin typeface="Arial"/>
                <a:ea typeface="Arial"/>
                <a:cs typeface="Arial"/>
              </a:defRPr>
            </a:defPPr>
          </a:lstStyle>
          <a:p xmlns:a="http://schemas.openxmlformats.org/drawingml/2006/main">
            <a:pPr algn="ctr">
              <a:defRPr sz="1350" b="0">
                <a:solidFill>
                  <a:srgbClr val="142D45"/>
                </a:solidFill>
                <a:latin typeface="Arial"/>
                <a:ea typeface="Arial"/>
                <a:cs typeface="Arial"/>
              </a:defRPr>
            </a:pPr>
            <a:r>
              <a:rPr sz="1350" b="0">
                <a:solidFill>
                  <a:srgbClr val="142D45"/>
                </a:solidFill>
                <a:latin typeface="Arial"/>
                <a:ea typeface="Arial"/>
                <a:cs typeface="Arial"/>
              </a:rPr>
              <a:t>H2D / PCIe</a:t>
            </a:r>
          </a:p>
        </p:txBody>
      </p:sp>
      <p:sp>
        <p:nvSpPr>
          <p:cNvPr id="11" name="GDS direct path (supported configuration)">
            <a:extLst xmlns:a="http://schemas.openxmlformats.org/drawingml/2006/main">
              <a:ext uri="{FF2B5EF4-FFF2-40B4-BE49-F238E27FC236}">
                <a16:creationId xmlns:a16="http://schemas.microsoft.com/office/drawing/2014/main" id="{3A5FE98C-2D4C-4DF6-88A9-BFE829D14C1E}"/>
              </a:ext>
            </a:extLst>
          </p:cNvPr>
          <p:cNvSpPr>
            <a:spLocks xmlns:a="http://schemas.openxmlformats.org/drawingml/2006/main" noGrp="1"/>
          </p:cNvSpPr>
          <p:nvPr/>
        </p:nvSpPr>
        <p:spPr>
          <a:xfrm xmlns:a="http://schemas.openxmlformats.org/drawingml/2006/main">
            <a:off x="609600" y="2924175"/>
            <a:ext cx="7620000" cy="3451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07B83"/>
                </a:solidFill>
                <a:latin typeface="Arial"/>
                <a:ea typeface="Arial"/>
                <a:cs typeface="Arial"/>
              </a:defRPr>
            </a:defPPr>
          </a:lstStyle>
          <a:p xmlns:a="http://schemas.openxmlformats.org/drawingml/2006/main">
            <a:pPr algn="l">
              <a:defRPr sz="1950" b="1">
                <a:solidFill>
                  <a:srgbClr val="007B83"/>
                </a:solidFill>
                <a:latin typeface="Arial"/>
                <a:ea typeface="Arial"/>
                <a:cs typeface="Arial"/>
              </a:defRPr>
            </a:pPr>
            <a:r>
              <a:rPr sz="1950" b="1">
                <a:solidFill>
                  <a:srgbClr val="007B83"/>
                </a:solidFill>
                <a:latin typeface="Arial"/>
                <a:ea typeface="Arial"/>
                <a:cs typeface="Arial"/>
              </a:rPr>
              <a:t>GDS direct path (supported configuration)</a:t>
            </a:r>
          </a:p>
        </p:txBody>
      </p:sp>
      <p:sp>
        <p:nvSpPr>
          <p:cNvPr id="12" name="">
            <a:extLst xmlns:a="http://schemas.openxmlformats.org/drawingml/2006/main">
              <a:ext uri="{FF2B5EF4-FFF2-40B4-BE49-F238E27FC236}">
                <a16:creationId xmlns:a16="http://schemas.microsoft.com/office/drawing/2014/main" id="{257343BC-F92D-41CA-8A31-B206E8B76459}"/>
              </a:ext>
            </a:extLst>
          </p:cNvPr>
          <p:cNvSpPr>
            <a:spLocks xmlns:a="http://schemas.openxmlformats.org/drawingml/2006/main" noGrp="1"/>
          </p:cNvSpPr>
          <p:nvPr/>
        </p:nvSpPr>
        <p:spPr>
          <a:xfrm xmlns:a="http://schemas.openxmlformats.org/drawingml/2006/main">
            <a:off x="609600" y="3333750"/>
            <a:ext cx="2476500" cy="81915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Storage-side DMA</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NVMe / NIC</a:t>
            </a:r>
          </a:p>
        </p:txBody>
      </p:sp>
      <p:sp>
        <p:nvSpPr>
          <p:cNvPr id="13" name="">
            <a:extLst xmlns:a="http://schemas.openxmlformats.org/drawingml/2006/main">
              <a:ext uri="{FF2B5EF4-FFF2-40B4-BE49-F238E27FC236}">
                <a16:creationId xmlns:a16="http://schemas.microsoft.com/office/drawing/2014/main" id="{CCB42CBD-B38D-4F02-BEFD-B83008D8CDD0}"/>
              </a:ext>
            </a:extLst>
          </p:cNvPr>
          <p:cNvSpPr>
            <a:spLocks xmlns:a="http://schemas.openxmlformats.org/drawingml/2006/main" noGrp="1"/>
          </p:cNvSpPr>
          <p:nvPr/>
        </p:nvSpPr>
        <p:spPr>
          <a:xfrm xmlns:a="http://schemas.openxmlformats.org/drawingml/2006/main">
            <a:off x="9277350" y="3333750"/>
            <a:ext cx="2305050" cy="81915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GPU memory</a:t>
            </a:r>
          </a:p>
        </p:txBody>
      </p:sp>
      <p:sp>
        <p:nvSpPr>
          <p:cNvPr id="15" name="PCIe data path bypasses host staging">
            <a:extLst xmlns:a="http://schemas.openxmlformats.org/drawingml/2006/main">
              <a:ext uri="{FF2B5EF4-FFF2-40B4-BE49-F238E27FC236}">
                <a16:creationId xmlns:a16="http://schemas.microsoft.com/office/drawing/2014/main" id="{3363059D-DA96-4910-9526-A4E391246D17}"/>
              </a:ext>
            </a:extLst>
          </p:cNvPr>
          <p:cNvSpPr>
            <a:spLocks xmlns:a="http://schemas.openxmlformats.org/drawingml/2006/main" noGrp="1"/>
          </p:cNvSpPr>
          <p:nvPr/>
        </p:nvSpPr>
        <p:spPr>
          <a:xfrm xmlns:a="http://schemas.openxmlformats.org/drawingml/2006/main">
            <a:off x="3705225" y="3390900"/>
            <a:ext cx="4972050" cy="2861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0">
                <a:solidFill>
                  <a:srgbClr val="142D45"/>
                </a:solidFill>
                <a:latin typeface="Arial"/>
                <a:ea typeface="Arial"/>
                <a:cs typeface="Arial"/>
              </a:defRPr>
            </a:defPPr>
          </a:lstStyle>
          <a:p xmlns:a="http://schemas.openxmlformats.org/drawingml/2006/main">
            <a:pPr algn="ctr">
              <a:defRPr sz="1575" b="0">
                <a:solidFill>
                  <a:srgbClr val="142D45"/>
                </a:solidFill>
                <a:latin typeface="Arial"/>
                <a:ea typeface="Arial"/>
                <a:cs typeface="Arial"/>
              </a:defRPr>
            </a:pPr>
            <a:r>
              <a:rPr sz="1575" b="0">
                <a:solidFill>
                  <a:srgbClr val="142D45"/>
                </a:solidFill>
                <a:latin typeface="Arial"/>
                <a:ea typeface="Arial"/>
                <a:cs typeface="Arial"/>
              </a:rPr>
              <a:t>PCIe data path bypasses host staging</a:t>
            </a:r>
          </a:p>
        </p:txBody>
      </p:sp>
      <p:sp>
        <p:nvSpPr>
          <p:cNvPr id="16" name="CPU issues cuFile I/O. Fallback may stage through RAM; ">
            <a:extLst xmlns:a="http://schemas.openxmlformats.org/drawingml/2006/main">
              <a:ext uri="{FF2B5EF4-FFF2-40B4-BE49-F238E27FC236}">
                <a16:creationId xmlns:a16="http://schemas.microsoft.com/office/drawing/2014/main" id="{70993580-9056-4CD3-A6A6-AC738D82280A}"/>
              </a:ext>
            </a:extLst>
          </p:cNvPr>
          <p:cNvSpPr>
            <a:spLocks xmlns:a="http://schemas.openxmlformats.org/drawingml/2006/main" noGrp="1"/>
          </p:cNvSpPr>
          <p:nvPr/>
        </p:nvSpPr>
        <p:spPr>
          <a:xfrm xmlns:a="http://schemas.openxmlformats.org/drawingml/2006/main">
            <a:off x="609600" y="4305300"/>
            <a:ext cx="10972800" cy="5577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CPU issues cuFile I/O. Fallback may stage through RAM; GDS does not decode images or accelerate kernel</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arithmetic.</a:t>
            </a:r>
          </a:p>
        </p:txBody>
      </p:sp>
      <p:sp>
        <p:nvSpPr>
          <p:cNvPr id="17" name="Use conventional copies for CPU-decoded / already-in-RA">
            <a:extLst xmlns:a="http://schemas.openxmlformats.org/drawingml/2006/main">
              <a:ext uri="{FF2B5EF4-FFF2-40B4-BE49-F238E27FC236}">
                <a16:creationId xmlns:a16="http://schemas.microsoft.com/office/drawing/2014/main" id="{CABAE863-46CF-4941-B69A-3E5132CF3EBE}"/>
              </a:ext>
            </a:extLst>
          </p:cNvPr>
          <p:cNvSpPr>
            <a:spLocks xmlns:a="http://schemas.openxmlformats.org/drawingml/2006/main" noGrp="1"/>
          </p:cNvSpPr>
          <p:nvPr/>
        </p:nvSpPr>
        <p:spPr>
          <a:xfrm xmlns:a="http://schemas.openxmlformats.org/drawingml/2006/main">
            <a:off x="609600" y="4924425"/>
            <a:ext cx="10972800" cy="5577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Use conventional copies for CPU-decoded / already-in-RAM pixels. Consider GDS for storage-bound GPU-ready</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batches only with supported GPU/filesystem/driver/topology and lower completed batch time.</a:t>
            </a:r>
          </a:p>
        </p:txBody>
      </p:sp>
      <p:sp>
        <p:nvSpPr>
          <p:cNvPr id="18" name="">
            <a:extLst xmlns:a="http://schemas.openxmlformats.org/drawingml/2006/main">
              <a:ext uri="{FF2B5EF4-FFF2-40B4-BE49-F238E27FC236}">
                <a16:creationId xmlns:a16="http://schemas.microsoft.com/office/drawing/2014/main" id="{95371157-1A93-4EE2-901F-552BA7244B06}"/>
              </a:ext>
            </a:extLst>
          </p:cNvPr>
          <p:cNvSpPr>
            <a:spLocks xmlns:a="http://schemas.openxmlformats.org/drawingml/2006/main" noGrp="1"/>
          </p:cNvSpPr>
          <p:nvPr/>
        </p:nvSpPr>
        <p:spPr>
          <a:xfrm xmlns:a="http://schemas.openxmlformats.org/drawingml/2006/main">
            <a:off x="609600" y="5686425"/>
            <a:ext cx="10972800" cy="0"/>
          </a:xfrm>
          <a:prstGeom xmlns:a="http://schemas.openxmlformats.org/drawingml/2006/main" prst="line">
            <a:avLst/>
          </a:prstGeom>
          <a:noFill xmlns:a="http://schemas.openxmlformats.org/drawingml/2006/main"/>
          <a:ln xmlns:a="http://schemas.openxmlformats.org/drawingml/2006/main" w="19050">
            <a:solidFill>
              <a:srgbClr val="007B83"/>
            </a:solidFill>
            <a:prstDash val="solid"/>
          </a:ln>
        </p:spPr>
      </p:sp>
      <p:sp>
        <p:nvSpPr>
          <p:cNvPr id="19" name="GDS can reduce storage staging; it does not accelerate ">
            <a:extLst xmlns:a="http://schemas.openxmlformats.org/drawingml/2006/main">
              <a:ext uri="{FF2B5EF4-FFF2-40B4-BE49-F238E27FC236}">
                <a16:creationId xmlns:a16="http://schemas.microsoft.com/office/drawing/2014/main" id="{56F6545D-8892-459C-B6FE-04A53C6F8D4F}"/>
              </a:ext>
            </a:extLst>
          </p:cNvPr>
          <p:cNvSpPr>
            <a:spLocks xmlns:a="http://schemas.openxmlformats.org/drawingml/2006/main" noGrp="1"/>
          </p:cNvSpPr>
          <p:nvPr/>
        </p:nvSpPr>
        <p:spPr>
          <a:xfrm xmlns:a="http://schemas.openxmlformats.org/drawingml/2006/main">
            <a:off x="609600" y="5819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42D45"/>
                </a:solidFill>
                <a:latin typeface="Arial"/>
                <a:ea typeface="Arial"/>
                <a:cs typeface="Arial"/>
              </a:defRPr>
            </a:defPPr>
          </a:lstStyle>
          <a:p xmlns:a="http://schemas.openxmlformats.org/drawingml/2006/main">
            <a:pPr algn="l">
              <a:defRPr sz="1650" b="1">
                <a:solidFill>
                  <a:srgbClr val="142D45"/>
                </a:solidFill>
                <a:latin typeface="Arial"/>
                <a:ea typeface="Arial"/>
                <a:cs typeface="Arial"/>
              </a:defRPr>
            </a:pPr>
            <a:r>
              <a:rPr sz="1650" b="1">
                <a:solidFill>
                  <a:srgbClr val="142D45"/>
                </a:solidFill>
                <a:latin typeface="Arial"/>
                <a:ea typeface="Arial"/>
                <a:cs typeface="Arial"/>
              </a:rPr>
              <a:t>GDS can reduce storage staging; it does not accelerate rotation arithmetic.</a:t>
            </a:r>
          </a:p>
        </p:txBody>
      </p:sp>
      <p:sp>
        <p:nvSpPr>
          <p:cNvPr id="20" name="">
            <a:extLst xmlns:a="http://schemas.openxmlformats.org/drawingml/2006/main">
              <a:ext uri="{FF2B5EF4-FFF2-40B4-BE49-F238E27FC236}">
                <a16:creationId xmlns:a16="http://schemas.microsoft.com/office/drawing/2014/main" id="{1607D29D-B7D4-4367-A737-BF9C908F5592}"/>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21" name="Sources: [3] NVIDIA GDS overview; [4] NVIDIA GDS design">
            <a:extLst xmlns:a="http://schemas.openxmlformats.org/drawingml/2006/main">
              <a:ext uri="{FF2B5EF4-FFF2-40B4-BE49-F238E27FC236}">
                <a16:creationId xmlns:a16="http://schemas.microsoft.com/office/drawing/2014/main" id="{018E91C4-D368-40F6-AB2D-ADA30FDCFC93}"/>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[3] NVIDIA GDS overview; [4] NVIDIA GDS design</a:t>
            </a:r>
          </a:p>
        </p:txBody>
      </p:sp>
      <p:sp>
        <p:nvSpPr>
          <p:cNvPr id="22" name="6 / 28">
            <a:extLst xmlns:a="http://schemas.openxmlformats.org/drawingml/2006/main">
              <a:ext uri="{FF2B5EF4-FFF2-40B4-BE49-F238E27FC236}">
                <a16:creationId xmlns:a16="http://schemas.microsoft.com/office/drawing/2014/main" id="{4C521EF5-5EBF-40DB-BC0A-5495A163B937}"/>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6 / 28</a:t>
            </a:r>
          </a:p>
        </p:txBody>
      </p:sp>
    </p:spTree>
    <p:extLst>
      <p:ext uri="{BB962C8B-B14F-4D97-AF65-F5344CB8AC3E}">
        <p14:creationId xmlns:p14="http://schemas.microsoft.com/office/powerpoint/2010/main" val="897436804"/>
      </p:ext>
    </p:extLst>
  </p:cSld>
</p:sld>
</file>

<file path=ppt/slides/slide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3" name="Tasks 1 and 2 • Conclusions">
            <a:extLst xmlns:a="http://schemas.openxmlformats.org/drawingml/2006/main">
              <a:ext uri="{FF2B5EF4-FFF2-40B4-BE49-F238E27FC236}">
                <a16:creationId xmlns:a16="http://schemas.microsoft.com/office/drawing/2014/main" id="{A387BBD8-9E78-462D-B502-CF902D5B6327}"/>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Tasks 1 and 2 • Conclusions</a:t>
            </a:r>
          </a:p>
        </p:txBody>
      </p:sp>
      <p:sp>
        <p:nvSpPr>
          <p:cNvPr id="2" name="Scale useful work, then verify the outcome">
            <a:extLst xmlns:a="http://schemas.openxmlformats.org/drawingml/2006/main">
              <a:ext uri="{FF2B5EF4-FFF2-40B4-BE49-F238E27FC236}">
                <a16:creationId xmlns:a16="http://schemas.microsoft.com/office/drawing/2014/main" id="{FBEAA6AE-F849-4DD0-BC8A-F4161DF00899}"/>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Scale useful work, then verify the outcome</a:t>
            </a:r>
          </a:p>
        </p:txBody>
      </p:sp>
      <p:sp>
        <p:nvSpPr>
          <p:cNvPr id="3" name="Task 1: conditional performance">
            <a:extLst xmlns:a="http://schemas.openxmlformats.org/drawingml/2006/main">
              <a:ext uri="{FF2B5EF4-FFF2-40B4-BE49-F238E27FC236}">
                <a16:creationId xmlns:a16="http://schemas.microsoft.com/office/drawing/2014/main" id="{CB29176B-CBCE-483F-8F8F-6159EA69ADF8}"/>
              </a:ext>
            </a:extLst>
          </p:cNvPr>
          <p:cNvSpPr>
            <a:spLocks xmlns:a="http://schemas.openxmlformats.org/drawingml/2006/main" noGrp="1"/>
          </p:cNvSpPr>
          <p:nvPr/>
        </p:nvSpPr>
        <p:spPr>
          <a:xfrm xmlns:a="http://schemas.openxmlformats.org/drawingml/2006/main">
            <a:off x="60960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Task 1: conditional performance</a:t>
            </a:r>
          </a:p>
        </p:txBody>
      </p:sp>
      <p:sp>
        <p:nvSpPr>
          <p:cNvPr id="4" name="Independent inverse-gather pixels suit CUDA; locality, ">
            <a:extLst xmlns:a="http://schemas.openxmlformats.org/drawingml/2006/main">
              <a:ext uri="{FF2B5EF4-FFF2-40B4-BE49-F238E27FC236}">
                <a16:creationId xmlns:a16="http://schemas.microsoft.com/office/drawing/2014/main" id="{C62CA49E-92F0-4EE3-8097-17DEBF778C68}"/>
              </a:ext>
            </a:extLst>
          </p:cNvPr>
          <p:cNvSpPr>
            <a:spLocks xmlns:a="http://schemas.openxmlformats.org/drawingml/2006/main" noGrp="1"/>
          </p:cNvSpPr>
          <p:nvPr/>
        </p:nvSpPr>
        <p:spPr>
          <a:xfrm xmlns:a="http://schemas.openxmlformats.org/drawingml/2006/main">
            <a:off x="609600" y="1971675"/>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Independent inverse-gather pixels suit CUDA;</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locality, transfers and SM scheduling determine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speedup.</a:t>
            </a:r>
          </a:p>
        </p:txBody>
      </p:sp>
      <p:sp>
        <p:nvSpPr>
          <p:cNvPr id="5" name="GDS helps only a compatible storage-bound path. Next: c">
            <a:extLst xmlns:a="http://schemas.openxmlformats.org/drawingml/2006/main">
              <a:ext uri="{FF2B5EF4-FFF2-40B4-BE49-F238E27FC236}">
                <a16:creationId xmlns:a16="http://schemas.microsoft.com/office/drawing/2014/main" id="{905F52C0-FD8B-4823-B54E-096FC6CA96B9}"/>
              </a:ext>
            </a:extLst>
          </p:cNvPr>
          <p:cNvSpPr>
            <a:spLocks xmlns:a="http://schemas.openxmlformats.org/drawingml/2006/main" noGrp="1"/>
          </p:cNvSpPr>
          <p:nvPr/>
        </p:nvSpPr>
        <p:spPr>
          <a:xfrm xmlns:a="http://schemas.openxmlformats.org/drawingml/2006/main">
            <a:off x="609600" y="2996184"/>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GDS helps only a compatible storage-bound path.</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Next: compile, compare CPU/GPU output and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measure completed workloads.</a:t>
            </a:r>
          </a:p>
        </p:txBody>
      </p:sp>
      <p:sp>
        <p:nvSpPr>
          <p:cNvPr id="6" name="Task 2: accountable scaling">
            <a:extLst xmlns:a="http://schemas.openxmlformats.org/drawingml/2006/main">
              <a:ext uri="{FF2B5EF4-FFF2-40B4-BE49-F238E27FC236}">
                <a16:creationId xmlns:a16="http://schemas.microsoft.com/office/drawing/2014/main" id="{27BD42CE-D48F-40D9-BC81-D75DA0266DEF}"/>
              </a:ext>
            </a:extLst>
          </p:cNvPr>
          <p:cNvSpPr>
            <a:spLocks xmlns:a="http://schemas.openxmlformats.org/drawingml/2006/main" noGrp="1"/>
          </p:cNvSpPr>
          <p:nvPr/>
        </p:nvSpPr>
        <p:spPr>
          <a:xfrm xmlns:a="http://schemas.openxmlformats.org/drawingml/2006/main">
            <a:off x="641985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Task 2: accountable scaling</a:t>
            </a:r>
          </a:p>
        </p:txBody>
      </p:sp>
      <p:sp>
        <p:nvSpPr>
          <p:cNvPr id="7" name="Measure energy and useful output; protect data, evaluat">
            <a:extLst xmlns:a="http://schemas.openxmlformats.org/drawingml/2006/main">
              <a:ext uri="{FF2B5EF4-FFF2-40B4-BE49-F238E27FC236}">
                <a16:creationId xmlns:a16="http://schemas.microsoft.com/office/drawing/2014/main" id="{D777DF83-EDC6-447C-9DB7-0E86495774D2}"/>
              </a:ext>
            </a:extLst>
          </p:cNvPr>
          <p:cNvSpPr>
            <a:spLocks xmlns:a="http://schemas.openxmlformats.org/drawingml/2006/main" noGrp="1"/>
          </p:cNvSpPr>
          <p:nvPr/>
        </p:nvSpPr>
        <p:spPr>
          <a:xfrm xmlns:a="http://schemas.openxmlformats.org/drawingml/2006/main">
            <a:off x="6419850" y="1971675"/>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Measure energy and useful output; protect data,</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evaluate group harms and allocate access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transparently.</a:t>
            </a:r>
          </a:p>
        </p:txBody>
      </p:sp>
      <p:sp>
        <p:nvSpPr>
          <p:cNvPr id="8" name="Next: test a real cluster job and review outcomes. Sect">
            <a:extLst xmlns:a="http://schemas.openxmlformats.org/drawingml/2006/main">
              <a:ext uri="{FF2B5EF4-FFF2-40B4-BE49-F238E27FC236}">
                <a16:creationId xmlns:a16="http://schemas.microsoft.com/office/drawing/2014/main" id="{1B68FA18-E695-479E-B5DF-E8D2B46EC51E}"/>
              </a:ext>
            </a:extLst>
          </p:cNvPr>
          <p:cNvSpPr>
            <a:spLocks xmlns:a="http://schemas.openxmlformats.org/drawingml/2006/main" noGrp="1"/>
          </p:cNvSpPr>
          <p:nvPr/>
        </p:nvSpPr>
        <p:spPr>
          <a:xfrm xmlns:a="http://schemas.openxmlformats.org/drawingml/2006/main">
            <a:off x="6419850" y="2996184"/>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Next: test a real cluster job and review outcomes.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Sector projections and proposed policies are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evidence limits, not measured results.</a:t>
            </a:r>
          </a:p>
        </p:txBody>
      </p:sp>
      <p:sp>
        <p:nvSpPr>
          <p:cNvPr id="9" name="">
            <a:extLst xmlns:a="http://schemas.openxmlformats.org/drawingml/2006/main">
              <a:ext uri="{FF2B5EF4-FFF2-40B4-BE49-F238E27FC236}">
                <a16:creationId xmlns:a16="http://schemas.microsoft.com/office/drawing/2014/main" id="{68DEC165-D356-4CBE-B115-8CA97FBB7F1F}"/>
              </a:ext>
            </a:extLst>
          </p:cNvPr>
          <p:cNvSpPr>
            <a:spLocks xmlns:a="http://schemas.openxmlformats.org/drawingml/2006/main" noGrp="1"/>
          </p:cNvSpPr>
          <p:nvPr/>
        </p:nvSpPr>
        <p:spPr>
          <a:xfrm xmlns:a="http://schemas.openxmlformats.org/drawingml/2006/main">
            <a:off x="6086475" y="1543050"/>
            <a:ext cx="9525"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0" name="">
            <a:extLst xmlns:a="http://schemas.openxmlformats.org/drawingml/2006/main">
              <a:ext uri="{FF2B5EF4-FFF2-40B4-BE49-F238E27FC236}">
                <a16:creationId xmlns:a16="http://schemas.microsoft.com/office/drawing/2014/main" id="{FBF11647-62DB-4268-ADEA-3D776B647496}"/>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1" name="Sources: [2] NVIDIA CUDA Best Practices; [3] NVIDIA GDS">
            <a:extLst xmlns:a="http://schemas.openxmlformats.org/drawingml/2006/main">
              <a:ext uri="{FF2B5EF4-FFF2-40B4-BE49-F238E27FC236}">
                <a16:creationId xmlns:a16="http://schemas.microsoft.com/office/drawing/2014/main" id="{4A59C316-A8BB-454F-BB4F-AE707956ABAD}"/>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[2] NVIDIA CUDA Best Practices; [3] NVIDIA GDS overview; [4] NVIDIA GDS design; [10] Schwartz et al. 2019: efficiency reporting; [16] NIST: Govern, Map, Measure,</a:t>
            </a:r>
          </a:p>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Manage</a:t>
            </a:r>
          </a:p>
        </p:txBody>
      </p:sp>
      <p:sp>
        <p:nvSpPr>
          <p:cNvPr id="12" name="7 / 28">
            <a:extLst xmlns:a="http://schemas.openxmlformats.org/drawingml/2006/main">
              <a:ext uri="{FF2B5EF4-FFF2-40B4-BE49-F238E27FC236}">
                <a16:creationId xmlns:a16="http://schemas.microsoft.com/office/drawing/2014/main" id="{C2264147-1DDF-4952-B0F0-AE05C28B4F16}"/>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7 / 28</a:t>
            </a:r>
          </a:p>
        </p:txBody>
      </p:sp>
    </p:spTree>
    <p:extLst>
      <p:ext uri="{BB962C8B-B14F-4D97-AF65-F5344CB8AC3E}">
        <p14:creationId xmlns:p14="http://schemas.microsoft.com/office/powerpoint/2010/main" val="500356118"/>
      </p:ext>
    </p:extLst>
  </p:cSld>
</p:sld>
</file>

<file path=ppt/slides/slide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3" name="Appendix • Not part of the seven-minute presentation">
            <a:extLst xmlns:a="http://schemas.openxmlformats.org/drawingml/2006/main">
              <a:ext uri="{FF2B5EF4-FFF2-40B4-BE49-F238E27FC236}">
                <a16:creationId xmlns:a16="http://schemas.microsoft.com/office/drawing/2014/main" id="{4BD7369A-3012-409A-A725-064DF9A0FDC5}"/>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Not part of the seven-minute presentation</a:t>
            </a:r>
          </a:p>
        </p:txBody>
      </p:sp>
      <p:sp>
        <p:nvSpPr>
          <p:cNvPr id="2" name="Detailed answers and supporting evidence">
            <a:extLst xmlns:a="http://schemas.openxmlformats.org/drawingml/2006/main">
              <a:ext uri="{FF2B5EF4-FFF2-40B4-BE49-F238E27FC236}">
                <a16:creationId xmlns:a16="http://schemas.microsoft.com/office/drawing/2014/main" id="{90563339-B7DF-4B8E-9AD1-C84F8E15FEB1}"/>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Detailed answers and supporting evidence</a:t>
            </a:r>
          </a:p>
        </p:txBody>
      </p:sp>
      <p:sp>
        <p:nvSpPr>
          <p:cNvPr id="3" name="Task 1: implementation and analysis">
            <a:extLst xmlns:a="http://schemas.openxmlformats.org/drawingml/2006/main">
              <a:ext uri="{FF2B5EF4-FFF2-40B4-BE49-F238E27FC236}">
                <a16:creationId xmlns:a16="http://schemas.microsoft.com/office/drawing/2014/main" id="{0773ADFB-F826-48E2-8A47-6F80999A8900}"/>
              </a:ext>
            </a:extLst>
          </p:cNvPr>
          <p:cNvSpPr>
            <a:spLocks xmlns:a="http://schemas.openxmlformats.org/drawingml/2006/main" noGrp="1"/>
          </p:cNvSpPr>
          <p:nvPr/>
        </p:nvSpPr>
        <p:spPr>
          <a:xfrm xmlns:a="http://schemas.openxmlformats.org/drawingml/2006/main">
            <a:off x="60960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Task 1: implementation and analysis</a:t>
            </a:r>
          </a:p>
        </p:txBody>
      </p:sp>
      <p:sp>
        <p:nvSpPr>
          <p:cNvPr id="4" name="Complete rotation and brightness examples, thread/grid ">
            <a:extLst xmlns:a="http://schemas.openxmlformats.org/drawingml/2006/main">
              <a:ext uri="{FF2B5EF4-FFF2-40B4-BE49-F238E27FC236}">
                <a16:creationId xmlns:a16="http://schemas.microsoft.com/office/drawing/2014/main" id="{37F912B7-96BA-4215-B528-B856A08D98A6}"/>
              </a:ext>
            </a:extLst>
          </p:cNvPr>
          <p:cNvSpPr>
            <a:spLocks xmlns:a="http://schemas.openxmlformats.org/drawingml/2006/main" noGrp="1"/>
          </p:cNvSpPr>
          <p:nvPr/>
        </p:nvSpPr>
        <p:spPr>
          <a:xfrm xmlns:a="http://schemas.openxmlformats.org/drawingml/2006/main">
            <a:off x="609600" y="1971675"/>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Complete rotation and brightness examples,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thread/grid calculations, host launch and stream</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completion.</a:t>
            </a:r>
          </a:p>
        </p:txBody>
      </p:sp>
      <p:sp>
        <p:nvSpPr>
          <p:cNvPr id="5" name="Worked rotation, coordinate assumptions, launch-shape t">
            <a:extLst xmlns:a="http://schemas.openxmlformats.org/drawingml/2006/main">
              <a:ext uri="{FF2B5EF4-FFF2-40B4-BE49-F238E27FC236}">
                <a16:creationId xmlns:a16="http://schemas.microsoft.com/office/drawing/2014/main" id="{19ACEB7B-22D1-460F-96D3-587865830093}"/>
              </a:ext>
            </a:extLst>
          </p:cNvPr>
          <p:cNvSpPr>
            <a:spLocks xmlns:a="http://schemas.openxmlformats.org/drawingml/2006/main" noGrp="1"/>
          </p:cNvSpPr>
          <p:nvPr/>
        </p:nvSpPr>
        <p:spPr>
          <a:xfrm xmlns:a="http://schemas.openxmlformats.org/drawingml/2006/main">
            <a:off x="609600" y="2996184"/>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Worked rotation, coordinate assumptions,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launch-shape trade-offs, Amdahl bound, profiling</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and GPUDirect Storage decision.</a:t>
            </a:r>
          </a:p>
        </p:txBody>
      </p:sp>
      <p:sp>
        <p:nvSpPr>
          <p:cNvPr id="6" name="Task 2: research and policy">
            <a:extLst xmlns:a="http://schemas.openxmlformats.org/drawingml/2006/main">
              <a:ext uri="{FF2B5EF4-FFF2-40B4-BE49-F238E27FC236}">
                <a16:creationId xmlns:a16="http://schemas.microsoft.com/office/drawing/2014/main" id="{BC62D5CC-1501-4999-BEE6-7405A588863C}"/>
              </a:ext>
            </a:extLst>
          </p:cNvPr>
          <p:cNvSpPr>
            <a:spLocks xmlns:a="http://schemas.openxmlformats.org/drawingml/2006/main" noGrp="1"/>
          </p:cNvSpPr>
          <p:nvPr/>
        </p:nvSpPr>
        <p:spPr>
          <a:xfrm xmlns:a="http://schemas.openxmlformats.org/drawingml/2006/main">
            <a:off x="641985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Task 2: research and policy</a:t>
            </a:r>
          </a:p>
        </p:txBody>
      </p:sp>
      <p:sp>
        <p:nvSpPr>
          <p:cNvPr id="7" name="Parallel training, energy/carbon calculations, environm">
            <a:extLst xmlns:a="http://schemas.openxmlformats.org/drawingml/2006/main">
              <a:ext uri="{FF2B5EF4-FFF2-40B4-BE49-F238E27FC236}">
                <a16:creationId xmlns:a16="http://schemas.microsoft.com/office/drawing/2014/main" id="{A40D8EA3-711F-440E-99CC-A410E8DAB774}"/>
              </a:ext>
            </a:extLst>
          </p:cNvPr>
          <p:cNvSpPr>
            <a:spLocks xmlns:a="http://schemas.openxmlformats.org/drawingml/2006/main" noGrp="1"/>
          </p:cNvSpPr>
          <p:nvPr/>
        </p:nvSpPr>
        <p:spPr>
          <a:xfrm xmlns:a="http://schemas.openxmlformats.org/drawingml/2006/main">
            <a:off x="6419850" y="1971675"/>
            <a:ext cx="5124450" cy="581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Parallel training, energy/carbon calculations,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environmental accounting and research limitations.</a:t>
            </a:r>
          </a:p>
        </p:txBody>
      </p:sp>
      <p:sp>
        <p:nvSpPr>
          <p:cNvPr id="8" name="Risk owners, fairness example, allocation policy, frame">
            <a:extLst xmlns:a="http://schemas.openxmlformats.org/drawingml/2006/main">
              <a:ext uri="{FF2B5EF4-FFF2-40B4-BE49-F238E27FC236}">
                <a16:creationId xmlns:a16="http://schemas.microsoft.com/office/drawing/2014/main" id="{234A0132-2416-46A2-BE88-CC1ECC77EF84}"/>
              </a:ext>
            </a:extLst>
          </p:cNvPr>
          <p:cNvSpPr>
            <a:spLocks xmlns:a="http://schemas.openxmlformats.org/drawingml/2006/main" noGrp="1"/>
          </p:cNvSpPr>
          <p:nvPr/>
        </p:nvSpPr>
        <p:spPr>
          <a:xfrm xmlns:a="http://schemas.openxmlformats.org/drawingml/2006/main">
            <a:off x="6419850" y="2724531"/>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Risk owners, fairness example, allocation policy,</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framework roles, carbon-aware scheduling and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cross-topic comparisons.</a:t>
            </a:r>
          </a:p>
        </p:txBody>
      </p:sp>
      <p:sp>
        <p:nvSpPr>
          <p:cNvPr id="9" name="">
            <a:extLst xmlns:a="http://schemas.openxmlformats.org/drawingml/2006/main">
              <a:ext uri="{FF2B5EF4-FFF2-40B4-BE49-F238E27FC236}">
                <a16:creationId xmlns:a16="http://schemas.microsoft.com/office/drawing/2014/main" id="{00A54955-8E7A-4FD8-AD53-B1F98D47A59A}"/>
              </a:ext>
            </a:extLst>
          </p:cNvPr>
          <p:cNvSpPr>
            <a:spLocks xmlns:a="http://schemas.openxmlformats.org/drawingml/2006/main" noGrp="1"/>
          </p:cNvSpPr>
          <p:nvPr/>
        </p:nvSpPr>
        <p:spPr>
          <a:xfrm xmlns:a="http://schemas.openxmlformats.org/drawingml/2006/main">
            <a:off x="6086475" y="1543050"/>
            <a:ext cx="9525"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0" name="">
            <a:extLst xmlns:a="http://schemas.openxmlformats.org/drawingml/2006/main">
              <a:ext uri="{FF2B5EF4-FFF2-40B4-BE49-F238E27FC236}">
                <a16:creationId xmlns:a16="http://schemas.microsoft.com/office/drawing/2014/main" id="{0E7B2015-26F1-4767-A1D6-3511B0D73CEA}"/>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1" name="FIT3143 Applied 2">
            <a:extLst xmlns:a="http://schemas.openxmlformats.org/drawingml/2006/main">
              <a:ext uri="{FF2B5EF4-FFF2-40B4-BE49-F238E27FC236}">
                <a16:creationId xmlns:a16="http://schemas.microsoft.com/office/drawing/2014/main" id="{ABA5185B-1F2E-443C-956B-57AB5D25E876}"/>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FIT3143 Applied 2</a:t>
            </a:r>
          </a:p>
        </p:txBody>
      </p:sp>
      <p:sp>
        <p:nvSpPr>
          <p:cNvPr id="12" name="8 / 28">
            <a:extLst xmlns:a="http://schemas.openxmlformats.org/drawingml/2006/main">
              <a:ext uri="{FF2B5EF4-FFF2-40B4-BE49-F238E27FC236}">
                <a16:creationId xmlns:a16="http://schemas.microsoft.com/office/drawing/2014/main" id="{073E27EF-A236-4F6B-BE25-BB47D4EBB310}"/>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8 / 28</a:t>
            </a:r>
          </a:p>
        </p:txBody>
      </p:sp>
    </p:spTree>
    <p:extLst>
      <p:ext uri="{BB962C8B-B14F-4D97-AF65-F5344CB8AC3E}">
        <p14:creationId xmlns:p14="http://schemas.microsoft.com/office/powerpoint/2010/main" val="1389490676"/>
      </p:ext>
    </p:extLst>
  </p:cSld>
</p:sld>
</file>

<file path=ppt/slides/slide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3" name="Appendix • Task 1 • Task 1(b) • Worked rotation">
            <a:extLst xmlns:a="http://schemas.openxmlformats.org/drawingml/2006/main">
              <a:ext uri="{FF2B5EF4-FFF2-40B4-BE49-F238E27FC236}">
                <a16:creationId xmlns:a16="http://schemas.microsoft.com/office/drawing/2014/main" id="{13F23A65-EDE7-4BE0-B7DB-20039B0BAF66}"/>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Task 1(b) • Worked rotation</a:t>
            </a:r>
          </a:p>
        </p:txBody>
      </p:sp>
      <p:sp>
        <p:nvSpPr>
          <p:cNvPr id="2" name="A 90-degree rotation example">
            <a:extLst xmlns:a="http://schemas.openxmlformats.org/drawingml/2006/main">
              <a:ext uri="{FF2B5EF4-FFF2-40B4-BE49-F238E27FC236}">
                <a16:creationId xmlns:a16="http://schemas.microsoft.com/office/drawing/2014/main" id="{074A9466-F1A0-47A8-8A55-7A7325FBD8D6}"/>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A 90-degree rotation example</a:t>
            </a:r>
          </a:p>
        </p:txBody>
      </p:sp>
      <p:sp>
        <p:nvSpPr>
          <p:cNvPr id="3" name="Input">
            <a:extLst xmlns:a="http://schemas.openxmlformats.org/drawingml/2006/main">
              <a:ext uri="{FF2B5EF4-FFF2-40B4-BE49-F238E27FC236}">
                <a16:creationId xmlns:a16="http://schemas.microsoft.com/office/drawing/2014/main" id="{C4284A50-4849-4B95-9E06-8DFDED735CDF}"/>
              </a:ext>
            </a:extLst>
          </p:cNvPr>
          <p:cNvSpPr>
            <a:spLocks xmlns:a="http://schemas.openxmlformats.org/drawingml/2006/main" noGrp="1"/>
          </p:cNvSpPr>
          <p:nvPr/>
        </p:nvSpPr>
        <p:spPr>
          <a:xfrm xmlns:a="http://schemas.openxmlformats.org/drawingml/2006/main">
            <a:off x="609600" y="1514475"/>
            <a:ext cx="403860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Input</a:t>
            </a:r>
          </a:p>
        </p:txBody>
      </p:sp>
      <p:graphicFrame>
        <p:nvGraphicFramePr>
          <p:cNvPr id="4" name="">
            <a:extLst xmlns:a="http://schemas.openxmlformats.org/drawingml/2006/main">
              <a:ext uri="{FF2B5EF4-FFF2-40B4-BE49-F238E27FC236}">
                <a16:creationId xmlns:a16="http://schemas.microsoft.com/office/drawing/2014/main" id="{41D4D3DE-FB92-4BB8-BB8F-25B1CEEB1F34}"/>
              </a:ext>
            </a:extLst>
          </p:cNvPr>
          <p:cNvGraphicFramePr/>
          <p:nvPr/>
        </p:nvGraphicFramePr>
        <p:xfrm>
          <a:off xmlns:a="http://schemas.openxmlformats.org/drawingml/2006/main" x="609600" y="2019300"/>
          <a:ext xmlns:a="http://schemas.openxmlformats.org/drawingml/2006/main" cx="4019550" cy="2857500"/>
        </p:xfrm>
        <a:graphic xmlns:a="http://schemas.openxmlformats.org/drawingml/2006/main">
          <a:graphicData uri="http://schemas.openxmlformats.org/drawingml/2006/table">
            <a:tbl>
              <a:tblPr/>
              <a:tblGrid>
                <a:gridCol w="803910"/>
                <a:gridCol w="803910"/>
                <a:gridCol w="803910"/>
                <a:gridCol w="803910"/>
                <a:gridCol w="803910"/>
              </a:tblGrid>
              <a:tr h="571500">
                <a:tc>
                  <a:txBody>
                    <a:bodyPr lIns="76200" tIns="76200" rIns="76200" bIns="76200"/>
                    <a:lstStyle/>
                    <a:p>
                      <a:pPr algn="ctr"/>
                      <a:r>
                        <a:rPr sz="2025">
                          <a:solidFill>
                            <a:srgbClr val="142D45"/>
                          </a:solidFill>
                          <a:latin typeface="Arial"/>
                          <a:ea typeface="Arial"/>
                          <a:cs typeface="Arial"/>
                        </a:rPr>
                        <a:t>0</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1</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2</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3</a:t>
                      </a:r>
                    </a:p>
                  </a:txBody>
                  <a:tcPr marL="91440" marR="91440" marT="45720" marB="45720" anchor="ctr">
                    <a:solidFill>
                      <a:srgbClr val="C2E7E5"/>
                    </a:solidFill>
                  </a:tcPr>
                </a:tc>
                <a:tc>
                  <a:txBody>
                    <a:bodyPr lIns="76200" tIns="76200" rIns="76200" bIns="76200"/>
                    <a:lstStyle/>
                    <a:p>
                      <a:pPr algn="ctr"/>
                      <a:r>
                        <a:rPr sz="2025">
                          <a:solidFill>
                            <a:srgbClr val="142D45"/>
                          </a:solidFill>
                          <a:latin typeface="Arial"/>
                          <a:ea typeface="Arial"/>
                          <a:cs typeface="Arial"/>
                        </a:rPr>
                        <a:t>4</a:t>
                      </a:r>
                    </a:p>
                  </a:txBody>
                  <a:tcPr marL="91440" marR="91440" marT="45720" marB="45720" anchor="ctr">
                    <a:solidFill>
                      <a:srgbClr val="FFFFFF"/>
                    </a:solidFill>
                  </a:tcPr>
                </a:tc>
              </a:tr>
              <a:tr h="571500">
                <a:tc>
                  <a:txBody>
                    <a:bodyPr lIns="76200" tIns="76200" rIns="76200" bIns="76200"/>
                    <a:lstStyle/>
                    <a:p>
                      <a:pPr algn="ctr"/>
                      <a:r>
                        <a:rPr sz="2025">
                          <a:solidFill>
                            <a:srgbClr val="142D45"/>
                          </a:solidFill>
                          <a:latin typeface="Arial"/>
                          <a:ea typeface="Arial"/>
                          <a:cs typeface="Arial"/>
                        </a:rPr>
                        <a:t>5</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6</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7</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8</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9</a:t>
                      </a:r>
                    </a:p>
                  </a:txBody>
                  <a:tcPr marL="91440" marR="91440" marT="45720" marB="45720" anchor="ctr">
                    <a:solidFill>
                      <a:srgbClr val="FFFFFF"/>
                    </a:solidFill>
                  </a:tcPr>
                </a:tc>
              </a:tr>
              <a:tr h="571500">
                <a:tc>
                  <a:txBody>
                    <a:bodyPr lIns="76200" tIns="76200" rIns="76200" bIns="76200"/>
                    <a:lstStyle/>
                    <a:p>
                      <a:pPr algn="ctr"/>
                      <a:r>
                        <a:rPr sz="2025">
                          <a:solidFill>
                            <a:srgbClr val="142D45"/>
                          </a:solidFill>
                          <a:latin typeface="Arial"/>
                          <a:ea typeface="Arial"/>
                          <a:cs typeface="Arial"/>
                        </a:rPr>
                        <a:t>10</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11</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12</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13</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14</a:t>
                      </a:r>
                    </a:p>
                  </a:txBody>
                  <a:tcPr marL="91440" marR="91440" marT="45720" marB="45720" anchor="ctr">
                    <a:solidFill>
                      <a:srgbClr val="FFFFFF"/>
                    </a:solidFill>
                  </a:tcPr>
                </a:tc>
              </a:tr>
              <a:tr h="571500">
                <a:tc>
                  <a:txBody>
                    <a:bodyPr lIns="76200" tIns="76200" rIns="76200" bIns="76200"/>
                    <a:lstStyle/>
                    <a:p>
                      <a:pPr algn="ctr"/>
                      <a:r>
                        <a:rPr sz="2025">
                          <a:solidFill>
                            <a:srgbClr val="142D45"/>
                          </a:solidFill>
                          <a:latin typeface="Arial"/>
                          <a:ea typeface="Arial"/>
                          <a:cs typeface="Arial"/>
                        </a:rPr>
                        <a:t>15</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16</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17</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18</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19</a:t>
                      </a:r>
                    </a:p>
                  </a:txBody>
                  <a:tcPr marL="91440" marR="91440" marT="45720" marB="45720" anchor="ctr">
                    <a:solidFill>
                      <a:srgbClr val="FFFFFF"/>
                    </a:solidFill>
                  </a:tcPr>
                </a:tc>
              </a:tr>
              <a:tr h="571500">
                <a:tc>
                  <a:txBody>
                    <a:bodyPr lIns="76200" tIns="76200" rIns="76200" bIns="76200"/>
                    <a:lstStyle/>
                    <a:p>
                      <a:pPr algn="ctr"/>
                      <a:r>
                        <a:rPr sz="2025">
                          <a:solidFill>
                            <a:srgbClr val="142D45"/>
                          </a:solidFill>
                          <a:latin typeface="Arial"/>
                          <a:ea typeface="Arial"/>
                          <a:cs typeface="Arial"/>
                        </a:rPr>
                        <a:t>20</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21</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22</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23</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24</a:t>
                      </a:r>
                    </a:p>
                  </a:txBody>
                  <a:tcPr marL="91440" marR="91440" marT="45720" marB="45720" anchor="ctr">
                    <a:solidFill>
                      <a:srgbClr val="FFFFFF"/>
                    </a:solidFill>
                  </a:tcPr>
                </a:tc>
              </a:tr>
            </a:tbl>
          </a:graphicData>
        </a:graphic>
      </p:graphicFrame>
      <p:sp>
        <p:nvSpPr>
          <p:cNvPr id="5" name="Output: 90° counterclockwise">
            <a:extLst xmlns:a="http://schemas.openxmlformats.org/drawingml/2006/main">
              <a:ext uri="{FF2B5EF4-FFF2-40B4-BE49-F238E27FC236}">
                <a16:creationId xmlns:a16="http://schemas.microsoft.com/office/drawing/2014/main" id="{F20035A8-F02B-43A7-8AE6-24DE7675A326}"/>
              </a:ext>
            </a:extLst>
          </p:cNvPr>
          <p:cNvSpPr>
            <a:spLocks xmlns:a="http://schemas.openxmlformats.org/drawingml/2006/main" noGrp="1"/>
          </p:cNvSpPr>
          <p:nvPr/>
        </p:nvSpPr>
        <p:spPr>
          <a:xfrm xmlns:a="http://schemas.openxmlformats.org/drawingml/2006/main">
            <a:off x="7562850" y="1514475"/>
            <a:ext cx="403860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Output: 90° counterclockwise</a:t>
            </a:r>
          </a:p>
        </p:txBody>
      </p:sp>
      <p:graphicFrame>
        <p:nvGraphicFramePr>
          <p:cNvPr id="6" name="">
            <a:extLst xmlns:a="http://schemas.openxmlformats.org/drawingml/2006/main">
              <a:ext uri="{FF2B5EF4-FFF2-40B4-BE49-F238E27FC236}">
                <a16:creationId xmlns:a16="http://schemas.microsoft.com/office/drawing/2014/main" id="{5C6283A4-2EA8-4368-BD7D-4EA7E423385A}"/>
              </a:ext>
            </a:extLst>
          </p:cNvPr>
          <p:cNvGraphicFramePr/>
          <p:nvPr/>
        </p:nvGraphicFramePr>
        <p:xfrm>
          <a:off xmlns:a="http://schemas.openxmlformats.org/drawingml/2006/main" x="7562850" y="2019300"/>
          <a:ext xmlns:a="http://schemas.openxmlformats.org/drawingml/2006/main" cx="4019550" cy="2857500"/>
        </p:xfrm>
        <a:graphic xmlns:a="http://schemas.openxmlformats.org/drawingml/2006/main">
          <a:graphicData uri="http://schemas.openxmlformats.org/drawingml/2006/table">
            <a:tbl>
              <a:tblPr/>
              <a:tblGrid>
                <a:gridCol w="803910"/>
                <a:gridCol w="803910"/>
                <a:gridCol w="803910"/>
                <a:gridCol w="803910"/>
                <a:gridCol w="803910"/>
              </a:tblGrid>
              <a:tr h="571500">
                <a:tc>
                  <a:txBody>
                    <a:bodyPr lIns="76200" tIns="76200" rIns="76200" bIns="76200"/>
                    <a:lstStyle/>
                    <a:p>
                      <a:pPr algn="ctr"/>
                      <a:r>
                        <a:rPr sz="2025">
                          <a:solidFill>
                            <a:srgbClr val="142D45"/>
                          </a:solidFill>
                          <a:latin typeface="Arial"/>
                          <a:ea typeface="Arial"/>
                          <a:cs typeface="Arial"/>
                        </a:rPr>
                        <a:t>4</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9</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14</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19</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24</a:t>
                      </a:r>
                    </a:p>
                  </a:txBody>
                  <a:tcPr marL="91440" marR="91440" marT="45720" marB="45720" anchor="ctr">
                    <a:solidFill>
                      <a:srgbClr val="FFFFFF"/>
                    </a:solidFill>
                  </a:tcPr>
                </a:tc>
              </a:tr>
              <a:tr h="571500">
                <a:tc>
                  <a:txBody>
                    <a:bodyPr lIns="76200" tIns="76200" rIns="76200" bIns="76200"/>
                    <a:lstStyle/>
                    <a:p>
                      <a:pPr algn="ctr"/>
                      <a:r>
                        <a:rPr sz="2025">
                          <a:solidFill>
                            <a:srgbClr val="142D45"/>
                          </a:solidFill>
                          <a:latin typeface="Arial"/>
                          <a:ea typeface="Arial"/>
                          <a:cs typeface="Arial"/>
                        </a:rPr>
                        <a:t>3</a:t>
                      </a:r>
                    </a:p>
                  </a:txBody>
                  <a:tcPr marL="91440" marR="91440" marT="45720" marB="45720" anchor="ctr">
                    <a:solidFill>
                      <a:srgbClr val="C2E7E5"/>
                    </a:solidFill>
                  </a:tcPr>
                </a:tc>
                <a:tc>
                  <a:txBody>
                    <a:bodyPr lIns="76200" tIns="76200" rIns="76200" bIns="76200"/>
                    <a:lstStyle/>
                    <a:p>
                      <a:pPr algn="ctr"/>
                      <a:r>
                        <a:rPr sz="2025">
                          <a:solidFill>
                            <a:srgbClr val="142D45"/>
                          </a:solidFill>
                          <a:latin typeface="Arial"/>
                          <a:ea typeface="Arial"/>
                          <a:cs typeface="Arial"/>
                        </a:rPr>
                        <a:t>8</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13</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18</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23</a:t>
                      </a:r>
                    </a:p>
                  </a:txBody>
                  <a:tcPr marL="91440" marR="91440" marT="45720" marB="45720" anchor="ctr">
                    <a:solidFill>
                      <a:srgbClr val="FFFFFF"/>
                    </a:solidFill>
                  </a:tcPr>
                </a:tc>
              </a:tr>
              <a:tr h="571500">
                <a:tc>
                  <a:txBody>
                    <a:bodyPr lIns="76200" tIns="76200" rIns="76200" bIns="76200"/>
                    <a:lstStyle/>
                    <a:p>
                      <a:pPr algn="ctr"/>
                      <a:r>
                        <a:rPr sz="2025">
                          <a:solidFill>
                            <a:srgbClr val="142D45"/>
                          </a:solidFill>
                          <a:latin typeface="Arial"/>
                          <a:ea typeface="Arial"/>
                          <a:cs typeface="Arial"/>
                        </a:rPr>
                        <a:t>2</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7</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12</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17</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22</a:t>
                      </a:r>
                    </a:p>
                  </a:txBody>
                  <a:tcPr marL="91440" marR="91440" marT="45720" marB="45720" anchor="ctr">
                    <a:solidFill>
                      <a:srgbClr val="FFFFFF"/>
                    </a:solidFill>
                  </a:tcPr>
                </a:tc>
              </a:tr>
              <a:tr h="571500">
                <a:tc>
                  <a:txBody>
                    <a:bodyPr lIns="76200" tIns="76200" rIns="76200" bIns="76200"/>
                    <a:lstStyle/>
                    <a:p>
                      <a:pPr algn="ctr"/>
                      <a:r>
                        <a:rPr sz="2025">
                          <a:solidFill>
                            <a:srgbClr val="142D45"/>
                          </a:solidFill>
                          <a:latin typeface="Arial"/>
                          <a:ea typeface="Arial"/>
                          <a:cs typeface="Arial"/>
                        </a:rPr>
                        <a:t>1</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6</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11</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16</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21</a:t>
                      </a:r>
                    </a:p>
                  </a:txBody>
                  <a:tcPr marL="91440" marR="91440" marT="45720" marB="45720" anchor="ctr">
                    <a:solidFill>
                      <a:srgbClr val="FFFFFF"/>
                    </a:solidFill>
                  </a:tcPr>
                </a:tc>
              </a:tr>
              <a:tr h="571500">
                <a:tc>
                  <a:txBody>
                    <a:bodyPr lIns="76200" tIns="76200" rIns="76200" bIns="76200"/>
                    <a:lstStyle/>
                    <a:p>
                      <a:pPr algn="ctr"/>
                      <a:r>
                        <a:rPr sz="2025">
                          <a:solidFill>
                            <a:srgbClr val="142D45"/>
                          </a:solidFill>
                          <a:latin typeface="Arial"/>
                          <a:ea typeface="Arial"/>
                          <a:cs typeface="Arial"/>
                        </a:rPr>
                        <a:t>0</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5</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10</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15</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20</a:t>
                      </a:r>
                    </a:p>
                  </a:txBody>
                  <a:tcPr marL="91440" marR="91440" marT="45720" marB="45720" anchor="ctr">
                    <a:solidFill>
                      <a:srgbClr val="FFFFFF"/>
                    </a:solidFill>
                  </a:tcPr>
                </a:tc>
              </a:tr>
            </a:tbl>
          </a:graphicData>
        </a:graphic>
      </p:graphicFrame>
      <p:sp>
        <p:nvSpPr>
          <p:cNvPr id="7" name="θ = 90°&#10;c = 0, s = 1&#10;center = (2,2)">
            <a:extLst xmlns:a="http://schemas.openxmlformats.org/drawingml/2006/main">
              <a:ext uri="{FF2B5EF4-FFF2-40B4-BE49-F238E27FC236}">
                <a16:creationId xmlns:a16="http://schemas.microsoft.com/office/drawing/2014/main" id="{E379FCB0-EC1F-4A57-917B-4374FF8FDD2D}"/>
              </a:ext>
            </a:extLst>
          </p:cNvPr>
          <p:cNvSpPr>
            <a:spLocks xmlns:a="http://schemas.openxmlformats.org/drawingml/2006/main" noGrp="1"/>
          </p:cNvSpPr>
          <p:nvPr/>
        </p:nvSpPr>
        <p:spPr>
          <a:xfrm xmlns:a="http://schemas.openxmlformats.org/drawingml/2006/main">
            <a:off x="4991100" y="2286000"/>
            <a:ext cx="2057400" cy="9593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0">
                <a:solidFill>
                  <a:srgbClr val="142D45"/>
                </a:solidFill>
                <a:latin typeface="Arial"/>
                <a:ea typeface="Arial"/>
                <a:cs typeface="Arial"/>
              </a:defRPr>
            </a:defPPr>
          </a:lstStyle>
          <a:p xmlns:a="http://schemas.openxmlformats.org/drawingml/2006/main">
            <a:pPr algn="ctr">
              <a:defRPr sz="1950" b="0">
                <a:solidFill>
                  <a:srgbClr val="142D45"/>
                </a:solidFill>
                <a:latin typeface="Arial"/>
                <a:ea typeface="Arial"/>
                <a:cs typeface="Arial"/>
              </a:defRPr>
            </a:pPr>
            <a:r>
              <a:rPr sz="1950" b="0">
                <a:solidFill>
                  <a:srgbClr val="142D45"/>
                </a:solidFill>
                <a:latin typeface="Arial"/>
                <a:ea typeface="Arial"/>
                <a:cs typeface="Arial"/>
              </a:rPr>
              <a:t>θ = 90°</a:t>
            </a:r>
          </a:p>
          <a:p xmlns:a="http://schemas.openxmlformats.org/drawingml/2006/main">
            <a:pPr algn="ctr">
              <a:defRPr sz="1950" b="0">
                <a:solidFill>
                  <a:srgbClr val="142D45"/>
                </a:solidFill>
                <a:latin typeface="Arial"/>
                <a:ea typeface="Arial"/>
                <a:cs typeface="Arial"/>
              </a:defRPr>
            </a:pPr>
            <a:r>
              <a:rPr sz="1950" b="0">
                <a:solidFill>
                  <a:srgbClr val="142D45"/>
                </a:solidFill>
                <a:latin typeface="Arial"/>
                <a:ea typeface="Arial"/>
                <a:cs typeface="Arial"/>
              </a:rPr>
              <a:t>c = 0, s = 1</a:t>
            </a:r>
          </a:p>
          <a:p xmlns:a="http://schemas.openxmlformats.org/drawingml/2006/main">
            <a:pPr algn="ctr">
              <a:defRPr sz="1950" b="0">
                <a:solidFill>
                  <a:srgbClr val="142D45"/>
                </a:solidFill>
                <a:latin typeface="Arial"/>
                <a:ea typeface="Arial"/>
                <a:cs typeface="Arial"/>
              </a:defRPr>
            </a:pPr>
            <a:r>
              <a:rPr sz="1950" b="0">
                <a:solidFill>
                  <a:srgbClr val="142D45"/>
                </a:solidFill>
                <a:latin typeface="Arial"/>
                <a:ea typeface="Arial"/>
                <a:cs typeface="Arial"/>
              </a:rPr>
              <a:t>center = (2,2)</a:t>
            </a:r>
          </a:p>
        </p:txBody>
      </p:sp>
      <p:sp>
        <p:nvSpPr>
          <p:cNvPr id="8" name="Output (0,1) → source (3,0) → value 3">
            <a:extLst xmlns:a="http://schemas.openxmlformats.org/drawingml/2006/main">
              <a:ext uri="{FF2B5EF4-FFF2-40B4-BE49-F238E27FC236}">
                <a16:creationId xmlns:a16="http://schemas.microsoft.com/office/drawing/2014/main" id="{D0E1A2E9-B389-469E-847F-E3892BBDE4F4}"/>
              </a:ext>
            </a:extLst>
          </p:cNvPr>
          <p:cNvSpPr>
            <a:spLocks xmlns:a="http://schemas.openxmlformats.org/drawingml/2006/main" noGrp="1"/>
          </p:cNvSpPr>
          <p:nvPr/>
        </p:nvSpPr>
        <p:spPr>
          <a:xfrm xmlns:a="http://schemas.openxmlformats.org/drawingml/2006/main">
            <a:off x="609600" y="5238750"/>
            <a:ext cx="1097280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2D45"/>
                </a:solidFill>
                <a:latin typeface="Arial"/>
                <a:ea typeface="Arial"/>
                <a:cs typeface="Arial"/>
              </a:defRPr>
            </a:defPPr>
          </a:lstStyle>
          <a:p xmlns:a="http://schemas.openxmlformats.org/drawingml/2006/main">
            <a:pPr algn="l">
              <a:defRPr sz="2025" b="1">
                <a:solidFill>
                  <a:srgbClr val="142D45"/>
                </a:solidFill>
                <a:latin typeface="Arial"/>
                <a:ea typeface="Arial"/>
                <a:cs typeface="Arial"/>
              </a:defRPr>
            </a:pPr>
            <a:r>
              <a:rPr sz="2025" b="1">
                <a:solidFill>
                  <a:srgbClr val="142D45"/>
                </a:solidFill>
                <a:latin typeface="Arial"/>
                <a:ea typeface="Arial"/>
                <a:cs typeface="Arial"/>
              </a:rPr>
              <a:t>Output (0,1) → source (3,0) → value 3</a:t>
            </a:r>
          </a:p>
        </p:txBody>
      </p:sp>
      <p:sp>
        <p:nvSpPr>
          <p:cNvPr id="9" name="The matrix values are illustrative pixel identifiers, n">
            <a:extLst xmlns:a="http://schemas.openxmlformats.org/drawingml/2006/main">
              <a:ext uri="{FF2B5EF4-FFF2-40B4-BE49-F238E27FC236}">
                <a16:creationId xmlns:a16="http://schemas.microsoft.com/office/drawing/2014/main" id="{6E5C6350-D7F2-4800-BC8A-869A33D23C82}"/>
              </a:ext>
            </a:extLst>
          </p:cNvPr>
          <p:cNvSpPr>
            <a:spLocks xmlns:a="http://schemas.openxmlformats.org/drawingml/2006/main" noGrp="1"/>
          </p:cNvSpPr>
          <p:nvPr/>
        </p:nvSpPr>
        <p:spPr>
          <a:xfrm xmlns:a="http://schemas.openxmlformats.org/drawingml/2006/main">
            <a:off x="609600" y="5762625"/>
            <a:ext cx="10972800" cy="297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16170"/>
                </a:solidFill>
                <a:latin typeface="Arial"/>
                <a:ea typeface="Arial"/>
                <a:cs typeface="Arial"/>
              </a:defRPr>
            </a:defPPr>
          </a:lstStyle>
          <a:p xmlns:a="http://schemas.openxmlformats.org/drawingml/2006/main">
            <a:pPr algn="l">
              <a:defRPr sz="1650" b="0">
                <a:solidFill>
                  <a:srgbClr val="516170"/>
                </a:solidFill>
                <a:latin typeface="Arial"/>
                <a:ea typeface="Arial"/>
                <a:cs typeface="Arial"/>
              </a:defRPr>
            </a:pPr>
            <a:r>
              <a:rPr sz="1650" b="0">
                <a:solidFill>
                  <a:srgbClr val="516170"/>
                </a:solidFill>
                <a:latin typeface="Arial"/>
                <a:ea typeface="Arial"/>
                <a:cs typeface="Arial"/>
              </a:rPr>
              <a:t>The matrix values are illustrative pixel identifiers, not channel intensities.</a:t>
            </a:r>
          </a:p>
        </p:txBody>
      </p:sp>
      <p:sp>
        <p:nvSpPr>
          <p:cNvPr id="10" name="">
            <a:extLst xmlns:a="http://schemas.openxmlformats.org/drawingml/2006/main">
              <a:ext uri="{FF2B5EF4-FFF2-40B4-BE49-F238E27FC236}">
                <a16:creationId xmlns:a16="http://schemas.microsoft.com/office/drawing/2014/main" id="{1DA46120-B57B-49C3-ADE8-14038BC4505D}"/>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1" name="FIT3143 Applied 2">
            <a:extLst xmlns:a="http://schemas.openxmlformats.org/drawingml/2006/main">
              <a:ext uri="{FF2B5EF4-FFF2-40B4-BE49-F238E27FC236}">
                <a16:creationId xmlns:a16="http://schemas.microsoft.com/office/drawing/2014/main" id="{D9287E5C-01B6-471C-B967-34D6CFED4F7C}"/>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FIT3143 Applied 2</a:t>
            </a:r>
          </a:p>
        </p:txBody>
      </p:sp>
      <p:sp>
        <p:nvSpPr>
          <p:cNvPr id="12" name="9 / 28">
            <a:extLst xmlns:a="http://schemas.openxmlformats.org/drawingml/2006/main">
              <a:ext uri="{FF2B5EF4-FFF2-40B4-BE49-F238E27FC236}">
                <a16:creationId xmlns:a16="http://schemas.microsoft.com/office/drawing/2014/main" id="{ECFD1893-98E2-42DD-A0DF-E2DEA09D5756}"/>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9 / 28</a:t>
            </a:r>
          </a:p>
        </p:txBody>
      </p:sp>
    </p:spTree>
    <p:extLst>
      <p:ext uri="{BB962C8B-B14F-4D97-AF65-F5344CB8AC3E}">
        <p14:creationId xmlns:p14="http://schemas.microsoft.com/office/powerpoint/2010/main" val="1773418060"/>
      </p:ext>
    </p:extLst>
  </p:cSld>
</p:sld>
</file>

<file path=ppt/slides/slide1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51" name="Appendix • Task 1 • Task 1(b)">
            <a:extLst xmlns:a="http://schemas.openxmlformats.org/drawingml/2006/main">
              <a:ext uri="{FF2B5EF4-FFF2-40B4-BE49-F238E27FC236}">
                <a16:creationId xmlns:a16="http://schemas.microsoft.com/office/drawing/2014/main" id="{C5DA83CA-BF37-4CAB-8AE6-A5EFFD80C37C}"/>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Task 1(b)</a:t>
            </a:r>
          </a:p>
        </p:txBody>
      </p:sp>
      <p:sp>
        <p:nvSpPr>
          <p:cNvPr id="2" name="CUDA launch and execution hierarchy">
            <a:extLst xmlns:a="http://schemas.openxmlformats.org/drawingml/2006/main">
              <a:ext uri="{FF2B5EF4-FFF2-40B4-BE49-F238E27FC236}">
                <a16:creationId xmlns:a16="http://schemas.microsoft.com/office/drawing/2014/main" id="{711915B6-BF9B-41F6-B5D5-67E80D950C9E}"/>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CUDA launch and execution hierarchy</a:t>
            </a:r>
          </a:p>
        </p:txBody>
      </p:sp>
      <p:sp>
        <p:nvSpPr>
          <p:cNvPr id="3" name="">
            <a:extLst xmlns:a="http://schemas.openxmlformats.org/drawingml/2006/main">
              <a:ext uri="{FF2B5EF4-FFF2-40B4-BE49-F238E27FC236}">
                <a16:creationId xmlns:a16="http://schemas.microsoft.com/office/drawing/2014/main" id="{EF65863F-CBC9-496C-88E6-3DB9DFE1D0FC}"/>
              </a:ext>
            </a:extLst>
          </p:cNvPr>
          <p:cNvSpPr>
            <a:spLocks xmlns:a="http://schemas.openxmlformats.org/drawingml/2006/main" noGrp="1"/>
          </p:cNvSpPr>
          <p:nvPr/>
        </p:nvSpPr>
        <p:spPr>
          <a:xfrm xmlns:a="http://schemas.openxmlformats.org/drawingml/2006/main">
            <a:off x="609600" y="1514475"/>
            <a:ext cx="5943600" cy="1234440"/>
          </a:xfrm>
          <a:prstGeom xmlns:a="http://schemas.openxmlformats.org/drawingml/2006/main" prst="rect">
            <a:avLst/>
          </a:prstGeom>
          <a:solidFill xmlns:a="http://schemas.openxmlformats.org/drawingml/2006/main">
            <a:srgbClr val="EDF1F5"/>
          </a:solidFill>
          <a:ln xmlns:a="http://schemas.openxmlformats.org/drawingml/2006/main" w="14288">
            <a:noFill/>
            <a:prstDash val="solid"/>
          </a:ln>
        </p:spPr>
      </p:sp>
      <p:sp>
        <p:nvSpPr>
          <p:cNvPr id="4" name="dim3 block(16,16);&#10;dim3 grid(64,64);&#10;rotate_rgb&lt;&lt;&lt;grid,">
            <a:extLst xmlns:a="http://schemas.openxmlformats.org/drawingml/2006/main">
              <a:ext uri="{FF2B5EF4-FFF2-40B4-BE49-F238E27FC236}">
                <a16:creationId xmlns:a16="http://schemas.microsoft.com/office/drawing/2014/main" id="{9ADCFC55-2728-483B-8F70-AB3BAA13E252}"/>
              </a:ext>
            </a:extLst>
          </p:cNvPr>
          <p:cNvSpPr>
            <a:spLocks xmlns:a="http://schemas.openxmlformats.org/drawingml/2006/main" noGrp="1"/>
          </p:cNvSpPr>
          <p:nvPr/>
        </p:nvSpPr>
        <p:spPr>
          <a:xfrm xmlns:a="http://schemas.openxmlformats.org/drawingml/2006/main">
            <a:off x="723900" y="1600200"/>
            <a:ext cx="5715000" cy="11010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42D45"/>
                </a:solidFill>
                <a:latin typeface="Consolas"/>
                <a:ea typeface="Consolas"/>
                <a:cs typeface="Consolas"/>
              </a:defRPr>
            </a:defPPr>
          </a:lstStyle>
          <a:p xmlns:a="http://schemas.openxmlformats.org/drawingml/2006/main">
            <a:pPr algn="l">
              <a:defRPr sz="1650" b="0">
                <a:solidFill>
                  <a:srgbClr val="142D45"/>
                </a:solidFill>
                <a:latin typeface="Consolas"/>
                <a:ea typeface="Consolas"/>
                <a:cs typeface="Consolas"/>
              </a:defRPr>
            </a:pPr>
            <a:r>
              <a:rPr sz="1650" b="0">
                <a:solidFill>
                  <a:srgbClr val="142D45"/>
                </a:solidFill>
                <a:latin typeface="Consolas"/>
                <a:ea typeface="Consolas"/>
                <a:cs typeface="Consolas"/>
              </a:rPr>
              <a:t>dim3 block(16,16);</a:t>
            </a:r>
          </a:p>
          <a:p xmlns:a="http://schemas.openxmlformats.org/drawingml/2006/main">
            <a:pPr algn="l">
              <a:defRPr sz="1650" b="0">
                <a:solidFill>
                  <a:srgbClr val="142D45"/>
                </a:solidFill>
                <a:latin typeface="Consolas"/>
                <a:ea typeface="Consolas"/>
                <a:cs typeface="Consolas"/>
              </a:defRPr>
            </a:pPr>
            <a:r>
              <a:rPr sz="1650" b="0">
                <a:solidFill>
                  <a:srgbClr val="142D45"/>
                </a:solidFill>
                <a:latin typeface="Consolas"/>
                <a:ea typeface="Consolas"/>
                <a:cs typeface="Consolas"/>
              </a:rPr>
              <a:t>dim3 grid(64,64);</a:t>
            </a:r>
          </a:p>
          <a:p xmlns:a="http://schemas.openxmlformats.org/drawingml/2006/main">
            <a:pPr algn="l">
              <a:defRPr sz="1650" b="0">
                <a:solidFill>
                  <a:srgbClr val="142D45"/>
                </a:solidFill>
                <a:latin typeface="Consolas"/>
                <a:ea typeface="Consolas"/>
                <a:cs typeface="Consolas"/>
              </a:defRPr>
            </a:pPr>
            <a:r>
              <a:rPr sz="1650" b="0">
                <a:solidFill>
                  <a:srgbClr val="142D45"/>
                </a:solidFill>
                <a:latin typeface="Consolas"/>
                <a:ea typeface="Consolas"/>
                <a:cs typeface="Consolas"/>
              </a:rPr>
              <a:t>rotate_rgb&lt;&lt;&lt;grid,block&gt;&gt;&gt;(</a:t>
            </a:r>
          </a:p>
          <a:p xmlns:a="http://schemas.openxmlformats.org/drawingml/2006/main">
            <a:pPr algn="l">
              <a:defRPr sz="1650" b="0">
                <a:solidFill>
                  <a:srgbClr val="142D45"/>
                </a:solidFill>
                <a:latin typeface="Consolas"/>
                <a:ea typeface="Consolas"/>
                <a:cs typeface="Consolas"/>
              </a:defRPr>
            </a:pPr>
            <a:r>
              <a:rPr sz="1650" b="0">
                <a:solidFill>
                  <a:srgbClr val="142D45"/>
                </a:solidFill>
                <a:latin typeface="Consolas"/>
                <a:ea typeface="Consolas"/>
                <a:cs typeface="Consolas"/>
              </a:rPr>
              <a:t>  d_in,d_out,1024,1024,c,s);</a:t>
            </a:r>
          </a:p>
        </p:txBody>
      </p:sp>
      <p:sp>
        <p:nvSpPr>
          <p:cNvPr id="5" name="">
            <a:extLst xmlns:a="http://schemas.openxmlformats.org/drawingml/2006/main">
              <a:ext uri="{FF2B5EF4-FFF2-40B4-BE49-F238E27FC236}">
                <a16:creationId xmlns:a16="http://schemas.microsoft.com/office/drawing/2014/main" id="{A0EE75A6-530C-4A03-9DAE-F4198EE543B6}"/>
              </a:ext>
            </a:extLst>
          </p:cNvPr>
          <p:cNvSpPr>
            <a:spLocks xmlns:a="http://schemas.openxmlformats.org/drawingml/2006/main" noGrp="1"/>
          </p:cNvSpPr>
          <p:nvPr/>
        </p:nvSpPr>
        <p:spPr>
          <a:xfrm xmlns:a="http://schemas.openxmlformats.org/drawingml/2006/main">
            <a:off x="609600" y="3219450"/>
            <a:ext cx="5943600" cy="948690"/>
          </a:xfrm>
          <a:prstGeom xmlns:a="http://schemas.openxmlformats.org/drawingml/2006/main" prst="rect">
            <a:avLst/>
          </a:prstGeom>
          <a:solidFill xmlns:a="http://schemas.openxmlformats.org/drawingml/2006/main">
            <a:srgbClr val="EDF1F5"/>
          </a:solidFill>
          <a:ln xmlns:a="http://schemas.openxmlformats.org/drawingml/2006/main" w="14288">
            <a:noFill/>
            <a:prstDash val="solid"/>
          </a:ln>
        </p:spPr>
      </p:sp>
      <p:sp>
        <p:nvSpPr>
          <p:cNvPr id="6" name="x = blockIdx.x*blockDim.x + threadIdx.x;&#10;y = blockIdx.y">
            <a:extLst xmlns:a="http://schemas.openxmlformats.org/drawingml/2006/main">
              <a:ext uri="{FF2B5EF4-FFF2-40B4-BE49-F238E27FC236}">
                <a16:creationId xmlns:a16="http://schemas.microsoft.com/office/drawing/2014/main" id="{EC585A08-BB09-4AA6-A130-CEED3E55353C}"/>
              </a:ext>
            </a:extLst>
          </p:cNvPr>
          <p:cNvSpPr>
            <a:spLocks xmlns:a="http://schemas.openxmlformats.org/drawingml/2006/main" noGrp="1"/>
          </p:cNvSpPr>
          <p:nvPr/>
        </p:nvSpPr>
        <p:spPr>
          <a:xfrm xmlns:a="http://schemas.openxmlformats.org/drawingml/2006/main">
            <a:off x="723900" y="3305175"/>
            <a:ext cx="5715000" cy="8153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42D45"/>
                </a:solidFill>
                <a:latin typeface="Consolas"/>
                <a:ea typeface="Consolas"/>
                <a:cs typeface="Consolas"/>
              </a:defRPr>
            </a:defPPr>
          </a:lstStyle>
          <a:p xmlns:a="http://schemas.openxmlformats.org/drawingml/2006/main">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x = blockIdx.x*blockDim.x + threadIdx.x;</a:t>
            </a:r>
          </a:p>
          <a:p xmlns:a="http://schemas.openxmlformats.org/drawingml/2006/main">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y = blockIdx.y*blockDim.y + threadIdx.y;</a:t>
            </a:r>
          </a:p>
          <a:p xmlns:a="http://schemas.openxmlformats.org/drawingml/2006/main">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if (x &gt;= W || y &gt;= H) return;</a:t>
            </a:r>
          </a:p>
        </p:txBody>
      </p:sp>
      <p:sp>
        <p:nvSpPr>
          <p:cNvPr id="7" name="1024 × 1024 output">
            <a:extLst xmlns:a="http://schemas.openxmlformats.org/drawingml/2006/main">
              <a:ext uri="{FF2B5EF4-FFF2-40B4-BE49-F238E27FC236}">
                <a16:creationId xmlns:a16="http://schemas.microsoft.com/office/drawing/2014/main" id="{16E57F0D-DDAB-4D99-8FAC-387C529F1DEA}"/>
              </a:ext>
            </a:extLst>
          </p:cNvPr>
          <p:cNvSpPr>
            <a:spLocks xmlns:a="http://schemas.openxmlformats.org/drawingml/2006/main" noGrp="1"/>
          </p:cNvSpPr>
          <p:nvPr/>
        </p:nvSpPr>
        <p:spPr>
          <a:xfrm xmlns:a="http://schemas.openxmlformats.org/drawingml/2006/main">
            <a:off x="7239000" y="1562100"/>
            <a:ext cx="4343400" cy="3688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B83"/>
                </a:solidFill>
                <a:latin typeface="Arial"/>
                <a:ea typeface="Arial"/>
                <a:cs typeface="Arial"/>
              </a:defRPr>
            </a:defPPr>
          </a:lstStyle>
          <a:p xmlns:a="http://schemas.openxmlformats.org/drawingml/2006/main">
            <a:pPr algn="l">
              <a:defRPr sz="2100" b="1">
                <a:solidFill>
                  <a:srgbClr val="007B83"/>
                </a:solidFill>
                <a:latin typeface="Arial"/>
                <a:ea typeface="Arial"/>
                <a:cs typeface="Arial"/>
              </a:defRPr>
            </a:pPr>
            <a:r>
              <a:rPr sz="2100" b="1">
                <a:solidFill>
                  <a:srgbClr val="007B83"/>
                </a:solidFill>
                <a:latin typeface="Arial"/>
                <a:ea typeface="Arial"/>
                <a:cs typeface="Arial"/>
              </a:rPr>
              <a:t>1024 × 1024 output</a:t>
            </a:r>
          </a:p>
        </p:txBody>
      </p:sp>
      <p:sp>
        <p:nvSpPr>
          <p:cNvPr id="8" name="64 × 64 = 4,096 blocks">
            <a:extLst xmlns:a="http://schemas.openxmlformats.org/drawingml/2006/main">
              <a:ext uri="{FF2B5EF4-FFF2-40B4-BE49-F238E27FC236}">
                <a16:creationId xmlns:a16="http://schemas.microsoft.com/office/drawing/2014/main" id="{FF6F54A0-A9A0-4583-8A9B-4CBF4A8B35F6}"/>
              </a:ext>
            </a:extLst>
          </p:cNvPr>
          <p:cNvSpPr>
            <a:spLocks xmlns:a="http://schemas.openxmlformats.org/drawingml/2006/main" noGrp="1"/>
          </p:cNvSpPr>
          <p:nvPr/>
        </p:nvSpPr>
        <p:spPr>
          <a:xfrm xmlns:a="http://schemas.openxmlformats.org/drawingml/2006/main">
            <a:off x="7239000" y="2085975"/>
            <a:ext cx="4343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D45"/>
                </a:solidFill>
                <a:latin typeface="Arial"/>
                <a:ea typeface="Arial"/>
                <a:cs typeface="Arial"/>
              </a:defRPr>
            </a:defPPr>
          </a:lstStyle>
          <a:p xmlns:a="http://schemas.openxmlformats.org/drawingml/2006/main">
            <a:pPr algn="l">
              <a:defRPr sz="1875" b="0">
                <a:solidFill>
                  <a:srgbClr val="142D45"/>
                </a:solidFill>
                <a:latin typeface="Arial"/>
                <a:ea typeface="Arial"/>
                <a:cs typeface="Arial"/>
              </a:defRPr>
            </a:pPr>
            <a:r>
              <a:rPr sz="1875" b="0">
                <a:solidFill>
                  <a:srgbClr val="142D45"/>
                </a:solidFill>
                <a:latin typeface="Arial"/>
                <a:ea typeface="Arial"/>
                <a:cs typeface="Arial"/>
              </a:rPr>
              <a:t>64 × 64 = 4,096 blocks</a:t>
            </a:r>
          </a:p>
        </p:txBody>
      </p:sp>
      <p:sp>
        <p:nvSpPr>
          <p:cNvPr id="9" name="16 × 16 = 256 threads/block">
            <a:extLst xmlns:a="http://schemas.openxmlformats.org/drawingml/2006/main">
              <a:ext uri="{FF2B5EF4-FFF2-40B4-BE49-F238E27FC236}">
                <a16:creationId xmlns:a16="http://schemas.microsoft.com/office/drawing/2014/main" id="{B011B4FE-7D30-4C3F-8512-EF982FB9AE53}"/>
              </a:ext>
            </a:extLst>
          </p:cNvPr>
          <p:cNvSpPr>
            <a:spLocks xmlns:a="http://schemas.openxmlformats.org/drawingml/2006/main" noGrp="1"/>
          </p:cNvSpPr>
          <p:nvPr/>
        </p:nvSpPr>
        <p:spPr>
          <a:xfrm xmlns:a="http://schemas.openxmlformats.org/drawingml/2006/main">
            <a:off x="7239000" y="2571750"/>
            <a:ext cx="4343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D45"/>
                </a:solidFill>
                <a:latin typeface="Arial"/>
                <a:ea typeface="Arial"/>
                <a:cs typeface="Arial"/>
              </a:defRPr>
            </a:defPPr>
          </a:lstStyle>
          <a:p xmlns:a="http://schemas.openxmlformats.org/drawingml/2006/main">
            <a:pPr algn="l">
              <a:defRPr sz="1875" b="0">
                <a:solidFill>
                  <a:srgbClr val="142D45"/>
                </a:solidFill>
                <a:latin typeface="Arial"/>
                <a:ea typeface="Arial"/>
                <a:cs typeface="Arial"/>
              </a:defRPr>
            </a:pPr>
            <a:r>
              <a:rPr sz="1875" b="0">
                <a:solidFill>
                  <a:srgbClr val="142D45"/>
                </a:solidFill>
                <a:latin typeface="Arial"/>
                <a:ea typeface="Arial"/>
                <a:cs typeface="Arial"/>
              </a:rPr>
              <a:t>16 × 16 = 256 threads/block</a:t>
            </a:r>
          </a:p>
        </p:txBody>
      </p:sp>
      <p:sp>
        <p:nvSpPr>
          <p:cNvPr id="10" name="1,048,576 logical threads">
            <a:extLst xmlns:a="http://schemas.openxmlformats.org/drawingml/2006/main">
              <a:ext uri="{FF2B5EF4-FFF2-40B4-BE49-F238E27FC236}">
                <a16:creationId xmlns:a16="http://schemas.microsoft.com/office/drawing/2014/main" id="{16AD42CE-7F25-49DB-ADD8-D2AC881E26B8}"/>
              </a:ext>
            </a:extLst>
          </p:cNvPr>
          <p:cNvSpPr>
            <a:spLocks xmlns:a="http://schemas.openxmlformats.org/drawingml/2006/main" noGrp="1"/>
          </p:cNvSpPr>
          <p:nvPr/>
        </p:nvSpPr>
        <p:spPr>
          <a:xfrm xmlns:a="http://schemas.openxmlformats.org/drawingml/2006/main">
            <a:off x="7239000" y="3057525"/>
            <a:ext cx="4343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D45"/>
                </a:solidFill>
                <a:latin typeface="Arial"/>
                <a:ea typeface="Arial"/>
                <a:cs typeface="Arial"/>
              </a:defRPr>
            </a:defPPr>
          </a:lstStyle>
          <a:p xmlns:a="http://schemas.openxmlformats.org/drawingml/2006/main">
            <a:pPr algn="l">
              <a:defRPr sz="1875" b="0">
                <a:solidFill>
                  <a:srgbClr val="142D45"/>
                </a:solidFill>
                <a:latin typeface="Arial"/>
                <a:ea typeface="Arial"/>
                <a:cs typeface="Arial"/>
              </a:defRPr>
            </a:pPr>
            <a:r>
              <a:rPr sz="1875" b="0">
                <a:solidFill>
                  <a:srgbClr val="142D45"/>
                </a:solidFill>
                <a:latin typeface="Arial"/>
                <a:ea typeface="Arial"/>
                <a:cs typeface="Arial"/>
              </a:rPr>
              <a:t>1,048,576 logical threads</a:t>
            </a:r>
          </a:p>
        </p:txBody>
      </p:sp>
      <p:sp>
        <p:nvSpPr>
          <p:cNvPr id="11" name="32 threads/warp → 8 warps/block">
            <a:extLst xmlns:a="http://schemas.openxmlformats.org/drawingml/2006/main">
              <a:ext uri="{FF2B5EF4-FFF2-40B4-BE49-F238E27FC236}">
                <a16:creationId xmlns:a16="http://schemas.microsoft.com/office/drawing/2014/main" id="{100DE994-37EA-445F-9A19-235D6C130484}"/>
              </a:ext>
            </a:extLst>
          </p:cNvPr>
          <p:cNvSpPr>
            <a:spLocks xmlns:a="http://schemas.openxmlformats.org/drawingml/2006/main" noGrp="1"/>
          </p:cNvSpPr>
          <p:nvPr/>
        </p:nvSpPr>
        <p:spPr>
          <a:xfrm xmlns:a="http://schemas.openxmlformats.org/drawingml/2006/main">
            <a:off x="7239000" y="3543300"/>
            <a:ext cx="4343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D45"/>
                </a:solidFill>
                <a:latin typeface="Arial"/>
                <a:ea typeface="Arial"/>
                <a:cs typeface="Arial"/>
              </a:defRPr>
            </a:defPPr>
          </a:lstStyle>
          <a:p xmlns:a="http://schemas.openxmlformats.org/drawingml/2006/main">
            <a:pPr algn="l">
              <a:defRPr sz="1875" b="0">
                <a:solidFill>
                  <a:srgbClr val="142D45"/>
                </a:solidFill>
                <a:latin typeface="Arial"/>
                <a:ea typeface="Arial"/>
                <a:cs typeface="Arial"/>
              </a:defRPr>
            </a:pPr>
            <a:r>
              <a:rPr sz="1875" b="0">
                <a:solidFill>
                  <a:srgbClr val="142D45"/>
                </a:solidFill>
                <a:latin typeface="Arial"/>
                <a:ea typeface="Arial"/>
                <a:cs typeface="Arial"/>
              </a:rPr>
              <a:t>32 threads/warp → 8 warps/block</a:t>
            </a:r>
          </a:p>
        </p:txBody>
      </p:sp>
      <p:sp>
        <p:nvSpPr>
          <p:cNvPr id="12" name="One highlighted warp within a 16-wide block">
            <a:extLst xmlns:a="http://schemas.openxmlformats.org/drawingml/2006/main">
              <a:ext uri="{FF2B5EF4-FFF2-40B4-BE49-F238E27FC236}">
                <a16:creationId xmlns:a16="http://schemas.microsoft.com/office/drawing/2014/main" id="{A6CB5589-EC6B-459D-883E-229304248843}"/>
              </a:ext>
            </a:extLst>
          </p:cNvPr>
          <p:cNvSpPr>
            <a:spLocks xmlns:a="http://schemas.openxmlformats.org/drawingml/2006/main" noGrp="1"/>
          </p:cNvSpPr>
          <p:nvPr/>
        </p:nvSpPr>
        <p:spPr>
          <a:xfrm xmlns:a="http://schemas.openxmlformats.org/drawingml/2006/main">
            <a:off x="7239000" y="4029075"/>
            <a:ext cx="434340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16170"/>
                </a:solidFill>
                <a:latin typeface="Arial"/>
                <a:ea typeface="Arial"/>
                <a:cs typeface="Arial"/>
              </a:defRPr>
            </a:defPPr>
          </a:lstStyle>
          <a:p xmlns:a="http://schemas.openxmlformats.org/drawingml/2006/main">
            <a:pPr algn="l">
              <a:defRPr sz="1500" b="0">
                <a:solidFill>
                  <a:srgbClr val="516170"/>
                </a:solidFill>
                <a:latin typeface="Arial"/>
                <a:ea typeface="Arial"/>
                <a:cs typeface="Arial"/>
              </a:defRPr>
            </a:pPr>
            <a:r>
              <a:rPr sz="1500" b="0">
                <a:solidFill>
                  <a:srgbClr val="516170"/>
                </a:solidFill>
                <a:latin typeface="Arial"/>
                <a:ea typeface="Arial"/>
                <a:cs typeface="Arial"/>
              </a:rPr>
              <a:t>One highlighted warp within a 16-wide block</a:t>
            </a:r>
          </a:p>
        </p:txBody>
      </p:sp>
      <p:sp>
        <p:nvSpPr>
          <p:cNvPr id="13" name="">
            <a:extLst xmlns:a="http://schemas.openxmlformats.org/drawingml/2006/main">
              <a:ext uri="{FF2B5EF4-FFF2-40B4-BE49-F238E27FC236}">
                <a16:creationId xmlns:a16="http://schemas.microsoft.com/office/drawing/2014/main" id="{B0025E7A-31A9-43EA-8EF2-A508535C7F6D}"/>
              </a:ext>
            </a:extLst>
          </p:cNvPr>
          <p:cNvSpPr>
            <a:spLocks xmlns:a="http://schemas.openxmlformats.org/drawingml/2006/main" noGrp="1"/>
          </p:cNvSpPr>
          <p:nvPr/>
        </p:nvSpPr>
        <p:spPr>
          <a:xfrm xmlns:a="http://schemas.openxmlformats.org/drawingml/2006/main">
            <a:off x="7239000" y="4410075"/>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14" name="">
            <a:extLst xmlns:a="http://schemas.openxmlformats.org/drawingml/2006/main">
              <a:ext uri="{FF2B5EF4-FFF2-40B4-BE49-F238E27FC236}">
                <a16:creationId xmlns:a16="http://schemas.microsoft.com/office/drawing/2014/main" id="{307C59E0-792E-48D6-8B86-46842788029D}"/>
              </a:ext>
            </a:extLst>
          </p:cNvPr>
          <p:cNvSpPr>
            <a:spLocks xmlns:a="http://schemas.openxmlformats.org/drawingml/2006/main" noGrp="1"/>
          </p:cNvSpPr>
          <p:nvPr/>
        </p:nvSpPr>
        <p:spPr>
          <a:xfrm xmlns:a="http://schemas.openxmlformats.org/drawingml/2006/main">
            <a:off x="7477125" y="4410075"/>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15" name="">
            <a:extLst xmlns:a="http://schemas.openxmlformats.org/drawingml/2006/main">
              <a:ext uri="{FF2B5EF4-FFF2-40B4-BE49-F238E27FC236}">
                <a16:creationId xmlns:a16="http://schemas.microsoft.com/office/drawing/2014/main" id="{316B7290-FA8A-4C58-AC4A-928909CAE0C9}"/>
              </a:ext>
            </a:extLst>
          </p:cNvPr>
          <p:cNvSpPr>
            <a:spLocks xmlns:a="http://schemas.openxmlformats.org/drawingml/2006/main" noGrp="1"/>
          </p:cNvSpPr>
          <p:nvPr/>
        </p:nvSpPr>
        <p:spPr>
          <a:xfrm xmlns:a="http://schemas.openxmlformats.org/drawingml/2006/main">
            <a:off x="7715250" y="4410075"/>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16" name="">
            <a:extLst xmlns:a="http://schemas.openxmlformats.org/drawingml/2006/main">
              <a:ext uri="{FF2B5EF4-FFF2-40B4-BE49-F238E27FC236}">
                <a16:creationId xmlns:a16="http://schemas.microsoft.com/office/drawing/2014/main" id="{53DB5C11-EDF3-49E6-8A22-D91DF32A7DF6}"/>
              </a:ext>
            </a:extLst>
          </p:cNvPr>
          <p:cNvSpPr>
            <a:spLocks xmlns:a="http://schemas.openxmlformats.org/drawingml/2006/main" noGrp="1"/>
          </p:cNvSpPr>
          <p:nvPr/>
        </p:nvSpPr>
        <p:spPr>
          <a:xfrm xmlns:a="http://schemas.openxmlformats.org/drawingml/2006/main">
            <a:off x="7953375" y="4410075"/>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17" name="">
            <a:extLst xmlns:a="http://schemas.openxmlformats.org/drawingml/2006/main">
              <a:ext uri="{FF2B5EF4-FFF2-40B4-BE49-F238E27FC236}">
                <a16:creationId xmlns:a16="http://schemas.microsoft.com/office/drawing/2014/main" id="{7EC26890-7855-4F57-A4CF-33149CC8BAF1}"/>
              </a:ext>
            </a:extLst>
          </p:cNvPr>
          <p:cNvSpPr>
            <a:spLocks xmlns:a="http://schemas.openxmlformats.org/drawingml/2006/main" noGrp="1"/>
          </p:cNvSpPr>
          <p:nvPr/>
        </p:nvSpPr>
        <p:spPr>
          <a:xfrm xmlns:a="http://schemas.openxmlformats.org/drawingml/2006/main">
            <a:off x="8191500" y="4410075"/>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18" name="">
            <a:extLst xmlns:a="http://schemas.openxmlformats.org/drawingml/2006/main">
              <a:ext uri="{FF2B5EF4-FFF2-40B4-BE49-F238E27FC236}">
                <a16:creationId xmlns:a16="http://schemas.microsoft.com/office/drawing/2014/main" id="{5C9B1A6C-D241-4EBC-9185-60ADD326ABA7}"/>
              </a:ext>
            </a:extLst>
          </p:cNvPr>
          <p:cNvSpPr>
            <a:spLocks xmlns:a="http://schemas.openxmlformats.org/drawingml/2006/main" noGrp="1"/>
          </p:cNvSpPr>
          <p:nvPr/>
        </p:nvSpPr>
        <p:spPr>
          <a:xfrm xmlns:a="http://schemas.openxmlformats.org/drawingml/2006/main">
            <a:off x="8429625" y="4410075"/>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19" name="">
            <a:extLst xmlns:a="http://schemas.openxmlformats.org/drawingml/2006/main">
              <a:ext uri="{FF2B5EF4-FFF2-40B4-BE49-F238E27FC236}">
                <a16:creationId xmlns:a16="http://schemas.microsoft.com/office/drawing/2014/main" id="{28A873D8-E9A3-40EF-9AD7-6F993752470F}"/>
              </a:ext>
            </a:extLst>
          </p:cNvPr>
          <p:cNvSpPr>
            <a:spLocks xmlns:a="http://schemas.openxmlformats.org/drawingml/2006/main" noGrp="1"/>
          </p:cNvSpPr>
          <p:nvPr/>
        </p:nvSpPr>
        <p:spPr>
          <a:xfrm xmlns:a="http://schemas.openxmlformats.org/drawingml/2006/main">
            <a:off x="8667750" y="4410075"/>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20" name="">
            <a:extLst xmlns:a="http://schemas.openxmlformats.org/drawingml/2006/main">
              <a:ext uri="{FF2B5EF4-FFF2-40B4-BE49-F238E27FC236}">
                <a16:creationId xmlns:a16="http://schemas.microsoft.com/office/drawing/2014/main" id="{59F2DCCF-00C1-4BD1-A06B-248709398568}"/>
              </a:ext>
            </a:extLst>
          </p:cNvPr>
          <p:cNvSpPr>
            <a:spLocks xmlns:a="http://schemas.openxmlformats.org/drawingml/2006/main" noGrp="1"/>
          </p:cNvSpPr>
          <p:nvPr/>
        </p:nvSpPr>
        <p:spPr>
          <a:xfrm xmlns:a="http://schemas.openxmlformats.org/drawingml/2006/main">
            <a:off x="8905875" y="4410075"/>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21" name="">
            <a:extLst xmlns:a="http://schemas.openxmlformats.org/drawingml/2006/main">
              <a:ext uri="{FF2B5EF4-FFF2-40B4-BE49-F238E27FC236}">
                <a16:creationId xmlns:a16="http://schemas.microsoft.com/office/drawing/2014/main" id="{95088770-02C3-4EA2-93B7-2C062997B909}"/>
              </a:ext>
            </a:extLst>
          </p:cNvPr>
          <p:cNvSpPr>
            <a:spLocks xmlns:a="http://schemas.openxmlformats.org/drawingml/2006/main" noGrp="1"/>
          </p:cNvSpPr>
          <p:nvPr/>
        </p:nvSpPr>
        <p:spPr>
          <a:xfrm xmlns:a="http://schemas.openxmlformats.org/drawingml/2006/main">
            <a:off x="9144000" y="4410075"/>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22" name="">
            <a:extLst xmlns:a="http://schemas.openxmlformats.org/drawingml/2006/main">
              <a:ext uri="{FF2B5EF4-FFF2-40B4-BE49-F238E27FC236}">
                <a16:creationId xmlns:a16="http://schemas.microsoft.com/office/drawing/2014/main" id="{8D7BB64A-8AED-451A-BCDF-E5BED1A848D6}"/>
              </a:ext>
            </a:extLst>
          </p:cNvPr>
          <p:cNvSpPr>
            <a:spLocks xmlns:a="http://schemas.openxmlformats.org/drawingml/2006/main" noGrp="1"/>
          </p:cNvSpPr>
          <p:nvPr/>
        </p:nvSpPr>
        <p:spPr>
          <a:xfrm xmlns:a="http://schemas.openxmlformats.org/drawingml/2006/main">
            <a:off x="9382125" y="4410075"/>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23" name="">
            <a:extLst xmlns:a="http://schemas.openxmlformats.org/drawingml/2006/main">
              <a:ext uri="{FF2B5EF4-FFF2-40B4-BE49-F238E27FC236}">
                <a16:creationId xmlns:a16="http://schemas.microsoft.com/office/drawing/2014/main" id="{A8BA69EC-1172-4FF2-8BB7-13503F16A208}"/>
              </a:ext>
            </a:extLst>
          </p:cNvPr>
          <p:cNvSpPr>
            <a:spLocks xmlns:a="http://schemas.openxmlformats.org/drawingml/2006/main" noGrp="1"/>
          </p:cNvSpPr>
          <p:nvPr/>
        </p:nvSpPr>
        <p:spPr>
          <a:xfrm xmlns:a="http://schemas.openxmlformats.org/drawingml/2006/main">
            <a:off x="9620250" y="4410075"/>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24" name="">
            <a:extLst xmlns:a="http://schemas.openxmlformats.org/drawingml/2006/main">
              <a:ext uri="{FF2B5EF4-FFF2-40B4-BE49-F238E27FC236}">
                <a16:creationId xmlns:a16="http://schemas.microsoft.com/office/drawing/2014/main" id="{26CA5353-BB55-42D5-943E-430DA9AC15F3}"/>
              </a:ext>
            </a:extLst>
          </p:cNvPr>
          <p:cNvSpPr>
            <a:spLocks xmlns:a="http://schemas.openxmlformats.org/drawingml/2006/main" noGrp="1"/>
          </p:cNvSpPr>
          <p:nvPr/>
        </p:nvSpPr>
        <p:spPr>
          <a:xfrm xmlns:a="http://schemas.openxmlformats.org/drawingml/2006/main">
            <a:off x="9858375" y="4410075"/>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25" name="">
            <a:extLst xmlns:a="http://schemas.openxmlformats.org/drawingml/2006/main">
              <a:ext uri="{FF2B5EF4-FFF2-40B4-BE49-F238E27FC236}">
                <a16:creationId xmlns:a16="http://schemas.microsoft.com/office/drawing/2014/main" id="{5960E64E-00B0-44D9-8893-243E03FA6F97}"/>
              </a:ext>
            </a:extLst>
          </p:cNvPr>
          <p:cNvSpPr>
            <a:spLocks xmlns:a="http://schemas.openxmlformats.org/drawingml/2006/main" noGrp="1"/>
          </p:cNvSpPr>
          <p:nvPr/>
        </p:nvSpPr>
        <p:spPr>
          <a:xfrm xmlns:a="http://schemas.openxmlformats.org/drawingml/2006/main">
            <a:off x="10096500" y="4410075"/>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26" name="">
            <a:extLst xmlns:a="http://schemas.openxmlformats.org/drawingml/2006/main">
              <a:ext uri="{FF2B5EF4-FFF2-40B4-BE49-F238E27FC236}">
                <a16:creationId xmlns:a16="http://schemas.microsoft.com/office/drawing/2014/main" id="{70FC127D-169F-4959-97BF-550F814F04AA}"/>
              </a:ext>
            </a:extLst>
          </p:cNvPr>
          <p:cNvSpPr>
            <a:spLocks xmlns:a="http://schemas.openxmlformats.org/drawingml/2006/main" noGrp="1"/>
          </p:cNvSpPr>
          <p:nvPr/>
        </p:nvSpPr>
        <p:spPr>
          <a:xfrm xmlns:a="http://schemas.openxmlformats.org/drawingml/2006/main">
            <a:off x="10334625" y="4410075"/>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27" name="">
            <a:extLst xmlns:a="http://schemas.openxmlformats.org/drawingml/2006/main">
              <a:ext uri="{FF2B5EF4-FFF2-40B4-BE49-F238E27FC236}">
                <a16:creationId xmlns:a16="http://schemas.microsoft.com/office/drawing/2014/main" id="{8DE15CF3-FACA-43CD-A53A-0AD58B1A37ED}"/>
              </a:ext>
            </a:extLst>
          </p:cNvPr>
          <p:cNvSpPr>
            <a:spLocks xmlns:a="http://schemas.openxmlformats.org/drawingml/2006/main" noGrp="1"/>
          </p:cNvSpPr>
          <p:nvPr/>
        </p:nvSpPr>
        <p:spPr>
          <a:xfrm xmlns:a="http://schemas.openxmlformats.org/drawingml/2006/main">
            <a:off x="10572750" y="4410075"/>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28" name="">
            <a:extLst xmlns:a="http://schemas.openxmlformats.org/drawingml/2006/main">
              <a:ext uri="{FF2B5EF4-FFF2-40B4-BE49-F238E27FC236}">
                <a16:creationId xmlns:a16="http://schemas.microsoft.com/office/drawing/2014/main" id="{9C6B1447-53F6-4157-835E-B1B156E1BEA8}"/>
              </a:ext>
            </a:extLst>
          </p:cNvPr>
          <p:cNvSpPr>
            <a:spLocks xmlns:a="http://schemas.openxmlformats.org/drawingml/2006/main" noGrp="1"/>
          </p:cNvSpPr>
          <p:nvPr/>
        </p:nvSpPr>
        <p:spPr>
          <a:xfrm xmlns:a="http://schemas.openxmlformats.org/drawingml/2006/main">
            <a:off x="10810875" y="4410075"/>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29" name="">
            <a:extLst xmlns:a="http://schemas.openxmlformats.org/drawingml/2006/main">
              <a:ext uri="{FF2B5EF4-FFF2-40B4-BE49-F238E27FC236}">
                <a16:creationId xmlns:a16="http://schemas.microsoft.com/office/drawing/2014/main" id="{A4ACC15C-1CA4-4523-984A-D549BFB12D9E}"/>
              </a:ext>
            </a:extLst>
          </p:cNvPr>
          <p:cNvSpPr>
            <a:spLocks xmlns:a="http://schemas.openxmlformats.org/drawingml/2006/main" noGrp="1"/>
          </p:cNvSpPr>
          <p:nvPr/>
        </p:nvSpPr>
        <p:spPr>
          <a:xfrm xmlns:a="http://schemas.openxmlformats.org/drawingml/2006/main">
            <a:off x="7239000" y="4648200"/>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30" name="">
            <a:extLst xmlns:a="http://schemas.openxmlformats.org/drawingml/2006/main">
              <a:ext uri="{FF2B5EF4-FFF2-40B4-BE49-F238E27FC236}">
                <a16:creationId xmlns:a16="http://schemas.microsoft.com/office/drawing/2014/main" id="{5A1BFEB6-B1EA-4D56-A24B-910DBF8B7888}"/>
              </a:ext>
            </a:extLst>
          </p:cNvPr>
          <p:cNvSpPr>
            <a:spLocks xmlns:a="http://schemas.openxmlformats.org/drawingml/2006/main" noGrp="1"/>
          </p:cNvSpPr>
          <p:nvPr/>
        </p:nvSpPr>
        <p:spPr>
          <a:xfrm xmlns:a="http://schemas.openxmlformats.org/drawingml/2006/main">
            <a:off x="7477125" y="4648200"/>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31" name="">
            <a:extLst xmlns:a="http://schemas.openxmlformats.org/drawingml/2006/main">
              <a:ext uri="{FF2B5EF4-FFF2-40B4-BE49-F238E27FC236}">
                <a16:creationId xmlns:a16="http://schemas.microsoft.com/office/drawing/2014/main" id="{EA5645E6-98C3-4966-AF02-6AF90ED88B75}"/>
              </a:ext>
            </a:extLst>
          </p:cNvPr>
          <p:cNvSpPr>
            <a:spLocks xmlns:a="http://schemas.openxmlformats.org/drawingml/2006/main" noGrp="1"/>
          </p:cNvSpPr>
          <p:nvPr/>
        </p:nvSpPr>
        <p:spPr>
          <a:xfrm xmlns:a="http://schemas.openxmlformats.org/drawingml/2006/main">
            <a:off x="7715250" y="4648200"/>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32" name="">
            <a:extLst xmlns:a="http://schemas.openxmlformats.org/drawingml/2006/main">
              <a:ext uri="{FF2B5EF4-FFF2-40B4-BE49-F238E27FC236}">
                <a16:creationId xmlns:a16="http://schemas.microsoft.com/office/drawing/2014/main" id="{C8A0536B-B5B0-42BB-AFDB-95DD01260B31}"/>
              </a:ext>
            </a:extLst>
          </p:cNvPr>
          <p:cNvSpPr>
            <a:spLocks xmlns:a="http://schemas.openxmlformats.org/drawingml/2006/main" noGrp="1"/>
          </p:cNvSpPr>
          <p:nvPr/>
        </p:nvSpPr>
        <p:spPr>
          <a:xfrm xmlns:a="http://schemas.openxmlformats.org/drawingml/2006/main">
            <a:off x="7953375" y="4648200"/>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33" name="">
            <a:extLst xmlns:a="http://schemas.openxmlformats.org/drawingml/2006/main">
              <a:ext uri="{FF2B5EF4-FFF2-40B4-BE49-F238E27FC236}">
                <a16:creationId xmlns:a16="http://schemas.microsoft.com/office/drawing/2014/main" id="{089427A1-B49D-40CA-87F5-9C499F24B5C9}"/>
              </a:ext>
            </a:extLst>
          </p:cNvPr>
          <p:cNvSpPr>
            <a:spLocks xmlns:a="http://schemas.openxmlformats.org/drawingml/2006/main" noGrp="1"/>
          </p:cNvSpPr>
          <p:nvPr/>
        </p:nvSpPr>
        <p:spPr>
          <a:xfrm xmlns:a="http://schemas.openxmlformats.org/drawingml/2006/main">
            <a:off x="8191500" y="4648200"/>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34" name="">
            <a:extLst xmlns:a="http://schemas.openxmlformats.org/drawingml/2006/main">
              <a:ext uri="{FF2B5EF4-FFF2-40B4-BE49-F238E27FC236}">
                <a16:creationId xmlns:a16="http://schemas.microsoft.com/office/drawing/2014/main" id="{3FAF4A27-0DB0-45C0-A814-4BA87A5261F1}"/>
              </a:ext>
            </a:extLst>
          </p:cNvPr>
          <p:cNvSpPr>
            <a:spLocks xmlns:a="http://schemas.openxmlformats.org/drawingml/2006/main" noGrp="1"/>
          </p:cNvSpPr>
          <p:nvPr/>
        </p:nvSpPr>
        <p:spPr>
          <a:xfrm xmlns:a="http://schemas.openxmlformats.org/drawingml/2006/main">
            <a:off x="8429625" y="4648200"/>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35" name="">
            <a:extLst xmlns:a="http://schemas.openxmlformats.org/drawingml/2006/main">
              <a:ext uri="{FF2B5EF4-FFF2-40B4-BE49-F238E27FC236}">
                <a16:creationId xmlns:a16="http://schemas.microsoft.com/office/drawing/2014/main" id="{86981C01-AE50-4894-A72E-9779BA8C0691}"/>
              </a:ext>
            </a:extLst>
          </p:cNvPr>
          <p:cNvSpPr>
            <a:spLocks xmlns:a="http://schemas.openxmlformats.org/drawingml/2006/main" noGrp="1"/>
          </p:cNvSpPr>
          <p:nvPr/>
        </p:nvSpPr>
        <p:spPr>
          <a:xfrm xmlns:a="http://schemas.openxmlformats.org/drawingml/2006/main">
            <a:off x="8667750" y="4648200"/>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36" name="">
            <a:extLst xmlns:a="http://schemas.openxmlformats.org/drawingml/2006/main">
              <a:ext uri="{FF2B5EF4-FFF2-40B4-BE49-F238E27FC236}">
                <a16:creationId xmlns:a16="http://schemas.microsoft.com/office/drawing/2014/main" id="{42AC23D7-5C3D-4673-BABE-1C2A12AAC30D}"/>
              </a:ext>
            </a:extLst>
          </p:cNvPr>
          <p:cNvSpPr>
            <a:spLocks xmlns:a="http://schemas.openxmlformats.org/drawingml/2006/main" noGrp="1"/>
          </p:cNvSpPr>
          <p:nvPr/>
        </p:nvSpPr>
        <p:spPr>
          <a:xfrm xmlns:a="http://schemas.openxmlformats.org/drawingml/2006/main">
            <a:off x="8905875" y="4648200"/>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37" name="">
            <a:extLst xmlns:a="http://schemas.openxmlformats.org/drawingml/2006/main">
              <a:ext uri="{FF2B5EF4-FFF2-40B4-BE49-F238E27FC236}">
                <a16:creationId xmlns:a16="http://schemas.microsoft.com/office/drawing/2014/main" id="{351B14C3-B60D-4931-B246-E5CCDB6E9320}"/>
              </a:ext>
            </a:extLst>
          </p:cNvPr>
          <p:cNvSpPr>
            <a:spLocks xmlns:a="http://schemas.openxmlformats.org/drawingml/2006/main" noGrp="1"/>
          </p:cNvSpPr>
          <p:nvPr/>
        </p:nvSpPr>
        <p:spPr>
          <a:xfrm xmlns:a="http://schemas.openxmlformats.org/drawingml/2006/main">
            <a:off x="9144000" y="4648200"/>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38" name="">
            <a:extLst xmlns:a="http://schemas.openxmlformats.org/drawingml/2006/main">
              <a:ext uri="{FF2B5EF4-FFF2-40B4-BE49-F238E27FC236}">
                <a16:creationId xmlns:a16="http://schemas.microsoft.com/office/drawing/2014/main" id="{D0DA9A85-31C1-4269-AB23-A4151E1A53E2}"/>
              </a:ext>
            </a:extLst>
          </p:cNvPr>
          <p:cNvSpPr>
            <a:spLocks xmlns:a="http://schemas.openxmlformats.org/drawingml/2006/main" noGrp="1"/>
          </p:cNvSpPr>
          <p:nvPr/>
        </p:nvSpPr>
        <p:spPr>
          <a:xfrm xmlns:a="http://schemas.openxmlformats.org/drawingml/2006/main">
            <a:off x="9382125" y="4648200"/>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39" name="">
            <a:extLst xmlns:a="http://schemas.openxmlformats.org/drawingml/2006/main">
              <a:ext uri="{FF2B5EF4-FFF2-40B4-BE49-F238E27FC236}">
                <a16:creationId xmlns:a16="http://schemas.microsoft.com/office/drawing/2014/main" id="{998E8619-3BCA-4D2B-B460-8338DD8DA707}"/>
              </a:ext>
            </a:extLst>
          </p:cNvPr>
          <p:cNvSpPr>
            <a:spLocks xmlns:a="http://schemas.openxmlformats.org/drawingml/2006/main" noGrp="1"/>
          </p:cNvSpPr>
          <p:nvPr/>
        </p:nvSpPr>
        <p:spPr>
          <a:xfrm xmlns:a="http://schemas.openxmlformats.org/drawingml/2006/main">
            <a:off x="9620250" y="4648200"/>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40" name="">
            <a:extLst xmlns:a="http://schemas.openxmlformats.org/drawingml/2006/main">
              <a:ext uri="{FF2B5EF4-FFF2-40B4-BE49-F238E27FC236}">
                <a16:creationId xmlns:a16="http://schemas.microsoft.com/office/drawing/2014/main" id="{A9B5ECF8-6550-4459-94F7-CD3B3F40D7A5}"/>
              </a:ext>
            </a:extLst>
          </p:cNvPr>
          <p:cNvSpPr>
            <a:spLocks xmlns:a="http://schemas.openxmlformats.org/drawingml/2006/main" noGrp="1"/>
          </p:cNvSpPr>
          <p:nvPr/>
        </p:nvSpPr>
        <p:spPr>
          <a:xfrm xmlns:a="http://schemas.openxmlformats.org/drawingml/2006/main">
            <a:off x="9858375" y="4648200"/>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41" name="">
            <a:extLst xmlns:a="http://schemas.openxmlformats.org/drawingml/2006/main">
              <a:ext uri="{FF2B5EF4-FFF2-40B4-BE49-F238E27FC236}">
                <a16:creationId xmlns:a16="http://schemas.microsoft.com/office/drawing/2014/main" id="{BF001F7D-E0E4-4450-9000-26D447B808BE}"/>
              </a:ext>
            </a:extLst>
          </p:cNvPr>
          <p:cNvSpPr>
            <a:spLocks xmlns:a="http://schemas.openxmlformats.org/drawingml/2006/main" noGrp="1"/>
          </p:cNvSpPr>
          <p:nvPr/>
        </p:nvSpPr>
        <p:spPr>
          <a:xfrm xmlns:a="http://schemas.openxmlformats.org/drawingml/2006/main">
            <a:off x="10096500" y="4648200"/>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42" name="">
            <a:extLst xmlns:a="http://schemas.openxmlformats.org/drawingml/2006/main">
              <a:ext uri="{FF2B5EF4-FFF2-40B4-BE49-F238E27FC236}">
                <a16:creationId xmlns:a16="http://schemas.microsoft.com/office/drawing/2014/main" id="{4748D3CD-B3D3-4185-888D-C96B823BD3E0}"/>
              </a:ext>
            </a:extLst>
          </p:cNvPr>
          <p:cNvSpPr>
            <a:spLocks xmlns:a="http://schemas.openxmlformats.org/drawingml/2006/main" noGrp="1"/>
          </p:cNvSpPr>
          <p:nvPr/>
        </p:nvSpPr>
        <p:spPr>
          <a:xfrm xmlns:a="http://schemas.openxmlformats.org/drawingml/2006/main">
            <a:off x="10334625" y="4648200"/>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43" name="">
            <a:extLst xmlns:a="http://schemas.openxmlformats.org/drawingml/2006/main">
              <a:ext uri="{FF2B5EF4-FFF2-40B4-BE49-F238E27FC236}">
                <a16:creationId xmlns:a16="http://schemas.microsoft.com/office/drawing/2014/main" id="{59035402-0BA2-413B-90E4-B23A5FA31F9A}"/>
              </a:ext>
            </a:extLst>
          </p:cNvPr>
          <p:cNvSpPr>
            <a:spLocks xmlns:a="http://schemas.openxmlformats.org/drawingml/2006/main" noGrp="1"/>
          </p:cNvSpPr>
          <p:nvPr/>
        </p:nvSpPr>
        <p:spPr>
          <a:xfrm xmlns:a="http://schemas.openxmlformats.org/drawingml/2006/main">
            <a:off x="10572750" y="4648200"/>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44" name="">
            <a:extLst xmlns:a="http://schemas.openxmlformats.org/drawingml/2006/main">
              <a:ext uri="{FF2B5EF4-FFF2-40B4-BE49-F238E27FC236}">
                <a16:creationId xmlns:a16="http://schemas.microsoft.com/office/drawing/2014/main" id="{6727E64B-6F96-42F9-9167-CD28E3357B01}"/>
              </a:ext>
            </a:extLst>
          </p:cNvPr>
          <p:cNvSpPr>
            <a:spLocks xmlns:a="http://schemas.openxmlformats.org/drawingml/2006/main" noGrp="1"/>
          </p:cNvSpPr>
          <p:nvPr/>
        </p:nvSpPr>
        <p:spPr>
          <a:xfrm xmlns:a="http://schemas.openxmlformats.org/drawingml/2006/main">
            <a:off x="10810875" y="4648200"/>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45" name="Non-multiple dimensions: ceil-divide the grid and keep ">
            <a:extLst xmlns:a="http://schemas.openxmlformats.org/drawingml/2006/main">
              <a:ext uri="{FF2B5EF4-FFF2-40B4-BE49-F238E27FC236}">
                <a16:creationId xmlns:a16="http://schemas.microsoft.com/office/drawing/2014/main" id="{76CC1905-6D1B-423A-89AC-3B9596CE28D2}"/>
              </a:ext>
            </a:extLst>
          </p:cNvPr>
          <p:cNvSpPr>
            <a:spLocks xmlns:a="http://schemas.openxmlformats.org/drawingml/2006/main" noGrp="1"/>
          </p:cNvSpPr>
          <p:nvPr/>
        </p:nvSpPr>
        <p:spPr>
          <a:xfrm xmlns:a="http://schemas.openxmlformats.org/drawingml/2006/main">
            <a:off x="609600" y="5143500"/>
            <a:ext cx="10972800" cy="3097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Non-multiple dimensions: ceil-divide the grid and keep the bounds guard.</a:t>
            </a:r>
          </a:p>
        </p:txBody>
      </p:sp>
      <p:sp>
        <p:nvSpPr>
          <p:cNvPr id="46" name="">
            <a:extLst xmlns:a="http://schemas.openxmlformats.org/drawingml/2006/main">
              <a:ext uri="{FF2B5EF4-FFF2-40B4-BE49-F238E27FC236}">
                <a16:creationId xmlns:a16="http://schemas.microsoft.com/office/drawing/2014/main" id="{424FCCA2-83B2-478A-8BF3-EE47A02B94C2}"/>
              </a:ext>
            </a:extLst>
          </p:cNvPr>
          <p:cNvSpPr>
            <a:spLocks xmlns:a="http://schemas.openxmlformats.org/drawingml/2006/main" noGrp="1"/>
          </p:cNvSpPr>
          <p:nvPr/>
        </p:nvSpPr>
        <p:spPr>
          <a:xfrm xmlns:a="http://schemas.openxmlformats.org/drawingml/2006/main">
            <a:off x="609600" y="5686425"/>
            <a:ext cx="10972800" cy="0"/>
          </a:xfrm>
          <a:prstGeom xmlns:a="http://schemas.openxmlformats.org/drawingml/2006/main" prst="line">
            <a:avLst/>
          </a:prstGeom>
          <a:noFill xmlns:a="http://schemas.openxmlformats.org/drawingml/2006/main"/>
          <a:ln xmlns:a="http://schemas.openxmlformats.org/drawingml/2006/main" w="19050">
            <a:solidFill>
              <a:srgbClr val="007B83"/>
            </a:solidFill>
            <a:prstDash val="solid"/>
          </a:ln>
        </p:spPr>
      </p:sp>
      <p:sp>
        <p:nvSpPr>
          <p:cNvPr id="47" name="A grid specifies logical work; finite SMs schedule its ">
            <a:extLst xmlns:a="http://schemas.openxmlformats.org/drawingml/2006/main">
              <a:ext uri="{FF2B5EF4-FFF2-40B4-BE49-F238E27FC236}">
                <a16:creationId xmlns:a16="http://schemas.microsoft.com/office/drawing/2014/main" id="{B9F753EA-9746-497F-8120-9A303B1806E8}"/>
              </a:ext>
            </a:extLst>
          </p:cNvPr>
          <p:cNvSpPr>
            <a:spLocks xmlns:a="http://schemas.openxmlformats.org/drawingml/2006/main" noGrp="1"/>
          </p:cNvSpPr>
          <p:nvPr/>
        </p:nvSpPr>
        <p:spPr>
          <a:xfrm xmlns:a="http://schemas.openxmlformats.org/drawingml/2006/main">
            <a:off x="609600" y="5819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42D45"/>
                </a:solidFill>
                <a:latin typeface="Arial"/>
                <a:ea typeface="Arial"/>
                <a:cs typeface="Arial"/>
              </a:defRPr>
            </a:defPPr>
          </a:lstStyle>
          <a:p xmlns:a="http://schemas.openxmlformats.org/drawingml/2006/main">
            <a:pPr algn="l">
              <a:defRPr sz="1650" b="1">
                <a:solidFill>
                  <a:srgbClr val="142D45"/>
                </a:solidFill>
                <a:latin typeface="Arial"/>
                <a:ea typeface="Arial"/>
                <a:cs typeface="Arial"/>
              </a:defRPr>
            </a:pPr>
            <a:r>
              <a:rPr sz="1650" b="1">
                <a:solidFill>
                  <a:srgbClr val="142D45"/>
                </a:solidFill>
                <a:latin typeface="Arial"/>
                <a:ea typeface="Arial"/>
                <a:cs typeface="Arial"/>
              </a:rPr>
              <a:t>A grid specifies logical work; finite SMs schedule its blocks and warps.</a:t>
            </a:r>
          </a:p>
        </p:txBody>
      </p:sp>
      <p:sp>
        <p:nvSpPr>
          <p:cNvPr id="48" name="">
            <a:extLst xmlns:a="http://schemas.openxmlformats.org/drawingml/2006/main">
              <a:ext uri="{FF2B5EF4-FFF2-40B4-BE49-F238E27FC236}">
                <a16:creationId xmlns:a16="http://schemas.microsoft.com/office/drawing/2014/main" id="{3BD6B598-435E-40B8-ABFD-5E38C107EE41}"/>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49" name="Sources: [1] NVIDIA CUDA programming model">
            <a:extLst xmlns:a="http://schemas.openxmlformats.org/drawingml/2006/main">
              <a:ext uri="{FF2B5EF4-FFF2-40B4-BE49-F238E27FC236}">
                <a16:creationId xmlns:a16="http://schemas.microsoft.com/office/drawing/2014/main" id="{2068F950-516E-49F6-BBB2-42789C5C123D}"/>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[1] NVIDIA CUDA programming model</a:t>
            </a:r>
          </a:p>
        </p:txBody>
      </p:sp>
      <p:sp>
        <p:nvSpPr>
          <p:cNvPr id="50" name="10 / 28">
            <a:extLst xmlns:a="http://schemas.openxmlformats.org/drawingml/2006/main">
              <a:ext uri="{FF2B5EF4-FFF2-40B4-BE49-F238E27FC236}">
                <a16:creationId xmlns:a16="http://schemas.microsoft.com/office/drawing/2014/main" id="{828FF4FE-5E39-4095-ADC2-1AEB9679C0E6}"/>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10 / 28</a:t>
            </a:r>
          </a:p>
        </p:txBody>
      </p:sp>
    </p:spTree>
    <p:extLst>
      <p:ext uri="{BB962C8B-B14F-4D97-AF65-F5344CB8AC3E}">
        <p14:creationId xmlns:p14="http://schemas.microsoft.com/office/powerpoint/2010/main" val="1936961935"/>
      </p:ext>
    </p:extLst>
  </p:cSld>
</p:sld>
</file>

<file path=ppt/slides/slide1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2" name="Appendix • Task 1 • Task 1(b) • Rotation implementation">
            <a:extLst xmlns:a="http://schemas.openxmlformats.org/drawingml/2006/main">
              <a:ext uri="{FF2B5EF4-FFF2-40B4-BE49-F238E27FC236}">
                <a16:creationId xmlns:a16="http://schemas.microsoft.com/office/drawing/2014/main" id="{A22D785D-BF46-4B08-933B-42C5CC3B532F}"/>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Task 1(b) • Rotation implementation</a:t>
            </a:r>
          </a:p>
        </p:txBody>
      </p:sp>
      <p:sp>
        <p:nvSpPr>
          <p:cNvPr id="2" name="CUDA rotation kernel">
            <a:extLst xmlns:a="http://schemas.openxmlformats.org/drawingml/2006/main">
              <a:ext uri="{FF2B5EF4-FFF2-40B4-BE49-F238E27FC236}">
                <a16:creationId xmlns:a16="http://schemas.microsoft.com/office/drawing/2014/main" id="{8DC4F936-B270-4C60-AE19-60E963A27B64}"/>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CUDA rotation kernel</a:t>
            </a:r>
          </a:p>
        </p:txBody>
      </p:sp>
      <p:sp>
        <p:nvSpPr>
          <p:cNvPr id="3" name="">
            <a:extLst xmlns:a="http://schemas.openxmlformats.org/drawingml/2006/main">
              <a:ext uri="{FF2B5EF4-FFF2-40B4-BE49-F238E27FC236}">
                <a16:creationId xmlns:a16="http://schemas.microsoft.com/office/drawing/2014/main" id="{7FB1C2F5-8BC8-42C8-9EF4-6117DB63CD38}"/>
              </a:ext>
            </a:extLst>
          </p:cNvPr>
          <p:cNvSpPr>
            <a:spLocks xmlns:a="http://schemas.openxmlformats.org/drawingml/2006/main" noGrp="1"/>
          </p:cNvSpPr>
          <p:nvPr/>
        </p:nvSpPr>
        <p:spPr>
          <a:xfrm xmlns:a="http://schemas.openxmlformats.org/drawingml/2006/main">
            <a:off x="609600" y="1495425"/>
            <a:ext cx="7705725" cy="3703320"/>
          </a:xfrm>
          <a:prstGeom xmlns:a="http://schemas.openxmlformats.org/drawingml/2006/main" prst="rect">
            <a:avLst/>
          </a:prstGeom>
          <a:solidFill xmlns:a="http://schemas.openxmlformats.org/drawingml/2006/main">
            <a:srgbClr val="EDF1F5"/>
          </a:solidFill>
          <a:ln xmlns:a="http://schemas.openxmlformats.org/drawingml/2006/main" w="14288">
            <a:noFill/>
            <a:prstDash val="solid"/>
          </a:ln>
        </p:spPr>
      </p:sp>
      <p:sp>
        <p:nvSpPr>
          <p:cNvPr id="4" name="__global__ void rotate_rgb(const unsigned char* in,&#10;   ">
            <a:extLst xmlns:a="http://schemas.openxmlformats.org/drawingml/2006/main">
              <a:ext uri="{FF2B5EF4-FFF2-40B4-BE49-F238E27FC236}">
                <a16:creationId xmlns:a16="http://schemas.microsoft.com/office/drawing/2014/main" id="{843BABE1-CC75-4775-AF77-8C7859D87676}"/>
              </a:ext>
            </a:extLst>
          </p:cNvPr>
          <p:cNvSpPr>
            <a:spLocks xmlns:a="http://schemas.openxmlformats.org/drawingml/2006/main" noGrp="1"/>
          </p:cNvSpPr>
          <p:nvPr/>
        </p:nvSpPr>
        <p:spPr>
          <a:xfrm xmlns:a="http://schemas.openxmlformats.org/drawingml/2006/main">
            <a:off x="723900" y="1581150"/>
            <a:ext cx="7477125" cy="35699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42D45"/>
                </a:solidFill>
                <a:latin typeface="Consolas"/>
                <a:ea typeface="Consolas"/>
                <a:cs typeface="Consolas"/>
              </a:defRPr>
            </a:defPPr>
          </a:lstStyle>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__global__ void rotate_rgb(const unsigned char* in,</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unsigned char* out, int W, int H, float c, float s)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int x = blockIdx.x*blockDim.x + threadIdx.x;</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int y = blockIdx.y*blockDim.y + threadIdx.y;</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if (x &gt;= W || y &gt;= H) return;</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float cx = (W-1)*0.5f, cy = (H-1)*0.5f;</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int ix = int(floorf(c*(x-cx)-s*(y-cy)+cx+0.5f));</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int iy = int(floorf(s*(x-cx)+c*(y-cy)+cy+0.5f));</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size_t dst = 3*(size_t(y)*W + x);</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if (ix &gt;= 0 &amp;&amp; ix &lt; W &amp;&amp; iy &gt;= 0 &amp;&amp; iy &lt; H)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size_t src = 3*(size_t(iy)*W + ix);</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for (int ch=0; ch&lt;3; ++ch) out[dst+ch] = in[src+ch];</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 else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for (int ch=0; ch&lt;3; ++ch) out[dst+ch] = 0;</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a:t>
            </a:r>
          </a:p>
        </p:txBody>
      </p:sp>
      <p:sp>
        <p:nvSpPr>
          <p:cNvPr id="5" name="One thread owns one output pixel. Guard partial edge bl">
            <a:extLst xmlns:a="http://schemas.openxmlformats.org/drawingml/2006/main">
              <a:ext uri="{FF2B5EF4-FFF2-40B4-BE49-F238E27FC236}">
                <a16:creationId xmlns:a16="http://schemas.microsoft.com/office/drawing/2014/main" id="{11E0E3D1-0DFA-4B13-8823-F21066AA5A7F}"/>
              </a:ext>
            </a:extLst>
          </p:cNvPr>
          <p:cNvSpPr>
            <a:spLocks xmlns:a="http://schemas.openxmlformats.org/drawingml/2006/main" noGrp="1"/>
          </p:cNvSpPr>
          <p:nvPr/>
        </p:nvSpPr>
        <p:spPr>
          <a:xfrm xmlns:a="http://schemas.openxmlformats.org/drawingml/2006/main">
            <a:off x="8648700" y="1581150"/>
            <a:ext cx="2933700" cy="8176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One thread owns one output</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pixel. Guard partial edge</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blocks.</a:t>
            </a:r>
          </a:p>
        </p:txBody>
      </p:sp>
      <p:sp>
        <p:nvSpPr>
          <p:cNvPr id="6" name="Inverse gather copies RGB; out-of-bounds indices write ">
            <a:extLst xmlns:a="http://schemas.openxmlformats.org/drawingml/2006/main">
              <a:ext uri="{FF2B5EF4-FFF2-40B4-BE49-F238E27FC236}">
                <a16:creationId xmlns:a16="http://schemas.microsoft.com/office/drawing/2014/main" id="{15B02D92-EEF9-43C8-9882-8A55C2AFC7F5}"/>
              </a:ext>
            </a:extLst>
          </p:cNvPr>
          <p:cNvSpPr>
            <a:spLocks xmlns:a="http://schemas.openxmlformats.org/drawingml/2006/main" noGrp="1"/>
          </p:cNvSpPr>
          <p:nvPr/>
        </p:nvSpPr>
        <p:spPr>
          <a:xfrm xmlns:a="http://schemas.openxmlformats.org/drawingml/2006/main">
            <a:off x="8648700" y="2589276"/>
            <a:ext cx="2933700" cy="8176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Inverse gather copies RGB;</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out-of-bounds indices write</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black.</a:t>
            </a:r>
          </a:p>
        </p:txBody>
      </p:sp>
      <p:sp>
        <p:nvSpPr>
          <p:cNvPr id="7" name="Disjoint outputs need no atomics/barrier. Work and stor">
            <a:extLst xmlns:a="http://schemas.openxmlformats.org/drawingml/2006/main">
              <a:ext uri="{FF2B5EF4-FFF2-40B4-BE49-F238E27FC236}">
                <a16:creationId xmlns:a16="http://schemas.microsoft.com/office/drawing/2014/main" id="{BE8D2515-34A7-40CA-92A4-C6AB84A73B80}"/>
              </a:ext>
            </a:extLst>
          </p:cNvPr>
          <p:cNvSpPr>
            <a:spLocks xmlns:a="http://schemas.openxmlformats.org/drawingml/2006/main" noGrp="1"/>
          </p:cNvSpPr>
          <p:nvPr/>
        </p:nvSpPr>
        <p:spPr>
          <a:xfrm xmlns:a="http://schemas.openxmlformats.org/drawingml/2006/main">
            <a:off x="8648700" y="3597402"/>
            <a:ext cx="2933700" cy="8176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Disjoint outputs need no</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atomics/barrier. Work and</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storage: O(W × H).</a:t>
            </a:r>
          </a:p>
        </p:txBody>
      </p:sp>
      <p:sp>
        <p:nvSpPr>
          <p:cNvPr id="8" name="Separate RGB buffers; W/H &gt; 0; valid sizes, c/s. Uncomp">
            <a:extLst xmlns:a="http://schemas.openxmlformats.org/drawingml/2006/main">
              <a:ext uri="{FF2B5EF4-FFF2-40B4-BE49-F238E27FC236}">
                <a16:creationId xmlns:a16="http://schemas.microsoft.com/office/drawing/2014/main" id="{C2F519A2-C45A-4517-AD76-15265A8EF34E}"/>
              </a:ext>
            </a:extLst>
          </p:cNvPr>
          <p:cNvSpPr>
            <a:spLocks xmlns:a="http://schemas.openxmlformats.org/drawingml/2006/main" noGrp="1"/>
          </p:cNvSpPr>
          <p:nvPr/>
        </p:nvSpPr>
        <p:spPr>
          <a:xfrm xmlns:a="http://schemas.openxmlformats.org/drawingml/2006/main">
            <a:off x="8648700" y="4605528"/>
            <a:ext cx="2933700" cy="8176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Separate RGB buffers; W/H &gt;</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0; valid sizes, c/s. Uncompiled</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and unbenchmarked.</a:t>
            </a:r>
          </a:p>
        </p:txBody>
      </p:sp>
      <p:sp>
        <p:nvSpPr>
          <p:cNvPr id="9" name="">
            <a:extLst xmlns:a="http://schemas.openxmlformats.org/drawingml/2006/main">
              <a:ext uri="{FF2B5EF4-FFF2-40B4-BE49-F238E27FC236}">
                <a16:creationId xmlns:a16="http://schemas.microsoft.com/office/drawing/2014/main" id="{1F8E1584-C426-49CC-B645-261411157C43}"/>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0" name="Sources: [1] NVIDIA CUDA programming model">
            <a:extLst xmlns:a="http://schemas.openxmlformats.org/drawingml/2006/main">
              <a:ext uri="{FF2B5EF4-FFF2-40B4-BE49-F238E27FC236}">
                <a16:creationId xmlns:a16="http://schemas.microsoft.com/office/drawing/2014/main" id="{A9629906-772B-4340-9133-06ECC2E7A517}"/>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[1] NVIDIA CUDA programming model</a:t>
            </a:r>
          </a:p>
        </p:txBody>
      </p:sp>
      <p:sp>
        <p:nvSpPr>
          <p:cNvPr id="11" name="11 / 28">
            <a:extLst xmlns:a="http://schemas.openxmlformats.org/drawingml/2006/main">
              <a:ext uri="{FF2B5EF4-FFF2-40B4-BE49-F238E27FC236}">
                <a16:creationId xmlns:a16="http://schemas.microsoft.com/office/drawing/2014/main" id="{643023D4-723E-422D-A37A-70A45B55CB82}"/>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11 / 28</a:t>
            </a:r>
          </a:p>
        </p:txBody>
      </p:sp>
    </p:spTree>
    <p:extLst>
      <p:ext uri="{BB962C8B-B14F-4D97-AF65-F5344CB8AC3E}">
        <p14:creationId xmlns:p14="http://schemas.microsoft.com/office/powerpoint/2010/main" val="1140927421"/>
      </p:ext>
    </p:extLst>
  </p:cSld>
</p:sld>
</file>

<file path=ppt/slides/slide1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2" name="Appendix • Task 1 • Task 1(b) • Host orchestration">
            <a:extLst xmlns:a="http://schemas.openxmlformats.org/drawingml/2006/main">
              <a:ext uri="{FF2B5EF4-FFF2-40B4-BE49-F238E27FC236}">
                <a16:creationId xmlns:a16="http://schemas.microsoft.com/office/drawing/2014/main" id="{78D76812-1D58-43BE-94BD-D8005FAE95CA}"/>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Task 1(b) • Host orchestration</a:t>
            </a:r>
          </a:p>
        </p:txBody>
      </p:sp>
      <p:sp>
        <p:nvSpPr>
          <p:cNvPr id="2" name="Host orchestration and completion">
            <a:extLst xmlns:a="http://schemas.openxmlformats.org/drawingml/2006/main">
              <a:ext uri="{FF2B5EF4-FFF2-40B4-BE49-F238E27FC236}">
                <a16:creationId xmlns:a16="http://schemas.microsoft.com/office/drawing/2014/main" id="{682033E4-8194-496D-9035-29033A2DCCC9}"/>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Host orchestration and completion</a:t>
            </a:r>
          </a:p>
        </p:txBody>
      </p:sp>
      <p:sp>
        <p:nvSpPr>
          <p:cNvPr id="3" name="">
            <a:extLst xmlns:a="http://schemas.openxmlformats.org/drawingml/2006/main">
              <a:ext uri="{FF2B5EF4-FFF2-40B4-BE49-F238E27FC236}">
                <a16:creationId xmlns:a16="http://schemas.microsoft.com/office/drawing/2014/main" id="{15C73A50-F6CB-413E-A50A-1EEB9AEB6410}"/>
              </a:ext>
            </a:extLst>
          </p:cNvPr>
          <p:cNvSpPr>
            <a:spLocks xmlns:a="http://schemas.openxmlformats.org/drawingml/2006/main" noGrp="1"/>
          </p:cNvSpPr>
          <p:nvPr/>
        </p:nvSpPr>
        <p:spPr>
          <a:xfrm xmlns:a="http://schemas.openxmlformats.org/drawingml/2006/main">
            <a:off x="609600" y="1495425"/>
            <a:ext cx="6419850" cy="2400300"/>
          </a:xfrm>
          <a:prstGeom xmlns:a="http://schemas.openxmlformats.org/drawingml/2006/main" prst="rect">
            <a:avLst/>
          </a:prstGeom>
          <a:solidFill xmlns:a="http://schemas.openxmlformats.org/drawingml/2006/main">
            <a:srgbClr val="EDF1F5"/>
          </a:solidFill>
          <a:ln xmlns:a="http://schemas.openxmlformats.org/drawingml/2006/main" w="14288">
            <a:noFill/>
            <a:prstDash val="solid"/>
          </a:ln>
        </p:spPr>
      </p:sp>
      <p:sp>
        <p:nvSpPr>
          <p:cNvPr id="4" name="dim3 block(16, 16);&#10;dim3 grid(1u + (unsigned(W)-1u)/blo">
            <a:extLst xmlns:a="http://schemas.openxmlformats.org/drawingml/2006/main">
              <a:ext uri="{FF2B5EF4-FFF2-40B4-BE49-F238E27FC236}">
                <a16:creationId xmlns:a16="http://schemas.microsoft.com/office/drawing/2014/main" id="{A4C174B7-9CEB-4E98-B348-2A83DC1F766F}"/>
              </a:ext>
            </a:extLst>
          </p:cNvPr>
          <p:cNvSpPr>
            <a:spLocks xmlns:a="http://schemas.openxmlformats.org/drawingml/2006/main" noGrp="1"/>
          </p:cNvSpPr>
          <p:nvPr/>
        </p:nvSpPr>
        <p:spPr>
          <a:xfrm xmlns:a="http://schemas.openxmlformats.org/drawingml/2006/main">
            <a:off x="723900" y="1581150"/>
            <a:ext cx="6191250" cy="2266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42D45"/>
                </a:solidFill>
                <a:latin typeface="Consolas"/>
                <a:ea typeface="Consolas"/>
                <a:cs typeface="Consolas"/>
              </a:defRPr>
            </a:defPPr>
          </a:lstStyle>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dim3 block(16, 16);</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dim3 grid(1u + (unsigned(W)-1u)/block.x,</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1u + (unsigned(H)-1u)/block.y);</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cudaMemcpy(d_in, h_in, bytes,</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cudaMemcpyHostToDevice);</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rotate_rgb&lt;&lt;&lt;grid, block&gt;&gt;&gt;(</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d_in, d_out, W, H, c, s);</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cudaGetLastError();</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cudaMemcpy(h_out, d_out, bytes,</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cudaMemcpyDeviceToHost);</a:t>
            </a:r>
          </a:p>
        </p:txBody>
      </p:sp>
      <p:sp>
        <p:nvSpPr>
          <p:cNvPr id="5" name="Illustrative excerpt, not a complete program: W/H &gt; 0; ">
            <a:extLst xmlns:a="http://schemas.openxmlformats.org/drawingml/2006/main">
              <a:ext uri="{FF2B5EF4-FFF2-40B4-BE49-F238E27FC236}">
                <a16:creationId xmlns:a16="http://schemas.microsoft.com/office/drawing/2014/main" id="{8887DDE3-C48E-415E-B9C1-9DBC312B6946}"/>
              </a:ext>
            </a:extLst>
          </p:cNvPr>
          <p:cNvSpPr>
            <a:spLocks xmlns:a="http://schemas.openxmlformats.org/drawingml/2006/main" noGrp="1"/>
          </p:cNvSpPr>
          <p:nvPr/>
        </p:nvSpPr>
        <p:spPr>
          <a:xfrm xmlns:a="http://schemas.openxmlformats.org/drawingml/2006/main">
            <a:off x="609600" y="4276725"/>
            <a:ext cx="6191250" cy="7821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Illustrative excerpt, not a complete program: W/H &gt; 0; bytes = 3 × W</a:t>
            </a:r>
          </a:p>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 H checked in size_t; valid separate buffers; grid/device limits</a:t>
            </a:r>
          </a:p>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validated.</a:t>
            </a:r>
          </a:p>
        </p:txBody>
      </p:sp>
      <p:sp>
        <p:nvSpPr>
          <p:cNvPr id="6" name="CPU loads/decodes, allocates host/device buffers, check">
            <a:extLst xmlns:a="http://schemas.openxmlformats.org/drawingml/2006/main">
              <a:ext uri="{FF2B5EF4-FFF2-40B4-BE49-F238E27FC236}">
                <a16:creationId xmlns:a16="http://schemas.microsoft.com/office/drawing/2014/main" id="{13D084D4-561C-45F4-9474-20D9A6868EBA}"/>
              </a:ext>
            </a:extLst>
          </p:cNvPr>
          <p:cNvSpPr>
            <a:spLocks xmlns:a="http://schemas.openxmlformats.org/drawingml/2006/main" noGrp="1"/>
          </p:cNvSpPr>
          <p:nvPr/>
        </p:nvSpPr>
        <p:spPr>
          <a:xfrm xmlns:a="http://schemas.openxmlformats.org/drawingml/2006/main">
            <a:off x="7219950" y="1581150"/>
            <a:ext cx="4362450" cy="10774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CPU loads/decodes, allocates host/device</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buffers, checks every API/launch/completion</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result, saves output and frees resources</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safely.</a:t>
            </a:r>
          </a:p>
        </p:txBody>
      </p:sp>
      <p:sp>
        <p:nvSpPr>
          <p:cNvPr id="7" name="For this ordered synchronous-copy example, D2H supplies">
            <a:extLst xmlns:a="http://schemas.openxmlformats.org/drawingml/2006/main">
              <a:ext uri="{FF2B5EF4-FFF2-40B4-BE49-F238E27FC236}">
                <a16:creationId xmlns:a16="http://schemas.microsoft.com/office/drawing/2014/main" id="{2C5188C5-D15D-401B-B768-AE8786F7F48C}"/>
              </a:ext>
            </a:extLst>
          </p:cNvPr>
          <p:cNvSpPr>
            <a:spLocks xmlns:a="http://schemas.openxmlformats.org/drawingml/2006/main" noGrp="1"/>
          </p:cNvSpPr>
          <p:nvPr/>
        </p:nvSpPr>
        <p:spPr>
          <a:xfrm xmlns:a="http://schemas.openxmlformats.org/drawingml/2006/main">
            <a:off x="7219950" y="2830068"/>
            <a:ext cx="4362450" cy="10774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For this ordered synchronous-copy example,</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D2H supplies completed host data. A launch is</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asynchronous; launch-error checks alone do</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not establish successful completion.</a:t>
            </a:r>
          </a:p>
        </p:txBody>
      </p:sp>
      <p:sp>
        <p:nvSpPr>
          <p:cNvPr id="8" name="Pinned host storage is page-locked and supports efficie">
            <a:extLst xmlns:a="http://schemas.openxmlformats.org/drawingml/2006/main">
              <a:ext uri="{FF2B5EF4-FFF2-40B4-BE49-F238E27FC236}">
                <a16:creationId xmlns:a16="http://schemas.microsoft.com/office/drawing/2014/main" id="{57DB2FBD-9441-4EB7-825A-34CA19265ACB}"/>
              </a:ext>
            </a:extLst>
          </p:cNvPr>
          <p:cNvSpPr>
            <a:spLocks xmlns:a="http://schemas.openxmlformats.org/drawingml/2006/main" noGrp="1"/>
          </p:cNvSpPr>
          <p:nvPr/>
        </p:nvSpPr>
        <p:spPr>
          <a:xfrm xmlns:a="http://schemas.openxmlformats.org/drawingml/2006/main">
            <a:off x="7219950" y="4078986"/>
            <a:ext cx="4362450" cy="10774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Pinned host storage is page-locked and</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supports efficient DMA. Pageable memory</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may need runtime staging. Avoid excessive</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pinning.</a:t>
            </a:r>
          </a:p>
        </p:txBody>
      </p:sp>
      <p:sp>
        <p:nvSpPr>
          <p:cNvPr id="9" name="">
            <a:extLst xmlns:a="http://schemas.openxmlformats.org/drawingml/2006/main">
              <a:ext uri="{FF2B5EF4-FFF2-40B4-BE49-F238E27FC236}">
                <a16:creationId xmlns:a16="http://schemas.microsoft.com/office/drawing/2014/main" id="{5F00DB58-188E-4EA4-91BE-8D06A26201A9}"/>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0" name="Sources: [1] NVIDIA CUDA programming model; [2] NVIDIA ">
            <a:extLst xmlns:a="http://schemas.openxmlformats.org/drawingml/2006/main">
              <a:ext uri="{FF2B5EF4-FFF2-40B4-BE49-F238E27FC236}">
                <a16:creationId xmlns:a16="http://schemas.microsoft.com/office/drawing/2014/main" id="{B030C4CF-CFC9-4E94-9FAC-1803F74488A8}"/>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[1] NVIDIA CUDA programming model; [2] NVIDIA CUDA Best Practices</a:t>
            </a:r>
          </a:p>
        </p:txBody>
      </p:sp>
      <p:sp>
        <p:nvSpPr>
          <p:cNvPr id="11" name="12 / 28">
            <a:extLst xmlns:a="http://schemas.openxmlformats.org/drawingml/2006/main">
              <a:ext uri="{FF2B5EF4-FFF2-40B4-BE49-F238E27FC236}">
                <a16:creationId xmlns:a16="http://schemas.microsoft.com/office/drawing/2014/main" id="{359CCB94-1D0F-4FDB-AD2E-D2F64631882F}"/>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12 / 28</a:t>
            </a:r>
          </a:p>
        </p:txBody>
      </p:sp>
    </p:spTree>
    <p:extLst>
      <p:ext uri="{BB962C8B-B14F-4D97-AF65-F5344CB8AC3E}">
        <p14:creationId xmlns:p14="http://schemas.microsoft.com/office/powerpoint/2010/main" val="1024323348"/>
      </p:ext>
    </p:extLst>
  </p:cSld>
</p:sld>
</file>

<file path=ppt/slides/slide1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45B74375-97E7-4483-AE32-C03FDBA45710}"/>
              </a:ext>
            </a:extLst>
          </p:cNvPr>
          <p:cNvCxnSpPr>
            <a:stCxn xmlns:a="http://schemas.openxmlformats.org/drawingml/2006/main" id="7" idx="2"/>
            <a:endCxn xmlns:a="http://schemas.openxmlformats.org/drawingml/2006/main" id="8" idx="0"/>
          </p:cNvCxnSpPr>
          <p:nvPr/>
        </p:nvCxnSpPr>
        <p:spPr>
          <a:xfrm xmlns:a="http://schemas.openxmlformats.org/drawingml/2006/main" flipH="1">
            <a:off x="9644063" y="2305050"/>
            <a:ext cx="4763" cy="695325"/>
          </a:xfrm>
          <a:prstGeom xmlns:a="http://schemas.openxmlformats.org/drawingml/2006/main" prst="straightConnector1">
            <a:avLst/>
          </a:prstGeom>
          <a:ln xmlns:a="http://schemas.openxmlformats.org/drawingml/2006/main" w="19050">
            <a:solidFill>
              <a:srgbClr val="007B83"/>
            </a:solidFill>
            <a:prstDash val="solid"/>
            <a:tailEnd type="arrow" w="med" len="med"/>
          </a:ln>
        </p:spPr>
      </p:cxnSp>
      <p:sp>
        <p:nvSpPr>
          <p:cNvPr id="17" name="Appendix • Task 1 • Task 1(b)">
            <a:extLst xmlns:a="http://schemas.openxmlformats.org/drawingml/2006/main">
              <a:ext uri="{FF2B5EF4-FFF2-40B4-BE49-F238E27FC236}">
                <a16:creationId xmlns:a16="http://schemas.microsoft.com/office/drawing/2014/main" id="{A7E544BC-6FAA-4307-ACFE-E2C863CC43ED}"/>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Task 1(b)</a:t>
            </a:r>
          </a:p>
        </p:txBody>
      </p:sp>
      <p:sp>
        <p:nvSpPr>
          <p:cNvPr id="2" name="CUDA features that affect throughput">
            <a:extLst xmlns:a="http://schemas.openxmlformats.org/drawingml/2006/main">
              <a:ext uri="{FF2B5EF4-FFF2-40B4-BE49-F238E27FC236}">
                <a16:creationId xmlns:a16="http://schemas.microsoft.com/office/drawing/2014/main" id="{25BFA54B-6DC2-4906-887C-FD453B848F75}"/>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CUDA features that affect throughput</a:t>
            </a:r>
          </a:p>
        </p:txBody>
      </p:sp>
      <p:sp>
        <p:nvSpPr>
          <p:cNvPr id="3" name="Example: independent brightness channels">
            <a:extLst xmlns:a="http://schemas.openxmlformats.org/drawingml/2006/main">
              <a:ext uri="{FF2B5EF4-FFF2-40B4-BE49-F238E27FC236}">
                <a16:creationId xmlns:a16="http://schemas.microsoft.com/office/drawing/2014/main" id="{5A14C021-6C4E-4249-AAB7-1CA50DBEAFF2}"/>
              </a:ext>
            </a:extLst>
          </p:cNvPr>
          <p:cNvSpPr>
            <a:spLocks xmlns:a="http://schemas.openxmlformats.org/drawingml/2006/main" noGrp="1"/>
          </p:cNvSpPr>
          <p:nvPr/>
        </p:nvSpPr>
        <p:spPr>
          <a:xfrm xmlns:a="http://schemas.openxmlformats.org/drawingml/2006/main">
            <a:off x="609600" y="1562100"/>
            <a:ext cx="6238875"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Example: independent brightness channels</a:t>
            </a:r>
          </a:p>
        </p:txBody>
      </p:sp>
      <p:sp>
        <p:nvSpPr>
          <p:cNvPr id="4" name="">
            <a:extLst xmlns:a="http://schemas.openxmlformats.org/drawingml/2006/main">
              <a:ext uri="{FF2B5EF4-FFF2-40B4-BE49-F238E27FC236}">
                <a16:creationId xmlns:a16="http://schemas.microsoft.com/office/drawing/2014/main" id="{4C6F2C0D-6037-4F10-A35C-3F0651786499}"/>
              </a:ext>
            </a:extLst>
          </p:cNvPr>
          <p:cNvSpPr>
            <a:spLocks xmlns:a="http://schemas.openxmlformats.org/drawingml/2006/main" noGrp="1"/>
          </p:cNvSpPr>
          <p:nvPr/>
        </p:nvSpPr>
        <p:spPr>
          <a:xfrm xmlns:a="http://schemas.openxmlformats.org/drawingml/2006/main">
            <a:off x="609600" y="2019300"/>
            <a:ext cx="6419850" cy="1428750"/>
          </a:xfrm>
          <a:prstGeom xmlns:a="http://schemas.openxmlformats.org/drawingml/2006/main" prst="rect">
            <a:avLst/>
          </a:prstGeom>
          <a:solidFill xmlns:a="http://schemas.openxmlformats.org/drawingml/2006/main">
            <a:srgbClr val="EDF1F5"/>
          </a:solidFill>
          <a:ln xmlns:a="http://schemas.openxmlformats.org/drawingml/2006/main" w="14288">
            <a:noFill/>
            <a:prstDash val="solid"/>
          </a:ln>
        </p:spPr>
      </p:sp>
      <p:sp>
        <p:nvSpPr>
          <p:cNvPr id="5" name="size_t p = 3*(size_t(y)*W + x);&#10;for (int ch=0; ch&lt;3; ++">
            <a:extLst xmlns:a="http://schemas.openxmlformats.org/drawingml/2006/main">
              <a:ext uri="{FF2B5EF4-FFF2-40B4-BE49-F238E27FC236}">
                <a16:creationId xmlns:a16="http://schemas.microsoft.com/office/drawing/2014/main" id="{95C4D8E6-0B40-4924-882A-DB7266688C4C}"/>
              </a:ext>
            </a:extLst>
          </p:cNvPr>
          <p:cNvSpPr>
            <a:spLocks xmlns:a="http://schemas.openxmlformats.org/drawingml/2006/main" noGrp="1"/>
          </p:cNvSpPr>
          <p:nvPr/>
        </p:nvSpPr>
        <p:spPr>
          <a:xfrm xmlns:a="http://schemas.openxmlformats.org/drawingml/2006/main">
            <a:off x="723900" y="2105025"/>
            <a:ext cx="61912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42D45"/>
                </a:solidFill>
                <a:latin typeface="Consolas"/>
                <a:ea typeface="Consolas"/>
                <a:cs typeface="Consolas"/>
              </a:defRPr>
            </a:defPPr>
          </a:lstStyle>
          <a:p xmlns:a="http://schemas.openxmlformats.org/drawingml/2006/main">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size_t p = 3*(size_t(y)*W + x);</a:t>
            </a:r>
          </a:p>
          <a:p xmlns:a="http://schemas.openxmlformats.org/drawingml/2006/main">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for (int ch=0; ch&lt;3; ++ch) {</a:t>
            </a:r>
          </a:p>
          <a:p xmlns:a="http://schemas.openxmlformats.org/drawingml/2006/main">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  int v = int(in[p+ch]) + delta;</a:t>
            </a:r>
          </a:p>
          <a:p xmlns:a="http://schemas.openxmlformats.org/drawingml/2006/main">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  out[p+ch] = v&lt;0 ? 0 : (v&gt;255 ? 255 : v);</a:t>
            </a:r>
          </a:p>
          <a:p xmlns:a="http://schemas.openxmlformats.org/drawingml/2006/main">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a:t>
            </a:r>
          </a:p>
        </p:txBody>
      </p:sp>
      <p:sp>
        <p:nvSpPr>
          <p:cNvPr id="6" name="After coordinate/bounds checks; valid RGB buffers; delt">
            <a:extLst xmlns:a="http://schemas.openxmlformats.org/drawingml/2006/main">
              <a:ext uri="{FF2B5EF4-FFF2-40B4-BE49-F238E27FC236}">
                <a16:creationId xmlns:a16="http://schemas.microsoft.com/office/drawing/2014/main" id="{A42D8E8E-C0B2-4839-9F51-8FAFC7F0F8BB}"/>
              </a:ext>
            </a:extLst>
          </p:cNvPr>
          <p:cNvSpPr>
            <a:spLocks xmlns:a="http://schemas.openxmlformats.org/drawingml/2006/main" noGrp="1"/>
          </p:cNvSpPr>
          <p:nvPr/>
        </p:nvSpPr>
        <p:spPr>
          <a:xfrm xmlns:a="http://schemas.openxmlformats.org/drawingml/2006/main">
            <a:off x="609600" y="3581400"/>
            <a:ext cx="6324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16170"/>
                </a:solidFill>
                <a:latin typeface="Arial"/>
                <a:ea typeface="Arial"/>
                <a:cs typeface="Arial"/>
              </a:defRPr>
            </a:defPPr>
          </a:lstStyle>
          <a:p xmlns:a="http://schemas.openxmlformats.org/drawingml/2006/main">
            <a:pPr algn="l">
              <a:defRPr sz="1425" b="0">
                <a:solidFill>
                  <a:srgbClr val="516170"/>
                </a:solidFill>
                <a:latin typeface="Arial"/>
                <a:ea typeface="Arial"/>
                <a:cs typeface="Arial"/>
              </a:defRPr>
            </a:pPr>
            <a:r>
              <a:rPr sz="1425" b="0">
                <a:solidFill>
                  <a:srgbClr val="516170"/>
                </a:solidFill>
                <a:latin typeface="Arial"/>
                <a:ea typeface="Arial"/>
                <a:cs typeface="Arial"/>
              </a:rPr>
              <a:t>After coordinate/bounds checks; valid RGB buffers; delta ∈ [−255,255].</a:t>
            </a:r>
          </a:p>
        </p:txBody>
      </p:sp>
      <p:sp>
        <p:nvSpPr>
          <p:cNvPr id="7" name="">
            <a:extLst xmlns:a="http://schemas.openxmlformats.org/drawingml/2006/main">
              <a:ext uri="{FF2B5EF4-FFF2-40B4-BE49-F238E27FC236}">
                <a16:creationId xmlns:a16="http://schemas.microsoft.com/office/drawing/2014/main" id="{A72ACB45-BF90-41EC-AA84-4867002EFE6B}"/>
              </a:ext>
            </a:extLst>
          </p:cNvPr>
          <p:cNvSpPr>
            <a:spLocks xmlns:a="http://schemas.openxmlformats.org/drawingml/2006/main" noGrp="1"/>
          </p:cNvSpPr>
          <p:nvPr/>
        </p:nvSpPr>
        <p:spPr>
          <a:xfrm xmlns:a="http://schemas.openxmlformats.org/drawingml/2006/main">
            <a:off x="8191500" y="1638300"/>
            <a:ext cx="2914650" cy="66675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Pending blocks</a:t>
            </a:r>
          </a:p>
        </p:txBody>
      </p:sp>
      <p:sp>
        <p:nvSpPr>
          <p:cNvPr id="8" name="">
            <a:extLst xmlns:a="http://schemas.openxmlformats.org/drawingml/2006/main">
              <a:ext uri="{FF2B5EF4-FFF2-40B4-BE49-F238E27FC236}">
                <a16:creationId xmlns:a16="http://schemas.microsoft.com/office/drawing/2014/main" id="{3A326430-6A51-4E4F-AA9D-D9921EA2231B}"/>
              </a:ext>
            </a:extLst>
          </p:cNvPr>
          <p:cNvSpPr>
            <a:spLocks xmlns:a="http://schemas.openxmlformats.org/drawingml/2006/main" noGrp="1"/>
          </p:cNvSpPr>
          <p:nvPr/>
        </p:nvSpPr>
        <p:spPr>
          <a:xfrm xmlns:a="http://schemas.openxmlformats.org/drawingml/2006/main">
            <a:off x="7810500" y="3000375"/>
            <a:ext cx="3667125" cy="110490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Streaming multiprocessor</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resident warps → execution units</a:t>
            </a:r>
          </a:p>
        </p:txBody>
      </p:sp>
      <p:sp>
        <p:nvSpPr>
          <p:cNvPr id="10" name="SIMT = single instruction, multiple threads. A warp iss">
            <a:extLst xmlns:a="http://schemas.openxmlformats.org/drawingml/2006/main">
              <a:ext uri="{FF2B5EF4-FFF2-40B4-BE49-F238E27FC236}">
                <a16:creationId xmlns:a16="http://schemas.microsoft.com/office/drawing/2014/main" id="{AB789038-7E05-4588-AB3A-357DF2F91C67}"/>
              </a:ext>
            </a:extLst>
          </p:cNvPr>
          <p:cNvSpPr>
            <a:spLocks xmlns:a="http://schemas.openxmlformats.org/drawingml/2006/main" noGrp="1"/>
          </p:cNvSpPr>
          <p:nvPr/>
        </p:nvSpPr>
        <p:spPr>
          <a:xfrm xmlns:a="http://schemas.openxmlformats.org/drawingml/2006/main">
            <a:off x="7715250" y="4295775"/>
            <a:ext cx="3867150" cy="11719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42D45"/>
                </a:solidFill>
                <a:latin typeface="Arial"/>
                <a:ea typeface="Arial"/>
                <a:cs typeface="Arial"/>
              </a:defRPr>
            </a:defPPr>
          </a:lstStyle>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SIMT = single instruction, multiple</a:t>
            </a:r>
          </a:p>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threads. A warp issues common</a:t>
            </a:r>
          </a:p>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instructions; divergent paths can</a:t>
            </a:r>
          </a:p>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reduce efficiency.</a:t>
            </a:r>
          </a:p>
        </p:txBody>
      </p:sp>
      <p:sp>
        <p:nvSpPr>
          <p:cNvPr id="11" name="Resident warps hide latency; registers limit residency.">
            <a:extLst xmlns:a="http://schemas.openxmlformats.org/drawingml/2006/main">
              <a:ext uri="{FF2B5EF4-FFF2-40B4-BE49-F238E27FC236}">
                <a16:creationId xmlns:a16="http://schemas.microsoft.com/office/drawing/2014/main" id="{377783DB-02D6-47AF-A86A-AEE82106FAAA}"/>
              </a:ext>
            </a:extLst>
          </p:cNvPr>
          <p:cNvSpPr>
            <a:spLocks xmlns:a="http://schemas.openxmlformats.org/drawingml/2006/main" noGrp="1"/>
          </p:cNvSpPr>
          <p:nvPr/>
        </p:nvSpPr>
        <p:spPr>
          <a:xfrm xmlns:a="http://schemas.openxmlformats.org/drawingml/2006/main">
            <a:off x="609600" y="4362450"/>
            <a:ext cx="6515100" cy="8884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42D45"/>
                </a:solidFill>
                <a:latin typeface="Arial"/>
                <a:ea typeface="Arial"/>
                <a:cs typeface="Arial"/>
              </a:defRPr>
            </a:defPPr>
          </a:lstStyle>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Resident warps hide latency; registers limit residency.</a:t>
            </a:r>
          </a:p>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Coalescing groups nearby accesses into fewer transactions;</a:t>
            </a:r>
          </a:p>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rotation can disrupt read locality.</a:t>
            </a:r>
          </a:p>
        </p:txBody>
      </p:sp>
      <p:sp>
        <p:nvSpPr>
          <p:cNvPr id="12" name="">
            <a:extLst xmlns:a="http://schemas.openxmlformats.org/drawingml/2006/main">
              <a:ext uri="{FF2B5EF4-FFF2-40B4-BE49-F238E27FC236}">
                <a16:creationId xmlns:a16="http://schemas.microsoft.com/office/drawing/2014/main" id="{5594C5DD-B1CF-4F50-B988-FBE8F456C22C}"/>
              </a:ext>
            </a:extLst>
          </p:cNvPr>
          <p:cNvSpPr>
            <a:spLocks xmlns:a="http://schemas.openxmlformats.org/drawingml/2006/main" noGrp="1"/>
          </p:cNvSpPr>
          <p:nvPr/>
        </p:nvSpPr>
        <p:spPr>
          <a:xfrm xmlns:a="http://schemas.openxmlformats.org/drawingml/2006/main">
            <a:off x="609600" y="5686425"/>
            <a:ext cx="10972800" cy="0"/>
          </a:xfrm>
          <a:prstGeom xmlns:a="http://schemas.openxmlformats.org/drawingml/2006/main" prst="line">
            <a:avLst/>
          </a:prstGeom>
          <a:noFill xmlns:a="http://schemas.openxmlformats.org/drawingml/2006/main"/>
          <a:ln xmlns:a="http://schemas.openxmlformats.org/drawingml/2006/main" w="19050">
            <a:solidFill>
              <a:srgbClr val="007B83"/>
            </a:solidFill>
            <a:prstDash val="solid"/>
          </a:ln>
        </p:spPr>
      </p:sp>
      <p:sp>
        <p:nvSpPr>
          <p:cNvPr id="13" name="Concurrency helps only when memory access and resource ">
            <a:extLst xmlns:a="http://schemas.openxmlformats.org/drawingml/2006/main">
              <a:ext uri="{FF2B5EF4-FFF2-40B4-BE49-F238E27FC236}">
                <a16:creationId xmlns:a16="http://schemas.microsoft.com/office/drawing/2014/main" id="{CDD4DBB6-F751-4CE7-B6EB-35290129274D}"/>
              </a:ext>
            </a:extLst>
          </p:cNvPr>
          <p:cNvSpPr>
            <a:spLocks xmlns:a="http://schemas.openxmlformats.org/drawingml/2006/main" noGrp="1"/>
          </p:cNvSpPr>
          <p:nvPr/>
        </p:nvSpPr>
        <p:spPr>
          <a:xfrm xmlns:a="http://schemas.openxmlformats.org/drawingml/2006/main">
            <a:off x="609600" y="5819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42D45"/>
                </a:solidFill>
                <a:latin typeface="Arial"/>
                <a:ea typeface="Arial"/>
                <a:cs typeface="Arial"/>
              </a:defRPr>
            </a:defPPr>
          </a:lstStyle>
          <a:p xmlns:a="http://schemas.openxmlformats.org/drawingml/2006/main">
            <a:pPr algn="l">
              <a:defRPr sz="1650" b="1">
                <a:solidFill>
                  <a:srgbClr val="142D45"/>
                </a:solidFill>
                <a:latin typeface="Arial"/>
                <a:ea typeface="Arial"/>
                <a:cs typeface="Arial"/>
              </a:defRPr>
            </a:pPr>
            <a:r>
              <a:rPr sz="1650" b="1">
                <a:solidFill>
                  <a:srgbClr val="142D45"/>
                </a:solidFill>
                <a:latin typeface="Arial"/>
                <a:ea typeface="Arial"/>
                <a:cs typeface="Arial"/>
              </a:rPr>
              <a:t>Concurrency helps only when memory access and resource use support it.</a:t>
            </a:r>
          </a:p>
        </p:txBody>
      </p:sp>
      <p:sp>
        <p:nvSpPr>
          <p:cNvPr id="14" name="">
            <a:extLst xmlns:a="http://schemas.openxmlformats.org/drawingml/2006/main">
              <a:ext uri="{FF2B5EF4-FFF2-40B4-BE49-F238E27FC236}">
                <a16:creationId xmlns:a16="http://schemas.microsoft.com/office/drawing/2014/main" id="{3A2CA0CF-DD57-4C00-9CED-F409E3CFCE9B}"/>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5" name="Sources: [1] NVIDIA CUDA programming model; [2] NVIDIA ">
            <a:extLst xmlns:a="http://schemas.openxmlformats.org/drawingml/2006/main">
              <a:ext uri="{FF2B5EF4-FFF2-40B4-BE49-F238E27FC236}">
                <a16:creationId xmlns:a16="http://schemas.microsoft.com/office/drawing/2014/main" id="{95914C6D-C0C8-48DB-BE51-4EDFF1897D1C}"/>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[1] NVIDIA CUDA programming model; [2] NVIDIA CUDA Best Practices</a:t>
            </a:r>
          </a:p>
        </p:txBody>
      </p:sp>
      <p:sp>
        <p:nvSpPr>
          <p:cNvPr id="16" name="13 / 28">
            <a:extLst xmlns:a="http://schemas.openxmlformats.org/drawingml/2006/main">
              <a:ext uri="{FF2B5EF4-FFF2-40B4-BE49-F238E27FC236}">
                <a16:creationId xmlns:a16="http://schemas.microsoft.com/office/drawing/2014/main" id="{8966AFC8-290C-4240-8D64-145E44EFD3F3}"/>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13 / 28</a:t>
            </a:r>
          </a:p>
        </p:txBody>
      </p:sp>
    </p:spTree>
    <p:extLst>
      <p:ext uri="{BB962C8B-B14F-4D97-AF65-F5344CB8AC3E}">
        <p14:creationId xmlns:p14="http://schemas.microsoft.com/office/powerpoint/2010/main" val="1453269598"/>
      </p:ext>
    </p:extLst>
  </p:cSld>
</p:sld>
</file>

<file path=ppt/slides/slide1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Appendix • Task 1 • Task 1(b) • Memory access and launc">
            <a:extLst xmlns:a="http://schemas.openxmlformats.org/drawingml/2006/main">
              <a:ext uri="{FF2B5EF4-FFF2-40B4-BE49-F238E27FC236}">
                <a16:creationId xmlns:a16="http://schemas.microsoft.com/office/drawing/2014/main" id="{70754F12-5080-4DA0-87C3-F824B2E3B081}"/>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Task 1(b) • Memory access and launch shape</a:t>
            </a:r>
          </a:p>
        </p:txBody>
      </p:sp>
      <p:sp>
        <p:nvSpPr>
          <p:cNvPr id="2" name="Launch shape and memory access">
            <a:extLst xmlns:a="http://schemas.openxmlformats.org/drawingml/2006/main">
              <a:ext uri="{FF2B5EF4-FFF2-40B4-BE49-F238E27FC236}">
                <a16:creationId xmlns:a16="http://schemas.microsoft.com/office/drawing/2014/main" id="{8AABDC05-EE87-42ED-A096-8DFAF40C399D}"/>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Launch shape and memory access</a:t>
            </a:r>
          </a:p>
        </p:txBody>
      </p:sp>
      <p:graphicFrame>
        <p:nvGraphicFramePr>
          <p:cNvPr id="3" name="">
            <a:extLst xmlns:a="http://schemas.openxmlformats.org/drawingml/2006/main">
              <a:ext uri="{FF2B5EF4-FFF2-40B4-BE49-F238E27FC236}">
                <a16:creationId xmlns:a16="http://schemas.microsoft.com/office/drawing/2014/main" id="{4092B144-89F5-40C3-8865-BC12D1AF4A8F}"/>
              </a:ext>
            </a:extLst>
          </p:cNvPr>
          <p:cNvGraphicFramePr/>
          <p:nvPr/>
        </p:nvGraphicFramePr>
        <p:xfrm>
          <a:off xmlns:a="http://schemas.openxmlformats.org/drawingml/2006/main" x="609600" y="1562100"/>
          <a:ext xmlns:a="http://schemas.openxmlformats.org/drawingml/2006/main" cx="10972800" cy="3867150"/>
        </p:xfrm>
        <a:graphic xmlns:a="http://schemas.openxmlformats.org/drawingml/2006/main">
          <a:graphicData uri="http://schemas.openxmlformats.org/drawingml/2006/table">
            <a:tbl>
              <a:tblPr firstRow="1" bandRow="0"/>
              <a:tblGrid>
                <a:gridCol w="2238375"/>
                <a:gridCol w="4143375"/>
                <a:gridCol w="4591050"/>
              </a:tblGrid>
              <a:tr h="533400">
                <a:tc>
                  <a:txBody>
                    <a:bodyPr lIns="95250" tIns="95250" rIns="95250" bIns="95250">
                      <a:noAutofit/>
                    </a:bodyPr>
                    <a:lstStyle/>
                    <a:p>
                      <a:pPr algn="l"/>
                      <a:r>
                        <a:rPr sz="1650" b="1">
                          <a:solidFill>
                            <a:srgbClr val="FFFFFF"/>
                          </a:solidFill>
                          <a:latin typeface="Arial"/>
                          <a:ea typeface="Arial"/>
                          <a:cs typeface="Arial"/>
                        </a:rPr>
                        <a:t>Choice</a:t>
                      </a:r>
                    </a:p>
                  </a:txBody>
                  <a:tcPr marL="91440" marR="91440" marT="45720" marB="45720" anchor="ctr">
                    <a:solidFill>
                      <a:srgbClr val="142D45"/>
                    </a:solidFill>
                  </a:tcPr>
                </a:tc>
                <a:tc>
                  <a:txBody>
                    <a:bodyPr lIns="95250" tIns="95250" rIns="95250" bIns="95250">
                      <a:noAutofit/>
                    </a:bodyPr>
                    <a:lstStyle/>
                    <a:p>
                      <a:pPr algn="l"/>
                      <a:r>
                        <a:rPr sz="1650" b="1">
                          <a:solidFill>
                            <a:srgbClr val="FFFFFF"/>
                          </a:solidFill>
                          <a:latin typeface="Arial"/>
                          <a:ea typeface="Arial"/>
                          <a:cs typeface="Arial"/>
                        </a:rPr>
                        <a:t>Mechanism</a:t>
                      </a:r>
                    </a:p>
                  </a:txBody>
                  <a:tcPr marL="91440" marR="91440" marT="45720" marB="45720" anchor="ctr">
                    <a:solidFill>
                      <a:srgbClr val="142D45"/>
                    </a:solidFill>
                  </a:tcPr>
                </a:tc>
                <a:tc>
                  <a:txBody>
                    <a:bodyPr lIns="95250" tIns="95250" rIns="95250" bIns="95250">
                      <a:noAutofit/>
                    </a:bodyPr>
                    <a:lstStyle/>
                    <a:p>
                      <a:pPr algn="l"/>
                      <a:r>
                        <a:rPr sz="1650" b="1">
                          <a:solidFill>
                            <a:srgbClr val="FFFFFF"/>
                          </a:solidFill>
                          <a:latin typeface="Arial"/>
                          <a:ea typeface="Arial"/>
                          <a:cs typeface="Arial"/>
                        </a:rPr>
                        <a:t>Performance implication</a:t>
                      </a:r>
                    </a:p>
                  </a:txBody>
                  <a:tcPr marL="91440" marR="91440" marT="45720" marB="45720" anchor="ctr">
                    <a:solidFill>
                      <a:srgbClr val="142D45"/>
                    </a:solidFill>
                  </a:tcPr>
                </a:tc>
              </a:tr>
              <a:tr h="666750">
                <a:tc>
                  <a:txBody>
                    <a:bodyPr lIns="95250" tIns="95250" rIns="95250" bIns="95250">
                      <a:noAutofit/>
                    </a:bodyPr>
                    <a:lstStyle/>
                    <a:p>
                      <a:pPr algn="l"/>
                      <a:r>
                        <a:rPr sz="1500" b="0">
                          <a:solidFill>
                            <a:srgbClr val="142D45"/>
                          </a:solidFill>
                          <a:latin typeface="Arial"/>
                          <a:ea typeface="Arial"/>
                          <a:cs typeface="Arial"/>
                        </a:rPr>
                        <a:t>16 × 16 block</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256 threads; each warp spans two 16-wide rows</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Reasonable 2D starting point; row edges/alignment matter.</a:t>
                      </a:r>
                    </a:p>
                  </a:txBody>
                  <a:tcPr marL="91440" marR="91440" marT="45720" marB="45720" anchor="ctr">
                    <a:solidFill>
                      <a:srgbClr val="FFFFFF"/>
                    </a:solidFill>
                  </a:tcPr>
                </a:tc>
              </a:tr>
              <a:tr h="666750">
                <a:tc>
                  <a:txBody>
                    <a:bodyPr lIns="95250" tIns="95250" rIns="95250" bIns="95250">
                      <a:noAutofit/>
                    </a:bodyPr>
                    <a:lstStyle/>
                    <a:p>
                      <a:pPr algn="l"/>
                      <a:r>
                        <a:rPr sz="1500" b="0">
                          <a:solidFill>
                            <a:srgbClr val="142D45"/>
                          </a:solidFill>
                          <a:latin typeface="Arial"/>
                          <a:ea typeface="Arial"/>
                          <a:cs typeface="Arial"/>
                        </a:rPr>
                        <a:t>32 × 8 block</a:t>
                      </a:r>
                    </a:p>
                  </a:txBody>
                  <a:tcPr marL="91440" marR="91440" marT="45720" marB="45720" anchor="ctr">
                    <a:solidFill>
                      <a:srgbClr val="F0F4F4"/>
                    </a:solidFill>
                  </a:tcPr>
                </a:tc>
                <a:tc>
                  <a:txBody>
                    <a:bodyPr lIns="95250" tIns="95250" rIns="95250" bIns="95250">
                      <a:noAutofit/>
                    </a:bodyPr>
                    <a:lstStyle/>
                    <a:p>
                      <a:pPr algn="l"/>
                      <a:r>
                        <a:rPr sz="1500" b="0">
                          <a:solidFill>
                            <a:srgbClr val="142D45"/>
                          </a:solidFill>
                          <a:latin typeface="Arial"/>
                          <a:ea typeface="Arial"/>
                          <a:cs typeface="Arial"/>
                        </a:rPr>
                        <a:t>256 threads; each warp spans one 32-wide row</a:t>
                      </a:r>
                    </a:p>
                  </a:txBody>
                  <a:tcPr marL="91440" marR="91440" marT="45720" marB="45720" anchor="ctr">
                    <a:solidFill>
                      <a:srgbClr val="F0F4F4"/>
                    </a:solidFill>
                  </a:tcPr>
                </a:tc>
                <a:tc>
                  <a:txBody>
                    <a:bodyPr lIns="95250" tIns="95250" rIns="95250" bIns="95250">
                      <a:noAutofit/>
                    </a:bodyPr>
                    <a:lstStyle/>
                    <a:p>
                      <a:pPr algn="l"/>
                      <a:r>
                        <a:rPr sz="1500" b="0">
                          <a:solidFill>
                            <a:srgbClr val="142D45"/>
                          </a:solidFill>
                          <a:latin typeface="Arial"/>
                          <a:ea typeface="Arial"/>
                          <a:cs typeface="Arial"/>
                        </a:rPr>
                        <a:t>May improve row-oriented access; no universal winner.</a:t>
                      </a:r>
                    </a:p>
                  </a:txBody>
                  <a:tcPr marL="91440" marR="91440" marT="45720" marB="45720" anchor="ctr">
                    <a:solidFill>
                      <a:srgbClr val="F0F4F4"/>
                    </a:solidFill>
                  </a:tcPr>
                </a:tc>
              </a:tr>
              <a:tr h="666750">
                <a:tc>
                  <a:txBody>
                    <a:bodyPr lIns="95250" tIns="95250" rIns="95250" bIns="95250">
                      <a:noAutofit/>
                    </a:bodyPr>
                    <a:lstStyle/>
                    <a:p>
                      <a:pPr algn="l"/>
                      <a:r>
                        <a:rPr sz="1500" b="0">
                          <a:solidFill>
                            <a:srgbClr val="142D45"/>
                          </a:solidFill>
                          <a:latin typeface="Arial"/>
                          <a:ea typeface="Arial"/>
                          <a:cs typeface="Arial"/>
                        </a:rPr>
                        <a:t>Output gathering</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Adjacent x threads write adjacent RGB pixels</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Useful write locality; per-channel byte operations still require efficient transactions.</a:t>
                      </a:r>
                    </a:p>
                  </a:txBody>
                  <a:tcPr marL="91440" marR="91440" marT="45720" marB="45720" anchor="ctr">
                    <a:solidFill>
                      <a:srgbClr val="FFFFFF"/>
                    </a:solidFill>
                  </a:tcPr>
                </a:tc>
              </a:tr>
              <a:tr h="666750">
                <a:tc>
                  <a:txBody>
                    <a:bodyPr lIns="95250" tIns="95250" rIns="95250" bIns="95250">
                      <a:noAutofit/>
                    </a:bodyPr>
                    <a:lstStyle/>
                    <a:p>
                      <a:pPr algn="l"/>
                      <a:r>
                        <a:rPr sz="1500" b="0">
                          <a:solidFill>
                            <a:srgbClr val="142D45"/>
                          </a:solidFill>
                          <a:latin typeface="Arial"/>
                          <a:ea typeface="Arial"/>
                          <a:cs typeface="Arial"/>
                        </a:rPr>
                        <a:t>Rotated input reads</a:t>
                      </a:r>
                    </a:p>
                  </a:txBody>
                  <a:tcPr marL="91440" marR="91440" marT="45720" marB="45720" anchor="ctr">
                    <a:solidFill>
                      <a:srgbClr val="F0F4F4"/>
                    </a:solidFill>
                  </a:tcPr>
                </a:tc>
                <a:tc>
                  <a:txBody>
                    <a:bodyPr lIns="95250" tIns="95250" rIns="95250" bIns="95250">
                      <a:noAutofit/>
                    </a:bodyPr>
                    <a:lstStyle/>
                    <a:p>
                      <a:pPr algn="l"/>
                      <a:r>
                        <a:rPr sz="1500" b="0">
                          <a:solidFill>
                            <a:srgbClr val="142D45"/>
                          </a:solidFill>
                          <a:latin typeface="Arial"/>
                          <a:ea typeface="Arial"/>
                          <a:cs typeface="Arial"/>
                        </a:rPr>
                        <a:t>Angle changes the source addresses visited by a warp</a:t>
                      </a:r>
                    </a:p>
                  </a:txBody>
                  <a:tcPr marL="91440" marR="91440" marT="45720" marB="45720" anchor="ctr">
                    <a:solidFill>
                      <a:srgbClr val="F0F4F4"/>
                    </a:solidFill>
                  </a:tcPr>
                </a:tc>
                <a:tc>
                  <a:txBody>
                    <a:bodyPr lIns="95250" tIns="95250" rIns="95250" bIns="95250">
                      <a:noAutofit/>
                    </a:bodyPr>
                    <a:lstStyle/>
                    <a:p>
                      <a:pPr algn="l"/>
                      <a:r>
                        <a:rPr sz="1500" b="0">
                          <a:solidFill>
                            <a:srgbClr val="142D45"/>
                          </a:solidFill>
                          <a:latin typeface="Arial"/>
                          <a:ea typeface="Arial"/>
                          <a:cs typeface="Arial"/>
                        </a:rPr>
                        <a:t>Irregular gathers can reduce effective read bandwidth/cache reuse.</a:t>
                      </a:r>
                    </a:p>
                  </a:txBody>
                  <a:tcPr marL="91440" marR="91440" marT="45720" marB="45720" anchor="ctr">
                    <a:solidFill>
                      <a:srgbClr val="F0F4F4"/>
                    </a:solidFill>
                  </a:tcPr>
                </a:tc>
              </a:tr>
              <a:tr h="666750">
                <a:tc>
                  <a:txBody>
                    <a:bodyPr lIns="95250" tIns="95250" rIns="95250" bIns="95250">
                      <a:noAutofit/>
                    </a:bodyPr>
                    <a:lstStyle/>
                    <a:p>
                      <a:pPr algn="l"/>
                      <a:r>
                        <a:rPr sz="1500" b="0">
                          <a:solidFill>
                            <a:srgbClr val="142D45"/>
                          </a:solidFill>
                          <a:latin typeface="Arial"/>
                          <a:ea typeface="Arial"/>
                          <a:cs typeface="Arial"/>
                        </a:rPr>
                        <a:t>Higher residency</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Registers, shared memory and block/thread limits constrain active warps</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Helps hide latency; maximum occupancy is not automatically fastest.</a:t>
                      </a:r>
                    </a:p>
                  </a:txBody>
                  <a:tcPr marL="91440" marR="91440" marT="45720" marB="45720" anchor="ctr">
                    <a:solidFill>
                      <a:srgbClr val="FFFFFF"/>
                    </a:solidFill>
                  </a:tcPr>
                </a:tc>
              </a:tr>
            </a:tbl>
          </a:graphicData>
        </a:graphic>
      </p:graphicFrame>
      <p:sp>
        <p:nvSpPr>
          <p:cNvPr id="4" name="Recompute grid for each block shape. Profile actual tra">
            <a:extLst xmlns:a="http://schemas.openxmlformats.org/drawingml/2006/main">
              <a:ext uri="{FF2B5EF4-FFF2-40B4-BE49-F238E27FC236}">
                <a16:creationId xmlns:a16="http://schemas.microsoft.com/office/drawing/2014/main" id="{56826AC0-E152-4538-AB7B-4F0EFDDCB585}"/>
              </a:ext>
            </a:extLst>
          </p:cNvPr>
          <p:cNvSpPr>
            <a:spLocks xmlns:a="http://schemas.openxmlformats.org/drawingml/2006/main" noGrp="1"/>
          </p:cNvSpPr>
          <p:nvPr/>
        </p:nvSpPr>
        <p:spPr>
          <a:xfrm xmlns:a="http://schemas.openxmlformats.org/drawingml/2006/main">
            <a:off x="609600" y="572452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16170"/>
                </a:solidFill>
                <a:latin typeface="Arial"/>
                <a:ea typeface="Arial"/>
                <a:cs typeface="Arial"/>
              </a:defRPr>
            </a:defPPr>
          </a:lstStyle>
          <a:p xmlns:a="http://schemas.openxmlformats.org/drawingml/2006/main">
            <a:pPr algn="l">
              <a:defRPr sz="1500" b="0">
                <a:solidFill>
                  <a:srgbClr val="516170"/>
                </a:solidFill>
                <a:latin typeface="Arial"/>
                <a:ea typeface="Arial"/>
                <a:cs typeface="Arial"/>
              </a:defRPr>
            </a:pPr>
            <a:r>
              <a:rPr sz="1500" b="0">
                <a:solidFill>
                  <a:srgbClr val="516170"/>
                </a:solidFill>
                <a:latin typeface="Arial"/>
                <a:ea typeface="Arial"/>
                <a:cs typeface="Arial"/>
              </a:rPr>
              <a:t>Recompute grid for each block shape. Profile actual transactions, latency and registers before selecting a shape.</a:t>
            </a:r>
          </a:p>
        </p:txBody>
      </p:sp>
      <p:sp>
        <p:nvSpPr>
          <p:cNvPr id="5" name="">
            <a:extLst xmlns:a="http://schemas.openxmlformats.org/drawingml/2006/main">
              <a:ext uri="{FF2B5EF4-FFF2-40B4-BE49-F238E27FC236}">
                <a16:creationId xmlns:a16="http://schemas.microsoft.com/office/drawing/2014/main" id="{2B3D6E7E-3D19-46E8-8EA4-E4565FA1B915}"/>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6" name="Sources: [1] NVIDIA CUDA programming model; [2] NVIDIA ">
            <a:extLst xmlns:a="http://schemas.openxmlformats.org/drawingml/2006/main">
              <a:ext uri="{FF2B5EF4-FFF2-40B4-BE49-F238E27FC236}">
                <a16:creationId xmlns:a16="http://schemas.microsoft.com/office/drawing/2014/main" id="{104B7FCE-0BA1-456C-9655-284F20EEAC77}"/>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[1] NVIDIA CUDA programming model; [2] NVIDIA CUDA Best Practices</a:t>
            </a:r>
          </a:p>
        </p:txBody>
      </p:sp>
      <p:sp>
        <p:nvSpPr>
          <p:cNvPr id="7" name="14 / 28">
            <a:extLst xmlns:a="http://schemas.openxmlformats.org/drawingml/2006/main">
              <a:ext uri="{FF2B5EF4-FFF2-40B4-BE49-F238E27FC236}">
                <a16:creationId xmlns:a16="http://schemas.microsoft.com/office/drawing/2014/main" id="{9854E174-2842-441E-A36C-BF902F2400A4}"/>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14 / 28</a:t>
            </a:r>
          </a:p>
        </p:txBody>
      </p:sp>
    </p:spTree>
    <p:extLst>
      <p:ext uri="{BB962C8B-B14F-4D97-AF65-F5344CB8AC3E}">
        <p14:creationId xmlns:p14="http://schemas.microsoft.com/office/powerpoint/2010/main" val="310832626"/>
      </p:ext>
    </p:extLst>
  </p:cSld>
</p:sld>
</file>

<file path=ppt/slides/slide1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4" name="Appendix • Task 1 • Task 1(b)">
            <a:extLst xmlns:a="http://schemas.openxmlformats.org/drawingml/2006/main">
              <a:ext uri="{FF2B5EF4-FFF2-40B4-BE49-F238E27FC236}">
                <a16:creationId xmlns:a16="http://schemas.microsoft.com/office/drawing/2014/main" id="{BA1BFE98-4707-4F2B-B068-2506470332E8}"/>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Task 1(b)</a:t>
            </a:r>
          </a:p>
        </p:txBody>
      </p:sp>
      <p:sp>
        <p:nvSpPr>
          <p:cNvPr id="2" name="Expected speedup and its limits">
            <a:extLst xmlns:a="http://schemas.openxmlformats.org/drawingml/2006/main">
              <a:ext uri="{FF2B5EF4-FFF2-40B4-BE49-F238E27FC236}">
                <a16:creationId xmlns:a16="http://schemas.microsoft.com/office/drawing/2014/main" id="{705018BC-0D60-415A-9AA5-047A091D6DFC}"/>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Expected speedup and its limits</a:t>
            </a:r>
          </a:p>
        </p:txBody>
      </p:sp>
      <p:sp>
        <p:nvSpPr>
          <p:cNvPr id="3" name="Baseline: single CPU thread, same rotation and sampling">
            <a:extLst xmlns:a="http://schemas.openxmlformats.org/drawingml/2006/main">
              <a:ext uri="{FF2B5EF4-FFF2-40B4-BE49-F238E27FC236}">
                <a16:creationId xmlns:a16="http://schemas.microsoft.com/office/drawing/2014/main" id="{3A5AEC87-3540-483D-9BB4-9CA2E91D9EC8}"/>
              </a:ext>
            </a:extLst>
          </p:cNvPr>
          <p:cNvSpPr>
            <a:spLocks xmlns:a="http://schemas.openxmlformats.org/drawingml/2006/main" noGrp="1"/>
          </p:cNvSpPr>
          <p:nvPr/>
        </p:nvSpPr>
        <p:spPr>
          <a:xfrm xmlns:a="http://schemas.openxmlformats.org/drawingml/2006/main">
            <a:off x="609600" y="1514475"/>
            <a:ext cx="1097280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Baseline: single CPU thread, same rotation and sampling</a:t>
            </a:r>
          </a:p>
        </p:txBody>
      </p:sp>
      <p:sp>
        <p:nvSpPr>
          <p:cNvPr id="4" name="Also compare a multithreaded CPU; identical output and ">
            <a:extLst xmlns:a="http://schemas.openxmlformats.org/drawingml/2006/main">
              <a:ext uri="{FF2B5EF4-FFF2-40B4-BE49-F238E27FC236}">
                <a16:creationId xmlns:a16="http://schemas.microsoft.com/office/drawing/2014/main" id="{EA862A81-8A08-428F-BB16-AA249A03ECAC}"/>
              </a:ext>
            </a:extLst>
          </p:cNvPr>
          <p:cNvSpPr>
            <a:spLocks xmlns:a="http://schemas.openxmlformats.org/drawingml/2006/main" noGrp="1"/>
          </p:cNvSpPr>
          <p:nvPr/>
        </p:nvSpPr>
        <p:spPr>
          <a:xfrm xmlns:a="http://schemas.openxmlformats.org/drawingml/2006/main">
            <a:off x="609600" y="1924050"/>
            <a:ext cx="10972800" cy="3215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42D45"/>
                </a:solidFill>
                <a:latin typeface="Arial"/>
                <a:ea typeface="Arial"/>
                <a:cs typeface="Arial"/>
              </a:defRPr>
            </a:defPPr>
          </a:lstStyle>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Also compare a multithreaded CPU; identical output and timing boundaries.</a:t>
            </a:r>
          </a:p>
        </p:txBody>
      </p:sp>
      <p:sp>
        <p:nvSpPr>
          <p:cNvPr id="5" name="Speedup = TCPU / TGPU,total">
            <a:extLst xmlns:a="http://schemas.openxmlformats.org/drawingml/2006/main">
              <a:ext uri="{FF2B5EF4-FFF2-40B4-BE49-F238E27FC236}">
                <a16:creationId xmlns:a16="http://schemas.microsoft.com/office/drawing/2014/main" id="{7E6071DE-EA49-427A-85B9-8321E6B403AD}"/>
              </a:ext>
            </a:extLst>
          </p:cNvPr>
          <p:cNvSpPr>
            <a:spLocks xmlns:a="http://schemas.openxmlformats.org/drawingml/2006/main" noGrp="1"/>
          </p:cNvSpPr>
          <p:nvPr/>
        </p:nvSpPr>
        <p:spPr>
          <a:xfrm xmlns:a="http://schemas.openxmlformats.org/drawingml/2006/main">
            <a:off x="609600" y="2505075"/>
            <a:ext cx="10972800" cy="4396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42D45"/>
                </a:solidFill>
                <a:latin typeface="Arial"/>
                <a:ea typeface="Arial"/>
                <a:cs typeface="Arial"/>
              </a:defRPr>
            </a:defPPr>
          </a:lstStyle>
          <a:p xmlns:a="http://schemas.openxmlformats.org/drawingml/2006/main">
            <a:pPr algn="l">
              <a:defRPr sz="2550" b="1">
                <a:solidFill>
                  <a:srgbClr val="142D45"/>
                </a:solidFill>
                <a:latin typeface="Arial"/>
                <a:ea typeface="Arial"/>
                <a:cs typeface="Arial"/>
              </a:defRPr>
            </a:pPr>
            <a:r>
              <a:rPr sz="2550" b="1">
                <a:solidFill>
                  <a:srgbClr val="142D45"/>
                </a:solidFill>
                <a:latin typeface="Arial"/>
                <a:ea typeface="Arial"/>
                <a:cs typeface="Arial"/>
              </a:rPr>
              <a:t>Speedup = TCPU / TGPU,total</a:t>
            </a:r>
          </a:p>
        </p:txBody>
      </p:sp>
      <p:sp>
        <p:nvSpPr>
          <p:cNvPr id="6" name="TGPU,total = allocation/setup + H2D + kernel + D2H">
            <a:extLst xmlns:a="http://schemas.openxmlformats.org/drawingml/2006/main">
              <a:ext uri="{FF2B5EF4-FFF2-40B4-BE49-F238E27FC236}">
                <a16:creationId xmlns:a16="http://schemas.microsoft.com/office/drawing/2014/main" id="{3D8A201C-B902-4ABF-939C-4CEA0285B256}"/>
              </a:ext>
            </a:extLst>
          </p:cNvPr>
          <p:cNvSpPr>
            <a:spLocks xmlns:a="http://schemas.openxmlformats.org/drawingml/2006/main" noGrp="1"/>
          </p:cNvSpPr>
          <p:nvPr/>
        </p:nvSpPr>
        <p:spPr>
          <a:xfrm xmlns:a="http://schemas.openxmlformats.org/drawingml/2006/main">
            <a:off x="609600" y="3038475"/>
            <a:ext cx="1097280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D45"/>
                </a:solidFill>
                <a:latin typeface="Arial"/>
                <a:ea typeface="Arial"/>
                <a:cs typeface="Arial"/>
              </a:defRPr>
            </a:defPPr>
          </a:lstStyle>
          <a:p xmlns:a="http://schemas.openxmlformats.org/drawingml/2006/main">
            <a:pPr algn="l">
              <a:defRPr sz="2025" b="0">
                <a:solidFill>
                  <a:srgbClr val="142D45"/>
                </a:solidFill>
                <a:latin typeface="Arial"/>
                <a:ea typeface="Arial"/>
                <a:cs typeface="Arial"/>
              </a:defRPr>
            </a:pPr>
            <a:r>
              <a:rPr sz="2025" b="0">
                <a:solidFill>
                  <a:srgbClr val="142D45"/>
                </a:solidFill>
                <a:latin typeface="Arial"/>
                <a:ea typeface="Arial"/>
                <a:cs typeface="Arial"/>
              </a:rPr>
              <a:t>TGPU,total = allocation/setup + H2D + kernel + D2H</a:t>
            </a:r>
          </a:p>
        </p:txBody>
      </p:sp>
      <p:sp>
        <p:nvSpPr>
          <p:cNvPr id="7" name="Many GPU execution units and high device bandwidth favo">
            <a:extLst xmlns:a="http://schemas.openxmlformats.org/drawingml/2006/main">
              <a:ext uri="{FF2B5EF4-FFF2-40B4-BE49-F238E27FC236}">
                <a16:creationId xmlns:a16="http://schemas.microsoft.com/office/drawing/2014/main" id="{DC442063-E2CA-4928-B35D-574FB6C880A4}"/>
              </a:ext>
            </a:extLst>
          </p:cNvPr>
          <p:cNvSpPr>
            <a:spLocks xmlns:a="http://schemas.openxmlformats.org/drawingml/2006/main" noGrp="1"/>
          </p:cNvSpPr>
          <p:nvPr/>
        </p:nvSpPr>
        <p:spPr>
          <a:xfrm xmlns:a="http://schemas.openxmlformats.org/drawingml/2006/main">
            <a:off x="609600" y="3714750"/>
            <a:ext cx="5219700" cy="11719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42D45"/>
                </a:solidFill>
                <a:latin typeface="Arial"/>
                <a:ea typeface="Arial"/>
                <a:cs typeface="Arial"/>
              </a:defRPr>
            </a:defPPr>
          </a:lstStyle>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Many GPU execution units and high device</a:t>
            </a:r>
          </a:p>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bandwidth favor parallel throughput. Large or</a:t>
            </a:r>
          </a:p>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resident images amortize setup; gathered reads</a:t>
            </a:r>
          </a:p>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may limit bandwidth.</a:t>
            </a:r>
          </a:p>
        </p:txBody>
      </p:sp>
      <p:sp>
        <p:nvSpPr>
          <p:cNvPr id="8" name="Amdahl: S = 1 / (s + (1−s)/a). s is the unchanged seria">
            <a:extLst xmlns:a="http://schemas.openxmlformats.org/drawingml/2006/main">
              <a:ext uri="{FF2B5EF4-FFF2-40B4-BE49-F238E27FC236}">
                <a16:creationId xmlns:a16="http://schemas.microsoft.com/office/drawing/2014/main" id="{E090A137-4F07-45BE-82F1-3A3DAF3AF947}"/>
              </a:ext>
            </a:extLst>
          </p:cNvPr>
          <p:cNvSpPr>
            <a:spLocks xmlns:a="http://schemas.openxmlformats.org/drawingml/2006/main" noGrp="1"/>
          </p:cNvSpPr>
          <p:nvPr/>
        </p:nvSpPr>
        <p:spPr>
          <a:xfrm xmlns:a="http://schemas.openxmlformats.org/drawingml/2006/main">
            <a:off x="6419850" y="3714750"/>
            <a:ext cx="5162550" cy="11719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42D45"/>
                </a:solidFill>
                <a:latin typeface="Arial"/>
                <a:ea typeface="Arial"/>
                <a:cs typeface="Arial"/>
              </a:defRPr>
            </a:defPPr>
          </a:lstStyle>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Amdahl: S = 1 / (s + (1−s)/a). s is the unchanged</a:t>
            </a:r>
          </a:p>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serial share; a accelerates the remainder. s = 0.20</a:t>
            </a:r>
          </a:p>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gives a 5× ideal ceiling before added transfers.</a:t>
            </a:r>
          </a:p>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Theoretical, not measured.</a:t>
            </a:r>
          </a:p>
        </p:txBody>
      </p:sp>
      <p:sp>
        <p:nvSpPr>
          <p:cNvPr id="9" name="">
            <a:extLst xmlns:a="http://schemas.openxmlformats.org/drawingml/2006/main">
              <a:ext uri="{FF2B5EF4-FFF2-40B4-BE49-F238E27FC236}">
                <a16:creationId xmlns:a16="http://schemas.microsoft.com/office/drawing/2014/main" id="{08046C8A-74FC-4BE7-BB71-ADC3DF88AEE8}"/>
              </a:ext>
            </a:extLst>
          </p:cNvPr>
          <p:cNvSpPr>
            <a:spLocks xmlns:a="http://schemas.openxmlformats.org/drawingml/2006/main" noGrp="1"/>
          </p:cNvSpPr>
          <p:nvPr/>
        </p:nvSpPr>
        <p:spPr>
          <a:xfrm xmlns:a="http://schemas.openxmlformats.org/drawingml/2006/main">
            <a:off x="609600" y="5686425"/>
            <a:ext cx="10972800" cy="0"/>
          </a:xfrm>
          <a:prstGeom xmlns:a="http://schemas.openxmlformats.org/drawingml/2006/main" prst="line">
            <a:avLst/>
          </a:prstGeom>
          <a:noFill xmlns:a="http://schemas.openxmlformats.org/drawingml/2006/main"/>
          <a:ln xmlns:a="http://schemas.openxmlformats.org/drawingml/2006/main" w="19050">
            <a:solidFill>
              <a:srgbClr val="007B83"/>
            </a:solidFill>
            <a:prstDash val="solid"/>
          </a:ln>
        </p:spPr>
      </p:sp>
      <p:sp>
        <p:nvSpPr>
          <p:cNvPr id="10" name="Expect gains for large or resident workloads; measure t">
            <a:extLst xmlns:a="http://schemas.openxmlformats.org/drawingml/2006/main">
              <a:ext uri="{FF2B5EF4-FFF2-40B4-BE49-F238E27FC236}">
                <a16:creationId xmlns:a16="http://schemas.microsoft.com/office/drawing/2014/main" id="{6EADFC10-3743-4D2E-97ED-CD4AAFF84203}"/>
              </a:ext>
            </a:extLst>
          </p:cNvPr>
          <p:cNvSpPr>
            <a:spLocks xmlns:a="http://schemas.openxmlformats.org/drawingml/2006/main" noGrp="1"/>
          </p:cNvSpPr>
          <p:nvPr/>
        </p:nvSpPr>
        <p:spPr>
          <a:xfrm xmlns:a="http://schemas.openxmlformats.org/drawingml/2006/main">
            <a:off x="609600" y="5819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42D45"/>
                </a:solidFill>
                <a:latin typeface="Arial"/>
                <a:ea typeface="Arial"/>
                <a:cs typeface="Arial"/>
              </a:defRPr>
            </a:defPPr>
          </a:lstStyle>
          <a:p xmlns:a="http://schemas.openxmlformats.org/drawingml/2006/main">
            <a:pPr algn="l">
              <a:defRPr sz="1650" b="1">
                <a:solidFill>
                  <a:srgbClr val="142D45"/>
                </a:solidFill>
                <a:latin typeface="Arial"/>
                <a:ea typeface="Arial"/>
                <a:cs typeface="Arial"/>
              </a:defRPr>
            </a:pPr>
            <a:r>
              <a:rPr sz="1650" b="1">
                <a:solidFill>
                  <a:srgbClr val="142D45"/>
                </a:solidFill>
                <a:latin typeface="Arial"/>
                <a:ea typeface="Arial"/>
                <a:cs typeface="Arial"/>
              </a:rPr>
              <a:t>Expect gains for large or resident workloads; measure the whole pipeline.</a:t>
            </a:r>
          </a:p>
        </p:txBody>
      </p:sp>
      <p:sp>
        <p:nvSpPr>
          <p:cNvPr id="11" name="">
            <a:extLst xmlns:a="http://schemas.openxmlformats.org/drawingml/2006/main">
              <a:ext uri="{FF2B5EF4-FFF2-40B4-BE49-F238E27FC236}">
                <a16:creationId xmlns:a16="http://schemas.microsoft.com/office/drawing/2014/main" id="{AFF30A7A-791C-40A6-A6AD-2C24E77FC081}"/>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2" name="Sources: [2] NVIDIA CUDA Best Practices">
            <a:extLst xmlns:a="http://schemas.openxmlformats.org/drawingml/2006/main">
              <a:ext uri="{FF2B5EF4-FFF2-40B4-BE49-F238E27FC236}">
                <a16:creationId xmlns:a16="http://schemas.microsoft.com/office/drawing/2014/main" id="{F46E4F75-44F6-4388-BE9E-BB65FFA2E328}"/>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[2] NVIDIA CUDA Best Practices</a:t>
            </a:r>
          </a:p>
        </p:txBody>
      </p:sp>
      <p:sp>
        <p:nvSpPr>
          <p:cNvPr id="13" name="15 / 28">
            <a:extLst xmlns:a="http://schemas.openxmlformats.org/drawingml/2006/main">
              <a:ext uri="{FF2B5EF4-FFF2-40B4-BE49-F238E27FC236}">
                <a16:creationId xmlns:a16="http://schemas.microsoft.com/office/drawing/2014/main" id="{59641F33-F1AD-4F7E-977E-54C6C2060DDB}"/>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15 / 28</a:t>
            </a:r>
          </a:p>
        </p:txBody>
      </p:sp>
    </p:spTree>
    <p:extLst>
      <p:ext uri="{BB962C8B-B14F-4D97-AF65-F5344CB8AC3E}">
        <p14:creationId xmlns:p14="http://schemas.microsoft.com/office/powerpoint/2010/main" val="1873360470"/>
      </p:ext>
    </p:extLst>
  </p:cSld>
</p:sld>
</file>

<file path=ppt/slides/slide1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cxnSp>
        <p:nvCxnSpPr>
          <p:cNvPr id="19" name="">
            <a:extLst xmlns:a="http://schemas.openxmlformats.org/drawingml/2006/main">
              <a:ext uri="{FF2B5EF4-FFF2-40B4-BE49-F238E27FC236}">
                <a16:creationId xmlns:a16="http://schemas.microsoft.com/office/drawing/2014/main" id="{EB1D9A7C-ED3A-48B1-ADFE-35ED4E685C56}"/>
              </a:ext>
            </a:extLst>
          </p:cNvPr>
          <p:cNvCxnSpPr>
            <a:stCxn xmlns:a="http://schemas.openxmlformats.org/drawingml/2006/main" id="16" idx="3"/>
            <a:endCxn xmlns:a="http://schemas.openxmlformats.org/drawingml/2006/main" id="17" idx="1"/>
          </p:cNvCxnSpPr>
          <p:nvPr/>
        </p:nvCxnSpPr>
        <p:spPr>
          <a:xfrm xmlns:a="http://schemas.openxmlformats.org/drawingml/2006/main">
            <a:off x="10287000" y="3619500"/>
            <a:ext cx="333375" cy="0"/>
          </a:xfrm>
          <a:prstGeom xmlns:a="http://schemas.openxmlformats.org/drawingml/2006/main" prst="straightConnector1">
            <a:avLst/>
          </a:prstGeom>
          <a:ln xmlns:a="http://schemas.openxmlformats.org/drawingml/2006/main" w="19050">
            <a:solidFill>
              <a:srgbClr val="007B83"/>
            </a:solidFill>
            <a:prstDash val="solid"/>
            <a:tailEnd type="arrow" w="med" len="med"/>
          </a:ln>
        </p:spPr>
      </p:cxnSp>
      <p:cxnSp>
        <p:nvCxnSpPr>
          <p:cNvPr id="18" name="">
            <a:extLst xmlns:a="http://schemas.openxmlformats.org/drawingml/2006/main">
              <a:ext uri="{FF2B5EF4-FFF2-40B4-BE49-F238E27FC236}">
                <a16:creationId xmlns:a16="http://schemas.microsoft.com/office/drawing/2014/main" id="{57E02189-D16D-4958-88D5-8848C7BD9509}"/>
              </a:ext>
            </a:extLst>
          </p:cNvPr>
          <p:cNvCxnSpPr>
            <a:stCxn xmlns:a="http://schemas.openxmlformats.org/drawingml/2006/main" id="15" idx="3"/>
            <a:endCxn xmlns:a="http://schemas.openxmlformats.org/drawingml/2006/main" id="16" idx="1"/>
          </p:cNvCxnSpPr>
          <p:nvPr/>
        </p:nvCxnSpPr>
        <p:spPr>
          <a:xfrm xmlns:a="http://schemas.openxmlformats.org/drawingml/2006/main">
            <a:off x="8924925" y="3619500"/>
            <a:ext cx="333375" cy="0"/>
          </a:xfrm>
          <a:prstGeom xmlns:a="http://schemas.openxmlformats.org/drawingml/2006/main" prst="straightConnector1">
            <a:avLst/>
          </a:prstGeom>
          <a:ln xmlns:a="http://schemas.openxmlformats.org/drawingml/2006/main" w="19050">
            <a:solidFill>
              <a:srgbClr val="007B83"/>
            </a:solidFill>
            <a:prstDash val="solid"/>
            <a:tailEnd type="arrow" w="med" len="med"/>
          </a:ln>
        </p:spPr>
      </p:cxnSp>
      <p:cxnSp>
        <p:nvCxnSpPr>
          <p:cNvPr id="13" name="">
            <a:extLst xmlns:a="http://schemas.openxmlformats.org/drawingml/2006/main">
              <a:ext uri="{FF2B5EF4-FFF2-40B4-BE49-F238E27FC236}">
                <a16:creationId xmlns:a16="http://schemas.microsoft.com/office/drawing/2014/main" id="{53D4DA7E-68EC-4D8E-86FC-EEDDEF81F63D}"/>
              </a:ext>
            </a:extLst>
          </p:cNvPr>
          <p:cNvCxnSpPr>
            <a:stCxn xmlns:a="http://schemas.openxmlformats.org/drawingml/2006/main" id="10" idx="3"/>
            <a:endCxn xmlns:a="http://schemas.openxmlformats.org/drawingml/2006/main" id="11" idx="1"/>
          </p:cNvCxnSpPr>
          <p:nvPr/>
        </p:nvCxnSpPr>
        <p:spPr>
          <a:xfrm xmlns:a="http://schemas.openxmlformats.org/drawingml/2006/main">
            <a:off x="9953625" y="2419350"/>
            <a:ext cx="333375" cy="0"/>
          </a:xfrm>
          <a:prstGeom xmlns:a="http://schemas.openxmlformats.org/drawingml/2006/main" prst="straightConnector1">
            <a:avLst/>
          </a:prstGeom>
          <a:ln xmlns:a="http://schemas.openxmlformats.org/drawingml/2006/main" w="19050">
            <a:solidFill>
              <a:srgbClr val="007B83"/>
            </a:solidFill>
            <a:prstDash val="solid"/>
            <a:tailEnd type="arrow" w="med" len="med"/>
          </a:ln>
        </p:spPr>
      </p:cxnSp>
      <p:cxnSp>
        <p:nvCxnSpPr>
          <p:cNvPr id="12" name="">
            <a:extLst xmlns:a="http://schemas.openxmlformats.org/drawingml/2006/main">
              <a:ext uri="{FF2B5EF4-FFF2-40B4-BE49-F238E27FC236}">
                <a16:creationId xmlns:a16="http://schemas.microsoft.com/office/drawing/2014/main" id="{6A85C19B-D40B-4D53-8907-038E78FD8C69}"/>
              </a:ext>
            </a:extLst>
          </p:cNvPr>
          <p:cNvCxnSpPr>
            <a:stCxn xmlns:a="http://schemas.openxmlformats.org/drawingml/2006/main" id="9" idx="3"/>
            <a:endCxn xmlns:a="http://schemas.openxmlformats.org/drawingml/2006/main" id="10" idx="1"/>
          </p:cNvCxnSpPr>
          <p:nvPr/>
        </p:nvCxnSpPr>
        <p:spPr>
          <a:xfrm xmlns:a="http://schemas.openxmlformats.org/drawingml/2006/main">
            <a:off x="8591550" y="2419350"/>
            <a:ext cx="333375" cy="0"/>
          </a:xfrm>
          <a:prstGeom xmlns:a="http://schemas.openxmlformats.org/drawingml/2006/main" prst="straightConnector1">
            <a:avLst/>
          </a:prstGeom>
          <a:ln xmlns:a="http://schemas.openxmlformats.org/drawingml/2006/main" w="19050">
            <a:solidFill>
              <a:srgbClr val="007B83"/>
            </a:solidFill>
            <a:prstDash val="solid"/>
            <a:tailEnd type="arrow" w="med" len="med"/>
          </a:ln>
        </p:spPr>
      </p:cxnSp>
      <p:sp>
        <p:nvSpPr>
          <p:cNvPr id="27" name="Appendix • Task 1 • Task 1(b) • Concurrency and speedup">
            <a:extLst xmlns:a="http://schemas.openxmlformats.org/drawingml/2006/main">
              <a:ext uri="{FF2B5EF4-FFF2-40B4-BE49-F238E27FC236}">
                <a16:creationId xmlns:a16="http://schemas.microsoft.com/office/drawing/2014/main" id="{9DEACCC7-7797-4DFE-9DBB-6731CFE1CE5C}"/>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Task 1(b) • Concurrency and speedup</a:t>
            </a:r>
          </a:p>
        </p:txBody>
      </p:sp>
      <p:sp>
        <p:nvSpPr>
          <p:cNvPr id="2" name="Streams, overlap and completed output">
            <a:extLst xmlns:a="http://schemas.openxmlformats.org/drawingml/2006/main">
              <a:ext uri="{FF2B5EF4-FFF2-40B4-BE49-F238E27FC236}">
                <a16:creationId xmlns:a16="http://schemas.microsoft.com/office/drawing/2014/main" id="{96A913B8-BE63-407B-93AC-238892C7B0B9}"/>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Streams, overlap and completed output</a:t>
            </a:r>
          </a:p>
        </p:txBody>
      </p:sp>
      <p:sp>
        <p:nvSpPr>
          <p:cNvPr id="3" name="Ordered work in one stream">
            <a:extLst xmlns:a="http://schemas.openxmlformats.org/drawingml/2006/main">
              <a:ext uri="{FF2B5EF4-FFF2-40B4-BE49-F238E27FC236}">
                <a16:creationId xmlns:a16="http://schemas.microsoft.com/office/drawing/2014/main" id="{7E6C4141-FEE7-4C11-8503-97F67E078368}"/>
              </a:ext>
            </a:extLst>
          </p:cNvPr>
          <p:cNvSpPr>
            <a:spLocks xmlns:a="http://schemas.openxmlformats.org/drawingml/2006/main" noGrp="1"/>
          </p:cNvSpPr>
          <p:nvPr/>
        </p:nvSpPr>
        <p:spPr>
          <a:xfrm xmlns:a="http://schemas.openxmlformats.org/drawingml/2006/main">
            <a:off x="609600" y="1504950"/>
            <a:ext cx="61912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Ordered work in one stream</a:t>
            </a:r>
          </a:p>
        </p:txBody>
      </p:sp>
      <p:sp>
        <p:nvSpPr>
          <p:cNvPr id="4" name="">
            <a:extLst xmlns:a="http://schemas.openxmlformats.org/drawingml/2006/main">
              <a:ext uri="{FF2B5EF4-FFF2-40B4-BE49-F238E27FC236}">
                <a16:creationId xmlns:a16="http://schemas.microsoft.com/office/drawing/2014/main" id="{F9BFFEBD-02CB-4498-AF77-485EA650ABD7}"/>
              </a:ext>
            </a:extLst>
          </p:cNvPr>
          <p:cNvSpPr>
            <a:spLocks xmlns:a="http://schemas.openxmlformats.org/drawingml/2006/main" noGrp="1"/>
          </p:cNvSpPr>
          <p:nvPr/>
        </p:nvSpPr>
        <p:spPr>
          <a:xfrm xmlns:a="http://schemas.openxmlformats.org/drawingml/2006/main">
            <a:off x="609600" y="1971675"/>
            <a:ext cx="6419850" cy="2148840"/>
          </a:xfrm>
          <a:prstGeom xmlns:a="http://schemas.openxmlformats.org/drawingml/2006/main" prst="rect">
            <a:avLst/>
          </a:prstGeom>
          <a:solidFill xmlns:a="http://schemas.openxmlformats.org/drawingml/2006/main">
            <a:srgbClr val="EDF1F5"/>
          </a:solidFill>
          <a:ln xmlns:a="http://schemas.openxmlformats.org/drawingml/2006/main" w="14288">
            <a:noFill/>
            <a:prstDash val="solid"/>
          </a:ln>
        </p:spPr>
      </p:sp>
      <p:sp>
        <p:nvSpPr>
          <p:cNvPr id="5" name="cudaMemcpyAsync(d_in, h_in, bytes,&#10;  cudaMemcpyHostToDe">
            <a:extLst xmlns:a="http://schemas.openxmlformats.org/drawingml/2006/main">
              <a:ext uri="{FF2B5EF4-FFF2-40B4-BE49-F238E27FC236}">
                <a16:creationId xmlns:a16="http://schemas.microsoft.com/office/drawing/2014/main" id="{3B19097F-904A-44ED-ABAB-3EDE82342C80}"/>
              </a:ext>
            </a:extLst>
          </p:cNvPr>
          <p:cNvSpPr>
            <a:spLocks xmlns:a="http://schemas.openxmlformats.org/drawingml/2006/main" noGrp="1"/>
          </p:cNvSpPr>
          <p:nvPr/>
        </p:nvSpPr>
        <p:spPr>
          <a:xfrm xmlns:a="http://schemas.openxmlformats.org/drawingml/2006/main">
            <a:off x="723900" y="2057400"/>
            <a:ext cx="6191250" cy="20154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42D45"/>
                </a:solidFill>
                <a:latin typeface="Consolas"/>
                <a:ea typeface="Consolas"/>
                <a:cs typeface="Consolas"/>
              </a:defRPr>
            </a:defPPr>
          </a:lstStyle>
          <a:p xmlns:a="http://schemas.openxmlformats.org/drawingml/2006/main">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cudaMemcpyAsync(d_in, h_in, bytes,</a:t>
            </a:r>
          </a:p>
          <a:p xmlns:a="http://schemas.openxmlformats.org/drawingml/2006/main">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  cudaMemcpyHostToDevice, stream);</a:t>
            </a:r>
          </a:p>
          <a:p xmlns:a="http://schemas.openxmlformats.org/drawingml/2006/main">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rotate_rgb&lt;&lt;&lt;grid, block, 0, stream&gt;&gt;&gt;(</a:t>
            </a:r>
          </a:p>
          <a:p xmlns:a="http://schemas.openxmlformats.org/drawingml/2006/main">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  d_in, d_out, W, H, c, s);</a:t>
            </a:r>
          </a:p>
          <a:p xmlns:a="http://schemas.openxmlformats.org/drawingml/2006/main">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cudaMemcpyAsync(h_out, d_out, bytes,</a:t>
            </a:r>
          </a:p>
          <a:p xmlns:a="http://schemas.openxmlformats.org/drawingml/2006/main">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  cudaMemcpyDeviceToHost, stream);</a:t>
            </a:r>
          </a:p>
          <a:p xmlns:a="http://schemas.openxmlformats.org/drawingml/2006/main">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 After enqueueing all batch images:</a:t>
            </a:r>
          </a:p>
          <a:p xmlns:a="http://schemas.openxmlformats.org/drawingml/2006/main">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cudaStreamSynchronize(stream);</a:t>
            </a:r>
          </a:p>
        </p:txBody>
      </p:sp>
      <p:sp>
        <p:nvSpPr>
          <p:cNvPr id="6" name="Batch: enqueue all streams before waiting. Check every ">
            <a:extLst xmlns:a="http://schemas.openxmlformats.org/drawingml/2006/main">
              <a:ext uri="{FF2B5EF4-FFF2-40B4-BE49-F238E27FC236}">
                <a16:creationId xmlns:a16="http://schemas.microsoft.com/office/drawing/2014/main" id="{76EEFC89-C3B7-4009-9B7A-30CC63B52848}"/>
              </a:ext>
            </a:extLst>
          </p:cNvPr>
          <p:cNvSpPr>
            <a:spLocks xmlns:a="http://schemas.openxmlformats.org/drawingml/2006/main" noGrp="1"/>
          </p:cNvSpPr>
          <p:nvPr/>
        </p:nvSpPr>
        <p:spPr>
          <a:xfrm xmlns:a="http://schemas.openxmlformats.org/drawingml/2006/main">
            <a:off x="609600" y="4162425"/>
            <a:ext cx="6191250" cy="5577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Batch: enqueue all streams before waiting. Check every API,</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launch and completion result; submission is not completion.</a:t>
            </a:r>
          </a:p>
        </p:txBody>
      </p:sp>
      <p:sp>
        <p:nvSpPr>
          <p:cNvPr id="7" name="Independent images / streams">
            <a:extLst xmlns:a="http://schemas.openxmlformats.org/drawingml/2006/main">
              <a:ext uri="{FF2B5EF4-FFF2-40B4-BE49-F238E27FC236}">
                <a16:creationId xmlns:a16="http://schemas.microsoft.com/office/drawing/2014/main" id="{8DD31A3A-390F-4C14-9C12-38B1F34E3013}"/>
              </a:ext>
            </a:extLst>
          </p:cNvPr>
          <p:cNvSpPr>
            <a:spLocks xmlns:a="http://schemas.openxmlformats.org/drawingml/2006/main" noGrp="1"/>
          </p:cNvSpPr>
          <p:nvPr/>
        </p:nvSpPr>
        <p:spPr>
          <a:xfrm xmlns:a="http://schemas.openxmlformats.org/drawingml/2006/main">
            <a:off x="7524750" y="1504950"/>
            <a:ext cx="4057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07B83"/>
                </a:solidFill>
                <a:latin typeface="Arial"/>
                <a:ea typeface="Arial"/>
                <a:cs typeface="Arial"/>
              </a:defRPr>
            </a:defPPr>
          </a:lstStyle>
          <a:p xmlns:a="http://schemas.openxmlformats.org/drawingml/2006/main">
            <a:pPr algn="l">
              <a:defRPr sz="1875" b="1">
                <a:solidFill>
                  <a:srgbClr val="007B83"/>
                </a:solidFill>
                <a:latin typeface="Arial"/>
                <a:ea typeface="Arial"/>
                <a:cs typeface="Arial"/>
              </a:defRPr>
            </a:pPr>
            <a:r>
              <a:rPr sz="1875" b="1">
                <a:solidFill>
                  <a:srgbClr val="007B83"/>
                </a:solidFill>
                <a:latin typeface="Arial"/>
                <a:ea typeface="Arial"/>
                <a:cs typeface="Arial"/>
              </a:rPr>
              <a:t>Independent images / streams</a:t>
            </a:r>
          </a:p>
        </p:txBody>
      </p:sp>
      <p:sp>
        <p:nvSpPr>
          <p:cNvPr id="8" name="A">
            <a:extLst xmlns:a="http://schemas.openxmlformats.org/drawingml/2006/main">
              <a:ext uri="{FF2B5EF4-FFF2-40B4-BE49-F238E27FC236}">
                <a16:creationId xmlns:a16="http://schemas.microsoft.com/office/drawing/2014/main" id="{BAA500C7-D028-4877-931E-A93322563175}"/>
              </a:ext>
            </a:extLst>
          </p:cNvPr>
          <p:cNvSpPr>
            <a:spLocks xmlns:a="http://schemas.openxmlformats.org/drawingml/2006/main" noGrp="1"/>
          </p:cNvSpPr>
          <p:nvPr/>
        </p:nvSpPr>
        <p:spPr>
          <a:xfrm xmlns:a="http://schemas.openxmlformats.org/drawingml/2006/main">
            <a:off x="7191375" y="2295525"/>
            <a:ext cx="323850" cy="2861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142D45"/>
                </a:solidFill>
                <a:latin typeface="Arial"/>
                <a:ea typeface="Arial"/>
                <a:cs typeface="Arial"/>
              </a:defRPr>
            </a:defPPr>
          </a:lstStyle>
          <a:p xmlns:a="http://schemas.openxmlformats.org/drawingml/2006/main">
            <a:pPr algn="l">
              <a:defRPr sz="1575" b="1">
                <a:solidFill>
                  <a:srgbClr val="142D45"/>
                </a:solidFill>
                <a:latin typeface="Arial"/>
                <a:ea typeface="Arial"/>
                <a:cs typeface="Arial"/>
              </a:defRPr>
            </a:pPr>
            <a:r>
              <a:rPr sz="1575" b="1">
                <a:solidFill>
                  <a:srgbClr val="142D45"/>
                </a:solidFill>
                <a:latin typeface="Arial"/>
                <a:ea typeface="Arial"/>
                <a:cs typeface="Arial"/>
              </a:rPr>
              <a:t>A</a:t>
            </a:r>
          </a:p>
        </p:txBody>
      </p:sp>
      <p:sp>
        <p:nvSpPr>
          <p:cNvPr id="9" name="">
            <a:extLst xmlns:a="http://schemas.openxmlformats.org/drawingml/2006/main">
              <a:ext uri="{FF2B5EF4-FFF2-40B4-BE49-F238E27FC236}">
                <a16:creationId xmlns:a16="http://schemas.microsoft.com/office/drawing/2014/main" id="{DFC5BA6B-EF86-4891-A8DB-522880938572}"/>
              </a:ext>
            </a:extLst>
          </p:cNvPr>
          <p:cNvSpPr>
            <a:spLocks xmlns:a="http://schemas.openxmlformats.org/drawingml/2006/main" noGrp="1"/>
          </p:cNvSpPr>
          <p:nvPr/>
        </p:nvSpPr>
        <p:spPr>
          <a:xfrm xmlns:a="http://schemas.openxmlformats.org/drawingml/2006/main">
            <a:off x="7620000" y="2095500"/>
            <a:ext cx="971550" cy="64770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H2D</a:t>
            </a:r>
          </a:p>
        </p:txBody>
      </p:sp>
      <p:sp>
        <p:nvSpPr>
          <p:cNvPr id="10" name="">
            <a:extLst xmlns:a="http://schemas.openxmlformats.org/drawingml/2006/main">
              <a:ext uri="{FF2B5EF4-FFF2-40B4-BE49-F238E27FC236}">
                <a16:creationId xmlns:a16="http://schemas.microsoft.com/office/drawing/2014/main" id="{618E89C1-20E8-4631-9E2A-8DECEB06AEB7}"/>
              </a:ext>
            </a:extLst>
          </p:cNvPr>
          <p:cNvSpPr>
            <a:spLocks xmlns:a="http://schemas.openxmlformats.org/drawingml/2006/main" noGrp="1"/>
          </p:cNvSpPr>
          <p:nvPr/>
        </p:nvSpPr>
        <p:spPr>
          <a:xfrm xmlns:a="http://schemas.openxmlformats.org/drawingml/2006/main">
            <a:off x="8924925" y="2095500"/>
            <a:ext cx="1028700" cy="64770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Kernel</a:t>
            </a:r>
          </a:p>
        </p:txBody>
      </p:sp>
      <p:sp>
        <p:nvSpPr>
          <p:cNvPr id="11" name="">
            <a:extLst xmlns:a="http://schemas.openxmlformats.org/drawingml/2006/main">
              <a:ext uri="{FF2B5EF4-FFF2-40B4-BE49-F238E27FC236}">
                <a16:creationId xmlns:a16="http://schemas.microsoft.com/office/drawing/2014/main" id="{8B738811-C155-429E-89DB-FDF0C32A4655}"/>
              </a:ext>
            </a:extLst>
          </p:cNvPr>
          <p:cNvSpPr>
            <a:spLocks xmlns:a="http://schemas.openxmlformats.org/drawingml/2006/main" noGrp="1"/>
          </p:cNvSpPr>
          <p:nvPr/>
        </p:nvSpPr>
        <p:spPr>
          <a:xfrm xmlns:a="http://schemas.openxmlformats.org/drawingml/2006/main">
            <a:off x="10287000" y="2095500"/>
            <a:ext cx="971550" cy="64770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D2H</a:t>
            </a:r>
          </a:p>
        </p:txBody>
      </p:sp>
      <p:sp>
        <p:nvSpPr>
          <p:cNvPr id="14" name="B">
            <a:extLst xmlns:a="http://schemas.openxmlformats.org/drawingml/2006/main">
              <a:ext uri="{FF2B5EF4-FFF2-40B4-BE49-F238E27FC236}">
                <a16:creationId xmlns:a16="http://schemas.microsoft.com/office/drawing/2014/main" id="{37C2BB6E-638B-428D-B7C9-2F9988FBEAF0}"/>
              </a:ext>
            </a:extLst>
          </p:cNvPr>
          <p:cNvSpPr>
            <a:spLocks xmlns:a="http://schemas.openxmlformats.org/drawingml/2006/main" noGrp="1"/>
          </p:cNvSpPr>
          <p:nvPr/>
        </p:nvSpPr>
        <p:spPr>
          <a:xfrm xmlns:a="http://schemas.openxmlformats.org/drawingml/2006/main">
            <a:off x="7191375" y="3495675"/>
            <a:ext cx="323850" cy="2861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142D45"/>
                </a:solidFill>
                <a:latin typeface="Arial"/>
                <a:ea typeface="Arial"/>
                <a:cs typeface="Arial"/>
              </a:defRPr>
            </a:defPPr>
          </a:lstStyle>
          <a:p xmlns:a="http://schemas.openxmlformats.org/drawingml/2006/main">
            <a:pPr algn="l">
              <a:defRPr sz="1575" b="1">
                <a:solidFill>
                  <a:srgbClr val="142D45"/>
                </a:solidFill>
                <a:latin typeface="Arial"/>
                <a:ea typeface="Arial"/>
                <a:cs typeface="Arial"/>
              </a:defRPr>
            </a:pPr>
            <a:r>
              <a:rPr sz="1575" b="1">
                <a:solidFill>
                  <a:srgbClr val="142D45"/>
                </a:solidFill>
                <a:latin typeface="Arial"/>
                <a:ea typeface="Arial"/>
                <a:cs typeface="Arial"/>
              </a:rPr>
              <a:t>B</a:t>
            </a:r>
          </a:p>
        </p:txBody>
      </p:sp>
      <p:sp>
        <p:nvSpPr>
          <p:cNvPr id="15" name="">
            <a:extLst xmlns:a="http://schemas.openxmlformats.org/drawingml/2006/main">
              <a:ext uri="{FF2B5EF4-FFF2-40B4-BE49-F238E27FC236}">
                <a16:creationId xmlns:a16="http://schemas.microsoft.com/office/drawing/2014/main" id="{DDE5CBFF-215F-48E5-B374-7F9BE0C48DA5}"/>
              </a:ext>
            </a:extLst>
          </p:cNvPr>
          <p:cNvSpPr>
            <a:spLocks xmlns:a="http://schemas.openxmlformats.org/drawingml/2006/main" noGrp="1"/>
          </p:cNvSpPr>
          <p:nvPr/>
        </p:nvSpPr>
        <p:spPr>
          <a:xfrm xmlns:a="http://schemas.openxmlformats.org/drawingml/2006/main">
            <a:off x="7953375" y="3295650"/>
            <a:ext cx="971550" cy="64770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H2D</a:t>
            </a:r>
          </a:p>
        </p:txBody>
      </p:sp>
      <p:sp>
        <p:nvSpPr>
          <p:cNvPr id="16" name="">
            <a:extLst xmlns:a="http://schemas.openxmlformats.org/drawingml/2006/main">
              <a:ext uri="{FF2B5EF4-FFF2-40B4-BE49-F238E27FC236}">
                <a16:creationId xmlns:a16="http://schemas.microsoft.com/office/drawing/2014/main" id="{BB806A9B-0064-4EB6-8F6B-88A4D3B5FE68}"/>
              </a:ext>
            </a:extLst>
          </p:cNvPr>
          <p:cNvSpPr>
            <a:spLocks xmlns:a="http://schemas.openxmlformats.org/drawingml/2006/main" noGrp="1"/>
          </p:cNvSpPr>
          <p:nvPr/>
        </p:nvSpPr>
        <p:spPr>
          <a:xfrm xmlns:a="http://schemas.openxmlformats.org/drawingml/2006/main">
            <a:off x="9258300" y="3295650"/>
            <a:ext cx="1028700" cy="64770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Kernel</a:t>
            </a:r>
          </a:p>
        </p:txBody>
      </p:sp>
      <p:sp>
        <p:nvSpPr>
          <p:cNvPr id="17" name="">
            <a:extLst xmlns:a="http://schemas.openxmlformats.org/drawingml/2006/main">
              <a:ext uri="{FF2B5EF4-FFF2-40B4-BE49-F238E27FC236}">
                <a16:creationId xmlns:a16="http://schemas.microsoft.com/office/drawing/2014/main" id="{4C49D6F9-98B7-49C1-AFBC-D13A4EBBFD1F}"/>
              </a:ext>
            </a:extLst>
          </p:cNvPr>
          <p:cNvSpPr>
            <a:spLocks xmlns:a="http://schemas.openxmlformats.org/drawingml/2006/main" noGrp="1"/>
          </p:cNvSpPr>
          <p:nvPr/>
        </p:nvSpPr>
        <p:spPr>
          <a:xfrm xmlns:a="http://schemas.openxmlformats.org/drawingml/2006/main">
            <a:off x="10620375" y="3295650"/>
            <a:ext cx="971550" cy="64770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D2H</a:t>
            </a:r>
          </a:p>
        </p:txBody>
      </p:sp>
      <p:sp>
        <p:nvSpPr>
          <p:cNvPr id="20" name="Possible overlap depends on supporting hardware and ava">
            <a:extLst xmlns:a="http://schemas.openxmlformats.org/drawingml/2006/main">
              <a:ext uri="{FF2B5EF4-FFF2-40B4-BE49-F238E27FC236}">
                <a16:creationId xmlns:a16="http://schemas.microsoft.com/office/drawing/2014/main" id="{91B4A962-7403-4AFD-AF30-8C3CA552C81F}"/>
              </a:ext>
            </a:extLst>
          </p:cNvPr>
          <p:cNvSpPr>
            <a:spLocks xmlns:a="http://schemas.openxmlformats.org/drawingml/2006/main" noGrp="1"/>
          </p:cNvSpPr>
          <p:nvPr/>
        </p:nvSpPr>
        <p:spPr>
          <a:xfrm xmlns:a="http://schemas.openxmlformats.org/drawingml/2006/main">
            <a:off x="7524750" y="4295775"/>
            <a:ext cx="4057650" cy="5341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16170"/>
                </a:solidFill>
                <a:latin typeface="Arial"/>
                <a:ea typeface="Arial"/>
                <a:cs typeface="Arial"/>
              </a:defRPr>
            </a:defPPr>
          </a:lstStyle>
          <a:p xmlns:a="http://schemas.openxmlformats.org/drawingml/2006/main">
            <a:pPr algn="l">
              <a:defRPr sz="1575" b="0">
                <a:solidFill>
                  <a:srgbClr val="516170"/>
                </a:solidFill>
                <a:latin typeface="Arial"/>
                <a:ea typeface="Arial"/>
                <a:cs typeface="Arial"/>
              </a:defRPr>
            </a:pPr>
            <a:r>
              <a:rPr sz="1575" b="0">
                <a:solidFill>
                  <a:srgbClr val="516170"/>
                </a:solidFill>
                <a:latin typeface="Arial"/>
                <a:ea typeface="Arial"/>
                <a:cs typeface="Arial"/>
              </a:rPr>
              <a:t>Possible overlap depends on supporting</a:t>
            </a:r>
          </a:p>
          <a:p xmlns:a="http://schemas.openxmlformats.org/drawingml/2006/main">
            <a:pPr algn="l">
              <a:defRPr sz="1575" b="0">
                <a:solidFill>
                  <a:srgbClr val="516170"/>
                </a:solidFill>
                <a:latin typeface="Arial"/>
                <a:ea typeface="Arial"/>
                <a:cs typeface="Arial"/>
              </a:defRPr>
            </a:pPr>
            <a:r>
              <a:rPr sz="1575" b="0">
                <a:solidFill>
                  <a:srgbClr val="516170"/>
                </a:solidFill>
                <a:latin typeface="Arial"/>
                <a:ea typeface="Arial"/>
                <a:cs typeface="Arial"/>
              </a:rPr>
              <a:t>hardware and available resources.</a:t>
            </a:r>
          </a:p>
        </p:txBody>
      </p:sp>
      <p:sp>
        <p:nvSpPr>
          <p:cNvPr id="21" name="Separate pinned/device buffers and non-default streams;">
            <a:extLst xmlns:a="http://schemas.openxmlformats.org/drawingml/2006/main">
              <a:ext uri="{FF2B5EF4-FFF2-40B4-BE49-F238E27FC236}">
                <a16:creationId xmlns:a16="http://schemas.microsoft.com/office/drawing/2014/main" id="{45C81995-3D70-4B5E-946F-D5A6FAB77178}"/>
              </a:ext>
            </a:extLst>
          </p:cNvPr>
          <p:cNvSpPr>
            <a:spLocks xmlns:a="http://schemas.openxmlformats.org/drawingml/2006/main" noGrp="1"/>
          </p:cNvSpPr>
          <p:nvPr/>
        </p:nvSpPr>
        <p:spPr>
          <a:xfrm xmlns:a="http://schemas.openxmlformats.org/drawingml/2006/main">
            <a:off x="609600" y="4962525"/>
            <a:ext cx="10972800" cy="581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Separate pinned/device buffers and non-default streams; synchronize before reuse. More buffers cost memory.</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Keep images on the GPU across operations to avoid repeated transfers.</a:t>
            </a:r>
          </a:p>
        </p:txBody>
      </p:sp>
      <p:sp>
        <p:nvSpPr>
          <p:cNvPr id="22" name="">
            <a:extLst xmlns:a="http://schemas.openxmlformats.org/drawingml/2006/main">
              <a:ext uri="{FF2B5EF4-FFF2-40B4-BE49-F238E27FC236}">
                <a16:creationId xmlns:a16="http://schemas.microsoft.com/office/drawing/2014/main" id="{A02CA871-E0A4-4AD4-8A53-AF9FC8A64FC3}"/>
              </a:ext>
            </a:extLst>
          </p:cNvPr>
          <p:cNvSpPr>
            <a:spLocks xmlns:a="http://schemas.openxmlformats.org/drawingml/2006/main" noGrp="1"/>
          </p:cNvSpPr>
          <p:nvPr/>
        </p:nvSpPr>
        <p:spPr>
          <a:xfrm xmlns:a="http://schemas.openxmlformats.org/drawingml/2006/main">
            <a:off x="609600" y="5686425"/>
            <a:ext cx="10972800" cy="0"/>
          </a:xfrm>
          <a:prstGeom xmlns:a="http://schemas.openxmlformats.org/drawingml/2006/main" prst="line">
            <a:avLst/>
          </a:prstGeom>
          <a:noFill xmlns:a="http://schemas.openxmlformats.org/drawingml/2006/main"/>
          <a:ln xmlns:a="http://schemas.openxmlformats.org/drawingml/2006/main" w="19050">
            <a:solidFill>
              <a:srgbClr val="007B83"/>
            </a:solidFill>
            <a:prstDash val="solid"/>
          </a:ln>
        </p:spPr>
      </p:sp>
      <p:sp>
        <p:nvSpPr>
          <p:cNvPr id="23" name="Overlap can shorten the batch critical path; it changes">
            <a:extLst xmlns:a="http://schemas.openxmlformats.org/drawingml/2006/main">
              <a:ext uri="{FF2B5EF4-FFF2-40B4-BE49-F238E27FC236}">
                <a16:creationId xmlns:a16="http://schemas.microsoft.com/office/drawing/2014/main" id="{E5649BB9-7241-4BE5-9435-AE81FA385C91}"/>
              </a:ext>
            </a:extLst>
          </p:cNvPr>
          <p:cNvSpPr>
            <a:spLocks xmlns:a="http://schemas.openxmlformats.org/drawingml/2006/main" noGrp="1"/>
          </p:cNvSpPr>
          <p:nvPr/>
        </p:nvSpPr>
        <p:spPr>
          <a:xfrm xmlns:a="http://schemas.openxmlformats.org/drawingml/2006/main">
            <a:off x="609600" y="5819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42D45"/>
                </a:solidFill>
                <a:latin typeface="Arial"/>
                <a:ea typeface="Arial"/>
                <a:cs typeface="Arial"/>
              </a:defRPr>
            </a:defPPr>
          </a:lstStyle>
          <a:p xmlns:a="http://schemas.openxmlformats.org/drawingml/2006/main">
            <a:pPr algn="l">
              <a:defRPr sz="1650" b="1">
                <a:solidFill>
                  <a:srgbClr val="142D45"/>
                </a:solidFill>
                <a:latin typeface="Arial"/>
                <a:ea typeface="Arial"/>
                <a:cs typeface="Arial"/>
              </a:defRPr>
            </a:pPr>
            <a:r>
              <a:rPr sz="1650" b="1">
                <a:solidFill>
                  <a:srgbClr val="142D45"/>
                </a:solidFill>
                <a:latin typeface="Arial"/>
                <a:ea typeface="Arial"/>
                <a:cs typeface="Arial"/>
              </a:rPr>
              <a:t>Overlap can shorten the batch critical path; it changes scheduling, not total work.</a:t>
            </a:r>
          </a:p>
        </p:txBody>
      </p:sp>
      <p:sp>
        <p:nvSpPr>
          <p:cNvPr id="24" name="">
            <a:extLst xmlns:a="http://schemas.openxmlformats.org/drawingml/2006/main">
              <a:ext uri="{FF2B5EF4-FFF2-40B4-BE49-F238E27FC236}">
                <a16:creationId xmlns:a16="http://schemas.microsoft.com/office/drawing/2014/main" id="{81B8EBCC-B19E-40A1-92B6-834BE3C3C57C}"/>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25" name="Sources: [2] NVIDIA CUDA Best Practices">
            <a:extLst xmlns:a="http://schemas.openxmlformats.org/drawingml/2006/main">
              <a:ext uri="{FF2B5EF4-FFF2-40B4-BE49-F238E27FC236}">
                <a16:creationId xmlns:a16="http://schemas.microsoft.com/office/drawing/2014/main" id="{596B1C30-3F77-40DC-B412-4C20DBFE36CA}"/>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[2] NVIDIA CUDA Best Practices</a:t>
            </a:r>
          </a:p>
        </p:txBody>
      </p:sp>
      <p:sp>
        <p:nvSpPr>
          <p:cNvPr id="26" name="16 / 28">
            <a:extLst xmlns:a="http://schemas.openxmlformats.org/drawingml/2006/main">
              <a:ext uri="{FF2B5EF4-FFF2-40B4-BE49-F238E27FC236}">
                <a16:creationId xmlns:a16="http://schemas.microsoft.com/office/drawing/2014/main" id="{BB509939-4474-4072-9A0A-13B8C07B4013}"/>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16 / 28</a:t>
            </a:r>
          </a:p>
        </p:txBody>
      </p:sp>
    </p:spTree>
    <p:extLst>
      <p:ext uri="{BB962C8B-B14F-4D97-AF65-F5344CB8AC3E}">
        <p14:creationId xmlns:p14="http://schemas.microsoft.com/office/powerpoint/2010/main" val="1833961248"/>
      </p:ext>
    </p:extLst>
  </p:cSld>
</p:sld>
</file>

<file path=ppt/slides/slide1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Appendix • Supporting material • Tasks 1 and 2 • Conclu">
            <a:extLst xmlns:a="http://schemas.openxmlformats.org/drawingml/2006/main">
              <a:ext uri="{FF2B5EF4-FFF2-40B4-BE49-F238E27FC236}">
                <a16:creationId xmlns:a16="http://schemas.microsoft.com/office/drawing/2014/main" id="{D9A8E82A-3B04-45BA-8A4C-3EEF30400C88}"/>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Supporting material • Tasks 1 and 2 • Conclusions and limitations</a:t>
            </a:r>
          </a:p>
        </p:txBody>
      </p:sp>
      <p:sp>
        <p:nvSpPr>
          <p:cNvPr id="2" name="Conclusions and next measurements">
            <a:extLst xmlns:a="http://schemas.openxmlformats.org/drawingml/2006/main">
              <a:ext uri="{FF2B5EF4-FFF2-40B4-BE49-F238E27FC236}">
                <a16:creationId xmlns:a16="http://schemas.microsoft.com/office/drawing/2014/main" id="{5062239A-3B13-48B1-B280-2C390B9A9B7B}"/>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Conclusions and next measurements</a:t>
            </a:r>
          </a:p>
        </p:txBody>
      </p:sp>
      <p:sp>
        <p:nvSpPr>
          <p:cNvPr id="3" name="GPU rotation">
            <a:extLst xmlns:a="http://schemas.openxmlformats.org/drawingml/2006/main">
              <a:ext uri="{FF2B5EF4-FFF2-40B4-BE49-F238E27FC236}">
                <a16:creationId xmlns:a16="http://schemas.microsoft.com/office/drawing/2014/main" id="{B2B5A8A1-A64A-452D-9897-131C01C38D23}"/>
              </a:ext>
            </a:extLst>
          </p:cNvPr>
          <p:cNvSpPr>
            <a:spLocks xmlns:a="http://schemas.openxmlformats.org/drawingml/2006/main" noGrp="1"/>
          </p:cNvSpPr>
          <p:nvPr/>
        </p:nvSpPr>
        <p:spPr>
          <a:xfrm xmlns:a="http://schemas.openxmlformats.org/drawingml/2006/main">
            <a:off x="60960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GPU rotation</a:t>
            </a:r>
          </a:p>
        </p:txBody>
      </p:sp>
      <p:sp>
        <p:nvSpPr>
          <p:cNvPr id="4" name="Inverse gathering exposes independent pixel work. SM sc">
            <a:extLst xmlns:a="http://schemas.openxmlformats.org/drawingml/2006/main">
              <a:ext uri="{FF2B5EF4-FFF2-40B4-BE49-F238E27FC236}">
                <a16:creationId xmlns:a16="http://schemas.microsoft.com/office/drawing/2014/main" id="{7DA3DDF9-B256-4494-8C2C-541AF10C4053}"/>
              </a:ext>
            </a:extLst>
          </p:cNvPr>
          <p:cNvSpPr>
            <a:spLocks xmlns:a="http://schemas.openxmlformats.org/drawingml/2006/main" noGrp="1"/>
          </p:cNvSpPr>
          <p:nvPr/>
        </p:nvSpPr>
        <p:spPr>
          <a:xfrm xmlns:a="http://schemas.openxmlformats.org/drawingml/2006/main">
            <a:off x="609600" y="1971675"/>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Inverse gathering exposes independent pixel work.</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SM scheduling, memory locality and transfer costs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determine achieved performance.</a:t>
            </a:r>
          </a:p>
        </p:txBody>
      </p:sp>
      <p:sp>
        <p:nvSpPr>
          <p:cNvPr id="5" name="Choose a CPU baseline and compare completed equivalent ">
            <a:extLst xmlns:a="http://schemas.openxmlformats.org/drawingml/2006/main">
              <a:ext uri="{FF2B5EF4-FFF2-40B4-BE49-F238E27FC236}">
                <a16:creationId xmlns:a16="http://schemas.microsoft.com/office/drawing/2014/main" id="{3EB78AC1-A9EF-4BAD-B251-6D32ECD07A7B}"/>
              </a:ext>
            </a:extLst>
          </p:cNvPr>
          <p:cNvSpPr>
            <a:spLocks xmlns:a="http://schemas.openxmlformats.org/drawingml/2006/main" noGrp="1"/>
          </p:cNvSpPr>
          <p:nvPr/>
        </p:nvSpPr>
        <p:spPr>
          <a:xfrm xmlns:a="http://schemas.openxmlformats.org/drawingml/2006/main">
            <a:off x="609600" y="2996184"/>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Choose a CPU baseline and compare completed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equivalent pipelines. GDS is conditional on storage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bottlenecks, a compatible data path and verified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support.</a:t>
            </a:r>
          </a:p>
        </p:txBody>
      </p:sp>
      <p:sp>
        <p:nvSpPr>
          <p:cNvPr id="6" name="Next: compile the teaching examples, check output again">
            <a:extLst xmlns:a="http://schemas.openxmlformats.org/drawingml/2006/main">
              <a:ext uri="{FF2B5EF4-FFF2-40B4-BE49-F238E27FC236}">
                <a16:creationId xmlns:a16="http://schemas.microsoft.com/office/drawing/2014/main" id="{B429BB73-F372-49F8-B156-A23A79740DA9}"/>
              </a:ext>
            </a:extLst>
          </p:cNvPr>
          <p:cNvSpPr>
            <a:spLocks xmlns:a="http://schemas.openxmlformats.org/drawingml/2006/main" noGrp="1"/>
          </p:cNvSpPr>
          <p:nvPr/>
        </p:nvSpPr>
        <p:spPr>
          <a:xfrm xmlns:a="http://schemas.openxmlformats.org/drawingml/2006/main">
            <a:off x="609600" y="4292346"/>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Next: compile the teaching examples, check output</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against a CPU reference and profile representative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image sizes/angles/batches. No result is assumed.</a:t>
            </a:r>
          </a:p>
        </p:txBody>
      </p:sp>
      <p:sp>
        <p:nvSpPr>
          <p:cNvPr id="7" name="Responsible scaling">
            <a:extLst xmlns:a="http://schemas.openxmlformats.org/drawingml/2006/main">
              <a:ext uri="{FF2B5EF4-FFF2-40B4-BE49-F238E27FC236}">
                <a16:creationId xmlns:a16="http://schemas.microsoft.com/office/drawing/2014/main" id="{A358DCC7-922F-4A1D-9688-D81ED6E29C79}"/>
              </a:ext>
            </a:extLst>
          </p:cNvPr>
          <p:cNvSpPr>
            <a:spLocks xmlns:a="http://schemas.openxmlformats.org/drawingml/2006/main" noGrp="1"/>
          </p:cNvSpPr>
          <p:nvPr/>
        </p:nvSpPr>
        <p:spPr>
          <a:xfrm xmlns:a="http://schemas.openxmlformats.org/drawingml/2006/main">
            <a:off x="641985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Responsible scaling</a:t>
            </a:r>
          </a:p>
        </p:txBody>
      </p:sp>
      <p:sp>
        <p:nvSpPr>
          <p:cNvPr id="8" name="More compute can enable valuable research while concent">
            <a:extLst xmlns:a="http://schemas.openxmlformats.org/drawingml/2006/main">
              <a:ext uri="{FF2B5EF4-FFF2-40B4-BE49-F238E27FC236}">
                <a16:creationId xmlns:a16="http://schemas.microsoft.com/office/drawing/2014/main" id="{2450A5E1-747D-48C9-B3B6-0A742CE3A7E5}"/>
              </a:ext>
            </a:extLst>
          </p:cNvPr>
          <p:cNvSpPr>
            <a:spLocks xmlns:a="http://schemas.openxmlformats.org/drawingml/2006/main" noGrp="1"/>
          </p:cNvSpPr>
          <p:nvPr/>
        </p:nvSpPr>
        <p:spPr>
          <a:xfrm xmlns:a="http://schemas.openxmlformats.org/drawingml/2006/main">
            <a:off x="6419850" y="1971675"/>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More compute can enable valuable research while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concentrating access and increasing resource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demand. Approve scale for useful outcomes, with</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safeguards.</a:t>
            </a:r>
          </a:p>
        </p:txBody>
      </p:sp>
      <p:sp>
        <p:nvSpPr>
          <p:cNvPr id="9" name="Combine job-level energy/resource evidence, separate se">
            <a:extLst xmlns:a="http://schemas.openxmlformats.org/drawingml/2006/main">
              <a:ext uri="{FF2B5EF4-FFF2-40B4-BE49-F238E27FC236}">
                <a16:creationId xmlns:a16="http://schemas.microsoft.com/office/drawing/2014/main" id="{12B4D778-BD69-4225-8C9B-B135D602EDF3}"/>
              </a:ext>
            </a:extLst>
          </p:cNvPr>
          <p:cNvSpPr>
            <a:spLocks xmlns:a="http://schemas.openxmlformats.org/drawingml/2006/main" noGrp="1"/>
          </p:cNvSpPr>
          <p:nvPr/>
        </p:nvSpPr>
        <p:spPr>
          <a:xfrm xmlns:a="http://schemas.openxmlformats.org/drawingml/2006/main">
            <a:off x="6419850" y="3267837"/>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Combine job-level energy/resource evidence,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separate security/fairness evaluation, transparent</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allocations and deadline-aware scheduling.</a:t>
            </a:r>
          </a:p>
        </p:txBody>
      </p:sp>
      <p:sp>
        <p:nvSpPr>
          <p:cNvPr id="10" name="Next: measure a real cluster job’s energy, quality, sca">
            <a:extLst xmlns:a="http://schemas.openxmlformats.org/drawingml/2006/main">
              <a:ext uri="{FF2B5EF4-FFF2-40B4-BE49-F238E27FC236}">
                <a16:creationId xmlns:a16="http://schemas.microsoft.com/office/drawing/2014/main" id="{8DAD384B-5ECA-46D6-9C9F-2A0306C656B0}"/>
              </a:ext>
            </a:extLst>
          </p:cNvPr>
          <p:cNvSpPr>
            <a:spLocks xmlns:a="http://schemas.openxmlformats.org/drawingml/2006/main" noGrp="1"/>
          </p:cNvSpPr>
          <p:nvPr/>
        </p:nvSpPr>
        <p:spPr>
          <a:xfrm xmlns:a="http://schemas.openxmlformats.org/drawingml/2006/main">
            <a:off x="6419850" y="4292346"/>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Next: measure a real cluster job’s energy, quality,</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scaling efficiency and allocation outcomes; revise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policy when evidence or conditions change.</a:t>
            </a:r>
          </a:p>
        </p:txBody>
      </p:sp>
      <p:sp>
        <p:nvSpPr>
          <p:cNvPr id="11" name="">
            <a:extLst xmlns:a="http://schemas.openxmlformats.org/drawingml/2006/main">
              <a:ext uri="{FF2B5EF4-FFF2-40B4-BE49-F238E27FC236}">
                <a16:creationId xmlns:a16="http://schemas.microsoft.com/office/drawing/2014/main" id="{E70F6A38-3E96-491E-9ECB-AAE7686C9F62}"/>
              </a:ext>
            </a:extLst>
          </p:cNvPr>
          <p:cNvSpPr>
            <a:spLocks xmlns:a="http://schemas.openxmlformats.org/drawingml/2006/main" noGrp="1"/>
          </p:cNvSpPr>
          <p:nvPr/>
        </p:nvSpPr>
        <p:spPr>
          <a:xfrm xmlns:a="http://schemas.openxmlformats.org/drawingml/2006/main">
            <a:off x="6086475" y="1543050"/>
            <a:ext cx="9525"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2" name="">
            <a:extLst xmlns:a="http://schemas.openxmlformats.org/drawingml/2006/main">
              <a:ext uri="{FF2B5EF4-FFF2-40B4-BE49-F238E27FC236}">
                <a16:creationId xmlns:a16="http://schemas.microsoft.com/office/drawing/2014/main" id="{3DEBB2AA-3F72-447E-8E54-631FFA66BA90}"/>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3" name="Sources: [2] NVIDIA CUDA Best Practices; [3] NVIDIA GDS">
            <a:extLst xmlns:a="http://schemas.openxmlformats.org/drawingml/2006/main">
              <a:ext uri="{FF2B5EF4-FFF2-40B4-BE49-F238E27FC236}">
                <a16:creationId xmlns:a16="http://schemas.microsoft.com/office/drawing/2014/main" id="{6F23C07E-84A9-4CFB-9C25-521082785315}"/>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[2] NVIDIA CUDA Best Practices; [3] NVIDIA GDS overview; [4] NVIDIA GDS design; [10] Schwartz et al. 2019: efficiency reporting; [14] Radovanovic et al. 2021: flexible</a:t>
            </a:r>
          </a:p>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scheduling; [16] NIST: Govern, Map, Measure, Manage</a:t>
            </a:r>
          </a:p>
        </p:txBody>
      </p:sp>
      <p:sp>
        <p:nvSpPr>
          <p:cNvPr id="14" name="17 / 28">
            <a:extLst xmlns:a="http://schemas.openxmlformats.org/drawingml/2006/main">
              <a:ext uri="{FF2B5EF4-FFF2-40B4-BE49-F238E27FC236}">
                <a16:creationId xmlns:a16="http://schemas.microsoft.com/office/drawing/2014/main" id="{71911C8D-F1B1-49B8-A179-19606C494D45}"/>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17 / 28</a:t>
            </a:r>
          </a:p>
        </p:txBody>
      </p:sp>
    </p:spTree>
    <p:extLst>
      <p:ext uri="{BB962C8B-B14F-4D97-AF65-F5344CB8AC3E}">
        <p14:creationId xmlns:p14="http://schemas.microsoft.com/office/powerpoint/2010/main" val="257641755"/>
      </p:ext>
    </p:extLst>
  </p:cSld>
</p:sld>
</file>

<file path=ppt/slides/slide1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3" name="Appendix • Supporting material • Appendix • Reading gui">
            <a:extLst xmlns:a="http://schemas.openxmlformats.org/drawingml/2006/main">
              <a:ext uri="{FF2B5EF4-FFF2-40B4-BE49-F238E27FC236}">
                <a16:creationId xmlns:a16="http://schemas.microsoft.com/office/drawing/2014/main" id="{75C3F92E-BB17-4306-8E36-65776C0DA91C}"/>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Supporting material • Appendix • Reading guide</a:t>
            </a:r>
          </a:p>
        </p:txBody>
      </p:sp>
      <p:sp>
        <p:nvSpPr>
          <p:cNvPr id="2" name="Optional supporting material">
            <a:extLst xmlns:a="http://schemas.openxmlformats.org/drawingml/2006/main">
              <a:ext uri="{FF2B5EF4-FFF2-40B4-BE49-F238E27FC236}">
                <a16:creationId xmlns:a16="http://schemas.microsoft.com/office/drawing/2014/main" id="{17C664F7-BA76-4664-8D7C-D2473E49255C}"/>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Optional supporting material</a:t>
            </a:r>
          </a:p>
        </p:txBody>
      </p:sp>
      <p:sp>
        <p:nvSpPr>
          <p:cNvPr id="3" name="Task 1: implementation expansions">
            <a:extLst xmlns:a="http://schemas.openxmlformats.org/drawingml/2006/main">
              <a:ext uri="{FF2B5EF4-FFF2-40B4-BE49-F238E27FC236}">
                <a16:creationId xmlns:a16="http://schemas.microsoft.com/office/drawing/2014/main" id="{344DBEB8-2A56-4D88-9E08-B34BDA8FBD0B}"/>
              </a:ext>
            </a:extLst>
          </p:cNvPr>
          <p:cNvSpPr>
            <a:spLocks xmlns:a="http://schemas.openxmlformats.org/drawingml/2006/main" noGrp="1"/>
          </p:cNvSpPr>
          <p:nvPr/>
        </p:nvSpPr>
        <p:spPr>
          <a:xfrm xmlns:a="http://schemas.openxmlformats.org/drawingml/2006/main">
            <a:off x="60960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Task 1: implementation expansions</a:t>
            </a:r>
          </a:p>
        </p:txBody>
      </p:sp>
      <p:sp>
        <p:nvSpPr>
          <p:cNvPr id="4" name="The Task 1 answers already contain the rotation formula">
            <a:extLst xmlns:a="http://schemas.openxmlformats.org/drawingml/2006/main">
              <a:ext uri="{FF2B5EF4-FFF2-40B4-BE49-F238E27FC236}">
                <a16:creationId xmlns:a16="http://schemas.microsoft.com/office/drawing/2014/main" id="{ECD37C2B-48BB-4B15-8262-91D97E314FAF}"/>
              </a:ext>
            </a:extLst>
          </p:cNvPr>
          <p:cNvSpPr>
            <a:spLocks xmlns:a="http://schemas.openxmlformats.org/drawingml/2006/main" noGrp="1"/>
          </p:cNvSpPr>
          <p:nvPr/>
        </p:nvSpPr>
        <p:spPr>
          <a:xfrm xmlns:a="http://schemas.openxmlformats.org/drawingml/2006/main">
            <a:off x="609600" y="1971675"/>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The Task 1 answers already contain the rotation</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formula, worked calculation, kernel, host launch,</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launch-shape comparison and stream/overlap</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example.</a:t>
            </a:r>
          </a:p>
        </p:txBody>
      </p:sp>
      <p:sp>
        <p:nvSpPr>
          <p:cNvPr id="5" name="The following slides expand coordinate conventions and ">
            <a:extLst xmlns:a="http://schemas.openxmlformats.org/drawingml/2006/main">
              <a:ext uri="{FF2B5EF4-FFF2-40B4-BE49-F238E27FC236}">
                <a16:creationId xmlns:a16="http://schemas.microsoft.com/office/drawing/2014/main" id="{A7019D39-F428-4478-BD1C-FD773ABA0D2C}"/>
              </a:ext>
            </a:extLst>
          </p:cNvPr>
          <p:cNvSpPr>
            <a:spLocks xmlns:a="http://schemas.openxmlformats.org/drawingml/2006/main" noGrp="1"/>
          </p:cNvSpPr>
          <p:nvPr/>
        </p:nvSpPr>
        <p:spPr>
          <a:xfrm xmlns:a="http://schemas.openxmlformats.org/drawingml/2006/main">
            <a:off x="609600" y="3267837"/>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The following slides expand coordinate conventions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and complete source examples, then give an</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optional profiling plan and GDS background.</a:t>
            </a:r>
          </a:p>
        </p:txBody>
      </p:sp>
      <p:sp>
        <p:nvSpPr>
          <p:cNvPr id="6" name="Task 2: supplementary comparisons">
            <a:extLst xmlns:a="http://schemas.openxmlformats.org/drawingml/2006/main">
              <a:ext uri="{FF2B5EF4-FFF2-40B4-BE49-F238E27FC236}">
                <a16:creationId xmlns:a16="http://schemas.microsoft.com/office/drawing/2014/main" id="{7EFE33F4-F638-4717-9529-B2B180257840}"/>
              </a:ext>
            </a:extLst>
          </p:cNvPr>
          <p:cNvSpPr>
            <a:spLocks xmlns:a="http://schemas.openxmlformats.org/drawingml/2006/main" noGrp="1"/>
          </p:cNvSpPr>
          <p:nvPr/>
        </p:nvSpPr>
        <p:spPr>
          <a:xfrm xmlns:a="http://schemas.openxmlformats.org/drawingml/2006/main">
            <a:off x="641985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Task 2: supplementary comparisons</a:t>
            </a:r>
          </a:p>
        </p:txBody>
      </p:sp>
      <p:sp>
        <p:nvSpPr>
          <p:cNvPr id="7" name="The Task 2 answers already contain energy/carbon calcul">
            <a:extLst xmlns:a="http://schemas.openxmlformats.org/drawingml/2006/main">
              <a:ext uri="{FF2B5EF4-FFF2-40B4-BE49-F238E27FC236}">
                <a16:creationId xmlns:a16="http://schemas.microsoft.com/office/drawing/2014/main" id="{78B1250C-5297-4907-B42D-47A53A6C6101}"/>
              </a:ext>
            </a:extLst>
          </p:cNvPr>
          <p:cNvSpPr>
            <a:spLocks xmlns:a="http://schemas.openxmlformats.org/drawingml/2006/main" noGrp="1"/>
          </p:cNvSpPr>
          <p:nvPr/>
        </p:nvSpPr>
        <p:spPr>
          <a:xfrm xmlns:a="http://schemas.openxmlformats.org/drawingml/2006/main">
            <a:off x="6419850" y="1971675"/>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The Task 2 answers already contain energy/carbon</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calculations, research comparisons, governance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and fairness decisions, access policy and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accountable scheduling.</a:t>
            </a:r>
          </a:p>
        </p:txBody>
      </p:sp>
      <p:sp>
        <p:nvSpPr>
          <p:cNvPr id="8" name="Additional parallelism and cross-topic comparison table">
            <a:extLst xmlns:a="http://schemas.openxmlformats.org/drawingml/2006/main">
              <a:ext uri="{FF2B5EF4-FFF2-40B4-BE49-F238E27FC236}">
                <a16:creationId xmlns:a16="http://schemas.microsoft.com/office/drawing/2014/main" id="{FB2BAF26-BCCA-4460-9DD3-0FAEF99676EF}"/>
              </a:ext>
            </a:extLst>
          </p:cNvPr>
          <p:cNvSpPr>
            <a:spLocks xmlns:a="http://schemas.openxmlformats.org/drawingml/2006/main" noGrp="1"/>
          </p:cNvSpPr>
          <p:nvPr/>
        </p:nvSpPr>
        <p:spPr>
          <a:xfrm xmlns:a="http://schemas.openxmlformats.org/drawingml/2006/main">
            <a:off x="6419850" y="3267837"/>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Additional parallelism and cross-topic comparison</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tables follow. Website references and one brief</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AI-use declaration complete the deck.</a:t>
            </a:r>
          </a:p>
        </p:txBody>
      </p:sp>
      <p:sp>
        <p:nvSpPr>
          <p:cNvPr id="9" name="">
            <a:extLst xmlns:a="http://schemas.openxmlformats.org/drawingml/2006/main">
              <a:ext uri="{FF2B5EF4-FFF2-40B4-BE49-F238E27FC236}">
                <a16:creationId xmlns:a16="http://schemas.microsoft.com/office/drawing/2014/main" id="{F0028D59-D38A-4CC5-BD27-7693A0DB2FEA}"/>
              </a:ext>
            </a:extLst>
          </p:cNvPr>
          <p:cNvSpPr>
            <a:spLocks xmlns:a="http://schemas.openxmlformats.org/drawingml/2006/main" noGrp="1"/>
          </p:cNvSpPr>
          <p:nvPr/>
        </p:nvSpPr>
        <p:spPr>
          <a:xfrm xmlns:a="http://schemas.openxmlformats.org/drawingml/2006/main">
            <a:off x="6086475" y="1543050"/>
            <a:ext cx="9525"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0" name="">
            <a:extLst xmlns:a="http://schemas.openxmlformats.org/drawingml/2006/main">
              <a:ext uri="{FF2B5EF4-FFF2-40B4-BE49-F238E27FC236}">
                <a16:creationId xmlns:a16="http://schemas.microsoft.com/office/drawing/2014/main" id="{5E14E946-3176-4286-A42D-DB95F97416D6}"/>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1" name="FIT3143 Applied 2">
            <a:extLst xmlns:a="http://schemas.openxmlformats.org/drawingml/2006/main">
              <a:ext uri="{FF2B5EF4-FFF2-40B4-BE49-F238E27FC236}">
                <a16:creationId xmlns:a16="http://schemas.microsoft.com/office/drawing/2014/main" id="{C1754EF2-105D-46EC-8EBB-3FC1ED4CA1C1}"/>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FIT3143 Applied 2</a:t>
            </a:r>
          </a:p>
        </p:txBody>
      </p:sp>
      <p:sp>
        <p:nvSpPr>
          <p:cNvPr id="12" name="18 / 28">
            <a:extLst xmlns:a="http://schemas.openxmlformats.org/drawingml/2006/main">
              <a:ext uri="{FF2B5EF4-FFF2-40B4-BE49-F238E27FC236}">
                <a16:creationId xmlns:a16="http://schemas.microsoft.com/office/drawing/2014/main" id="{DE4B278F-1953-47BB-BC60-E840BADAAD13}"/>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18 / 28</a:t>
            </a:r>
          </a:p>
        </p:txBody>
      </p:sp>
    </p:spTree>
    <p:extLst>
      <p:ext uri="{BB962C8B-B14F-4D97-AF65-F5344CB8AC3E}">
        <p14:creationId xmlns:p14="http://schemas.microsoft.com/office/powerpoint/2010/main" val="369451751"/>
      </p:ext>
    </p:extLst>
  </p:cSld>
</p:sld>
</file>

<file path=ppt/slides/slide1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Appendix • Task 1 • Appendix A1">
            <a:extLst xmlns:a="http://schemas.openxmlformats.org/drawingml/2006/main">
              <a:ext uri="{FF2B5EF4-FFF2-40B4-BE49-F238E27FC236}">
                <a16:creationId xmlns:a16="http://schemas.microsoft.com/office/drawing/2014/main" id="{B8BB01A8-CFA8-4133-8BAF-94C2270C53EF}"/>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Appendix A1</a:t>
            </a:r>
          </a:p>
        </p:txBody>
      </p:sp>
      <p:sp>
        <p:nvSpPr>
          <p:cNvPr id="2" name="Rotation coordinates and sampling">
            <a:extLst xmlns:a="http://schemas.openxmlformats.org/drawingml/2006/main">
              <a:ext uri="{FF2B5EF4-FFF2-40B4-BE49-F238E27FC236}">
                <a16:creationId xmlns:a16="http://schemas.microsoft.com/office/drawing/2014/main" id="{F89E9C53-EDBF-496B-AD0E-3F96E3BBDF65}"/>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Rotation coordinates and sampling</a:t>
            </a:r>
          </a:p>
        </p:txBody>
      </p:sp>
      <p:sp>
        <p:nvSpPr>
          <p:cNvPr id="3" name="Coordinate convention">
            <a:extLst xmlns:a="http://schemas.openxmlformats.org/drawingml/2006/main">
              <a:ext uri="{FF2B5EF4-FFF2-40B4-BE49-F238E27FC236}">
                <a16:creationId xmlns:a16="http://schemas.microsoft.com/office/drawing/2014/main" id="{45250E04-301F-4B7A-A079-654CFD93C674}"/>
              </a:ext>
            </a:extLst>
          </p:cNvPr>
          <p:cNvSpPr>
            <a:spLocks xmlns:a="http://schemas.openxmlformats.org/drawingml/2006/main" noGrp="1"/>
          </p:cNvSpPr>
          <p:nvPr/>
        </p:nvSpPr>
        <p:spPr>
          <a:xfrm xmlns:a="http://schemas.openxmlformats.org/drawingml/2006/main">
            <a:off x="60960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Coordinate convention</a:t>
            </a:r>
          </a:p>
        </p:txBody>
      </p:sp>
      <p:sp>
        <p:nvSpPr>
          <p:cNvPr id="4" name="Input/output: contiguous 8-bit RGB; positive width W an">
            <a:extLst xmlns:a="http://schemas.openxmlformats.org/drawingml/2006/main">
              <a:ext uri="{FF2B5EF4-FFF2-40B4-BE49-F238E27FC236}">
                <a16:creationId xmlns:a16="http://schemas.microsoft.com/office/drawing/2014/main" id="{C22B93E7-D0BE-4D47-8279-1BADAB90FFC6}"/>
              </a:ext>
            </a:extLst>
          </p:cNvPr>
          <p:cNvSpPr>
            <a:spLocks xmlns:a="http://schemas.openxmlformats.org/drawingml/2006/main" noGrp="1"/>
          </p:cNvSpPr>
          <p:nvPr/>
        </p:nvSpPr>
        <p:spPr>
          <a:xfrm xmlns:a="http://schemas.openxmlformats.org/drawingml/2006/main">
            <a:off x="609600" y="1971675"/>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Input/output: contiguous 8-bit RGB; positive width W</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and height H; x points right and y points down. Input</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and output buffers are distinct.</a:t>
            </a:r>
          </a:p>
        </p:txBody>
      </p:sp>
      <p:sp>
        <p:nvSpPr>
          <p:cNvPr id="5" name="Rotate around cx = (W − 1)/2 and cy = (H − 1)/2. Positi">
            <a:extLst xmlns:a="http://schemas.openxmlformats.org/drawingml/2006/main">
              <a:ext uri="{FF2B5EF4-FFF2-40B4-BE49-F238E27FC236}">
                <a16:creationId xmlns:a16="http://schemas.microsoft.com/office/drawing/2014/main" id="{83AE43C7-4430-4C7F-AFD3-9F13D049328B}"/>
              </a:ext>
            </a:extLst>
          </p:cNvPr>
          <p:cNvSpPr>
            <a:spLocks xmlns:a="http://schemas.openxmlformats.org/drawingml/2006/main" noGrp="1"/>
          </p:cNvSpPr>
          <p:nvPr/>
        </p:nvSpPr>
        <p:spPr>
          <a:xfrm xmlns:a="http://schemas.openxmlformats.org/drawingml/2006/main">
            <a:off x="609600" y="2996184"/>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Rotate around cx = (W − 1)/2 and cy = (H − 1)/2.</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Positive θ is visually counterclockwise; the host</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supplies c = cos θ and s = sin θ in radians.</a:t>
            </a:r>
          </a:p>
        </p:txBody>
      </p:sp>
      <p:sp>
        <p:nvSpPr>
          <p:cNvPr id="6" name="Forward image-coordinate rotation uses [c s; −s c]. Inv">
            <a:extLst xmlns:a="http://schemas.openxmlformats.org/drawingml/2006/main">
              <a:ext uri="{FF2B5EF4-FFF2-40B4-BE49-F238E27FC236}">
                <a16:creationId xmlns:a16="http://schemas.microsoft.com/office/drawing/2014/main" id="{721E2E8A-E99E-4092-8F37-BF4EE655567F}"/>
              </a:ext>
            </a:extLst>
          </p:cNvPr>
          <p:cNvSpPr>
            <a:spLocks xmlns:a="http://schemas.openxmlformats.org/drawingml/2006/main" noGrp="1"/>
          </p:cNvSpPr>
          <p:nvPr/>
        </p:nvSpPr>
        <p:spPr>
          <a:xfrm xmlns:a="http://schemas.openxmlformats.org/drawingml/2006/main">
            <a:off x="609600" y="4020693"/>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Forward image-coordinate rotation uses [c s; −s c].</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Inverting it gives source offsets [c −s; s c] × output</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offsets, then restores the center.</a:t>
            </a:r>
          </a:p>
        </p:txBody>
      </p:sp>
      <p:sp>
        <p:nvSpPr>
          <p:cNvPr id="7" name="Deliberate design choices">
            <a:extLst xmlns:a="http://schemas.openxmlformats.org/drawingml/2006/main">
              <a:ext uri="{FF2B5EF4-FFF2-40B4-BE49-F238E27FC236}">
                <a16:creationId xmlns:a16="http://schemas.microsoft.com/office/drawing/2014/main" id="{280E5662-865D-4831-AEEA-5F8042BB64E7}"/>
              </a:ext>
            </a:extLst>
          </p:cNvPr>
          <p:cNvSpPr>
            <a:spLocks xmlns:a="http://schemas.openxmlformats.org/drawingml/2006/main" noGrp="1"/>
          </p:cNvSpPr>
          <p:nvPr/>
        </p:nvSpPr>
        <p:spPr>
          <a:xfrm xmlns:a="http://schemas.openxmlformats.org/drawingml/2006/main">
            <a:off x="641985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Deliberate design choices</a:t>
            </a:r>
          </a:p>
        </p:txBody>
      </p:sp>
      <p:sp>
        <p:nvSpPr>
          <p:cNvPr id="8" name="Nearest-neighbour indices: ix = floor(sx + 0.5), iy = f">
            <a:extLst xmlns:a="http://schemas.openxmlformats.org/drawingml/2006/main">
              <a:ext uri="{FF2B5EF4-FFF2-40B4-BE49-F238E27FC236}">
                <a16:creationId xmlns:a16="http://schemas.microsoft.com/office/drawing/2014/main" id="{9DE80420-537F-443F-83D8-15F294D9D41B}"/>
              </a:ext>
            </a:extLst>
          </p:cNvPr>
          <p:cNvSpPr>
            <a:spLocks xmlns:a="http://schemas.openxmlformats.org/drawingml/2006/main" noGrp="1"/>
          </p:cNvSpPr>
          <p:nvPr/>
        </p:nvSpPr>
        <p:spPr>
          <a:xfrm xmlns:a="http://schemas.openxmlformats.org/drawingml/2006/main">
            <a:off x="6419850" y="1971675"/>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Nearest-neighbour indices: ix = floor(sx + 0.5), iy =</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floor(sy + 0.5). Copy three channels if the rounded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indices are in bounds; otherwise write black.</a:t>
            </a:r>
          </a:p>
        </p:txBody>
      </p:sp>
      <p:sp>
        <p:nvSpPr>
          <p:cNvPr id="9" name="The fixed W × H canvas can crop rotated corners. Neares">
            <a:extLst xmlns:a="http://schemas.openxmlformats.org/drawingml/2006/main">
              <a:ext uri="{FF2B5EF4-FFF2-40B4-BE49-F238E27FC236}">
                <a16:creationId xmlns:a16="http://schemas.microsoft.com/office/drawing/2014/main" id="{82B327B1-4839-4010-952F-8CDBEE435EAF}"/>
              </a:ext>
            </a:extLst>
          </p:cNvPr>
          <p:cNvSpPr>
            <a:spLocks xmlns:a="http://schemas.openxmlformats.org/drawingml/2006/main" noGrp="1"/>
          </p:cNvSpPr>
          <p:nvPr/>
        </p:nvSpPr>
        <p:spPr>
          <a:xfrm xmlns:a="http://schemas.openxmlformats.org/drawingml/2006/main">
            <a:off x="6419850" y="2996184"/>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The fixed W × H canvas can crop rotated corners.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Nearest-neighbour sampling can alias; bilinear</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interpolation improves smoothness but adds source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reads/arithmetic.</a:t>
            </a:r>
          </a:p>
        </p:txBody>
      </p:sp>
      <p:sp>
        <p:nvSpPr>
          <p:cNvPr id="10" name="Forward scatter can leave holes or competing writes aft">
            <a:extLst xmlns:a="http://schemas.openxmlformats.org/drawingml/2006/main">
              <a:ext uri="{FF2B5EF4-FFF2-40B4-BE49-F238E27FC236}">
                <a16:creationId xmlns:a16="http://schemas.microsoft.com/office/drawing/2014/main" id="{6E19191C-6A7E-4E66-A7AE-80DB98D76A87}"/>
              </a:ext>
            </a:extLst>
          </p:cNvPr>
          <p:cNvSpPr>
            <a:spLocks xmlns:a="http://schemas.openxmlformats.org/drawingml/2006/main" noGrp="1"/>
          </p:cNvSpPr>
          <p:nvPr/>
        </p:nvSpPr>
        <p:spPr>
          <a:xfrm xmlns:a="http://schemas.openxmlformats.org/drawingml/2006/main">
            <a:off x="6419850" y="4292346"/>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Forward scatter can leave holes or competing writes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after rounding. Inverse gathering assigns every</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output exactly one writer. NPP offers library rotation</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with explicit interpolation/ROI choices.</a:t>
            </a:r>
          </a:p>
        </p:txBody>
      </p:sp>
      <p:sp>
        <p:nvSpPr>
          <p:cNvPr id="11" name="">
            <a:extLst xmlns:a="http://schemas.openxmlformats.org/drawingml/2006/main">
              <a:ext uri="{FF2B5EF4-FFF2-40B4-BE49-F238E27FC236}">
                <a16:creationId xmlns:a16="http://schemas.microsoft.com/office/drawing/2014/main" id="{B9F5FC72-DEF0-484E-B380-32F05D0FB536}"/>
              </a:ext>
            </a:extLst>
          </p:cNvPr>
          <p:cNvSpPr>
            <a:spLocks xmlns:a="http://schemas.openxmlformats.org/drawingml/2006/main" noGrp="1"/>
          </p:cNvSpPr>
          <p:nvPr/>
        </p:nvSpPr>
        <p:spPr>
          <a:xfrm xmlns:a="http://schemas.openxmlformats.org/drawingml/2006/main">
            <a:off x="6086475" y="1543050"/>
            <a:ext cx="9525"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2" name="">
            <a:extLst xmlns:a="http://schemas.openxmlformats.org/drawingml/2006/main">
              <a:ext uri="{FF2B5EF4-FFF2-40B4-BE49-F238E27FC236}">
                <a16:creationId xmlns:a16="http://schemas.microsoft.com/office/drawing/2014/main" id="{E02B4440-A3CE-45C1-9FD1-3C36FE6AD336}"/>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3" name="Sources: [17] NVIDIA NPP: library alternative">
            <a:extLst xmlns:a="http://schemas.openxmlformats.org/drawingml/2006/main">
              <a:ext uri="{FF2B5EF4-FFF2-40B4-BE49-F238E27FC236}">
                <a16:creationId xmlns:a16="http://schemas.microsoft.com/office/drawing/2014/main" id="{4596A88A-A616-49F4-BB69-DFBC7C12264F}"/>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[17] NVIDIA NPP: library alternative</a:t>
            </a:r>
          </a:p>
        </p:txBody>
      </p:sp>
      <p:sp>
        <p:nvSpPr>
          <p:cNvPr id="14" name="19 / 28">
            <a:extLst xmlns:a="http://schemas.openxmlformats.org/drawingml/2006/main">
              <a:ext uri="{FF2B5EF4-FFF2-40B4-BE49-F238E27FC236}">
                <a16:creationId xmlns:a16="http://schemas.microsoft.com/office/drawing/2014/main" id="{C3B136B5-3A3A-47CB-A38E-A2B21E48FE36}"/>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19 / 28</a:t>
            </a:r>
          </a:p>
        </p:txBody>
      </p:sp>
    </p:spTree>
    <p:extLst>
      <p:ext uri="{BB962C8B-B14F-4D97-AF65-F5344CB8AC3E}">
        <p14:creationId xmlns:p14="http://schemas.microsoft.com/office/powerpoint/2010/main" val="1297169831"/>
      </p:ext>
    </p:extLst>
  </p:cSld>
</p:sld>
</file>

<file path=ppt/slides/slide2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2" name="Appendix • Task 1 • Appendix A2">
            <a:extLst xmlns:a="http://schemas.openxmlformats.org/drawingml/2006/main">
              <a:ext uri="{FF2B5EF4-FFF2-40B4-BE49-F238E27FC236}">
                <a16:creationId xmlns:a16="http://schemas.microsoft.com/office/drawing/2014/main" id="{2A985480-E3F3-4CB1-9B81-FA82BCAE7073}"/>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Appendix A2</a:t>
            </a:r>
          </a:p>
        </p:txBody>
      </p:sp>
      <p:sp>
        <p:nvSpPr>
          <p:cNvPr id="2" name="Crafted CUDA example: RGB brightness">
            <a:extLst xmlns:a="http://schemas.openxmlformats.org/drawingml/2006/main">
              <a:ext uri="{FF2B5EF4-FFF2-40B4-BE49-F238E27FC236}">
                <a16:creationId xmlns:a16="http://schemas.microsoft.com/office/drawing/2014/main" id="{DB8CBB87-6AAA-495D-AA8E-F2CBD589D259}"/>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Crafted CUDA example: RGB brightness</a:t>
            </a:r>
          </a:p>
        </p:txBody>
      </p:sp>
      <p:sp>
        <p:nvSpPr>
          <p:cNvPr id="3" name="">
            <a:extLst xmlns:a="http://schemas.openxmlformats.org/drawingml/2006/main">
              <a:ext uri="{FF2B5EF4-FFF2-40B4-BE49-F238E27FC236}">
                <a16:creationId xmlns:a16="http://schemas.microsoft.com/office/drawing/2014/main" id="{22842F75-31E6-4D1B-A672-27AC9C711220}"/>
              </a:ext>
            </a:extLst>
          </p:cNvPr>
          <p:cNvSpPr>
            <a:spLocks xmlns:a="http://schemas.openxmlformats.org/drawingml/2006/main" noGrp="1"/>
          </p:cNvSpPr>
          <p:nvPr/>
        </p:nvSpPr>
        <p:spPr>
          <a:xfrm xmlns:a="http://schemas.openxmlformats.org/drawingml/2006/main">
            <a:off x="609600" y="1495425"/>
            <a:ext cx="7705725" cy="4137660"/>
          </a:xfrm>
          <a:prstGeom xmlns:a="http://schemas.openxmlformats.org/drawingml/2006/main" prst="rect">
            <a:avLst/>
          </a:prstGeom>
          <a:solidFill xmlns:a="http://schemas.openxmlformats.org/drawingml/2006/main">
            <a:srgbClr val="EDF1F5"/>
          </a:solidFill>
          <a:ln xmlns:a="http://schemas.openxmlformats.org/drawingml/2006/main" w="14288">
            <a:noFill/>
            <a:prstDash val="solid"/>
          </a:ln>
        </p:spPr>
      </p:sp>
      <p:sp>
        <p:nvSpPr>
          <p:cNvPr id="4" name="__global__ void brightness_rgb(const unsigned char* inp">
            <a:extLst xmlns:a="http://schemas.openxmlformats.org/drawingml/2006/main">
              <a:ext uri="{FF2B5EF4-FFF2-40B4-BE49-F238E27FC236}">
                <a16:creationId xmlns:a16="http://schemas.microsoft.com/office/drawing/2014/main" id="{F8CDD8EC-8812-44E6-A947-AF88F7187DBB}"/>
              </a:ext>
            </a:extLst>
          </p:cNvPr>
          <p:cNvSpPr>
            <a:spLocks xmlns:a="http://schemas.openxmlformats.org/drawingml/2006/main" noGrp="1"/>
          </p:cNvSpPr>
          <p:nvPr/>
        </p:nvSpPr>
        <p:spPr>
          <a:xfrm xmlns:a="http://schemas.openxmlformats.org/drawingml/2006/main">
            <a:off x="723900" y="1581150"/>
            <a:ext cx="7477125" cy="40043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42D45"/>
                </a:solidFill>
                <a:latin typeface="Consolas"/>
                <a:ea typeface="Consolas"/>
                <a:cs typeface="Consolas"/>
              </a:defRPr>
            </a:defPPr>
          </a:lstStyle>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__global__ void brightness_rgb(const unsigned char* input,</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unsigned char* output,</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int width,</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int height,</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int brightness)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int x = blockIdx.x * blockDim.x + threadIdx.x;</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int y = blockIdx.y * blockDim.y + threadIdx.y;</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if (x &gt;= width || y &gt;= height)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return;</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size_t offset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(size_t(y) * size_t(width) + size_t(x)) * 3;</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for (int channel = 0; channel &lt; 3; ++channel)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int value = int(input[offset + channel]) + brightness;</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output[offset + channel]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value &lt; 0 ? 0 : (value &gt; 255 ? 255 : value);</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a:t>
            </a:r>
          </a:p>
        </p:txBody>
      </p:sp>
      <p:sp>
        <p:nvSpPr>
          <p:cNvPr id="5" name="Same operation on independent pixels: a data-parallel k">
            <a:extLst xmlns:a="http://schemas.openxmlformats.org/drawingml/2006/main">
              <a:ext uri="{FF2B5EF4-FFF2-40B4-BE49-F238E27FC236}">
                <a16:creationId xmlns:a16="http://schemas.microsoft.com/office/drawing/2014/main" id="{52DAC5CE-0D24-4AEF-9CC9-96F738B9EAD8}"/>
              </a:ext>
            </a:extLst>
          </p:cNvPr>
          <p:cNvSpPr>
            <a:spLocks xmlns:a="http://schemas.openxmlformats.org/drawingml/2006/main" noGrp="1"/>
          </p:cNvSpPr>
          <p:nvPr/>
        </p:nvSpPr>
        <p:spPr>
          <a:xfrm xmlns:a="http://schemas.openxmlformats.org/drawingml/2006/main">
            <a:off x="8648700" y="1581150"/>
            <a:ext cx="2933700" cy="8176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Same operation on</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independent pixels: a</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data-parallel kernel.</a:t>
            </a:r>
          </a:p>
        </p:txBody>
      </p:sp>
      <p:sp>
        <p:nvSpPr>
          <p:cNvPr id="6" name="Assume brightness in [−255,255]. Integer addition avoid">
            <a:extLst xmlns:a="http://schemas.openxmlformats.org/drawingml/2006/main">
              <a:ext uri="{FF2B5EF4-FFF2-40B4-BE49-F238E27FC236}">
                <a16:creationId xmlns:a16="http://schemas.microsoft.com/office/drawing/2014/main" id="{743CE914-4A7E-46AD-8BEC-57DABEAA1DBA}"/>
              </a:ext>
            </a:extLst>
          </p:cNvPr>
          <p:cNvSpPr>
            <a:spLocks xmlns:a="http://schemas.openxmlformats.org/drawingml/2006/main" noGrp="1"/>
          </p:cNvSpPr>
          <p:nvPr/>
        </p:nvSpPr>
        <p:spPr>
          <a:xfrm xmlns:a="http://schemas.openxmlformats.org/drawingml/2006/main">
            <a:off x="8648700" y="2589276"/>
            <a:ext cx="2933700" cy="10774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Assume brightness in</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[−255,255]. Integer addition</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avoids uint8 wrap; clamp each</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channel to [0,255].</a:t>
            </a:r>
          </a:p>
        </p:txBody>
      </p:sp>
      <p:sp>
        <p:nvSpPr>
          <p:cNvPr id="7" name="Adjacent threads touch adjacent pixel locations, provid">
            <a:extLst xmlns:a="http://schemas.openxmlformats.org/drawingml/2006/main">
              <a:ext uri="{FF2B5EF4-FFF2-40B4-BE49-F238E27FC236}">
                <a16:creationId xmlns:a16="http://schemas.microsoft.com/office/drawing/2014/main" id="{DAC25D97-AB1D-49E4-A87F-3109FE991969}"/>
              </a:ext>
            </a:extLst>
          </p:cNvPr>
          <p:cNvSpPr>
            <a:spLocks xmlns:a="http://schemas.openxmlformats.org/drawingml/2006/main" noGrp="1"/>
          </p:cNvSpPr>
          <p:nvPr/>
        </p:nvSpPr>
        <p:spPr>
          <a:xfrm xmlns:a="http://schemas.openxmlformats.org/drawingml/2006/main">
            <a:off x="8648700" y="3857244"/>
            <a:ext cx="2933700" cy="8176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Adjacent threads touch</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adjacent pixel locations,</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providing useful locality.</a:t>
            </a:r>
          </a:p>
        </p:txBody>
      </p:sp>
      <p:sp>
        <p:nvSpPr>
          <p:cNvPr id="8" name="Illustrative CUDA C++; uncompiled and unbenchmarked.">
            <a:extLst xmlns:a="http://schemas.openxmlformats.org/drawingml/2006/main">
              <a:ext uri="{FF2B5EF4-FFF2-40B4-BE49-F238E27FC236}">
                <a16:creationId xmlns:a16="http://schemas.microsoft.com/office/drawing/2014/main" id="{455054DB-D906-4860-B778-29724A6787F3}"/>
              </a:ext>
            </a:extLst>
          </p:cNvPr>
          <p:cNvSpPr>
            <a:spLocks xmlns:a="http://schemas.openxmlformats.org/drawingml/2006/main" noGrp="1"/>
          </p:cNvSpPr>
          <p:nvPr/>
        </p:nvSpPr>
        <p:spPr>
          <a:xfrm xmlns:a="http://schemas.openxmlformats.org/drawingml/2006/main">
            <a:off x="8648700" y="4865370"/>
            <a:ext cx="2933700" cy="8176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Illustrative CUDA C++;</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uncompiled and</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unbenchmarked.</a:t>
            </a:r>
          </a:p>
        </p:txBody>
      </p:sp>
      <p:sp>
        <p:nvSpPr>
          <p:cNvPr id="9" name="">
            <a:extLst xmlns:a="http://schemas.openxmlformats.org/drawingml/2006/main">
              <a:ext uri="{FF2B5EF4-FFF2-40B4-BE49-F238E27FC236}">
                <a16:creationId xmlns:a16="http://schemas.microsoft.com/office/drawing/2014/main" id="{D7F70285-EC42-497B-AF3A-B15593BCD8F7}"/>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0" name="Sources: [1] NVIDIA CUDA programming model">
            <a:extLst xmlns:a="http://schemas.openxmlformats.org/drawingml/2006/main">
              <a:ext uri="{FF2B5EF4-FFF2-40B4-BE49-F238E27FC236}">
                <a16:creationId xmlns:a16="http://schemas.microsoft.com/office/drawing/2014/main" id="{AE9EB198-DA2E-4AFE-AD8E-4A7D07EFF01C}"/>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[1] NVIDIA CUDA programming model</a:t>
            </a:r>
          </a:p>
        </p:txBody>
      </p:sp>
      <p:sp>
        <p:nvSpPr>
          <p:cNvPr id="11" name="20 / 28">
            <a:extLst xmlns:a="http://schemas.openxmlformats.org/drawingml/2006/main">
              <a:ext uri="{FF2B5EF4-FFF2-40B4-BE49-F238E27FC236}">
                <a16:creationId xmlns:a16="http://schemas.microsoft.com/office/drawing/2014/main" id="{AC143D87-127B-4F10-B843-3F055669975F}"/>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20 / 28</a:t>
            </a:r>
          </a:p>
        </p:txBody>
      </p:sp>
    </p:spTree>
    <p:extLst>
      <p:ext uri="{BB962C8B-B14F-4D97-AF65-F5344CB8AC3E}">
        <p14:creationId xmlns:p14="http://schemas.microsoft.com/office/powerpoint/2010/main" val="1116245043"/>
      </p:ext>
    </p:extLst>
  </p:cSld>
</p:sld>
</file>

<file path=ppt/slides/slide2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2" name="Appendix • Task 1 • Appendix A3">
            <a:extLst xmlns:a="http://schemas.openxmlformats.org/drawingml/2006/main">
              <a:ext uri="{FF2B5EF4-FFF2-40B4-BE49-F238E27FC236}">
                <a16:creationId xmlns:a16="http://schemas.microsoft.com/office/drawing/2014/main" id="{E812F920-7C65-49F7-9376-918E5E5C01D0}"/>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Appendix A3</a:t>
            </a:r>
          </a:p>
        </p:txBody>
      </p:sp>
      <p:sp>
        <p:nvSpPr>
          <p:cNvPr id="2" name="Crafted CUDA example: inverse mapping">
            <a:extLst xmlns:a="http://schemas.openxmlformats.org/drawingml/2006/main">
              <a:ext uri="{FF2B5EF4-FFF2-40B4-BE49-F238E27FC236}">
                <a16:creationId xmlns:a16="http://schemas.microsoft.com/office/drawing/2014/main" id="{B6E77B47-D522-4D0E-81C6-F20B7F7D0966}"/>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Crafted CUDA example: inverse mapping</a:t>
            </a:r>
          </a:p>
        </p:txBody>
      </p:sp>
      <p:sp>
        <p:nvSpPr>
          <p:cNvPr id="3" name="">
            <a:extLst xmlns:a="http://schemas.openxmlformats.org/drawingml/2006/main">
              <a:ext uri="{FF2B5EF4-FFF2-40B4-BE49-F238E27FC236}">
                <a16:creationId xmlns:a16="http://schemas.microsoft.com/office/drawing/2014/main" id="{884E99FC-124B-4643-989B-E5DE0876B40E}"/>
              </a:ext>
            </a:extLst>
          </p:cNvPr>
          <p:cNvSpPr>
            <a:spLocks xmlns:a="http://schemas.openxmlformats.org/drawingml/2006/main" noGrp="1"/>
          </p:cNvSpPr>
          <p:nvPr/>
        </p:nvSpPr>
        <p:spPr>
          <a:xfrm xmlns:a="http://schemas.openxmlformats.org/drawingml/2006/main">
            <a:off x="609600" y="1495425"/>
            <a:ext cx="7705725" cy="4137660"/>
          </a:xfrm>
          <a:prstGeom xmlns:a="http://schemas.openxmlformats.org/drawingml/2006/main" prst="rect">
            <a:avLst/>
          </a:prstGeom>
          <a:solidFill xmlns:a="http://schemas.openxmlformats.org/drawingml/2006/main">
            <a:srgbClr val="EDF1F5"/>
          </a:solidFill>
          <a:ln xmlns:a="http://schemas.openxmlformats.org/drawingml/2006/main" w="14288">
            <a:noFill/>
            <a:prstDash val="solid"/>
          </a:ln>
        </p:spPr>
      </p:sp>
      <p:sp>
        <p:nvSpPr>
          <p:cNvPr id="4" name="__global__ void rotate_rgb(const unsigned char* input,&#10;">
            <a:extLst xmlns:a="http://schemas.openxmlformats.org/drawingml/2006/main">
              <a:ext uri="{FF2B5EF4-FFF2-40B4-BE49-F238E27FC236}">
                <a16:creationId xmlns:a16="http://schemas.microsoft.com/office/drawing/2014/main" id="{AAD0EF1A-8B2B-432E-BF7F-0CE3FDB82698}"/>
              </a:ext>
            </a:extLst>
          </p:cNvPr>
          <p:cNvSpPr>
            <a:spLocks xmlns:a="http://schemas.openxmlformats.org/drawingml/2006/main" noGrp="1"/>
          </p:cNvSpPr>
          <p:nvPr/>
        </p:nvSpPr>
        <p:spPr>
          <a:xfrm xmlns:a="http://schemas.openxmlformats.org/drawingml/2006/main">
            <a:off x="723900" y="1581150"/>
            <a:ext cx="7477125" cy="40043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42D45"/>
                </a:solidFill>
                <a:latin typeface="Consolas"/>
                <a:ea typeface="Consolas"/>
                <a:cs typeface="Consolas"/>
              </a:defRPr>
            </a:defPPr>
          </a:lstStyle>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__global__ void rotate_rgb(const unsigned char* input,</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unsigned char* output,</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int width,</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int height,</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float c,</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float s)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int x = blockIdx.x * blockDim.x + threadIdx.x;</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int y = blockIdx.y * blockDim.y + threadIdx.y;</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if (x &gt;= width || y &gt;= height)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return;</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a:t>
            </a:r>
          </a:p>
          <a:p xmlns:a="http://schemas.openxmlformats.org/drawingml/2006/main">
            <a:r>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float cx = (width - 1) * 0.5f;</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float cy = (height - 1) * 0.5f;</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float sx = c * (x - cx) - s * (y - cy) + cx;</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float sy = s * (x - cx) + c * (y - cy) + cy;</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int ix = int(floorf(sx + 0.5f));</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int iy = int(floorf(sy + 0.5f));</a:t>
            </a:r>
          </a:p>
        </p:txBody>
      </p:sp>
      <p:sp>
        <p:nvSpPr>
          <p:cNvPr id="5" name="Global coordinates come from block/thread indices.">
            <a:extLst xmlns:a="http://schemas.openxmlformats.org/drawingml/2006/main">
              <a:ext uri="{FF2B5EF4-FFF2-40B4-BE49-F238E27FC236}">
                <a16:creationId xmlns:a16="http://schemas.microsoft.com/office/drawing/2014/main" id="{194F0931-DFA6-4A17-863B-C583DD84E0EE}"/>
              </a:ext>
            </a:extLst>
          </p:cNvPr>
          <p:cNvSpPr>
            <a:spLocks xmlns:a="http://schemas.openxmlformats.org/drawingml/2006/main" noGrp="1"/>
          </p:cNvSpPr>
          <p:nvPr/>
        </p:nvSpPr>
        <p:spPr>
          <a:xfrm xmlns:a="http://schemas.openxmlformats.org/drawingml/2006/main">
            <a:off x="8648700" y="1581150"/>
            <a:ext cx="2933700" cy="5577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Global coordinates come from</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block/thread indices.</a:t>
            </a:r>
          </a:p>
        </p:txBody>
      </p:sp>
      <p:sp>
        <p:nvSpPr>
          <p:cNvPr id="6" name="The guard handles partial edge blocks before any memory">
            <a:extLst xmlns:a="http://schemas.openxmlformats.org/drawingml/2006/main">
              <a:ext uri="{FF2B5EF4-FFF2-40B4-BE49-F238E27FC236}">
                <a16:creationId xmlns:a16="http://schemas.microsoft.com/office/drawing/2014/main" id="{C0E5F841-FF4F-4587-85C6-14254A9A63AB}"/>
              </a:ext>
            </a:extLst>
          </p:cNvPr>
          <p:cNvSpPr>
            <a:spLocks xmlns:a="http://schemas.openxmlformats.org/drawingml/2006/main" noGrp="1"/>
          </p:cNvSpPr>
          <p:nvPr/>
        </p:nvSpPr>
        <p:spPr>
          <a:xfrm xmlns:a="http://schemas.openxmlformats.org/drawingml/2006/main">
            <a:off x="8648700" y="2329434"/>
            <a:ext cx="2933700" cy="8176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The guard handles partial edge</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blocks before any memory</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access.</a:t>
            </a:r>
          </a:p>
        </p:txBody>
      </p:sp>
      <p:sp>
        <p:nvSpPr>
          <p:cNvPr id="7" name="The host computes sine/cosine once per angle.">
            <a:extLst xmlns:a="http://schemas.openxmlformats.org/drawingml/2006/main">
              <a:ext uri="{FF2B5EF4-FFF2-40B4-BE49-F238E27FC236}">
                <a16:creationId xmlns:a16="http://schemas.microsoft.com/office/drawing/2014/main" id="{FEF68D45-0091-4CC8-BF39-869C2850532C}"/>
              </a:ext>
            </a:extLst>
          </p:cNvPr>
          <p:cNvSpPr>
            <a:spLocks xmlns:a="http://schemas.openxmlformats.org/drawingml/2006/main" noGrp="1"/>
          </p:cNvSpPr>
          <p:nvPr/>
        </p:nvSpPr>
        <p:spPr>
          <a:xfrm xmlns:a="http://schemas.openxmlformats.org/drawingml/2006/main">
            <a:off x="8648700" y="3337560"/>
            <a:ext cx="2933700" cy="5577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The host computes sine/cosine</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once per angle.</a:t>
            </a:r>
          </a:p>
        </p:txBody>
      </p:sp>
      <p:sp>
        <p:nvSpPr>
          <p:cNvPr id="8" name="Nearest-neighbour mapping uses the documented y-down co">
            <a:extLst xmlns:a="http://schemas.openxmlformats.org/drawingml/2006/main">
              <a:ext uri="{FF2B5EF4-FFF2-40B4-BE49-F238E27FC236}">
                <a16:creationId xmlns:a16="http://schemas.microsoft.com/office/drawing/2014/main" id="{A8B5599D-CDF5-4CE0-B53D-9E1868BED1B7}"/>
              </a:ext>
            </a:extLst>
          </p:cNvPr>
          <p:cNvSpPr>
            <a:spLocks xmlns:a="http://schemas.openxmlformats.org/drawingml/2006/main" noGrp="1"/>
          </p:cNvSpPr>
          <p:nvPr/>
        </p:nvSpPr>
        <p:spPr>
          <a:xfrm xmlns:a="http://schemas.openxmlformats.org/drawingml/2006/main">
            <a:off x="8648700" y="4085844"/>
            <a:ext cx="2933700" cy="8176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Nearest-neighbour mapping</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uses the documented y-down</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convention.</a:t>
            </a:r>
          </a:p>
        </p:txBody>
      </p:sp>
      <p:sp>
        <p:nvSpPr>
          <p:cNvPr id="9" name="">
            <a:extLst xmlns:a="http://schemas.openxmlformats.org/drawingml/2006/main">
              <a:ext uri="{FF2B5EF4-FFF2-40B4-BE49-F238E27FC236}">
                <a16:creationId xmlns:a16="http://schemas.microsoft.com/office/drawing/2014/main" id="{CE4B3CD1-A803-4343-9338-227B34599D37}"/>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0" name="Sources: [1] NVIDIA CUDA programming model">
            <a:extLst xmlns:a="http://schemas.openxmlformats.org/drawingml/2006/main">
              <a:ext uri="{FF2B5EF4-FFF2-40B4-BE49-F238E27FC236}">
                <a16:creationId xmlns:a16="http://schemas.microsoft.com/office/drawing/2014/main" id="{D2D3DC3A-7D03-4BBC-8616-D77D0F7DF817}"/>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[1] NVIDIA CUDA programming model</a:t>
            </a:r>
          </a:p>
        </p:txBody>
      </p:sp>
      <p:sp>
        <p:nvSpPr>
          <p:cNvPr id="11" name="21 / 28">
            <a:extLst xmlns:a="http://schemas.openxmlformats.org/drawingml/2006/main">
              <a:ext uri="{FF2B5EF4-FFF2-40B4-BE49-F238E27FC236}">
                <a16:creationId xmlns:a16="http://schemas.microsoft.com/office/drawing/2014/main" id="{B5FA7FF9-EC6A-4DD9-AF92-EE87DA41C3E7}"/>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21 / 28</a:t>
            </a:r>
          </a:p>
        </p:txBody>
      </p:sp>
    </p:spTree>
    <p:extLst>
      <p:ext uri="{BB962C8B-B14F-4D97-AF65-F5344CB8AC3E}">
        <p14:creationId xmlns:p14="http://schemas.microsoft.com/office/powerpoint/2010/main" val="425147948"/>
      </p:ext>
    </p:extLst>
  </p:cSld>
</p:sld>
</file>

<file path=ppt/slides/slide2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2" name="Appendix • Task 1 • Appendix A4">
            <a:extLst xmlns:a="http://schemas.openxmlformats.org/drawingml/2006/main">
              <a:ext uri="{FF2B5EF4-FFF2-40B4-BE49-F238E27FC236}">
                <a16:creationId xmlns:a16="http://schemas.microsoft.com/office/drawing/2014/main" id="{8E67FEF8-0EB7-4FA5-883A-9FFDB4DB0E5B}"/>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Appendix A4</a:t>
            </a:r>
          </a:p>
        </p:txBody>
      </p:sp>
      <p:sp>
        <p:nvSpPr>
          <p:cNvPr id="2" name="Crafted CUDA example: safe output writes">
            <a:extLst xmlns:a="http://schemas.openxmlformats.org/drawingml/2006/main">
              <a:ext uri="{FF2B5EF4-FFF2-40B4-BE49-F238E27FC236}">
                <a16:creationId xmlns:a16="http://schemas.microsoft.com/office/drawing/2014/main" id="{6F141487-7A67-4CF4-B8AD-0C93242178F6}"/>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Crafted CUDA example: safe output writes</a:t>
            </a:r>
          </a:p>
        </p:txBody>
      </p:sp>
      <p:sp>
        <p:nvSpPr>
          <p:cNvPr id="3" name="">
            <a:extLst xmlns:a="http://schemas.openxmlformats.org/drawingml/2006/main">
              <a:ext uri="{FF2B5EF4-FFF2-40B4-BE49-F238E27FC236}">
                <a16:creationId xmlns:a16="http://schemas.microsoft.com/office/drawing/2014/main" id="{9D7EBA3E-6D9F-4F26-B3C7-7C4F4EA945D4}"/>
              </a:ext>
            </a:extLst>
          </p:cNvPr>
          <p:cNvSpPr>
            <a:spLocks xmlns:a="http://schemas.openxmlformats.org/drawingml/2006/main" noGrp="1"/>
          </p:cNvSpPr>
          <p:nvPr/>
        </p:nvSpPr>
        <p:spPr>
          <a:xfrm xmlns:a="http://schemas.openxmlformats.org/drawingml/2006/main">
            <a:off x="609600" y="1495425"/>
            <a:ext cx="7705725" cy="3486150"/>
          </a:xfrm>
          <a:prstGeom xmlns:a="http://schemas.openxmlformats.org/drawingml/2006/main" prst="rect">
            <a:avLst/>
          </a:prstGeom>
          <a:solidFill xmlns:a="http://schemas.openxmlformats.org/drawingml/2006/main">
            <a:srgbClr val="EDF1F5"/>
          </a:solidFill>
          <a:ln xmlns:a="http://schemas.openxmlformats.org/drawingml/2006/main" w="14288">
            <a:noFill/>
            <a:prstDash val="solid"/>
          </a:ln>
        </p:spPr>
      </p:sp>
      <p:sp>
        <p:nvSpPr>
          <p:cNvPr id="4" name="    const size_t destination =&#10;        (size_t(y) * siz">
            <a:extLst xmlns:a="http://schemas.openxmlformats.org/drawingml/2006/main">
              <a:ext uri="{FF2B5EF4-FFF2-40B4-BE49-F238E27FC236}">
                <a16:creationId xmlns:a16="http://schemas.microsoft.com/office/drawing/2014/main" id="{311AE851-B924-4788-A920-7F19DBDAD076}"/>
              </a:ext>
            </a:extLst>
          </p:cNvPr>
          <p:cNvSpPr>
            <a:spLocks xmlns:a="http://schemas.openxmlformats.org/drawingml/2006/main" noGrp="1"/>
          </p:cNvSpPr>
          <p:nvPr/>
        </p:nvSpPr>
        <p:spPr>
          <a:xfrm xmlns:a="http://schemas.openxmlformats.org/drawingml/2006/main">
            <a:off x="723900" y="1581150"/>
            <a:ext cx="7477125" cy="335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42D45"/>
                </a:solidFill>
                <a:latin typeface="Consolas"/>
                <a:ea typeface="Consolas"/>
                <a:cs typeface="Consolas"/>
              </a:defRPr>
            </a:defPPr>
          </a:lstStyle>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size_t destination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(size_t(y) * size_t(width) + size_t(x)) * 3;</a:t>
            </a:r>
          </a:p>
          <a:p xmlns:a="http://schemas.openxmlformats.org/drawingml/2006/main">
            <a:r>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if (ix &gt;= 0 &amp;&amp; ix &lt; width &amp;&amp; iy &gt;= 0 &amp;&amp; iy &lt; height)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size_t source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(size_t(iy) * size_t(width) + size_t(ix)) * 3;</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for (int channel = 0; channel &lt; 3; ++channel)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output[destination + channel] = input[source + channel];</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 else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for (int channel = 0; channel &lt; 3; ++channel)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output[destination + channel] = 0;</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a:t>
            </a:r>
          </a:p>
        </p:txBody>
      </p:sp>
      <p:sp>
        <p:nvSpPr>
          <p:cNvPr id="5" name="RGB address = 3 × (row × width + column).">
            <a:extLst xmlns:a="http://schemas.openxmlformats.org/drawingml/2006/main">
              <a:ext uri="{FF2B5EF4-FFF2-40B4-BE49-F238E27FC236}">
                <a16:creationId xmlns:a16="http://schemas.microsoft.com/office/drawing/2014/main" id="{A1DF4663-D87F-47EF-9BC6-893B0F33F744}"/>
              </a:ext>
            </a:extLst>
          </p:cNvPr>
          <p:cNvSpPr>
            <a:spLocks xmlns:a="http://schemas.openxmlformats.org/drawingml/2006/main" noGrp="1"/>
          </p:cNvSpPr>
          <p:nvPr/>
        </p:nvSpPr>
        <p:spPr>
          <a:xfrm xmlns:a="http://schemas.openxmlformats.org/drawingml/2006/main">
            <a:off x="8648700" y="1581150"/>
            <a:ext cx="2933700" cy="5577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RGB address = 3 × (row ×</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width + column).</a:t>
            </a:r>
          </a:p>
        </p:txBody>
      </p:sp>
      <p:sp>
        <p:nvSpPr>
          <p:cNvPr id="6" name="Every valid output gets three channels, including black">
            <a:extLst xmlns:a="http://schemas.openxmlformats.org/drawingml/2006/main">
              <a:ext uri="{FF2B5EF4-FFF2-40B4-BE49-F238E27FC236}">
                <a16:creationId xmlns:a16="http://schemas.microsoft.com/office/drawing/2014/main" id="{5D729688-FAB0-42BE-A1C1-70DB208B7A80}"/>
              </a:ext>
            </a:extLst>
          </p:cNvPr>
          <p:cNvSpPr>
            <a:spLocks xmlns:a="http://schemas.openxmlformats.org/drawingml/2006/main" noGrp="1"/>
          </p:cNvSpPr>
          <p:nvPr/>
        </p:nvSpPr>
        <p:spPr>
          <a:xfrm xmlns:a="http://schemas.openxmlformats.org/drawingml/2006/main">
            <a:off x="8648700" y="2329434"/>
            <a:ext cx="2933700" cy="8176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Every valid output gets three</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channels, including black</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borders.</a:t>
            </a:r>
          </a:p>
        </p:txBody>
      </p:sp>
      <p:sp>
        <p:nvSpPr>
          <p:cNvPr id="7" name="No atomics, mutex or block barrier is needed: writers h">
            <a:extLst xmlns:a="http://schemas.openxmlformats.org/drawingml/2006/main">
              <a:ext uri="{FF2B5EF4-FFF2-40B4-BE49-F238E27FC236}">
                <a16:creationId xmlns:a16="http://schemas.microsoft.com/office/drawing/2014/main" id="{3A279D73-AA7B-4041-AC04-573FBB9175D3}"/>
              </a:ext>
            </a:extLst>
          </p:cNvPr>
          <p:cNvSpPr>
            <a:spLocks xmlns:a="http://schemas.openxmlformats.org/drawingml/2006/main" noGrp="1"/>
          </p:cNvSpPr>
          <p:nvPr/>
        </p:nvSpPr>
        <p:spPr>
          <a:xfrm xmlns:a="http://schemas.openxmlformats.org/drawingml/2006/main">
            <a:off x="8648700" y="3337560"/>
            <a:ext cx="2933700" cy="8176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No atomics, mutex or block</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barrier is needed: writers have</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disjoint destinations.</a:t>
            </a:r>
          </a:p>
        </p:txBody>
      </p:sp>
      <p:sp>
        <p:nvSpPr>
          <p:cNvPr id="8" name="Total work Θ(W × H); input/output storage Θ(W × H) each">
            <a:extLst xmlns:a="http://schemas.openxmlformats.org/drawingml/2006/main">
              <a:ext uri="{FF2B5EF4-FFF2-40B4-BE49-F238E27FC236}">
                <a16:creationId xmlns:a16="http://schemas.microsoft.com/office/drawing/2014/main" id="{5AECF1C7-E0BF-424F-84A9-19077A0078C5}"/>
              </a:ext>
            </a:extLst>
          </p:cNvPr>
          <p:cNvSpPr>
            <a:spLocks xmlns:a="http://schemas.openxmlformats.org/drawingml/2006/main" noGrp="1"/>
          </p:cNvSpPr>
          <p:nvPr/>
        </p:nvSpPr>
        <p:spPr>
          <a:xfrm xmlns:a="http://schemas.openxmlformats.org/drawingml/2006/main">
            <a:off x="8648700" y="4345686"/>
            <a:ext cx="2933700" cy="8176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Total work Θ(W × H);</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input/output storage Θ(W × H)</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each.</a:t>
            </a:r>
          </a:p>
        </p:txBody>
      </p:sp>
      <p:sp>
        <p:nvSpPr>
          <p:cNvPr id="9" name="">
            <a:extLst xmlns:a="http://schemas.openxmlformats.org/drawingml/2006/main">
              <a:ext uri="{FF2B5EF4-FFF2-40B4-BE49-F238E27FC236}">
                <a16:creationId xmlns:a16="http://schemas.microsoft.com/office/drawing/2014/main" id="{B5BDB350-620D-4625-8F6D-0264F108F7CC}"/>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0" name="Sources: [1] NVIDIA CUDA programming model">
            <a:extLst xmlns:a="http://schemas.openxmlformats.org/drawingml/2006/main">
              <a:ext uri="{FF2B5EF4-FFF2-40B4-BE49-F238E27FC236}">
                <a16:creationId xmlns:a16="http://schemas.microsoft.com/office/drawing/2014/main" id="{5C9398AC-B90F-44B9-BD2F-C61EF837A53F}"/>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[1] NVIDIA CUDA programming model</a:t>
            </a:r>
          </a:p>
        </p:txBody>
      </p:sp>
      <p:sp>
        <p:nvSpPr>
          <p:cNvPr id="11" name="22 / 28">
            <a:extLst xmlns:a="http://schemas.openxmlformats.org/drawingml/2006/main">
              <a:ext uri="{FF2B5EF4-FFF2-40B4-BE49-F238E27FC236}">
                <a16:creationId xmlns:a16="http://schemas.microsoft.com/office/drawing/2014/main" id="{6E15708B-0ED7-4E94-91C9-A9DF7810DF12}"/>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22 / 28</a:t>
            </a:r>
          </a:p>
        </p:txBody>
      </p:sp>
    </p:spTree>
    <p:extLst>
      <p:ext uri="{BB962C8B-B14F-4D97-AF65-F5344CB8AC3E}">
        <p14:creationId xmlns:p14="http://schemas.microsoft.com/office/powerpoint/2010/main" val="1698730876"/>
      </p:ext>
    </p:extLst>
  </p:cSld>
</p:sld>
</file>

<file path=ppt/slides/slide2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2" name="Appendix • Task 1 • Appendix A5">
            <a:extLst xmlns:a="http://schemas.openxmlformats.org/drawingml/2006/main">
              <a:ext uri="{FF2B5EF4-FFF2-40B4-BE49-F238E27FC236}">
                <a16:creationId xmlns:a16="http://schemas.microsoft.com/office/drawing/2014/main" id="{8AE8CFFF-3EFA-417B-92B4-C0507C0B8B42}"/>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Appendix A5</a:t>
            </a:r>
          </a:p>
        </p:txBody>
      </p:sp>
      <p:sp>
        <p:nvSpPr>
          <p:cNvPr id="2" name="Asynchronous work within one stream">
            <a:extLst xmlns:a="http://schemas.openxmlformats.org/drawingml/2006/main">
              <a:ext uri="{FF2B5EF4-FFF2-40B4-BE49-F238E27FC236}">
                <a16:creationId xmlns:a16="http://schemas.microsoft.com/office/drawing/2014/main" id="{40343F84-DD2D-40FA-B175-D7F01CD2F96B}"/>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Asynchronous work within one stream</a:t>
            </a:r>
          </a:p>
        </p:txBody>
      </p:sp>
      <p:sp>
        <p:nvSpPr>
          <p:cNvPr id="3" name="">
            <a:extLst xmlns:a="http://schemas.openxmlformats.org/drawingml/2006/main">
              <a:ext uri="{FF2B5EF4-FFF2-40B4-BE49-F238E27FC236}">
                <a16:creationId xmlns:a16="http://schemas.microsoft.com/office/drawing/2014/main" id="{8E87AE19-51F7-46E0-ACED-69EC4E12023B}"/>
              </a:ext>
            </a:extLst>
          </p:cNvPr>
          <p:cNvSpPr>
            <a:spLocks xmlns:a="http://schemas.openxmlformats.org/drawingml/2006/main" noGrp="1"/>
          </p:cNvSpPr>
          <p:nvPr/>
        </p:nvSpPr>
        <p:spPr>
          <a:xfrm xmlns:a="http://schemas.openxmlformats.org/drawingml/2006/main">
            <a:off x="609600" y="1495425"/>
            <a:ext cx="7705725" cy="4354830"/>
          </a:xfrm>
          <a:prstGeom xmlns:a="http://schemas.openxmlformats.org/drawingml/2006/main" prst="rect">
            <a:avLst/>
          </a:prstGeom>
          <a:solidFill xmlns:a="http://schemas.openxmlformats.org/drawingml/2006/main">
            <a:srgbClr val="EDF1F5"/>
          </a:solidFill>
          <a:ln xmlns:a="http://schemas.openxmlformats.org/drawingml/2006/main" w="14288">
            <a:noFill/>
            <a:prstDash val="solid"/>
          </a:ln>
        </p:spPr>
      </p:sp>
      <p:sp>
        <p:nvSpPr>
          <p:cNvPr id="4" name="cudaError_t enqueue_rotation(const unsigned char* h_inp">
            <a:extLst xmlns:a="http://schemas.openxmlformats.org/drawingml/2006/main">
              <a:ext uri="{FF2B5EF4-FFF2-40B4-BE49-F238E27FC236}">
                <a16:creationId xmlns:a16="http://schemas.microsoft.com/office/drawing/2014/main" id="{37DA8DD6-22E1-4517-992C-B836581C6694}"/>
              </a:ext>
            </a:extLst>
          </p:cNvPr>
          <p:cNvSpPr>
            <a:spLocks xmlns:a="http://schemas.openxmlformats.org/drawingml/2006/main" noGrp="1"/>
          </p:cNvSpPr>
          <p:nvPr/>
        </p:nvSpPr>
        <p:spPr>
          <a:xfrm xmlns:a="http://schemas.openxmlformats.org/drawingml/2006/main">
            <a:off x="723900" y="1581150"/>
            <a:ext cx="7477125" cy="4221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42D45"/>
                </a:solidFill>
                <a:latin typeface="Consolas"/>
                <a:ea typeface="Consolas"/>
                <a:cs typeface="Consolas"/>
              </a:defRPr>
            </a:defPPr>
          </a:lstStyle>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cudaError_t enqueue_rotation(const unsigned char* h_input,</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unsigned char* h_output,</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unsigned char* d_input,</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unsigned char* d_output,</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size_t bytes, int width, int height,</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float c, float s,</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cudaStream_t stream)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dim3 block(32, 8);  // 256 threads.</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dim3 grid = rotation_grid(width, height, block);</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cudaError_t status = cudaMemcpyAsync(d_input, h_input, bytes,</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cudaMemcpyHostToDevice, stream);</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if (status != cudaSuccess) return status;</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rotate_rgb&lt;&lt;&lt;grid, block, 0, stream&gt;&gt;&gt;(d_input, d_output,</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width, height, c, s);</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status = cudaGetLastError();</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if (status != cudaSuccess) return status;</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return cudaMemcpyAsync(h_output, d_output, bytes,</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cudaMemcpyDeviceToHost, stream);</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a:t>
            </a:r>
          </a:p>
        </p:txBody>
      </p:sp>
      <p:sp>
        <p:nvSpPr>
          <p:cNvPr id="5" name="Full enqueue function; rotation_grid uses the ceil-divi">
            <a:extLst xmlns:a="http://schemas.openxmlformats.org/drawingml/2006/main">
              <a:ext uri="{FF2B5EF4-FFF2-40B4-BE49-F238E27FC236}">
                <a16:creationId xmlns:a16="http://schemas.microsoft.com/office/drawing/2014/main" id="{2A57C703-35E0-49AD-BDFC-CEB86DD1CAB2}"/>
              </a:ext>
            </a:extLst>
          </p:cNvPr>
          <p:cNvSpPr>
            <a:spLocks xmlns:a="http://schemas.openxmlformats.org/drawingml/2006/main" noGrp="1"/>
          </p:cNvSpPr>
          <p:nvPr/>
        </p:nvSpPr>
        <p:spPr>
          <a:xfrm xmlns:a="http://schemas.openxmlformats.org/drawingml/2006/main">
            <a:off x="8648700" y="1581150"/>
            <a:ext cx="2933700" cy="10774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Full enqueue function;</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rotation_grid uses the</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ceil-division shown in the host</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orchestration answer.</a:t>
            </a:r>
          </a:p>
        </p:txBody>
      </p:sp>
      <p:sp>
        <p:nvSpPr>
          <p:cNvPr id="6" name="Pinned host buffers and checked sizes are preconditions">
            <a:extLst xmlns:a="http://schemas.openxmlformats.org/drawingml/2006/main">
              <a:ext uri="{FF2B5EF4-FFF2-40B4-BE49-F238E27FC236}">
                <a16:creationId xmlns:a16="http://schemas.microsoft.com/office/drawing/2014/main" id="{666B0AB4-99A3-44ED-9A36-64576DABD4F4}"/>
              </a:ext>
            </a:extLst>
          </p:cNvPr>
          <p:cNvSpPr>
            <a:spLocks xmlns:a="http://schemas.openxmlformats.org/drawingml/2006/main" noGrp="1"/>
          </p:cNvSpPr>
          <p:nvPr/>
        </p:nvSpPr>
        <p:spPr>
          <a:xfrm xmlns:a="http://schemas.openxmlformats.org/drawingml/2006/main">
            <a:off x="8648700" y="2849118"/>
            <a:ext cx="2933700" cy="8176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Pinned host buffers and</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checked sizes are</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preconditions.</a:t>
            </a:r>
          </a:p>
        </p:txBody>
      </p:sp>
      <p:sp>
        <p:nvSpPr>
          <p:cNvPr id="7" name="Success means submitted work; wait before reading, reus">
            <a:extLst xmlns:a="http://schemas.openxmlformats.org/drawingml/2006/main">
              <a:ext uri="{FF2B5EF4-FFF2-40B4-BE49-F238E27FC236}">
                <a16:creationId xmlns:a16="http://schemas.microsoft.com/office/drawing/2014/main" id="{7FC32114-565A-4497-AD17-F5758D1411BB}"/>
              </a:ext>
            </a:extLst>
          </p:cNvPr>
          <p:cNvSpPr>
            <a:spLocks xmlns:a="http://schemas.openxmlformats.org/drawingml/2006/main" noGrp="1"/>
          </p:cNvSpPr>
          <p:nvPr/>
        </p:nvSpPr>
        <p:spPr>
          <a:xfrm xmlns:a="http://schemas.openxmlformats.org/drawingml/2006/main">
            <a:off x="8648700" y="3857244"/>
            <a:ext cx="2933700" cy="8176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Success means submitted</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work; wait before reading,</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reusing or freeing buffers.</a:t>
            </a:r>
          </a:p>
        </p:txBody>
      </p:sp>
      <p:sp>
        <p:nvSpPr>
          <p:cNvPr id="8" name="On error, previously enqueued work may still be pending">
            <a:extLst xmlns:a="http://schemas.openxmlformats.org/drawingml/2006/main">
              <a:ext uri="{FF2B5EF4-FFF2-40B4-BE49-F238E27FC236}">
                <a16:creationId xmlns:a16="http://schemas.microsoft.com/office/drawing/2014/main" id="{8BD7F21A-CD5D-4A37-9CB2-A954320762C7}"/>
              </a:ext>
            </a:extLst>
          </p:cNvPr>
          <p:cNvSpPr>
            <a:spLocks xmlns:a="http://schemas.openxmlformats.org/drawingml/2006/main" noGrp="1"/>
          </p:cNvSpPr>
          <p:nvPr/>
        </p:nvSpPr>
        <p:spPr>
          <a:xfrm xmlns:a="http://schemas.openxmlformats.org/drawingml/2006/main">
            <a:off x="8648700" y="4865370"/>
            <a:ext cx="2933700" cy="5577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On error, previously enqueued</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work may still be pending.</a:t>
            </a:r>
          </a:p>
        </p:txBody>
      </p:sp>
      <p:sp>
        <p:nvSpPr>
          <p:cNvPr id="9" name="">
            <a:extLst xmlns:a="http://schemas.openxmlformats.org/drawingml/2006/main">
              <a:ext uri="{FF2B5EF4-FFF2-40B4-BE49-F238E27FC236}">
                <a16:creationId xmlns:a16="http://schemas.microsoft.com/office/drawing/2014/main" id="{AA661758-2DA5-4E23-B402-4AB8019EABAB}"/>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0" name="Sources: [2] NVIDIA CUDA Best Practices">
            <a:extLst xmlns:a="http://schemas.openxmlformats.org/drawingml/2006/main">
              <a:ext uri="{FF2B5EF4-FFF2-40B4-BE49-F238E27FC236}">
                <a16:creationId xmlns:a16="http://schemas.microsoft.com/office/drawing/2014/main" id="{8446D484-0BED-4391-A115-8391D660976E}"/>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[2] NVIDIA CUDA Best Practices</a:t>
            </a:r>
          </a:p>
        </p:txBody>
      </p:sp>
      <p:sp>
        <p:nvSpPr>
          <p:cNvPr id="11" name="23 / 28">
            <a:extLst xmlns:a="http://schemas.openxmlformats.org/drawingml/2006/main">
              <a:ext uri="{FF2B5EF4-FFF2-40B4-BE49-F238E27FC236}">
                <a16:creationId xmlns:a16="http://schemas.microsoft.com/office/drawing/2014/main" id="{80232A1F-EC71-42D2-A884-A946D45082F8}"/>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23 / 28</a:t>
            </a:r>
          </a:p>
        </p:txBody>
      </p:sp>
    </p:spTree>
    <p:extLst>
      <p:ext uri="{BB962C8B-B14F-4D97-AF65-F5344CB8AC3E}">
        <p14:creationId xmlns:p14="http://schemas.microsoft.com/office/powerpoint/2010/main" val="1571370306"/>
      </p:ext>
    </p:extLst>
  </p:cSld>
</p:sld>
</file>

<file path=ppt/slides/slide2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Appendix • Task 1 • Appendix A6">
            <a:extLst xmlns:a="http://schemas.openxmlformats.org/drawingml/2006/main">
              <a:ext uri="{FF2B5EF4-FFF2-40B4-BE49-F238E27FC236}">
                <a16:creationId xmlns:a16="http://schemas.microsoft.com/office/drawing/2014/main" id="{9D0F1EB2-2461-4AE9-BDB9-CCBC3792F423}"/>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Appendix A6</a:t>
            </a:r>
          </a:p>
        </p:txBody>
      </p:sp>
      <p:sp>
        <p:nvSpPr>
          <p:cNvPr id="2" name="Fair speedup comparison and profiling">
            <a:extLst xmlns:a="http://schemas.openxmlformats.org/drawingml/2006/main">
              <a:ext uri="{FF2B5EF4-FFF2-40B4-BE49-F238E27FC236}">
                <a16:creationId xmlns:a16="http://schemas.microsoft.com/office/drawing/2014/main" id="{3F0FFDBD-646F-4991-84E2-C2FDC44F702E}"/>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Fair speedup comparison and profiling</a:t>
            </a:r>
          </a:p>
        </p:txBody>
      </p:sp>
      <p:sp>
        <p:nvSpPr>
          <p:cNvPr id="3" name="Comparable baselines">
            <a:extLst xmlns:a="http://schemas.openxmlformats.org/drawingml/2006/main">
              <a:ext uri="{FF2B5EF4-FFF2-40B4-BE49-F238E27FC236}">
                <a16:creationId xmlns:a16="http://schemas.microsoft.com/office/drawing/2014/main" id="{2A30C4E0-3BCC-4A61-811C-07E9E9CB3F23}"/>
              </a:ext>
            </a:extLst>
          </p:cNvPr>
          <p:cNvSpPr>
            <a:spLocks xmlns:a="http://schemas.openxmlformats.org/drawingml/2006/main" noGrp="1"/>
          </p:cNvSpPr>
          <p:nvPr/>
        </p:nvSpPr>
        <p:spPr>
          <a:xfrm xmlns:a="http://schemas.openxmlformats.org/drawingml/2006/main">
            <a:off x="60960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Comparable baselines</a:t>
            </a:r>
          </a:p>
        </p:txBody>
      </p:sp>
      <p:sp>
        <p:nvSpPr>
          <p:cNvPr id="4" name="Primary baseline: one CPU thread performs the same RGB ">
            <a:extLst xmlns:a="http://schemas.openxmlformats.org/drawingml/2006/main">
              <a:ext uri="{FF2B5EF4-FFF2-40B4-BE49-F238E27FC236}">
                <a16:creationId xmlns:a16="http://schemas.microsoft.com/office/drawing/2014/main" id="{A5D1D3CA-4C77-4615-A5B2-4BE6B6839E47}"/>
              </a:ext>
            </a:extLst>
          </p:cNvPr>
          <p:cNvSpPr>
            <a:spLocks xmlns:a="http://schemas.openxmlformats.org/drawingml/2006/main" noGrp="1"/>
          </p:cNvSpPr>
          <p:nvPr/>
        </p:nvSpPr>
        <p:spPr>
          <a:xfrm xmlns:a="http://schemas.openxmlformats.org/drawingml/2006/main">
            <a:off x="609600" y="1971675"/>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Primary baseline: one CPU thread performs the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same RGB inverse mapping, nearest-neighbour rule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and fixed canvas. Also compare a multithreaded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CPU for a stronger practical baseline.</a:t>
            </a:r>
          </a:p>
        </p:txBody>
      </p:sp>
      <p:sp>
        <p:nvSpPr>
          <p:cNvPr id="5" name="Use identical inputs/angles and verify identical or jus">
            <a:extLst xmlns:a="http://schemas.openxmlformats.org/drawingml/2006/main">
              <a:ext uri="{FF2B5EF4-FFF2-40B4-BE49-F238E27FC236}">
                <a16:creationId xmlns:a16="http://schemas.microsoft.com/office/drawing/2014/main" id="{4C0FEE90-C67D-4678-BCDD-AF6F03A5D1E9}"/>
              </a:ext>
            </a:extLst>
          </p:cNvPr>
          <p:cNvSpPr>
            <a:spLocks xmlns:a="http://schemas.openxmlformats.org/drawingml/2006/main" noGrp="1"/>
          </p:cNvSpPr>
          <p:nvPr/>
        </p:nvSpPr>
        <p:spPr>
          <a:xfrm xmlns:a="http://schemas.openxmlformats.org/drawingml/2006/main">
            <a:off x="609600" y="3267837"/>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Use identical inputs/angles and verify identical or</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justified numerically equivalent outputs. Include file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decoding/I/O in both paths or exclude it from both.</a:t>
            </a:r>
          </a:p>
        </p:txBody>
      </p:sp>
      <p:sp>
        <p:nvSpPr>
          <p:cNvPr id="6" name="For the stated decoded-buffer comparison, include GPU a">
            <a:extLst xmlns:a="http://schemas.openxmlformats.org/drawingml/2006/main">
              <a:ext uri="{FF2B5EF4-FFF2-40B4-BE49-F238E27FC236}">
                <a16:creationId xmlns:a16="http://schemas.microsoft.com/office/drawing/2014/main" id="{64771026-935A-4281-A3F1-992A45E31BA1}"/>
              </a:ext>
            </a:extLst>
          </p:cNvPr>
          <p:cNvSpPr>
            <a:spLocks xmlns:a="http://schemas.openxmlformats.org/drawingml/2006/main" noGrp="1"/>
          </p:cNvSpPr>
          <p:nvPr/>
        </p:nvSpPr>
        <p:spPr>
          <a:xfrm xmlns:a="http://schemas.openxmlformats.org/drawingml/2006/main">
            <a:off x="609600" y="4292346"/>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For the stated decoded-buffer comparison, include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GPU allocation, H2D, launch, completed kernel and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D2H; CPU timing covers the corresponding output</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allocation and rotation.</a:t>
            </a:r>
          </a:p>
        </p:txBody>
      </p:sp>
      <p:sp>
        <p:nvSpPr>
          <p:cNvPr id="7" name="Measure the bottleneck">
            <a:extLst xmlns:a="http://schemas.openxmlformats.org/drawingml/2006/main">
              <a:ext uri="{FF2B5EF4-FFF2-40B4-BE49-F238E27FC236}">
                <a16:creationId xmlns:a16="http://schemas.microsoft.com/office/drawing/2014/main" id="{25C0C679-C01D-454B-99AB-13349E27F068}"/>
              </a:ext>
            </a:extLst>
          </p:cNvPr>
          <p:cNvSpPr>
            <a:spLocks xmlns:a="http://schemas.openxmlformats.org/drawingml/2006/main" noGrp="1"/>
          </p:cNvSpPr>
          <p:nvPr/>
        </p:nvSpPr>
        <p:spPr>
          <a:xfrm xmlns:a="http://schemas.openxmlformats.org/drawingml/2006/main">
            <a:off x="641985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Measure the bottleneck</a:t>
            </a:r>
          </a:p>
        </p:txBody>
      </p:sp>
      <p:sp>
        <p:nvSpPr>
          <p:cNvPr id="8" name="Report cold-start and warmed repeated runs separately. ">
            <a:extLst xmlns:a="http://schemas.openxmlformats.org/drawingml/2006/main">
              <a:ext uri="{FF2B5EF4-FFF2-40B4-BE49-F238E27FC236}">
                <a16:creationId xmlns:a16="http://schemas.microsoft.com/office/drawing/2014/main" id="{C02CD017-8269-4896-97EC-8229FCDA2EC6}"/>
              </a:ext>
            </a:extLst>
          </p:cNvPr>
          <p:cNvSpPr>
            <a:spLocks xmlns:a="http://schemas.openxmlformats.org/drawingml/2006/main" noGrp="1"/>
          </p:cNvSpPr>
          <p:nvPr/>
        </p:nvSpPr>
        <p:spPr>
          <a:xfrm xmlns:a="http://schemas.openxmlformats.org/drawingml/2006/main">
            <a:off x="6419850" y="1971675"/>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Report cold-start and warmed repeated runs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separately. Use CUDA events for kernel elapsed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time after completion and a host timer through final</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completion for total latency.</a:t>
            </a:r>
          </a:p>
        </p:txBody>
      </p:sp>
      <p:sp>
        <p:nvSpPr>
          <p:cNvPr id="9" name="Vary image size, angle, block shape and batch size; rec">
            <a:extLst xmlns:a="http://schemas.openxmlformats.org/drawingml/2006/main">
              <a:ext uri="{FF2B5EF4-FFF2-40B4-BE49-F238E27FC236}">
                <a16:creationId xmlns:a16="http://schemas.microsoft.com/office/drawing/2014/main" id="{2ED497B5-CCBF-4E31-AFE8-56DF78623EE1}"/>
              </a:ext>
            </a:extLst>
          </p:cNvPr>
          <p:cNvSpPr>
            <a:spLocks xmlns:a="http://schemas.openxmlformats.org/drawingml/2006/main" noGrp="1"/>
          </p:cNvSpPr>
          <p:nvPr/>
        </p:nvSpPr>
        <p:spPr>
          <a:xfrm xmlns:a="http://schemas.openxmlformats.org/drawingml/2006/main">
            <a:off x="6419850" y="3267837"/>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Vary image size, angle, block shape and batch size;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record hardware, transfer mode, register use and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effective memory/link bandwidth.</a:t>
            </a:r>
          </a:p>
        </p:txBody>
      </p:sp>
      <p:sp>
        <p:nvSpPr>
          <p:cNvPr id="10" name="The sequential sum does not apply unchanged to overlapp">
            <a:extLst xmlns:a="http://schemas.openxmlformats.org/drawingml/2006/main">
              <a:ext uri="{FF2B5EF4-FFF2-40B4-BE49-F238E27FC236}">
                <a16:creationId xmlns:a16="http://schemas.microsoft.com/office/drawing/2014/main" id="{4090C8D4-3738-4DF6-A364-2D353D057120}"/>
              </a:ext>
            </a:extLst>
          </p:cNvPr>
          <p:cNvSpPr>
            <a:spLocks xmlns:a="http://schemas.openxmlformats.org/drawingml/2006/main" noGrp="1"/>
          </p:cNvSpPr>
          <p:nvPr/>
        </p:nvSpPr>
        <p:spPr>
          <a:xfrm xmlns:a="http://schemas.openxmlformats.org/drawingml/2006/main">
            <a:off x="6419850" y="4292346"/>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The sequential sum does not apply unchanged to</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overlapping streams: measure the completed batch</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critical path. Lower kernel time alone cannot</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establish end-to-end speedup.</a:t>
            </a:r>
          </a:p>
        </p:txBody>
      </p:sp>
      <p:sp>
        <p:nvSpPr>
          <p:cNvPr id="11" name="">
            <a:extLst xmlns:a="http://schemas.openxmlformats.org/drawingml/2006/main">
              <a:ext uri="{FF2B5EF4-FFF2-40B4-BE49-F238E27FC236}">
                <a16:creationId xmlns:a16="http://schemas.microsoft.com/office/drawing/2014/main" id="{6E8D74A4-8FCD-435C-8926-8902C6BDD947}"/>
              </a:ext>
            </a:extLst>
          </p:cNvPr>
          <p:cNvSpPr>
            <a:spLocks xmlns:a="http://schemas.openxmlformats.org/drawingml/2006/main" noGrp="1"/>
          </p:cNvSpPr>
          <p:nvPr/>
        </p:nvSpPr>
        <p:spPr>
          <a:xfrm xmlns:a="http://schemas.openxmlformats.org/drawingml/2006/main">
            <a:off x="6086475" y="1543050"/>
            <a:ext cx="9525"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2" name="">
            <a:extLst xmlns:a="http://schemas.openxmlformats.org/drawingml/2006/main">
              <a:ext uri="{FF2B5EF4-FFF2-40B4-BE49-F238E27FC236}">
                <a16:creationId xmlns:a16="http://schemas.microsoft.com/office/drawing/2014/main" id="{41AAAFC2-4D89-421F-9B23-FB33883CA81E}"/>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3" name="Sources: [2] NVIDIA CUDA Best Practices">
            <a:extLst xmlns:a="http://schemas.openxmlformats.org/drawingml/2006/main">
              <a:ext uri="{FF2B5EF4-FFF2-40B4-BE49-F238E27FC236}">
                <a16:creationId xmlns:a16="http://schemas.microsoft.com/office/drawing/2014/main" id="{ED2FABBF-E5AA-4987-ACA8-36B1928907D7}"/>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[2] NVIDIA CUDA Best Practices</a:t>
            </a:r>
          </a:p>
        </p:txBody>
      </p:sp>
      <p:sp>
        <p:nvSpPr>
          <p:cNvPr id="14" name="24 / 28">
            <a:extLst xmlns:a="http://schemas.openxmlformats.org/drawingml/2006/main">
              <a:ext uri="{FF2B5EF4-FFF2-40B4-BE49-F238E27FC236}">
                <a16:creationId xmlns:a16="http://schemas.microsoft.com/office/drawing/2014/main" id="{C656698E-12CD-4BFC-B265-40E154BBBAA7}"/>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24 / 28</a:t>
            </a:r>
          </a:p>
        </p:txBody>
      </p:sp>
    </p:spTree>
    <p:extLst>
      <p:ext uri="{BB962C8B-B14F-4D97-AF65-F5344CB8AC3E}">
        <p14:creationId xmlns:p14="http://schemas.microsoft.com/office/powerpoint/2010/main" val="960569602"/>
      </p:ext>
    </p:extLst>
  </p:cSld>
</p:sld>
</file>

<file path=ppt/slides/slide2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Appendix • Task 1 • Appendix A7">
            <a:extLst xmlns:a="http://schemas.openxmlformats.org/drawingml/2006/main">
              <a:ext uri="{FF2B5EF4-FFF2-40B4-BE49-F238E27FC236}">
                <a16:creationId xmlns:a16="http://schemas.microsoft.com/office/drawing/2014/main" id="{09881A2D-76A8-41B5-B2C9-86DF1DCFB545}"/>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Appendix A7</a:t>
            </a:r>
          </a:p>
        </p:txBody>
      </p:sp>
      <p:sp>
        <p:nvSpPr>
          <p:cNvPr id="2" name="GDS decision for the proposed pipeline">
            <a:extLst xmlns:a="http://schemas.openxmlformats.org/drawingml/2006/main">
              <a:ext uri="{FF2B5EF4-FFF2-40B4-BE49-F238E27FC236}">
                <a16:creationId xmlns:a16="http://schemas.microsoft.com/office/drawing/2014/main" id="{D418B886-15AE-42AA-8160-A78547E02735}"/>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GDS decision for the proposed pipeline</a:t>
            </a:r>
          </a:p>
        </p:txBody>
      </p:sp>
      <p:sp>
        <p:nvSpPr>
          <p:cNvPr id="3" name="Conventional decoded-image path">
            <a:extLst xmlns:a="http://schemas.openxmlformats.org/drawingml/2006/main">
              <a:ext uri="{FF2B5EF4-FFF2-40B4-BE49-F238E27FC236}">
                <a16:creationId xmlns:a16="http://schemas.microsoft.com/office/drawing/2014/main" id="{EA7CA5D4-ECA6-4C22-9210-B224187BA745}"/>
              </a:ext>
            </a:extLst>
          </p:cNvPr>
          <p:cNvSpPr>
            <a:spLocks xmlns:a="http://schemas.openxmlformats.org/drawingml/2006/main" noGrp="1"/>
          </p:cNvSpPr>
          <p:nvPr/>
        </p:nvSpPr>
        <p:spPr>
          <a:xfrm xmlns:a="http://schemas.openxmlformats.org/drawingml/2006/main">
            <a:off x="60960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Conventional decoded-image path</a:t>
            </a:r>
          </a:p>
        </p:txBody>
      </p:sp>
      <p:sp>
        <p:nvSpPr>
          <p:cNvPr id="4" name="CPU decoding requires host-visible compressed bytes and">
            <a:extLst xmlns:a="http://schemas.openxmlformats.org/drawingml/2006/main">
              <a:ext uri="{FF2B5EF4-FFF2-40B4-BE49-F238E27FC236}">
                <a16:creationId xmlns:a16="http://schemas.microsoft.com/office/drawing/2014/main" id="{363EFE96-A1C0-4AED-B951-0D408F850AA9}"/>
              </a:ext>
            </a:extLst>
          </p:cNvPr>
          <p:cNvSpPr>
            <a:spLocks xmlns:a="http://schemas.openxmlformats.org/drawingml/2006/main" noGrp="1"/>
          </p:cNvSpPr>
          <p:nvPr/>
        </p:nvSpPr>
        <p:spPr>
          <a:xfrm xmlns:a="http://schemas.openxmlformats.org/drawingml/2006/main">
            <a:off x="609600" y="1971675"/>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CPU decoding requires host-visible compressed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bytes and produces pixels in RAM. Those pixels are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copied to the GPU; the rotation kernel then runs.</a:t>
            </a:r>
          </a:p>
        </p:txBody>
      </p:sp>
      <p:sp>
        <p:nvSpPr>
          <p:cNvPr id="5" name="A single small image already in RAM gains little from b">
            <a:extLst xmlns:a="http://schemas.openxmlformats.org/drawingml/2006/main">
              <a:ext uri="{FF2B5EF4-FFF2-40B4-BE49-F238E27FC236}">
                <a16:creationId xmlns:a16="http://schemas.microsoft.com/office/drawing/2014/main" id="{2C0DC279-912F-4C24-81F3-EA536D4D3895}"/>
              </a:ext>
            </a:extLst>
          </p:cNvPr>
          <p:cNvSpPr>
            <a:spLocks xmlns:a="http://schemas.openxmlformats.org/drawingml/2006/main" noGrp="1"/>
          </p:cNvSpPr>
          <p:nvPr/>
        </p:nvSpPr>
        <p:spPr>
          <a:xfrm xmlns:a="http://schemas.openxmlformats.org/drawingml/2006/main">
            <a:off x="609600" y="2996184"/>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 single small image already in RAM gains little from</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bypassing a storage step that is no longer on its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path.</a:t>
            </a:r>
          </a:p>
        </p:txBody>
      </p:sp>
      <p:sp>
        <p:nvSpPr>
          <p:cNvPr id="6" name="GDS does not decode an image, bypass an application’s C">
            <a:extLst xmlns:a="http://schemas.openxmlformats.org/drawingml/2006/main">
              <a:ext uri="{FF2B5EF4-FFF2-40B4-BE49-F238E27FC236}">
                <a16:creationId xmlns:a16="http://schemas.microsoft.com/office/drawing/2014/main" id="{93ED6B64-7BCA-4423-81BC-FEEFF14FC1DC}"/>
              </a:ext>
            </a:extLst>
          </p:cNvPr>
          <p:cNvSpPr>
            <a:spLocks xmlns:a="http://schemas.openxmlformats.org/drawingml/2006/main" noGrp="1"/>
          </p:cNvSpPr>
          <p:nvPr/>
        </p:nvSpPr>
        <p:spPr>
          <a:xfrm xmlns:a="http://schemas.openxmlformats.org/drawingml/2006/main">
            <a:off x="609600" y="4020693"/>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GDS does not decode an image, bypass an</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application’s CPU transformation, or make GPU</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memory access itself faster.</a:t>
            </a:r>
          </a:p>
        </p:txBody>
      </p:sp>
      <p:sp>
        <p:nvSpPr>
          <p:cNvPr id="7" name="Conditional batch alternative">
            <a:extLst xmlns:a="http://schemas.openxmlformats.org/drawingml/2006/main">
              <a:ext uri="{FF2B5EF4-FFF2-40B4-BE49-F238E27FC236}">
                <a16:creationId xmlns:a16="http://schemas.microsoft.com/office/drawing/2014/main" id="{87AF84C4-0913-4E5B-A367-50973C0CD24B}"/>
              </a:ext>
            </a:extLst>
          </p:cNvPr>
          <p:cNvSpPr>
            <a:spLocks xmlns:a="http://schemas.openxmlformats.org/drawingml/2006/main" noGrp="1"/>
          </p:cNvSpPr>
          <p:nvPr/>
        </p:nvSpPr>
        <p:spPr>
          <a:xfrm xmlns:a="http://schemas.openxmlformats.org/drawingml/2006/main">
            <a:off x="641985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Conditional batch alternative</a:t>
            </a:r>
          </a:p>
        </p:txBody>
      </p:sp>
      <p:sp>
        <p:nvSpPr>
          <p:cNvPr id="8" name="Large storage-bound batches of GPU-ready pixels, or a c">
            <a:extLst xmlns:a="http://schemas.openxmlformats.org/drawingml/2006/main">
              <a:ext uri="{FF2B5EF4-FFF2-40B4-BE49-F238E27FC236}">
                <a16:creationId xmlns:a16="http://schemas.microsoft.com/office/drawing/2014/main" id="{6839C84F-5FDE-4A45-9D61-CB7EAE159A75}"/>
              </a:ext>
            </a:extLst>
          </p:cNvPr>
          <p:cNvSpPr>
            <a:spLocks xmlns:a="http://schemas.openxmlformats.org/drawingml/2006/main" noGrp="1"/>
          </p:cNvSpPr>
          <p:nvPr/>
        </p:nvSpPr>
        <p:spPr>
          <a:xfrm xmlns:a="http://schemas.openxmlformats.org/drawingml/2006/main">
            <a:off x="6419850" y="1971675"/>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Large storage-bound batches of GPU-ready pixels,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or a compatible GPU decoding pipeline, may avoid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host staging via cuFile and storage-side DMA.</a:t>
            </a:r>
          </a:p>
        </p:txBody>
      </p:sp>
      <p:sp>
        <p:nvSpPr>
          <p:cNvPr id="9" name="Verify the GPU, storage/filesystem, software and PCIe t">
            <a:extLst xmlns:a="http://schemas.openxmlformats.org/drawingml/2006/main">
              <a:ext uri="{FF2B5EF4-FFF2-40B4-BE49-F238E27FC236}">
                <a16:creationId xmlns:a16="http://schemas.microsoft.com/office/drawing/2014/main" id="{69A556E4-52DB-4C07-BE7C-F02CAC67E107}"/>
              </a:ext>
            </a:extLst>
          </p:cNvPr>
          <p:cNvSpPr>
            <a:spLocks xmlns:a="http://schemas.openxmlformats.org/drawingml/2006/main" noGrp="1"/>
          </p:cNvSpPr>
          <p:nvPr/>
        </p:nvSpPr>
        <p:spPr>
          <a:xfrm xmlns:a="http://schemas.openxmlformats.org/drawingml/2006/main">
            <a:off x="6419850" y="2996184"/>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Verify the GPU, storage/filesystem, software and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PCIe topology support the direct path. Compatibility</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fallback uses host staging and is not evidence of</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direct DMA.</a:t>
            </a:r>
          </a:p>
        </p:txBody>
      </p:sp>
      <p:sp>
        <p:nvSpPr>
          <p:cNvPr id="10" name="Adopt only if completed batch time/CPU overhead improve">
            <a:extLst xmlns:a="http://schemas.openxmlformats.org/drawingml/2006/main">
              <a:ext uri="{FF2B5EF4-FFF2-40B4-BE49-F238E27FC236}">
                <a16:creationId xmlns:a16="http://schemas.microsoft.com/office/drawing/2014/main" id="{BD016313-F78F-423C-B240-FF4D3879ADB1}"/>
              </a:ext>
            </a:extLst>
          </p:cNvPr>
          <p:cNvSpPr>
            <a:spLocks xmlns:a="http://schemas.openxmlformats.org/drawingml/2006/main" noGrp="1"/>
          </p:cNvSpPr>
          <p:nvPr/>
        </p:nvSpPr>
        <p:spPr>
          <a:xfrm xmlns:a="http://schemas.openxmlformats.org/drawingml/2006/main">
            <a:off x="6419850" y="4292346"/>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Adopt only if completed batch time/CPU overhead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improve on the real workload; include extra buffers,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decoding and storage bandwidth. Otherwise retain</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conventional copies.</a:t>
            </a:r>
          </a:p>
        </p:txBody>
      </p:sp>
      <p:sp>
        <p:nvSpPr>
          <p:cNvPr id="11" name="">
            <a:extLst xmlns:a="http://schemas.openxmlformats.org/drawingml/2006/main">
              <a:ext uri="{FF2B5EF4-FFF2-40B4-BE49-F238E27FC236}">
                <a16:creationId xmlns:a16="http://schemas.microsoft.com/office/drawing/2014/main" id="{4E2AA7BF-B809-45CA-9FD1-2CEEA4535052}"/>
              </a:ext>
            </a:extLst>
          </p:cNvPr>
          <p:cNvSpPr>
            <a:spLocks xmlns:a="http://schemas.openxmlformats.org/drawingml/2006/main" noGrp="1"/>
          </p:cNvSpPr>
          <p:nvPr/>
        </p:nvSpPr>
        <p:spPr>
          <a:xfrm xmlns:a="http://schemas.openxmlformats.org/drawingml/2006/main">
            <a:off x="6086475" y="1543050"/>
            <a:ext cx="9525"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2" name="">
            <a:extLst xmlns:a="http://schemas.openxmlformats.org/drawingml/2006/main">
              <a:ext uri="{FF2B5EF4-FFF2-40B4-BE49-F238E27FC236}">
                <a16:creationId xmlns:a16="http://schemas.microsoft.com/office/drawing/2014/main" id="{E17C94F6-B1C7-4E87-9B0B-99C5FD39FD11}"/>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3" name="Sources: [3] NVIDIA GDS overview; [4] NVIDIA GDS design">
            <a:extLst xmlns:a="http://schemas.openxmlformats.org/drawingml/2006/main">
              <a:ext uri="{FF2B5EF4-FFF2-40B4-BE49-F238E27FC236}">
                <a16:creationId xmlns:a16="http://schemas.microsoft.com/office/drawing/2014/main" id="{6E8E2B3E-10E2-4432-AD1C-C5C860FCA991}"/>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[3] NVIDIA GDS overview; [4] NVIDIA GDS design</a:t>
            </a:r>
          </a:p>
        </p:txBody>
      </p:sp>
      <p:sp>
        <p:nvSpPr>
          <p:cNvPr id="14" name="25 / 28">
            <a:extLst xmlns:a="http://schemas.openxmlformats.org/drawingml/2006/main">
              <a:ext uri="{FF2B5EF4-FFF2-40B4-BE49-F238E27FC236}">
                <a16:creationId xmlns:a16="http://schemas.microsoft.com/office/drawing/2014/main" id="{E001DB9C-BCAC-41B2-843B-D537F10A0BB1}"/>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25 / 28</a:t>
            </a:r>
          </a:p>
        </p:txBody>
      </p:sp>
    </p:spTree>
    <p:extLst>
      <p:ext uri="{BB962C8B-B14F-4D97-AF65-F5344CB8AC3E}">
        <p14:creationId xmlns:p14="http://schemas.microsoft.com/office/powerpoint/2010/main" val="197013982"/>
      </p:ext>
    </p:extLst>
  </p:cSld>
</p:sld>
</file>

<file path=ppt/slides/slide2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4" name="Appendix • References 1/2">
            <a:extLst xmlns:a="http://schemas.openxmlformats.org/drawingml/2006/main">
              <a:ext uri="{FF2B5EF4-FFF2-40B4-BE49-F238E27FC236}">
                <a16:creationId xmlns:a16="http://schemas.microsoft.com/office/drawing/2014/main" id="{4599D93A-4426-484B-BA2B-D91E32186081}"/>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References 1/2</a:t>
            </a:r>
          </a:p>
        </p:txBody>
      </p:sp>
      <p:sp>
        <p:nvSpPr>
          <p:cNvPr id="2" name="References">
            <a:extLst xmlns:a="http://schemas.openxmlformats.org/drawingml/2006/main">
              <a:ext uri="{FF2B5EF4-FFF2-40B4-BE49-F238E27FC236}">
                <a16:creationId xmlns:a16="http://schemas.microsoft.com/office/drawing/2014/main" id="{3E37FBE9-CEFD-4D28-88E0-7BACF0ED8900}"/>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References</a:t>
            </a:r>
          </a:p>
        </p:txBody>
      </p:sp>
      <p:sp>
        <p:nvSpPr>
          <p:cNvPr id="3" name="[1] NVIDIA, “Programming model,” CUDA Programming Guide">
            <a:extLst xmlns:a="http://schemas.openxmlformats.org/drawingml/2006/main">
              <a:ext uri="{FF2B5EF4-FFF2-40B4-BE49-F238E27FC236}">
                <a16:creationId xmlns:a16="http://schemas.microsoft.com/office/drawing/2014/main" id="{7E90C94A-6276-4B9D-A39F-1182A85504FF}"/>
              </a:ext>
            </a:extLst>
          </p:cNvPr>
          <p:cNvSpPr>
            <a:spLocks xmlns:a="http://schemas.openxmlformats.org/drawingml/2006/main" noGrp="1"/>
          </p:cNvSpPr>
          <p:nvPr/>
        </p:nvSpPr>
        <p:spPr>
          <a:xfrm xmlns:a="http://schemas.openxmlformats.org/drawingml/2006/main">
            <a:off x="609600" y="1562100"/>
            <a:ext cx="10972800" cy="2861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[1] NVIDIA, “Programming model,” CUDA Programming Guide, online documentation, accessed Oct. 8, 2026.</a:t>
            </a:r>
          </a:p>
        </p:txBody>
      </p:sp>
      <p:sp>
        <p:nvSpPr>
          <p:cNvPr id="4" name="https://docs.nvidia.com/cuda/cuda-programming-guide/01-">
            <a:extLst xmlns:a="http://schemas.openxmlformats.org/drawingml/2006/main">
              <a:ext uri="{FF2B5EF4-FFF2-40B4-BE49-F238E27FC236}">
                <a16:creationId xmlns:a16="http://schemas.microsoft.com/office/drawing/2014/main" id="{5EAB0FEF-6F08-4FF2-A94D-E57888B3159A}"/>
              </a:ext>
            </a:extLst>
          </p:cNvPr>
          <p:cNvSpPr>
            <a:spLocks xmlns:a="http://schemas.openxmlformats.org/drawingml/2006/main" noGrp="1"/>
          </p:cNvSpPr>
          <p:nvPr/>
        </p:nvSpPr>
        <p:spPr>
          <a:xfrm xmlns:a="http://schemas.openxmlformats.org/drawingml/2006/main">
            <a:off x="609600" y="1886331"/>
            <a:ext cx="10972800" cy="2506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7B83"/>
                </a:solidFill>
                <a:latin typeface="Arial"/>
                <a:ea typeface="Arial"/>
                <a:cs typeface="Arial"/>
              </a:defRPr>
            </a:defPPr>
          </a:lstStyle>
          <a:p xmlns:a="http://schemas.openxmlformats.org/drawingml/2006/main">
            <a:pPr algn="l">
              <a:defRPr sz="1350" b="0">
                <a:solidFill>
                  <a:srgbClr val="007B83"/>
                </a:solidFill>
                <a:latin typeface="Arial"/>
                <a:ea typeface="Arial"/>
                <a:cs typeface="Arial"/>
              </a:defRPr>
            </a:pPr>
            <a:r>
              <a:rPr sz="1350" b="0">
                <a:solidFill>
                  <a:srgbClr val="007B83"/>
                </a:solidFill>
                <a:latin typeface="Arial"/>
                <a:ea typeface="Arial"/>
                <a:cs typeface="Arial"/>
                <a:hlinkClick xmlns:r="http://schemas.openxmlformats.org/officeDocument/2006/relationships" r:id="Rf0540f44dac84a72"/>
              </a:rPr>
              <a:t>https://docs.nvidia.com/cuda/cuda-programming-guide/01-introduction/programming-model.html</a:t>
            </a:r>
          </a:p>
        </p:txBody>
      </p:sp>
      <p:sp>
        <p:nvSpPr>
          <p:cNvPr id="5" name="[2] NVIDIA, CUDA C++ Best Practices Guide, online docum">
            <a:extLst xmlns:a="http://schemas.openxmlformats.org/drawingml/2006/main">
              <a:ext uri="{FF2B5EF4-FFF2-40B4-BE49-F238E27FC236}">
                <a16:creationId xmlns:a16="http://schemas.microsoft.com/office/drawing/2014/main" id="{67E0AE9A-C79C-4902-B3DB-1EBA7EACFC4E}"/>
              </a:ext>
            </a:extLst>
          </p:cNvPr>
          <p:cNvSpPr>
            <a:spLocks xmlns:a="http://schemas.openxmlformats.org/drawingml/2006/main" noGrp="1"/>
          </p:cNvSpPr>
          <p:nvPr/>
        </p:nvSpPr>
        <p:spPr>
          <a:xfrm xmlns:a="http://schemas.openxmlformats.org/drawingml/2006/main">
            <a:off x="609600" y="2327529"/>
            <a:ext cx="10972800" cy="2861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[2] NVIDIA, CUDA C++ Best Practices Guide, online documentation, accessed Oct. 8, 2026.</a:t>
            </a:r>
          </a:p>
        </p:txBody>
      </p:sp>
      <p:sp>
        <p:nvSpPr>
          <p:cNvPr id="6" name="https://docs.nvidia.com/cuda/cuda-c-best-practices-guid">
            <a:extLst xmlns:a="http://schemas.openxmlformats.org/drawingml/2006/main">
              <a:ext uri="{FF2B5EF4-FFF2-40B4-BE49-F238E27FC236}">
                <a16:creationId xmlns:a16="http://schemas.microsoft.com/office/drawing/2014/main" id="{15EAFB5E-2B15-494A-A791-D21456807FEE}"/>
              </a:ext>
            </a:extLst>
          </p:cNvPr>
          <p:cNvSpPr>
            <a:spLocks xmlns:a="http://schemas.openxmlformats.org/drawingml/2006/main" noGrp="1"/>
          </p:cNvSpPr>
          <p:nvPr/>
        </p:nvSpPr>
        <p:spPr>
          <a:xfrm xmlns:a="http://schemas.openxmlformats.org/drawingml/2006/main">
            <a:off x="609600" y="2651760"/>
            <a:ext cx="10972800" cy="2506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7B83"/>
                </a:solidFill>
                <a:latin typeface="Arial"/>
                <a:ea typeface="Arial"/>
                <a:cs typeface="Arial"/>
              </a:defRPr>
            </a:defPPr>
          </a:lstStyle>
          <a:p xmlns:a="http://schemas.openxmlformats.org/drawingml/2006/main">
            <a:pPr algn="l">
              <a:defRPr sz="1350" b="0">
                <a:solidFill>
                  <a:srgbClr val="007B83"/>
                </a:solidFill>
                <a:latin typeface="Arial"/>
                <a:ea typeface="Arial"/>
                <a:cs typeface="Arial"/>
              </a:defRPr>
            </a:pPr>
            <a:r>
              <a:rPr sz="1350" b="0">
                <a:solidFill>
                  <a:srgbClr val="007B83"/>
                </a:solidFill>
                <a:latin typeface="Arial"/>
                <a:ea typeface="Arial"/>
                <a:cs typeface="Arial"/>
                <a:hlinkClick xmlns:r="http://schemas.openxmlformats.org/officeDocument/2006/relationships" r:id="R4551004b17624818"/>
              </a:rPr>
              <a:t>https://docs.nvidia.com/cuda/cuda-c-best-practices-guide/index.html</a:t>
            </a:r>
          </a:p>
        </p:txBody>
      </p:sp>
      <p:sp>
        <p:nvSpPr>
          <p:cNvPr id="7" name="[3] NVIDIA, GPUDirect Storage Overview Guide, online do">
            <a:extLst xmlns:a="http://schemas.openxmlformats.org/drawingml/2006/main">
              <a:ext uri="{FF2B5EF4-FFF2-40B4-BE49-F238E27FC236}">
                <a16:creationId xmlns:a16="http://schemas.microsoft.com/office/drawing/2014/main" id="{E524DC07-5467-4283-8C39-A8316055F08B}"/>
              </a:ext>
            </a:extLst>
          </p:cNvPr>
          <p:cNvSpPr>
            <a:spLocks xmlns:a="http://schemas.openxmlformats.org/drawingml/2006/main" noGrp="1"/>
          </p:cNvSpPr>
          <p:nvPr/>
        </p:nvSpPr>
        <p:spPr>
          <a:xfrm xmlns:a="http://schemas.openxmlformats.org/drawingml/2006/main">
            <a:off x="609600" y="3092958"/>
            <a:ext cx="10972800" cy="2861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[3] NVIDIA, GPUDirect Storage Overview Guide, online documentation, accessed Oct. 8, 2026.</a:t>
            </a:r>
          </a:p>
        </p:txBody>
      </p:sp>
      <p:sp>
        <p:nvSpPr>
          <p:cNvPr id="8" name="https://docs.nvidia.com/gpudirect-storage/overview-guid">
            <a:extLst xmlns:a="http://schemas.openxmlformats.org/drawingml/2006/main">
              <a:ext uri="{FF2B5EF4-FFF2-40B4-BE49-F238E27FC236}">
                <a16:creationId xmlns:a16="http://schemas.microsoft.com/office/drawing/2014/main" id="{AB7F1B0A-8F2E-4C96-AF19-D1DC6A88E6A5}"/>
              </a:ext>
            </a:extLst>
          </p:cNvPr>
          <p:cNvSpPr>
            <a:spLocks xmlns:a="http://schemas.openxmlformats.org/drawingml/2006/main" noGrp="1"/>
          </p:cNvSpPr>
          <p:nvPr/>
        </p:nvSpPr>
        <p:spPr>
          <a:xfrm xmlns:a="http://schemas.openxmlformats.org/drawingml/2006/main">
            <a:off x="609600" y="3417189"/>
            <a:ext cx="10972800" cy="2506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7B83"/>
                </a:solidFill>
                <a:latin typeface="Arial"/>
                <a:ea typeface="Arial"/>
                <a:cs typeface="Arial"/>
              </a:defRPr>
            </a:defPPr>
          </a:lstStyle>
          <a:p xmlns:a="http://schemas.openxmlformats.org/drawingml/2006/main">
            <a:pPr algn="l">
              <a:defRPr sz="1350" b="0">
                <a:solidFill>
                  <a:srgbClr val="007B83"/>
                </a:solidFill>
                <a:latin typeface="Arial"/>
                <a:ea typeface="Arial"/>
                <a:cs typeface="Arial"/>
              </a:defRPr>
            </a:pPr>
            <a:r>
              <a:rPr sz="1350" b="0">
                <a:solidFill>
                  <a:srgbClr val="007B83"/>
                </a:solidFill>
                <a:latin typeface="Arial"/>
                <a:ea typeface="Arial"/>
                <a:cs typeface="Arial"/>
                <a:hlinkClick xmlns:r="http://schemas.openxmlformats.org/officeDocument/2006/relationships" r:id="R16e802e995454792"/>
              </a:rPr>
              <a:t>https://docs.nvidia.com/gpudirect-storage/overview-guide/index.html</a:t>
            </a:r>
          </a:p>
        </p:txBody>
      </p:sp>
      <p:sp>
        <p:nvSpPr>
          <p:cNvPr id="9" name="[4] NVIDIA, GPUDirect Storage Design Guide, online docu">
            <a:extLst xmlns:a="http://schemas.openxmlformats.org/drawingml/2006/main">
              <a:ext uri="{FF2B5EF4-FFF2-40B4-BE49-F238E27FC236}">
                <a16:creationId xmlns:a16="http://schemas.microsoft.com/office/drawing/2014/main" id="{1734E99C-C34F-401E-858D-EAB19A800B42}"/>
              </a:ext>
            </a:extLst>
          </p:cNvPr>
          <p:cNvSpPr>
            <a:spLocks xmlns:a="http://schemas.openxmlformats.org/drawingml/2006/main" noGrp="1"/>
          </p:cNvSpPr>
          <p:nvPr/>
        </p:nvSpPr>
        <p:spPr>
          <a:xfrm xmlns:a="http://schemas.openxmlformats.org/drawingml/2006/main">
            <a:off x="609600" y="3858387"/>
            <a:ext cx="10972800" cy="2861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[4] NVIDIA, GPUDirect Storage Design Guide, online documentation, accessed Oct. 8, 2026.</a:t>
            </a:r>
          </a:p>
        </p:txBody>
      </p:sp>
      <p:sp>
        <p:nvSpPr>
          <p:cNvPr id="10" name="https://docs.nvidia.com/gpudirect-storage/design-guide/">
            <a:extLst xmlns:a="http://schemas.openxmlformats.org/drawingml/2006/main">
              <a:ext uri="{FF2B5EF4-FFF2-40B4-BE49-F238E27FC236}">
                <a16:creationId xmlns:a16="http://schemas.microsoft.com/office/drawing/2014/main" id="{07B14373-51AE-4782-9E10-46EF86197A16}"/>
              </a:ext>
            </a:extLst>
          </p:cNvPr>
          <p:cNvSpPr>
            <a:spLocks xmlns:a="http://schemas.openxmlformats.org/drawingml/2006/main" noGrp="1"/>
          </p:cNvSpPr>
          <p:nvPr/>
        </p:nvSpPr>
        <p:spPr>
          <a:xfrm xmlns:a="http://schemas.openxmlformats.org/drawingml/2006/main">
            <a:off x="609600" y="4182618"/>
            <a:ext cx="10972800" cy="2506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7B83"/>
                </a:solidFill>
                <a:latin typeface="Arial"/>
                <a:ea typeface="Arial"/>
                <a:cs typeface="Arial"/>
              </a:defRPr>
            </a:defPPr>
          </a:lstStyle>
          <a:p xmlns:a="http://schemas.openxmlformats.org/drawingml/2006/main">
            <a:pPr algn="l">
              <a:defRPr sz="1350" b="0">
                <a:solidFill>
                  <a:srgbClr val="007B83"/>
                </a:solidFill>
                <a:latin typeface="Arial"/>
                <a:ea typeface="Arial"/>
                <a:cs typeface="Arial"/>
              </a:defRPr>
            </a:pPr>
            <a:r>
              <a:rPr sz="1350" b="0">
                <a:solidFill>
                  <a:srgbClr val="007B83"/>
                </a:solidFill>
                <a:latin typeface="Arial"/>
                <a:ea typeface="Arial"/>
                <a:cs typeface="Arial"/>
                <a:hlinkClick xmlns:r="http://schemas.openxmlformats.org/officeDocument/2006/relationships" r:id="Ra9dc51f693ef4fa4"/>
              </a:rPr>
              <a:t>https://docs.nvidia.com/gpudirect-storage/design-guide/index.html</a:t>
            </a:r>
          </a:p>
        </p:txBody>
      </p:sp>
      <p:sp>
        <p:nvSpPr>
          <p:cNvPr id="11" name="">
            <a:extLst xmlns:a="http://schemas.openxmlformats.org/drawingml/2006/main">
              <a:ext uri="{FF2B5EF4-FFF2-40B4-BE49-F238E27FC236}">
                <a16:creationId xmlns:a16="http://schemas.microsoft.com/office/drawing/2014/main" id="{DA5803AC-B173-45FF-9BF5-AA5F8EE5103C}"/>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2" name="FIT3143 Applied 2">
            <a:extLst xmlns:a="http://schemas.openxmlformats.org/drawingml/2006/main">
              <a:ext uri="{FF2B5EF4-FFF2-40B4-BE49-F238E27FC236}">
                <a16:creationId xmlns:a16="http://schemas.microsoft.com/office/drawing/2014/main" id="{D736E6C6-49C3-4085-95CB-CB8A63257AE1}"/>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FIT3143 Applied 2</a:t>
            </a:r>
          </a:p>
        </p:txBody>
      </p:sp>
      <p:sp>
        <p:nvSpPr>
          <p:cNvPr id="13" name="26 / 28">
            <a:extLst xmlns:a="http://schemas.openxmlformats.org/drawingml/2006/main">
              <a:ext uri="{FF2B5EF4-FFF2-40B4-BE49-F238E27FC236}">
                <a16:creationId xmlns:a16="http://schemas.microsoft.com/office/drawing/2014/main" id="{A031B390-1F1B-4207-A26F-D2A7C5514AC5}"/>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26 / 28</a:t>
            </a:r>
          </a:p>
        </p:txBody>
      </p:sp>
    </p:spTree>
    <p:extLst>
      <p:ext uri="{BB962C8B-B14F-4D97-AF65-F5344CB8AC3E}">
        <p14:creationId xmlns:p14="http://schemas.microsoft.com/office/powerpoint/2010/main" val="816139012"/>
      </p:ext>
    </p:extLst>
  </p:cSld>
</p:sld>
</file>

<file path=ppt/slides/slide2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4" name="Appendix • References 2/2">
            <a:extLst xmlns:a="http://schemas.openxmlformats.org/drawingml/2006/main">
              <a:ext uri="{FF2B5EF4-FFF2-40B4-BE49-F238E27FC236}">
                <a16:creationId xmlns:a16="http://schemas.microsoft.com/office/drawing/2014/main" id="{3533D7F0-30CD-4B19-86F4-C3127A62185A}"/>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References 2/2</a:t>
            </a:r>
          </a:p>
        </p:txBody>
      </p:sp>
      <p:sp>
        <p:nvSpPr>
          <p:cNvPr id="2" name="References">
            <a:extLst xmlns:a="http://schemas.openxmlformats.org/drawingml/2006/main">
              <a:ext uri="{FF2B5EF4-FFF2-40B4-BE49-F238E27FC236}">
                <a16:creationId xmlns:a16="http://schemas.microsoft.com/office/drawing/2014/main" id="{FAB03CCB-FADD-4E89-88C6-A5000858F4C4}"/>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References</a:t>
            </a:r>
          </a:p>
        </p:txBody>
      </p:sp>
      <p:sp>
        <p:nvSpPr>
          <p:cNvPr id="3" name="[10] R. Schwartz, J. Dodge, N. A. Smith, and O. Etzioni">
            <a:extLst xmlns:a="http://schemas.openxmlformats.org/drawingml/2006/main">
              <a:ext uri="{FF2B5EF4-FFF2-40B4-BE49-F238E27FC236}">
                <a16:creationId xmlns:a16="http://schemas.microsoft.com/office/drawing/2014/main" id="{E10F9EFC-0AAD-4EA9-9D5F-D1F23249EB39}"/>
              </a:ext>
            </a:extLst>
          </p:cNvPr>
          <p:cNvSpPr>
            <a:spLocks xmlns:a="http://schemas.openxmlformats.org/drawingml/2006/main" noGrp="1"/>
          </p:cNvSpPr>
          <p:nvPr/>
        </p:nvSpPr>
        <p:spPr>
          <a:xfrm xmlns:a="http://schemas.openxmlformats.org/drawingml/2006/main">
            <a:off x="609600" y="1562100"/>
            <a:ext cx="10972800" cy="2861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[10] R. Schwartz, J. Dodge, N. A. Smith, and O. Etzioni, “Green AI,” arXiv:1907.10597, 2019.</a:t>
            </a:r>
          </a:p>
        </p:txBody>
      </p:sp>
      <p:sp>
        <p:nvSpPr>
          <p:cNvPr id="4" name="https://arxiv.org/abs/1907.10597">
            <a:extLst xmlns:a="http://schemas.openxmlformats.org/drawingml/2006/main">
              <a:ext uri="{FF2B5EF4-FFF2-40B4-BE49-F238E27FC236}">
                <a16:creationId xmlns:a16="http://schemas.microsoft.com/office/drawing/2014/main" id="{9055D546-23B5-4532-8F00-2E3723DAE22B}"/>
              </a:ext>
            </a:extLst>
          </p:cNvPr>
          <p:cNvSpPr>
            <a:spLocks xmlns:a="http://schemas.openxmlformats.org/drawingml/2006/main" noGrp="1"/>
          </p:cNvSpPr>
          <p:nvPr/>
        </p:nvSpPr>
        <p:spPr>
          <a:xfrm xmlns:a="http://schemas.openxmlformats.org/drawingml/2006/main">
            <a:off x="609600" y="1886331"/>
            <a:ext cx="10972800" cy="2506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7B83"/>
                </a:solidFill>
                <a:latin typeface="Arial"/>
                <a:ea typeface="Arial"/>
                <a:cs typeface="Arial"/>
              </a:defRPr>
            </a:defPPr>
          </a:lstStyle>
          <a:p xmlns:a="http://schemas.openxmlformats.org/drawingml/2006/main">
            <a:pPr algn="l">
              <a:defRPr sz="1350" b="0">
                <a:solidFill>
                  <a:srgbClr val="007B83"/>
                </a:solidFill>
                <a:latin typeface="Arial"/>
                <a:ea typeface="Arial"/>
                <a:cs typeface="Arial"/>
              </a:defRPr>
            </a:pPr>
            <a:r>
              <a:rPr sz="1350" b="0">
                <a:solidFill>
                  <a:srgbClr val="007B83"/>
                </a:solidFill>
                <a:latin typeface="Arial"/>
                <a:ea typeface="Arial"/>
                <a:cs typeface="Arial"/>
                <a:hlinkClick xmlns:r="http://schemas.openxmlformats.org/officeDocument/2006/relationships" r:id="R40bfe9a598e54384"/>
              </a:rPr>
              <a:t>https://arxiv.org/abs/1907.10597</a:t>
            </a:r>
          </a:p>
        </p:txBody>
      </p:sp>
      <p:sp>
        <p:nvSpPr>
          <p:cNvPr id="5" name="[14] A. Radovanovic et al., “Carbon-aware computing for">
            <a:extLst xmlns:a="http://schemas.openxmlformats.org/drawingml/2006/main">
              <a:ext uri="{FF2B5EF4-FFF2-40B4-BE49-F238E27FC236}">
                <a16:creationId xmlns:a16="http://schemas.microsoft.com/office/drawing/2014/main" id="{524CD574-5FB7-4FFC-A1AA-490A61A72C36}"/>
              </a:ext>
            </a:extLst>
          </p:cNvPr>
          <p:cNvSpPr>
            <a:spLocks xmlns:a="http://schemas.openxmlformats.org/drawingml/2006/main" noGrp="1"/>
          </p:cNvSpPr>
          <p:nvPr/>
        </p:nvSpPr>
        <p:spPr>
          <a:xfrm xmlns:a="http://schemas.openxmlformats.org/drawingml/2006/main">
            <a:off x="609600" y="2327529"/>
            <a:ext cx="10972800" cy="2861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[14] A. Radovanovic et al., “Carbon-aware computing for datacenters,” arXiv:2106.11750v1, 2021.</a:t>
            </a:r>
          </a:p>
        </p:txBody>
      </p:sp>
      <p:sp>
        <p:nvSpPr>
          <p:cNvPr id="6" name="https://arxiv.org/abs/2106.11750v1">
            <a:extLst xmlns:a="http://schemas.openxmlformats.org/drawingml/2006/main">
              <a:ext uri="{FF2B5EF4-FFF2-40B4-BE49-F238E27FC236}">
                <a16:creationId xmlns:a16="http://schemas.microsoft.com/office/drawing/2014/main" id="{609F1028-E45B-4E00-85E2-E4F0E1625E02}"/>
              </a:ext>
            </a:extLst>
          </p:cNvPr>
          <p:cNvSpPr>
            <a:spLocks xmlns:a="http://schemas.openxmlformats.org/drawingml/2006/main" noGrp="1"/>
          </p:cNvSpPr>
          <p:nvPr/>
        </p:nvSpPr>
        <p:spPr>
          <a:xfrm xmlns:a="http://schemas.openxmlformats.org/drawingml/2006/main">
            <a:off x="609600" y="2651760"/>
            <a:ext cx="10972800" cy="2506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7B83"/>
                </a:solidFill>
                <a:latin typeface="Arial"/>
                <a:ea typeface="Arial"/>
                <a:cs typeface="Arial"/>
              </a:defRPr>
            </a:defPPr>
          </a:lstStyle>
          <a:p xmlns:a="http://schemas.openxmlformats.org/drawingml/2006/main">
            <a:pPr algn="l">
              <a:defRPr sz="1350" b="0">
                <a:solidFill>
                  <a:srgbClr val="007B83"/>
                </a:solidFill>
                <a:latin typeface="Arial"/>
                <a:ea typeface="Arial"/>
                <a:cs typeface="Arial"/>
              </a:defRPr>
            </a:pPr>
            <a:r>
              <a:rPr sz="1350" b="0">
                <a:solidFill>
                  <a:srgbClr val="007B83"/>
                </a:solidFill>
                <a:latin typeface="Arial"/>
                <a:ea typeface="Arial"/>
                <a:cs typeface="Arial"/>
                <a:hlinkClick xmlns:r="http://schemas.openxmlformats.org/officeDocument/2006/relationships" r:id="Rcd71821ba4b54b8e"/>
              </a:rPr>
              <a:t>https://arxiv.org/abs/2106.11750v1</a:t>
            </a:r>
          </a:p>
        </p:txBody>
      </p:sp>
      <p:sp>
        <p:nvSpPr>
          <p:cNvPr id="7" name="[16] NIST, AI Risk Management Framework 1.0 Playbook, f">
            <a:extLst xmlns:a="http://schemas.openxmlformats.org/drawingml/2006/main">
              <a:ext uri="{FF2B5EF4-FFF2-40B4-BE49-F238E27FC236}">
                <a16:creationId xmlns:a16="http://schemas.microsoft.com/office/drawing/2014/main" id="{C25617B1-613A-4052-A533-97B9E1EB5D7A}"/>
              </a:ext>
            </a:extLst>
          </p:cNvPr>
          <p:cNvSpPr>
            <a:spLocks xmlns:a="http://schemas.openxmlformats.org/drawingml/2006/main" noGrp="1"/>
          </p:cNvSpPr>
          <p:nvPr/>
        </p:nvSpPr>
        <p:spPr>
          <a:xfrm xmlns:a="http://schemas.openxmlformats.org/drawingml/2006/main">
            <a:off x="609600" y="3092958"/>
            <a:ext cx="10972800" cy="2861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[16] NIST, AI Risk Management Framework 1.0 Playbook, framework 2023, current online resource, accessed Oct. 8, 2026.</a:t>
            </a:r>
          </a:p>
        </p:txBody>
      </p:sp>
      <p:sp>
        <p:nvSpPr>
          <p:cNvPr id="8" name="https://airc.nist.gov/airmf-resources/playbook/">
            <a:extLst xmlns:a="http://schemas.openxmlformats.org/drawingml/2006/main">
              <a:ext uri="{FF2B5EF4-FFF2-40B4-BE49-F238E27FC236}">
                <a16:creationId xmlns:a16="http://schemas.microsoft.com/office/drawing/2014/main" id="{240A4E31-ACD9-42F9-B291-526D805C024A}"/>
              </a:ext>
            </a:extLst>
          </p:cNvPr>
          <p:cNvSpPr>
            <a:spLocks xmlns:a="http://schemas.openxmlformats.org/drawingml/2006/main" noGrp="1"/>
          </p:cNvSpPr>
          <p:nvPr/>
        </p:nvSpPr>
        <p:spPr>
          <a:xfrm xmlns:a="http://schemas.openxmlformats.org/drawingml/2006/main">
            <a:off x="609600" y="3417189"/>
            <a:ext cx="10972800" cy="2506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7B83"/>
                </a:solidFill>
                <a:latin typeface="Arial"/>
                <a:ea typeface="Arial"/>
                <a:cs typeface="Arial"/>
              </a:defRPr>
            </a:defPPr>
          </a:lstStyle>
          <a:p xmlns:a="http://schemas.openxmlformats.org/drawingml/2006/main">
            <a:pPr algn="l">
              <a:defRPr sz="1350" b="0">
                <a:solidFill>
                  <a:srgbClr val="007B83"/>
                </a:solidFill>
                <a:latin typeface="Arial"/>
                <a:ea typeface="Arial"/>
                <a:cs typeface="Arial"/>
              </a:defRPr>
            </a:pPr>
            <a:r>
              <a:rPr sz="1350" b="0">
                <a:solidFill>
                  <a:srgbClr val="007B83"/>
                </a:solidFill>
                <a:latin typeface="Arial"/>
                <a:ea typeface="Arial"/>
                <a:cs typeface="Arial"/>
                <a:hlinkClick xmlns:r="http://schemas.openxmlformats.org/officeDocument/2006/relationships" r:id="R1230c7deabbe4bcb"/>
              </a:rPr>
              <a:t>https://airc.nist.gov/airmf-resources/playbook/</a:t>
            </a:r>
          </a:p>
        </p:txBody>
      </p:sp>
      <p:sp>
        <p:nvSpPr>
          <p:cNvPr id="9" name="[17] NVIDIA, “Rotate,” NPP Image Geometry Transforms, C">
            <a:extLst xmlns:a="http://schemas.openxmlformats.org/drawingml/2006/main">
              <a:ext uri="{FF2B5EF4-FFF2-40B4-BE49-F238E27FC236}">
                <a16:creationId xmlns:a16="http://schemas.microsoft.com/office/drawing/2014/main" id="{5BC22228-D49C-48D6-B5C3-5C11CD78E262}"/>
              </a:ext>
            </a:extLst>
          </p:cNvPr>
          <p:cNvSpPr>
            <a:spLocks xmlns:a="http://schemas.openxmlformats.org/drawingml/2006/main" noGrp="1"/>
          </p:cNvSpPr>
          <p:nvPr/>
        </p:nvSpPr>
        <p:spPr>
          <a:xfrm xmlns:a="http://schemas.openxmlformats.org/drawingml/2006/main">
            <a:off x="609600" y="3858387"/>
            <a:ext cx="10972800" cy="2861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[17] NVIDIA, “Rotate,” NPP Image Geometry Transforms, CUDA 13.0.3 archive documentation, accessed Oct. 8, 2026.</a:t>
            </a:r>
          </a:p>
        </p:txBody>
      </p:sp>
      <p:sp>
        <p:nvSpPr>
          <p:cNvPr id="10" name="https://docs.nvidia.com/cuda/archive/13.0.3/npp/image_g">
            <a:extLst xmlns:a="http://schemas.openxmlformats.org/drawingml/2006/main">
              <a:ext uri="{FF2B5EF4-FFF2-40B4-BE49-F238E27FC236}">
                <a16:creationId xmlns:a16="http://schemas.microsoft.com/office/drawing/2014/main" id="{18FB8E7E-BAB6-4023-8FF1-288EBFD7FCFE}"/>
              </a:ext>
            </a:extLst>
          </p:cNvPr>
          <p:cNvSpPr>
            <a:spLocks xmlns:a="http://schemas.openxmlformats.org/drawingml/2006/main" noGrp="1"/>
          </p:cNvSpPr>
          <p:nvPr/>
        </p:nvSpPr>
        <p:spPr>
          <a:xfrm xmlns:a="http://schemas.openxmlformats.org/drawingml/2006/main">
            <a:off x="609600" y="4182618"/>
            <a:ext cx="10972800" cy="2506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7B83"/>
                </a:solidFill>
                <a:latin typeface="Arial"/>
                <a:ea typeface="Arial"/>
                <a:cs typeface="Arial"/>
              </a:defRPr>
            </a:defPPr>
          </a:lstStyle>
          <a:p xmlns:a="http://schemas.openxmlformats.org/drawingml/2006/main">
            <a:pPr algn="l">
              <a:defRPr sz="1350" b="0">
                <a:solidFill>
                  <a:srgbClr val="007B83"/>
                </a:solidFill>
                <a:latin typeface="Arial"/>
                <a:ea typeface="Arial"/>
                <a:cs typeface="Arial"/>
              </a:defRPr>
            </a:pPr>
            <a:r>
              <a:rPr sz="1350" b="0">
                <a:solidFill>
                  <a:srgbClr val="007B83"/>
                </a:solidFill>
                <a:latin typeface="Arial"/>
                <a:ea typeface="Arial"/>
                <a:cs typeface="Arial"/>
                <a:hlinkClick xmlns:r="http://schemas.openxmlformats.org/officeDocument/2006/relationships" r:id="R1d49b8aade124c03"/>
              </a:rPr>
              <a:t>https://docs.nvidia.com/cuda/archive/13.0.3/npp/image_geometry_transforms.html#rotate</a:t>
            </a:r>
          </a:p>
        </p:txBody>
      </p:sp>
      <p:sp>
        <p:nvSpPr>
          <p:cNvPr id="11" name="">
            <a:extLst xmlns:a="http://schemas.openxmlformats.org/drawingml/2006/main">
              <a:ext uri="{FF2B5EF4-FFF2-40B4-BE49-F238E27FC236}">
                <a16:creationId xmlns:a16="http://schemas.microsoft.com/office/drawing/2014/main" id="{B75A6D20-091A-4F57-87A5-0C3BA280CFD0}"/>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2" name="FIT3143 Applied 2">
            <a:extLst xmlns:a="http://schemas.openxmlformats.org/drawingml/2006/main">
              <a:ext uri="{FF2B5EF4-FFF2-40B4-BE49-F238E27FC236}">
                <a16:creationId xmlns:a16="http://schemas.microsoft.com/office/drawing/2014/main" id="{67024522-B887-4DBF-87CA-A0A87766B5E0}"/>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FIT3143 Applied 2</a:t>
            </a:r>
          </a:p>
        </p:txBody>
      </p:sp>
      <p:sp>
        <p:nvSpPr>
          <p:cNvPr id="13" name="27 / 28">
            <a:extLst xmlns:a="http://schemas.openxmlformats.org/drawingml/2006/main">
              <a:ext uri="{FF2B5EF4-FFF2-40B4-BE49-F238E27FC236}">
                <a16:creationId xmlns:a16="http://schemas.microsoft.com/office/drawing/2014/main" id="{9676B4FC-1AB0-4CAA-A945-0FD72C712990}"/>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27 / 28</a:t>
            </a:r>
          </a:p>
        </p:txBody>
      </p:sp>
    </p:spTree>
    <p:extLst>
      <p:ext uri="{BB962C8B-B14F-4D97-AF65-F5344CB8AC3E}">
        <p14:creationId xmlns:p14="http://schemas.microsoft.com/office/powerpoint/2010/main" val="1990938010"/>
      </p:ext>
    </p:extLst>
  </p:cSld>
</p:sld>
</file>

<file path=ppt/slides/slide2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1" name="Appendix • AI declaration">
            <a:extLst xmlns:a="http://schemas.openxmlformats.org/drawingml/2006/main">
              <a:ext uri="{FF2B5EF4-FFF2-40B4-BE49-F238E27FC236}">
                <a16:creationId xmlns:a16="http://schemas.microsoft.com/office/drawing/2014/main" id="{2E8CD4F2-68E6-453E-B061-EE01EF0A1342}"/>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AI declaration</a:t>
            </a:r>
          </a:p>
        </p:txBody>
      </p:sp>
      <p:sp>
        <p:nvSpPr>
          <p:cNvPr id="2" name="AI use declaration">
            <a:extLst xmlns:a="http://schemas.openxmlformats.org/drawingml/2006/main">
              <a:ext uri="{FF2B5EF4-FFF2-40B4-BE49-F238E27FC236}">
                <a16:creationId xmlns:a16="http://schemas.microsoft.com/office/drawing/2014/main" id="{50D0E340-769F-43FC-9EEA-3F800A3DCEE6}"/>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AI use declaration</a:t>
            </a:r>
          </a:p>
        </p:txBody>
      </p:sp>
      <p:sp>
        <p:nvSpPr>
          <p:cNvPr id="3" name="AI model and tool">
            <a:extLst xmlns:a="http://schemas.openxmlformats.org/drawingml/2006/main">
              <a:ext uri="{FF2B5EF4-FFF2-40B4-BE49-F238E27FC236}">
                <a16:creationId xmlns:a16="http://schemas.microsoft.com/office/drawing/2014/main" id="{95B76AF1-8032-409F-B7F3-645DA44904B5}"/>
              </a:ext>
            </a:extLst>
          </p:cNvPr>
          <p:cNvSpPr>
            <a:spLocks xmlns:a="http://schemas.openxmlformats.org/drawingml/2006/main" noGrp="1"/>
          </p:cNvSpPr>
          <p:nvPr/>
        </p:nvSpPr>
        <p:spPr>
          <a:xfrm xmlns:a="http://schemas.openxmlformats.org/drawingml/2006/main">
            <a:off x="60960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AI model and tool</a:t>
            </a:r>
          </a:p>
        </p:txBody>
      </p:sp>
      <p:sp>
        <p:nvSpPr>
          <p:cNvPr id="4" name="OpenAI GPT-6, accessed through Codex.">
            <a:extLst xmlns:a="http://schemas.openxmlformats.org/drawingml/2006/main">
              <a:ext uri="{FF2B5EF4-FFF2-40B4-BE49-F238E27FC236}">
                <a16:creationId xmlns:a16="http://schemas.microsoft.com/office/drawing/2014/main" id="{D16FA121-614D-49DB-951A-C48329EE40D7}"/>
              </a:ext>
            </a:extLst>
          </p:cNvPr>
          <p:cNvSpPr>
            <a:spLocks xmlns:a="http://schemas.openxmlformats.org/drawingml/2006/main" noGrp="1"/>
          </p:cNvSpPr>
          <p:nvPr/>
        </p:nvSpPr>
        <p:spPr>
          <a:xfrm xmlns:a="http://schemas.openxmlformats.org/drawingml/2006/main">
            <a:off x="609600" y="1971675"/>
            <a:ext cx="5124450" cy="3097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OpenAI GPT-6, accessed through Codex.</a:t>
            </a:r>
          </a:p>
        </p:txBody>
      </p:sp>
      <p:sp>
        <p:nvSpPr>
          <p:cNvPr id="5" name="How AI was used">
            <a:extLst xmlns:a="http://schemas.openxmlformats.org/drawingml/2006/main">
              <a:ext uri="{FF2B5EF4-FFF2-40B4-BE49-F238E27FC236}">
                <a16:creationId xmlns:a16="http://schemas.microsoft.com/office/drawing/2014/main" id="{28BC5847-4700-4E20-8339-DBBA8D567862}"/>
              </a:ext>
            </a:extLst>
          </p:cNvPr>
          <p:cNvSpPr>
            <a:spLocks xmlns:a="http://schemas.openxmlformats.org/drawingml/2006/main" noGrp="1"/>
          </p:cNvSpPr>
          <p:nvPr/>
        </p:nvSpPr>
        <p:spPr>
          <a:xfrm xmlns:a="http://schemas.openxmlformats.org/drawingml/2006/main">
            <a:off x="641985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How AI was used</a:t>
            </a:r>
          </a:p>
        </p:txBody>
      </p:sp>
      <p:sp>
        <p:nvSpPr>
          <p:cNvPr id="6" name="Research and source checks; drafting and revision of ex">
            <a:extLst xmlns:a="http://schemas.openxmlformats.org/drawingml/2006/main">
              <a:ext uri="{FF2B5EF4-FFF2-40B4-BE49-F238E27FC236}">
                <a16:creationId xmlns:a16="http://schemas.microsoft.com/office/drawing/2014/main" id="{269702E2-9131-4BF1-B5AC-8E3E93F17EE3}"/>
              </a:ext>
            </a:extLst>
          </p:cNvPr>
          <p:cNvSpPr>
            <a:spLocks xmlns:a="http://schemas.openxmlformats.org/drawingml/2006/main" noGrp="1"/>
          </p:cNvSpPr>
          <p:nvPr/>
        </p:nvSpPr>
        <p:spPr>
          <a:xfrm xmlns:a="http://schemas.openxmlformats.org/drawingml/2006/main">
            <a:off x="6419850" y="1971675"/>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Research and source checks; drafting and revision</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of explanations and CUDA teaching examples;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creation of diagrams and charts; presentation</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formatting and assembly.</a:t>
            </a:r>
          </a:p>
        </p:txBody>
      </p:sp>
      <p:sp>
        <p:nvSpPr>
          <p:cNvPr id="7" name="">
            <a:extLst xmlns:a="http://schemas.openxmlformats.org/drawingml/2006/main">
              <a:ext uri="{FF2B5EF4-FFF2-40B4-BE49-F238E27FC236}">
                <a16:creationId xmlns:a16="http://schemas.microsoft.com/office/drawing/2014/main" id="{558819CE-8E93-4B5C-A988-B1DEB0B36A40}"/>
              </a:ext>
            </a:extLst>
          </p:cNvPr>
          <p:cNvSpPr>
            <a:spLocks xmlns:a="http://schemas.openxmlformats.org/drawingml/2006/main" noGrp="1"/>
          </p:cNvSpPr>
          <p:nvPr/>
        </p:nvSpPr>
        <p:spPr>
          <a:xfrm xmlns:a="http://schemas.openxmlformats.org/drawingml/2006/main">
            <a:off x="6086475" y="1543050"/>
            <a:ext cx="9525"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8" name="">
            <a:extLst xmlns:a="http://schemas.openxmlformats.org/drawingml/2006/main">
              <a:ext uri="{FF2B5EF4-FFF2-40B4-BE49-F238E27FC236}">
                <a16:creationId xmlns:a16="http://schemas.microsoft.com/office/drawing/2014/main" id="{1CCB0BC6-62A9-4CF8-94B8-046E3E38AE54}"/>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9" name="FIT3143 Applied 2">
            <a:extLst xmlns:a="http://schemas.openxmlformats.org/drawingml/2006/main">
              <a:ext uri="{FF2B5EF4-FFF2-40B4-BE49-F238E27FC236}">
                <a16:creationId xmlns:a16="http://schemas.microsoft.com/office/drawing/2014/main" id="{7490AF57-AF84-4BA8-B416-B602372ECE10}"/>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FIT3143 Applied 2</a:t>
            </a:r>
          </a:p>
        </p:txBody>
      </p:sp>
      <p:sp>
        <p:nvSpPr>
          <p:cNvPr id="10" name="28 / 28">
            <a:extLst xmlns:a="http://schemas.openxmlformats.org/drawingml/2006/main">
              <a:ext uri="{FF2B5EF4-FFF2-40B4-BE49-F238E27FC236}">
                <a16:creationId xmlns:a16="http://schemas.microsoft.com/office/drawing/2014/main" id="{2493011C-D3A9-4591-ADF8-2CB12FB383FE}"/>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28 / 28</a:t>
            </a:r>
          </a:p>
        </p:txBody>
      </p:sp>
    </p:spTree>
    <p:extLst>
      <p:ext uri="{BB962C8B-B14F-4D97-AF65-F5344CB8AC3E}">
        <p14:creationId xmlns:p14="http://schemas.microsoft.com/office/powerpoint/2010/main" val="11234194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2026-10-08T14:31:02.1430000Z</dcterms:created>
  <dcterms:modified xsi:type="dcterms:W3CDTF">2026-10-08T14:31:02.1430000Z</dcterms:modified>
</coreProperties>
</file>