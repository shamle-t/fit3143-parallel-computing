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1217e30c0094968" /><Relationship Type="http://schemas.openxmlformats.org/officeDocument/2006/relationships/extended-properties" Target="/docProps/app.xml" Id="Rcc2a7b640450405e" /><Relationship Type="http://schemas.openxmlformats.org/officeDocument/2006/relationships/officeDocument" Target="/ppt/presentation.xml" Id="R154124a69a564ad3" /></Relationships>
</file>

<file path=ppt/presentation.xml><?xml version="1.0" encoding="utf-8"?>
<p:presentation xmlns:p="http://schemas.openxmlformats.org/presentationml/2006/main">
  <p:sldMasterIdLst>
    <p:sldMasterId xmlns:r="http://schemas.openxmlformats.org/officeDocument/2006/relationships" id="2147483648" r:id="R5d17eebf10064fee"/>
  </p:sldMasterIdLst>
  <p:notesMasterIdLst>
    <p:notesMasterId xmlns:r="http://schemas.openxmlformats.org/officeDocument/2006/relationships" r:id="R01851f7dd69d4629"/>
  </p:notesMasterIdLst>
  <p:sldIdLst>
    <p:sldId xmlns:r="http://schemas.openxmlformats.org/officeDocument/2006/relationships" id="256" r:id="Raac4d646f7a8461c"/>
    <p:sldId xmlns:r="http://schemas.openxmlformats.org/officeDocument/2006/relationships" id="257" r:id="R784b3cef6ad04a90"/>
    <p:sldId xmlns:r="http://schemas.openxmlformats.org/officeDocument/2006/relationships" id="258" r:id="R7538ecf0a1cc437d"/>
    <p:sldId xmlns:r="http://schemas.openxmlformats.org/officeDocument/2006/relationships" id="259" r:id="Rbc2b96dc039f405f"/>
    <p:sldId xmlns:r="http://schemas.openxmlformats.org/officeDocument/2006/relationships" id="260" r:id="Ra58f3a5451cd49c6"/>
    <p:sldId xmlns:r="http://schemas.openxmlformats.org/officeDocument/2006/relationships" id="261" r:id="R8e10105743664d77"/>
    <p:sldId xmlns:r="http://schemas.openxmlformats.org/officeDocument/2006/relationships" id="262" r:id="Ra555aae85b184b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77bf5bf2b54475" /><Relationship Type="http://schemas.openxmlformats.org/officeDocument/2006/relationships/slideMaster" Target="/ppt/slideMasters/slideMaster1.xml" Id="R5d17eebf10064fee" /><Relationship Type="http://schemas.openxmlformats.org/officeDocument/2006/relationships/notesMaster" Target="/ppt/notesMasters/notesMaster1.xml" Id="R01851f7dd69d4629" /><Relationship Type="http://schemas.openxmlformats.org/officeDocument/2006/relationships/presProps" Target="/ppt/presProps.xml" Id="R267c5f02b740485c" /><Relationship Type="http://schemas.openxmlformats.org/officeDocument/2006/relationships/tableStyles" Target="/ppt/tableStyles.xml" Id="R0f56480f75064d0d" /><Relationship Type="http://schemas.openxmlformats.org/officeDocument/2006/relationships/slide" Target="/ppt/slides/slide1.xml" Id="Raac4d646f7a8461c" /><Relationship Type="http://schemas.openxmlformats.org/officeDocument/2006/relationships/slide" Target="/ppt/slides/slide2.xml" Id="R784b3cef6ad04a90" /><Relationship Type="http://schemas.openxmlformats.org/officeDocument/2006/relationships/slide" Target="/ppt/slides/slide3.xml" Id="R7538ecf0a1cc437d" /><Relationship Type="http://schemas.openxmlformats.org/officeDocument/2006/relationships/slide" Target="/ppt/slides/slide4.xml" Id="Rbc2b96dc039f405f" /><Relationship Type="http://schemas.openxmlformats.org/officeDocument/2006/relationships/slide" Target="/ppt/slides/slide5.xml" Id="Ra58f3a5451cd49c6" /><Relationship Type="http://schemas.openxmlformats.org/officeDocument/2006/relationships/slide" Target="/ppt/slides/slide6.xml" Id="R8e10105743664d77" /><Relationship Type="http://schemas.openxmlformats.org/officeDocument/2006/relationships/slide" Target="/ppt/slides/slide7.xml" Id="Ra555aae85b184b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5f83aeb2344c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012440bc2049ad" /><Relationship Type="http://schemas.openxmlformats.org/officeDocument/2006/relationships/notesMaster" Target="/ppt/notesMasters/notesMaster1.xml" Id="R1ffa378dc7764f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d7861c49314c9a" /><Relationship Type="http://schemas.openxmlformats.org/officeDocument/2006/relationships/notesMaster" Target="/ppt/notesMasters/notesMaster1.xml" Id="R91416939d8974a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518d8a24a6413a" /><Relationship Type="http://schemas.openxmlformats.org/officeDocument/2006/relationships/notesMaster" Target="/ppt/notesMasters/notesMaster1.xml" Id="R9229d4707a9641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b556a019184269" /><Relationship Type="http://schemas.openxmlformats.org/officeDocument/2006/relationships/notesMaster" Target="/ppt/notesMasters/notesMaster1.xml" Id="R5a00b1dd1bb24a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4ff2e72fd9415a" /><Relationship Type="http://schemas.openxmlformats.org/officeDocument/2006/relationships/notesMaster" Target="/ppt/notesMasters/notesMaster1.xml" Id="R24073b02afc444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6a363a3a244883" /><Relationship Type="http://schemas.openxmlformats.org/officeDocument/2006/relationships/notesMaster" Target="/ppt/notesMasters/notesMaster1.xml" Id="Ra5467942214c41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5f6de0694e49c8" /><Relationship Type="http://schemas.openxmlformats.org/officeDocument/2006/relationships/notesMaster" Target="/ppt/notesMasters/notesMaster1.xml" Id="R5b247f9dfbf649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2 MAIN SLIDE. Suggested speaking time: 40 seconds.</a:t>
            </a:r>
          </a:p>
          <a:p xmlns:a="http://schemas.openxmlformats.org/drawingml/2006/main">
            <a:r>
              <a:t/>
            </a:r>
          </a:p>
          <a:p xmlns:a="http://schemas.openxmlformats.org/drawingml/2006/main">
            <a:r>
              <a:t>SPEAKER SCRIPT</a:t>
            </a:r>
          </a:p>
          <a:p xmlns:a="http://schemas.openxmlformats.org/drawingml/2006/main">
            <a:r>
              <a:t>We've seen how one GPU divides an image into parallel work. HPC takes that idea across many processors, with fast networks and storage. In data-parallel AI training, each GPU holds the same model but processes different examples. They synchronise gradients before updating it. Larger models can also split layers across GPUs. This increases capacity, but communication means doubling the GPUs won't necessarily halve the runtime. The ethical question is who benefits from that scale, and who pays for it.</a:t>
            </a:r>
          </a:p>
          <a:p xmlns:a="http://schemas.openxmlformats.org/drawingml/2006/main">
            <a:r>
              <a:t/>
            </a:r>
          </a:p>
          <a:p xmlns:a="http://schemas.openxmlformats.org/drawingml/2006/main">
            <a:r>
              <a:t>SOURCES</a:t>
            </a:r>
          </a:p>
          <a:p xmlns:a="http://schemas.openxmlformats.org/drawingml/2006/main">
            <a:r>
              <a:t>[11] NVIDIA, Megatron Core Parallelism Strategies Guide, 2026 documentation. [Online]. Available: https://docs.nvidia.com/megatron-core/developer-guide/latest/user-guide/parallelism-guide.html. Accessed 6 October 2026. Primary technical documentation for data, tensor and pipeline parallelism and communication considerations.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2 MAIN SLIDE. Suggested speaking time: 65 seconds.</a:t>
            </a:r>
          </a:p>
          <a:p xmlns:a="http://schemas.openxmlformats.org/drawingml/2006/main">
            <a:r>
              <a:t/>
            </a:r>
          </a:p>
          <a:p xmlns:a="http://schemas.openxmlformats.org/drawingml/2006/main">
            <a:r>
              <a:t>SPEAKER SCRIPT</a:t>
            </a:r>
          </a:p>
          <a:p xmlns:a="http://schemas.openxmlformats.org/drawingml/2006/main">
            <a:r>
              <a:t>The environmental impact is our main focus. According to the IEA's 2026 report, all data centres used an estimated four hundred and eighty-five terawatt-hours in 2025. Its 2030 projection is nine hundred and fifty: roughly ninety-six percent more. That's the whole sector, including AI and other workloads, and the future bar is a forecast. On the right, electricity use grew seventeen percent across all data centres in 2025, versus fifty percent for the AI-focused subset. Those groups overlap, so we can't add the rates. Efficiency per task can improve while total demand grows, because usage grows faster. The actual harm also depends on the electricity source and local cooling-water pressure. A faster training run alone doesn't tell us its total energy or emissions.</a:t>
            </a:r>
          </a:p>
          <a:p xmlns:a="http://schemas.openxmlformats.org/drawingml/2006/main">
            <a:r>
              <a:t/>
            </a:r>
          </a:p>
          <a:p xmlns:a="http://schemas.openxmlformats.org/drawingml/2006/main">
            <a:r>
              <a:t>SOURCES</a:t>
            </a:r>
          </a:p>
          <a:p xmlns:a="http://schemas.openxmlformats.org/drawingml/2006/main">
            <a:r>
              <a:t>[12] IEA, Key Questions on Energy and AI, Executive summary, 2026. [Online]. Available: https://www.iea.org/reports/key-questions-on-energy-and-ai/executive-summary. Accessed 6 October 2026. Published 16 April 2026. Reports 485 TWh in 2025, projects 950 TWh in 2030, and gives 17% and 50% electricity-demand growth figures for 2025. CC BY 4.0.</a:t>
            </a:r>
          </a:p>
          <a:p xmlns:a="http://schemas.openxmlformats.org/drawingml/2006/main">
            <a:r>
              <a:t/>
            </a:r>
          </a:p>
          <a:p xmlns:a="http://schemas.openxmlformats.org/drawingml/2006/main">
            <a:r>
              <a:t>[13] IEA, Data centre electricity use surged in 2025, 2026. [Online]. Available: https://www.iea.org/news/data-centre-electricity-use-surged-in-2025-even-with-tightening-bottlenecks-driving-a-scramble-for-solutions. Accessed 6 October 2026. 16 April 2026 press release. Explains efficiency, growing AI use, grid bottlenecks and affordability considerations.</a:t>
            </a:r>
          </a:p>
          <a:p xmlns:a="http://schemas.openxmlformats.org/drawingml/2006/main">
            <a:r>
              <a:t/>
            </a:r>
          </a:p>
          <a:p xmlns:a="http://schemas.openxmlformats.org/drawingml/2006/main">
            <a:r>
              <a:t>[18] P. Li et al., Making AI Less Thirsty, 2023 preprint. [Online]. Available: https://arxiv.org/abs/2304.03271. Accessed 6 October 2026. Primary research on water withdrawal/consumption and the spatial and temporal variation of AI water footprints. Used qualitatively, without presenting its model-specific numerical estimates as universal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2 MAIN SLIDE. Suggested speaking time: 35 seconds.</a:t>
            </a:r>
          </a:p>
          <a:p xmlns:a="http://schemas.openxmlformats.org/drawingml/2006/main">
            <a:r>
              <a:t/>
            </a:r>
          </a:p>
          <a:p xmlns:a="http://schemas.openxmlformats.org/drawingml/2006/main">
            <a:r>
              <a:t>SPEAKER SCRIPT</a:t>
            </a:r>
          </a:p>
          <a:p xmlns:a="http://schemas.openxmlformats.org/drawingml/2006/main">
            <a:r>
              <a:t>Scaling also raises privacy, fairness and access questions. Research has shown that exposed gradients can reveal training data under some conditions. So distributing work doesn't automatically protect privacy, and more compute doesn't remove dataset bias. Expensive clusters also shape who can do research. Historical compute-divide research describes that concentration; NAIRR offers a current US response, supporting over six hundred teams and six thousand students. Shared capacity helps, but doesn't prove equal access worldwide.</a:t>
            </a:r>
          </a:p>
          <a:p xmlns:a="http://schemas.openxmlformats.org/drawingml/2006/main">
            <a:r>
              <a:t/>
            </a:r>
          </a:p>
          <a:p xmlns:a="http://schemas.openxmlformats.org/drawingml/2006/main">
            <a:r>
              <a:t>SOURCES</a:t>
            </a:r>
          </a:p>
          <a:p xmlns:a="http://schemas.openxmlformats.org/drawingml/2006/main">
            <a:r>
              <a:t>[14] OECD, AI Principles, Updated 2024. [Online]. Available: https://www.oecd.org/en/topics/ai-principles.html. Accessed 6 October 2026. Fairness, privacy, transparency, robustness and accountability as policy goals.</a:t>
            </a:r>
          </a:p>
          <a:p xmlns:a="http://schemas.openxmlformats.org/drawingml/2006/main">
            <a:r>
              <a:t/>
            </a:r>
          </a:p>
          <a:p xmlns:a="http://schemas.openxmlformats.org/drawingml/2006/main">
            <a:r>
              <a:t>[15] NIST, AI Risk Management Framework 1.0 Playbook, 2023 framework; current online playbook. [Online]. Available: https://airc.nist.gov/airmf-resources/playbook/. Accessed 6 October 2026. Voluntary suggested actions aligned with Govern, Map, Measure and Manage. The online resource notes that the framework is being updated.</a:t>
            </a:r>
          </a:p>
          <a:p xmlns:a="http://schemas.openxmlformats.org/drawingml/2006/main">
            <a:r>
              <a:t/>
            </a:r>
          </a:p>
          <a:p xmlns:a="http://schemas.openxmlformats.org/drawingml/2006/main">
            <a:r>
              <a:t>[16] NSF, NAIRR at 2 years, 2026. [Online]. Available: https://www.nsf.gov/cise/updates/nairr-2-years-advancing-american-artificial-intelligence. Accessed 6 October 2026. 19 March 2026. More than 600 teams and 6,000 students supported since 2024. A US access initiative, not a global participation statistic.</a:t>
            </a:r>
          </a:p>
          <a:p xmlns:a="http://schemas.openxmlformats.org/drawingml/2006/main">
            <a:r>
              <a:t/>
            </a:r>
          </a:p>
          <a:p xmlns:a="http://schemas.openxmlformats.org/drawingml/2006/main">
            <a:r>
              <a:t>[20] N. Ahmed and M. Wahed, The De-democratization of AI, 2020 research preprint. [Online]. Available: https://arxiv.org/abs/2010.15581. Accessed 6 October 2026. Studies conference participation and the compute divide. Historical evidence from its dataset, not a 2026 global access census.</a:t>
            </a:r>
          </a:p>
          <a:p xmlns:a="http://schemas.openxmlformats.org/drawingml/2006/main">
            <a:r>
              <a:t/>
            </a:r>
          </a:p>
          <a:p xmlns:a="http://schemas.openxmlformats.org/drawingml/2006/main">
            <a:r>
              <a:t>[21] I. O. Gallegos et al., Bias and Fairness in Large Language Models: A Survey, 2024 revised survey; Computational Linguistics. [Online]. Available: https://arxiv.org/abs/2309.00770. Accessed 6 October 2026. Separates fairness metrics, evaluation datasets and mitigation stages. Fairness must be evaluated for specific harms and groups.</a:t>
            </a:r>
          </a:p>
          <a:p xmlns:a="http://schemas.openxmlformats.org/drawingml/2006/main">
            <a:r>
              <a:t/>
            </a:r>
          </a:p>
          <a:p xmlns:a="http://schemas.openxmlformats.org/drawingml/2006/main">
            <a:r>
              <a:t>[22] L. Zhu, Z. Liu and S. Han, Deep Leakage from Gradients, 2019 research paper. [Online]. Available: https://arxiv.org/abs/1906.08935. Accessed 6 October 2026. Demonstrates input reconstruction from shared gradients under experimental conditions. Does not show that every production all-reduce is compromised.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2 MAIN SLIDE. Suggested speaking time: 40 seconds.</a:t>
            </a:r>
          </a:p>
          <a:p xmlns:a="http://schemas.openxmlformats.org/drawingml/2006/main">
            <a:r>
              <a:t/>
            </a:r>
          </a:p>
          <a:p xmlns:a="http://schemas.openxmlformats.org/drawingml/2006/main">
            <a:r>
              <a:t>SPEAKER SCRIPT</a:t>
            </a:r>
          </a:p>
          <a:p xmlns:a="http://schemas.openxmlformats.org/drawingml/2006/main">
            <a:r>
              <a:t>Our proposal combines performance targets with an energy budget. Green AI argues that efficiency should be evaluated alongside accuracy. Carbon-aware scheduling can move flexible jobs to cleaner periods, although urgent jobs can't always wait. OECD principles and NIST's risk framework guide privacy, fairness and accountability. We would also publish clear allocation rules. Next, measure a real training job's energy, scaling efficiency and useful output. These charts show sector trends, not that job's footprint. Responsible HPC means checking benefits against resource costs and who bears them. Thank you; we're happy to take questions.</a:t>
            </a:r>
          </a:p>
          <a:p xmlns:a="http://schemas.openxmlformats.org/drawingml/2006/main">
            <a:r>
              <a:t/>
            </a:r>
          </a:p>
          <a:p xmlns:a="http://schemas.openxmlformats.org/drawingml/2006/main">
            <a:r>
              <a:t>SOURCES</a:t>
            </a:r>
          </a:p>
          <a:p xmlns:a="http://schemas.openxmlformats.org/drawingml/2006/main">
            <a:r>
              <a:t>[14] OECD, AI Principles, Updated 2024. [Online]. Available: https://www.oecd.org/en/topics/ai-principles.html. Accessed 6 October 2026. Fairness, privacy, transparency, robustness and accountability as policy goals.</a:t>
            </a:r>
          </a:p>
          <a:p xmlns:a="http://schemas.openxmlformats.org/drawingml/2006/main">
            <a:r>
              <a:t/>
            </a:r>
          </a:p>
          <a:p xmlns:a="http://schemas.openxmlformats.org/drawingml/2006/main">
            <a:r>
              <a:t>[15] NIST, AI Risk Management Framework 1.0 Playbook, 2023 framework; current online playbook. [Online]. Available: https://airc.nist.gov/airmf-resources/playbook/. Accessed 6 October 2026. Voluntary suggested actions aligned with Govern, Map, Measure and Manage. The online resource notes that the framework is being updated.</a:t>
            </a:r>
          </a:p>
          <a:p xmlns:a="http://schemas.openxmlformats.org/drawingml/2006/main">
            <a:r>
              <a:t/>
            </a:r>
          </a:p>
          <a:p xmlns:a="http://schemas.openxmlformats.org/drawingml/2006/main">
            <a:r>
              <a:t>[16] NSF, NAIRR at 2 years, 2026. [Online]. Available: https://www.nsf.gov/cise/updates/nairr-2-years-advancing-american-artificial-intelligence. Accessed 6 October 2026. 19 March 2026. More than 600 teams and 6,000 students supported since 2024. A US access initiative, not a global participation statistic.</a:t>
            </a:r>
          </a:p>
          <a:p xmlns:a="http://schemas.openxmlformats.org/drawingml/2006/main">
            <a:r>
              <a:t/>
            </a:r>
          </a:p>
          <a:p xmlns:a="http://schemas.openxmlformats.org/drawingml/2006/main">
            <a:r>
              <a:t>[17] A. Radovanovic et al., Carbon-Aware Computing for Datacenters, 2021. [Online]. Available: https://arxiv.org/abs/2106.11750. Accessed 6 October 2026. Primary research describing Google's scheduling of temporally flexible workloads using carbon-intensity forecasts while preserving daily capacity.</a:t>
            </a:r>
          </a:p>
          <a:p xmlns:a="http://schemas.openxmlformats.org/drawingml/2006/main">
            <a:r>
              <a:t/>
            </a:r>
          </a:p>
          <a:p xmlns:a="http://schemas.openxmlformats.org/drawingml/2006/main">
            <a:r>
              <a:t>[18] P. Li et al., Making AI Less Thirsty, 2023 preprint. [Online]. Available: https://arxiv.org/abs/2304.03271. Accessed 6 October 2026. Primary research on water withdrawal/consumption and the spatial and temporal variation of AI water footprints. Used qualitatively, without presenting its model-specific numerical estimates as universal measurements.</a:t>
            </a:r>
          </a:p>
          <a:p xmlns:a="http://schemas.openxmlformats.org/drawingml/2006/main">
            <a:r>
              <a:t/>
            </a:r>
          </a:p>
          <a:p xmlns:a="http://schemas.openxmlformats.org/drawingml/2006/main">
            <a:r>
              <a:t>[19] R. Schwartz et al., Green AI, 2019 position paper. [Online]. Available: https://arxiv.org/abs/1907.10597. Accessed 6 October 2026. Proposes evaluating efficiency and reporting financial cost alongside accuracy. Use as a policy argument, not a current electricity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NVIDIA, Megatron Core Parallelism Strategies Guide, 2026 documentation. [Online]. Available: https://docs.nvidia.com/megatron-core/developer-guide/latest/user-guide/parallelism-guide.html. Accessed: 6 October 2026. Primary technical documentation for data, tensor and pipeline parallelism and communication considerations.</a:t>
            </a:r>
          </a:p>
          <a:p xmlns:a="http://schemas.openxmlformats.org/drawingml/2006/main">
            <a:r>
              <a:t/>
            </a:r>
          </a:p>
          <a:p xmlns:a="http://schemas.openxmlformats.org/drawingml/2006/main">
            <a:r>
              <a:t>[12] IEA, Key Questions on Energy and AI, Executive summary, 2026. [Online]. Available: https://www.iea.org/reports/key-questions-on-energy-and-ai/executive-summary. Accessed: 6 October 2026. Published 16 April 2026. Reports 485 TWh in 2025, projects 950 TWh in 2030, and gives 17% and 50% electricity-demand growth figures for 2025. CC BY 4.0.</a:t>
            </a:r>
          </a:p>
          <a:p xmlns:a="http://schemas.openxmlformats.org/drawingml/2006/main">
            <a:r>
              <a:t/>
            </a:r>
          </a:p>
          <a:p xmlns:a="http://schemas.openxmlformats.org/drawingml/2006/main">
            <a:r>
              <a:t>[13] IEA, Data centre electricity use surged in 2025, 2026. [Online]. Available: https://www.iea.org/news/data-centre-electricity-use-surged-in-2025-even-with-tightening-bottlenecks-driving-a-scramble-for-solutions. Accessed: 6 October 2026. 16 April 2026 press release. Explains efficiency, growing AI use, grid bottlenecks and affordability considerations.</a:t>
            </a:r>
          </a:p>
          <a:p xmlns:a="http://schemas.openxmlformats.org/drawingml/2006/main">
            <a:r>
              <a:t/>
            </a:r>
          </a:p>
          <a:p xmlns:a="http://schemas.openxmlformats.org/drawingml/2006/main">
            <a:r>
              <a:t>[14] OECD, AI Principles, Updated 2024. [Online]. Available: https://www.oecd.org/en/topics/ai-principles.html. Accessed: 6 October 2026. Fairness, privacy, transparency, robustness and accountability as policy goals.</a:t>
            </a:r>
          </a:p>
          <a:p xmlns:a="http://schemas.openxmlformats.org/drawingml/2006/main">
            <a:r>
              <a:t/>
            </a:r>
          </a:p>
          <a:p xmlns:a="http://schemas.openxmlformats.org/drawingml/2006/main">
            <a:r>
              <a:t>AI declaration and preparation prompt records are included in the companion PDF. The charts use cited source values, not local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NIST, AI Risk Management Framework 1.0 Playbook, 2023 framework; current online playbook. [Online]. Available: https://airc.nist.gov/airmf-resources/playbook/. Accessed: 6 October 2026. Voluntary suggested actions aligned with Govern, Map, Measure and Manage. The online resource notes that the framework is being updated.</a:t>
            </a:r>
          </a:p>
          <a:p xmlns:a="http://schemas.openxmlformats.org/drawingml/2006/main">
            <a:r>
              <a:t/>
            </a:r>
          </a:p>
          <a:p xmlns:a="http://schemas.openxmlformats.org/drawingml/2006/main">
            <a:r>
              <a:t>[16] NSF, NAIRR at 2 years, 2026. [Online]. Available: https://www.nsf.gov/cise/updates/nairr-2-years-advancing-american-artificial-intelligence. Accessed: 6 October 2026. 19 March 2026. More than 600 teams and 6,000 students supported since 2024. A US access initiative, not a global participation statistic.</a:t>
            </a:r>
          </a:p>
          <a:p xmlns:a="http://schemas.openxmlformats.org/drawingml/2006/main">
            <a:r>
              <a:t/>
            </a:r>
          </a:p>
          <a:p xmlns:a="http://schemas.openxmlformats.org/drawingml/2006/main">
            <a:r>
              <a:t>[17] A. Radovanovic et al., Carbon-Aware Computing for Datacenters, 2021. [Online]. Available: https://arxiv.org/abs/2106.11750. Accessed: 6 October 2026. Primary research describing Google's scheduling of temporally flexible workloads using carbon-intensity forecasts while preserving daily capacity.</a:t>
            </a:r>
          </a:p>
          <a:p xmlns:a="http://schemas.openxmlformats.org/drawingml/2006/main">
            <a:r>
              <a:t/>
            </a:r>
          </a:p>
          <a:p xmlns:a="http://schemas.openxmlformats.org/drawingml/2006/main">
            <a:r>
              <a:t>[18] P. Li et al., Making AI Less Thirsty, 2023 preprint. [Online]. Available: https://arxiv.org/abs/2304.03271. Accessed: 6 October 2026. Primary research on water withdrawal/consumption and the spatial and temporal variation of AI water footprints. Used qualitatively, without presenting its model-specific numerical estimates as universal measurements.</a:t>
            </a:r>
          </a:p>
          <a:p xmlns:a="http://schemas.openxmlformats.org/drawingml/2006/main">
            <a:r>
              <a:t/>
            </a:r>
          </a:p>
          <a:p xmlns:a="http://schemas.openxmlformats.org/drawingml/2006/main">
            <a:r>
              <a:t>AI declaration and preparation prompt records are included in the companion PDF. The charts use cited source values, not local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 R. Schwartz et al., Green AI, 2019 position paper. [Online]. Available: https://arxiv.org/abs/1907.10597. Accessed: 6 October 2026. Proposes evaluating efficiency and reporting financial cost alongside accuracy. Use as a policy argument, not a current electricity forecast.</a:t>
            </a:r>
          </a:p>
          <a:p xmlns:a="http://schemas.openxmlformats.org/drawingml/2006/main">
            <a:r>
              <a:t/>
            </a:r>
          </a:p>
          <a:p xmlns:a="http://schemas.openxmlformats.org/drawingml/2006/main">
            <a:r>
              <a:t>[20] N. Ahmed and M. Wahed, The De-democratization of AI, 2020 research preprint. [Online]. Available: https://arxiv.org/abs/2010.15581. Accessed: 6 October 2026. Studies conference participation and the compute divide. Historical evidence from its dataset, not a 2026 global access census.</a:t>
            </a:r>
          </a:p>
          <a:p xmlns:a="http://schemas.openxmlformats.org/drawingml/2006/main">
            <a:r>
              <a:t/>
            </a:r>
          </a:p>
          <a:p xmlns:a="http://schemas.openxmlformats.org/drawingml/2006/main">
            <a:r>
              <a:t>[21] I. O. Gallegos et al., Bias and Fairness in Large Language Models: A Survey, 2024 revised survey; Computational Linguistics. [Online]. Available: https://arxiv.org/abs/2309.00770. Accessed: 6 October 2026. Separates fairness metrics, evaluation datasets and mitigation stages. Fairness must be evaluated for specific harms and groups.</a:t>
            </a:r>
          </a:p>
          <a:p xmlns:a="http://schemas.openxmlformats.org/drawingml/2006/main">
            <a:r>
              <a:t/>
            </a:r>
          </a:p>
          <a:p xmlns:a="http://schemas.openxmlformats.org/drawingml/2006/main">
            <a:r>
              <a:t>[22] L. Zhu, Z. Liu and S. Han, Deep Leakage from Gradients, 2019 research paper. [Online]. Available: https://arxiv.org/abs/1906.08935. Accessed: 6 October 2026. Demonstrates input reconstruction from shared gradients under experimental conditions. Does not show that every production all-reduce is compromised.</a:t>
            </a:r>
          </a:p>
          <a:p xmlns:a="http://schemas.openxmlformats.org/drawingml/2006/main">
            <a:r>
              <a:t/>
            </a:r>
          </a:p>
          <a:p xmlns:a="http://schemas.openxmlformats.org/drawingml/2006/main">
            <a:r>
              <a:t>AI declaration and preparation prompt records are included in the companion PDF. The charts use cited source values, not local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cb94b17d4245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259266c44b48d0" /><Relationship Type="http://schemas.openxmlformats.org/officeDocument/2006/relationships/slideLayout" Target="/ppt/slideLayouts/slideLayout1.xml" Id="R15b223e7da394c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b223e7da394c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9fe2065f514482" /><Relationship Type="http://schemas.openxmlformats.org/officeDocument/2006/relationships/notesSlide" Target="/ppt/notesSlides/notesSlide1.xml" Id="R8c4f24a072414d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1dc24d670e4d54" /><Relationship Type="http://schemas.openxmlformats.org/officeDocument/2006/relationships/chart" Target="/ppt/slides/charts/chart1.xml" Id="R702e18877e54441d" /><Relationship Type="http://schemas.openxmlformats.org/officeDocument/2006/relationships/chart" Target="/ppt/slides/charts/chart2.xml" Id="R75f68f57afba4f11" /><Relationship Type="http://schemas.openxmlformats.org/officeDocument/2006/relationships/notesSlide" Target="/ppt/notesSlides/notesSlide2.xml" Id="R7d8ff105bd1841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8200b7faa94f5d" /><Relationship Type="http://schemas.openxmlformats.org/officeDocument/2006/relationships/notesSlide" Target="/ppt/notesSlides/notesSlide3.xml" Id="R16bbdd1c953b43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9c63ae96f24527" /><Relationship Type="http://schemas.openxmlformats.org/officeDocument/2006/relationships/notesSlide" Target="/ppt/notesSlides/notesSlide4.xml" Id="Rb98cdd4013074e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a6eb3a42ba4d4d" /><Relationship Type="http://schemas.openxmlformats.org/officeDocument/2006/relationships/notesSlide" Target="/ppt/notesSlides/notesSlide5.xml" Id="R3eb580341cdc4c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55585ea5e54a3e" /><Relationship Type="http://schemas.openxmlformats.org/officeDocument/2006/relationships/notesSlide" Target="/ppt/notesSlides/notesSlide6.xml" Id="R003d736e6f774c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d56b7879e6436d" /><Relationship Type="http://schemas.openxmlformats.org/officeDocument/2006/relationships/notesSlide" Target="/ppt/notesSlides/notesSlide7.xml" Id="Recef93bedf3e495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1">
                <a:solidFill>
                  <a:srgbClr val="142B3F"/>
                </a:solidFill>
                <a:latin typeface="Arial"/>
                <a:ea typeface="Arial"/>
                <a:cs typeface="Arial"/>
              </a:rPr>
              <a:t>Global data-centre electricity</a:t>
            </a:r>
          </a:p>
        </c:rich>
      </c:tx>
      <c:overlay val="0"/>
      <c:txPr>
        <a:bodyPr xmlns:a="http://schemas.openxmlformats.org/drawingml/2006/main" anchorCtr="1"/>
        <a:lstStyle xmlns:a="http://schemas.openxmlformats.org/drawingml/2006/main"/>
        <a:p xmlns:a="http://schemas.openxmlformats.org/drawingml/2006/main">
          <a:pPr>
            <a:defRPr sz="2025" b="1">
              <a:solidFill>
                <a:srgbClr val="142B3F"/>
              </a:solidFill>
              <a:latin typeface="Arial"/>
              <a:ea typeface="Arial"/>
              <a:cs typeface="Arial"/>
            </a:defRPr>
          </a:pPr>
        </a:p>
      </c:txPr>
    </c:title>
    <c:plotArea>
      <c:barChart>
        <c:barDir val="col"/>
        <c:grouping val="clustered"/>
        <c:varyColors val="0"/>
        <c:ser>
          <c:idx val="0"/>
          <c:order val="0"/>
          <c:tx>
            <c:v>Electricity (TWh/year)</c:v>
          </c:tx>
          <c:spPr>
            <a:solidFill xmlns:a="http://schemas.openxmlformats.org/drawingml/2006/main">
              <a:srgbClr val="087E8B"/>
            </a:solidFill>
          </c:spPr>
          <c:dPt>
            <c:idx val="1"/>
            <c:invertIfNegative val="0"/>
            <c:spPr>
              <a:solidFill xmlns:a="http://schemas.openxmlformats.org/drawingml/2006/main">
                <a:srgbClr val="80B7BF"/>
              </a:solidFill>
            </c:spPr>
          </c:dPt>
          <c:cat>
            <c:strRef>
              <c:f>'Chart Data'!$A$2:$A$3</c:f>
              <c:strCache>
                <c:ptCount val="2"/>
                <c:pt idx="0">
                  <c:v>2025 estimate</c:v>
                </c:pt>
                <c:pt idx="1">
                  <c:v>2030 projection</c:v>
                </c:pt>
              </c:strCache>
            </c:strRef>
          </c:cat>
          <c:val>
            <c:numRef>
              <c:f>'Chart Data'!$B$2:$B$3</c:f>
              <c:numCache>
                <c:formatCode>0</c:formatCode>
                <c:ptCount val="2"/>
                <c:pt idx="0">
                  <c:v>485</c:v>
                </c:pt>
                <c:pt idx="1">
                  <c:v>950</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496274"/>
            </a:solidFill>
          </a:ln>
        </c:spPr>
        <c:txPr>
          <a:bodyPr xmlns:a="http://schemas.openxmlformats.org/drawingml/2006/main" anchorCtr="1"/>
          <a:lstStyle xmlns:a="http://schemas.openxmlformats.org/drawingml/2006/main"/>
          <a:p xmlns:a="http://schemas.openxmlformats.org/drawingml/2006/main">
            <a:pPr>
              <a:defRPr sz="1650">
                <a:solidFill>
                  <a:srgbClr val="142B3F"/>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CE9ED"/>
              </a:solidFill>
            </a:ln>
          </c:spPr>
        </c:majorGridlines>
        <c:title>
          <c:tx>
            <c:rich>
              <a:bodyPr xmlns:a="http://schemas.openxmlformats.org/drawingml/2006/main"/>
              <a:lstStyle xmlns:a="http://schemas.openxmlformats.org/drawingml/2006/main"/>
              <a:p xmlns:a="http://schemas.openxmlformats.org/drawingml/2006/main">
                <a:r>
                  <a:rPr sz="1500">
                    <a:solidFill>
                      <a:srgbClr val="142B3F"/>
                    </a:solidFill>
                    <a:latin typeface="Arial"/>
                    <a:ea typeface="Arial"/>
                    <a:cs typeface="Arial"/>
                  </a:rPr>
                  <a:t>TWh/year</a:t>
                </a:r>
              </a:p>
            </c:rich>
          </c:tx>
          <c:overlay val="0"/>
          <c:txPr>
            <a:bodyPr xmlns:a="http://schemas.openxmlformats.org/drawingml/2006/main" anchorCtr="1"/>
            <a:lstStyle xmlns:a="http://schemas.openxmlformats.org/drawingml/2006/main"/>
            <a:p xmlns:a="http://schemas.openxmlformats.org/drawingml/2006/main">
              <a:pPr>
                <a:defRPr sz="1500">
                  <a:solidFill>
                    <a:srgbClr val="142B3F"/>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B3F"/>
                </a:solidFill>
                <a:latin typeface="Arial"/>
                <a:ea typeface="Arial"/>
                <a:cs typeface="Arial"/>
              </a:defRPr>
            </a:pPr>
          </a:p>
        </c:txPr>
        <c:crossAx val="48650112"/>
        <c:crossBetween val="between"/>
        <c:majorUnit val="250"/>
      </c:valAx>
      <c:spPr>
        <a:solidFill xmlns:a="http://schemas.openxmlformats.org/drawingml/2006/main">
          <a:srgbClr val="FAFCFD"/>
        </a:solidFill>
        <a:ln xmlns:a="http://schemas.openxmlformats.org/drawingml/2006/main" w="0">
          <a:noFill/>
        </a:ln>
      </c:spPr>
    </c:plotArea>
    <c:plotVisOnly val="1"/>
  </c:chart>
  <c:spPr>
    <a:solidFill xmlns:a="http://schemas.openxmlformats.org/drawingml/2006/main">
      <a:srgbClr val="FAFCFD"/>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1">
                <a:solidFill>
                  <a:srgbClr val="142B3F"/>
                </a:solidFill>
                <a:latin typeface="Arial"/>
                <a:ea typeface="Arial"/>
                <a:cs typeface="Arial"/>
              </a:rPr>
              <a:t>Electricity-use growth in 2025</a:t>
            </a:r>
          </a:p>
        </c:rich>
      </c:tx>
      <c:overlay val="0"/>
      <c:txPr>
        <a:bodyPr xmlns:a="http://schemas.openxmlformats.org/drawingml/2006/main" anchorCtr="1"/>
        <a:lstStyle xmlns:a="http://schemas.openxmlformats.org/drawingml/2006/main"/>
        <a:p xmlns:a="http://schemas.openxmlformats.org/drawingml/2006/main">
          <a:pPr>
            <a:defRPr sz="2025" b="1">
              <a:solidFill>
                <a:srgbClr val="142B3F"/>
              </a:solidFill>
              <a:latin typeface="Arial"/>
              <a:ea typeface="Arial"/>
              <a:cs typeface="Arial"/>
            </a:defRPr>
          </a:pPr>
        </a:p>
      </c:txPr>
    </c:title>
    <c:plotArea>
      <c:barChart>
        <c:barDir val="col"/>
        <c:grouping val="clustered"/>
        <c:varyColors val="0"/>
        <c:ser>
          <c:idx val="0"/>
          <c:order val="0"/>
          <c:tx>
            <c:v>Year-on-year growth</c:v>
          </c:tx>
          <c:spPr>
            <a:solidFill xmlns:a="http://schemas.openxmlformats.org/drawingml/2006/main">
              <a:srgbClr val="557F9E"/>
            </a:solidFill>
          </c:spPr>
          <c:dPt>
            <c:idx val="1"/>
            <c:invertIfNegative val="0"/>
            <c:spPr>
              <a:solidFill xmlns:a="http://schemas.openxmlformats.org/drawingml/2006/main">
                <a:srgbClr val="087E8B"/>
              </a:solidFill>
            </c:spPr>
          </c:dPt>
          <c:dLbls>
            <c:dLbl>
              <c:idx val="0"/>
              <c:tx>
                <c:rich>
                  <a:bodyPr xmlns:a="http://schemas.openxmlformats.org/drawingml/2006/main"/>
                  <a:lstStyle xmlns:a="http://schemas.openxmlformats.org/drawingml/2006/main"/>
                  <a:p xmlns:a="http://schemas.openxmlformats.org/drawingml/2006/main">
                    <a:r>
                      <a:rPr sz="2025" b="1">
                        <a:solidFill>
                          <a:srgbClr val="142B3F"/>
                        </a:solidFill>
                        <a:latin typeface="Arial"/>
                        <a:ea typeface="Arial"/>
                        <a:cs typeface="Arial"/>
                      </a:rPr>
                      <a:t>17%</a:t>
                    </a:r>
                  </a:p>
                </c:rich>
              </c:tx>
              <c:txPr>
                <a:bodyPr xmlns:a="http://schemas.openxmlformats.org/drawingml/2006/main" anchorCtr="1"/>
                <a:lstStyle xmlns:a="http://schemas.openxmlformats.org/drawingml/2006/main"/>
                <a:p xmlns:a="http://schemas.openxmlformats.org/drawingml/2006/main">
                  <a:pPr>
                    <a:defRPr sz="2025" b="1">
                      <a:solidFill>
                        <a:srgbClr val="142B3F"/>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025" b="1">
                        <a:solidFill>
                          <a:srgbClr val="142B3F"/>
                        </a:solidFill>
                        <a:latin typeface="Arial"/>
                        <a:ea typeface="Arial"/>
                        <a:cs typeface="Arial"/>
                      </a:rPr>
                      <a:t>50%</a:t>
                    </a:r>
                  </a:p>
                </c:rich>
              </c:tx>
              <c:txPr>
                <a:bodyPr xmlns:a="http://schemas.openxmlformats.org/drawingml/2006/main" anchorCtr="1"/>
                <a:lstStyle xmlns:a="http://schemas.openxmlformats.org/drawingml/2006/main"/>
                <a:p xmlns:a="http://schemas.openxmlformats.org/drawingml/2006/main">
                  <a:pPr>
                    <a:defRPr sz="2025" b="1">
                      <a:solidFill>
                        <a:srgbClr val="142B3F"/>
                      </a:solidFill>
                      <a:latin typeface="Arial"/>
                      <a:ea typeface="Arial"/>
                      <a:cs typeface="Arial"/>
                    </a:defRPr>
                  </a:pPr>
                </a:p>
              </c:txPr>
              <c:dLblPos val="outEnd"/>
              <c:showLegendKey val="0"/>
              <c:showVal val="0"/>
              <c:showCatName val="0"/>
              <c:showSerName val="0"/>
              <c:showPercent val="0"/>
              <c:showBubbleSize val="0"/>
            </c:dLbl>
          </c:dLbls>
          <c:cat>
            <c:strRef>
              <c:f>'Chart Data'!$A$2:$A$3</c:f>
              <c:strCache>
                <c:ptCount val="2"/>
                <c:pt idx="0">
                  <c:v>All data centres</c:v>
                </c:pt>
                <c:pt idx="1">
                  <c:v>AI-focused subset</c:v>
                </c:pt>
              </c:strCache>
            </c:strRef>
          </c:cat>
          <c:val>
            <c:numRef>
              <c:f>'Chart Data'!$B$2:$B$3</c:f>
              <c:numCache>
                <c:formatCode>0%</c:formatCode>
                <c:ptCount val="2"/>
                <c:pt idx="0">
                  <c:v>0.17</c:v>
                </c:pt>
                <c:pt idx="1">
                  <c:v>0.5</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496274"/>
            </a:solidFill>
          </a:ln>
        </c:spPr>
        <c:txPr>
          <a:bodyPr xmlns:a="http://schemas.openxmlformats.org/drawingml/2006/main" anchorCtr="1"/>
          <a:lstStyle xmlns:a="http://schemas.openxmlformats.org/drawingml/2006/main"/>
          <a:p xmlns:a="http://schemas.openxmlformats.org/drawingml/2006/main">
            <a:pPr>
              <a:defRPr sz="1650">
                <a:solidFill>
                  <a:srgbClr val="142B3F"/>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DCE9E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B3F"/>
                </a:solidFill>
                <a:latin typeface="Arial"/>
                <a:ea typeface="Arial"/>
                <a:cs typeface="Arial"/>
              </a:defRPr>
            </a:pPr>
          </a:p>
        </c:txPr>
        <c:crossAx val="48650112"/>
        <c:crossBetween val="between"/>
        <c:majorUnit val="0.2"/>
      </c:valAx>
      <c:spPr>
        <a:solidFill xmlns:a="http://schemas.openxmlformats.org/drawingml/2006/main">
          <a:srgbClr val="FAFCFD"/>
        </a:solidFill>
        <a:ln xmlns:a="http://schemas.openxmlformats.org/drawingml/2006/main" w="0">
          <a:noFill/>
        </a:ln>
      </c:spPr>
    </c:plotArea>
    <c:plotVisOnly val="1"/>
  </c:chart>
  <c:spPr>
    <a:solidFill xmlns:a="http://schemas.openxmlformats.org/drawingml/2006/main">
      <a:srgbClr val="FAFCFD"/>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7" name="task2-text-1">
            <a:extLst xmlns:a="http://schemas.openxmlformats.org/drawingml/2006/main">
              <a:ext uri="{FF2B5EF4-FFF2-40B4-BE49-F238E27FC236}">
                <a16:creationId xmlns:a16="http://schemas.microsoft.com/office/drawing/2014/main" id="{FC874286-3521-4C45-AB3E-67CA622E2F83}"/>
              </a:ext>
            </a:extLst>
          </p:cNvPr>
          <p:cNvSpPr>
            <a:spLocks xmlns:a="http://schemas.openxmlformats.org/drawingml/2006/main" noGrp="1"/>
          </p:cNvSpPr>
          <p:nvPr/>
        </p:nvSpPr>
        <p:spPr>
          <a:xfrm xmlns:a="http://schemas.openxmlformats.org/drawingml/2006/main">
            <a:off x="571500" y="457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B3F"/>
                </a:solidFill>
                <a:latin typeface="Arial"/>
                <a:ea typeface="Arial"/>
                <a:cs typeface="Arial"/>
              </a:defRPr>
            </a:pPr>
            <a:r>
              <a:rPr sz="3300" b="1">
                <a:solidFill>
                  <a:srgbClr val="142B3F"/>
                </a:solidFill>
                <a:latin typeface="Arial"/>
                <a:ea typeface="Arial"/>
                <a:cs typeface="Arial"/>
              </a:rPr>
              <a:t>HPC, parallel computing and AI</a:t>
            </a:r>
          </a:p>
        </p:txBody>
      </p:sp>
      <p:sp>
        <p:nvSpPr>
          <p:cNvPr id="2" name="task2-text-2">
            <a:extLst xmlns:a="http://schemas.openxmlformats.org/drawingml/2006/main">
              <a:ext uri="{FF2B5EF4-FFF2-40B4-BE49-F238E27FC236}">
                <a16:creationId xmlns:a16="http://schemas.microsoft.com/office/drawing/2014/main" id="{3B8C8555-22E0-45FB-9F95-11E426356960}"/>
              </a:ext>
            </a:extLst>
          </p:cNvPr>
          <p:cNvSpPr>
            <a:spLocks xmlns:a="http://schemas.openxmlformats.org/drawingml/2006/main" noGrp="1"/>
          </p:cNvSpPr>
          <p:nvPr/>
        </p:nvSpPr>
        <p:spPr>
          <a:xfrm xmlns:a="http://schemas.openxmlformats.org/drawingml/2006/main">
            <a:off x="571500" y="64008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496274"/>
                </a:solidFill>
                <a:latin typeface="Arial"/>
                <a:ea typeface="Arial"/>
                <a:cs typeface="Arial"/>
              </a:defRPr>
            </a:pPr>
            <a:r>
              <a:rPr sz="1200" b="0">
                <a:solidFill>
                  <a:srgbClr val="496274"/>
                </a:solidFill>
                <a:latin typeface="Arial"/>
                <a:ea typeface="Arial"/>
                <a:cs typeface="Arial"/>
              </a:rPr>
              <a:t>Sources: [11]. Full URLs in notes and companion PDF.</a:t>
            </a:r>
          </a:p>
        </p:txBody>
      </p:sp>
      <p:sp>
        <p:nvSpPr>
          <p:cNvPr id="3" name="task2-text-3">
            <a:extLst xmlns:a="http://schemas.openxmlformats.org/drawingml/2006/main">
              <a:ext uri="{FF2B5EF4-FFF2-40B4-BE49-F238E27FC236}">
                <a16:creationId xmlns:a16="http://schemas.microsoft.com/office/drawing/2014/main" id="{09F324DB-7517-4C2A-A07D-4DE6A1760ED5}"/>
              </a:ext>
            </a:extLst>
          </p:cNvPr>
          <p:cNvSpPr>
            <a:spLocks xmlns:a="http://schemas.openxmlformats.org/drawingml/2006/main" noGrp="1"/>
          </p:cNvSpPr>
          <p:nvPr/>
        </p:nvSpPr>
        <p:spPr>
          <a:xfrm xmlns:a="http://schemas.openxmlformats.org/drawingml/2006/main">
            <a:off x="11144250" y="64008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496274"/>
                </a:solidFill>
                <a:latin typeface="Arial"/>
                <a:ea typeface="Arial"/>
                <a:cs typeface="Arial"/>
              </a:defRPr>
            </a:pPr>
            <a:r>
              <a:rPr sz="1200" b="0">
                <a:solidFill>
                  <a:srgbClr val="496274"/>
                </a:solidFill>
                <a:latin typeface="Arial"/>
                <a:ea typeface="Arial"/>
                <a:cs typeface="Arial"/>
              </a:rPr>
              <a:t>1</a:t>
            </a:r>
          </a:p>
        </p:txBody>
      </p:sp>
      <p:sp>
        <p:nvSpPr>
          <p:cNvPr id="4" name="task2-text-4">
            <a:extLst xmlns:a="http://schemas.openxmlformats.org/drawingml/2006/main">
              <a:ext uri="{FF2B5EF4-FFF2-40B4-BE49-F238E27FC236}">
                <a16:creationId xmlns:a16="http://schemas.microsoft.com/office/drawing/2014/main" id="{CB696487-E451-41AC-B6EF-5A9C8982B31B}"/>
              </a:ext>
            </a:extLst>
          </p:cNvPr>
          <p:cNvSpPr>
            <a:spLocks xmlns:a="http://schemas.openxmlformats.org/drawingml/2006/main" noGrp="1"/>
          </p:cNvSpPr>
          <p:nvPr/>
        </p:nvSpPr>
        <p:spPr>
          <a:xfrm xmlns:a="http://schemas.openxmlformats.org/drawingml/2006/main">
            <a:off x="571500" y="16287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42B3F"/>
                </a:solidFill>
                <a:latin typeface="Arial"/>
                <a:ea typeface="Arial"/>
                <a:cs typeface="Arial"/>
              </a:defRPr>
            </a:pPr>
            <a:r>
              <a:rPr sz="2250" b="0">
                <a:solidFill>
                  <a:srgbClr val="142B3F"/>
                </a:solidFill>
                <a:latin typeface="Arial"/>
                <a:ea typeface="Arial"/>
                <a:cs typeface="Arial"/>
              </a:rPr>
              <a:t>A cluster combines processors, fast interconnects and storage</a:t>
            </a:r>
          </a:p>
        </p:txBody>
      </p:sp>
      <p:sp>
        <p:nvSpPr>
          <p:cNvPr id="5" name="task2-text-5">
            <a:extLst xmlns:a="http://schemas.openxmlformats.org/drawingml/2006/main">
              <a:ext uri="{FF2B5EF4-FFF2-40B4-BE49-F238E27FC236}">
                <a16:creationId xmlns:a16="http://schemas.microsoft.com/office/drawing/2014/main" id="{8F4363C1-4A16-47AA-87EA-9E5B00CD14E8}"/>
              </a:ext>
            </a:extLst>
          </p:cNvPr>
          <p:cNvSpPr>
            <a:spLocks xmlns:a="http://schemas.openxmlformats.org/drawingml/2006/main" noGrp="1"/>
          </p:cNvSpPr>
          <p:nvPr/>
        </p:nvSpPr>
        <p:spPr>
          <a:xfrm xmlns:a="http://schemas.openxmlformats.org/drawingml/2006/main">
            <a:off x="571500" y="2381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42B3F"/>
                </a:solidFill>
                <a:latin typeface="Arial"/>
                <a:ea typeface="Arial"/>
                <a:cs typeface="Arial"/>
              </a:defRPr>
            </a:pPr>
            <a:r>
              <a:rPr sz="2325" b="1">
                <a:solidFill>
                  <a:srgbClr val="142B3F"/>
                </a:solidFill>
                <a:latin typeface="Arial"/>
                <a:ea typeface="Arial"/>
                <a:cs typeface="Arial"/>
              </a:rPr>
              <a:t>Example: data-parallel AI training</a:t>
            </a:r>
          </a:p>
        </p:txBody>
      </p:sp>
      <p:sp>
        <p:nvSpPr>
          <p:cNvPr id="6" name="task2-diagram-6">
            <a:extLst xmlns:a="http://schemas.openxmlformats.org/drawingml/2006/main">
              <a:ext uri="{FF2B5EF4-FFF2-40B4-BE49-F238E27FC236}">
                <a16:creationId xmlns:a16="http://schemas.microsoft.com/office/drawing/2014/main" id="{B1A29CB6-8062-4F93-963C-DFBAF6DEB485}"/>
              </a:ext>
            </a:extLst>
          </p:cNvPr>
          <p:cNvSpPr>
            <a:spLocks xmlns:a="http://schemas.openxmlformats.org/drawingml/2006/main" noGrp="1"/>
          </p:cNvSpPr>
          <p:nvPr/>
        </p:nvSpPr>
        <p:spPr>
          <a:xfrm xmlns:a="http://schemas.openxmlformats.org/drawingml/2006/main">
            <a:off x="571500" y="3028950"/>
            <a:ext cx="10953750" cy="581025"/>
          </a:xfrm>
          <a:prstGeom xmlns:a="http://schemas.openxmlformats.org/drawingml/2006/main" prst="rect">
            <a:avLst/>
          </a:prstGeom>
          <a:solidFill xmlns:a="http://schemas.openxmlformats.org/drawingml/2006/main">
            <a:srgbClr val="DCE9ED"/>
          </a:solidFill>
          <a:ln xmlns:a="http://schemas.openxmlformats.org/drawingml/2006/main" w="14288">
            <a:solidFill>
              <a:srgbClr val="496274"/>
            </a:solidFill>
          </a:ln>
        </p:spPr>
        <p:txBody>
          <a:bodyPr xmlns:a="http://schemas.openxmlformats.org/drawingml/2006/main" lIns="66675" tIns="66675" rIns="66675" bIns="66675" anchor="ctr">
            <a:noAutofit/>
          </a:bodyPr>
          <a:lstStyle xmlns:a="http://schemas.openxmlformats.org/drawingml/2006/main"/>
          <a:p xmlns:a="http://schemas.openxmlformats.org/drawingml/2006/main">
            <a:pPr algn="ctr">
              <a:defRPr sz="1950">
                <a:solidFill>
                  <a:srgbClr val="142B3F"/>
                </a:solidFill>
                <a:latin typeface="Arial"/>
                <a:ea typeface="Arial"/>
                <a:cs typeface="Arial"/>
              </a:defRPr>
            </a:pPr>
            <a:r>
              <a:rPr sz="1950">
                <a:solidFill>
                  <a:srgbClr val="142B3F"/>
                </a:solidFill>
                <a:latin typeface="Arial"/>
                <a:ea typeface="Arial"/>
                <a:cs typeface="Arial"/>
              </a:rPr>
              <a:t>One training batch split into different data partitions</a:t>
            </a:r>
          </a:p>
        </p:txBody>
      </p:sp>
      <p:sp>
        <p:nvSpPr>
          <p:cNvPr id="7" name="task2-flow-7">
            <a:extLst xmlns:a="http://schemas.openxmlformats.org/drawingml/2006/main">
              <a:ext uri="{FF2B5EF4-FFF2-40B4-BE49-F238E27FC236}">
                <a16:creationId xmlns:a16="http://schemas.microsoft.com/office/drawing/2014/main" id="{EDB431DB-9373-4329-8D11-DA684C131FDA}"/>
              </a:ext>
            </a:extLst>
          </p:cNvPr>
          <p:cNvSpPr>
            <a:spLocks xmlns:a="http://schemas.openxmlformats.org/drawingml/2006/main" noGrp="1"/>
          </p:cNvSpPr>
          <p:nvPr/>
        </p:nvSpPr>
        <p:spPr>
          <a:xfrm xmlns:a="http://schemas.openxmlformats.org/drawingml/2006/main">
            <a:off x="2019300" y="3705225"/>
            <a:ext cx="323850" cy="342900"/>
          </a:xfrm>
          <a:prstGeom xmlns:a="http://schemas.openxmlformats.org/drawingml/2006/main" prst="downArrow">
            <a:avLst/>
          </a:prstGeom>
          <a:solidFill xmlns:a="http://schemas.openxmlformats.org/drawingml/2006/main">
            <a:srgbClr val="087E8B"/>
          </a:solidFill>
          <a:ln xmlns:a="http://schemas.openxmlformats.org/drawingml/2006/main" w="0">
            <a:noFill/>
          </a:ln>
        </p:spPr>
      </p:sp>
      <p:sp>
        <p:nvSpPr>
          <p:cNvPr id="8" name="task2-diagram-8">
            <a:extLst xmlns:a="http://schemas.openxmlformats.org/drawingml/2006/main">
              <a:ext uri="{FF2B5EF4-FFF2-40B4-BE49-F238E27FC236}">
                <a16:creationId xmlns:a16="http://schemas.microsoft.com/office/drawing/2014/main" id="{A68B0675-033E-4C16-ADE8-8F230C486231}"/>
              </a:ext>
            </a:extLst>
          </p:cNvPr>
          <p:cNvSpPr>
            <a:spLocks xmlns:a="http://schemas.openxmlformats.org/drawingml/2006/main" noGrp="1"/>
          </p:cNvSpPr>
          <p:nvPr/>
        </p:nvSpPr>
        <p:spPr>
          <a:xfrm xmlns:a="http://schemas.openxmlformats.org/drawingml/2006/main">
            <a:off x="857250" y="4133850"/>
            <a:ext cx="2667000" cy="1143000"/>
          </a:xfrm>
          <a:prstGeom xmlns:a="http://schemas.openxmlformats.org/drawingml/2006/main" prst="rect">
            <a:avLst/>
          </a:prstGeom>
          <a:solidFill xmlns:a="http://schemas.openxmlformats.org/drawingml/2006/main">
            <a:srgbClr val="D9E8F5"/>
          </a:solidFill>
          <a:ln xmlns:a="http://schemas.openxmlformats.org/drawingml/2006/main" w="14288">
            <a:solidFill>
              <a:srgbClr val="496274"/>
            </a:solidFill>
          </a:ln>
        </p:spPr>
        <p:txBody>
          <a:bodyPr xmlns:a="http://schemas.openxmlformats.org/drawingml/2006/main" lIns="66675" tIns="66675" rIns="66675" bIns="66675" anchor="ctr">
            <a:noAutofit/>
          </a:bodyPr>
          <a:lstStyle xmlns:a="http://schemas.openxmlformats.org/drawingml/2006/main"/>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GPU 0</a:t>
            </a:r>
          </a:p>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Model copy</a:t>
            </a:r>
          </a:p>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Data partition A</a:t>
            </a:r>
          </a:p>
        </p:txBody>
      </p:sp>
      <p:sp>
        <p:nvSpPr>
          <p:cNvPr id="9" name="task2-flow-9">
            <a:extLst xmlns:a="http://schemas.openxmlformats.org/drawingml/2006/main">
              <a:ext uri="{FF2B5EF4-FFF2-40B4-BE49-F238E27FC236}">
                <a16:creationId xmlns:a16="http://schemas.microsoft.com/office/drawing/2014/main" id="{A26831BF-F37F-40F0-A22B-42E1A0259D32}"/>
              </a:ext>
            </a:extLst>
          </p:cNvPr>
          <p:cNvSpPr>
            <a:spLocks xmlns:a="http://schemas.openxmlformats.org/drawingml/2006/main" noGrp="1"/>
          </p:cNvSpPr>
          <p:nvPr/>
        </p:nvSpPr>
        <p:spPr>
          <a:xfrm xmlns:a="http://schemas.openxmlformats.org/drawingml/2006/main">
            <a:off x="2019300" y="5391150"/>
            <a:ext cx="323850" cy="333375"/>
          </a:xfrm>
          <a:prstGeom xmlns:a="http://schemas.openxmlformats.org/drawingml/2006/main" prst="downArrow">
            <a:avLst/>
          </a:prstGeom>
          <a:solidFill xmlns:a="http://schemas.openxmlformats.org/drawingml/2006/main">
            <a:srgbClr val="087E8B"/>
          </a:solidFill>
          <a:ln xmlns:a="http://schemas.openxmlformats.org/drawingml/2006/main" w="0">
            <a:noFill/>
          </a:ln>
        </p:spPr>
      </p:sp>
      <p:sp>
        <p:nvSpPr>
          <p:cNvPr id="10" name="task2-flow-10">
            <a:extLst xmlns:a="http://schemas.openxmlformats.org/drawingml/2006/main">
              <a:ext uri="{FF2B5EF4-FFF2-40B4-BE49-F238E27FC236}">
                <a16:creationId xmlns:a16="http://schemas.microsoft.com/office/drawing/2014/main" id="{3ED83027-32E9-4A01-B0F7-1A59E7FCF484}"/>
              </a:ext>
            </a:extLst>
          </p:cNvPr>
          <p:cNvSpPr>
            <a:spLocks xmlns:a="http://schemas.openxmlformats.org/drawingml/2006/main" noGrp="1"/>
          </p:cNvSpPr>
          <p:nvPr/>
        </p:nvSpPr>
        <p:spPr>
          <a:xfrm xmlns:a="http://schemas.openxmlformats.org/drawingml/2006/main">
            <a:off x="5734050" y="3705225"/>
            <a:ext cx="323850" cy="342900"/>
          </a:xfrm>
          <a:prstGeom xmlns:a="http://schemas.openxmlformats.org/drawingml/2006/main" prst="downArrow">
            <a:avLst/>
          </a:prstGeom>
          <a:solidFill xmlns:a="http://schemas.openxmlformats.org/drawingml/2006/main">
            <a:srgbClr val="087E8B"/>
          </a:solidFill>
          <a:ln xmlns:a="http://schemas.openxmlformats.org/drawingml/2006/main" w="0">
            <a:noFill/>
          </a:ln>
        </p:spPr>
      </p:sp>
      <p:sp>
        <p:nvSpPr>
          <p:cNvPr id="11" name="task2-diagram-11">
            <a:extLst xmlns:a="http://schemas.openxmlformats.org/drawingml/2006/main">
              <a:ext uri="{FF2B5EF4-FFF2-40B4-BE49-F238E27FC236}">
                <a16:creationId xmlns:a16="http://schemas.microsoft.com/office/drawing/2014/main" id="{2EC91BD2-939C-4E89-91B2-46DD294C127B}"/>
              </a:ext>
            </a:extLst>
          </p:cNvPr>
          <p:cNvSpPr>
            <a:spLocks xmlns:a="http://schemas.openxmlformats.org/drawingml/2006/main" noGrp="1"/>
          </p:cNvSpPr>
          <p:nvPr/>
        </p:nvSpPr>
        <p:spPr>
          <a:xfrm xmlns:a="http://schemas.openxmlformats.org/drawingml/2006/main">
            <a:off x="4572000" y="4133850"/>
            <a:ext cx="2667000" cy="1143000"/>
          </a:xfrm>
          <a:prstGeom xmlns:a="http://schemas.openxmlformats.org/drawingml/2006/main" prst="rect">
            <a:avLst/>
          </a:prstGeom>
          <a:solidFill xmlns:a="http://schemas.openxmlformats.org/drawingml/2006/main">
            <a:srgbClr val="D9E8F5"/>
          </a:solidFill>
          <a:ln xmlns:a="http://schemas.openxmlformats.org/drawingml/2006/main" w="14288">
            <a:solidFill>
              <a:srgbClr val="496274"/>
            </a:solidFill>
          </a:ln>
        </p:spPr>
        <p:txBody>
          <a:bodyPr xmlns:a="http://schemas.openxmlformats.org/drawingml/2006/main" lIns="66675" tIns="66675" rIns="66675" bIns="66675" anchor="ctr">
            <a:noAutofit/>
          </a:bodyPr>
          <a:lstStyle xmlns:a="http://schemas.openxmlformats.org/drawingml/2006/main"/>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GPU 1</a:t>
            </a:r>
          </a:p>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Model copy</a:t>
            </a:r>
          </a:p>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Data partition B</a:t>
            </a:r>
          </a:p>
        </p:txBody>
      </p:sp>
      <p:sp>
        <p:nvSpPr>
          <p:cNvPr id="12" name="task2-flow-12">
            <a:extLst xmlns:a="http://schemas.openxmlformats.org/drawingml/2006/main">
              <a:ext uri="{FF2B5EF4-FFF2-40B4-BE49-F238E27FC236}">
                <a16:creationId xmlns:a16="http://schemas.microsoft.com/office/drawing/2014/main" id="{EDE2501A-E396-479E-902D-5ED975467F2B}"/>
              </a:ext>
            </a:extLst>
          </p:cNvPr>
          <p:cNvSpPr>
            <a:spLocks xmlns:a="http://schemas.openxmlformats.org/drawingml/2006/main" noGrp="1"/>
          </p:cNvSpPr>
          <p:nvPr/>
        </p:nvSpPr>
        <p:spPr>
          <a:xfrm xmlns:a="http://schemas.openxmlformats.org/drawingml/2006/main">
            <a:off x="5734050" y="5391150"/>
            <a:ext cx="323850" cy="333375"/>
          </a:xfrm>
          <a:prstGeom xmlns:a="http://schemas.openxmlformats.org/drawingml/2006/main" prst="downArrow">
            <a:avLst/>
          </a:prstGeom>
          <a:solidFill xmlns:a="http://schemas.openxmlformats.org/drawingml/2006/main">
            <a:srgbClr val="087E8B"/>
          </a:solidFill>
          <a:ln xmlns:a="http://schemas.openxmlformats.org/drawingml/2006/main" w="0">
            <a:noFill/>
          </a:ln>
        </p:spPr>
      </p:sp>
      <p:sp>
        <p:nvSpPr>
          <p:cNvPr id="13" name="task2-flow-13">
            <a:extLst xmlns:a="http://schemas.openxmlformats.org/drawingml/2006/main">
              <a:ext uri="{FF2B5EF4-FFF2-40B4-BE49-F238E27FC236}">
                <a16:creationId xmlns:a16="http://schemas.microsoft.com/office/drawing/2014/main" id="{4E9C1D5B-250E-4BB4-BB9C-15180FB30E3D}"/>
              </a:ext>
            </a:extLst>
          </p:cNvPr>
          <p:cNvSpPr>
            <a:spLocks xmlns:a="http://schemas.openxmlformats.org/drawingml/2006/main" noGrp="1"/>
          </p:cNvSpPr>
          <p:nvPr/>
        </p:nvSpPr>
        <p:spPr>
          <a:xfrm xmlns:a="http://schemas.openxmlformats.org/drawingml/2006/main">
            <a:off x="9448800" y="3705225"/>
            <a:ext cx="323850" cy="342900"/>
          </a:xfrm>
          <a:prstGeom xmlns:a="http://schemas.openxmlformats.org/drawingml/2006/main" prst="downArrow">
            <a:avLst/>
          </a:prstGeom>
          <a:solidFill xmlns:a="http://schemas.openxmlformats.org/drawingml/2006/main">
            <a:srgbClr val="087E8B"/>
          </a:solidFill>
          <a:ln xmlns:a="http://schemas.openxmlformats.org/drawingml/2006/main" w="0">
            <a:noFill/>
          </a:ln>
        </p:spPr>
      </p:sp>
      <p:sp>
        <p:nvSpPr>
          <p:cNvPr id="14" name="task2-diagram-14">
            <a:extLst xmlns:a="http://schemas.openxmlformats.org/drawingml/2006/main">
              <a:ext uri="{FF2B5EF4-FFF2-40B4-BE49-F238E27FC236}">
                <a16:creationId xmlns:a16="http://schemas.microsoft.com/office/drawing/2014/main" id="{CBBA5DF9-28BC-4172-8E06-32E427941E0A}"/>
              </a:ext>
            </a:extLst>
          </p:cNvPr>
          <p:cNvSpPr>
            <a:spLocks xmlns:a="http://schemas.openxmlformats.org/drawingml/2006/main" noGrp="1"/>
          </p:cNvSpPr>
          <p:nvPr/>
        </p:nvSpPr>
        <p:spPr>
          <a:xfrm xmlns:a="http://schemas.openxmlformats.org/drawingml/2006/main">
            <a:off x="8286750" y="4133850"/>
            <a:ext cx="2667000" cy="1143000"/>
          </a:xfrm>
          <a:prstGeom xmlns:a="http://schemas.openxmlformats.org/drawingml/2006/main" prst="rect">
            <a:avLst/>
          </a:prstGeom>
          <a:solidFill xmlns:a="http://schemas.openxmlformats.org/drawingml/2006/main">
            <a:srgbClr val="D9E8F5"/>
          </a:solidFill>
          <a:ln xmlns:a="http://schemas.openxmlformats.org/drawingml/2006/main" w="14288">
            <a:solidFill>
              <a:srgbClr val="496274"/>
            </a:solidFill>
          </a:ln>
        </p:spPr>
        <p:txBody>
          <a:bodyPr xmlns:a="http://schemas.openxmlformats.org/drawingml/2006/main" lIns="66675" tIns="66675" rIns="66675" bIns="66675" anchor="ctr">
            <a:noAutofit/>
          </a:bodyPr>
          <a:lstStyle xmlns:a="http://schemas.openxmlformats.org/drawingml/2006/main"/>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GPU 2</a:t>
            </a:r>
          </a:p>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Model copy</a:t>
            </a:r>
          </a:p>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Data partition C</a:t>
            </a:r>
          </a:p>
        </p:txBody>
      </p:sp>
      <p:sp>
        <p:nvSpPr>
          <p:cNvPr id="15" name="task2-flow-15">
            <a:extLst xmlns:a="http://schemas.openxmlformats.org/drawingml/2006/main">
              <a:ext uri="{FF2B5EF4-FFF2-40B4-BE49-F238E27FC236}">
                <a16:creationId xmlns:a16="http://schemas.microsoft.com/office/drawing/2014/main" id="{BFA7559F-A64D-42B1-9AB0-4C28369086CD}"/>
              </a:ext>
            </a:extLst>
          </p:cNvPr>
          <p:cNvSpPr>
            <a:spLocks xmlns:a="http://schemas.openxmlformats.org/drawingml/2006/main" noGrp="1"/>
          </p:cNvSpPr>
          <p:nvPr/>
        </p:nvSpPr>
        <p:spPr>
          <a:xfrm xmlns:a="http://schemas.openxmlformats.org/drawingml/2006/main">
            <a:off x="9448800" y="5391150"/>
            <a:ext cx="323850" cy="333375"/>
          </a:xfrm>
          <a:prstGeom xmlns:a="http://schemas.openxmlformats.org/drawingml/2006/main" prst="downArrow">
            <a:avLst/>
          </a:prstGeom>
          <a:solidFill xmlns:a="http://schemas.openxmlformats.org/drawingml/2006/main">
            <a:srgbClr val="087E8B"/>
          </a:solidFill>
          <a:ln xmlns:a="http://schemas.openxmlformats.org/drawingml/2006/main" w="0">
            <a:noFill/>
          </a:ln>
        </p:spPr>
      </p:sp>
      <p:sp>
        <p:nvSpPr>
          <p:cNvPr id="16" name="task2-diagram-16">
            <a:extLst xmlns:a="http://schemas.openxmlformats.org/drawingml/2006/main">
              <a:ext uri="{FF2B5EF4-FFF2-40B4-BE49-F238E27FC236}">
                <a16:creationId xmlns:a16="http://schemas.microsoft.com/office/drawing/2014/main" id="{34694959-689E-4EF4-A755-2FAFD940A404}"/>
              </a:ext>
            </a:extLst>
          </p:cNvPr>
          <p:cNvSpPr>
            <a:spLocks xmlns:a="http://schemas.openxmlformats.org/drawingml/2006/main" noGrp="1"/>
          </p:cNvSpPr>
          <p:nvPr/>
        </p:nvSpPr>
        <p:spPr>
          <a:xfrm xmlns:a="http://schemas.openxmlformats.org/drawingml/2006/main">
            <a:off x="571500" y="5810250"/>
            <a:ext cx="10953750" cy="457200"/>
          </a:xfrm>
          <a:prstGeom xmlns:a="http://schemas.openxmlformats.org/drawingml/2006/main" prst="rect">
            <a:avLst/>
          </a:prstGeom>
          <a:solidFill xmlns:a="http://schemas.openxmlformats.org/drawingml/2006/main">
            <a:srgbClr val="D5ECE7"/>
          </a:solidFill>
          <a:ln xmlns:a="http://schemas.openxmlformats.org/drawingml/2006/main" w="14288">
            <a:solidFill>
              <a:srgbClr val="496274"/>
            </a:solidFill>
          </a:ln>
        </p:spPr>
        <p:txBody>
          <a:bodyPr xmlns:a="http://schemas.openxmlformats.org/drawingml/2006/main" lIns="66675" tIns="66675" rIns="66675" bIns="66675" anchor="ctr">
            <a:noAutofit/>
          </a:bodyPr>
          <a:lstStyle xmlns:a="http://schemas.openxmlformats.org/drawingml/2006/main"/>
          <a:p xmlns:a="http://schemas.openxmlformats.org/drawingml/2006/main">
            <a:pPr algn="ctr">
              <a:defRPr sz="1800">
                <a:solidFill>
                  <a:srgbClr val="142B3F"/>
                </a:solidFill>
                <a:latin typeface="Arial"/>
                <a:ea typeface="Arial"/>
                <a:cs typeface="Arial"/>
              </a:defRPr>
            </a:pPr>
            <a:r>
              <a:rPr sz="1800">
                <a:solidFill>
                  <a:srgbClr val="142B3F"/>
                </a:solidFill>
                <a:latin typeface="Arial"/>
                <a:ea typeface="Arial"/>
                <a:cs typeface="Arial"/>
              </a:rPr>
              <a:t>Gradient synchronisation before a consistent model update</a:t>
            </a:r>
          </a:p>
        </p:txBody>
      </p:sp>
    </p:spTree>
    <p:extLst>
      <p:ext uri="{BB962C8B-B14F-4D97-AF65-F5344CB8AC3E}">
        <p14:creationId xmlns:p14="http://schemas.microsoft.com/office/powerpoint/2010/main" val="1486135131"/>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8" name="task2-text-17">
            <a:extLst xmlns:a="http://schemas.openxmlformats.org/drawingml/2006/main">
              <a:ext uri="{FF2B5EF4-FFF2-40B4-BE49-F238E27FC236}">
                <a16:creationId xmlns:a16="http://schemas.microsoft.com/office/drawing/2014/main" id="{1C8DBE8F-501F-42AD-A87E-1DA1D1AAD5A8}"/>
              </a:ext>
            </a:extLst>
          </p:cNvPr>
          <p:cNvSpPr>
            <a:spLocks xmlns:a="http://schemas.openxmlformats.org/drawingml/2006/main" noGrp="1"/>
          </p:cNvSpPr>
          <p:nvPr/>
        </p:nvSpPr>
        <p:spPr>
          <a:xfrm xmlns:a="http://schemas.openxmlformats.org/drawingml/2006/main">
            <a:off x="571500" y="457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B3F"/>
                </a:solidFill>
                <a:latin typeface="Arial"/>
                <a:ea typeface="Arial"/>
                <a:cs typeface="Arial"/>
              </a:defRPr>
            </a:pPr>
            <a:r>
              <a:rPr sz="3300" b="1">
                <a:solidFill>
                  <a:srgbClr val="142B3F"/>
                </a:solidFill>
                <a:latin typeface="Arial"/>
                <a:ea typeface="Arial"/>
                <a:cs typeface="Arial"/>
              </a:rPr>
              <a:t>Electricity demand and environmental risk</a:t>
            </a:r>
          </a:p>
        </p:txBody>
      </p:sp>
      <p:sp>
        <p:nvSpPr>
          <p:cNvPr id="2" name="task2-text-18">
            <a:extLst xmlns:a="http://schemas.openxmlformats.org/drawingml/2006/main">
              <a:ext uri="{FF2B5EF4-FFF2-40B4-BE49-F238E27FC236}">
                <a16:creationId xmlns:a16="http://schemas.microsoft.com/office/drawing/2014/main" id="{FECBABED-860C-4893-A4EE-5E21AA266145}"/>
              </a:ext>
            </a:extLst>
          </p:cNvPr>
          <p:cNvSpPr>
            <a:spLocks xmlns:a="http://schemas.openxmlformats.org/drawingml/2006/main" noGrp="1"/>
          </p:cNvSpPr>
          <p:nvPr/>
        </p:nvSpPr>
        <p:spPr>
          <a:xfrm xmlns:a="http://schemas.openxmlformats.org/drawingml/2006/main">
            <a:off x="571500" y="64008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496274"/>
                </a:solidFill>
                <a:latin typeface="Arial"/>
                <a:ea typeface="Arial"/>
                <a:cs typeface="Arial"/>
              </a:defRPr>
            </a:pPr>
            <a:r>
              <a:rPr sz="1200" b="0">
                <a:solidFill>
                  <a:srgbClr val="496274"/>
                </a:solidFill>
                <a:latin typeface="Arial"/>
                <a:ea typeface="Arial"/>
                <a:cs typeface="Arial"/>
              </a:rPr>
              <a:t>Sources: [12] [13] [18]. Full URLs in notes and companion PDF.</a:t>
            </a:r>
          </a:p>
        </p:txBody>
      </p:sp>
      <p:sp>
        <p:nvSpPr>
          <p:cNvPr id="3" name="task2-text-19">
            <a:extLst xmlns:a="http://schemas.openxmlformats.org/drawingml/2006/main">
              <a:ext uri="{FF2B5EF4-FFF2-40B4-BE49-F238E27FC236}">
                <a16:creationId xmlns:a16="http://schemas.microsoft.com/office/drawing/2014/main" id="{75C4C066-9CDC-49E8-8868-E73D6C030514}"/>
              </a:ext>
            </a:extLst>
          </p:cNvPr>
          <p:cNvSpPr>
            <a:spLocks xmlns:a="http://schemas.openxmlformats.org/drawingml/2006/main" noGrp="1"/>
          </p:cNvSpPr>
          <p:nvPr/>
        </p:nvSpPr>
        <p:spPr>
          <a:xfrm xmlns:a="http://schemas.openxmlformats.org/drawingml/2006/main">
            <a:off x="11144250" y="64008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496274"/>
                </a:solidFill>
                <a:latin typeface="Arial"/>
                <a:ea typeface="Arial"/>
                <a:cs typeface="Arial"/>
              </a:defRPr>
            </a:pPr>
            <a:r>
              <a:rPr sz="1200" b="0">
                <a:solidFill>
                  <a:srgbClr val="496274"/>
                </a:solidFill>
                <a:latin typeface="Arial"/>
                <a:ea typeface="Arial"/>
                <a:cs typeface="Arial"/>
              </a:rPr>
              <a:t>2</a:t>
            </a:r>
          </a:p>
        </p:txBody>
      </p:sp>
      <p:graphicFrame>
        <p:nvGraphicFramePr>
          <p:cNvPr id="11" name="Chart"/>
          <p:cNvGraphicFramePr/>
          <p:nvPr/>
        </p:nvGraphicFramePr>
        <p:xfrm>
          <a:off xmlns:a="http://schemas.openxmlformats.org/drawingml/2006/main" x="523875" y="1657350"/>
          <a:ext xmlns:a="http://schemas.openxmlformats.org/drawingml/2006/main" cx="5334000" cy="3581400"/>
        </p:xfrm>
        <a:graphic xmlns:a="http://schemas.openxmlformats.org/drawingml/2006/main">
          <a:graphicData uri="http://schemas.openxmlformats.org/drawingml/2006/chart">
            <c:chart xmlns:r="http://schemas.openxmlformats.org/officeDocument/2006/relationships" xmlns:c="http://schemas.openxmlformats.org/drawingml/2006/chart" r:id="R702e18877e54441d"/>
          </a:graphicData>
        </a:graphic>
      </p:graphicFrame>
      <p:graphicFrame>
        <p:nvGraphicFramePr>
          <p:cNvPr id="12" name="Chart"/>
          <p:cNvGraphicFramePr/>
          <p:nvPr/>
        </p:nvGraphicFramePr>
        <p:xfrm>
          <a:off xmlns:a="http://schemas.openxmlformats.org/drawingml/2006/main" x="6343650" y="1657350"/>
          <a:ext xmlns:a="http://schemas.openxmlformats.org/drawingml/2006/main" cx="5238750" cy="3581400"/>
        </p:xfrm>
        <a:graphic xmlns:a="http://schemas.openxmlformats.org/drawingml/2006/main">
          <a:graphicData uri="http://schemas.openxmlformats.org/drawingml/2006/chart">
            <c:chart xmlns:r="http://schemas.openxmlformats.org/officeDocument/2006/relationships" xmlns:c="http://schemas.openxmlformats.org/drawingml/2006/chart" r:id="R75f68f57afba4f11"/>
          </a:graphicData>
        </a:graphic>
      </p:graphicFrame>
      <p:sp>
        <p:nvSpPr>
          <p:cNvPr id="6" name="task2-text-20">
            <a:extLst xmlns:a="http://schemas.openxmlformats.org/drawingml/2006/main">
              <a:ext uri="{FF2B5EF4-FFF2-40B4-BE49-F238E27FC236}">
                <a16:creationId xmlns:a16="http://schemas.microsoft.com/office/drawing/2014/main" id="{4F131518-729E-4728-91FE-B8A1A753C96E}"/>
              </a:ext>
            </a:extLst>
          </p:cNvPr>
          <p:cNvSpPr>
            <a:spLocks xmlns:a="http://schemas.openxmlformats.org/drawingml/2006/main" noGrp="1"/>
          </p:cNvSpPr>
          <p:nvPr/>
        </p:nvSpPr>
        <p:spPr>
          <a:xfrm xmlns:a="http://schemas.openxmlformats.org/drawingml/2006/main">
            <a:off x="571500" y="54959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87E8B"/>
                </a:solidFill>
                <a:latin typeface="Arial"/>
                <a:ea typeface="Arial"/>
                <a:cs typeface="Arial"/>
              </a:defRPr>
            </a:pPr>
            <a:r>
              <a:rPr sz="2250" b="1">
                <a:solidFill>
                  <a:srgbClr val="087E8B"/>
                </a:solidFill>
                <a:latin typeface="Arial"/>
                <a:ea typeface="Arial"/>
                <a:cs typeface="Arial"/>
              </a:rPr>
              <a:t>Projected increase: about 96% from 2025 to 2030</a:t>
            </a:r>
          </a:p>
        </p:txBody>
      </p:sp>
      <p:sp>
        <p:nvSpPr>
          <p:cNvPr id="7" name="task2-text-21">
            <a:extLst xmlns:a="http://schemas.openxmlformats.org/drawingml/2006/main">
              <a:ext uri="{FF2B5EF4-FFF2-40B4-BE49-F238E27FC236}">
                <a16:creationId xmlns:a16="http://schemas.microsoft.com/office/drawing/2014/main" id="{2D3A1F95-166B-4B7B-9F66-D2978918896D}"/>
              </a:ext>
            </a:extLst>
          </p:cNvPr>
          <p:cNvSpPr>
            <a:spLocks xmlns:a="http://schemas.openxmlformats.org/drawingml/2006/main" noGrp="1"/>
          </p:cNvSpPr>
          <p:nvPr/>
        </p:nvSpPr>
        <p:spPr>
          <a:xfrm xmlns:a="http://schemas.openxmlformats.org/drawingml/2006/main">
            <a:off x="571500" y="59912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42B3F"/>
                </a:solidFill>
                <a:latin typeface="Arial"/>
                <a:ea typeface="Arial"/>
                <a:cs typeface="Arial"/>
              </a:defRPr>
            </a:pPr>
            <a:r>
              <a:rPr sz="1725" b="0">
                <a:solidFill>
                  <a:srgbClr val="142B3F"/>
                </a:solidFill>
                <a:latin typeface="Arial"/>
                <a:ea typeface="Arial"/>
                <a:cs typeface="Arial"/>
              </a:rPr>
              <a:t>Whole-sector totals include AI and non-AI. The AI-focused subset overlaps the total.</a:t>
            </a:r>
          </a:p>
        </p:txBody>
      </p:sp>
    </p:spTree>
    <p:extLst>
      <p:ext uri="{BB962C8B-B14F-4D97-AF65-F5344CB8AC3E}">
        <p14:creationId xmlns:p14="http://schemas.microsoft.com/office/powerpoint/2010/main" val="60672355"/>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1" name="task2-text-22">
            <a:extLst xmlns:a="http://schemas.openxmlformats.org/drawingml/2006/main">
              <a:ext uri="{FF2B5EF4-FFF2-40B4-BE49-F238E27FC236}">
                <a16:creationId xmlns:a16="http://schemas.microsoft.com/office/drawing/2014/main" id="{70EFB3EB-A330-46AF-AD5F-E5030CFF3ABE}"/>
              </a:ext>
            </a:extLst>
          </p:cNvPr>
          <p:cNvSpPr>
            <a:spLocks xmlns:a="http://schemas.openxmlformats.org/drawingml/2006/main" noGrp="1"/>
          </p:cNvSpPr>
          <p:nvPr/>
        </p:nvSpPr>
        <p:spPr>
          <a:xfrm xmlns:a="http://schemas.openxmlformats.org/drawingml/2006/main">
            <a:off x="571500" y="457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B3F"/>
                </a:solidFill>
                <a:latin typeface="Arial"/>
                <a:ea typeface="Arial"/>
                <a:cs typeface="Arial"/>
              </a:defRPr>
            </a:pPr>
            <a:r>
              <a:rPr sz="3300" b="1">
                <a:solidFill>
                  <a:srgbClr val="142B3F"/>
                </a:solidFill>
                <a:latin typeface="Arial"/>
                <a:ea typeface="Arial"/>
                <a:cs typeface="Arial"/>
              </a:rPr>
              <a:t>Data governance and access to compute</a:t>
            </a:r>
          </a:p>
        </p:txBody>
      </p:sp>
      <p:sp>
        <p:nvSpPr>
          <p:cNvPr id="2" name="task2-text-23">
            <a:extLst xmlns:a="http://schemas.openxmlformats.org/drawingml/2006/main">
              <a:ext uri="{FF2B5EF4-FFF2-40B4-BE49-F238E27FC236}">
                <a16:creationId xmlns:a16="http://schemas.microsoft.com/office/drawing/2014/main" id="{67886A2F-F326-4837-87C1-6C3388D8202B}"/>
              </a:ext>
            </a:extLst>
          </p:cNvPr>
          <p:cNvSpPr>
            <a:spLocks xmlns:a="http://schemas.openxmlformats.org/drawingml/2006/main" noGrp="1"/>
          </p:cNvSpPr>
          <p:nvPr/>
        </p:nvSpPr>
        <p:spPr>
          <a:xfrm xmlns:a="http://schemas.openxmlformats.org/drawingml/2006/main">
            <a:off x="571500" y="64008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496274"/>
                </a:solidFill>
                <a:latin typeface="Arial"/>
                <a:ea typeface="Arial"/>
                <a:cs typeface="Arial"/>
              </a:defRPr>
            </a:pPr>
            <a:r>
              <a:rPr sz="1200" b="0">
                <a:solidFill>
                  <a:srgbClr val="496274"/>
                </a:solidFill>
                <a:latin typeface="Arial"/>
                <a:ea typeface="Arial"/>
                <a:cs typeface="Arial"/>
              </a:rPr>
              <a:t>Sources: [14] [15] [16] [20] [21] [22]. Full URLs in notes and companion PDF.</a:t>
            </a:r>
          </a:p>
        </p:txBody>
      </p:sp>
      <p:sp>
        <p:nvSpPr>
          <p:cNvPr id="3" name="task2-text-24">
            <a:extLst xmlns:a="http://schemas.openxmlformats.org/drawingml/2006/main">
              <a:ext uri="{FF2B5EF4-FFF2-40B4-BE49-F238E27FC236}">
                <a16:creationId xmlns:a16="http://schemas.microsoft.com/office/drawing/2014/main" id="{97CB0302-2DC2-49D5-B561-53844060235E}"/>
              </a:ext>
            </a:extLst>
          </p:cNvPr>
          <p:cNvSpPr>
            <a:spLocks xmlns:a="http://schemas.openxmlformats.org/drawingml/2006/main" noGrp="1"/>
          </p:cNvSpPr>
          <p:nvPr/>
        </p:nvSpPr>
        <p:spPr>
          <a:xfrm xmlns:a="http://schemas.openxmlformats.org/drawingml/2006/main">
            <a:off x="11144250" y="64008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496274"/>
                </a:solidFill>
                <a:latin typeface="Arial"/>
                <a:ea typeface="Arial"/>
                <a:cs typeface="Arial"/>
              </a:defRPr>
            </a:pPr>
            <a:r>
              <a:rPr sz="1200" b="0">
                <a:solidFill>
                  <a:srgbClr val="496274"/>
                </a:solidFill>
                <a:latin typeface="Arial"/>
                <a:ea typeface="Arial"/>
                <a:cs typeface="Arial"/>
              </a:rPr>
              <a:t>3</a:t>
            </a:r>
          </a:p>
        </p:txBody>
      </p:sp>
      <p:sp>
        <p:nvSpPr>
          <p:cNvPr id="4" name="task2-text-25">
            <a:extLst xmlns:a="http://schemas.openxmlformats.org/drawingml/2006/main">
              <a:ext uri="{FF2B5EF4-FFF2-40B4-BE49-F238E27FC236}">
                <a16:creationId xmlns:a16="http://schemas.microsoft.com/office/drawing/2014/main" id="{26E19A34-F486-4A58-9AE5-2FE321CA4CD1}"/>
              </a:ext>
            </a:extLst>
          </p:cNvPr>
          <p:cNvSpPr>
            <a:spLocks xmlns:a="http://schemas.openxmlformats.org/drawingml/2006/main" noGrp="1"/>
          </p:cNvSpPr>
          <p:nvPr/>
        </p:nvSpPr>
        <p:spPr>
          <a:xfrm xmlns:a="http://schemas.openxmlformats.org/drawingml/2006/main">
            <a:off x="571500" y="17430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142B3F"/>
                </a:solidFill>
                <a:latin typeface="Arial"/>
                <a:ea typeface="Arial"/>
                <a:cs typeface="Arial"/>
              </a:defRPr>
            </a:pPr>
            <a:r>
              <a:rPr sz="2475" b="1">
                <a:solidFill>
                  <a:srgbClr val="142B3F"/>
                </a:solidFill>
                <a:latin typeface="Arial"/>
                <a:ea typeface="Arial"/>
                <a:cs typeface="Arial"/>
              </a:rPr>
              <a:t>Data governance</a:t>
            </a:r>
          </a:p>
        </p:txBody>
      </p:sp>
      <p:sp>
        <p:nvSpPr>
          <p:cNvPr id="5" name="task2-text-26">
            <a:extLst xmlns:a="http://schemas.openxmlformats.org/drawingml/2006/main">
              <a:ext uri="{FF2B5EF4-FFF2-40B4-BE49-F238E27FC236}">
                <a16:creationId xmlns:a16="http://schemas.microsoft.com/office/drawing/2014/main" id="{8B19317E-54A4-4107-AEC8-8F587C6958A7}"/>
              </a:ext>
            </a:extLst>
          </p:cNvPr>
          <p:cNvSpPr>
            <a:spLocks xmlns:a="http://schemas.openxmlformats.org/drawingml/2006/main" noGrp="1"/>
          </p:cNvSpPr>
          <p:nvPr/>
        </p:nvSpPr>
        <p:spPr>
          <a:xfrm xmlns:a="http://schemas.openxmlformats.org/drawingml/2006/main">
            <a:off x="571500" y="2390775"/>
            <a:ext cx="52578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42B3F"/>
                </a:solidFill>
                <a:latin typeface="Arial"/>
                <a:ea typeface="Arial"/>
                <a:cs typeface="Arial"/>
              </a:defRPr>
            </a:pPr>
            <a:r>
              <a:rPr sz="2100" b="0">
                <a:solidFill>
                  <a:srgbClr val="142B3F"/>
                </a:solidFill>
                <a:latin typeface="Arial"/>
                <a:ea typeface="Arial"/>
                <a:cs typeface="Arial"/>
              </a:rPr>
              <a:t>Dataset permissions and provenance</a:t>
            </a:r>
          </a:p>
          <a:p xmlns:a="http://schemas.openxmlformats.org/drawingml/2006/main">
            <a:pPr algn="l">
              <a:defRPr sz="2100" b="0">
                <a:solidFill>
                  <a:srgbClr val="142B3F"/>
                </a:solidFill>
                <a:latin typeface="Arial"/>
                <a:ea typeface="Arial"/>
                <a:cs typeface="Arial"/>
              </a:defRPr>
            </a:pPr>
            <a:r>
              <a:rPr sz="2100" b="0">
                <a:solidFill>
                  <a:srgbClr val="142B3F"/>
                </a:solidFill>
                <a:latin typeface="Arial"/>
                <a:ea typeface="Arial"/>
                <a:cs typeface="Arial"/>
              </a:rPr>
              <a:t>Protect gradients, data and checkpoints</a:t>
            </a:r>
          </a:p>
          <a:p xmlns:a="http://schemas.openxmlformats.org/drawingml/2006/main">
            <a:pPr algn="l">
              <a:defRPr sz="2100" b="0">
                <a:solidFill>
                  <a:srgbClr val="142B3F"/>
                </a:solidFill>
                <a:latin typeface="Arial"/>
                <a:ea typeface="Arial"/>
                <a:cs typeface="Arial"/>
              </a:defRPr>
            </a:pPr>
            <a:r>
              <a:rPr sz="2100" b="0">
                <a:solidFill>
                  <a:srgbClr val="142B3F"/>
                </a:solidFill>
                <a:latin typeface="Arial"/>
                <a:ea typeface="Arial"/>
                <a:cs typeface="Arial"/>
              </a:rPr>
              <a:t>Fairness checks across affected groups</a:t>
            </a:r>
          </a:p>
        </p:txBody>
      </p:sp>
      <p:sp>
        <p:nvSpPr>
          <p:cNvPr id="6" name="task2-text-27">
            <a:extLst xmlns:a="http://schemas.openxmlformats.org/drawingml/2006/main">
              <a:ext uri="{FF2B5EF4-FFF2-40B4-BE49-F238E27FC236}">
                <a16:creationId xmlns:a16="http://schemas.microsoft.com/office/drawing/2014/main" id="{43993DF5-D7C0-418C-B785-E27DB7CB01BA}"/>
              </a:ext>
            </a:extLst>
          </p:cNvPr>
          <p:cNvSpPr>
            <a:spLocks xmlns:a="http://schemas.openxmlformats.org/drawingml/2006/main" noGrp="1"/>
          </p:cNvSpPr>
          <p:nvPr/>
        </p:nvSpPr>
        <p:spPr>
          <a:xfrm xmlns:a="http://schemas.openxmlformats.org/drawingml/2006/main">
            <a:off x="6619875" y="1743075"/>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142B3F"/>
                </a:solidFill>
                <a:latin typeface="Arial"/>
                <a:ea typeface="Arial"/>
                <a:cs typeface="Arial"/>
              </a:defRPr>
            </a:pPr>
            <a:r>
              <a:rPr sz="2475" b="1">
                <a:solidFill>
                  <a:srgbClr val="142B3F"/>
                </a:solidFill>
                <a:latin typeface="Arial"/>
                <a:ea typeface="Arial"/>
                <a:cs typeface="Arial"/>
              </a:rPr>
              <a:t>Access to compute</a:t>
            </a:r>
          </a:p>
        </p:txBody>
      </p:sp>
      <p:sp>
        <p:nvSpPr>
          <p:cNvPr id="7" name="task2-text-28">
            <a:extLst xmlns:a="http://schemas.openxmlformats.org/drawingml/2006/main">
              <a:ext uri="{FF2B5EF4-FFF2-40B4-BE49-F238E27FC236}">
                <a16:creationId xmlns:a16="http://schemas.microsoft.com/office/drawing/2014/main" id="{0CB79BB8-4DB0-4D0A-87A7-64243017472D}"/>
              </a:ext>
            </a:extLst>
          </p:cNvPr>
          <p:cNvSpPr>
            <a:spLocks xmlns:a="http://schemas.openxmlformats.org/drawingml/2006/main" noGrp="1"/>
          </p:cNvSpPr>
          <p:nvPr/>
        </p:nvSpPr>
        <p:spPr>
          <a:xfrm xmlns:a="http://schemas.openxmlformats.org/drawingml/2006/main">
            <a:off x="6619875" y="2390775"/>
            <a:ext cx="4857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42B3F"/>
                </a:solidFill>
                <a:latin typeface="Arial"/>
                <a:ea typeface="Arial"/>
                <a:cs typeface="Arial"/>
              </a:defRPr>
            </a:pPr>
            <a:r>
              <a:rPr sz="2100" b="0">
                <a:solidFill>
                  <a:srgbClr val="142B3F"/>
                </a:solidFill>
                <a:latin typeface="Arial"/>
                <a:ea typeface="Arial"/>
                <a:cs typeface="Arial"/>
              </a:rPr>
              <a:t>Cost can limit participation</a:t>
            </a:r>
          </a:p>
          <a:p xmlns:a="http://schemas.openxmlformats.org/drawingml/2006/main">
            <a:pPr algn="l">
              <a:defRPr sz="2100" b="0">
                <a:solidFill>
                  <a:srgbClr val="142B3F"/>
                </a:solidFill>
                <a:latin typeface="Arial"/>
                <a:ea typeface="Arial"/>
                <a:cs typeface="Arial"/>
              </a:defRPr>
            </a:pPr>
            <a:r>
              <a:rPr sz="2100" b="0">
                <a:solidFill>
                  <a:srgbClr val="142B3F"/>
                </a:solidFill>
                <a:latin typeface="Arial"/>
                <a:ea typeface="Arial"/>
                <a:cs typeface="Arial"/>
              </a:rPr>
              <a:t>Shared research capacity broadens access</a:t>
            </a:r>
          </a:p>
          <a:p xmlns:a="http://schemas.openxmlformats.org/drawingml/2006/main">
            <a:pPr algn="l">
              <a:defRPr sz="2100" b="0">
                <a:solidFill>
                  <a:srgbClr val="142B3F"/>
                </a:solidFill>
                <a:latin typeface="Arial"/>
                <a:ea typeface="Arial"/>
                <a:cs typeface="Arial"/>
              </a:defRPr>
            </a:pPr>
            <a:r>
              <a:rPr sz="2100" b="0">
                <a:solidFill>
                  <a:srgbClr val="142B3F"/>
                </a:solidFill>
                <a:latin typeface="Arial"/>
                <a:ea typeface="Arial"/>
                <a:cs typeface="Arial"/>
              </a:rPr>
              <a:t>Transparent allocation rules matter</a:t>
            </a:r>
          </a:p>
        </p:txBody>
      </p:sp>
      <p:sp>
        <p:nvSpPr>
          <p:cNvPr id="8" name="task2-text-29">
            <a:extLst xmlns:a="http://schemas.openxmlformats.org/drawingml/2006/main">
              <a:ext uri="{FF2B5EF4-FFF2-40B4-BE49-F238E27FC236}">
                <a16:creationId xmlns:a16="http://schemas.microsoft.com/office/drawing/2014/main" id="{1996307D-05CB-4FCF-9647-3AB2ED09F102}"/>
              </a:ext>
            </a:extLst>
          </p:cNvPr>
          <p:cNvSpPr>
            <a:spLocks xmlns:a="http://schemas.openxmlformats.org/drawingml/2006/main" noGrp="1"/>
          </p:cNvSpPr>
          <p:nvPr/>
        </p:nvSpPr>
        <p:spPr>
          <a:xfrm xmlns:a="http://schemas.openxmlformats.org/drawingml/2006/main">
            <a:off x="571500" y="4371975"/>
            <a:ext cx="5238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87E8B"/>
                </a:solidFill>
                <a:latin typeface="Arial"/>
                <a:ea typeface="Arial"/>
                <a:cs typeface="Arial"/>
              </a:defRPr>
            </a:pPr>
            <a:r>
              <a:rPr sz="2100" b="1">
                <a:solidFill>
                  <a:srgbClr val="087E8B"/>
                </a:solidFill>
                <a:latin typeface="Arial"/>
                <a:ea typeface="Arial"/>
                <a:cs typeface="Arial"/>
              </a:rPr>
              <a:t>Exposed gradients can leak data</a:t>
            </a:r>
          </a:p>
          <a:p xmlns:a="http://schemas.openxmlformats.org/drawingml/2006/main">
            <a:pPr algn="l">
              <a:defRPr sz="2100" b="1">
                <a:solidFill>
                  <a:srgbClr val="087E8B"/>
                </a:solidFill>
                <a:latin typeface="Arial"/>
                <a:ea typeface="Arial"/>
                <a:cs typeface="Arial"/>
              </a:defRPr>
            </a:pPr>
            <a:r>
              <a:rPr sz="2100" b="1">
                <a:solidFill>
                  <a:srgbClr val="087E8B"/>
                </a:solidFill>
                <a:latin typeface="Arial"/>
                <a:ea typeface="Arial"/>
                <a:cs typeface="Arial"/>
              </a:rPr>
              <a:t>More compute does not fix bias</a:t>
            </a:r>
          </a:p>
        </p:txBody>
      </p:sp>
      <p:sp>
        <p:nvSpPr>
          <p:cNvPr id="9" name="task2-text-30">
            <a:extLst xmlns:a="http://schemas.openxmlformats.org/drawingml/2006/main">
              <a:ext uri="{FF2B5EF4-FFF2-40B4-BE49-F238E27FC236}">
                <a16:creationId xmlns:a16="http://schemas.microsoft.com/office/drawing/2014/main" id="{D2034DC1-C7ED-4A51-81F9-2A9356952C18}"/>
              </a:ext>
            </a:extLst>
          </p:cNvPr>
          <p:cNvSpPr>
            <a:spLocks xmlns:a="http://schemas.openxmlformats.org/drawingml/2006/main" noGrp="1"/>
          </p:cNvSpPr>
          <p:nvPr/>
        </p:nvSpPr>
        <p:spPr>
          <a:xfrm xmlns:a="http://schemas.openxmlformats.org/drawingml/2006/main">
            <a:off x="6619875" y="4371975"/>
            <a:ext cx="4762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Arial"/>
                <a:ea typeface="Arial"/>
                <a:cs typeface="Arial"/>
              </a:defRPr>
            </a:pPr>
            <a:r>
              <a:rPr sz="1950" b="0">
                <a:solidFill>
                  <a:srgbClr val="087E8B"/>
                </a:solidFill>
                <a:latin typeface="Arial"/>
                <a:ea typeface="Arial"/>
                <a:cs typeface="Arial"/>
              </a:rPr>
              <a:t>US example: NAIRR</a:t>
            </a:r>
          </a:p>
          <a:p xmlns:a="http://schemas.openxmlformats.org/drawingml/2006/main">
            <a:pPr algn="l">
              <a:defRPr sz="1950" b="0">
                <a:solidFill>
                  <a:srgbClr val="087E8B"/>
                </a:solidFill>
                <a:latin typeface="Arial"/>
                <a:ea typeface="Arial"/>
                <a:cs typeface="Arial"/>
              </a:defRPr>
            </a:pPr>
            <a:r>
              <a:rPr sz="1950" b="0">
                <a:solidFill>
                  <a:srgbClr val="087E8B"/>
                </a:solidFill>
                <a:latin typeface="Arial"/>
                <a:ea typeface="Arial"/>
                <a:cs typeface="Arial"/>
              </a:rPr>
              <a:t>600+ teams and 6,000 students</a:t>
            </a:r>
          </a:p>
          <a:p xmlns:a="http://schemas.openxmlformats.org/drawingml/2006/main">
            <a:pPr algn="l">
              <a:defRPr sz="1950" b="0">
                <a:solidFill>
                  <a:srgbClr val="087E8B"/>
                </a:solidFill>
                <a:latin typeface="Arial"/>
                <a:ea typeface="Arial"/>
                <a:cs typeface="Arial"/>
              </a:defRPr>
            </a:pPr>
            <a:r>
              <a:rPr sz="1950" b="0">
                <a:solidFill>
                  <a:srgbClr val="087E8B"/>
                </a:solidFill>
                <a:latin typeface="Arial"/>
                <a:ea typeface="Arial"/>
                <a:cs typeface="Arial"/>
              </a:rPr>
              <a:t>Since 2024, reported March 2026</a:t>
            </a:r>
          </a:p>
        </p:txBody>
      </p:sp>
      <p:sp>
        <p:nvSpPr>
          <p:cNvPr id="10" name="task2-text-31">
            <a:extLst xmlns:a="http://schemas.openxmlformats.org/drawingml/2006/main">
              <a:ext uri="{FF2B5EF4-FFF2-40B4-BE49-F238E27FC236}">
                <a16:creationId xmlns:a16="http://schemas.microsoft.com/office/drawing/2014/main" id="{294813BB-0DC9-43CD-98B3-8275C9FE1EE0}"/>
              </a:ext>
            </a:extLst>
          </p:cNvPr>
          <p:cNvSpPr>
            <a:spLocks xmlns:a="http://schemas.openxmlformats.org/drawingml/2006/main" noGrp="1"/>
          </p:cNvSpPr>
          <p:nvPr/>
        </p:nvSpPr>
        <p:spPr>
          <a:xfrm xmlns:a="http://schemas.openxmlformats.org/drawingml/2006/main">
            <a:off x="571500" y="579120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42B3F"/>
                </a:solidFill>
                <a:latin typeface="Arial"/>
                <a:ea typeface="Arial"/>
                <a:cs typeface="Arial"/>
              </a:defRPr>
            </a:pPr>
            <a:r>
              <a:rPr sz="1950" b="0">
                <a:solidFill>
                  <a:srgbClr val="142B3F"/>
                </a:solidFill>
                <a:latin typeface="Arial"/>
                <a:ea typeface="Arial"/>
                <a:cs typeface="Arial"/>
              </a:rPr>
              <a:t>Secure, representative data and access policies both require active governance</a:t>
            </a:r>
          </a:p>
        </p:txBody>
      </p:sp>
    </p:spTree>
    <p:extLst>
      <p:ext uri="{BB962C8B-B14F-4D97-AF65-F5344CB8AC3E}">
        <p14:creationId xmlns:p14="http://schemas.microsoft.com/office/powerpoint/2010/main" val="1683114621"/>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4" name="task2-text-32">
            <a:extLst xmlns:a="http://schemas.openxmlformats.org/drawingml/2006/main">
              <a:ext uri="{FF2B5EF4-FFF2-40B4-BE49-F238E27FC236}">
                <a16:creationId xmlns:a16="http://schemas.microsoft.com/office/drawing/2014/main" id="{D4B65D61-E3E1-4EC0-AB18-0FA09235160C}"/>
              </a:ext>
            </a:extLst>
          </p:cNvPr>
          <p:cNvSpPr>
            <a:spLocks xmlns:a="http://schemas.openxmlformats.org/drawingml/2006/main" noGrp="1"/>
          </p:cNvSpPr>
          <p:nvPr/>
        </p:nvSpPr>
        <p:spPr>
          <a:xfrm xmlns:a="http://schemas.openxmlformats.org/drawingml/2006/main">
            <a:off x="571500" y="457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B3F"/>
                </a:solidFill>
                <a:latin typeface="Arial"/>
                <a:ea typeface="Arial"/>
                <a:cs typeface="Arial"/>
              </a:defRPr>
            </a:pPr>
            <a:r>
              <a:rPr sz="3300" b="1">
                <a:solidFill>
                  <a:srgbClr val="142B3F"/>
                </a:solidFill>
                <a:latin typeface="Arial"/>
                <a:ea typeface="Arial"/>
                <a:cs typeface="Arial"/>
              </a:rPr>
              <a:t>Responsible HPC policies</a:t>
            </a:r>
          </a:p>
        </p:txBody>
      </p:sp>
      <p:sp>
        <p:nvSpPr>
          <p:cNvPr id="2" name="task2-text-33">
            <a:extLst xmlns:a="http://schemas.openxmlformats.org/drawingml/2006/main">
              <a:ext uri="{FF2B5EF4-FFF2-40B4-BE49-F238E27FC236}">
                <a16:creationId xmlns:a16="http://schemas.microsoft.com/office/drawing/2014/main" id="{1DB674B6-3837-4B47-B334-5AA822584968}"/>
              </a:ext>
            </a:extLst>
          </p:cNvPr>
          <p:cNvSpPr>
            <a:spLocks xmlns:a="http://schemas.openxmlformats.org/drawingml/2006/main" noGrp="1"/>
          </p:cNvSpPr>
          <p:nvPr/>
        </p:nvSpPr>
        <p:spPr>
          <a:xfrm xmlns:a="http://schemas.openxmlformats.org/drawingml/2006/main">
            <a:off x="571500" y="64008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496274"/>
                </a:solidFill>
                <a:latin typeface="Arial"/>
                <a:ea typeface="Arial"/>
                <a:cs typeface="Arial"/>
              </a:defRPr>
            </a:pPr>
            <a:r>
              <a:rPr sz="1200" b="0">
                <a:solidFill>
                  <a:srgbClr val="496274"/>
                </a:solidFill>
                <a:latin typeface="Arial"/>
                <a:ea typeface="Arial"/>
                <a:cs typeface="Arial"/>
              </a:rPr>
              <a:t>Sources: [14] [15] [16] [17] [18] [19]. Full URLs in notes and companion PDF.</a:t>
            </a:r>
          </a:p>
        </p:txBody>
      </p:sp>
      <p:sp>
        <p:nvSpPr>
          <p:cNvPr id="3" name="task2-text-34">
            <a:extLst xmlns:a="http://schemas.openxmlformats.org/drawingml/2006/main">
              <a:ext uri="{FF2B5EF4-FFF2-40B4-BE49-F238E27FC236}">
                <a16:creationId xmlns:a16="http://schemas.microsoft.com/office/drawing/2014/main" id="{0365FCB5-4956-45BF-ACC7-A6F9980D8BFE}"/>
              </a:ext>
            </a:extLst>
          </p:cNvPr>
          <p:cNvSpPr>
            <a:spLocks xmlns:a="http://schemas.openxmlformats.org/drawingml/2006/main" noGrp="1"/>
          </p:cNvSpPr>
          <p:nvPr/>
        </p:nvSpPr>
        <p:spPr>
          <a:xfrm xmlns:a="http://schemas.openxmlformats.org/drawingml/2006/main">
            <a:off x="11144250" y="64008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496274"/>
                </a:solidFill>
                <a:latin typeface="Arial"/>
                <a:ea typeface="Arial"/>
                <a:cs typeface="Arial"/>
              </a:defRPr>
            </a:pPr>
            <a:r>
              <a:rPr sz="1200" b="0">
                <a:solidFill>
                  <a:srgbClr val="496274"/>
                </a:solidFill>
                <a:latin typeface="Arial"/>
                <a:ea typeface="Arial"/>
                <a:cs typeface="Arial"/>
              </a:rPr>
              <a:t>4</a:t>
            </a:r>
          </a:p>
        </p:txBody>
      </p:sp>
      <p:sp>
        <p:nvSpPr>
          <p:cNvPr id="4" name="task2-text-35">
            <a:extLst xmlns:a="http://schemas.openxmlformats.org/drawingml/2006/main">
              <a:ext uri="{FF2B5EF4-FFF2-40B4-BE49-F238E27FC236}">
                <a16:creationId xmlns:a16="http://schemas.microsoft.com/office/drawing/2014/main" id="{AE655287-EC68-467B-B363-38CCBB3A2306}"/>
              </a:ext>
            </a:extLst>
          </p:cNvPr>
          <p:cNvSpPr>
            <a:spLocks xmlns:a="http://schemas.openxmlformats.org/drawingml/2006/main" noGrp="1"/>
          </p:cNvSpPr>
          <p:nvPr/>
        </p:nvSpPr>
        <p:spPr>
          <a:xfrm xmlns:a="http://schemas.openxmlformats.org/drawingml/2006/main">
            <a:off x="571500" y="1647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42B3F"/>
                </a:solidFill>
                <a:latin typeface="Arial"/>
                <a:ea typeface="Arial"/>
                <a:cs typeface="Arial"/>
              </a:defRPr>
            </a:pPr>
            <a:r>
              <a:rPr sz="2250" b="0">
                <a:solidFill>
                  <a:srgbClr val="142B3F"/>
                </a:solidFill>
                <a:latin typeface="Arial"/>
                <a:ea typeface="Arial"/>
                <a:cs typeface="Arial"/>
              </a:rPr>
              <a:t>Green AI, OECD and NIST guide efficiency and responsible use</a:t>
            </a:r>
          </a:p>
        </p:txBody>
      </p:sp>
      <p:sp>
        <p:nvSpPr>
          <p:cNvPr id="5" name="task2-text-36">
            <a:extLst xmlns:a="http://schemas.openxmlformats.org/drawingml/2006/main">
              <a:ext uri="{FF2B5EF4-FFF2-40B4-BE49-F238E27FC236}">
                <a16:creationId xmlns:a16="http://schemas.microsoft.com/office/drawing/2014/main" id="{96735B69-6181-4FBA-B47E-CCC4D3D6DDC3}"/>
              </a:ext>
            </a:extLst>
          </p:cNvPr>
          <p:cNvSpPr>
            <a:spLocks xmlns:a="http://schemas.openxmlformats.org/drawingml/2006/main" noGrp="1"/>
          </p:cNvSpPr>
          <p:nvPr/>
        </p:nvSpPr>
        <p:spPr>
          <a:xfrm xmlns:a="http://schemas.openxmlformats.org/drawingml/2006/main">
            <a:off x="571500" y="26193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B3F"/>
                </a:solidFill>
                <a:latin typeface="Arial"/>
                <a:ea typeface="Arial"/>
                <a:cs typeface="Arial"/>
              </a:defRPr>
            </a:pPr>
            <a:r>
              <a:rPr sz="2175" b="1">
                <a:solidFill>
                  <a:srgbClr val="142B3F"/>
                </a:solidFill>
                <a:latin typeface="Arial"/>
                <a:ea typeface="Arial"/>
                <a:cs typeface="Arial"/>
              </a:rPr>
              <a:t>Energy</a:t>
            </a:r>
          </a:p>
        </p:txBody>
      </p:sp>
      <p:sp>
        <p:nvSpPr>
          <p:cNvPr id="6" name="task2-text-37">
            <a:extLst xmlns:a="http://schemas.openxmlformats.org/drawingml/2006/main">
              <a:ext uri="{FF2B5EF4-FFF2-40B4-BE49-F238E27FC236}">
                <a16:creationId xmlns:a16="http://schemas.microsoft.com/office/drawing/2014/main" id="{E332AD19-35DC-4A30-BF38-7A2FFBCF6DBD}"/>
              </a:ext>
            </a:extLst>
          </p:cNvPr>
          <p:cNvSpPr>
            <a:spLocks xmlns:a="http://schemas.openxmlformats.org/drawingml/2006/main" noGrp="1"/>
          </p:cNvSpPr>
          <p:nvPr/>
        </p:nvSpPr>
        <p:spPr>
          <a:xfrm xmlns:a="http://schemas.openxmlformats.org/drawingml/2006/main">
            <a:off x="3190875" y="2619375"/>
            <a:ext cx="828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42B3F"/>
                </a:solidFill>
                <a:latin typeface="Arial"/>
                <a:ea typeface="Arial"/>
                <a:cs typeface="Arial"/>
              </a:defRPr>
            </a:pPr>
            <a:r>
              <a:rPr sz="2025" b="0">
                <a:solidFill>
                  <a:srgbClr val="142B3F"/>
                </a:solidFill>
                <a:latin typeface="Arial"/>
                <a:ea typeface="Arial"/>
                <a:cs typeface="Arial"/>
              </a:rPr>
              <a:t>Set a budget and measure total kWh and emissions</a:t>
            </a:r>
          </a:p>
        </p:txBody>
      </p:sp>
      <p:sp>
        <p:nvSpPr>
          <p:cNvPr id="7" name="task2-text-38">
            <a:extLst xmlns:a="http://schemas.openxmlformats.org/drawingml/2006/main">
              <a:ext uri="{FF2B5EF4-FFF2-40B4-BE49-F238E27FC236}">
                <a16:creationId xmlns:a16="http://schemas.microsoft.com/office/drawing/2014/main" id="{952F7654-394A-4DD3-9932-8C8A941AF8FA}"/>
              </a:ext>
            </a:extLst>
          </p:cNvPr>
          <p:cNvSpPr>
            <a:spLocks xmlns:a="http://schemas.openxmlformats.org/drawingml/2006/main" noGrp="1"/>
          </p:cNvSpPr>
          <p:nvPr/>
        </p:nvSpPr>
        <p:spPr>
          <a:xfrm xmlns:a="http://schemas.openxmlformats.org/drawingml/2006/main">
            <a:off x="571500" y="34194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B3F"/>
                </a:solidFill>
                <a:latin typeface="Arial"/>
                <a:ea typeface="Arial"/>
                <a:cs typeface="Arial"/>
              </a:defRPr>
            </a:pPr>
            <a:r>
              <a:rPr sz="2175" b="1">
                <a:solidFill>
                  <a:srgbClr val="142B3F"/>
                </a:solidFill>
                <a:latin typeface="Arial"/>
                <a:ea typeface="Arial"/>
                <a:cs typeface="Arial"/>
              </a:rPr>
              <a:t>Scheduling</a:t>
            </a:r>
          </a:p>
        </p:txBody>
      </p:sp>
      <p:sp>
        <p:nvSpPr>
          <p:cNvPr id="8" name="task2-text-39">
            <a:extLst xmlns:a="http://schemas.openxmlformats.org/drawingml/2006/main">
              <a:ext uri="{FF2B5EF4-FFF2-40B4-BE49-F238E27FC236}">
                <a16:creationId xmlns:a16="http://schemas.microsoft.com/office/drawing/2014/main" id="{B1B0BA9B-F335-4EB5-A57D-32B674096583}"/>
              </a:ext>
            </a:extLst>
          </p:cNvPr>
          <p:cNvSpPr>
            <a:spLocks xmlns:a="http://schemas.openxmlformats.org/drawingml/2006/main" noGrp="1"/>
          </p:cNvSpPr>
          <p:nvPr/>
        </p:nvSpPr>
        <p:spPr>
          <a:xfrm xmlns:a="http://schemas.openxmlformats.org/drawingml/2006/main">
            <a:off x="3190875" y="3419475"/>
            <a:ext cx="828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42B3F"/>
                </a:solidFill>
                <a:latin typeface="Arial"/>
                <a:ea typeface="Arial"/>
                <a:cs typeface="Arial"/>
              </a:defRPr>
            </a:pPr>
            <a:r>
              <a:rPr sz="2025" b="0">
                <a:solidFill>
                  <a:srgbClr val="142B3F"/>
                </a:solidFill>
                <a:latin typeface="Arial"/>
                <a:ea typeface="Arial"/>
                <a:cs typeface="Arial"/>
              </a:rPr>
              <a:t>Shift flexible jobs to lower-carbon periods within deadlines</a:t>
            </a:r>
          </a:p>
        </p:txBody>
      </p:sp>
      <p:sp>
        <p:nvSpPr>
          <p:cNvPr id="9" name="task2-text-40">
            <a:extLst xmlns:a="http://schemas.openxmlformats.org/drawingml/2006/main">
              <a:ext uri="{FF2B5EF4-FFF2-40B4-BE49-F238E27FC236}">
                <a16:creationId xmlns:a16="http://schemas.microsoft.com/office/drawing/2014/main" id="{8310F5F5-494E-4A1A-A8C6-F5ACF9E928E9}"/>
              </a:ext>
            </a:extLst>
          </p:cNvPr>
          <p:cNvSpPr>
            <a:spLocks xmlns:a="http://schemas.openxmlformats.org/drawingml/2006/main" noGrp="1"/>
          </p:cNvSpPr>
          <p:nvPr/>
        </p:nvSpPr>
        <p:spPr>
          <a:xfrm xmlns:a="http://schemas.openxmlformats.org/drawingml/2006/main">
            <a:off x="571500" y="42195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B3F"/>
                </a:solidFill>
                <a:latin typeface="Arial"/>
                <a:ea typeface="Arial"/>
                <a:cs typeface="Arial"/>
              </a:defRPr>
            </a:pPr>
            <a:r>
              <a:rPr sz="2175" b="1">
                <a:solidFill>
                  <a:srgbClr val="142B3F"/>
                </a:solidFill>
                <a:latin typeface="Arial"/>
                <a:ea typeface="Arial"/>
                <a:cs typeface="Arial"/>
              </a:rPr>
              <a:t>Governance</a:t>
            </a:r>
          </a:p>
        </p:txBody>
      </p:sp>
      <p:sp>
        <p:nvSpPr>
          <p:cNvPr id="10" name="task2-text-41">
            <a:extLst xmlns:a="http://schemas.openxmlformats.org/drawingml/2006/main">
              <a:ext uri="{FF2B5EF4-FFF2-40B4-BE49-F238E27FC236}">
                <a16:creationId xmlns:a16="http://schemas.microsoft.com/office/drawing/2014/main" id="{9BBBCF53-AC46-4660-97EB-648D98293D2B}"/>
              </a:ext>
            </a:extLst>
          </p:cNvPr>
          <p:cNvSpPr>
            <a:spLocks xmlns:a="http://schemas.openxmlformats.org/drawingml/2006/main" noGrp="1"/>
          </p:cNvSpPr>
          <p:nvPr/>
        </p:nvSpPr>
        <p:spPr>
          <a:xfrm xmlns:a="http://schemas.openxmlformats.org/drawingml/2006/main">
            <a:off x="3190875" y="4219575"/>
            <a:ext cx="828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42B3F"/>
                </a:solidFill>
                <a:latin typeface="Arial"/>
                <a:ea typeface="Arial"/>
                <a:cs typeface="Arial"/>
              </a:defRPr>
            </a:pPr>
            <a:r>
              <a:rPr sz="2025" b="0">
                <a:solidFill>
                  <a:srgbClr val="142B3F"/>
                </a:solidFill>
                <a:latin typeface="Arial"/>
                <a:ea typeface="Arial"/>
                <a:cs typeface="Arial"/>
              </a:rPr>
              <a:t>Assign owners and assess privacy, security and fairness</a:t>
            </a:r>
          </a:p>
        </p:txBody>
      </p:sp>
      <p:sp>
        <p:nvSpPr>
          <p:cNvPr id="11" name="task2-text-42">
            <a:extLst xmlns:a="http://schemas.openxmlformats.org/drawingml/2006/main">
              <a:ext uri="{FF2B5EF4-FFF2-40B4-BE49-F238E27FC236}">
                <a16:creationId xmlns:a16="http://schemas.microsoft.com/office/drawing/2014/main" id="{5C2C7E4D-92FA-4CC9-A901-43893843A1E1}"/>
              </a:ext>
            </a:extLst>
          </p:cNvPr>
          <p:cNvSpPr>
            <a:spLocks xmlns:a="http://schemas.openxmlformats.org/drawingml/2006/main" noGrp="1"/>
          </p:cNvSpPr>
          <p:nvPr/>
        </p:nvSpPr>
        <p:spPr>
          <a:xfrm xmlns:a="http://schemas.openxmlformats.org/drawingml/2006/main">
            <a:off x="571500" y="50196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B3F"/>
                </a:solidFill>
                <a:latin typeface="Arial"/>
                <a:ea typeface="Arial"/>
                <a:cs typeface="Arial"/>
              </a:defRPr>
            </a:pPr>
            <a:r>
              <a:rPr sz="2175" b="1">
                <a:solidFill>
                  <a:srgbClr val="142B3F"/>
                </a:solidFill>
                <a:latin typeface="Arial"/>
                <a:ea typeface="Arial"/>
                <a:cs typeface="Arial"/>
              </a:rPr>
              <a:t>Access</a:t>
            </a:r>
          </a:p>
        </p:txBody>
      </p:sp>
      <p:sp>
        <p:nvSpPr>
          <p:cNvPr id="12" name="task2-text-43">
            <a:extLst xmlns:a="http://schemas.openxmlformats.org/drawingml/2006/main">
              <a:ext uri="{FF2B5EF4-FFF2-40B4-BE49-F238E27FC236}">
                <a16:creationId xmlns:a16="http://schemas.microsoft.com/office/drawing/2014/main" id="{427E369B-56A7-44B6-B0BA-F16385D2D6FF}"/>
              </a:ext>
            </a:extLst>
          </p:cNvPr>
          <p:cNvSpPr>
            <a:spLocks xmlns:a="http://schemas.openxmlformats.org/drawingml/2006/main" noGrp="1"/>
          </p:cNvSpPr>
          <p:nvPr/>
        </p:nvSpPr>
        <p:spPr>
          <a:xfrm xmlns:a="http://schemas.openxmlformats.org/drawingml/2006/main">
            <a:off x="3190875" y="5019675"/>
            <a:ext cx="828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42B3F"/>
                </a:solidFill>
                <a:latin typeface="Arial"/>
                <a:ea typeface="Arial"/>
                <a:cs typeface="Arial"/>
              </a:defRPr>
            </a:pPr>
            <a:r>
              <a:rPr sz="2025" b="0">
                <a:solidFill>
                  <a:srgbClr val="142B3F"/>
                </a:solidFill>
                <a:latin typeface="Arial"/>
                <a:ea typeface="Arial"/>
                <a:cs typeface="Arial"/>
              </a:rPr>
              <a:t>Publish allocation rules and provide shared research capacity</a:t>
            </a:r>
          </a:p>
        </p:txBody>
      </p:sp>
      <p:sp>
        <p:nvSpPr>
          <p:cNvPr id="13" name="task2-text-44">
            <a:extLst xmlns:a="http://schemas.openxmlformats.org/drawingml/2006/main">
              <a:ext uri="{FF2B5EF4-FFF2-40B4-BE49-F238E27FC236}">
                <a16:creationId xmlns:a16="http://schemas.microsoft.com/office/drawing/2014/main" id="{00ED2185-0DC7-4D5A-AE04-5ED2676126B6}"/>
              </a:ext>
            </a:extLst>
          </p:cNvPr>
          <p:cNvSpPr>
            <a:spLocks xmlns:a="http://schemas.openxmlformats.org/drawingml/2006/main" noGrp="1"/>
          </p:cNvSpPr>
          <p:nvPr/>
        </p:nvSpPr>
        <p:spPr>
          <a:xfrm xmlns:a="http://schemas.openxmlformats.org/drawingml/2006/main">
            <a:off x="571500" y="59150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87E8B"/>
                </a:solidFill>
                <a:latin typeface="Arial"/>
                <a:ea typeface="Arial"/>
                <a:cs typeface="Arial"/>
              </a:defRPr>
            </a:pPr>
            <a:r>
              <a:rPr sz="1800" b="0">
                <a:solidFill>
                  <a:srgbClr val="087E8B"/>
                </a:solidFill>
                <a:latin typeface="Arial"/>
                <a:ea typeface="Arial"/>
                <a:cs typeface="Arial"/>
              </a:rPr>
              <a:t>Trade-offs include deadlines, forecast uncertainty and local water conditions</a:t>
            </a:r>
          </a:p>
        </p:txBody>
      </p:sp>
    </p:spTree>
    <p:extLst>
      <p:ext uri="{BB962C8B-B14F-4D97-AF65-F5344CB8AC3E}">
        <p14:creationId xmlns:p14="http://schemas.microsoft.com/office/powerpoint/2010/main" val="662057089"/>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ask2-text-45">
            <a:extLst xmlns:a="http://schemas.openxmlformats.org/drawingml/2006/main">
              <a:ext uri="{FF2B5EF4-FFF2-40B4-BE49-F238E27FC236}">
                <a16:creationId xmlns:a16="http://schemas.microsoft.com/office/drawing/2014/main" id="{F3E757D0-01B0-459D-871F-05901479843C}"/>
              </a:ext>
            </a:extLst>
          </p:cNvPr>
          <p:cNvSpPr>
            <a:spLocks xmlns:a="http://schemas.openxmlformats.org/drawingml/2006/main" noGrp="1"/>
          </p:cNvSpPr>
          <p:nvPr/>
        </p:nvSpPr>
        <p:spPr>
          <a:xfrm xmlns:a="http://schemas.openxmlformats.org/drawingml/2006/main">
            <a:off x="571500" y="457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B3F"/>
                </a:solidFill>
                <a:latin typeface="Arial"/>
                <a:ea typeface="Arial"/>
                <a:cs typeface="Arial"/>
              </a:defRPr>
            </a:pPr>
            <a:r>
              <a:rPr sz="3300" b="1">
                <a:solidFill>
                  <a:srgbClr val="142B3F"/>
                </a:solidFill>
                <a:latin typeface="Arial"/>
                <a:ea typeface="Arial"/>
                <a:cs typeface="Arial"/>
              </a:rPr>
              <a:t>Task 2 appendix 1: References</a:t>
            </a:r>
          </a:p>
        </p:txBody>
      </p:sp>
      <p:sp>
        <p:nvSpPr>
          <p:cNvPr id="2" name="task2-text-46">
            <a:extLst xmlns:a="http://schemas.openxmlformats.org/drawingml/2006/main">
              <a:ext uri="{FF2B5EF4-FFF2-40B4-BE49-F238E27FC236}">
                <a16:creationId xmlns:a16="http://schemas.microsoft.com/office/drawing/2014/main" id="{16DD07C1-E545-4BB7-B9EF-EDA6755CE3F4}"/>
              </a:ext>
            </a:extLst>
          </p:cNvPr>
          <p:cNvSpPr>
            <a:spLocks xmlns:a="http://schemas.openxmlformats.org/drawingml/2006/main" noGrp="1"/>
          </p:cNvSpPr>
          <p:nvPr/>
        </p:nvSpPr>
        <p:spPr>
          <a:xfrm xmlns:a="http://schemas.openxmlformats.org/drawingml/2006/main">
            <a:off x="571500" y="1381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496274"/>
                </a:solidFill>
                <a:latin typeface="Arial"/>
                <a:ea typeface="Arial"/>
                <a:cs typeface="Arial"/>
              </a:defRPr>
            </a:pPr>
            <a:r>
              <a:rPr sz="1650" b="0">
                <a:solidFill>
                  <a:srgbClr val="496274"/>
                </a:solidFill>
                <a:latin typeface="Arial"/>
                <a:ea typeface="Arial"/>
                <a:cs typeface="Arial"/>
              </a:rPr>
              <a:t>Task 2 supplementary references</a:t>
            </a:r>
          </a:p>
        </p:txBody>
      </p:sp>
      <p:sp>
        <p:nvSpPr>
          <p:cNvPr id="3" name="task2-text-47">
            <a:extLst xmlns:a="http://schemas.openxmlformats.org/drawingml/2006/main">
              <a:ext uri="{FF2B5EF4-FFF2-40B4-BE49-F238E27FC236}">
                <a16:creationId xmlns:a16="http://schemas.microsoft.com/office/drawing/2014/main" id="{63053EA4-BAF2-46EF-B105-E2AD3BADE605}"/>
              </a:ext>
            </a:extLst>
          </p:cNvPr>
          <p:cNvSpPr>
            <a:spLocks xmlns:a="http://schemas.openxmlformats.org/drawingml/2006/main" noGrp="1"/>
          </p:cNvSpPr>
          <p:nvPr/>
        </p:nvSpPr>
        <p:spPr>
          <a:xfrm xmlns:a="http://schemas.openxmlformats.org/drawingml/2006/main">
            <a:off x="571500" y="64008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496274"/>
                </a:solidFill>
                <a:latin typeface="Arial"/>
                <a:ea typeface="Arial"/>
                <a:cs typeface="Arial"/>
              </a:defRPr>
            </a:pPr>
            <a:r>
              <a:rPr sz="1200" b="0">
                <a:solidFill>
                  <a:srgbClr val="496274"/>
                </a:solidFill>
                <a:latin typeface="Arial"/>
                <a:ea typeface="Arial"/>
                <a:cs typeface="Arial"/>
              </a:rPr>
              <a:t>Supplementary references; full URLs in notes</a:t>
            </a:r>
          </a:p>
        </p:txBody>
      </p:sp>
      <p:sp>
        <p:nvSpPr>
          <p:cNvPr id="4" name="task2-text-48">
            <a:extLst xmlns:a="http://schemas.openxmlformats.org/drawingml/2006/main">
              <a:ext uri="{FF2B5EF4-FFF2-40B4-BE49-F238E27FC236}">
                <a16:creationId xmlns:a16="http://schemas.microsoft.com/office/drawing/2014/main" id="{E6048715-7F19-4C6F-9CB0-6F4C8FB0A9DE}"/>
              </a:ext>
            </a:extLst>
          </p:cNvPr>
          <p:cNvSpPr>
            <a:spLocks xmlns:a="http://schemas.openxmlformats.org/drawingml/2006/main" noGrp="1"/>
          </p:cNvSpPr>
          <p:nvPr/>
        </p:nvSpPr>
        <p:spPr>
          <a:xfrm xmlns:a="http://schemas.openxmlformats.org/drawingml/2006/main">
            <a:off x="11144250" y="64008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496274"/>
                </a:solidFill>
                <a:latin typeface="Arial"/>
                <a:ea typeface="Arial"/>
                <a:cs typeface="Arial"/>
              </a:defRPr>
            </a:pPr>
            <a:r>
              <a:rPr sz="1200" b="0">
                <a:solidFill>
                  <a:srgbClr val="496274"/>
                </a:solidFill>
                <a:latin typeface="Arial"/>
                <a:ea typeface="Arial"/>
                <a:cs typeface="Arial"/>
              </a:rPr>
              <a:t>5</a:t>
            </a:r>
          </a:p>
        </p:txBody>
      </p:sp>
      <p:sp>
        <p:nvSpPr>
          <p:cNvPr id="5" name="task2-text-49">
            <a:extLst xmlns:a="http://schemas.openxmlformats.org/drawingml/2006/main">
              <a:ext uri="{FF2B5EF4-FFF2-40B4-BE49-F238E27FC236}">
                <a16:creationId xmlns:a16="http://schemas.microsoft.com/office/drawing/2014/main" id="{FD319295-D248-43C2-9575-BB616BE492E4}"/>
              </a:ext>
            </a:extLst>
          </p:cNvPr>
          <p:cNvSpPr>
            <a:spLocks xmlns:a="http://schemas.openxmlformats.org/drawingml/2006/main" noGrp="1"/>
          </p:cNvSpPr>
          <p:nvPr/>
        </p:nvSpPr>
        <p:spPr>
          <a:xfrm xmlns:a="http://schemas.openxmlformats.org/drawingml/2006/main">
            <a:off x="571500" y="20764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[11] NVIDIA, Megatron Core Parallelism Strategies Guide</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2026 documentation</a:t>
            </a:r>
          </a:p>
        </p:txBody>
      </p:sp>
      <p:sp>
        <p:nvSpPr>
          <p:cNvPr id="6" name="task2-text-50">
            <a:extLst xmlns:a="http://schemas.openxmlformats.org/drawingml/2006/main">
              <a:ext uri="{FF2B5EF4-FFF2-40B4-BE49-F238E27FC236}">
                <a16:creationId xmlns:a16="http://schemas.microsoft.com/office/drawing/2014/main" id="{15A5C9E4-1FF4-4D2C-84DE-FF3FADC6AB2A}"/>
              </a:ext>
            </a:extLst>
          </p:cNvPr>
          <p:cNvSpPr>
            <a:spLocks xmlns:a="http://schemas.openxmlformats.org/drawingml/2006/main" noGrp="1"/>
          </p:cNvSpPr>
          <p:nvPr/>
        </p:nvSpPr>
        <p:spPr>
          <a:xfrm xmlns:a="http://schemas.openxmlformats.org/drawingml/2006/main">
            <a:off x="571500" y="30384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[12] IEA, Key Questions on Energy and AI, Executive summary</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2026</a:t>
            </a:r>
          </a:p>
        </p:txBody>
      </p:sp>
      <p:sp>
        <p:nvSpPr>
          <p:cNvPr id="7" name="task2-text-51">
            <a:extLst xmlns:a="http://schemas.openxmlformats.org/drawingml/2006/main">
              <a:ext uri="{FF2B5EF4-FFF2-40B4-BE49-F238E27FC236}">
                <a16:creationId xmlns:a16="http://schemas.microsoft.com/office/drawing/2014/main" id="{B2FBFFF9-BE0B-4DDC-BB3F-A3C89587E342}"/>
              </a:ext>
            </a:extLst>
          </p:cNvPr>
          <p:cNvSpPr>
            <a:spLocks xmlns:a="http://schemas.openxmlformats.org/drawingml/2006/main" noGrp="1"/>
          </p:cNvSpPr>
          <p:nvPr/>
        </p:nvSpPr>
        <p:spPr>
          <a:xfrm xmlns:a="http://schemas.openxmlformats.org/drawingml/2006/main">
            <a:off x="571500" y="40005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[13] IEA, Data centre electricity use surged in 2025</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2026</a:t>
            </a:r>
          </a:p>
        </p:txBody>
      </p:sp>
      <p:sp>
        <p:nvSpPr>
          <p:cNvPr id="8" name="task2-text-52">
            <a:extLst xmlns:a="http://schemas.openxmlformats.org/drawingml/2006/main">
              <a:ext uri="{FF2B5EF4-FFF2-40B4-BE49-F238E27FC236}">
                <a16:creationId xmlns:a16="http://schemas.microsoft.com/office/drawing/2014/main" id="{D19DF7BB-64F1-4672-A993-8C4558372B9C}"/>
              </a:ext>
            </a:extLst>
          </p:cNvPr>
          <p:cNvSpPr>
            <a:spLocks xmlns:a="http://schemas.openxmlformats.org/drawingml/2006/main" noGrp="1"/>
          </p:cNvSpPr>
          <p:nvPr/>
        </p:nvSpPr>
        <p:spPr>
          <a:xfrm xmlns:a="http://schemas.openxmlformats.org/drawingml/2006/main">
            <a:off x="571500" y="496252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[14] OECD, AI Principles</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Updated 2024</a:t>
            </a:r>
          </a:p>
        </p:txBody>
      </p:sp>
    </p:spTree>
    <p:extLst>
      <p:ext uri="{BB962C8B-B14F-4D97-AF65-F5344CB8AC3E}">
        <p14:creationId xmlns:p14="http://schemas.microsoft.com/office/powerpoint/2010/main" val="796964312"/>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ask2-text-53">
            <a:extLst xmlns:a="http://schemas.openxmlformats.org/drawingml/2006/main">
              <a:ext uri="{FF2B5EF4-FFF2-40B4-BE49-F238E27FC236}">
                <a16:creationId xmlns:a16="http://schemas.microsoft.com/office/drawing/2014/main" id="{545DC00F-54C6-4A62-9F3D-7B292BDDBB2D}"/>
              </a:ext>
            </a:extLst>
          </p:cNvPr>
          <p:cNvSpPr>
            <a:spLocks xmlns:a="http://schemas.openxmlformats.org/drawingml/2006/main" noGrp="1"/>
          </p:cNvSpPr>
          <p:nvPr/>
        </p:nvSpPr>
        <p:spPr>
          <a:xfrm xmlns:a="http://schemas.openxmlformats.org/drawingml/2006/main">
            <a:off x="571500" y="457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B3F"/>
                </a:solidFill>
                <a:latin typeface="Arial"/>
                <a:ea typeface="Arial"/>
                <a:cs typeface="Arial"/>
              </a:defRPr>
            </a:pPr>
            <a:r>
              <a:rPr sz="3300" b="1">
                <a:solidFill>
                  <a:srgbClr val="142B3F"/>
                </a:solidFill>
                <a:latin typeface="Arial"/>
                <a:ea typeface="Arial"/>
                <a:cs typeface="Arial"/>
              </a:rPr>
              <a:t>Task 2 appendix 2: References</a:t>
            </a:r>
          </a:p>
        </p:txBody>
      </p:sp>
      <p:sp>
        <p:nvSpPr>
          <p:cNvPr id="2" name="task2-text-54">
            <a:extLst xmlns:a="http://schemas.openxmlformats.org/drawingml/2006/main">
              <a:ext uri="{FF2B5EF4-FFF2-40B4-BE49-F238E27FC236}">
                <a16:creationId xmlns:a16="http://schemas.microsoft.com/office/drawing/2014/main" id="{D08C6376-A27A-4C80-BD25-0B093B4C2AC2}"/>
              </a:ext>
            </a:extLst>
          </p:cNvPr>
          <p:cNvSpPr>
            <a:spLocks xmlns:a="http://schemas.openxmlformats.org/drawingml/2006/main" noGrp="1"/>
          </p:cNvSpPr>
          <p:nvPr/>
        </p:nvSpPr>
        <p:spPr>
          <a:xfrm xmlns:a="http://schemas.openxmlformats.org/drawingml/2006/main">
            <a:off x="571500" y="1381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496274"/>
                </a:solidFill>
                <a:latin typeface="Arial"/>
                <a:ea typeface="Arial"/>
                <a:cs typeface="Arial"/>
              </a:defRPr>
            </a:pPr>
            <a:r>
              <a:rPr sz="1650" b="0">
                <a:solidFill>
                  <a:srgbClr val="496274"/>
                </a:solidFill>
                <a:latin typeface="Arial"/>
                <a:ea typeface="Arial"/>
                <a:cs typeface="Arial"/>
              </a:rPr>
              <a:t>Task 2 supplementary references</a:t>
            </a:r>
          </a:p>
        </p:txBody>
      </p:sp>
      <p:sp>
        <p:nvSpPr>
          <p:cNvPr id="3" name="task2-text-55">
            <a:extLst xmlns:a="http://schemas.openxmlformats.org/drawingml/2006/main">
              <a:ext uri="{FF2B5EF4-FFF2-40B4-BE49-F238E27FC236}">
                <a16:creationId xmlns:a16="http://schemas.microsoft.com/office/drawing/2014/main" id="{D1341C1E-A311-472B-9CAF-9CD1633CD2B4}"/>
              </a:ext>
            </a:extLst>
          </p:cNvPr>
          <p:cNvSpPr>
            <a:spLocks xmlns:a="http://schemas.openxmlformats.org/drawingml/2006/main" noGrp="1"/>
          </p:cNvSpPr>
          <p:nvPr/>
        </p:nvSpPr>
        <p:spPr>
          <a:xfrm xmlns:a="http://schemas.openxmlformats.org/drawingml/2006/main">
            <a:off x="571500" y="64008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496274"/>
                </a:solidFill>
                <a:latin typeface="Arial"/>
                <a:ea typeface="Arial"/>
                <a:cs typeface="Arial"/>
              </a:defRPr>
            </a:pPr>
            <a:r>
              <a:rPr sz="1200" b="0">
                <a:solidFill>
                  <a:srgbClr val="496274"/>
                </a:solidFill>
                <a:latin typeface="Arial"/>
                <a:ea typeface="Arial"/>
                <a:cs typeface="Arial"/>
              </a:rPr>
              <a:t>Supplementary references; full URLs in notes</a:t>
            </a:r>
          </a:p>
        </p:txBody>
      </p:sp>
      <p:sp>
        <p:nvSpPr>
          <p:cNvPr id="4" name="task2-text-56">
            <a:extLst xmlns:a="http://schemas.openxmlformats.org/drawingml/2006/main">
              <a:ext uri="{FF2B5EF4-FFF2-40B4-BE49-F238E27FC236}">
                <a16:creationId xmlns:a16="http://schemas.microsoft.com/office/drawing/2014/main" id="{9D774946-C587-4412-96FA-EF0053CA3A0B}"/>
              </a:ext>
            </a:extLst>
          </p:cNvPr>
          <p:cNvSpPr>
            <a:spLocks xmlns:a="http://schemas.openxmlformats.org/drawingml/2006/main" noGrp="1"/>
          </p:cNvSpPr>
          <p:nvPr/>
        </p:nvSpPr>
        <p:spPr>
          <a:xfrm xmlns:a="http://schemas.openxmlformats.org/drawingml/2006/main">
            <a:off x="11144250" y="64008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496274"/>
                </a:solidFill>
                <a:latin typeface="Arial"/>
                <a:ea typeface="Arial"/>
                <a:cs typeface="Arial"/>
              </a:defRPr>
            </a:pPr>
            <a:r>
              <a:rPr sz="1200" b="0">
                <a:solidFill>
                  <a:srgbClr val="496274"/>
                </a:solidFill>
                <a:latin typeface="Arial"/>
                <a:ea typeface="Arial"/>
                <a:cs typeface="Arial"/>
              </a:rPr>
              <a:t>6</a:t>
            </a:r>
          </a:p>
        </p:txBody>
      </p:sp>
      <p:sp>
        <p:nvSpPr>
          <p:cNvPr id="5" name="task2-text-57">
            <a:extLst xmlns:a="http://schemas.openxmlformats.org/drawingml/2006/main">
              <a:ext uri="{FF2B5EF4-FFF2-40B4-BE49-F238E27FC236}">
                <a16:creationId xmlns:a16="http://schemas.microsoft.com/office/drawing/2014/main" id="{2BB04623-52B5-465E-9F17-0C56770958F9}"/>
              </a:ext>
            </a:extLst>
          </p:cNvPr>
          <p:cNvSpPr>
            <a:spLocks xmlns:a="http://schemas.openxmlformats.org/drawingml/2006/main" noGrp="1"/>
          </p:cNvSpPr>
          <p:nvPr/>
        </p:nvSpPr>
        <p:spPr>
          <a:xfrm xmlns:a="http://schemas.openxmlformats.org/drawingml/2006/main">
            <a:off x="571500" y="20764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[15] NIST, AI Risk Management Framework 1.0 Playbook</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2023 framework; current online playbook</a:t>
            </a:r>
          </a:p>
        </p:txBody>
      </p:sp>
      <p:sp>
        <p:nvSpPr>
          <p:cNvPr id="6" name="task2-text-58">
            <a:extLst xmlns:a="http://schemas.openxmlformats.org/drawingml/2006/main">
              <a:ext uri="{FF2B5EF4-FFF2-40B4-BE49-F238E27FC236}">
                <a16:creationId xmlns:a16="http://schemas.microsoft.com/office/drawing/2014/main" id="{24134622-6DDB-4CFC-9853-29C084F2B62D}"/>
              </a:ext>
            </a:extLst>
          </p:cNvPr>
          <p:cNvSpPr>
            <a:spLocks xmlns:a="http://schemas.openxmlformats.org/drawingml/2006/main" noGrp="1"/>
          </p:cNvSpPr>
          <p:nvPr/>
        </p:nvSpPr>
        <p:spPr>
          <a:xfrm xmlns:a="http://schemas.openxmlformats.org/drawingml/2006/main">
            <a:off x="571500" y="30384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[16] NSF, NAIRR at 2 years</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2026</a:t>
            </a:r>
          </a:p>
        </p:txBody>
      </p:sp>
      <p:sp>
        <p:nvSpPr>
          <p:cNvPr id="7" name="task2-text-59">
            <a:extLst xmlns:a="http://schemas.openxmlformats.org/drawingml/2006/main">
              <a:ext uri="{FF2B5EF4-FFF2-40B4-BE49-F238E27FC236}">
                <a16:creationId xmlns:a16="http://schemas.microsoft.com/office/drawing/2014/main" id="{D61AD7E3-859D-4919-803B-DABB7A22ED1E}"/>
              </a:ext>
            </a:extLst>
          </p:cNvPr>
          <p:cNvSpPr>
            <a:spLocks xmlns:a="http://schemas.openxmlformats.org/drawingml/2006/main" noGrp="1"/>
          </p:cNvSpPr>
          <p:nvPr/>
        </p:nvSpPr>
        <p:spPr>
          <a:xfrm xmlns:a="http://schemas.openxmlformats.org/drawingml/2006/main">
            <a:off x="571500" y="40005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[17] A. Radovanovic et al., Carbon-Aware Computing for Datacenters</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2021</a:t>
            </a:r>
          </a:p>
        </p:txBody>
      </p:sp>
      <p:sp>
        <p:nvSpPr>
          <p:cNvPr id="8" name="task2-text-60">
            <a:extLst xmlns:a="http://schemas.openxmlformats.org/drawingml/2006/main">
              <a:ext uri="{FF2B5EF4-FFF2-40B4-BE49-F238E27FC236}">
                <a16:creationId xmlns:a16="http://schemas.microsoft.com/office/drawing/2014/main" id="{45299F47-7638-4971-A96A-FF7B39283DCB}"/>
              </a:ext>
            </a:extLst>
          </p:cNvPr>
          <p:cNvSpPr>
            <a:spLocks xmlns:a="http://schemas.openxmlformats.org/drawingml/2006/main" noGrp="1"/>
          </p:cNvSpPr>
          <p:nvPr/>
        </p:nvSpPr>
        <p:spPr>
          <a:xfrm xmlns:a="http://schemas.openxmlformats.org/drawingml/2006/main">
            <a:off x="571500" y="496252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[18] P. Li et al., Making AI Less Thirsty</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2023 preprint</a:t>
            </a:r>
          </a:p>
        </p:txBody>
      </p:sp>
    </p:spTree>
    <p:extLst>
      <p:ext uri="{BB962C8B-B14F-4D97-AF65-F5344CB8AC3E}">
        <p14:creationId xmlns:p14="http://schemas.microsoft.com/office/powerpoint/2010/main" val="1031983978"/>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ask2-text-61">
            <a:extLst xmlns:a="http://schemas.openxmlformats.org/drawingml/2006/main">
              <a:ext uri="{FF2B5EF4-FFF2-40B4-BE49-F238E27FC236}">
                <a16:creationId xmlns:a16="http://schemas.microsoft.com/office/drawing/2014/main" id="{96246E0B-D07A-46AB-8BD1-EB04AB05AED0}"/>
              </a:ext>
            </a:extLst>
          </p:cNvPr>
          <p:cNvSpPr>
            <a:spLocks xmlns:a="http://schemas.openxmlformats.org/drawingml/2006/main" noGrp="1"/>
          </p:cNvSpPr>
          <p:nvPr/>
        </p:nvSpPr>
        <p:spPr>
          <a:xfrm xmlns:a="http://schemas.openxmlformats.org/drawingml/2006/main">
            <a:off x="571500" y="457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B3F"/>
                </a:solidFill>
                <a:latin typeface="Arial"/>
                <a:ea typeface="Arial"/>
                <a:cs typeface="Arial"/>
              </a:defRPr>
            </a:pPr>
            <a:r>
              <a:rPr sz="3300" b="1">
                <a:solidFill>
                  <a:srgbClr val="142B3F"/>
                </a:solidFill>
                <a:latin typeface="Arial"/>
                <a:ea typeface="Arial"/>
                <a:cs typeface="Arial"/>
              </a:rPr>
              <a:t>Task 2 appendix 3: References</a:t>
            </a:r>
          </a:p>
        </p:txBody>
      </p:sp>
      <p:sp>
        <p:nvSpPr>
          <p:cNvPr id="2" name="task2-text-62">
            <a:extLst xmlns:a="http://schemas.openxmlformats.org/drawingml/2006/main">
              <a:ext uri="{FF2B5EF4-FFF2-40B4-BE49-F238E27FC236}">
                <a16:creationId xmlns:a16="http://schemas.microsoft.com/office/drawing/2014/main" id="{C5736C91-ADAA-4F9E-8DAA-3757DCB42AD0}"/>
              </a:ext>
            </a:extLst>
          </p:cNvPr>
          <p:cNvSpPr>
            <a:spLocks xmlns:a="http://schemas.openxmlformats.org/drawingml/2006/main" noGrp="1"/>
          </p:cNvSpPr>
          <p:nvPr/>
        </p:nvSpPr>
        <p:spPr>
          <a:xfrm xmlns:a="http://schemas.openxmlformats.org/drawingml/2006/main">
            <a:off x="571500" y="1381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496274"/>
                </a:solidFill>
                <a:latin typeface="Arial"/>
                <a:ea typeface="Arial"/>
                <a:cs typeface="Arial"/>
              </a:defRPr>
            </a:pPr>
            <a:r>
              <a:rPr sz="1650" b="0">
                <a:solidFill>
                  <a:srgbClr val="496274"/>
                </a:solidFill>
                <a:latin typeface="Arial"/>
                <a:ea typeface="Arial"/>
                <a:cs typeface="Arial"/>
              </a:rPr>
              <a:t>Task 2 supplementary references</a:t>
            </a:r>
          </a:p>
        </p:txBody>
      </p:sp>
      <p:sp>
        <p:nvSpPr>
          <p:cNvPr id="3" name="task2-text-63">
            <a:extLst xmlns:a="http://schemas.openxmlformats.org/drawingml/2006/main">
              <a:ext uri="{FF2B5EF4-FFF2-40B4-BE49-F238E27FC236}">
                <a16:creationId xmlns:a16="http://schemas.microsoft.com/office/drawing/2014/main" id="{621C2D89-BF95-409F-A0FA-BD92AE5E53ED}"/>
              </a:ext>
            </a:extLst>
          </p:cNvPr>
          <p:cNvSpPr>
            <a:spLocks xmlns:a="http://schemas.openxmlformats.org/drawingml/2006/main" noGrp="1"/>
          </p:cNvSpPr>
          <p:nvPr/>
        </p:nvSpPr>
        <p:spPr>
          <a:xfrm xmlns:a="http://schemas.openxmlformats.org/drawingml/2006/main">
            <a:off x="571500" y="64008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496274"/>
                </a:solidFill>
                <a:latin typeface="Arial"/>
                <a:ea typeface="Arial"/>
                <a:cs typeface="Arial"/>
              </a:defRPr>
            </a:pPr>
            <a:r>
              <a:rPr sz="1200" b="0">
                <a:solidFill>
                  <a:srgbClr val="496274"/>
                </a:solidFill>
                <a:latin typeface="Arial"/>
                <a:ea typeface="Arial"/>
                <a:cs typeface="Arial"/>
              </a:rPr>
              <a:t>Supplementary references; full URLs in notes</a:t>
            </a:r>
          </a:p>
        </p:txBody>
      </p:sp>
      <p:sp>
        <p:nvSpPr>
          <p:cNvPr id="4" name="task2-text-64">
            <a:extLst xmlns:a="http://schemas.openxmlformats.org/drawingml/2006/main">
              <a:ext uri="{FF2B5EF4-FFF2-40B4-BE49-F238E27FC236}">
                <a16:creationId xmlns:a16="http://schemas.microsoft.com/office/drawing/2014/main" id="{8DA54185-1DB1-451E-BF08-246F26103E8F}"/>
              </a:ext>
            </a:extLst>
          </p:cNvPr>
          <p:cNvSpPr>
            <a:spLocks xmlns:a="http://schemas.openxmlformats.org/drawingml/2006/main" noGrp="1"/>
          </p:cNvSpPr>
          <p:nvPr/>
        </p:nvSpPr>
        <p:spPr>
          <a:xfrm xmlns:a="http://schemas.openxmlformats.org/drawingml/2006/main">
            <a:off x="11144250" y="64008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496274"/>
                </a:solidFill>
                <a:latin typeface="Arial"/>
                <a:ea typeface="Arial"/>
                <a:cs typeface="Arial"/>
              </a:defRPr>
            </a:pPr>
            <a:r>
              <a:rPr sz="1200" b="0">
                <a:solidFill>
                  <a:srgbClr val="496274"/>
                </a:solidFill>
                <a:latin typeface="Arial"/>
                <a:ea typeface="Arial"/>
                <a:cs typeface="Arial"/>
              </a:rPr>
              <a:t>7</a:t>
            </a:r>
          </a:p>
        </p:txBody>
      </p:sp>
      <p:sp>
        <p:nvSpPr>
          <p:cNvPr id="5" name="task2-text-65">
            <a:extLst xmlns:a="http://schemas.openxmlformats.org/drawingml/2006/main">
              <a:ext uri="{FF2B5EF4-FFF2-40B4-BE49-F238E27FC236}">
                <a16:creationId xmlns:a16="http://schemas.microsoft.com/office/drawing/2014/main" id="{DD8781FD-8DED-480C-B3D7-1B03D10A987F}"/>
              </a:ext>
            </a:extLst>
          </p:cNvPr>
          <p:cNvSpPr>
            <a:spLocks xmlns:a="http://schemas.openxmlformats.org/drawingml/2006/main" noGrp="1"/>
          </p:cNvSpPr>
          <p:nvPr/>
        </p:nvSpPr>
        <p:spPr>
          <a:xfrm xmlns:a="http://schemas.openxmlformats.org/drawingml/2006/main">
            <a:off x="571500" y="20764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[19] R. Schwartz et al., Green AI</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2019 position paper</a:t>
            </a:r>
          </a:p>
        </p:txBody>
      </p:sp>
      <p:sp>
        <p:nvSpPr>
          <p:cNvPr id="6" name="task2-text-66">
            <a:extLst xmlns:a="http://schemas.openxmlformats.org/drawingml/2006/main">
              <a:ext uri="{FF2B5EF4-FFF2-40B4-BE49-F238E27FC236}">
                <a16:creationId xmlns:a16="http://schemas.microsoft.com/office/drawing/2014/main" id="{E37F13EA-C114-4676-96B3-9135226A557E}"/>
              </a:ext>
            </a:extLst>
          </p:cNvPr>
          <p:cNvSpPr>
            <a:spLocks xmlns:a="http://schemas.openxmlformats.org/drawingml/2006/main" noGrp="1"/>
          </p:cNvSpPr>
          <p:nvPr/>
        </p:nvSpPr>
        <p:spPr>
          <a:xfrm xmlns:a="http://schemas.openxmlformats.org/drawingml/2006/main">
            <a:off x="571500" y="30384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 N. Ahmed and M. Wahed, The De-democratization of AI</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2020 research preprint</a:t>
            </a:r>
          </a:p>
        </p:txBody>
      </p:sp>
      <p:sp>
        <p:nvSpPr>
          <p:cNvPr id="7" name="task2-text-67">
            <a:extLst xmlns:a="http://schemas.openxmlformats.org/drawingml/2006/main">
              <a:ext uri="{FF2B5EF4-FFF2-40B4-BE49-F238E27FC236}">
                <a16:creationId xmlns:a16="http://schemas.microsoft.com/office/drawing/2014/main" id="{FFADC1E2-75E4-447C-A2BA-135519818A0F}"/>
              </a:ext>
            </a:extLst>
          </p:cNvPr>
          <p:cNvSpPr>
            <a:spLocks xmlns:a="http://schemas.openxmlformats.org/drawingml/2006/main" noGrp="1"/>
          </p:cNvSpPr>
          <p:nvPr/>
        </p:nvSpPr>
        <p:spPr>
          <a:xfrm xmlns:a="http://schemas.openxmlformats.org/drawingml/2006/main">
            <a:off x="571500" y="40005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[21] I. O. Gallegos et al., Bias and Fairness in Large Language Models: A Survey</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2024 revised survey; Computational Linguistics</a:t>
            </a:r>
          </a:p>
        </p:txBody>
      </p:sp>
      <p:sp>
        <p:nvSpPr>
          <p:cNvPr id="8" name="task2-text-68">
            <a:extLst xmlns:a="http://schemas.openxmlformats.org/drawingml/2006/main">
              <a:ext uri="{FF2B5EF4-FFF2-40B4-BE49-F238E27FC236}">
                <a16:creationId xmlns:a16="http://schemas.microsoft.com/office/drawing/2014/main" id="{0A9FAF73-280A-4BDA-A532-837E631FEDBA}"/>
              </a:ext>
            </a:extLst>
          </p:cNvPr>
          <p:cNvSpPr>
            <a:spLocks xmlns:a="http://schemas.openxmlformats.org/drawingml/2006/main" noGrp="1"/>
          </p:cNvSpPr>
          <p:nvPr/>
        </p:nvSpPr>
        <p:spPr>
          <a:xfrm xmlns:a="http://schemas.openxmlformats.org/drawingml/2006/main">
            <a:off x="571500" y="496252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[22] L. Zhu, Z. Liu and S. Han, Deep Leakage from Gradients</a:t>
            </a:r>
          </a:p>
          <a:p xmlns:a="http://schemas.openxmlformats.org/drawingml/2006/main">
            <a:pPr algn="l">
              <a:defRPr sz="1875" b="0">
                <a:solidFill>
                  <a:srgbClr val="142B3F"/>
                </a:solidFill>
                <a:latin typeface="Arial"/>
                <a:ea typeface="Arial"/>
                <a:cs typeface="Arial"/>
              </a:defRPr>
            </a:pPr>
            <a:r>
              <a:rPr sz="1875" b="0">
                <a:solidFill>
                  <a:srgbClr val="142B3F"/>
                </a:solidFill>
                <a:latin typeface="Arial"/>
                <a:ea typeface="Arial"/>
                <a:cs typeface="Arial"/>
              </a:rPr>
              <a:t>2019 research paper</a:t>
            </a:r>
          </a:p>
        </p:txBody>
      </p:sp>
    </p:spTree>
    <p:extLst>
      <p:ext uri="{BB962C8B-B14F-4D97-AF65-F5344CB8AC3E}">
        <p14:creationId xmlns:p14="http://schemas.microsoft.com/office/powerpoint/2010/main" val="9910779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2026-10-06T08:51:52.2800000Z</dcterms:created>
  <dcterms:modified xsi:type="dcterms:W3CDTF">2026-10-06T08:51:52.2800000Z</dcterms:modified>
</coreProperties>
</file>