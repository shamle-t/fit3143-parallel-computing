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302" r:id="rId14"/>
    <p:sldId id="303"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2" y="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Electricity (TWh)</c:v>
          </c:tx>
          <c:spPr>
            <a:solidFill>
              <a:srgbClr val="007B83"/>
            </a:solidFill>
          </c:spPr>
          <c:invertIfNegative val="1"/>
          <c:dLbls>
            <c:spPr>
              <a:noFill/>
              <a:ln>
                <a:noFill/>
              </a:ln>
              <a:effectLst/>
            </c:spPr>
            <c:txPr>
              <a:bodyPr anchorCtr="1"/>
              <a:lstStyle/>
              <a:p>
                <a:pPr>
                  <a:defRPr sz="1725">
                    <a:solidFill>
                      <a:srgbClr val="142D4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2025 estimate</c:v>
                </c:pt>
                <c:pt idx="1">
                  <c:v>2030 projection</c:v>
                </c:pt>
              </c:strCache>
            </c:strRef>
          </c:cat>
          <c:val>
            <c:numRef>
              <c:f>'Chart Data'!$B$2:$B$3</c:f>
              <c:numCache>
                <c:formatCode>0</c:formatCode>
                <c:ptCount val="2"/>
                <c:pt idx="0">
                  <c:v>485</c:v>
                </c:pt>
                <c:pt idx="1">
                  <c:v>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D99-4D53-A0C5-D0C1FE0593AF}"/>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a:solidFill>
              <a:srgbClr val="CBD5DC"/>
            </a:solidFill>
          </a:ln>
        </c:spPr>
        <c:txPr>
          <a:bodyPr anchorCtr="1"/>
          <a:lstStyle/>
          <a:p>
            <a:pPr>
              <a:defRPr sz="1425">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CBD5DC"/>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noFill/>
        <a:ln>
          <a:noFill/>
        </a:ln>
      </c:spPr>
    </c:plotArea>
    <c:plotVisOnly val="1"/>
    <c:dispBlanksAs val="zero"/>
    <c:showDLblsOverMax val="1"/>
  </c:chart>
  <c:spPr>
    <a:noFill/>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Electricity (TWh)</c:v>
          </c:tx>
          <c:spPr>
            <a:solidFill>
              <a:srgbClr val="007B83"/>
            </a:solidFill>
          </c:spPr>
          <c:invertIfNegative val="1"/>
          <c:dLbls>
            <c:spPr>
              <a:noFill/>
              <a:ln>
                <a:noFill/>
              </a:ln>
              <a:effectLst/>
            </c:spPr>
            <c:txPr>
              <a:bodyPr anchorCtr="1"/>
              <a:lstStyle/>
              <a:p>
                <a:pPr>
                  <a:defRPr sz="1725">
                    <a:solidFill>
                      <a:srgbClr val="142D4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2025 estimate</c:v>
                </c:pt>
                <c:pt idx="1">
                  <c:v>2030 projection</c:v>
                </c:pt>
              </c:strCache>
            </c:strRef>
          </c:cat>
          <c:val>
            <c:numRef>
              <c:f>'Chart Data'!$B$2:$B$3</c:f>
              <c:numCache>
                <c:formatCode>0</c:formatCode>
                <c:ptCount val="2"/>
                <c:pt idx="0">
                  <c:v>485</c:v>
                </c:pt>
                <c:pt idx="1">
                  <c:v>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D99-4D53-A0C5-D0C1FE0593AF}"/>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a:solidFill>
              <a:srgbClr val="CBD5DC"/>
            </a:solidFill>
          </a:ln>
        </c:spPr>
        <c:txPr>
          <a:bodyPr anchorCtr="1"/>
          <a:lstStyle/>
          <a:p>
            <a:pPr>
              <a:defRPr sz="1425">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CBD5DC"/>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noFill/>
        <a:ln>
          <a:noFill/>
        </a:ln>
      </c:spPr>
    </c:plotArea>
    <c:plotVisOnly val="1"/>
    <c:dispBlanksAs val="zero"/>
    <c:showDLblsOverMax val="1"/>
  </c:chart>
  <c:spPr>
    <a:noFill/>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2025 growth</c:v>
          </c:tx>
          <c:spPr>
            <a:solidFill>
              <a:srgbClr val="B55E24"/>
            </a:solidFill>
          </c:spPr>
          <c:invertIfNegative val="1"/>
          <c:dLbls>
            <c:numFmt formatCode="0%" sourceLinked="0"/>
            <c:spPr>
              <a:noFill/>
              <a:ln>
                <a:noFill/>
              </a:ln>
              <a:effectLst/>
            </c:spPr>
            <c:txPr>
              <a:bodyPr anchorCtr="1"/>
              <a:lstStyle/>
              <a:p>
                <a:pPr>
                  <a:defRPr sz="1725">
                    <a:solidFill>
                      <a:srgbClr val="142D45"/>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All data centres</c:v>
                </c:pt>
                <c:pt idx="1">
                  <c:v>AI-focused subset</c:v>
                </c:pt>
              </c:strCache>
            </c:strRef>
          </c:cat>
          <c:val>
            <c:numRef>
              <c:f>'Chart Data'!$B$2:$B$3</c:f>
              <c:numCache>
                <c:formatCode>0%</c:formatCode>
                <c:ptCount val="2"/>
                <c:pt idx="0">
                  <c:v>0.17</c:v>
                </c:pt>
                <c:pt idx="1">
                  <c:v>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E2E-479C-BE4C-CC50A2851415}"/>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a:solidFill>
              <a:srgbClr val="CBD5DC"/>
            </a:solidFill>
          </a:ln>
        </c:spPr>
        <c:txPr>
          <a:bodyPr anchorCtr="1"/>
          <a:lstStyle/>
          <a:p>
            <a:pPr>
              <a:defRPr sz="1425">
                <a:solidFill>
                  <a:srgbClr val="666666"/>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CBD5DC"/>
              </a:solidFill>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Arial"/>
                <a:ea typeface="Arial"/>
                <a:cs typeface="Arial"/>
              </a:defRPr>
            </a:pPr>
            <a:endParaRPr lang="en-US"/>
          </a:p>
        </c:txPr>
        <c:crossAx val="48650112"/>
        <c:crosses val="autoZero"/>
        <c:crossBetween val="between"/>
      </c:valAx>
      <c:spPr>
        <a:noFill/>
        <a:ln>
          <a:noFill/>
        </a:ln>
      </c:spPr>
    </c:plotArea>
    <c:plotVisOnly val="1"/>
    <c:dispBlanksAs val="zero"/>
    <c:showDLblsOverMax val="1"/>
  </c:chart>
  <c:spPr>
    <a:noFill/>
    <a:ln>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 seconds.</a:t>
            </a:r>
          </a:p>
          <a:p>
            <a:endParaRPr/>
          </a:p>
          <a:p>
            <a:r>
              <a:t>We’re Savin and Shamle. We’ll cover GPU rotation and responsible HPC scaling.</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25 seconds.</a:t>
            </a:r>
          </a:p>
          <a:p>
            <a:endParaRPr/>
          </a:p>
          <a:p>
            <a:r>
              <a:t>The CPU decodes the image into host RAM and allocates GPU buffers. DMA copies the pixels over PCI Express; the GPU rotates them, and completed output returns for saving. Pinned RAM helps DMA; pageable RAM may need staging. Device bandwidth and transfer bandwidth are different. We wait before saving or reusing buffers.</a:t>
            </a:r>
          </a:p>
          <a:p>
            <a:endParaRPr/>
          </a:p>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r>
              <a:t>Each thread owns one output pixel. We rotate backwards about the image centre, with the angle in radians, to find the nearest source pixel and copy its RGB values. Outside the image, we write black. Independent writes need no atomics or barrier. Positive angles are counterclockwise with our y-down coordinates. Gathering avoids holes, but a fixed canvas can crop corners and nearest-neighbour sampling can alias.</a:t>
            </a:r>
          </a:p>
          <a:p>
            <a:endParaRPr/>
          </a:p>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42 seconds.</a:t>
            </a:r>
          </a:p>
          <a:p>
            <a:endParaRPr/>
          </a:p>
          <a:p>
            <a:r>
              <a:t>The CPU launches a kernel with grid and block settings. Sixteen-by-sixteen blocks contain two hundred and fifty-six threads, or eight warps. This sixty-four-by-sixty-four grid describes about a million threads. They don’t all run at once: finite streaming multiprocessors schedule blocks in waves. SIMT means a warp follows common instructions, with thirty-two threads per warp. Threads compute pixel indices and guard image edges; other sizes need ceiling division. Launches are asynchronous, so check errors and completion. Full rotation, brightness, block-shape and stream examples are in the appendix.</a:t>
            </a:r>
          </a:p>
          <a:p>
            <a:endParaRPr/>
          </a:p>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Many GPU execution units and high memory bandwidth process independent pixels together. Coalescing combines nearby addresses into fewer transactions; rotated reads can limit bandwidth. Thirty-two-by-eight blocks keep a warp on one row, so we’d profile them against sixteen-by-sixteen. Resident warps hide latency, but registers and divergent branches limit execution. Large images amortize setup; keeping pixels on the GPU avoids repeat copies. Streams overlap independent images with separate pinned buffers and supporting hardware, but need more memory. Compare identical rotation against serial and multithreaded CPUs, timing setup, transfers and completed work. Serial work bounds speedup; no measured result is claimed.</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r>
              <a:t>GPUDirect Storage uses storage-side DMA to bypass host staging; the CPU still issues cuFile requests. It doesn’t decode images or accelerate the rotation kernel. CPU-decoded or already-in-RAM pixels gain little from a storage bypass. GPU-ready, storage-bound batches may benefit, but GPU, filesystem, drivers and topology must support the direct path. Fallback may still stage through RAM. We’d measure completed batch time and CPU overhead. Shamle will cover responsible scaling.</a:t>
            </a:r>
          </a:p>
          <a:p>
            <a:endParaRPr/>
          </a:p>
          <a:p>
            <a:r>
              <a:t>[3] NVIDIA, GPUDirect Storage Overview Guide, online documentation, accessed Oct. 8, 2026.</a:t>
            </a:r>
          </a:p>
          <a:p>
            <a:r>
              <a:t>https://docs.nvidia.com/gpudirect-storage/overview-guide/index.html</a:t>
            </a:r>
          </a:p>
          <a:p>
            <a:endParaRPr/>
          </a:p>
          <a:p>
            <a:r>
              <a:t>[4] NVIDIA, GPUDirect Storage Design Guide, online documentation, accessed Oct. 8, 2026.</a:t>
            </a:r>
          </a:p>
          <a:p>
            <a:r>
              <a:t>https://docs.nvidia.com/gpudirect-storage/design-guide/index.html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In data-parallel training, GPUs process different batches, and gradient all-reduce synchronizes updates. Communication and slow workers limit scaling. The IEA projects near-doubling of data-centre electricity by 2030, but that’s whole-sector context, not one model’s footprint. For a job, energy depends on power over time; carbon also depends on local carbon intensity. Faster can still use more energy. Count CPUs, networking, storage, cooling, tuning and failed runs, plus manufacturing impacts. Green AI measures efficiency per useful result; Li’s water research adds local resource pressure. Lower carbon alone can miss water costs. The appendix has the detailed calculation, growth charts and research comparison.</a:t>
            </a:r>
          </a:p>
          <a:p>
            <a:endParaRPr/>
          </a:p>
          <a:p>
            <a:r>
              <a:t>[6] International Energy Agency, Key Questions on Energy and AI, executive summary, Apr. 16, 2026, CC BY 4.0, accessed Oct. 8, 2026.</a:t>
            </a:r>
          </a:p>
          <a:p>
            <a:r>
              <a:t>https://www.iea.org/reports/key-questions-on-energy-and-ai/executive-summary</a:t>
            </a:r>
          </a:p>
          <a:p>
            <a:endParaRPr/>
          </a:p>
          <a:p>
            <a:r>
              <a:t>[9] P. Li, J. Yang, M. A. Islam, and S. Ren, “Making AI less ‘thirsty’: Uncovering and addressing the secret water footprint of AI models,” arXiv:2304.03271v5, Mar. 26, 2025; first submitted 2023.</a:t>
            </a:r>
          </a:p>
          <a:p>
            <a:r>
              <a:t>https://arxiv.org/abs/2304.03271v5</a:t>
            </a:r>
          </a:p>
          <a:p>
            <a:endParaRPr/>
          </a:p>
          <a:p>
            <a:r>
              <a:t>[10] R. Schwartz, J. Dodge, N. A. Smith, and O. Etzioni, “Green AI,” arXiv:1907.10597, 2019.</a:t>
            </a:r>
          </a:p>
          <a:p>
            <a:r>
              <a:t>https://arxiv.org/abs/1907.10597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Distributed replicas, gradients and checkpoints add assets to protect. Zhu’s study shows input reconstruction from exposed gradients in studied settings; it doesn’t prove every collective leaks. Use least privilege, isolation and protected transport and storage. Named owners check data provenance, permissions, replica retention and deletion, and dual-use risks. Fairness needs different controls. For a multilingual LLM, reserve compute to compare harmful-output rates across languages, examine uncertainty, improve underrepresented-language coverage and retest. Gallegos’s survey explains why metrics and datasets matter; more GPUs can’t fix unrepresentative data. Security protects intermediates; fairness tests outcomes. The full risk register and evaluation details are in the appendix.</a:t>
            </a:r>
          </a:p>
          <a:p>
            <a:endParaRPr/>
          </a:p>
          <a:p>
            <a:r>
              <a:t>[11] L. Zhu, Z. Liu, and S. Han, “Deep leakage from gradients,” arXiv:1906.08935v2, 2019.</a:t>
            </a:r>
          </a:p>
          <a:p>
            <a:r>
              <a:t>https://arxiv.org/abs/1906.08935v2</a:t>
            </a:r>
          </a:p>
          <a:p>
            <a:endParaRPr/>
          </a:p>
          <a:p>
            <a:r>
              <a:t>[12] I. O. Gallegos et al., “Bias and fairness in large language models: A survey,” Computational Linguistics, vol. 50, no. 3, pp. 1097–1179, 2024, doi: 10.1162/coli_a_00524.</a:t>
            </a:r>
          </a:p>
          <a:p>
            <a:r>
              <a:t>https://aclanthology.org/2024.cl-3.8/</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35 seconds.</a:t>
            </a:r>
          </a:p>
          <a:p>
            <a:endParaRPr/>
          </a:p>
          <a:p>
            <a:r>
              <a:t>Compute access affects who can train, reproduce and shape AI research. Ahmed and Wahed study historical participation; Strubell examines workload costs. Their scopes differ, but both reveal barriers. NAIRR’s US reach doesn’t prove global equality. Publish GPU-hour rules, reserve smaller-institution and replication capacity, offer training and appeals, and audit awards and waiting times with privacy safeguards. Reservations can reduce utilization or delay urgent jobs; prevent starvation.</a:t>
            </a:r>
          </a:p>
          <a:p>
            <a:endParaRPr/>
          </a:p>
          <a:p>
            <a:r>
              <a:t>[7] U.S. National Science Foundation, “NAIRR at 2 years: Advancing American artificial intelligence innovation and leadership,” Mar. 19, 2026, accessed Oct. 8, 2026.</a:t>
            </a:r>
          </a:p>
          <a:p>
            <a:r>
              <a:t>https://www.nsf.gov/cise/updates/nairr-2-years-advancing-american-artificial-intelligence</a:t>
            </a:r>
          </a:p>
          <a:p>
            <a:endParaRPr/>
          </a:p>
          <a:p>
            <a:r>
              <a:t>[8] E. Strubell, A. Ganesh, and A. McCallum, “Energy and policy considerations for deep learning in NLP,” in Proc. ACL, 2019, pp. 3645–3650, doi: 10.18653/v1/P19-1355.</a:t>
            </a:r>
          </a:p>
          <a:p>
            <a:r>
              <a:t>https://aclanthology.org/P19-1355/</a:t>
            </a:r>
          </a:p>
          <a:p>
            <a:endParaRPr/>
          </a:p>
          <a:p>
            <a:r>
              <a:t>[13] N. Ahmed and M. Wahed, “The de-democratization of AI: Deep learning and the compute divide in artificial intelligence research,” arXiv:2010.15581v1, 2020.</a:t>
            </a:r>
          </a:p>
          <a:p>
            <a:r>
              <a:t>https://arxiv.org/abs/2010.15581v1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OECD supplies rights and accountability; NIST structures risk decisions. Govern assigns ownership throughout. Map defines the use, affected people and alternatives. Measure checks quality, energy, security and group harms. Manage approves, defers, reduces scale or redesigns. Green AI tells us to measure efficiency; Radovanovic’s scheduling research shows how forecasts can shift flexible work. Measurement and action serve different needs. Set an energy budget and shift jobs only within deadlines, capacity, water limits and fair waiting commitments. Record urgent or forecast exceptions and review outcomes. This is an iterative proposal, not a certification; the detailed policy is in the appendix.</a:t>
            </a:r>
          </a:p>
          <a:p>
            <a:endParaRPr/>
          </a:p>
          <a:p>
            <a:r>
              <a:t>[10] R. Schwartz, J. Dodge, N. A. Smith, and O. Etzioni, “Green AI,” arXiv:1907.10597, 2019.</a:t>
            </a:r>
          </a:p>
          <a:p>
            <a:r>
              <a:t>https://arxiv.org/abs/1907.10597</a:t>
            </a:r>
          </a:p>
          <a:p>
            <a:endParaRPr/>
          </a:p>
          <a:p>
            <a:r>
              <a:t>[14] A. Radovanovic et al., “Carbon-aware computing for datacenters,” arXiv:2106.11750v1, 2021.</a:t>
            </a:r>
          </a:p>
          <a:p>
            <a:r>
              <a:t>https://arxiv.org/abs/2106.11750v1</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20 seconds.</a:t>
            </a:r>
          </a:p>
          <a:p>
            <a:endParaRPr/>
          </a:p>
          <a:p>
            <a:r>
              <a:t>CUDA suits independent pixels, but performance still needs measurement. Responsible scaling needs useful outcomes, protected data and fair access. Next, compile and validate the rotation, then measure a real cluster job and review its impacts. Our code examples are uncompiled and unbenchmarked.</a:t>
            </a:r>
          </a:p>
          <a:p>
            <a:endParaRPr/>
          </a:p>
          <a:p>
            <a:r>
              <a:t>[2] NVIDIA, CUDA C++ Best Practices Guide, online documentation, accessed Oct. 8, 2026.</a:t>
            </a:r>
          </a:p>
          <a:p>
            <a:r>
              <a:t>https://docs.nvidia.com/cuda/cuda-c-best-practices-guide/index.html</a:t>
            </a:r>
          </a:p>
          <a:p>
            <a:endParaRPr/>
          </a:p>
          <a:p>
            <a:r>
              <a:t>[3] NVIDIA, GPUDirect Storage Overview Guide, online documentation, accessed Oct. 8, 2026.</a:t>
            </a:r>
          </a:p>
          <a:p>
            <a:r>
              <a:t>https://docs.nvidia.com/gpudirect-storage/overview-guide/index.html</a:t>
            </a:r>
          </a:p>
          <a:p>
            <a:endParaRPr/>
          </a:p>
          <a:p>
            <a:r>
              <a:t>[4] NVIDIA, GPUDirect Storage Design Guide, online documentation, accessed Oct. 8, 2026.</a:t>
            </a:r>
          </a:p>
          <a:p>
            <a:r>
              <a:t>https://docs.nvidia.com/gpudirect-storage/design-guide/index.html</a:t>
            </a:r>
          </a:p>
          <a:p>
            <a:endParaRPr/>
          </a:p>
          <a:p>
            <a:r>
              <a:t>[10] R. Schwartz, J. Dodge, N. A. Smith, and O. Etzioni, “Green AI,” arXiv:1907.10597, 2019.</a:t>
            </a:r>
          </a:p>
          <a:p>
            <a:r>
              <a:t>https://arxiv.org/abs/1907.10597</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40 seconds.</a:t>
            </a:r>
          </a:p>
          <a:p>
            <a:endParaRPr/>
          </a:p>
          <a:p>
            <a:r>
              <a:t>The CPU launches a grid of blocks; each block contains threads. A sixteen-by-sixteen block has two hundred and fifty-six threads, or eight warps. For a one-thousand-and-twenty-four-square image, the grid is sixty-four by sixty-four blocks. Each thread computes its global pixel coordinate and checks the image boundary. Streaming multiprocessors schedule resident warps using SIMT. The brightness excerpt shows a second independent pixel operation with clamping. More resident warps can hide latency, but registers and divergence affect execution; these examples are uncompiled.</a:t>
            </a:r>
          </a:p>
          <a:p>
            <a:endParaRPr/>
          </a:p>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Scaling a cluster increases both compute capacity and communication costs. Faster completion need not mean lower energy. The IEA estimates four hundred and eighty-five terawatt-hours of data-centre electricity in twenty twenty-five and projects nine hundred and fifty in twenty thirty. These are whole-sector figures, not one model’s footprint. The growth categories overlap and must not be added. Green AI emphasizes efficiency per useful outcome; water-footprint research adds place and time constraints. We propose measuring whole-job energy, carbon intensity and local cooling impacts, including tuning and failed runs. Hardware manufacture adds embodied impacts. Job-level equations, a faster-but-higher-energy example and research limits are in the appendix.</a:t>
            </a:r>
          </a:p>
          <a:p>
            <a:endParaRPr/>
          </a:p>
          <a:p>
            <a:r>
              <a:t>[6] International Energy Agency, Key Questions on Energy and AI, executive summary, Apr. 16, 2026, CC BY 4.0, accessed Oct. 8, 2026.</a:t>
            </a:r>
          </a:p>
          <a:p>
            <a:r>
              <a:t>https://www.iea.org/reports/key-questions-on-energy-and-ai/executive-summary</a:t>
            </a:r>
          </a:p>
          <a:p>
            <a:endParaRPr/>
          </a:p>
          <a:p>
            <a:r>
              <a:t>[9] P. Li, J. Yang, M. A. Islam, and S. Ren, “Making AI less ‘thirsty’: Uncovering and addressing the secret water footprint of AI models,” arXiv:2304.03271v5, Mar. 26, 2025; first submitted 2023.</a:t>
            </a:r>
          </a:p>
          <a:p>
            <a:r>
              <a:t>https://arxiv.org/abs/2304.03271v5</a:t>
            </a:r>
          </a:p>
          <a:p>
            <a:endParaRPr/>
          </a:p>
          <a:p>
            <a:r>
              <a:t>[10] R. Schwartz, J. Dodge, N. A. Smith, and O. Etzioni, “Green AI,” arXiv:1907.10597, 2019.</a:t>
            </a:r>
          </a:p>
          <a:p>
            <a:r>
              <a:t>https://arxiv.org/abs/1907.10597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NVIDIA, “Parallelism strategies guide,” Megatron Core, online documentation, accessed Oct. 8, 2026.</a:t>
            </a:r>
          </a:p>
          <a:p>
            <a:r>
              <a:t>https://docs.nvidia.com/megatron-core/developer-guide/latest/user-guide/parallelism-guide.html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 E. Strubell, A. Ganesh, and A. McCallum, “Energy and policy considerations for deep learning in NLP,” in Proc. ACL, 2019, pp. 3645–3650, doi: 10.18653/v1/P19-1355.</a:t>
            </a:r>
          </a:p>
          <a:p>
            <a:r>
              <a:t>https://aclanthology.org/P19-1355/</a:t>
            </a:r>
          </a:p>
          <a:p>
            <a:endParaRPr/>
          </a:p>
          <a:p>
            <a:r>
              <a:t>[10] R. Schwartz, J. Dodge, N. A. Smith, and O. Etzioni, “Green AI,” arXiv:1907.10597, 2019.</a:t>
            </a:r>
          </a:p>
          <a:p>
            <a:r>
              <a:t>https://arxiv.org/abs/1907.10597</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 International Energy Agency, Key Questions on Energy and AI, executive summary, Apr. 16, 2026, CC BY 4.0, accessed Oct. 8, 2026.</a:t>
            </a:r>
          </a:p>
          <a:p>
            <a:r>
              <a:t>https://www.iea.org/reports/key-questions-on-energy-and-ai/executive-summary</a:t>
            </a:r>
          </a:p>
          <a:p>
            <a:endParaRPr/>
          </a:p>
          <a:p>
            <a:r>
              <a:t>[8] E. Strubell, A. Ganesh, and A. McCallum, “Energy and policy considerations for deep learning in NLP,” in Proc. ACL, 2019, pp. 3645–3650, doi: 10.18653/v1/P19-1355.</a:t>
            </a:r>
          </a:p>
          <a:p>
            <a:r>
              <a:t>https://aclanthology.org/P19-1355/</a:t>
            </a:r>
          </a:p>
          <a:p>
            <a:endParaRPr/>
          </a:p>
          <a:p>
            <a:r>
              <a:t>[9] P. Li, J. Yang, M. A. Islam, and S. Ren, “Making AI less ‘thirsty’: Uncovering and addressing the secret water footprint of AI models,” arXiv:2304.03271v5, Mar. 26, 2025; first submitted 2023.</a:t>
            </a:r>
          </a:p>
          <a:p>
            <a:r>
              <a:t>https://arxiv.org/abs/2304.03271v5</a:t>
            </a:r>
          </a:p>
          <a:p>
            <a:endParaRPr/>
          </a:p>
          <a:p>
            <a:r>
              <a:t>[10] R. Schwartz, J. Dodge, N. A. Smith, and O. Etzioni, “Green AI,” arXiv:1907.10597, 2019.</a:t>
            </a:r>
          </a:p>
          <a:p>
            <a:r>
              <a:t>https://arxiv.org/abs/1907.10597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 L. Zhu, Z. Liu, and S. Han, “Deep leakage from gradients,” arXiv:1906.08935v2, 2019.</a:t>
            </a:r>
          </a:p>
          <a:p>
            <a:r>
              <a:t>https://arxiv.org/abs/1906.08935v2</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 I. O. Gallegos et al., “Bias and fairness in large language models: A survey,” Computational Linguistics, vol. 50, no. 3, pp. 1097–1179, 2024, doi: 10.1162/coli_a_00524.</a:t>
            </a:r>
          </a:p>
          <a:p>
            <a:r>
              <a:t>https://aclanthology.org/2024.cl-3.8/</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U.S. National Science Foundation, “NAIRR at 2 years: Advancing American artificial intelligence innovation and leadership,” Mar. 19, 2026, accessed Oct. 8, 2026.</a:t>
            </a:r>
          </a:p>
          <a:p>
            <a:r>
              <a:t>https://www.nsf.gov/cise/updates/nairr-2-years-advancing-american-artificial-intelligence</a:t>
            </a:r>
          </a:p>
          <a:p>
            <a:endParaRPr/>
          </a:p>
          <a:p>
            <a:r>
              <a:t>[8] E. Strubell, A. Ganesh, and A. McCallum, “Energy and policy considerations for deep learning in NLP,” in Proc. ACL, 2019, pp. 3645–3650, doi: 10.18653/v1/P19-1355.</a:t>
            </a:r>
          </a:p>
          <a:p>
            <a:r>
              <a:t>https://aclanthology.org/P19-1355/</a:t>
            </a:r>
          </a:p>
          <a:p>
            <a:endParaRPr/>
          </a:p>
          <a:p>
            <a:r>
              <a:t>[13] N. Ahmed and M. Wahed, “The de-democratization of AI: Deep learning and the compute divide in artificial intelligence research,” arXiv:2010.15581v1, 2020.</a:t>
            </a:r>
          </a:p>
          <a:p>
            <a:r>
              <a:t>https://arxiv.org/abs/2010.15581v1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U.S. National Science Foundation, “NAIRR at 2 years: Advancing American artificial intelligence innovation and leadership,” Mar. 19, 2026, accessed Oct. 8, 2026.</a:t>
            </a:r>
          </a:p>
          <a:p>
            <a:r>
              <a:t>https://www.nsf.gov/cise/updates/nairr-2-years-advancing-american-artificial-intelligence</a:t>
            </a:r>
          </a:p>
          <a:p>
            <a:endParaRPr/>
          </a:p>
          <a:p>
            <a:r>
              <a:t>[8] E. Strubell, A. Ganesh, and A. McCallum, “Energy and policy considerations for deep learning in NLP,” in Proc. ACL, 2019, pp. 3645–3650, doi: 10.18653/v1/P19-1355.</a:t>
            </a:r>
          </a:p>
          <a:p>
            <a:r>
              <a:t>https://aclanthology.org/P19-1355/</a:t>
            </a:r>
          </a:p>
          <a:p>
            <a:endParaRPr/>
          </a:p>
          <a:p>
            <a:r>
              <a:t>[13] N. Ahmed and M. Wahed, “The de-democratization of AI: Deep learning and the compute divide in artificial intelligence research,” arXiv:2010.15581v1, 2020.</a:t>
            </a:r>
          </a:p>
          <a:p>
            <a:r>
              <a:t>https://arxiv.org/abs/2010.15581v1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R. Schwartz, J. Dodge, N. A. Smith, and O. Etzioni, “Green AI,” arXiv:1907.10597, 2019.</a:t>
            </a:r>
          </a:p>
          <a:p>
            <a:r>
              <a:t>https://arxiv.org/abs/1907.10597</a:t>
            </a:r>
          </a:p>
          <a:p>
            <a:endParaRPr/>
          </a:p>
          <a:p>
            <a:r>
              <a:t>[14] A. Radovanovic et al., “Carbon-aware computing for datacenters,” arXiv:2106.11750v1, 2021.</a:t>
            </a:r>
          </a:p>
          <a:p>
            <a:r>
              <a:t>https://arxiv.org/abs/2106.11750v1</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R. Schwartz, J. Dodge, N. A. Smith, and O. Etzioni, “Green AI,” arXiv:1907.10597, 2019.</a:t>
            </a:r>
          </a:p>
          <a:p>
            <a:r>
              <a:t>https://arxiv.org/abs/1907.10597</a:t>
            </a:r>
          </a:p>
          <a:p>
            <a:endParaRPr/>
          </a:p>
          <a:p>
            <a:r>
              <a:t>[14] A. Radovanovic et al., “Carbon-aware computing for datacenters,” arXiv:2106.11750v1, 2021.</a:t>
            </a:r>
          </a:p>
          <a:p>
            <a:r>
              <a:t>https://arxiv.org/abs/2106.11750v1</a:t>
            </a:r>
          </a:p>
          <a:p>
            <a:endParaRPr/>
          </a:p>
          <a:p>
            <a:r>
              <a:t>[15] OECD, “OECD AI Principles,” adopted 2019, updated 2024, accessed Oct. 8, 2026.</a:t>
            </a:r>
          </a:p>
          <a:p>
            <a:r>
              <a:t>https://www.oecd.org/en/topics/ai-principles.html</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 P. Li, J. Yang, M. A. Islam, and S. Ren, “Making AI less ‘thirsty’: Uncovering and addressing the secret water footprint of AI models,” arXiv:2304.03271v5, Mar. 26, 2025; first submitted 2023.</a:t>
            </a:r>
          </a:p>
          <a:p>
            <a:r>
              <a:t>https://arxiv.org/abs/2304.03271v5</a:t>
            </a:r>
          </a:p>
          <a:p>
            <a:endParaRPr/>
          </a:p>
          <a:p>
            <a:r>
              <a:t>[14] A. Radovanovic et al., “Carbon-aware computing for datacenters,” arXiv:2106.11750v1, 2021.</a:t>
            </a:r>
          </a:p>
          <a:p>
            <a:r>
              <a:t>https://arxiv.org/abs/2106.11750v1</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a:p>
            <a:endParaRPr/>
          </a:p>
          <a:p>
            <a:r>
              <a:t>[3] NVIDIA, GPUDirect Storage Overview Guide, online documentation, accessed Oct. 8, 2026.</a:t>
            </a:r>
          </a:p>
          <a:p>
            <a:r>
              <a:t>https://docs.nvidia.com/gpudirect-storage/overview-guide/index.html</a:t>
            </a:r>
          </a:p>
          <a:p>
            <a:endParaRPr/>
          </a:p>
          <a:p>
            <a:r>
              <a:t>[4] NVIDIA, GPUDirect Storage Design Guide, online documentation, accessed Oct. 8, 2026.</a:t>
            </a:r>
          </a:p>
          <a:p>
            <a:r>
              <a:t>https://docs.nvidia.com/gpudirect-storage/design-guide/index.html</a:t>
            </a:r>
          </a:p>
          <a:p>
            <a:endParaRPr/>
          </a:p>
          <a:p>
            <a:r>
              <a:t>[10] R. Schwartz, J. Dodge, N. A. Smith, and O. Etzioni, “Green AI,” arXiv:1907.10597, 2019.</a:t>
            </a:r>
          </a:p>
          <a:p>
            <a:r>
              <a:t>https://arxiv.org/abs/1907.10597</a:t>
            </a:r>
          </a:p>
          <a:p>
            <a:endParaRPr/>
          </a:p>
          <a:p>
            <a:r>
              <a:t>[14] A. Radovanovic et al., “Carbon-aware computing for datacenters,” arXiv:2106.11750v1, 2021.</a:t>
            </a:r>
          </a:p>
          <a:p>
            <a:r>
              <a:t>https://arxiv.org/abs/2106.11750v1</a:t>
            </a:r>
          </a:p>
          <a:p>
            <a:endParaRPr/>
          </a:p>
          <a:p>
            <a:r>
              <a:t>[16] NIST, AI Risk Management Framework 1.0 Playbook, framework 2023, current online resource, accessed Oct. 8, 2026.</a:t>
            </a:r>
          </a:p>
          <a:p>
            <a:r>
              <a:t>https://airc.nist.gov/airmf-resources/playbook/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 NVIDIA, “Rotate,” NPP Image Geometry Transforms, CUDA 13.0.3 archive documentation, accessed Oct. 8, 2026.</a:t>
            </a:r>
          </a:p>
          <a:p>
            <a:r>
              <a:t>https://docs.nvidia.com/cuda/archive/13.0.3/npp/image_geometry_transforms.html#rotate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NVIDIA, “Programming model,” CUDA Programming Guide, online documentation, accessed Oct. 8, 2026.</a:t>
            </a:r>
          </a:p>
          <a:p>
            <a:r>
              <a:t>https://docs.nvidia.com/cuda/cuda-programming-guide/01-introduction/programming-model.html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NVIDIA, GPUDirect Storage Overview Guide, online documentation, accessed Oct. 8, 2026.</a:t>
            </a:r>
          </a:p>
          <a:p>
            <a:r>
              <a:t>https://docs.nvidia.com/gpudirect-storage/overview-guide/index.html</a:t>
            </a:r>
          </a:p>
          <a:p>
            <a:endParaRPr/>
          </a:p>
          <a:p>
            <a:r>
              <a:t>[4] NVIDIA, GPUDirect Storage Design Guide, online documentation, accessed Oct. 8, 2026.</a:t>
            </a:r>
          </a:p>
          <a:p>
            <a:r>
              <a:t>https://docs.nvidia.com/gpudirect-storage/design-guide/index.html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NVIDIA, “Parallelism strategies guide,” Megatron Core, online documentation, accessed Oct. 8, 2026.</a:t>
            </a:r>
          </a:p>
          <a:p>
            <a:r>
              <a:t>https://docs.nvidia.com/megatron-core/developer-guide/latest/user-guide/parallelism-guide.html</a:t>
            </a:r>
          </a:p>
          <a:p>
            <a:endParaRPr/>
          </a:p>
          <a:p>
            <a:r>
              <a:t>[2] NVIDIA, CUDA C++ Best Practices Guide, online documentation, accessed Oct. 8, 2026.</a:t>
            </a:r>
          </a:p>
          <a:p>
            <a:r>
              <a:t>https://docs.nvidia.com/cuda/cuda-c-best-practices-guide/index.html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 E. Strubell, A. Ganesh, and A. McCallum, “Energy and policy considerations for deep learning in NLP,” in Proc. ACL, 2019, pp. 3645–3650, doi: 10.18653/v1/P19-1355.</a:t>
            </a:r>
          </a:p>
          <a:p>
            <a:r>
              <a:t>https://aclanthology.org/P19-1355/</a:t>
            </a:r>
          </a:p>
          <a:p>
            <a:endParaRPr/>
          </a:p>
          <a:p>
            <a:r>
              <a:t>[9] P. Li, J. Yang, M. A. Islam, and S. Ren, “Making AI less ‘thirsty’: Uncovering and addressing the secret water footprint of AI models,” arXiv:2304.03271v5, Mar. 26, 2025; first submitted 2023.</a:t>
            </a:r>
          </a:p>
          <a:p>
            <a:r>
              <a:t>https://arxiv.org/abs/2304.03271v5</a:t>
            </a:r>
          </a:p>
          <a:p>
            <a:endParaRPr/>
          </a:p>
          <a:p>
            <a:r>
              <a:t>[10] R. Schwartz, J. Dodge, N. A. Smith, and O. Etzioni, “Green AI,” arXiv:1907.10597, 2019.</a:t>
            </a:r>
          </a:p>
          <a:p>
            <a:r>
              <a:t>https://arxiv.org/abs/1907.10597</a:t>
            </a:r>
          </a:p>
          <a:p>
            <a:endParaRPr/>
          </a:p>
          <a:p>
            <a:r>
              <a:t>[11] L. Zhu, Z. Liu, and S. Han, “Deep leakage from gradients,” arXiv:1906.08935v2, 2019.</a:t>
            </a:r>
          </a:p>
          <a:p>
            <a:r>
              <a:t>https://arxiv.org/abs/1906.08935v2</a:t>
            </a:r>
          </a:p>
          <a:p>
            <a:endParaRPr/>
          </a:p>
          <a:p>
            <a:r>
              <a:t>[12] I. O. Gallegos et al., “Bias and fairness in large language models: A survey,” Computational Linguistics, vol. 50, no. 3, pp. 1097–1179, 2024, doi: 10.1162/coli_a_00524.</a:t>
            </a:r>
          </a:p>
          <a:p>
            <a:r>
              <a:t>https://aclanthology.org/2024.cl-3.8/</a:t>
            </a:r>
          </a:p>
          <a:p>
            <a:endParaRPr/>
          </a:p>
          <a:p>
            <a:r>
              <a:t>[13] N. Ahmed and M. Wahed, “The de-democratization of AI: Deep learning and the compute divide in artificial intelligence research,” arXiv:2010.15581v1, 2020.</a:t>
            </a:r>
          </a:p>
          <a:p>
            <a:r>
              <a:t>https://arxiv.org/abs/2010.15581v1</a:t>
            </a:r>
          </a:p>
          <a:p>
            <a:endParaRPr/>
          </a:p>
          <a:p>
            <a:r>
              <a:t>[14] A. Radovanovic et al., “Carbon-aware computing for datacenters,” arXiv:2106.11750v1, 2021.</a:t>
            </a:r>
          </a:p>
          <a:p>
            <a:r>
              <a:t>https://arxiv.org/abs/2106.11750v1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BA6690B-739E-4A4B-817E-650449B77D3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8074B2AC-4092-40BB-B474-24ECFE6C989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092844C-71E0-4E6C-8640-26DDFDE09C5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CA9CBB5-B401-4DC5-8040-8F828D3E9E6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5F3E348D-0881-4CF9-8AAE-11C6926AFC4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DDDF41E-B764-4290-8F84-FC8F63D607B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872711D-9041-4F7A-8D4A-C6C7F142D5F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7B8226E-7A05-4684-8C7C-8BC5F28E197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BB1B6E8-450D-4D57-BF78-5DE69C40D6B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4D275C1-D408-4D3B-9816-6A48F2A30BF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hyperlink" Target="https://docs.nvidia.com/cuda/cuda-programming-guide/01-introduction/programming-model.html" TargetMode="External"/><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hyperlink" Target="https://docs.nvidia.com/gpudirect-storage/design-guide/index.html" TargetMode="External"/><Relationship Id="rId5" Type="http://schemas.openxmlformats.org/officeDocument/2006/relationships/hyperlink" Target="https://docs.nvidia.com/gpudirect-storage/overview-guide/index.html" TargetMode="External"/><Relationship Id="rId4" Type="http://schemas.openxmlformats.org/officeDocument/2006/relationships/hyperlink" Target="https://docs.nvidia.com/cuda/cuda-c-best-practices-guide/index.html"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docs.nvidia.com/megatron-core/developer-guide/latest/user-guide/parallelism-guide.html" TargetMode="External"/><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hyperlink" Target="https://aclanthology.org/P19-1355/" TargetMode="External"/><Relationship Id="rId5" Type="http://schemas.openxmlformats.org/officeDocument/2006/relationships/hyperlink" Target="https://www.nsf.gov/cise/updates/nairr-2-years-advancing-american-artificial-intelligence" TargetMode="External"/><Relationship Id="rId4" Type="http://schemas.openxmlformats.org/officeDocument/2006/relationships/hyperlink" Target="https://www.iea.org/reports/key-questions-on-energy-and-ai/executive-summary"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arxiv.org/abs/2304.03271v5" TargetMode="External"/><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hyperlink" Target="https://aclanthology.org/2024.cl-3.8/" TargetMode="External"/><Relationship Id="rId5" Type="http://schemas.openxmlformats.org/officeDocument/2006/relationships/hyperlink" Target="https://arxiv.org/abs/1906.08935v2" TargetMode="External"/><Relationship Id="rId4" Type="http://schemas.openxmlformats.org/officeDocument/2006/relationships/hyperlink" Target="https://arxiv.org/abs/1907.10597"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arxiv.org/abs/2010.15581v1" TargetMode="External"/><Relationship Id="rId7" Type="http://schemas.openxmlformats.org/officeDocument/2006/relationships/hyperlink" Target="https://docs.nvidia.com/cuda/archive/13.0.3/npp/image_geometry_transforms.html#rotate" TargetMode="External"/><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hyperlink" Target="https://airc.nist.gov/airmf-resources/playbook/" TargetMode="External"/><Relationship Id="rId5" Type="http://schemas.openxmlformats.org/officeDocument/2006/relationships/hyperlink" Target="https://www.oecd.org/en/topics/ai-principles.html" TargetMode="External"/><Relationship Id="rId4" Type="http://schemas.openxmlformats.org/officeDocument/2006/relationships/hyperlink" Target="https://arxiv.org/abs/2106.11750v1" TargetMode="Externa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D45"/>
        </a:solidFill>
        <a:effectLst/>
      </p:bgPr>
    </p:bg>
    <p:spTree>
      <p:nvGrpSpPr>
        <p:cNvPr id="1" name=""/>
        <p:cNvGrpSpPr/>
        <p:nvPr/>
      </p:nvGrpSpPr>
      <p:grpSpPr>
        <a:xfrm>
          <a:off x="0" y="0"/>
          <a:ext cx="0" cy="0"/>
          <a:chOff x="0" y="0"/>
          <a:chExt cx="0" cy="0"/>
        </a:xfrm>
      </p:grpSpPr>
      <p:sp>
        <p:nvSpPr>
          <p:cNvPr id="10" name="FIT3143 • Applied 2 • Tasks 1 and 2">
            <a:extLst>
              <a:ext uri="{FF2B5EF4-FFF2-40B4-BE49-F238E27FC236}">
                <a16:creationId xmlns:a16="http://schemas.microsoft.com/office/drawing/2014/main" id="{31E56352-D8E2-4CEA-9E1F-67FDB461B305}"/>
              </a:ext>
            </a:extLst>
          </p:cNvPr>
          <p:cNvSpPr>
            <a:spLocks noGrp="1"/>
          </p:cNvSpPr>
          <p:nvPr/>
        </p:nvSpPr>
        <p:spPr>
          <a:xfrm>
            <a:off x="609600" y="619125"/>
            <a:ext cx="10858500" cy="274320"/>
          </a:xfrm>
          <a:prstGeom prst="rect">
            <a:avLst/>
          </a:prstGeom>
          <a:noFill/>
          <a:ln w="0">
            <a:noFill/>
          </a:ln>
        </p:spPr>
        <p:txBody>
          <a:bodyPr wrap="square" lIns="0" tIns="0" rIns="0" bIns="0" anchor="t">
            <a:noAutofit/>
          </a:bodyPr>
          <a:lstStyle>
            <a:defPPr algn="l">
              <a:defRPr sz="1500" b="1">
                <a:solidFill>
                  <a:srgbClr val="8CD7D5"/>
                </a:solidFill>
                <a:latin typeface="Arial"/>
                <a:ea typeface="Arial"/>
                <a:cs typeface="Arial"/>
              </a:defRPr>
            </a:defPPr>
          </a:lstStyle>
          <a:p>
            <a:pPr algn="l">
              <a:defRPr sz="1500" b="1">
                <a:solidFill>
                  <a:srgbClr val="8CD7D5"/>
                </a:solidFill>
                <a:latin typeface="Arial"/>
                <a:ea typeface="Arial"/>
                <a:cs typeface="Arial"/>
              </a:defRPr>
            </a:pPr>
            <a:r>
              <a:rPr sz="1500" b="1">
                <a:solidFill>
                  <a:srgbClr val="8CD7D5"/>
                </a:solidFill>
                <a:latin typeface="Arial"/>
                <a:ea typeface="Arial"/>
                <a:cs typeface="Arial"/>
              </a:rPr>
              <a:t>FIT3143 • Applied 2 • Tasks 1 and 2</a:t>
            </a:r>
          </a:p>
        </p:txBody>
      </p:sp>
      <p:sp>
        <p:nvSpPr>
          <p:cNvPr id="2" name="GPU image rotation&#10;and responsible HPC for AI">
            <a:extLst>
              <a:ext uri="{FF2B5EF4-FFF2-40B4-BE49-F238E27FC236}">
                <a16:creationId xmlns:a16="http://schemas.microsoft.com/office/drawing/2014/main" id="{98B3E439-DBF0-46F1-B125-83E4C9D1B459}"/>
              </a:ext>
            </a:extLst>
          </p:cNvPr>
          <p:cNvSpPr>
            <a:spLocks noGrp="1"/>
          </p:cNvSpPr>
          <p:nvPr/>
        </p:nvSpPr>
        <p:spPr>
          <a:xfrm>
            <a:off x="609600" y="1562100"/>
            <a:ext cx="10858500" cy="1476375"/>
          </a:xfrm>
          <a:prstGeom prst="rect">
            <a:avLst/>
          </a:prstGeom>
          <a:noFill/>
          <a:ln w="0">
            <a:noFill/>
          </a:ln>
        </p:spPr>
        <p:txBody>
          <a:bodyPr wrap="square" lIns="0" tIns="0" rIns="0" bIns="0" anchor="t">
            <a:noAutofit/>
          </a:bodyPr>
          <a:lstStyle>
            <a:defPPr algn="l">
              <a:defRPr sz="4050" b="1">
                <a:solidFill>
                  <a:srgbClr val="FFFFFF"/>
                </a:solidFill>
                <a:latin typeface="Arial"/>
                <a:ea typeface="Arial"/>
                <a:cs typeface="Arial"/>
              </a:defRPr>
            </a:defPPr>
          </a:lstStyle>
          <a:p>
            <a:pPr algn="l">
              <a:defRPr sz="4050" b="1">
                <a:solidFill>
                  <a:srgbClr val="FFFFFF"/>
                </a:solidFill>
                <a:latin typeface="Arial"/>
                <a:ea typeface="Arial"/>
                <a:cs typeface="Arial"/>
              </a:defRPr>
            </a:pPr>
            <a:r>
              <a:rPr sz="4050" b="1">
                <a:solidFill>
                  <a:srgbClr val="FFFFFF"/>
                </a:solidFill>
                <a:latin typeface="Arial"/>
                <a:ea typeface="Arial"/>
                <a:cs typeface="Arial"/>
              </a:rPr>
              <a:t>GPU image rotation</a:t>
            </a:r>
          </a:p>
          <a:p>
            <a:pPr algn="l">
              <a:defRPr sz="4050" b="1">
                <a:solidFill>
                  <a:srgbClr val="FFFFFF"/>
                </a:solidFill>
                <a:latin typeface="Arial"/>
                <a:ea typeface="Arial"/>
                <a:cs typeface="Arial"/>
              </a:defRPr>
            </a:pPr>
            <a:r>
              <a:rPr sz="4050" b="1">
                <a:solidFill>
                  <a:srgbClr val="FFFFFF"/>
                </a:solidFill>
                <a:latin typeface="Arial"/>
                <a:ea typeface="Arial"/>
                <a:cs typeface="Arial"/>
              </a:rPr>
              <a:t>and responsible HPC for AI</a:t>
            </a:r>
          </a:p>
        </p:txBody>
      </p:sp>
      <p:sp>
        <p:nvSpPr>
          <p:cNvPr id="3" name="CUDA design and performance • Evidence, trade-offs and ">
            <a:extLst>
              <a:ext uri="{FF2B5EF4-FFF2-40B4-BE49-F238E27FC236}">
                <a16:creationId xmlns:a16="http://schemas.microsoft.com/office/drawing/2014/main" id="{D5F567AF-AEE0-4C1D-B674-1687D056D113}"/>
              </a:ext>
            </a:extLst>
          </p:cNvPr>
          <p:cNvSpPr>
            <a:spLocks noGrp="1"/>
          </p:cNvSpPr>
          <p:nvPr/>
        </p:nvSpPr>
        <p:spPr>
          <a:xfrm>
            <a:off x="609600" y="3209925"/>
            <a:ext cx="10858500" cy="345186"/>
          </a:xfrm>
          <a:prstGeom prst="rect">
            <a:avLst/>
          </a:prstGeom>
          <a:noFill/>
          <a:ln w="0">
            <a:noFill/>
          </a:ln>
        </p:spPr>
        <p:txBody>
          <a:bodyPr wrap="square" lIns="0" tIns="0" rIns="0" bIns="0" anchor="t">
            <a:noAutofit/>
          </a:bodyPr>
          <a:lstStyle>
            <a:defPPr algn="l">
              <a:defRPr sz="1950" b="0">
                <a:solidFill>
                  <a:srgbClr val="CCDCE4"/>
                </a:solidFill>
                <a:latin typeface="Arial"/>
                <a:ea typeface="Arial"/>
                <a:cs typeface="Arial"/>
              </a:defRPr>
            </a:defPPr>
          </a:lstStyle>
          <a:p>
            <a:pPr algn="l">
              <a:defRPr sz="1950" b="0">
                <a:solidFill>
                  <a:srgbClr val="CCDCE4"/>
                </a:solidFill>
                <a:latin typeface="Arial"/>
                <a:ea typeface="Arial"/>
                <a:cs typeface="Arial"/>
              </a:defRPr>
            </a:pPr>
            <a:r>
              <a:rPr sz="1950" b="0">
                <a:solidFill>
                  <a:srgbClr val="CCDCE4"/>
                </a:solidFill>
                <a:latin typeface="Arial"/>
                <a:ea typeface="Arial"/>
                <a:cs typeface="Arial"/>
              </a:rPr>
              <a:t>CUDA design and performance • Evidence, trade-offs and accountable use</a:t>
            </a:r>
          </a:p>
        </p:txBody>
      </p:sp>
      <p:sp>
        <p:nvSpPr>
          <p:cNvPr id="4" name="Straight Connector 3">
            <a:extLst>
              <a:ext uri="{FF2B5EF4-FFF2-40B4-BE49-F238E27FC236}">
                <a16:creationId xmlns:a16="http://schemas.microsoft.com/office/drawing/2014/main" id="{3C3DA01B-820F-43E7-A57C-C0FE3A9A165E}"/>
              </a:ext>
            </a:extLst>
          </p:cNvPr>
          <p:cNvSpPr>
            <a:spLocks noGrp="1"/>
          </p:cNvSpPr>
          <p:nvPr/>
        </p:nvSpPr>
        <p:spPr>
          <a:xfrm>
            <a:off x="609600" y="4095750"/>
            <a:ext cx="10972800" cy="0"/>
          </a:xfrm>
          <a:prstGeom prst="line">
            <a:avLst/>
          </a:prstGeom>
          <a:noFill/>
          <a:ln w="9525">
            <a:solidFill>
              <a:srgbClr val="577082"/>
            </a:solidFill>
            <a:prstDash val="solid"/>
          </a:ln>
        </p:spPr>
        <p:txBody>
          <a:bodyPr/>
          <a:lstStyle/>
          <a:p>
            <a:endParaRPr lang="en-US"/>
          </a:p>
        </p:txBody>
      </p:sp>
      <p:sp>
        <p:nvSpPr>
          <p:cNvPr id="5" name="Savin Vindiv De Alwis  ·  35221631">
            <a:extLst>
              <a:ext uri="{FF2B5EF4-FFF2-40B4-BE49-F238E27FC236}">
                <a16:creationId xmlns:a16="http://schemas.microsoft.com/office/drawing/2014/main" id="{EA0C823F-EC28-44E9-999D-1730E0FED07E}"/>
              </a:ext>
            </a:extLst>
          </p:cNvPr>
          <p:cNvSpPr>
            <a:spLocks noGrp="1"/>
          </p:cNvSpPr>
          <p:nvPr/>
        </p:nvSpPr>
        <p:spPr>
          <a:xfrm>
            <a:off x="609600" y="4429125"/>
            <a:ext cx="10858500" cy="345186"/>
          </a:xfrm>
          <a:prstGeom prst="rect">
            <a:avLst/>
          </a:prstGeom>
          <a:noFill/>
          <a:ln w="0">
            <a:noFill/>
          </a:ln>
        </p:spPr>
        <p:txBody>
          <a:bodyPr wrap="square" lIns="0" tIns="0" rIns="0" bIns="0" anchor="t">
            <a:noAutofit/>
          </a:bodyPr>
          <a:lstStyle>
            <a:defPPr algn="l">
              <a:defRPr sz="1950" b="1">
                <a:solidFill>
                  <a:srgbClr val="FFFFFF"/>
                </a:solidFill>
                <a:latin typeface="Arial"/>
                <a:ea typeface="Arial"/>
                <a:cs typeface="Arial"/>
              </a:defRPr>
            </a:defPPr>
          </a:lstStyle>
          <a:p>
            <a:pPr algn="l">
              <a:defRPr sz="1950" b="1">
                <a:solidFill>
                  <a:srgbClr val="FFFFFF"/>
                </a:solidFill>
                <a:latin typeface="Arial"/>
                <a:ea typeface="Arial"/>
                <a:cs typeface="Arial"/>
              </a:defRPr>
            </a:pPr>
            <a:r>
              <a:rPr sz="1950" b="1">
                <a:solidFill>
                  <a:srgbClr val="FFFFFF"/>
                </a:solidFill>
                <a:latin typeface="Arial"/>
                <a:ea typeface="Arial"/>
                <a:cs typeface="Arial"/>
              </a:rPr>
              <a:t>Savin Vindiv De Alwis · 35221631</a:t>
            </a:r>
          </a:p>
        </p:txBody>
      </p:sp>
      <p:sp>
        <p:nvSpPr>
          <p:cNvPr id="6" name="sdea0018@student.monash.edu">
            <a:extLst>
              <a:ext uri="{FF2B5EF4-FFF2-40B4-BE49-F238E27FC236}">
                <a16:creationId xmlns:a16="http://schemas.microsoft.com/office/drawing/2014/main" id="{070BC79C-F623-4683-A973-3B997F61E528}"/>
              </a:ext>
            </a:extLst>
          </p:cNvPr>
          <p:cNvSpPr>
            <a:spLocks noGrp="1"/>
          </p:cNvSpPr>
          <p:nvPr/>
        </p:nvSpPr>
        <p:spPr>
          <a:xfrm>
            <a:off x="609600" y="4772025"/>
            <a:ext cx="10858500" cy="297942"/>
          </a:xfrm>
          <a:prstGeom prst="rect">
            <a:avLst/>
          </a:prstGeom>
          <a:noFill/>
          <a:ln w="0">
            <a:noFill/>
          </a:ln>
        </p:spPr>
        <p:txBody>
          <a:bodyPr wrap="square" lIns="0" tIns="0" rIns="0" bIns="0" anchor="t">
            <a:noAutofit/>
          </a:bodyPr>
          <a:lstStyle>
            <a:defPPr algn="l">
              <a:defRPr sz="1650" b="0">
                <a:solidFill>
                  <a:srgbClr val="C8D9E3"/>
                </a:solidFill>
                <a:latin typeface="Arial"/>
                <a:ea typeface="Arial"/>
                <a:cs typeface="Arial"/>
              </a:defRPr>
            </a:defPPr>
          </a:lstStyle>
          <a:p>
            <a:pPr algn="l">
              <a:defRPr sz="1650" b="0">
                <a:solidFill>
                  <a:srgbClr val="C8D9E3"/>
                </a:solidFill>
                <a:latin typeface="Arial"/>
                <a:ea typeface="Arial"/>
                <a:cs typeface="Arial"/>
              </a:defRPr>
            </a:pPr>
            <a:r>
              <a:rPr sz="1650" b="0">
                <a:solidFill>
                  <a:srgbClr val="C8D9E3"/>
                </a:solidFill>
                <a:latin typeface="Arial"/>
                <a:ea typeface="Arial"/>
                <a:cs typeface="Arial"/>
              </a:rPr>
              <a:t>sdea0018@student.monash.edu</a:t>
            </a:r>
          </a:p>
        </p:txBody>
      </p:sp>
      <p:sp>
        <p:nvSpPr>
          <p:cNvPr id="7" name="Shamle Thilaksiri  ·  35512075">
            <a:extLst>
              <a:ext uri="{FF2B5EF4-FFF2-40B4-BE49-F238E27FC236}">
                <a16:creationId xmlns:a16="http://schemas.microsoft.com/office/drawing/2014/main" id="{E8EF6959-626F-4FF8-B16B-61E311842F3D}"/>
              </a:ext>
            </a:extLst>
          </p:cNvPr>
          <p:cNvSpPr>
            <a:spLocks noGrp="1"/>
          </p:cNvSpPr>
          <p:nvPr/>
        </p:nvSpPr>
        <p:spPr>
          <a:xfrm>
            <a:off x="609600" y="5210175"/>
            <a:ext cx="10858500" cy="345186"/>
          </a:xfrm>
          <a:prstGeom prst="rect">
            <a:avLst/>
          </a:prstGeom>
          <a:noFill/>
          <a:ln w="0">
            <a:noFill/>
          </a:ln>
        </p:spPr>
        <p:txBody>
          <a:bodyPr wrap="square" lIns="0" tIns="0" rIns="0" bIns="0" anchor="t">
            <a:noAutofit/>
          </a:bodyPr>
          <a:lstStyle>
            <a:defPPr algn="l">
              <a:defRPr sz="1950" b="1">
                <a:solidFill>
                  <a:srgbClr val="FFFFFF"/>
                </a:solidFill>
                <a:latin typeface="Arial"/>
                <a:ea typeface="Arial"/>
                <a:cs typeface="Arial"/>
              </a:defRPr>
            </a:defPPr>
          </a:lstStyle>
          <a:p>
            <a:pPr algn="l">
              <a:defRPr sz="1950" b="1">
                <a:solidFill>
                  <a:srgbClr val="FFFFFF"/>
                </a:solidFill>
                <a:latin typeface="Arial"/>
                <a:ea typeface="Arial"/>
                <a:cs typeface="Arial"/>
              </a:defRPr>
            </a:pPr>
            <a:r>
              <a:rPr sz="1950" b="1">
                <a:solidFill>
                  <a:srgbClr val="FFFFFF"/>
                </a:solidFill>
                <a:latin typeface="Arial"/>
                <a:ea typeface="Arial"/>
                <a:cs typeface="Arial"/>
              </a:rPr>
              <a:t>Shamle Thilaksiri · 35512075</a:t>
            </a:r>
          </a:p>
        </p:txBody>
      </p:sp>
      <p:sp>
        <p:nvSpPr>
          <p:cNvPr id="8" name="wthi0003@student.monash.edu">
            <a:extLst>
              <a:ext uri="{FF2B5EF4-FFF2-40B4-BE49-F238E27FC236}">
                <a16:creationId xmlns:a16="http://schemas.microsoft.com/office/drawing/2014/main" id="{180D3AD8-D79F-46F6-8824-9389A9749C1D}"/>
              </a:ext>
            </a:extLst>
          </p:cNvPr>
          <p:cNvSpPr>
            <a:spLocks noGrp="1"/>
          </p:cNvSpPr>
          <p:nvPr/>
        </p:nvSpPr>
        <p:spPr>
          <a:xfrm>
            <a:off x="609600" y="5553075"/>
            <a:ext cx="10858500" cy="297942"/>
          </a:xfrm>
          <a:prstGeom prst="rect">
            <a:avLst/>
          </a:prstGeom>
          <a:noFill/>
          <a:ln w="0">
            <a:noFill/>
          </a:ln>
        </p:spPr>
        <p:txBody>
          <a:bodyPr wrap="square" lIns="0" tIns="0" rIns="0" bIns="0" anchor="t">
            <a:noAutofit/>
          </a:bodyPr>
          <a:lstStyle>
            <a:defPPr algn="l">
              <a:defRPr sz="1650" b="0">
                <a:solidFill>
                  <a:srgbClr val="C8D9E3"/>
                </a:solidFill>
                <a:latin typeface="Arial"/>
                <a:ea typeface="Arial"/>
                <a:cs typeface="Arial"/>
              </a:defRPr>
            </a:defPPr>
          </a:lstStyle>
          <a:p>
            <a:pPr algn="l">
              <a:defRPr sz="1650" b="0">
                <a:solidFill>
                  <a:srgbClr val="C8D9E3"/>
                </a:solidFill>
                <a:latin typeface="Arial"/>
                <a:ea typeface="Arial"/>
                <a:cs typeface="Arial"/>
              </a:defRPr>
            </a:pPr>
            <a:r>
              <a:rPr sz="1650" b="0">
                <a:solidFill>
                  <a:srgbClr val="C8D9E3"/>
                </a:solidFill>
                <a:latin typeface="Arial"/>
                <a:ea typeface="Arial"/>
                <a:cs typeface="Arial"/>
              </a:rPr>
              <a:t>wthi0003@student.monash.edu</a:t>
            </a:r>
          </a:p>
        </p:txBody>
      </p:sp>
      <p:sp>
        <p:nvSpPr>
          <p:cNvPr id="9" name="8 October 2026  •  Focused answers first; full implemen">
            <a:extLst>
              <a:ext uri="{FF2B5EF4-FFF2-40B4-BE49-F238E27FC236}">
                <a16:creationId xmlns:a16="http://schemas.microsoft.com/office/drawing/2014/main" id="{B438D63C-6EA2-4CB7-AC50-4585BC47CFB9}"/>
              </a:ext>
            </a:extLst>
          </p:cNvPr>
          <p:cNvSpPr>
            <a:spLocks noGrp="1"/>
          </p:cNvSpPr>
          <p:nvPr/>
        </p:nvSpPr>
        <p:spPr>
          <a:xfrm>
            <a:off x="609600" y="6391275"/>
            <a:ext cx="10858500" cy="215265"/>
          </a:xfrm>
          <a:prstGeom prst="rect">
            <a:avLst/>
          </a:prstGeom>
          <a:noFill/>
          <a:ln w="0">
            <a:noFill/>
          </a:ln>
        </p:spPr>
        <p:txBody>
          <a:bodyPr wrap="square" lIns="0" tIns="0" rIns="0" bIns="0" anchor="t">
            <a:noAutofit/>
          </a:bodyPr>
          <a:lstStyle>
            <a:defPPr algn="l">
              <a:defRPr sz="1125" b="0">
                <a:solidFill>
                  <a:srgbClr val="C8D9E3"/>
                </a:solidFill>
                <a:latin typeface="Arial"/>
                <a:ea typeface="Arial"/>
                <a:cs typeface="Arial"/>
              </a:defRPr>
            </a:defPPr>
          </a:lstStyle>
          <a:p>
            <a:pPr algn="l">
              <a:defRPr sz="1125" b="0">
                <a:solidFill>
                  <a:srgbClr val="C8D9E3"/>
                </a:solidFill>
                <a:latin typeface="Arial"/>
                <a:ea typeface="Arial"/>
                <a:cs typeface="Arial"/>
              </a:defRPr>
            </a:pPr>
            <a:endParaRPr sz="1125" b="0" dirty="0">
              <a:solidFill>
                <a:srgbClr val="C8D9E3"/>
              </a:solidFill>
              <a:latin typeface="Arial"/>
              <a:ea typeface="Arial"/>
              <a:cs typeface="Arial"/>
            </a:endParaRPr>
          </a:p>
        </p:txBody>
      </p:sp>
    </p:spTree>
    <p:extLst>
      <p:ext uri="{BB962C8B-B14F-4D97-AF65-F5344CB8AC3E}">
        <p14:creationId xmlns:p14="http://schemas.microsoft.com/office/powerpoint/2010/main" val="507969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91531621-7B65-4753-B085-40B0FEE7CE0A}"/>
              </a:ext>
            </a:extLst>
          </p:cNvPr>
          <p:cNvCxnSpPr>
            <a:stCxn id="8" idx="3"/>
            <a:endCxn id="9" idx="1"/>
          </p:cNvCxnSpPr>
          <p:nvPr/>
        </p:nvCxnSpPr>
        <p:spPr>
          <a:xfrm>
            <a:off x="9258300" y="2962275"/>
            <a:ext cx="647700" cy="0"/>
          </a:xfrm>
          <a:prstGeom prst="straightConnector1">
            <a:avLst/>
          </a:prstGeom>
          <a:ln w="19050">
            <a:solidFill>
              <a:srgbClr val="007B83"/>
            </a:solidFill>
            <a:prstDash val="solid"/>
            <a:tailEnd type="arrow" w="med" len="med"/>
          </a:ln>
        </p:spPr>
      </p:cxnSp>
      <p:cxnSp>
        <p:nvCxnSpPr>
          <p:cNvPr id="12" name="Straight Arrow Connector 11">
            <a:extLst>
              <a:ext uri="{FF2B5EF4-FFF2-40B4-BE49-F238E27FC236}">
                <a16:creationId xmlns:a16="http://schemas.microsoft.com/office/drawing/2014/main" id="{3C6EAC91-F57E-459D-BD3C-02EDB43CE217}"/>
              </a:ext>
            </a:extLst>
          </p:cNvPr>
          <p:cNvCxnSpPr>
            <a:stCxn id="7" idx="3"/>
            <a:endCxn id="8" idx="1"/>
          </p:cNvCxnSpPr>
          <p:nvPr/>
        </p:nvCxnSpPr>
        <p:spPr>
          <a:xfrm>
            <a:off x="6934200" y="2962275"/>
            <a:ext cx="647700" cy="0"/>
          </a:xfrm>
          <a:prstGeom prst="straightConnector1">
            <a:avLst/>
          </a:prstGeom>
          <a:ln w="19050">
            <a:solidFill>
              <a:srgbClr val="007B83"/>
            </a:solidFill>
            <a:prstDash val="solid"/>
            <a:tailEnd type="arrow" w="med" len="med"/>
          </a:ln>
        </p:spPr>
      </p:cxnSp>
      <p:cxnSp>
        <p:nvCxnSpPr>
          <p:cNvPr id="11" name="Straight Arrow Connector 10">
            <a:extLst>
              <a:ext uri="{FF2B5EF4-FFF2-40B4-BE49-F238E27FC236}">
                <a16:creationId xmlns:a16="http://schemas.microsoft.com/office/drawing/2014/main" id="{FCC079FA-6ACA-423F-81FC-2F61B68DE27C}"/>
              </a:ext>
            </a:extLst>
          </p:cNvPr>
          <p:cNvCxnSpPr>
            <a:stCxn id="6" idx="3"/>
            <a:endCxn id="7" idx="1"/>
          </p:cNvCxnSpPr>
          <p:nvPr/>
        </p:nvCxnSpPr>
        <p:spPr>
          <a:xfrm>
            <a:off x="4610100" y="2962275"/>
            <a:ext cx="647700" cy="0"/>
          </a:xfrm>
          <a:prstGeom prst="straightConnector1">
            <a:avLst/>
          </a:prstGeom>
          <a:ln w="19050">
            <a:solidFill>
              <a:srgbClr val="007B83"/>
            </a:solidFill>
            <a:prstDash val="solid"/>
            <a:tailEnd type="arrow" w="med" len="med"/>
          </a:ln>
        </p:spPr>
      </p:cxnSp>
      <p:cxnSp>
        <p:nvCxnSpPr>
          <p:cNvPr id="10" name="Straight Arrow Connector 9">
            <a:extLst>
              <a:ext uri="{FF2B5EF4-FFF2-40B4-BE49-F238E27FC236}">
                <a16:creationId xmlns:a16="http://schemas.microsoft.com/office/drawing/2014/main" id="{01018AE5-F39D-46ED-B1CA-FFBE3992ED31}"/>
              </a:ext>
            </a:extLst>
          </p:cNvPr>
          <p:cNvCxnSpPr>
            <a:stCxn id="5" idx="3"/>
            <a:endCxn id="6" idx="1"/>
          </p:cNvCxnSpPr>
          <p:nvPr/>
        </p:nvCxnSpPr>
        <p:spPr>
          <a:xfrm>
            <a:off x="2286000" y="2962275"/>
            <a:ext cx="647700" cy="0"/>
          </a:xfrm>
          <a:prstGeom prst="straightConnector1">
            <a:avLst/>
          </a:prstGeom>
          <a:ln w="19050">
            <a:solidFill>
              <a:srgbClr val="007B83"/>
            </a:solidFill>
            <a:prstDash val="solid"/>
            <a:tailEnd type="arrow" w="med" len="med"/>
          </a:ln>
        </p:spPr>
      </p:cxnSp>
      <p:sp>
        <p:nvSpPr>
          <p:cNvPr id="25" name="Task 1(a)">
            <a:extLst>
              <a:ext uri="{FF2B5EF4-FFF2-40B4-BE49-F238E27FC236}">
                <a16:creationId xmlns:a16="http://schemas.microsoft.com/office/drawing/2014/main" id="{E8DB4212-65F0-4DAB-92A6-1A29BC2E634C}"/>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1(a)</a:t>
            </a:r>
          </a:p>
        </p:txBody>
      </p:sp>
      <p:sp>
        <p:nvSpPr>
          <p:cNvPr id="2" name="Host–GPU image data flow">
            <a:extLst>
              <a:ext uri="{FF2B5EF4-FFF2-40B4-BE49-F238E27FC236}">
                <a16:creationId xmlns:a16="http://schemas.microsoft.com/office/drawing/2014/main" id="{AAAB3FED-4997-4D76-A193-91126A70D369}"/>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Host–GPU image data flow</a:t>
            </a:r>
          </a:p>
        </p:txBody>
      </p:sp>
      <p:sp>
        <p:nvSpPr>
          <p:cNvPr id="3" name="CPU: load/decode, allocate, launch, save">
            <a:extLst>
              <a:ext uri="{FF2B5EF4-FFF2-40B4-BE49-F238E27FC236}">
                <a16:creationId xmlns:a16="http://schemas.microsoft.com/office/drawing/2014/main" id="{536CA3D7-8786-4A2D-98E7-C1A809230474}"/>
              </a:ext>
            </a:extLst>
          </p:cNvPr>
          <p:cNvSpPr>
            <a:spLocks noGrp="1"/>
          </p:cNvSpPr>
          <p:nvPr/>
        </p:nvSpPr>
        <p:spPr>
          <a:xfrm>
            <a:off x="609600" y="1524000"/>
            <a:ext cx="5238750" cy="333375"/>
          </a:xfrm>
          <a:prstGeom prst="rect">
            <a:avLst/>
          </a:prstGeom>
          <a:noFill/>
          <a:ln w="0">
            <a:noFill/>
          </a:ln>
        </p:spPr>
        <p:txBody>
          <a:bodyPr wrap="square" lIns="0" tIns="0" rIns="0" bIns="0" anchor="t">
            <a:noAutofit/>
          </a:bodyPr>
          <a:lstStyle>
            <a:defPPr algn="l">
              <a:defRPr sz="1875" b="1">
                <a:solidFill>
                  <a:srgbClr val="142D45"/>
                </a:solidFill>
                <a:latin typeface="Arial"/>
                <a:ea typeface="Arial"/>
                <a:cs typeface="Arial"/>
              </a:defRPr>
            </a:defPPr>
          </a:lstStyle>
          <a:p>
            <a:pPr algn="l">
              <a:defRPr sz="1875" b="1">
                <a:solidFill>
                  <a:srgbClr val="142D45"/>
                </a:solidFill>
                <a:latin typeface="Arial"/>
                <a:ea typeface="Arial"/>
                <a:cs typeface="Arial"/>
              </a:defRPr>
            </a:pPr>
            <a:r>
              <a:rPr sz="1875" b="1">
                <a:solidFill>
                  <a:srgbClr val="142D45"/>
                </a:solidFill>
                <a:latin typeface="Arial"/>
                <a:ea typeface="Arial"/>
                <a:cs typeface="Arial"/>
              </a:rPr>
              <a:t>CPU: load/decode, allocate, launch, save</a:t>
            </a:r>
          </a:p>
        </p:txBody>
      </p:sp>
      <p:sp>
        <p:nvSpPr>
          <p:cNvPr id="4" name="GPU: read input, rotate, write output">
            <a:extLst>
              <a:ext uri="{FF2B5EF4-FFF2-40B4-BE49-F238E27FC236}">
                <a16:creationId xmlns:a16="http://schemas.microsoft.com/office/drawing/2014/main" id="{7225280E-12C2-466C-8198-9CF56D3FD367}"/>
              </a:ext>
            </a:extLst>
          </p:cNvPr>
          <p:cNvSpPr>
            <a:spLocks noGrp="1"/>
          </p:cNvSpPr>
          <p:nvPr/>
        </p:nvSpPr>
        <p:spPr>
          <a:xfrm>
            <a:off x="6324600" y="1524000"/>
            <a:ext cx="5257800" cy="333375"/>
          </a:xfrm>
          <a:prstGeom prst="rect">
            <a:avLst/>
          </a:prstGeom>
          <a:noFill/>
          <a:ln w="0">
            <a:noFill/>
          </a:ln>
        </p:spPr>
        <p:txBody>
          <a:bodyPr wrap="square" lIns="0" tIns="0" rIns="0" bIns="0" anchor="t">
            <a:noAutofit/>
          </a:bodyPr>
          <a:lstStyle>
            <a:defPPr algn="l">
              <a:defRPr sz="1875" b="1">
                <a:solidFill>
                  <a:srgbClr val="142D45"/>
                </a:solidFill>
                <a:latin typeface="Arial"/>
                <a:ea typeface="Arial"/>
                <a:cs typeface="Arial"/>
              </a:defRPr>
            </a:defPPr>
          </a:lstStyle>
          <a:p>
            <a:pPr algn="l">
              <a:defRPr sz="1875" b="1">
                <a:solidFill>
                  <a:srgbClr val="142D45"/>
                </a:solidFill>
                <a:latin typeface="Arial"/>
                <a:ea typeface="Arial"/>
                <a:cs typeface="Arial"/>
              </a:defRPr>
            </a:pPr>
            <a:r>
              <a:rPr sz="1875" b="1">
                <a:solidFill>
                  <a:srgbClr val="142D45"/>
                </a:solidFill>
                <a:latin typeface="Arial"/>
                <a:ea typeface="Arial"/>
                <a:cs typeface="Arial"/>
              </a:rPr>
              <a:t>GPU: read input, rotate, write output</a:t>
            </a:r>
          </a:p>
        </p:txBody>
      </p:sp>
      <p:sp>
        <p:nvSpPr>
          <p:cNvPr id="5" name="Rectangle 4">
            <a:extLst>
              <a:ext uri="{FF2B5EF4-FFF2-40B4-BE49-F238E27FC236}">
                <a16:creationId xmlns:a16="http://schemas.microsoft.com/office/drawing/2014/main" id="{56980114-C13C-4CE4-8099-79BC453E6116}"/>
              </a:ext>
            </a:extLst>
          </p:cNvPr>
          <p:cNvSpPr>
            <a:spLocks noGrp="1"/>
          </p:cNvSpPr>
          <p:nvPr/>
        </p:nvSpPr>
        <p:spPr>
          <a:xfrm>
            <a:off x="6096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Storage</a:t>
            </a:r>
          </a:p>
          <a:p>
            <a:pPr algn="ctr">
              <a:defRPr sz="1725">
                <a:solidFill>
                  <a:srgbClr val="142D45"/>
                </a:solidFill>
                <a:latin typeface="Arial"/>
                <a:ea typeface="Arial"/>
                <a:cs typeface="Arial"/>
              </a:defRPr>
            </a:pPr>
            <a:r>
              <a:rPr sz="1725">
                <a:solidFill>
                  <a:srgbClr val="142D45"/>
                </a:solidFill>
                <a:latin typeface="Arial"/>
                <a:ea typeface="Arial"/>
                <a:cs typeface="Arial"/>
              </a:rPr>
              <a:t>encoded</a:t>
            </a:r>
          </a:p>
          <a:p>
            <a:pPr algn="ctr">
              <a:defRPr sz="1725">
                <a:solidFill>
                  <a:srgbClr val="142D45"/>
                </a:solidFill>
                <a:latin typeface="Arial"/>
                <a:ea typeface="Arial"/>
                <a:cs typeface="Arial"/>
              </a:defRPr>
            </a:pPr>
            <a:r>
              <a:rPr sz="1725">
                <a:solidFill>
                  <a:srgbClr val="142D45"/>
                </a:solidFill>
                <a:latin typeface="Arial"/>
                <a:ea typeface="Arial"/>
                <a:cs typeface="Arial"/>
              </a:rPr>
              <a:t>image</a:t>
            </a:r>
          </a:p>
        </p:txBody>
      </p:sp>
      <p:sp>
        <p:nvSpPr>
          <p:cNvPr id="6" name="Rectangle 5">
            <a:extLst>
              <a:ext uri="{FF2B5EF4-FFF2-40B4-BE49-F238E27FC236}">
                <a16:creationId xmlns:a16="http://schemas.microsoft.com/office/drawing/2014/main" id="{82644A6E-CB77-4DF2-849C-D9A3C6C03AB5}"/>
              </a:ext>
            </a:extLst>
          </p:cNvPr>
          <p:cNvSpPr>
            <a:spLocks noGrp="1"/>
          </p:cNvSpPr>
          <p:nvPr/>
        </p:nvSpPr>
        <p:spPr>
          <a:xfrm>
            <a:off x="29337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a:pPr algn="ctr">
              <a:defRPr sz="1725">
                <a:solidFill>
                  <a:srgbClr val="142D45"/>
                </a:solidFill>
                <a:latin typeface="Arial"/>
                <a:ea typeface="Arial"/>
                <a:cs typeface="Arial"/>
              </a:defRPr>
            </a:pPr>
            <a:r>
              <a:rPr sz="1725">
                <a:solidFill>
                  <a:srgbClr val="142D45"/>
                </a:solidFill>
                <a:latin typeface="Arial"/>
                <a:ea typeface="Arial"/>
                <a:cs typeface="Arial"/>
              </a:rPr>
              <a:t>DDR example</a:t>
            </a:r>
          </a:p>
          <a:p>
            <a:pPr algn="ctr">
              <a:defRPr sz="1725">
                <a:solidFill>
                  <a:srgbClr val="142D45"/>
                </a:solidFill>
                <a:latin typeface="Arial"/>
                <a:ea typeface="Arial"/>
                <a:cs typeface="Arial"/>
              </a:defRPr>
            </a:pPr>
            <a:r>
              <a:rPr sz="1725">
                <a:solidFill>
                  <a:srgbClr val="142D45"/>
                </a:solidFill>
                <a:latin typeface="Arial"/>
                <a:ea typeface="Arial"/>
                <a:cs typeface="Arial"/>
              </a:rPr>
              <a:t>input pixels</a:t>
            </a:r>
          </a:p>
        </p:txBody>
      </p:sp>
      <p:sp>
        <p:nvSpPr>
          <p:cNvPr id="7" name="Rectangle 6">
            <a:extLst>
              <a:ext uri="{FF2B5EF4-FFF2-40B4-BE49-F238E27FC236}">
                <a16:creationId xmlns:a16="http://schemas.microsoft.com/office/drawing/2014/main" id="{7A13516F-0EFE-45C8-82FF-32EFD8F93457}"/>
              </a:ext>
            </a:extLst>
          </p:cNvPr>
          <p:cNvSpPr>
            <a:spLocks noGrp="1"/>
          </p:cNvSpPr>
          <p:nvPr/>
        </p:nvSpPr>
        <p:spPr>
          <a:xfrm>
            <a:off x="52578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a:pPr algn="ctr">
              <a:defRPr sz="1725">
                <a:solidFill>
                  <a:srgbClr val="142D45"/>
                </a:solidFill>
                <a:latin typeface="Arial"/>
                <a:ea typeface="Arial"/>
                <a:cs typeface="Arial"/>
              </a:defRPr>
            </a:pPr>
            <a:r>
              <a:rPr sz="1725">
                <a:solidFill>
                  <a:srgbClr val="142D45"/>
                </a:solidFill>
                <a:latin typeface="Arial"/>
                <a:ea typeface="Arial"/>
                <a:cs typeface="Arial"/>
              </a:rPr>
              <a:t>input buffer</a:t>
            </a:r>
          </a:p>
        </p:txBody>
      </p:sp>
      <p:sp>
        <p:nvSpPr>
          <p:cNvPr id="8" name="Rectangle 7">
            <a:extLst>
              <a:ext uri="{FF2B5EF4-FFF2-40B4-BE49-F238E27FC236}">
                <a16:creationId xmlns:a16="http://schemas.microsoft.com/office/drawing/2014/main" id="{DBA596AD-85FC-4DE0-B165-B13B2D68F431}"/>
              </a:ext>
            </a:extLst>
          </p:cNvPr>
          <p:cNvSpPr>
            <a:spLocks noGrp="1"/>
          </p:cNvSpPr>
          <p:nvPr/>
        </p:nvSpPr>
        <p:spPr>
          <a:xfrm>
            <a:off x="75819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memory</a:t>
            </a:r>
          </a:p>
          <a:p>
            <a:pPr algn="ctr">
              <a:defRPr sz="1725">
                <a:solidFill>
                  <a:srgbClr val="142D45"/>
                </a:solidFill>
                <a:latin typeface="Arial"/>
                <a:ea typeface="Arial"/>
                <a:cs typeface="Arial"/>
              </a:defRPr>
            </a:pPr>
            <a:r>
              <a:rPr sz="1725">
                <a:solidFill>
                  <a:srgbClr val="142D45"/>
                </a:solidFill>
                <a:latin typeface="Arial"/>
                <a:ea typeface="Arial"/>
                <a:cs typeface="Arial"/>
              </a:rPr>
              <a:t>GDDR / HBM</a:t>
            </a:r>
          </a:p>
          <a:p>
            <a:pPr algn="ctr">
              <a:defRPr sz="1725">
                <a:solidFill>
                  <a:srgbClr val="142D45"/>
                </a:solidFill>
                <a:latin typeface="Arial"/>
                <a:ea typeface="Arial"/>
                <a:cs typeface="Arial"/>
              </a:defRPr>
            </a:pPr>
            <a:r>
              <a:rPr sz="1725">
                <a:solidFill>
                  <a:srgbClr val="142D45"/>
                </a:solidFill>
                <a:latin typeface="Arial"/>
                <a:ea typeface="Arial"/>
                <a:cs typeface="Arial"/>
              </a:rPr>
              <a:t>output buffer</a:t>
            </a:r>
          </a:p>
        </p:txBody>
      </p:sp>
      <p:sp>
        <p:nvSpPr>
          <p:cNvPr id="9" name="Rectangle 8">
            <a:extLst>
              <a:ext uri="{FF2B5EF4-FFF2-40B4-BE49-F238E27FC236}">
                <a16:creationId xmlns:a16="http://schemas.microsoft.com/office/drawing/2014/main" id="{E8F92622-F50D-4AD8-A805-F7A82C0B3C8B}"/>
              </a:ext>
            </a:extLst>
          </p:cNvPr>
          <p:cNvSpPr>
            <a:spLocks noGrp="1"/>
          </p:cNvSpPr>
          <p:nvPr/>
        </p:nvSpPr>
        <p:spPr>
          <a:xfrm>
            <a:off x="9906000" y="2286000"/>
            <a:ext cx="1676400" cy="1352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Host RAM</a:t>
            </a:r>
          </a:p>
          <a:p>
            <a:pPr algn="ctr">
              <a:defRPr sz="1725">
                <a:solidFill>
                  <a:srgbClr val="142D45"/>
                </a:solidFill>
                <a:latin typeface="Arial"/>
                <a:ea typeface="Arial"/>
                <a:cs typeface="Arial"/>
              </a:defRPr>
            </a:pPr>
            <a:r>
              <a:rPr sz="1725">
                <a:solidFill>
                  <a:srgbClr val="142D45"/>
                </a:solidFill>
                <a:latin typeface="Arial"/>
                <a:ea typeface="Arial"/>
                <a:cs typeface="Arial"/>
              </a:rPr>
              <a:t>output pixels</a:t>
            </a:r>
          </a:p>
        </p:txBody>
      </p:sp>
      <p:sp>
        <p:nvSpPr>
          <p:cNvPr id="14" name="CPU&#10;decode">
            <a:extLst>
              <a:ext uri="{FF2B5EF4-FFF2-40B4-BE49-F238E27FC236}">
                <a16:creationId xmlns:a16="http://schemas.microsoft.com/office/drawing/2014/main" id="{78C15E76-4ED7-43B1-B6F3-2B439060AA7E}"/>
              </a:ext>
            </a:extLst>
          </p:cNvPr>
          <p:cNvSpPr>
            <a:spLocks noGrp="1"/>
          </p:cNvSpPr>
          <p:nvPr/>
        </p:nvSpPr>
        <p:spPr>
          <a:xfrm>
            <a:off x="2133600" y="1828800"/>
            <a:ext cx="990600" cy="447675"/>
          </a:xfrm>
          <a:prstGeom prst="rect">
            <a:avLst/>
          </a:prstGeom>
          <a:noFill/>
          <a:ln w="0">
            <a:noFill/>
          </a:ln>
        </p:spPr>
        <p:txBody>
          <a:bodyPr wrap="square" lIns="0" tIns="0" rIns="0" bIns="0" anchor="t">
            <a:noAutofit/>
          </a:bodyPr>
          <a:lstStyle>
            <a:defPPr algn="ctr">
              <a:defRPr sz="1350" b="0">
                <a:solidFill>
                  <a:srgbClr val="007B83"/>
                </a:solidFill>
                <a:latin typeface="Arial"/>
                <a:ea typeface="Arial"/>
                <a:cs typeface="Arial"/>
              </a:defRPr>
            </a:defPPr>
          </a:lstStyle>
          <a:p>
            <a:pPr algn="ctr">
              <a:defRPr sz="1350" b="0">
                <a:solidFill>
                  <a:srgbClr val="007B83"/>
                </a:solidFill>
                <a:latin typeface="Arial"/>
                <a:ea typeface="Arial"/>
                <a:cs typeface="Arial"/>
              </a:defRPr>
            </a:pPr>
            <a:r>
              <a:rPr sz="1350" b="0">
                <a:solidFill>
                  <a:srgbClr val="007B83"/>
                </a:solidFill>
                <a:latin typeface="Arial"/>
                <a:ea typeface="Arial"/>
                <a:cs typeface="Arial"/>
              </a:rPr>
              <a:t>CPU</a:t>
            </a:r>
          </a:p>
          <a:p>
            <a:pPr algn="ctr">
              <a:defRPr sz="1350" b="0">
                <a:solidFill>
                  <a:srgbClr val="007B83"/>
                </a:solidFill>
                <a:latin typeface="Arial"/>
                <a:ea typeface="Arial"/>
                <a:cs typeface="Arial"/>
              </a:defRPr>
            </a:pPr>
            <a:r>
              <a:rPr sz="1350" b="0">
                <a:solidFill>
                  <a:srgbClr val="007B83"/>
                </a:solidFill>
                <a:latin typeface="Arial"/>
                <a:ea typeface="Arial"/>
                <a:cs typeface="Arial"/>
              </a:rPr>
              <a:t>decode</a:t>
            </a:r>
          </a:p>
        </p:txBody>
      </p:sp>
      <p:sp>
        <p:nvSpPr>
          <p:cNvPr id="15" name="H2D&#10;PCIe">
            <a:extLst>
              <a:ext uri="{FF2B5EF4-FFF2-40B4-BE49-F238E27FC236}">
                <a16:creationId xmlns:a16="http://schemas.microsoft.com/office/drawing/2014/main" id="{1630312D-1F8E-4CE1-A80A-FE054E6E7465}"/>
              </a:ext>
            </a:extLst>
          </p:cNvPr>
          <p:cNvSpPr>
            <a:spLocks noGrp="1"/>
          </p:cNvSpPr>
          <p:nvPr/>
        </p:nvSpPr>
        <p:spPr>
          <a:xfrm>
            <a:off x="4457700" y="1828800"/>
            <a:ext cx="990600" cy="447675"/>
          </a:xfrm>
          <a:prstGeom prst="rect">
            <a:avLst/>
          </a:prstGeom>
          <a:noFill/>
          <a:ln w="0">
            <a:noFill/>
          </a:ln>
        </p:spPr>
        <p:txBody>
          <a:bodyPr wrap="square" lIns="0" tIns="0" rIns="0" bIns="0" anchor="t">
            <a:noAutofit/>
          </a:bodyPr>
          <a:lstStyle>
            <a:defPPr algn="ctr">
              <a:defRPr sz="1350" b="0">
                <a:solidFill>
                  <a:srgbClr val="007B83"/>
                </a:solidFill>
                <a:latin typeface="Arial"/>
                <a:ea typeface="Arial"/>
                <a:cs typeface="Arial"/>
              </a:defRPr>
            </a:defPPr>
          </a:lstStyle>
          <a:p>
            <a:pPr algn="ctr">
              <a:defRPr sz="1350" b="0">
                <a:solidFill>
                  <a:srgbClr val="007B83"/>
                </a:solidFill>
                <a:latin typeface="Arial"/>
                <a:ea typeface="Arial"/>
                <a:cs typeface="Arial"/>
              </a:defRPr>
            </a:pPr>
            <a:r>
              <a:rPr sz="1350" b="0">
                <a:solidFill>
                  <a:srgbClr val="007B83"/>
                </a:solidFill>
                <a:latin typeface="Arial"/>
                <a:ea typeface="Arial"/>
                <a:cs typeface="Arial"/>
              </a:rPr>
              <a:t>H2D</a:t>
            </a:r>
          </a:p>
          <a:p>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6" name="CUDA&#10;kernel">
            <a:extLst>
              <a:ext uri="{FF2B5EF4-FFF2-40B4-BE49-F238E27FC236}">
                <a16:creationId xmlns:a16="http://schemas.microsoft.com/office/drawing/2014/main" id="{57FC24FE-AD00-48FB-A9A5-A43F33A190AE}"/>
              </a:ext>
            </a:extLst>
          </p:cNvPr>
          <p:cNvSpPr>
            <a:spLocks noGrp="1"/>
          </p:cNvSpPr>
          <p:nvPr/>
        </p:nvSpPr>
        <p:spPr>
          <a:xfrm>
            <a:off x="6781800" y="1828800"/>
            <a:ext cx="990600" cy="447675"/>
          </a:xfrm>
          <a:prstGeom prst="rect">
            <a:avLst/>
          </a:prstGeom>
          <a:noFill/>
          <a:ln w="0">
            <a:noFill/>
          </a:ln>
        </p:spPr>
        <p:txBody>
          <a:bodyPr wrap="square" lIns="0" tIns="0" rIns="0" bIns="0" anchor="t">
            <a:noAutofit/>
          </a:bodyPr>
          <a:lstStyle>
            <a:defPPr algn="ctr">
              <a:defRPr sz="1350" b="0">
                <a:solidFill>
                  <a:srgbClr val="007B83"/>
                </a:solidFill>
                <a:latin typeface="Arial"/>
                <a:ea typeface="Arial"/>
                <a:cs typeface="Arial"/>
              </a:defRPr>
            </a:defPPr>
          </a:lstStyle>
          <a:p>
            <a:pPr algn="ctr">
              <a:defRPr sz="1350" b="0">
                <a:solidFill>
                  <a:srgbClr val="007B83"/>
                </a:solidFill>
                <a:latin typeface="Arial"/>
                <a:ea typeface="Arial"/>
                <a:cs typeface="Arial"/>
              </a:defRPr>
            </a:pPr>
            <a:r>
              <a:rPr sz="1350" b="0">
                <a:solidFill>
                  <a:srgbClr val="007B83"/>
                </a:solidFill>
                <a:latin typeface="Arial"/>
                <a:ea typeface="Arial"/>
                <a:cs typeface="Arial"/>
              </a:rPr>
              <a:t>CUDA</a:t>
            </a:r>
          </a:p>
          <a:p>
            <a:pPr algn="ctr">
              <a:defRPr sz="1350" b="0">
                <a:solidFill>
                  <a:srgbClr val="007B83"/>
                </a:solidFill>
                <a:latin typeface="Arial"/>
                <a:ea typeface="Arial"/>
                <a:cs typeface="Arial"/>
              </a:defRPr>
            </a:pPr>
            <a:r>
              <a:rPr sz="1350" b="0">
                <a:solidFill>
                  <a:srgbClr val="007B83"/>
                </a:solidFill>
                <a:latin typeface="Arial"/>
                <a:ea typeface="Arial"/>
                <a:cs typeface="Arial"/>
              </a:rPr>
              <a:t>kernel</a:t>
            </a:r>
          </a:p>
        </p:txBody>
      </p:sp>
      <p:sp>
        <p:nvSpPr>
          <p:cNvPr id="17" name="D2H&#10;PCIe">
            <a:extLst>
              <a:ext uri="{FF2B5EF4-FFF2-40B4-BE49-F238E27FC236}">
                <a16:creationId xmlns:a16="http://schemas.microsoft.com/office/drawing/2014/main" id="{86475356-87D0-49A7-9A64-233111A3008B}"/>
              </a:ext>
            </a:extLst>
          </p:cNvPr>
          <p:cNvSpPr>
            <a:spLocks noGrp="1"/>
          </p:cNvSpPr>
          <p:nvPr/>
        </p:nvSpPr>
        <p:spPr>
          <a:xfrm>
            <a:off x="9105900" y="1828800"/>
            <a:ext cx="990600" cy="447675"/>
          </a:xfrm>
          <a:prstGeom prst="rect">
            <a:avLst/>
          </a:prstGeom>
          <a:noFill/>
          <a:ln w="0">
            <a:noFill/>
          </a:ln>
        </p:spPr>
        <p:txBody>
          <a:bodyPr wrap="square" lIns="0" tIns="0" rIns="0" bIns="0" anchor="t">
            <a:noAutofit/>
          </a:bodyPr>
          <a:lstStyle>
            <a:defPPr algn="ctr">
              <a:defRPr sz="1350" b="0">
                <a:solidFill>
                  <a:srgbClr val="007B83"/>
                </a:solidFill>
                <a:latin typeface="Arial"/>
                <a:ea typeface="Arial"/>
                <a:cs typeface="Arial"/>
              </a:defRPr>
            </a:defPPr>
          </a:lstStyle>
          <a:p>
            <a:pPr algn="ctr">
              <a:defRPr sz="1350" b="0">
                <a:solidFill>
                  <a:srgbClr val="007B83"/>
                </a:solidFill>
                <a:latin typeface="Arial"/>
                <a:ea typeface="Arial"/>
                <a:cs typeface="Arial"/>
              </a:defRPr>
            </a:pPr>
            <a:r>
              <a:rPr sz="1350" b="0">
                <a:solidFill>
                  <a:srgbClr val="007B83"/>
                </a:solidFill>
                <a:latin typeface="Arial"/>
                <a:ea typeface="Arial"/>
                <a:cs typeface="Arial"/>
              </a:rPr>
              <a:t>D2H</a:t>
            </a:r>
          </a:p>
          <a:p>
            <a:pPr algn="ctr">
              <a:defRPr sz="1350" b="0">
                <a:solidFill>
                  <a:srgbClr val="007B83"/>
                </a:solidFill>
                <a:latin typeface="Arial"/>
                <a:ea typeface="Arial"/>
                <a:cs typeface="Arial"/>
              </a:defRPr>
            </a:pPr>
            <a:r>
              <a:rPr sz="1350" b="0">
                <a:solidFill>
                  <a:srgbClr val="007B83"/>
                </a:solidFill>
                <a:latin typeface="Arial"/>
                <a:ea typeface="Arial"/>
                <a:cs typeface="Arial"/>
              </a:rPr>
              <a:t>PCIe</a:t>
            </a:r>
          </a:p>
        </p:txBody>
      </p:sp>
      <p:sp>
        <p:nvSpPr>
          <p:cNvPr id="18" name="H2D: host → device. D2H: device → host. Separate buffer">
            <a:extLst>
              <a:ext uri="{FF2B5EF4-FFF2-40B4-BE49-F238E27FC236}">
                <a16:creationId xmlns:a16="http://schemas.microsoft.com/office/drawing/2014/main" id="{C9935DAD-B766-4E80-A6EC-856C30D8469A}"/>
              </a:ext>
            </a:extLst>
          </p:cNvPr>
          <p:cNvSpPr>
            <a:spLocks noGrp="1"/>
          </p:cNvSpPr>
          <p:nvPr/>
        </p:nvSpPr>
        <p:spPr>
          <a:xfrm>
            <a:off x="609600" y="4114800"/>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H2D: host → device. D2H: device → host. Separate buffers; DMA (direct memory access) engines transfer</a:t>
            </a:r>
          </a:p>
          <a:p>
            <a:pPr algn="l">
              <a:defRPr sz="1800" b="0">
                <a:solidFill>
                  <a:srgbClr val="142D45"/>
                </a:solidFill>
                <a:latin typeface="Arial"/>
                <a:ea typeface="Arial"/>
                <a:cs typeface="Arial"/>
              </a:defRPr>
            </a:pPr>
            <a:r>
              <a:rPr sz="1800" b="0">
                <a:solidFill>
                  <a:srgbClr val="142D45"/>
                </a:solidFill>
                <a:latin typeface="Arial"/>
                <a:ea typeface="Arial"/>
                <a:cs typeface="Arial"/>
              </a:rPr>
              <a:t>bytes over PCIe.</a:t>
            </a:r>
          </a:p>
        </p:txBody>
      </p:sp>
      <p:sp>
        <p:nvSpPr>
          <p:cNvPr id="19" name="GPU memory bandwidth differs from PCIe bandwidth. Pinne">
            <a:extLst>
              <a:ext uri="{FF2B5EF4-FFF2-40B4-BE49-F238E27FC236}">
                <a16:creationId xmlns:a16="http://schemas.microsoft.com/office/drawing/2014/main" id="{39528F57-2ED8-4106-82AE-53F17FFE4382}"/>
              </a:ext>
            </a:extLst>
          </p:cNvPr>
          <p:cNvSpPr>
            <a:spLocks noGrp="1"/>
          </p:cNvSpPr>
          <p:nvPr/>
        </p:nvSpPr>
        <p:spPr>
          <a:xfrm>
            <a:off x="609600" y="4872228"/>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GPU memory bandwidth differs from PCIe bandwidth. Pinned RAM supports DMA; pageable RAM may</a:t>
            </a:r>
          </a:p>
          <a:p>
            <a:pPr algn="l">
              <a:defRPr sz="1800" b="0">
                <a:solidFill>
                  <a:srgbClr val="142D45"/>
                </a:solidFill>
                <a:latin typeface="Arial"/>
                <a:ea typeface="Arial"/>
                <a:cs typeface="Arial"/>
              </a:defRPr>
            </a:pPr>
            <a:r>
              <a:rPr sz="1800" b="0">
                <a:solidFill>
                  <a:srgbClr val="142D45"/>
                </a:solidFill>
                <a:latin typeface="Arial"/>
                <a:ea typeface="Arial"/>
                <a:cs typeface="Arial"/>
              </a:rPr>
              <a:t>stage. Complete output before saving or reuse.</a:t>
            </a:r>
          </a:p>
        </p:txBody>
      </p:sp>
      <p:sp>
        <p:nvSpPr>
          <p:cNvPr id="20" name="Straight Connector 19">
            <a:extLst>
              <a:ext uri="{FF2B5EF4-FFF2-40B4-BE49-F238E27FC236}">
                <a16:creationId xmlns:a16="http://schemas.microsoft.com/office/drawing/2014/main" id="{40472B18-1B40-4325-9BFD-135C9FAC7747}"/>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21" name="The CPU orchestrates I/O and launches; the GPU rotates ">
            <a:extLst>
              <a:ext uri="{FF2B5EF4-FFF2-40B4-BE49-F238E27FC236}">
                <a16:creationId xmlns:a16="http://schemas.microsoft.com/office/drawing/2014/main" id="{0A8B5EC3-8114-4996-9B95-D9B5BB2E6CFE}"/>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The CPU orchestrates I/O and launches; the GPU rotates decoded pixels.</a:t>
            </a:r>
          </a:p>
        </p:txBody>
      </p:sp>
      <p:sp>
        <p:nvSpPr>
          <p:cNvPr id="22" name="Straight Connector 21">
            <a:extLst>
              <a:ext uri="{FF2B5EF4-FFF2-40B4-BE49-F238E27FC236}">
                <a16:creationId xmlns:a16="http://schemas.microsoft.com/office/drawing/2014/main" id="{191E17CA-339E-45FE-A34F-3844F26A3222}"/>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23" name="Sources: [1] NVIDIA CUDA programming model; [2] NVIDIA ">
            <a:extLst>
              <a:ext uri="{FF2B5EF4-FFF2-40B4-BE49-F238E27FC236}">
                <a16:creationId xmlns:a16="http://schemas.microsoft.com/office/drawing/2014/main" id="{B428D472-A7C2-449A-9F2D-AE59AA9E22EA}"/>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4" name="2 / 46">
            <a:extLst>
              <a:ext uri="{FF2B5EF4-FFF2-40B4-BE49-F238E27FC236}">
                <a16:creationId xmlns:a16="http://schemas.microsoft.com/office/drawing/2014/main" id="{DA60DB47-E6ED-4D0D-927F-83F6C0511ED1}"/>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 / 48</a:t>
            </a:r>
          </a:p>
        </p:txBody>
      </p:sp>
    </p:spTree>
    <p:extLst>
      <p:ext uri="{BB962C8B-B14F-4D97-AF65-F5344CB8AC3E}">
        <p14:creationId xmlns:p14="http://schemas.microsoft.com/office/powerpoint/2010/main" val="1338106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6E1C2FE5-AE92-4FCF-8068-670F66341C3C}"/>
              </a:ext>
            </a:extLst>
          </p:cNvPr>
          <p:cNvCxnSpPr>
            <a:stCxn id="7" idx="2"/>
            <a:endCxn id="8" idx="0"/>
          </p:cNvCxnSpPr>
          <p:nvPr/>
        </p:nvCxnSpPr>
        <p:spPr>
          <a:xfrm>
            <a:off x="10025063" y="2762250"/>
            <a:ext cx="0" cy="638175"/>
          </a:xfrm>
          <a:prstGeom prst="straightConnector1">
            <a:avLst/>
          </a:prstGeom>
          <a:ln w="19050">
            <a:solidFill>
              <a:srgbClr val="007B83"/>
            </a:solidFill>
            <a:prstDash val="solid"/>
            <a:tailEnd type="arrow" w="med" len="med"/>
          </a:ln>
        </p:spPr>
      </p:cxnSp>
      <p:sp>
        <p:nvSpPr>
          <p:cNvPr id="18" name="Task 1(b)">
            <a:extLst>
              <a:ext uri="{FF2B5EF4-FFF2-40B4-BE49-F238E27FC236}">
                <a16:creationId xmlns:a16="http://schemas.microsoft.com/office/drawing/2014/main" id="{6494B953-761D-408B-BC65-B253FB062E67}"/>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1(b)</a:t>
            </a:r>
          </a:p>
        </p:txBody>
      </p:sp>
      <p:sp>
        <p:nvSpPr>
          <p:cNvPr id="2" name="Rotation as independent output work">
            <a:extLst>
              <a:ext uri="{FF2B5EF4-FFF2-40B4-BE49-F238E27FC236}">
                <a16:creationId xmlns:a16="http://schemas.microsoft.com/office/drawing/2014/main" id="{E71C7692-9425-41DC-821F-C9959F4310AE}"/>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Rotation as independent output work</a:t>
            </a:r>
          </a:p>
        </p:txBody>
      </p:sp>
      <p:sp>
        <p:nvSpPr>
          <p:cNvPr id="3" name="Inverse mapping in y-down image coordinates">
            <a:extLst>
              <a:ext uri="{FF2B5EF4-FFF2-40B4-BE49-F238E27FC236}">
                <a16:creationId xmlns:a16="http://schemas.microsoft.com/office/drawing/2014/main" id="{5D8907A7-0AAC-4D69-86FB-249FD309D67F}"/>
              </a:ext>
            </a:extLst>
          </p:cNvPr>
          <p:cNvSpPr>
            <a:spLocks noGrp="1"/>
          </p:cNvSpPr>
          <p:nvPr/>
        </p:nvSpPr>
        <p:spPr>
          <a:xfrm>
            <a:off x="609600" y="1514475"/>
            <a:ext cx="65722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Inverse mapping in y-down image coordinates</a:t>
            </a:r>
          </a:p>
        </p:txBody>
      </p:sp>
      <p:sp>
        <p:nvSpPr>
          <p:cNvPr id="4" name="Rectangle 3">
            <a:extLst>
              <a:ext uri="{FF2B5EF4-FFF2-40B4-BE49-F238E27FC236}">
                <a16:creationId xmlns:a16="http://schemas.microsoft.com/office/drawing/2014/main" id="{FEA7EAA6-CF2B-47C8-8AE2-D1631D1D64F3}"/>
              </a:ext>
            </a:extLst>
          </p:cNvPr>
          <p:cNvSpPr>
            <a:spLocks noGrp="1"/>
          </p:cNvSpPr>
          <p:nvPr/>
        </p:nvSpPr>
        <p:spPr>
          <a:xfrm>
            <a:off x="609600" y="2009775"/>
            <a:ext cx="6800850" cy="1280160"/>
          </a:xfrm>
          <a:prstGeom prst="rect">
            <a:avLst/>
          </a:prstGeom>
          <a:solidFill>
            <a:srgbClr val="EDF1F5"/>
          </a:solidFill>
          <a:ln w="14288">
            <a:noFill/>
            <a:prstDash val="solid"/>
          </a:ln>
        </p:spPr>
        <p:txBody>
          <a:bodyPr/>
          <a:lstStyle/>
          <a:p>
            <a:endParaRPr lang="en-US"/>
          </a:p>
        </p:txBody>
      </p:sp>
      <p:sp>
        <p:nvSpPr>
          <p:cNvPr id="5" name="sx = c*(x-cx) - s*(y-cy) + cx;&#10;sy = s*(x-cx) + c*(y-cy)">
            <a:extLst>
              <a:ext uri="{FF2B5EF4-FFF2-40B4-BE49-F238E27FC236}">
                <a16:creationId xmlns:a16="http://schemas.microsoft.com/office/drawing/2014/main" id="{60AB8309-CC48-4D01-88A0-3F3C589F8C0F}"/>
              </a:ext>
            </a:extLst>
          </p:cNvPr>
          <p:cNvSpPr>
            <a:spLocks noGrp="1"/>
          </p:cNvSpPr>
          <p:nvPr/>
        </p:nvSpPr>
        <p:spPr>
          <a:xfrm>
            <a:off x="723900" y="2095500"/>
            <a:ext cx="6572250" cy="1146810"/>
          </a:xfrm>
          <a:prstGeom prst="rect">
            <a:avLst/>
          </a:prstGeom>
          <a:noFill/>
          <a:ln w="0">
            <a:noFill/>
          </a:ln>
        </p:spPr>
        <p:txBody>
          <a:bodyPr wrap="none" lIns="0" tIns="0" rIns="0" bIns="0" anchor="t">
            <a:noAutofit/>
          </a:bodyPr>
          <a:lstStyle>
            <a:defPPr algn="l">
              <a:defRPr sz="1725" b="0">
                <a:solidFill>
                  <a:srgbClr val="142D45"/>
                </a:solidFill>
                <a:latin typeface="Consolas"/>
                <a:ea typeface="Consolas"/>
                <a:cs typeface="Consolas"/>
              </a:defRPr>
            </a:defPPr>
          </a:lstStyle>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sx = c*(x-cx) - s*(y-cy) + cx;</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sy = s*(x-cx) + c*(y-cy) + cy;</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ix = floor(sx + 0.5);</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iy = floor(sy + 0.5);</a:t>
            </a:r>
          </a:p>
        </p:txBody>
      </p:sp>
      <p:sp>
        <p:nvSpPr>
          <p:cNvPr id="6" name="c = cos θ; s = sin θ; θ in radians; center = ((W−1)/2, ">
            <a:extLst>
              <a:ext uri="{FF2B5EF4-FFF2-40B4-BE49-F238E27FC236}">
                <a16:creationId xmlns:a16="http://schemas.microsoft.com/office/drawing/2014/main" id="{05BDBB84-7FA0-4D35-A094-5D3D3A689DA3}"/>
              </a:ext>
            </a:extLst>
          </p:cNvPr>
          <p:cNvSpPr>
            <a:spLocks noGrp="1"/>
          </p:cNvSpPr>
          <p:nvPr/>
        </p:nvSpPr>
        <p:spPr>
          <a:xfrm>
            <a:off x="609600" y="3571875"/>
            <a:ext cx="771525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c = cos θ; s = sin θ; θ in radians; center = ((W−1)/2, (H−1)/2)</a:t>
            </a:r>
          </a:p>
        </p:txBody>
      </p:sp>
      <p:sp>
        <p:nvSpPr>
          <p:cNvPr id="7" name="Rectangle 6">
            <a:extLst>
              <a:ext uri="{FF2B5EF4-FFF2-40B4-BE49-F238E27FC236}">
                <a16:creationId xmlns:a16="http://schemas.microsoft.com/office/drawing/2014/main" id="{E788C493-2457-4047-8134-32D4065C9535}"/>
              </a:ext>
            </a:extLst>
          </p:cNvPr>
          <p:cNvSpPr>
            <a:spLocks noGrp="1"/>
          </p:cNvSpPr>
          <p:nvPr/>
        </p:nvSpPr>
        <p:spPr>
          <a:xfrm>
            <a:off x="8858250" y="1876425"/>
            <a:ext cx="2333625" cy="8858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Output pixel</a:t>
            </a:r>
          </a:p>
          <a:p>
            <a:pPr algn="ctr">
              <a:defRPr sz="1725">
                <a:solidFill>
                  <a:srgbClr val="142D45"/>
                </a:solidFill>
                <a:latin typeface="Arial"/>
                <a:ea typeface="Arial"/>
                <a:cs typeface="Arial"/>
              </a:defRPr>
            </a:pPr>
            <a:r>
              <a:rPr sz="1725">
                <a:solidFill>
                  <a:srgbClr val="142D45"/>
                </a:solidFill>
                <a:latin typeface="Arial"/>
                <a:ea typeface="Arial"/>
                <a:cs typeface="Arial"/>
              </a:rPr>
              <a:t>(x,y)</a:t>
            </a:r>
          </a:p>
        </p:txBody>
      </p:sp>
      <p:sp>
        <p:nvSpPr>
          <p:cNvPr id="8" name="Rectangle 7">
            <a:extLst>
              <a:ext uri="{FF2B5EF4-FFF2-40B4-BE49-F238E27FC236}">
                <a16:creationId xmlns:a16="http://schemas.microsoft.com/office/drawing/2014/main" id="{80EA7935-DD39-47F0-A152-085D95A06D1C}"/>
              </a:ext>
            </a:extLst>
          </p:cNvPr>
          <p:cNvSpPr>
            <a:spLocks noGrp="1"/>
          </p:cNvSpPr>
          <p:nvPr/>
        </p:nvSpPr>
        <p:spPr>
          <a:xfrm>
            <a:off x="8858250" y="3400425"/>
            <a:ext cx="2333625" cy="8858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Nearest input</a:t>
            </a:r>
          </a:p>
          <a:p>
            <a:pPr algn="ctr">
              <a:defRPr sz="1725">
                <a:solidFill>
                  <a:srgbClr val="142D45"/>
                </a:solidFill>
                <a:latin typeface="Arial"/>
                <a:ea typeface="Arial"/>
                <a:cs typeface="Arial"/>
              </a:defRPr>
            </a:pPr>
            <a:r>
              <a:rPr sz="1725">
                <a:solidFill>
                  <a:srgbClr val="142D45"/>
                </a:solidFill>
                <a:latin typeface="Arial"/>
                <a:ea typeface="Arial"/>
                <a:cs typeface="Arial"/>
              </a:rPr>
              <a:t>(ix,iy)</a:t>
            </a:r>
          </a:p>
        </p:txBody>
      </p:sp>
      <p:sp>
        <p:nvSpPr>
          <p:cNvPr id="10" name="lookup">
            <a:extLst>
              <a:ext uri="{FF2B5EF4-FFF2-40B4-BE49-F238E27FC236}">
                <a16:creationId xmlns:a16="http://schemas.microsoft.com/office/drawing/2014/main" id="{AE73027A-6533-44F2-AF24-82A52397D8EA}"/>
              </a:ext>
            </a:extLst>
          </p:cNvPr>
          <p:cNvSpPr>
            <a:spLocks noGrp="1"/>
          </p:cNvSpPr>
          <p:nvPr/>
        </p:nvSpPr>
        <p:spPr>
          <a:xfrm>
            <a:off x="10210800" y="2924175"/>
            <a:ext cx="1066800" cy="286131"/>
          </a:xfrm>
          <a:prstGeom prst="rect">
            <a:avLst/>
          </a:prstGeom>
          <a:noFill/>
          <a:ln w="0">
            <a:noFill/>
          </a:ln>
        </p:spPr>
        <p:txBody>
          <a:bodyPr wrap="square" lIns="0" tIns="0" rIns="0" bIns="0" anchor="t">
            <a:noAutofit/>
          </a:bodyPr>
          <a:lstStyle>
            <a:defPPr algn="l">
              <a:defRPr sz="1575" b="0">
                <a:solidFill>
                  <a:srgbClr val="007B83"/>
                </a:solidFill>
                <a:latin typeface="Arial"/>
                <a:ea typeface="Arial"/>
                <a:cs typeface="Arial"/>
              </a:defRPr>
            </a:defPPr>
          </a:lstStyle>
          <a:p>
            <a:pPr algn="l">
              <a:defRPr sz="1575" b="0">
                <a:solidFill>
                  <a:srgbClr val="007B83"/>
                </a:solidFill>
                <a:latin typeface="Arial"/>
                <a:ea typeface="Arial"/>
                <a:cs typeface="Arial"/>
              </a:defRPr>
            </a:pPr>
            <a:r>
              <a:rPr sz="1575" b="0">
                <a:solidFill>
                  <a:srgbClr val="007B83"/>
                </a:solidFill>
                <a:latin typeface="Arial"/>
                <a:ea typeface="Arial"/>
                <a:cs typeface="Arial"/>
              </a:rPr>
              <a:t>lookup</a:t>
            </a:r>
          </a:p>
        </p:txBody>
      </p:sp>
      <p:sp>
        <p:nvSpPr>
          <p:cNvPr id="11" name="Forward [c s; −s c]; inverse [c −s; s c]. Positive θ is">
            <a:extLst>
              <a:ext uri="{FF2B5EF4-FFF2-40B4-BE49-F238E27FC236}">
                <a16:creationId xmlns:a16="http://schemas.microsoft.com/office/drawing/2014/main" id="{D54D5EFC-EEEC-4B0C-B1C7-2128A8A94985}"/>
              </a:ext>
            </a:extLst>
          </p:cNvPr>
          <p:cNvSpPr>
            <a:spLocks noGrp="1"/>
          </p:cNvSpPr>
          <p:nvPr/>
        </p:nvSpPr>
        <p:spPr>
          <a:xfrm>
            <a:off x="609600" y="4191000"/>
            <a:ext cx="7715250" cy="297942"/>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Forward [c s; −s c]; inverse [c −s; s c]. Positive θ is visually counterclockwise.</a:t>
            </a:r>
          </a:p>
        </p:txBody>
      </p:sp>
      <p:sp>
        <p:nvSpPr>
          <p:cNvPr id="12" name="Fixed RGB canvas can crop; black borders. Gathering avo">
            <a:extLst>
              <a:ext uri="{FF2B5EF4-FFF2-40B4-BE49-F238E27FC236}">
                <a16:creationId xmlns:a16="http://schemas.microsoft.com/office/drawing/2014/main" id="{18780981-5129-4653-A1C1-4DD05A22C079}"/>
              </a:ext>
            </a:extLst>
          </p:cNvPr>
          <p:cNvSpPr>
            <a:spLocks noGrp="1"/>
          </p:cNvSpPr>
          <p:nvPr/>
        </p:nvSpPr>
        <p:spPr>
          <a:xfrm>
            <a:off x="609600" y="4641342"/>
            <a:ext cx="771525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Fixed RGB canvas can crop; black borders. Gathering avoids scatter holes;</a:t>
            </a:r>
          </a:p>
          <a:p>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can alias.</a:t>
            </a:r>
          </a:p>
        </p:txBody>
      </p:sp>
      <p:sp>
        <p:nvSpPr>
          <p:cNvPr id="13" name="Straight Connector 12">
            <a:extLst>
              <a:ext uri="{FF2B5EF4-FFF2-40B4-BE49-F238E27FC236}">
                <a16:creationId xmlns:a16="http://schemas.microsoft.com/office/drawing/2014/main" id="{0D46821A-E8E9-42F7-8196-7BDDAA66DEAD}"/>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4" name="One thread owns one output pixel: gather a source value">
            <a:extLst>
              <a:ext uri="{FF2B5EF4-FFF2-40B4-BE49-F238E27FC236}">
                <a16:creationId xmlns:a16="http://schemas.microsoft.com/office/drawing/2014/main" id="{469954D1-232B-4514-9B69-BE8AFA63FCDA}"/>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One thread owns one output pixel: gather a source value, then write once.</a:t>
            </a:r>
          </a:p>
        </p:txBody>
      </p:sp>
      <p:sp>
        <p:nvSpPr>
          <p:cNvPr id="15" name="Straight Connector 14">
            <a:extLst>
              <a:ext uri="{FF2B5EF4-FFF2-40B4-BE49-F238E27FC236}">
                <a16:creationId xmlns:a16="http://schemas.microsoft.com/office/drawing/2014/main" id="{AA829C28-C916-41C6-B4EE-6E29BD53E7C2}"/>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6" name="Sources: [1] NVIDIA CUDA programming model">
            <a:extLst>
              <a:ext uri="{FF2B5EF4-FFF2-40B4-BE49-F238E27FC236}">
                <a16:creationId xmlns:a16="http://schemas.microsoft.com/office/drawing/2014/main" id="{CB9AB61C-FF2F-49C7-8D7D-94050CE71D07}"/>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7" name="3 / 46">
            <a:extLst>
              <a:ext uri="{FF2B5EF4-FFF2-40B4-BE49-F238E27FC236}">
                <a16:creationId xmlns:a16="http://schemas.microsoft.com/office/drawing/2014/main" id="{A0495B65-D8B9-4F69-8229-8C35834FAF85}"/>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 / 48</a:t>
            </a:r>
          </a:p>
        </p:txBody>
      </p:sp>
    </p:spTree>
    <p:extLst>
      <p:ext uri="{BB962C8B-B14F-4D97-AF65-F5344CB8AC3E}">
        <p14:creationId xmlns:p14="http://schemas.microsoft.com/office/powerpoint/2010/main" val="565820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3C0AC02B-1C36-4465-A68B-88DF79BD2A57}"/>
              </a:ext>
            </a:extLst>
          </p:cNvPr>
          <p:cNvCxnSpPr>
            <a:stCxn id="10" idx="2"/>
            <a:endCxn id="11" idx="0"/>
          </p:cNvCxnSpPr>
          <p:nvPr/>
        </p:nvCxnSpPr>
        <p:spPr>
          <a:xfrm>
            <a:off x="9801225" y="3667125"/>
            <a:ext cx="0" cy="476250"/>
          </a:xfrm>
          <a:prstGeom prst="straightConnector1">
            <a:avLst/>
          </a:prstGeom>
          <a:ln w="19050">
            <a:solidFill>
              <a:srgbClr val="007B83"/>
            </a:solidFill>
            <a:prstDash val="solid"/>
            <a:tailEnd type="arrow" w="med" len="med"/>
          </a:ln>
        </p:spPr>
      </p:cxnSp>
      <p:cxnSp>
        <p:nvCxnSpPr>
          <p:cNvPr id="12" name="Straight Arrow Connector 11">
            <a:extLst>
              <a:ext uri="{FF2B5EF4-FFF2-40B4-BE49-F238E27FC236}">
                <a16:creationId xmlns:a16="http://schemas.microsoft.com/office/drawing/2014/main" id="{8812A321-09A8-4101-91B0-32C86C289EAA}"/>
              </a:ext>
            </a:extLst>
          </p:cNvPr>
          <p:cNvCxnSpPr>
            <a:stCxn id="9" idx="2"/>
            <a:endCxn id="10" idx="0"/>
          </p:cNvCxnSpPr>
          <p:nvPr/>
        </p:nvCxnSpPr>
        <p:spPr>
          <a:xfrm>
            <a:off x="9801225" y="2381250"/>
            <a:ext cx="0" cy="476250"/>
          </a:xfrm>
          <a:prstGeom prst="straightConnector1">
            <a:avLst/>
          </a:prstGeom>
          <a:ln w="19050">
            <a:solidFill>
              <a:srgbClr val="007B83"/>
            </a:solidFill>
            <a:prstDash val="solid"/>
            <a:tailEnd type="arrow" w="med" len="med"/>
          </a:ln>
        </p:spPr>
      </p:cxnSp>
      <p:sp>
        <p:nvSpPr>
          <p:cNvPr id="20" name="Task 1(b) • Execution model">
            <a:extLst>
              <a:ext uri="{FF2B5EF4-FFF2-40B4-BE49-F238E27FC236}">
                <a16:creationId xmlns:a16="http://schemas.microsoft.com/office/drawing/2014/main" id="{29252B55-FC2B-4025-B944-6B7BD07751C1}"/>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1(b) • Execution model</a:t>
            </a:r>
          </a:p>
        </p:txBody>
      </p:sp>
      <p:sp>
        <p:nvSpPr>
          <p:cNvPr id="2" name="CUDA maps pixels to scheduled threads">
            <a:extLst>
              <a:ext uri="{FF2B5EF4-FFF2-40B4-BE49-F238E27FC236}">
                <a16:creationId xmlns:a16="http://schemas.microsoft.com/office/drawing/2014/main" id="{E79DE90C-FBAE-4E36-9821-918B04B861F3}"/>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maps pixels to scheduled threads</a:t>
            </a:r>
          </a:p>
        </p:txBody>
      </p:sp>
      <p:sp>
        <p:nvSpPr>
          <p:cNvPr id="3" name="Host launch: asynchronous submission">
            <a:extLst>
              <a:ext uri="{FF2B5EF4-FFF2-40B4-BE49-F238E27FC236}">
                <a16:creationId xmlns:a16="http://schemas.microsoft.com/office/drawing/2014/main" id="{026C996A-0EAD-476D-9D9A-4C532F7A9F0D}"/>
              </a:ext>
            </a:extLst>
          </p:cNvPr>
          <p:cNvSpPr>
            <a:spLocks noGrp="1"/>
          </p:cNvSpPr>
          <p:nvPr/>
        </p:nvSpPr>
        <p:spPr>
          <a:xfrm>
            <a:off x="609600" y="1476375"/>
            <a:ext cx="67056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Host launch: asynchronous submission</a:t>
            </a:r>
          </a:p>
        </p:txBody>
      </p:sp>
      <p:sp>
        <p:nvSpPr>
          <p:cNvPr id="4" name="Rectangle 3">
            <a:extLst>
              <a:ext uri="{FF2B5EF4-FFF2-40B4-BE49-F238E27FC236}">
                <a16:creationId xmlns:a16="http://schemas.microsoft.com/office/drawing/2014/main" id="{0B122B1B-F497-4E0F-BA4C-9B91C31DC61B}"/>
              </a:ext>
            </a:extLst>
          </p:cNvPr>
          <p:cNvSpPr>
            <a:spLocks noGrp="1"/>
          </p:cNvSpPr>
          <p:nvPr/>
        </p:nvSpPr>
        <p:spPr>
          <a:xfrm>
            <a:off x="609600" y="1924050"/>
            <a:ext cx="6724650" cy="1017270"/>
          </a:xfrm>
          <a:prstGeom prst="rect">
            <a:avLst/>
          </a:prstGeom>
          <a:solidFill>
            <a:srgbClr val="EDF1F5"/>
          </a:solidFill>
          <a:ln w="14288">
            <a:noFill/>
            <a:prstDash val="solid"/>
          </a:ln>
        </p:spPr>
        <p:txBody>
          <a:bodyPr/>
          <a:lstStyle/>
          <a:p>
            <a:endParaRPr lang="en-US"/>
          </a:p>
        </p:txBody>
      </p:sp>
      <p:sp>
        <p:nvSpPr>
          <p:cNvPr id="5" name="dim3 block(16,16), grid(64,64);&#10;rotate_rgb&lt;&lt;&lt;grid,block">
            <a:extLst>
              <a:ext uri="{FF2B5EF4-FFF2-40B4-BE49-F238E27FC236}">
                <a16:creationId xmlns:a16="http://schemas.microsoft.com/office/drawing/2014/main" id="{2957F585-29FA-4AAF-8884-1CD1C09379DD}"/>
              </a:ext>
            </a:extLst>
          </p:cNvPr>
          <p:cNvSpPr>
            <a:spLocks noGrp="1"/>
          </p:cNvSpPr>
          <p:nvPr/>
        </p:nvSpPr>
        <p:spPr>
          <a:xfrm>
            <a:off x="723900" y="2009775"/>
            <a:ext cx="6496050" cy="883920"/>
          </a:xfrm>
          <a:prstGeom prst="rect">
            <a:avLst/>
          </a:prstGeom>
          <a:noFill/>
          <a:ln w="0">
            <a:noFill/>
          </a:ln>
        </p:spPr>
        <p:txBody>
          <a:bodyPr wrap="none" lIns="0" tIns="0" rIns="0" bIns="0" anchor="t">
            <a:noAutofit/>
          </a:bodyPr>
          <a:lstStyle>
            <a:defPPr algn="l">
              <a:defRPr sz="1725" b="0">
                <a:solidFill>
                  <a:srgbClr val="142D45"/>
                </a:solidFill>
                <a:latin typeface="Consolas"/>
                <a:ea typeface="Consolas"/>
                <a:cs typeface="Consolas"/>
              </a:defRPr>
            </a:defPPr>
          </a:lstStyle>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dim3 block(16,16), grid(64,64);</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rotate_rgb&lt;&lt;&lt;grid,block&gt;&gt;&gt;(</a:t>
            </a:r>
          </a:p>
          <a:p>
            <a:pPr algn="l">
              <a:defRPr sz="1725" b="0">
                <a:solidFill>
                  <a:srgbClr val="142D45"/>
                </a:solidFill>
                <a:latin typeface="Consolas"/>
                <a:ea typeface="Consolas"/>
                <a:cs typeface="Consolas"/>
              </a:defRPr>
            </a:pPr>
            <a:r>
              <a:rPr sz="1725" b="0">
                <a:solidFill>
                  <a:srgbClr val="142D45"/>
                </a:solidFill>
                <a:latin typeface="Consolas"/>
                <a:ea typeface="Consolas"/>
                <a:cs typeface="Consolas"/>
              </a:rPr>
              <a:t>  d_in,d_out,1024,1024,c,s);</a:t>
            </a:r>
          </a:p>
        </p:txBody>
      </p:sp>
      <p:sp>
        <p:nvSpPr>
          <p:cNvPr id="6" name="Device: global pixel index + edge guard. For other size">
            <a:extLst>
              <a:ext uri="{FF2B5EF4-FFF2-40B4-BE49-F238E27FC236}">
                <a16:creationId xmlns:a16="http://schemas.microsoft.com/office/drawing/2014/main" id="{DAEAFDF5-1475-468F-8707-C5C05591BA36}"/>
              </a:ext>
            </a:extLst>
          </p:cNvPr>
          <p:cNvSpPr>
            <a:spLocks noGrp="1"/>
          </p:cNvSpPr>
          <p:nvPr/>
        </p:nvSpPr>
        <p:spPr>
          <a:xfrm>
            <a:off x="609600" y="3133725"/>
            <a:ext cx="678180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Device: global pixel index + edge guard. For other sizes, ceil-divide</a:t>
            </a:r>
          </a:p>
          <a:p>
            <a:pPr algn="l">
              <a:defRPr sz="1725" b="0">
                <a:solidFill>
                  <a:srgbClr val="142D45"/>
                </a:solidFill>
                <a:latin typeface="Arial"/>
                <a:ea typeface="Arial"/>
                <a:cs typeface="Arial"/>
              </a:defRPr>
            </a:pPr>
            <a:r>
              <a:rPr sz="1725" b="0">
                <a:solidFill>
                  <a:srgbClr val="142D45"/>
                </a:solidFill>
                <a:latin typeface="Arial"/>
                <a:ea typeface="Arial"/>
                <a:cs typeface="Arial"/>
              </a:rPr>
              <a:t>the grid. Check launch errors AND completion before reading/reusing</a:t>
            </a:r>
          </a:p>
          <a:p>
            <a:pPr algn="l">
              <a:defRPr sz="1725" b="0">
                <a:solidFill>
                  <a:srgbClr val="142D45"/>
                </a:solidFill>
                <a:latin typeface="Arial"/>
                <a:ea typeface="Arial"/>
                <a:cs typeface="Arial"/>
              </a:defRPr>
            </a:pPr>
            <a:r>
              <a:rPr sz="1725" b="0">
                <a:solidFill>
                  <a:srgbClr val="142D45"/>
                </a:solidFill>
                <a:latin typeface="Arial"/>
                <a:ea typeface="Arial"/>
                <a:cs typeface="Arial"/>
              </a:rPr>
              <a:t>output.</a:t>
            </a:r>
          </a:p>
        </p:txBody>
      </p:sp>
      <p:sp>
        <p:nvSpPr>
          <p:cNvPr id="7" name="Not all threads run at once: finite SM resources execut">
            <a:extLst>
              <a:ext uri="{FF2B5EF4-FFF2-40B4-BE49-F238E27FC236}">
                <a16:creationId xmlns:a16="http://schemas.microsoft.com/office/drawing/2014/main" id="{3796B7BB-6A65-4450-BA37-6C45DFFD68CA}"/>
              </a:ext>
            </a:extLst>
          </p:cNvPr>
          <p:cNvSpPr>
            <a:spLocks noGrp="1"/>
          </p:cNvSpPr>
          <p:nvPr/>
        </p:nvSpPr>
        <p:spPr>
          <a:xfrm>
            <a:off x="609600" y="4162425"/>
            <a:ext cx="6781800" cy="652272"/>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Not all threads run at once: finite SM resources execute</a:t>
            </a:r>
          </a:p>
          <a:p>
            <a:pPr algn="l">
              <a:defRPr sz="1950" b="1">
                <a:solidFill>
                  <a:srgbClr val="007B83"/>
                </a:solidFill>
                <a:latin typeface="Arial"/>
                <a:ea typeface="Arial"/>
                <a:cs typeface="Arial"/>
              </a:defRPr>
            </a:pPr>
            <a:r>
              <a:rPr sz="1950" b="1">
                <a:solidFill>
                  <a:srgbClr val="007B83"/>
                </a:solidFill>
                <a:latin typeface="Arial"/>
                <a:ea typeface="Arial"/>
                <a:cs typeface="Arial"/>
              </a:rPr>
              <a:t>queued blocks in waves.</a:t>
            </a:r>
          </a:p>
        </p:txBody>
      </p:sp>
      <p:sp>
        <p:nvSpPr>
          <p:cNvPr id="8" name="SIMT = single instruction, multiple threads. A warp iss">
            <a:extLst>
              <a:ext uri="{FF2B5EF4-FFF2-40B4-BE49-F238E27FC236}">
                <a16:creationId xmlns:a16="http://schemas.microsoft.com/office/drawing/2014/main" id="{BFF45DEC-2EE2-4592-9297-B02DD9CA958C}"/>
              </a:ext>
            </a:extLst>
          </p:cNvPr>
          <p:cNvSpPr>
            <a:spLocks noGrp="1"/>
          </p:cNvSpPr>
          <p:nvPr/>
        </p:nvSpPr>
        <p:spPr>
          <a:xfrm>
            <a:off x="609600" y="5000625"/>
            <a:ext cx="67818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SIMT = single instruction, multiple threads. A warp issues common</a:t>
            </a:r>
          </a:p>
          <a:p>
            <a:pPr algn="l">
              <a:defRPr sz="1650" b="0">
                <a:solidFill>
                  <a:srgbClr val="142D45"/>
                </a:solidFill>
                <a:latin typeface="Arial"/>
                <a:ea typeface="Arial"/>
                <a:cs typeface="Arial"/>
              </a:defRPr>
            </a:pPr>
            <a:r>
              <a:rPr sz="1650" b="0">
                <a:solidFill>
                  <a:srgbClr val="142D45"/>
                </a:solidFill>
                <a:latin typeface="Arial"/>
                <a:ea typeface="Arial"/>
                <a:cs typeface="Arial"/>
              </a:rPr>
              <a:t>instructions; divergent paths can reduce efficiency.</a:t>
            </a:r>
          </a:p>
        </p:txBody>
      </p:sp>
      <p:sp>
        <p:nvSpPr>
          <p:cNvPr id="9" name="Rectangle 8">
            <a:extLst>
              <a:ext uri="{FF2B5EF4-FFF2-40B4-BE49-F238E27FC236}">
                <a16:creationId xmlns:a16="http://schemas.microsoft.com/office/drawing/2014/main" id="{D7C101CD-7B81-4307-B51B-EECB12F31F67}"/>
              </a:ext>
            </a:extLst>
          </p:cNvPr>
          <p:cNvSpPr>
            <a:spLocks noGrp="1"/>
          </p:cNvSpPr>
          <p:nvPr/>
        </p:nvSpPr>
        <p:spPr>
          <a:xfrm>
            <a:off x="8020050" y="1571625"/>
            <a:ext cx="3562350" cy="8096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Grid: 64 × 64 blocks</a:t>
            </a:r>
          </a:p>
          <a:p>
            <a:pPr algn="ctr">
              <a:defRPr sz="1725">
                <a:solidFill>
                  <a:srgbClr val="142D45"/>
                </a:solidFill>
                <a:latin typeface="Arial"/>
                <a:ea typeface="Arial"/>
                <a:cs typeface="Arial"/>
              </a:defRPr>
            </a:pPr>
            <a:r>
              <a:rPr sz="1725">
                <a:solidFill>
                  <a:srgbClr val="142D45"/>
                </a:solidFill>
                <a:latin typeface="Arial"/>
                <a:ea typeface="Arial"/>
                <a:cs typeface="Arial"/>
              </a:rPr>
              <a:t>≈1.05 million logical threads</a:t>
            </a:r>
          </a:p>
        </p:txBody>
      </p:sp>
      <p:sp>
        <p:nvSpPr>
          <p:cNvPr id="10" name="Rectangle 9">
            <a:extLst>
              <a:ext uri="{FF2B5EF4-FFF2-40B4-BE49-F238E27FC236}">
                <a16:creationId xmlns:a16="http://schemas.microsoft.com/office/drawing/2014/main" id="{CF94DE80-2D4B-4803-B5E9-1032AF03453A}"/>
              </a:ext>
            </a:extLst>
          </p:cNvPr>
          <p:cNvSpPr>
            <a:spLocks noGrp="1"/>
          </p:cNvSpPr>
          <p:nvPr/>
        </p:nvSpPr>
        <p:spPr>
          <a:xfrm>
            <a:off x="8020050" y="2857500"/>
            <a:ext cx="3562350" cy="8096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Block: 16 × 16 threads</a:t>
            </a:r>
          </a:p>
          <a:p>
            <a:pPr algn="ctr">
              <a:defRPr sz="1725">
                <a:solidFill>
                  <a:srgbClr val="142D45"/>
                </a:solidFill>
                <a:latin typeface="Arial"/>
                <a:ea typeface="Arial"/>
                <a:cs typeface="Arial"/>
              </a:defRPr>
            </a:pPr>
            <a:r>
              <a:rPr sz="1725">
                <a:solidFill>
                  <a:srgbClr val="142D45"/>
                </a:solidFill>
                <a:latin typeface="Arial"/>
                <a:ea typeface="Arial"/>
                <a:cs typeface="Arial"/>
              </a:rPr>
              <a:t>256 threads = 8 warps</a:t>
            </a:r>
          </a:p>
        </p:txBody>
      </p:sp>
      <p:sp>
        <p:nvSpPr>
          <p:cNvPr id="11" name="Rectangle 10">
            <a:extLst>
              <a:ext uri="{FF2B5EF4-FFF2-40B4-BE49-F238E27FC236}">
                <a16:creationId xmlns:a16="http://schemas.microsoft.com/office/drawing/2014/main" id="{E4B24969-B408-48B5-B677-C491DA30E9BF}"/>
              </a:ext>
            </a:extLst>
          </p:cNvPr>
          <p:cNvSpPr>
            <a:spLocks noGrp="1"/>
          </p:cNvSpPr>
          <p:nvPr/>
        </p:nvSpPr>
        <p:spPr>
          <a:xfrm>
            <a:off x="8020050" y="4143375"/>
            <a:ext cx="3562350" cy="80962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SMs schedule resident warps</a:t>
            </a:r>
          </a:p>
          <a:p>
            <a:pPr algn="ctr">
              <a:defRPr sz="1725">
                <a:solidFill>
                  <a:srgbClr val="142D45"/>
                </a:solidFill>
                <a:latin typeface="Arial"/>
                <a:ea typeface="Arial"/>
                <a:cs typeface="Arial"/>
              </a:defRPr>
            </a:pPr>
            <a:r>
              <a:rPr sz="1725">
                <a:solidFill>
                  <a:srgbClr val="142D45"/>
                </a:solidFill>
                <a:latin typeface="Arial"/>
                <a:ea typeface="Arial"/>
                <a:cs typeface="Arial"/>
              </a:rPr>
              <a:t>32 threads per warp</a:t>
            </a:r>
          </a:p>
        </p:txBody>
      </p:sp>
      <p:sp>
        <p:nvSpPr>
          <p:cNvPr id="14" name="Appendix: full rotation, brightness, launch-shape and s">
            <a:extLst>
              <a:ext uri="{FF2B5EF4-FFF2-40B4-BE49-F238E27FC236}">
                <a16:creationId xmlns:a16="http://schemas.microsoft.com/office/drawing/2014/main" id="{2140E830-6565-4924-A1A7-DC086CE8F4DC}"/>
              </a:ext>
            </a:extLst>
          </p:cNvPr>
          <p:cNvSpPr>
            <a:spLocks noGrp="1"/>
          </p:cNvSpPr>
          <p:nvPr/>
        </p:nvSpPr>
        <p:spPr>
          <a:xfrm>
            <a:off x="8020050" y="5095875"/>
            <a:ext cx="3562350" cy="510540"/>
          </a:xfrm>
          <a:prstGeom prst="rect">
            <a:avLst/>
          </a:prstGeom>
          <a:noFill/>
          <a:ln w="0">
            <a:noFill/>
          </a:ln>
        </p:spPr>
        <p:txBody>
          <a:bodyPr wrap="square" lIns="0" tIns="0" rIns="0" bIns="0" anchor="t">
            <a:noAutofit/>
          </a:bodyPr>
          <a:lstStyle>
            <a:defPPr algn="l">
              <a:defRPr sz="1500" b="0">
                <a:solidFill>
                  <a:srgbClr val="142D45"/>
                </a:solidFill>
                <a:latin typeface="Arial"/>
                <a:ea typeface="Arial"/>
                <a:cs typeface="Arial"/>
              </a:defRPr>
            </a:defPPr>
          </a:lstStyle>
          <a:p>
            <a:pPr algn="l">
              <a:defRPr sz="1500" b="0">
                <a:solidFill>
                  <a:srgbClr val="142D45"/>
                </a:solidFill>
                <a:latin typeface="Arial"/>
                <a:ea typeface="Arial"/>
                <a:cs typeface="Arial"/>
              </a:defRPr>
            </a:pPr>
            <a:r>
              <a:rPr sz="1500" b="0">
                <a:solidFill>
                  <a:srgbClr val="142D45"/>
                </a:solidFill>
                <a:latin typeface="Arial"/>
                <a:ea typeface="Arial"/>
                <a:cs typeface="Arial"/>
              </a:rPr>
              <a:t>Appendix: full rotation, brightness,</a:t>
            </a:r>
          </a:p>
          <a:p>
            <a:pPr algn="l">
              <a:defRPr sz="1500" b="0">
                <a:solidFill>
                  <a:srgbClr val="142D45"/>
                </a:solidFill>
                <a:latin typeface="Arial"/>
                <a:ea typeface="Arial"/>
                <a:cs typeface="Arial"/>
              </a:defRPr>
            </a:pPr>
            <a:r>
              <a:rPr sz="1500" b="0">
                <a:solidFill>
                  <a:srgbClr val="142D45"/>
                </a:solidFill>
                <a:latin typeface="Arial"/>
                <a:ea typeface="Arial"/>
                <a:cs typeface="Arial"/>
              </a:rPr>
              <a:t>launch-shape and stream examples.</a:t>
            </a:r>
          </a:p>
        </p:txBody>
      </p:sp>
      <p:sp>
        <p:nvSpPr>
          <p:cNvPr id="15" name="Straight Connector 14">
            <a:extLst>
              <a:ext uri="{FF2B5EF4-FFF2-40B4-BE49-F238E27FC236}">
                <a16:creationId xmlns:a16="http://schemas.microsoft.com/office/drawing/2014/main" id="{01EEC712-DF15-4E85-B26A-4936A60207F1}"/>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6" name="A logical grid exposes work; SMs execute resident warps">
            <a:extLst>
              <a:ext uri="{FF2B5EF4-FFF2-40B4-BE49-F238E27FC236}">
                <a16:creationId xmlns:a16="http://schemas.microsoft.com/office/drawing/2014/main" id="{CA9A8B35-40D1-47BC-A18E-AE8C6BCC0104}"/>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A logical grid exposes work; SMs execute resident warps with SIMT.</a:t>
            </a:r>
          </a:p>
        </p:txBody>
      </p:sp>
      <p:sp>
        <p:nvSpPr>
          <p:cNvPr id="17" name="Straight Connector 16">
            <a:extLst>
              <a:ext uri="{FF2B5EF4-FFF2-40B4-BE49-F238E27FC236}">
                <a16:creationId xmlns:a16="http://schemas.microsoft.com/office/drawing/2014/main" id="{F7C6CA2B-591F-460A-A8D7-68562E12B49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8" name="Sources: [1] NVIDIA CUDA programming model; [2] NVIDIA ">
            <a:extLst>
              <a:ext uri="{FF2B5EF4-FFF2-40B4-BE49-F238E27FC236}">
                <a16:creationId xmlns:a16="http://schemas.microsoft.com/office/drawing/2014/main" id="{23058736-C1A0-4846-8838-8A233B5C765D}"/>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9" name="4 / 48">
            <a:extLst>
              <a:ext uri="{FF2B5EF4-FFF2-40B4-BE49-F238E27FC236}">
                <a16:creationId xmlns:a16="http://schemas.microsoft.com/office/drawing/2014/main" id="{B2F548C7-76C9-48DD-BC6A-B2F8F2FCAA87}"/>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 / 48</a:t>
            </a:r>
          </a:p>
        </p:txBody>
      </p:sp>
    </p:spTree>
    <p:extLst>
      <p:ext uri="{BB962C8B-B14F-4D97-AF65-F5344CB8AC3E}">
        <p14:creationId xmlns:p14="http://schemas.microsoft.com/office/powerpoint/2010/main" val="1755254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Task 1(b) • Expected speedup">
            <a:extLst>
              <a:ext uri="{FF2B5EF4-FFF2-40B4-BE49-F238E27FC236}">
                <a16:creationId xmlns:a16="http://schemas.microsoft.com/office/drawing/2014/main" id="{B6C8F962-8809-4D1C-A2F7-E678685B0632}"/>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1(b) • Expected speedup</a:t>
            </a:r>
          </a:p>
        </p:txBody>
      </p:sp>
      <p:sp>
        <p:nvSpPr>
          <p:cNvPr id="2" name="Throughput gains depend on the bottleneck">
            <a:extLst>
              <a:ext uri="{FF2B5EF4-FFF2-40B4-BE49-F238E27FC236}">
                <a16:creationId xmlns:a16="http://schemas.microsoft.com/office/drawing/2014/main" id="{E20DAB13-135E-4AA4-8405-F2BEE2C9F9BF}"/>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Throughput gains depend on the bottleneck</a:t>
            </a:r>
          </a:p>
        </p:txBody>
      </p:sp>
      <p:sp>
        <p:nvSpPr>
          <p:cNvPr id="3" name="Why a GPU can be faster">
            <a:extLst>
              <a:ext uri="{FF2B5EF4-FFF2-40B4-BE49-F238E27FC236}">
                <a16:creationId xmlns:a16="http://schemas.microsoft.com/office/drawing/2014/main" id="{296A3C30-861C-4B7D-A351-D213DB176CC3}"/>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Why a GPU can be faster</a:t>
            </a:r>
          </a:p>
        </p:txBody>
      </p:sp>
      <p:sp>
        <p:nvSpPr>
          <p:cNvPr id="4" name="Many execution units and high device-memory bandwidth p">
            <a:extLst>
              <a:ext uri="{FF2B5EF4-FFF2-40B4-BE49-F238E27FC236}">
                <a16:creationId xmlns:a16="http://schemas.microsoft.com/office/drawing/2014/main" id="{FD687086-EFFD-4F7C-A44B-CDF2B398CD87}"/>
              </a:ext>
            </a:extLst>
          </p:cNvPr>
          <p:cNvSpPr>
            <a:spLocks noGrp="1"/>
          </p:cNvSpPr>
          <p:nvPr/>
        </p:nvSpPr>
        <p:spPr>
          <a:xfrm>
            <a:off x="609600" y="1971675"/>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Many execution units and high device-memory</a:t>
            </a:r>
          </a:p>
          <a:p>
            <a:pPr algn="l">
              <a:defRPr sz="1725" b="0">
                <a:solidFill>
                  <a:srgbClr val="142D45"/>
                </a:solidFill>
                <a:latin typeface="Arial"/>
                <a:ea typeface="Arial"/>
                <a:cs typeface="Arial"/>
              </a:defRPr>
            </a:pPr>
            <a:r>
              <a:rPr sz="1725" b="0">
                <a:solidFill>
                  <a:srgbClr val="142D45"/>
                </a:solidFill>
                <a:latin typeface="Arial"/>
                <a:ea typeface="Arial"/>
                <a:cs typeface="Arial"/>
              </a:rPr>
              <a:t>bandwidth process independent pixels concurrently.</a:t>
            </a:r>
          </a:p>
        </p:txBody>
      </p:sp>
      <p:sp>
        <p:nvSpPr>
          <p:cNvPr id="5" name="Coalescing combines nearby addresses into fewer transac">
            <a:extLst>
              <a:ext uri="{FF2B5EF4-FFF2-40B4-BE49-F238E27FC236}">
                <a16:creationId xmlns:a16="http://schemas.microsoft.com/office/drawing/2014/main" id="{A3D6AA84-E5D6-4A49-8123-13D36A23BB31}"/>
              </a:ext>
            </a:extLst>
          </p:cNvPr>
          <p:cNvSpPr>
            <a:spLocks noGrp="1"/>
          </p:cNvSpPr>
          <p:nvPr/>
        </p:nvSpPr>
        <p:spPr>
          <a:xfrm>
            <a:off x="609600" y="2724531"/>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Coalescing combines nearby addresses into fewer</a:t>
            </a:r>
          </a:p>
          <a:p>
            <a:pPr algn="l">
              <a:defRPr sz="1725" b="0">
                <a:solidFill>
                  <a:srgbClr val="142D45"/>
                </a:solidFill>
                <a:latin typeface="Arial"/>
                <a:ea typeface="Arial"/>
                <a:cs typeface="Arial"/>
              </a:defRPr>
            </a:pPr>
            <a:r>
              <a:rPr sz="1725" b="0">
                <a:solidFill>
                  <a:srgbClr val="142D45"/>
                </a:solidFill>
                <a:latin typeface="Arial"/>
                <a:ea typeface="Arial"/>
                <a:cs typeface="Arial"/>
              </a:rPr>
              <a:t>transactions. Rotated gathers can limit bandwidth;</a:t>
            </a:r>
          </a:p>
          <a:p>
            <a:pPr algn="l">
              <a:defRPr sz="1725" b="0">
                <a:solidFill>
                  <a:srgbClr val="142D45"/>
                </a:solidFill>
                <a:latin typeface="Arial"/>
                <a:ea typeface="Arial"/>
                <a:cs typeface="Arial"/>
              </a:defRPr>
            </a:pPr>
            <a:r>
              <a:rPr sz="1725" b="0">
                <a:solidFill>
                  <a:srgbClr val="142D45"/>
                </a:solidFill>
                <a:latin typeface="Arial"/>
                <a:ea typeface="Arial"/>
                <a:cs typeface="Arial"/>
              </a:rPr>
              <a:t>32 × 8 keeps a warp on one row, unlike 16 × 16.</a:t>
            </a:r>
          </a:p>
          <a:p>
            <a:pPr algn="l">
              <a:defRPr sz="1725" b="0">
                <a:solidFill>
                  <a:srgbClr val="142D45"/>
                </a:solidFill>
                <a:latin typeface="Arial"/>
                <a:ea typeface="Arial"/>
                <a:cs typeface="Arial"/>
              </a:defRPr>
            </a:pPr>
            <a:r>
              <a:rPr sz="1725" b="0">
                <a:solidFill>
                  <a:srgbClr val="142D45"/>
                </a:solidFill>
                <a:latin typeface="Arial"/>
                <a:ea typeface="Arial"/>
                <a:cs typeface="Arial"/>
              </a:rPr>
              <a:t>Profile both.</a:t>
            </a:r>
          </a:p>
        </p:txBody>
      </p:sp>
      <p:sp>
        <p:nvSpPr>
          <p:cNvPr id="6" name="Large images amortize setup; keeping pixels on the GPU ">
            <a:extLst>
              <a:ext uri="{FF2B5EF4-FFF2-40B4-BE49-F238E27FC236}">
                <a16:creationId xmlns:a16="http://schemas.microsoft.com/office/drawing/2014/main" id="{0A8EE7B3-B2C8-41F7-A861-F572ED82F3CE}"/>
              </a:ext>
            </a:extLst>
          </p:cNvPr>
          <p:cNvSpPr>
            <a:spLocks noGrp="1"/>
          </p:cNvSpPr>
          <p:nvPr/>
        </p:nvSpPr>
        <p:spPr>
          <a:xfrm>
            <a:off x="609600" y="4020693"/>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Large images amortize setup; keeping pixels on the</a:t>
            </a:r>
          </a:p>
          <a:p>
            <a:pPr algn="l">
              <a:defRPr sz="1725" b="0">
                <a:solidFill>
                  <a:srgbClr val="142D45"/>
                </a:solidFill>
                <a:latin typeface="Arial"/>
                <a:ea typeface="Arial"/>
                <a:cs typeface="Arial"/>
              </a:defRPr>
            </a:pPr>
            <a:r>
              <a:rPr sz="1725" b="0">
                <a:solidFill>
                  <a:srgbClr val="142D45"/>
                </a:solidFill>
                <a:latin typeface="Arial"/>
                <a:ea typeface="Arial"/>
                <a:cs typeface="Arial"/>
              </a:rPr>
              <a:t>GPU avoids repeated copies. More resident warps</a:t>
            </a:r>
          </a:p>
          <a:p>
            <a:pPr algn="l">
              <a:defRPr sz="1725" b="0">
                <a:solidFill>
                  <a:srgbClr val="142D45"/>
                </a:solidFill>
                <a:latin typeface="Arial"/>
                <a:ea typeface="Arial"/>
                <a:cs typeface="Arial"/>
              </a:defRPr>
            </a:pPr>
            <a:r>
              <a:rPr sz="1725" b="0">
                <a:solidFill>
                  <a:srgbClr val="142D45"/>
                </a:solidFill>
                <a:latin typeface="Arial"/>
                <a:ea typeface="Arial"/>
                <a:cs typeface="Arial"/>
              </a:rPr>
              <a:t>hide latency, but registers and divergence constrain</a:t>
            </a:r>
          </a:p>
          <a:p>
            <a:pPr algn="l">
              <a:defRPr sz="1725" b="0">
                <a:solidFill>
                  <a:srgbClr val="142D45"/>
                </a:solidFill>
                <a:latin typeface="Arial"/>
                <a:ea typeface="Arial"/>
                <a:cs typeface="Arial"/>
              </a:defRPr>
            </a:pPr>
            <a:r>
              <a:rPr sz="1725" b="0">
                <a:solidFill>
                  <a:srgbClr val="142D45"/>
                </a:solidFill>
                <a:latin typeface="Arial"/>
                <a:ea typeface="Arial"/>
                <a:cs typeface="Arial"/>
              </a:rPr>
              <a:t>execution.</a:t>
            </a:r>
          </a:p>
        </p:txBody>
      </p:sp>
      <p:sp>
        <p:nvSpPr>
          <p:cNvPr id="7" name="Compare completed equivalent work">
            <a:extLst>
              <a:ext uri="{FF2B5EF4-FFF2-40B4-BE49-F238E27FC236}">
                <a16:creationId xmlns:a16="http://schemas.microsoft.com/office/drawing/2014/main" id="{1E2875B2-6475-46DD-993D-CDEEDFF54D83}"/>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Compare completed equivalent work</a:t>
            </a:r>
          </a:p>
        </p:txBody>
      </p:sp>
      <p:sp>
        <p:nvSpPr>
          <p:cNvPr id="8" name="Speedup = TCPU / TGPU,total. Same rotation/sampling on ">
            <a:extLst>
              <a:ext uri="{FF2B5EF4-FFF2-40B4-BE49-F238E27FC236}">
                <a16:creationId xmlns:a16="http://schemas.microsoft.com/office/drawing/2014/main" id="{A35EEF78-A47C-4A79-9518-3A9CF015A2B7}"/>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Speedup = TCPU / TGPU,total. Same</a:t>
            </a:r>
          </a:p>
          <a:p>
            <a:pPr algn="l">
              <a:defRPr sz="1725" b="0">
                <a:solidFill>
                  <a:srgbClr val="142D45"/>
                </a:solidFill>
                <a:latin typeface="Arial"/>
                <a:ea typeface="Arial"/>
                <a:cs typeface="Arial"/>
              </a:defRPr>
            </a:pPr>
            <a:r>
              <a:rPr sz="1725" b="0">
                <a:solidFill>
                  <a:srgbClr val="142D45"/>
                </a:solidFill>
                <a:latin typeface="Arial"/>
                <a:ea typeface="Arial"/>
                <a:cs typeface="Arial"/>
              </a:rPr>
              <a:t>rotation/sampling on one CPU thread; also test a</a:t>
            </a:r>
          </a:p>
          <a:p>
            <a:pPr algn="l">
              <a:defRPr sz="1725" b="0">
                <a:solidFill>
                  <a:srgbClr val="142D45"/>
                </a:solidFill>
                <a:latin typeface="Arial"/>
                <a:ea typeface="Arial"/>
                <a:cs typeface="Arial"/>
              </a:defRPr>
            </a:pPr>
            <a:r>
              <a:rPr sz="1725" b="0">
                <a:solidFill>
                  <a:srgbClr val="142D45"/>
                </a:solidFill>
                <a:latin typeface="Arial"/>
                <a:ea typeface="Arial"/>
                <a:cs typeface="Arial"/>
              </a:rPr>
              <a:t>multithreaded CPU.</a:t>
            </a:r>
          </a:p>
        </p:txBody>
      </p:sp>
      <p:sp>
        <p:nvSpPr>
          <p:cNvPr id="9" name="Streams can overlap independent images with separate pi">
            <a:extLst>
              <a:ext uri="{FF2B5EF4-FFF2-40B4-BE49-F238E27FC236}">
                <a16:creationId xmlns:a16="http://schemas.microsoft.com/office/drawing/2014/main" id="{03131773-17AB-497F-9EFB-875592C2B15C}"/>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Streams can overlap independent images with</a:t>
            </a:r>
          </a:p>
          <a:p>
            <a:pPr algn="l">
              <a:defRPr sz="1725" b="0">
                <a:solidFill>
                  <a:srgbClr val="142D45"/>
                </a:solidFill>
                <a:latin typeface="Arial"/>
                <a:ea typeface="Arial"/>
                <a:cs typeface="Arial"/>
              </a:defRPr>
            </a:pPr>
            <a:r>
              <a:rPr sz="1725" b="0">
                <a:solidFill>
                  <a:srgbClr val="142D45"/>
                </a:solidFill>
                <a:latin typeface="Arial"/>
                <a:ea typeface="Arial"/>
                <a:cs typeface="Arial"/>
              </a:rPr>
              <a:t>separate pinned/device buffers and copy/compute</a:t>
            </a:r>
          </a:p>
          <a:p>
            <a:pPr algn="l">
              <a:defRPr sz="1725" b="0">
                <a:solidFill>
                  <a:srgbClr val="142D45"/>
                </a:solidFill>
                <a:latin typeface="Arial"/>
                <a:ea typeface="Arial"/>
                <a:cs typeface="Arial"/>
              </a:defRPr>
            </a:pPr>
            <a:r>
              <a:rPr sz="1725" b="0">
                <a:solidFill>
                  <a:srgbClr val="142D45"/>
                </a:solidFill>
                <a:latin typeface="Arial"/>
                <a:ea typeface="Arial"/>
                <a:cs typeface="Arial"/>
              </a:rPr>
              <a:t>support. Enqueue batches before waiting; extra</a:t>
            </a:r>
          </a:p>
          <a:p>
            <a:pPr algn="l">
              <a:defRPr sz="1725" b="0">
                <a:solidFill>
                  <a:srgbClr val="142D45"/>
                </a:solidFill>
                <a:latin typeface="Arial"/>
                <a:ea typeface="Arial"/>
                <a:cs typeface="Arial"/>
              </a:defRPr>
            </a:pPr>
            <a:r>
              <a:rPr sz="1725" b="0">
                <a:solidFill>
                  <a:srgbClr val="142D45"/>
                </a:solidFill>
                <a:latin typeface="Arial"/>
                <a:ea typeface="Arial"/>
                <a:cs typeface="Arial"/>
              </a:rPr>
              <a:t>buffers cost memory.</a:t>
            </a:r>
          </a:p>
        </p:txBody>
      </p:sp>
      <p:sp>
        <p:nvSpPr>
          <p:cNvPr id="10" name="Time completed work: sequential setup + H2D + kernel + ">
            <a:extLst>
              <a:ext uri="{FF2B5EF4-FFF2-40B4-BE49-F238E27FC236}">
                <a16:creationId xmlns:a16="http://schemas.microsoft.com/office/drawing/2014/main" id="{014D50E0-06A6-486C-B174-D16B2C8AAB2C}"/>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Time completed work: sequential setup + H2D +</a:t>
            </a:r>
          </a:p>
          <a:p>
            <a:pPr algn="l">
              <a:defRPr sz="1725" b="0">
                <a:solidFill>
                  <a:srgbClr val="142D45"/>
                </a:solidFill>
                <a:latin typeface="Arial"/>
                <a:ea typeface="Arial"/>
                <a:cs typeface="Arial"/>
              </a:defRPr>
            </a:pPr>
            <a:r>
              <a:rPr sz="1725" b="0">
                <a:solidFill>
                  <a:srgbClr val="142D45"/>
                </a:solidFill>
                <a:latin typeface="Arial"/>
                <a:ea typeface="Arial"/>
                <a:cs typeface="Arial"/>
              </a:rPr>
              <a:t>kernel + D2H, or the overlapped batch critical path.</a:t>
            </a:r>
          </a:p>
          <a:p>
            <a:pPr algn="l">
              <a:defRPr sz="1725" b="0">
                <a:solidFill>
                  <a:srgbClr val="142D45"/>
                </a:solidFill>
                <a:latin typeface="Arial"/>
                <a:ea typeface="Arial"/>
                <a:cs typeface="Arial"/>
              </a:defRPr>
            </a:pPr>
            <a:r>
              <a:rPr sz="1725" b="0">
                <a:solidFill>
                  <a:srgbClr val="142D45"/>
                </a:solidFill>
                <a:latin typeface="Arial"/>
                <a:ea typeface="Arial"/>
                <a:cs typeface="Arial"/>
              </a:rPr>
              <a:t>Amdahl bounds gains; no measured speedup is</a:t>
            </a:r>
          </a:p>
          <a:p>
            <a:pPr algn="l">
              <a:defRPr sz="1725" b="0">
                <a:solidFill>
                  <a:srgbClr val="142D45"/>
                </a:solidFill>
                <a:latin typeface="Arial"/>
                <a:ea typeface="Arial"/>
                <a:cs typeface="Arial"/>
              </a:defRPr>
            </a:pPr>
            <a:r>
              <a:rPr sz="1725" b="0">
                <a:solidFill>
                  <a:srgbClr val="142D45"/>
                </a:solidFill>
                <a:latin typeface="Arial"/>
                <a:ea typeface="Arial"/>
                <a:cs typeface="Arial"/>
              </a:rPr>
              <a:t>claimed.</a:t>
            </a:r>
          </a:p>
        </p:txBody>
      </p:sp>
      <p:sp>
        <p:nvSpPr>
          <p:cNvPr id="11" name="Straight Connector 10">
            <a:extLst>
              <a:ext uri="{FF2B5EF4-FFF2-40B4-BE49-F238E27FC236}">
                <a16:creationId xmlns:a16="http://schemas.microsoft.com/office/drawing/2014/main" id="{90C5DD5F-CB3C-449E-87DA-2E5DA3EC3C30}"/>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78DCF3B2-F100-43BE-8F64-EB0F4324B0A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2] NVIDIA CUDA Best Practices">
            <a:extLst>
              <a:ext uri="{FF2B5EF4-FFF2-40B4-BE49-F238E27FC236}">
                <a16:creationId xmlns:a16="http://schemas.microsoft.com/office/drawing/2014/main" id="{F90360F6-CD2D-4D67-8C88-786D3EDBBAC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5 / 48">
            <a:extLst>
              <a:ext uri="{FF2B5EF4-FFF2-40B4-BE49-F238E27FC236}">
                <a16:creationId xmlns:a16="http://schemas.microsoft.com/office/drawing/2014/main" id="{676BBD39-B621-4DB8-8455-9EDF56DDD9EE}"/>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5 / 48</a:t>
            </a:r>
          </a:p>
        </p:txBody>
      </p:sp>
    </p:spTree>
    <p:extLst>
      <p:ext uri="{BB962C8B-B14F-4D97-AF65-F5344CB8AC3E}">
        <p14:creationId xmlns:p14="http://schemas.microsoft.com/office/powerpoint/2010/main" val="143905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4" name="Straight Arrow Connector 13">
            <a:extLst>
              <a:ext uri="{FF2B5EF4-FFF2-40B4-BE49-F238E27FC236}">
                <a16:creationId xmlns:a16="http://schemas.microsoft.com/office/drawing/2014/main" id="{6F6F581F-1D3E-49F3-8ECD-F0FE3017D36D}"/>
              </a:ext>
            </a:extLst>
          </p:cNvPr>
          <p:cNvCxnSpPr>
            <a:stCxn id="12" idx="3"/>
            <a:endCxn id="13" idx="1"/>
          </p:cNvCxnSpPr>
          <p:nvPr/>
        </p:nvCxnSpPr>
        <p:spPr>
          <a:xfrm>
            <a:off x="3086100" y="3743325"/>
            <a:ext cx="6191250" cy="0"/>
          </a:xfrm>
          <a:prstGeom prst="straightConnector1">
            <a:avLst/>
          </a:prstGeom>
          <a:ln w="19050">
            <a:solidFill>
              <a:srgbClr val="007B83"/>
            </a:solidFill>
            <a:prstDash val="solid"/>
            <a:tailEnd type="arrow" w="med" len="med"/>
          </a:ln>
        </p:spPr>
      </p:cxnSp>
      <p:cxnSp>
        <p:nvCxnSpPr>
          <p:cNvPr id="8" name="Straight Arrow Connector 7">
            <a:extLst>
              <a:ext uri="{FF2B5EF4-FFF2-40B4-BE49-F238E27FC236}">
                <a16:creationId xmlns:a16="http://schemas.microsoft.com/office/drawing/2014/main" id="{956DDFDF-451C-49F2-9848-33B5FB6E43F3}"/>
              </a:ext>
            </a:extLst>
          </p:cNvPr>
          <p:cNvCxnSpPr>
            <a:stCxn id="5" idx="3"/>
            <a:endCxn id="6" idx="1"/>
          </p:cNvCxnSpPr>
          <p:nvPr/>
        </p:nvCxnSpPr>
        <p:spPr>
          <a:xfrm>
            <a:off x="7372350" y="2343150"/>
            <a:ext cx="1905000" cy="0"/>
          </a:xfrm>
          <a:prstGeom prst="straightConnector1">
            <a:avLst/>
          </a:prstGeom>
          <a:ln w="19050">
            <a:solidFill>
              <a:srgbClr val="007B83"/>
            </a:solidFill>
            <a:prstDash val="solid"/>
            <a:tailEnd type="arrow" w="med" len="med"/>
          </a:ln>
        </p:spPr>
      </p:cxnSp>
      <p:cxnSp>
        <p:nvCxnSpPr>
          <p:cNvPr id="7" name="Straight Arrow Connector 6">
            <a:extLst>
              <a:ext uri="{FF2B5EF4-FFF2-40B4-BE49-F238E27FC236}">
                <a16:creationId xmlns:a16="http://schemas.microsoft.com/office/drawing/2014/main" id="{1B7C42E2-C547-44B2-822A-449B3D2419C1}"/>
              </a:ext>
            </a:extLst>
          </p:cNvPr>
          <p:cNvCxnSpPr>
            <a:stCxn id="4" idx="3"/>
            <a:endCxn id="5" idx="1"/>
          </p:cNvCxnSpPr>
          <p:nvPr/>
        </p:nvCxnSpPr>
        <p:spPr>
          <a:xfrm>
            <a:off x="2657475" y="2343150"/>
            <a:ext cx="1762125" cy="0"/>
          </a:xfrm>
          <a:prstGeom prst="straightConnector1">
            <a:avLst/>
          </a:prstGeom>
          <a:ln w="19050">
            <a:solidFill>
              <a:srgbClr val="007B83"/>
            </a:solidFill>
            <a:prstDash val="solid"/>
            <a:tailEnd type="arrow" w="med" len="med"/>
          </a:ln>
        </p:spPr>
      </p:cxnSp>
      <p:sp>
        <p:nvSpPr>
          <p:cNvPr id="23" name="Task 1(c)">
            <a:extLst>
              <a:ext uri="{FF2B5EF4-FFF2-40B4-BE49-F238E27FC236}">
                <a16:creationId xmlns:a16="http://schemas.microsoft.com/office/drawing/2014/main" id="{B51A6CA9-DE7B-4AD9-A6B3-48D9BDD5C525}"/>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1(c)</a:t>
            </a:r>
          </a:p>
        </p:txBody>
      </p:sp>
      <p:sp>
        <p:nvSpPr>
          <p:cNvPr id="2" name="GPUDirect Storage and rotation">
            <a:extLst>
              <a:ext uri="{FF2B5EF4-FFF2-40B4-BE49-F238E27FC236}">
                <a16:creationId xmlns:a16="http://schemas.microsoft.com/office/drawing/2014/main" id="{D4196381-EFDB-402D-A902-0CFD0BF60806}"/>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GPUDirect Storage and rotation</a:t>
            </a:r>
          </a:p>
        </p:txBody>
      </p:sp>
      <p:sp>
        <p:nvSpPr>
          <p:cNvPr id="3" name="Conventional storage path">
            <a:extLst>
              <a:ext uri="{FF2B5EF4-FFF2-40B4-BE49-F238E27FC236}">
                <a16:creationId xmlns:a16="http://schemas.microsoft.com/office/drawing/2014/main" id="{7FC278DA-A457-4A36-B9CC-9D534FDF2F53}"/>
              </a:ext>
            </a:extLst>
          </p:cNvPr>
          <p:cNvSpPr>
            <a:spLocks noGrp="1"/>
          </p:cNvSpPr>
          <p:nvPr/>
        </p:nvSpPr>
        <p:spPr>
          <a:xfrm>
            <a:off x="609600" y="1524000"/>
            <a:ext cx="109728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Conventional storage path</a:t>
            </a:r>
          </a:p>
        </p:txBody>
      </p:sp>
      <p:sp>
        <p:nvSpPr>
          <p:cNvPr id="4" name="Rectangle 3">
            <a:extLst>
              <a:ext uri="{FF2B5EF4-FFF2-40B4-BE49-F238E27FC236}">
                <a16:creationId xmlns:a16="http://schemas.microsoft.com/office/drawing/2014/main" id="{439E7C80-F03C-408B-9E4F-BB4E739DAAED}"/>
              </a:ext>
            </a:extLst>
          </p:cNvPr>
          <p:cNvSpPr>
            <a:spLocks noGrp="1"/>
          </p:cNvSpPr>
          <p:nvPr/>
        </p:nvSpPr>
        <p:spPr>
          <a:xfrm>
            <a:off x="609600" y="1971675"/>
            <a:ext cx="2047875" cy="742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Storage</a:t>
            </a:r>
          </a:p>
        </p:txBody>
      </p:sp>
      <p:sp>
        <p:nvSpPr>
          <p:cNvPr id="5" name="Rectangle 4">
            <a:extLst>
              <a:ext uri="{FF2B5EF4-FFF2-40B4-BE49-F238E27FC236}">
                <a16:creationId xmlns:a16="http://schemas.microsoft.com/office/drawing/2014/main" id="{BFADEA50-C965-4075-A70A-FBF3AC3AF251}"/>
              </a:ext>
            </a:extLst>
          </p:cNvPr>
          <p:cNvSpPr>
            <a:spLocks noGrp="1"/>
          </p:cNvSpPr>
          <p:nvPr/>
        </p:nvSpPr>
        <p:spPr>
          <a:xfrm>
            <a:off x="4419600" y="1971675"/>
            <a:ext cx="2952750" cy="742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Host staging RAM</a:t>
            </a:r>
          </a:p>
        </p:txBody>
      </p:sp>
      <p:sp>
        <p:nvSpPr>
          <p:cNvPr id="6" name="Rectangle 5">
            <a:extLst>
              <a:ext uri="{FF2B5EF4-FFF2-40B4-BE49-F238E27FC236}">
                <a16:creationId xmlns:a16="http://schemas.microsoft.com/office/drawing/2014/main" id="{E5EA3F1A-33AA-44A6-A822-B881F9B3B2FA}"/>
              </a:ext>
            </a:extLst>
          </p:cNvPr>
          <p:cNvSpPr>
            <a:spLocks noGrp="1"/>
          </p:cNvSpPr>
          <p:nvPr/>
        </p:nvSpPr>
        <p:spPr>
          <a:xfrm>
            <a:off x="9277350" y="1971675"/>
            <a:ext cx="2305050" cy="742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9" name="storage read">
            <a:extLst>
              <a:ext uri="{FF2B5EF4-FFF2-40B4-BE49-F238E27FC236}">
                <a16:creationId xmlns:a16="http://schemas.microsoft.com/office/drawing/2014/main" id="{45DD8EAD-E7F0-4926-B3BE-A673EE4A8E4A}"/>
              </a:ext>
            </a:extLst>
          </p:cNvPr>
          <p:cNvSpPr>
            <a:spLocks noGrp="1"/>
          </p:cNvSpPr>
          <p:nvPr/>
        </p:nvSpPr>
        <p:spPr>
          <a:xfrm>
            <a:off x="2743200" y="2057400"/>
            <a:ext cx="1524000" cy="250698"/>
          </a:xfrm>
          <a:prstGeom prst="rect">
            <a:avLst/>
          </a:prstGeom>
          <a:noFill/>
          <a:ln w="0">
            <a:noFill/>
          </a:ln>
        </p:spPr>
        <p:txBody>
          <a:bodyPr wrap="square" lIns="0" tIns="0" rIns="0" bIns="0" anchor="t">
            <a:noAutofit/>
          </a:bodyPr>
          <a:lstStyle>
            <a:defPPr algn="ctr">
              <a:defRPr sz="1350" b="0">
                <a:solidFill>
                  <a:srgbClr val="142D45"/>
                </a:solidFill>
                <a:latin typeface="Arial"/>
                <a:ea typeface="Arial"/>
                <a:cs typeface="Arial"/>
              </a:defRPr>
            </a:defPPr>
          </a:lstStyle>
          <a:p>
            <a:pPr algn="ctr">
              <a:defRPr sz="1350" b="0">
                <a:solidFill>
                  <a:srgbClr val="142D45"/>
                </a:solidFill>
                <a:latin typeface="Arial"/>
                <a:ea typeface="Arial"/>
                <a:cs typeface="Arial"/>
              </a:defRPr>
            </a:pPr>
            <a:r>
              <a:rPr sz="1350" b="0">
                <a:solidFill>
                  <a:srgbClr val="142D45"/>
                </a:solidFill>
                <a:latin typeface="Arial"/>
                <a:ea typeface="Arial"/>
                <a:cs typeface="Arial"/>
              </a:rPr>
              <a:t>storage read</a:t>
            </a:r>
          </a:p>
        </p:txBody>
      </p:sp>
      <p:sp>
        <p:nvSpPr>
          <p:cNvPr id="10" name="H2D / PCIe">
            <a:extLst>
              <a:ext uri="{FF2B5EF4-FFF2-40B4-BE49-F238E27FC236}">
                <a16:creationId xmlns:a16="http://schemas.microsoft.com/office/drawing/2014/main" id="{3CD98643-98E3-4A67-B19B-7DF539A0B7DD}"/>
              </a:ext>
            </a:extLst>
          </p:cNvPr>
          <p:cNvSpPr>
            <a:spLocks noGrp="1"/>
          </p:cNvSpPr>
          <p:nvPr/>
        </p:nvSpPr>
        <p:spPr>
          <a:xfrm>
            <a:off x="7524750" y="2057400"/>
            <a:ext cx="1628775" cy="250698"/>
          </a:xfrm>
          <a:prstGeom prst="rect">
            <a:avLst/>
          </a:prstGeom>
          <a:noFill/>
          <a:ln w="0">
            <a:noFill/>
          </a:ln>
        </p:spPr>
        <p:txBody>
          <a:bodyPr wrap="square" lIns="0" tIns="0" rIns="0" bIns="0" anchor="t">
            <a:noAutofit/>
          </a:bodyPr>
          <a:lstStyle>
            <a:defPPr algn="ctr">
              <a:defRPr sz="1350" b="0">
                <a:solidFill>
                  <a:srgbClr val="142D45"/>
                </a:solidFill>
                <a:latin typeface="Arial"/>
                <a:ea typeface="Arial"/>
                <a:cs typeface="Arial"/>
              </a:defRPr>
            </a:defPPr>
          </a:lstStyle>
          <a:p>
            <a:pPr algn="ctr">
              <a:defRPr sz="1350" b="0">
                <a:solidFill>
                  <a:srgbClr val="142D45"/>
                </a:solidFill>
                <a:latin typeface="Arial"/>
                <a:ea typeface="Arial"/>
                <a:cs typeface="Arial"/>
              </a:defRPr>
            </a:pPr>
            <a:r>
              <a:rPr sz="1350" b="0">
                <a:solidFill>
                  <a:srgbClr val="142D45"/>
                </a:solidFill>
                <a:latin typeface="Arial"/>
                <a:ea typeface="Arial"/>
                <a:cs typeface="Arial"/>
              </a:rPr>
              <a:t>H2D / PCIe</a:t>
            </a:r>
          </a:p>
        </p:txBody>
      </p:sp>
      <p:sp>
        <p:nvSpPr>
          <p:cNvPr id="11" name="GDS direct path (supported configuration)">
            <a:extLst>
              <a:ext uri="{FF2B5EF4-FFF2-40B4-BE49-F238E27FC236}">
                <a16:creationId xmlns:a16="http://schemas.microsoft.com/office/drawing/2014/main" id="{BC61FAF6-D6BE-4914-B655-741EF4419709}"/>
              </a:ext>
            </a:extLst>
          </p:cNvPr>
          <p:cNvSpPr>
            <a:spLocks noGrp="1"/>
          </p:cNvSpPr>
          <p:nvPr/>
        </p:nvSpPr>
        <p:spPr>
          <a:xfrm>
            <a:off x="609600" y="2924175"/>
            <a:ext cx="76200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GDS direct path (supported configuration)</a:t>
            </a:r>
          </a:p>
        </p:txBody>
      </p:sp>
      <p:sp>
        <p:nvSpPr>
          <p:cNvPr id="12" name="Rectangle 11">
            <a:extLst>
              <a:ext uri="{FF2B5EF4-FFF2-40B4-BE49-F238E27FC236}">
                <a16:creationId xmlns:a16="http://schemas.microsoft.com/office/drawing/2014/main" id="{C80306E0-E074-49BA-9F46-8CB5E0169995}"/>
              </a:ext>
            </a:extLst>
          </p:cNvPr>
          <p:cNvSpPr>
            <a:spLocks noGrp="1"/>
          </p:cNvSpPr>
          <p:nvPr/>
        </p:nvSpPr>
        <p:spPr>
          <a:xfrm>
            <a:off x="609600" y="3333750"/>
            <a:ext cx="2476500" cy="8191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Storage-side DMA</a:t>
            </a:r>
          </a:p>
          <a:p>
            <a:pPr algn="ctr">
              <a:defRPr sz="1725">
                <a:solidFill>
                  <a:srgbClr val="142D45"/>
                </a:solidFill>
                <a:latin typeface="Arial"/>
                <a:ea typeface="Arial"/>
                <a:cs typeface="Arial"/>
              </a:defRPr>
            </a:pPr>
            <a:r>
              <a:rPr sz="1725">
                <a:solidFill>
                  <a:srgbClr val="142D45"/>
                </a:solidFill>
                <a:latin typeface="Arial"/>
                <a:ea typeface="Arial"/>
                <a:cs typeface="Arial"/>
              </a:rPr>
              <a:t>NVMe / NIC</a:t>
            </a:r>
          </a:p>
        </p:txBody>
      </p:sp>
      <p:sp>
        <p:nvSpPr>
          <p:cNvPr id="13" name="Rectangle 12">
            <a:extLst>
              <a:ext uri="{FF2B5EF4-FFF2-40B4-BE49-F238E27FC236}">
                <a16:creationId xmlns:a16="http://schemas.microsoft.com/office/drawing/2014/main" id="{0C16129D-246F-43F6-AEF1-ABEF641EF649}"/>
              </a:ext>
            </a:extLst>
          </p:cNvPr>
          <p:cNvSpPr>
            <a:spLocks noGrp="1"/>
          </p:cNvSpPr>
          <p:nvPr/>
        </p:nvSpPr>
        <p:spPr>
          <a:xfrm>
            <a:off x="9277350" y="3333750"/>
            <a:ext cx="2305050" cy="8191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memory</a:t>
            </a:r>
          </a:p>
        </p:txBody>
      </p:sp>
      <p:sp>
        <p:nvSpPr>
          <p:cNvPr id="15" name="PCIe data path bypasses host staging">
            <a:extLst>
              <a:ext uri="{FF2B5EF4-FFF2-40B4-BE49-F238E27FC236}">
                <a16:creationId xmlns:a16="http://schemas.microsoft.com/office/drawing/2014/main" id="{86073C1D-D775-4EAF-A39D-4A74192A933B}"/>
              </a:ext>
            </a:extLst>
          </p:cNvPr>
          <p:cNvSpPr>
            <a:spLocks noGrp="1"/>
          </p:cNvSpPr>
          <p:nvPr/>
        </p:nvSpPr>
        <p:spPr>
          <a:xfrm>
            <a:off x="3705225" y="3390900"/>
            <a:ext cx="4972050" cy="286131"/>
          </a:xfrm>
          <a:prstGeom prst="rect">
            <a:avLst/>
          </a:prstGeom>
          <a:noFill/>
          <a:ln w="0">
            <a:noFill/>
          </a:ln>
        </p:spPr>
        <p:txBody>
          <a:bodyPr wrap="square" lIns="0" tIns="0" rIns="0" bIns="0" anchor="t">
            <a:noAutofit/>
          </a:bodyPr>
          <a:lstStyle>
            <a:defPPr algn="ctr">
              <a:defRPr sz="1575" b="0">
                <a:solidFill>
                  <a:srgbClr val="142D45"/>
                </a:solidFill>
                <a:latin typeface="Arial"/>
                <a:ea typeface="Arial"/>
                <a:cs typeface="Arial"/>
              </a:defRPr>
            </a:defPPr>
          </a:lstStyle>
          <a:p>
            <a:pPr algn="ctr">
              <a:defRPr sz="1575" b="0">
                <a:solidFill>
                  <a:srgbClr val="142D45"/>
                </a:solidFill>
                <a:latin typeface="Arial"/>
                <a:ea typeface="Arial"/>
                <a:cs typeface="Arial"/>
              </a:defRPr>
            </a:pPr>
            <a:r>
              <a:rPr sz="1575" b="0">
                <a:solidFill>
                  <a:srgbClr val="142D45"/>
                </a:solidFill>
                <a:latin typeface="Arial"/>
                <a:ea typeface="Arial"/>
                <a:cs typeface="Arial"/>
              </a:rPr>
              <a:t>PCIe data path bypasses host staging</a:t>
            </a:r>
          </a:p>
        </p:txBody>
      </p:sp>
      <p:sp>
        <p:nvSpPr>
          <p:cNvPr id="16" name="CPU issues cuFile I/O. Fallback may stage through RAM; ">
            <a:extLst>
              <a:ext uri="{FF2B5EF4-FFF2-40B4-BE49-F238E27FC236}">
                <a16:creationId xmlns:a16="http://schemas.microsoft.com/office/drawing/2014/main" id="{57D0C703-F9F0-46C4-879F-064704A2CE83}"/>
              </a:ext>
            </a:extLst>
          </p:cNvPr>
          <p:cNvSpPr>
            <a:spLocks noGrp="1"/>
          </p:cNvSpPr>
          <p:nvPr/>
        </p:nvSpPr>
        <p:spPr>
          <a:xfrm>
            <a:off x="609600" y="4305300"/>
            <a:ext cx="109728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CPU issues cuFile I/O. Fallback may stage through RAM; GDS does not decode images or accelerate kernel</a:t>
            </a:r>
          </a:p>
          <a:p>
            <a:pPr algn="l">
              <a:defRPr sz="1650" b="0">
                <a:solidFill>
                  <a:srgbClr val="142D45"/>
                </a:solidFill>
                <a:latin typeface="Arial"/>
                <a:ea typeface="Arial"/>
                <a:cs typeface="Arial"/>
              </a:defRPr>
            </a:pPr>
            <a:r>
              <a:rPr sz="1650" b="0">
                <a:solidFill>
                  <a:srgbClr val="142D45"/>
                </a:solidFill>
                <a:latin typeface="Arial"/>
                <a:ea typeface="Arial"/>
                <a:cs typeface="Arial"/>
              </a:rPr>
              <a:t>arithmetic.</a:t>
            </a:r>
          </a:p>
        </p:txBody>
      </p:sp>
      <p:sp>
        <p:nvSpPr>
          <p:cNvPr id="17" name="Use conventional copies for CPU-decoded / already-in-RA">
            <a:extLst>
              <a:ext uri="{FF2B5EF4-FFF2-40B4-BE49-F238E27FC236}">
                <a16:creationId xmlns:a16="http://schemas.microsoft.com/office/drawing/2014/main" id="{06307678-2135-4989-99CF-A5EFC4BBE9C9}"/>
              </a:ext>
            </a:extLst>
          </p:cNvPr>
          <p:cNvSpPr>
            <a:spLocks noGrp="1"/>
          </p:cNvSpPr>
          <p:nvPr/>
        </p:nvSpPr>
        <p:spPr>
          <a:xfrm>
            <a:off x="609600" y="4924425"/>
            <a:ext cx="109728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Use conventional copies for CPU-decoded / already-in-RAM pixels. Consider GDS for storage-bound GPU-ready</a:t>
            </a:r>
          </a:p>
          <a:p>
            <a:pPr algn="l">
              <a:defRPr sz="1650" b="0">
                <a:solidFill>
                  <a:srgbClr val="142D45"/>
                </a:solidFill>
                <a:latin typeface="Arial"/>
                <a:ea typeface="Arial"/>
                <a:cs typeface="Arial"/>
              </a:defRPr>
            </a:pPr>
            <a:r>
              <a:rPr sz="1650" b="0">
                <a:solidFill>
                  <a:srgbClr val="142D45"/>
                </a:solidFill>
                <a:latin typeface="Arial"/>
                <a:ea typeface="Arial"/>
                <a:cs typeface="Arial"/>
              </a:rPr>
              <a:t>batches only with supported GPU/filesystem/driver/topology and lower completed batch time.</a:t>
            </a:r>
          </a:p>
        </p:txBody>
      </p:sp>
      <p:sp>
        <p:nvSpPr>
          <p:cNvPr id="18" name="Straight Connector 17">
            <a:extLst>
              <a:ext uri="{FF2B5EF4-FFF2-40B4-BE49-F238E27FC236}">
                <a16:creationId xmlns:a16="http://schemas.microsoft.com/office/drawing/2014/main" id="{8D4298F4-5EC1-4F86-8B3D-AF1B8E3DBFC8}"/>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9" name="GDS can reduce storage staging; it does not accelerate ">
            <a:extLst>
              <a:ext uri="{FF2B5EF4-FFF2-40B4-BE49-F238E27FC236}">
                <a16:creationId xmlns:a16="http://schemas.microsoft.com/office/drawing/2014/main" id="{8760107D-9C97-42FD-A14A-DD500DE2220F}"/>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GDS can reduce storage staging; it does not accelerate rotation arithmetic.</a:t>
            </a:r>
          </a:p>
        </p:txBody>
      </p:sp>
      <p:sp>
        <p:nvSpPr>
          <p:cNvPr id="20" name="Straight Connector 19">
            <a:extLst>
              <a:ext uri="{FF2B5EF4-FFF2-40B4-BE49-F238E27FC236}">
                <a16:creationId xmlns:a16="http://schemas.microsoft.com/office/drawing/2014/main" id="{9EF385B1-6357-4C6B-92BF-0E67B3FFEFAA}"/>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21" name="Sources: [3] NVIDIA GDS overview; [4] NVIDIA GDS design">
            <a:extLst>
              <a:ext uri="{FF2B5EF4-FFF2-40B4-BE49-F238E27FC236}">
                <a16:creationId xmlns:a16="http://schemas.microsoft.com/office/drawing/2014/main" id="{82242491-3406-4359-8DC7-E3853CEF721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22" name="6 / 46">
            <a:extLst>
              <a:ext uri="{FF2B5EF4-FFF2-40B4-BE49-F238E27FC236}">
                <a16:creationId xmlns:a16="http://schemas.microsoft.com/office/drawing/2014/main" id="{8BCF3FC8-931B-444D-B329-931C85EEBA6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6 / 48</a:t>
            </a:r>
          </a:p>
        </p:txBody>
      </p:sp>
    </p:spTree>
    <p:extLst>
      <p:ext uri="{BB962C8B-B14F-4D97-AF65-F5344CB8AC3E}">
        <p14:creationId xmlns:p14="http://schemas.microsoft.com/office/powerpoint/2010/main" val="154405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Task 2(a)">
            <a:extLst>
              <a:ext uri="{FF2B5EF4-FFF2-40B4-BE49-F238E27FC236}">
                <a16:creationId xmlns:a16="http://schemas.microsoft.com/office/drawing/2014/main" id="{7ACA68D8-2753-4CF2-9B9A-93A6534D14A1}"/>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2(a)</a:t>
            </a:r>
          </a:p>
        </p:txBody>
      </p:sp>
      <p:sp>
        <p:nvSpPr>
          <p:cNvPr id="2" name="Electricity demand and environmental costs">
            <a:extLst>
              <a:ext uri="{FF2B5EF4-FFF2-40B4-BE49-F238E27FC236}">
                <a16:creationId xmlns:a16="http://schemas.microsoft.com/office/drawing/2014/main" id="{A081F74E-7913-4940-81F7-3F0969AB8FD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Electricity demand and environmental costs</a:t>
            </a:r>
          </a:p>
        </p:txBody>
      </p:sp>
      <p:sp>
        <p:nvSpPr>
          <p:cNvPr id="3" name="Global data-centre electricity (TWh/year)">
            <a:extLst>
              <a:ext uri="{FF2B5EF4-FFF2-40B4-BE49-F238E27FC236}">
                <a16:creationId xmlns:a16="http://schemas.microsoft.com/office/drawing/2014/main" id="{C2A00A8D-829E-4D1F-98F9-567323CB974C}"/>
              </a:ext>
            </a:extLst>
          </p:cNvPr>
          <p:cNvSpPr>
            <a:spLocks noGrp="1"/>
          </p:cNvSpPr>
          <p:nvPr/>
        </p:nvSpPr>
        <p:spPr>
          <a:xfrm>
            <a:off x="609600" y="1438275"/>
            <a:ext cx="5257800" cy="309753"/>
          </a:xfrm>
          <a:prstGeom prst="rect">
            <a:avLst/>
          </a:prstGeom>
          <a:noFill/>
          <a:ln w="0">
            <a:noFill/>
          </a:ln>
        </p:spPr>
        <p:txBody>
          <a:bodyPr wrap="square" lIns="0" tIns="0" rIns="0" bIns="0" anchor="t">
            <a:noAutofit/>
          </a:bodyPr>
          <a:lstStyle>
            <a:defPPr algn="l">
              <a:defRPr sz="1725" b="1">
                <a:solidFill>
                  <a:srgbClr val="142D45"/>
                </a:solidFill>
                <a:latin typeface="Arial"/>
                <a:ea typeface="Arial"/>
                <a:cs typeface="Arial"/>
              </a:defRPr>
            </a:defPPr>
          </a:lstStyle>
          <a:p>
            <a:pPr algn="l">
              <a:defRPr sz="1725" b="1">
                <a:solidFill>
                  <a:srgbClr val="142D45"/>
                </a:solidFill>
                <a:latin typeface="Arial"/>
                <a:ea typeface="Arial"/>
                <a:cs typeface="Arial"/>
              </a:defRPr>
            </a:pPr>
            <a:r>
              <a:rPr sz="1725" b="1">
                <a:solidFill>
                  <a:srgbClr val="142D45"/>
                </a:solidFill>
                <a:latin typeface="Arial"/>
                <a:ea typeface="Arial"/>
                <a:cs typeface="Arial"/>
              </a:rPr>
              <a:t>Global data-centre electricity (TWh/year)</a:t>
            </a:r>
          </a:p>
        </p:txBody>
      </p:sp>
      <p:graphicFrame>
        <p:nvGraphicFramePr>
          <p:cNvPr id="4" name="Chart">
            <a:extLst>
              <a:ext uri="{FF2B5EF4-FFF2-40B4-BE49-F238E27FC236}">
                <a16:creationId xmlns:a16="http://schemas.microsoft.com/office/drawing/2014/main" id="{C5508891-6872-41C8-A33F-43D6029F08FC}"/>
              </a:ext>
            </a:extLst>
          </p:cNvPr>
          <p:cNvGraphicFramePr/>
          <p:nvPr/>
        </p:nvGraphicFramePr>
        <p:xfrm>
          <a:off x="609600" y="1876425"/>
          <a:ext cx="5257800" cy="2847975"/>
        </p:xfrm>
        <a:graphic>
          <a:graphicData uri="http://schemas.openxmlformats.org/drawingml/2006/chart">
            <c:chart xmlns:c="http://schemas.openxmlformats.org/drawingml/2006/chart" xmlns:r="http://schemas.openxmlformats.org/officeDocument/2006/relationships" r:id="rId3"/>
          </a:graphicData>
        </a:graphic>
      </p:graphicFrame>
      <p:sp>
        <p:nvSpPr>
          <p:cNvPr id="5" name="IEA [6]: whole-sector context, not one AI job. Estimate">
            <a:extLst>
              <a:ext uri="{FF2B5EF4-FFF2-40B4-BE49-F238E27FC236}">
                <a16:creationId xmlns:a16="http://schemas.microsoft.com/office/drawing/2014/main" id="{615C2464-6FB3-4BE4-BE14-C6BC22696C8E}"/>
              </a:ext>
            </a:extLst>
          </p:cNvPr>
          <p:cNvSpPr>
            <a:spLocks noGrp="1"/>
          </p:cNvSpPr>
          <p:nvPr/>
        </p:nvSpPr>
        <p:spPr>
          <a:xfrm>
            <a:off x="609600" y="4867275"/>
            <a:ext cx="5257800" cy="782193"/>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IEA [6]: whole-sector context, not one AI job. Estimate vs</a:t>
            </a:r>
          </a:p>
          <a:p>
            <a:pPr algn="l">
              <a:defRPr sz="1575" b="0">
                <a:solidFill>
                  <a:srgbClr val="142D45"/>
                </a:solidFill>
                <a:latin typeface="Arial"/>
                <a:ea typeface="Arial"/>
                <a:cs typeface="Arial"/>
              </a:defRPr>
            </a:pPr>
            <a:r>
              <a:rPr sz="1575" b="0">
                <a:solidFill>
                  <a:srgbClr val="142D45"/>
                </a:solidFill>
                <a:latin typeface="Arial"/>
                <a:ea typeface="Arial"/>
                <a:cs typeface="Arial"/>
              </a:rPr>
              <a:t>projection; ≈96% growth. Full growth charts are in the</a:t>
            </a:r>
          </a:p>
          <a:p>
            <a:pPr algn="l">
              <a:defRPr sz="1575" b="0">
                <a:solidFill>
                  <a:srgbClr val="142D45"/>
                </a:solidFill>
                <a:latin typeface="Arial"/>
                <a:ea typeface="Arial"/>
                <a:cs typeface="Arial"/>
              </a:defRPr>
            </a:pPr>
            <a:r>
              <a:rPr sz="1575" b="0">
                <a:solidFill>
                  <a:srgbClr val="142D45"/>
                </a:solidFill>
                <a:latin typeface="Arial"/>
                <a:ea typeface="Arial"/>
                <a:cs typeface="Arial"/>
              </a:rPr>
              <a:t>appendix.</a:t>
            </a:r>
          </a:p>
        </p:txBody>
      </p:sp>
      <p:sp>
        <p:nvSpPr>
          <p:cNvPr id="6" name="From cluster scaling to job-level impact">
            <a:extLst>
              <a:ext uri="{FF2B5EF4-FFF2-40B4-BE49-F238E27FC236}">
                <a16:creationId xmlns:a16="http://schemas.microsoft.com/office/drawing/2014/main" id="{A449CFC2-34BA-4157-BE16-3A8A86031F5A}"/>
              </a:ext>
            </a:extLst>
          </p:cNvPr>
          <p:cNvSpPr>
            <a:spLocks noGrp="1"/>
          </p:cNvSpPr>
          <p:nvPr/>
        </p:nvSpPr>
        <p:spPr>
          <a:xfrm>
            <a:off x="6419850" y="1514475"/>
            <a:ext cx="516255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From cluster scaling to job-level impact</a:t>
            </a:r>
          </a:p>
        </p:txBody>
      </p:sp>
      <p:sp>
        <p:nvSpPr>
          <p:cNvPr id="7" name="Data-parallel GPUs train different batches; gradient al">
            <a:extLst>
              <a:ext uri="{FF2B5EF4-FFF2-40B4-BE49-F238E27FC236}">
                <a16:creationId xmlns:a16="http://schemas.microsoft.com/office/drawing/2014/main" id="{550C520A-2CE3-4F38-99D6-289A804A2B1B}"/>
              </a:ext>
            </a:extLst>
          </p:cNvPr>
          <p:cNvSpPr>
            <a:spLocks noGrp="1"/>
          </p:cNvSpPr>
          <p:nvPr/>
        </p:nvSpPr>
        <p:spPr>
          <a:xfrm>
            <a:off x="6419850" y="2038350"/>
            <a:ext cx="51625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Data-parallel GPUs train different batches; gradient</a:t>
            </a:r>
          </a:p>
          <a:p>
            <a:pPr algn="l">
              <a:defRPr sz="1725" b="0">
                <a:solidFill>
                  <a:srgbClr val="142D45"/>
                </a:solidFill>
                <a:latin typeface="Arial"/>
                <a:ea typeface="Arial"/>
                <a:cs typeface="Arial"/>
              </a:defRPr>
            </a:pPr>
            <a:r>
              <a:rPr sz="1725" b="0">
                <a:solidFill>
                  <a:srgbClr val="142D45"/>
                </a:solidFill>
                <a:latin typeface="Arial"/>
                <a:ea typeface="Arial"/>
                <a:cs typeface="Arial"/>
              </a:rPr>
              <a:t>all-reduce synchronizes updates. Communication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and stragglers limit scaling.</a:t>
            </a:r>
          </a:p>
        </p:txBody>
      </p:sp>
      <p:sp>
        <p:nvSpPr>
          <p:cNvPr id="8" name="Energy = ∫ power dt; carbon ≈ Σ energy × local carbon i">
            <a:extLst>
              <a:ext uri="{FF2B5EF4-FFF2-40B4-BE49-F238E27FC236}">
                <a16:creationId xmlns:a16="http://schemas.microsoft.com/office/drawing/2014/main" id="{C8EB827F-D239-45C3-A666-4295C9E863F1}"/>
              </a:ext>
            </a:extLst>
          </p:cNvPr>
          <p:cNvSpPr>
            <a:spLocks noGrp="1"/>
          </p:cNvSpPr>
          <p:nvPr/>
        </p:nvSpPr>
        <p:spPr>
          <a:xfrm>
            <a:off x="6419850" y="3034284"/>
            <a:ext cx="51625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Energy = ∫ power dt; carbon ≈ Σ energy × local</a:t>
            </a:r>
          </a:p>
          <a:p>
            <a:pPr algn="l">
              <a:defRPr sz="1725" b="0">
                <a:solidFill>
                  <a:srgbClr val="142D45"/>
                </a:solidFill>
                <a:latin typeface="Arial"/>
                <a:ea typeface="Arial"/>
                <a:cs typeface="Arial"/>
              </a:defRPr>
            </a:pPr>
            <a:r>
              <a:rPr sz="1725" b="0">
                <a:solidFill>
                  <a:srgbClr val="142D45"/>
                </a:solidFill>
                <a:latin typeface="Arial"/>
                <a:ea typeface="Arial"/>
                <a:cs typeface="Arial"/>
              </a:rPr>
              <a:t>carbon intensity. Faster completion can still consume</a:t>
            </a:r>
          </a:p>
          <a:p>
            <a:pPr algn="l">
              <a:defRPr sz="1725" b="0">
                <a:solidFill>
                  <a:srgbClr val="142D45"/>
                </a:solidFill>
                <a:latin typeface="Arial"/>
                <a:ea typeface="Arial"/>
                <a:cs typeface="Arial"/>
              </a:defRPr>
            </a:pPr>
            <a:r>
              <a:rPr sz="1725" b="0">
                <a:solidFill>
                  <a:srgbClr val="142D45"/>
                </a:solidFill>
                <a:latin typeface="Arial"/>
                <a:ea typeface="Arial"/>
                <a:cs typeface="Arial"/>
              </a:rPr>
              <a:t>more energy.</a:t>
            </a:r>
          </a:p>
        </p:txBody>
      </p:sp>
      <p:sp>
        <p:nvSpPr>
          <p:cNvPr id="9" name="Count CPUs, network/storage, cooling, tuning and failed">
            <a:extLst>
              <a:ext uri="{FF2B5EF4-FFF2-40B4-BE49-F238E27FC236}">
                <a16:creationId xmlns:a16="http://schemas.microsoft.com/office/drawing/2014/main" id="{9FB35860-7576-499B-983D-D00B2553F9C1}"/>
              </a:ext>
            </a:extLst>
          </p:cNvPr>
          <p:cNvSpPr>
            <a:spLocks noGrp="1"/>
          </p:cNvSpPr>
          <p:nvPr/>
        </p:nvSpPr>
        <p:spPr>
          <a:xfrm>
            <a:off x="6419850" y="4030218"/>
            <a:ext cx="51625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Count CPUs, network/storage, cooling, tuning and</a:t>
            </a:r>
          </a:p>
          <a:p>
            <a:pPr algn="l">
              <a:defRPr sz="1725" b="0">
                <a:solidFill>
                  <a:srgbClr val="142D45"/>
                </a:solidFill>
                <a:latin typeface="Arial"/>
                <a:ea typeface="Arial"/>
                <a:cs typeface="Arial"/>
              </a:defRPr>
            </a:pPr>
            <a:r>
              <a:rPr sz="1725" b="0">
                <a:solidFill>
                  <a:srgbClr val="142D45"/>
                </a:solidFill>
                <a:latin typeface="Arial"/>
                <a:ea typeface="Arial"/>
                <a:cs typeface="Arial"/>
              </a:rPr>
              <a:t>failed runs. Water consumption varies by site/time;</a:t>
            </a:r>
          </a:p>
          <a:p>
            <a:pPr algn="l">
              <a:defRPr sz="1725" b="0">
                <a:solidFill>
                  <a:srgbClr val="142D45"/>
                </a:solidFill>
                <a:latin typeface="Arial"/>
                <a:ea typeface="Arial"/>
                <a:cs typeface="Arial"/>
              </a:defRPr>
            </a:pPr>
            <a:r>
              <a:rPr sz="1725" b="0">
                <a:solidFill>
                  <a:srgbClr val="142D45"/>
                </a:solidFill>
                <a:latin typeface="Arial"/>
                <a:ea typeface="Arial"/>
                <a:cs typeface="Arial"/>
              </a:rPr>
              <a:t>manufacture adds embodied impacts.</a:t>
            </a:r>
          </a:p>
        </p:txBody>
      </p:sp>
      <p:sp>
        <p:nvSpPr>
          <p:cNvPr id="10" name="Green AI [10]: efficiency per useful output. Li et al. ">
            <a:extLst>
              <a:ext uri="{FF2B5EF4-FFF2-40B4-BE49-F238E27FC236}">
                <a16:creationId xmlns:a16="http://schemas.microsoft.com/office/drawing/2014/main" id="{AE80EB6E-B5C5-4782-9AF6-CC60B6300E62}"/>
              </a:ext>
            </a:extLst>
          </p:cNvPr>
          <p:cNvSpPr>
            <a:spLocks noGrp="1"/>
          </p:cNvSpPr>
          <p:nvPr/>
        </p:nvSpPr>
        <p:spPr>
          <a:xfrm>
            <a:off x="609600" y="5772150"/>
            <a:ext cx="10972800" cy="504825"/>
          </a:xfrm>
          <a:prstGeom prst="rect">
            <a:avLst/>
          </a:prstGeom>
          <a:noFill/>
          <a:ln w="0">
            <a:noFill/>
          </a:ln>
        </p:spPr>
        <p:txBody>
          <a:bodyPr wrap="square" lIns="0" tIns="0" rIns="0" bIns="0" anchor="t">
            <a:noAutofit/>
          </a:bodyPr>
          <a:lstStyle>
            <a:defPPr algn="l">
              <a:defRPr sz="1575" b="1">
                <a:solidFill>
                  <a:srgbClr val="142D45"/>
                </a:solidFill>
                <a:latin typeface="Arial"/>
                <a:ea typeface="Arial"/>
                <a:cs typeface="Arial"/>
              </a:defRPr>
            </a:defPPr>
          </a:lstStyle>
          <a:p>
            <a:pPr algn="l">
              <a:defRPr sz="1575" b="1">
                <a:solidFill>
                  <a:srgbClr val="142D45"/>
                </a:solidFill>
                <a:latin typeface="Arial"/>
                <a:ea typeface="Arial"/>
                <a:cs typeface="Arial"/>
              </a:defRPr>
            </a:pPr>
            <a:r>
              <a:rPr sz="1575" b="1">
                <a:solidFill>
                  <a:srgbClr val="142D45"/>
                </a:solidFill>
                <a:latin typeface="Arial"/>
                <a:ea typeface="Arial"/>
                <a:cs typeface="Arial"/>
              </a:rPr>
              <a:t>Green AI [10]: efficiency per useful output. Li et al. [9]: local water pressure. Track both; lower carbon alone can</a:t>
            </a:r>
          </a:p>
          <a:p>
            <a:pPr algn="l">
              <a:defRPr sz="1575" b="1">
                <a:solidFill>
                  <a:srgbClr val="142D45"/>
                </a:solidFill>
                <a:latin typeface="Arial"/>
                <a:ea typeface="Arial"/>
                <a:cs typeface="Arial"/>
              </a:defRPr>
            </a:pPr>
            <a:r>
              <a:rPr sz="1575" b="1">
                <a:solidFill>
                  <a:srgbClr val="142D45"/>
                </a:solidFill>
                <a:latin typeface="Arial"/>
                <a:ea typeface="Arial"/>
                <a:cs typeface="Arial"/>
              </a:rPr>
              <a:t>miss water costs.</a:t>
            </a:r>
          </a:p>
        </p:txBody>
      </p:sp>
      <p:sp>
        <p:nvSpPr>
          <p:cNvPr id="11" name="Straight Connector 10">
            <a:extLst>
              <a:ext uri="{FF2B5EF4-FFF2-40B4-BE49-F238E27FC236}">
                <a16:creationId xmlns:a16="http://schemas.microsoft.com/office/drawing/2014/main" id="{6DFB7C9A-DF9F-4B15-B36B-E33DDB13BCD2}"/>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Sources: [6] IEA 2026: sector estimates and projection;">
            <a:extLst>
              <a:ext uri="{FF2B5EF4-FFF2-40B4-BE49-F238E27FC236}">
                <a16:creationId xmlns:a16="http://schemas.microsoft.com/office/drawing/2014/main" id="{7FA23271-02C6-4624-9A01-96BCACCA0F55}"/>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[9] Li et al. 2025 revision: water impacts; [10] Schwartz et al. 2019: efficiency reporting</a:t>
            </a:r>
          </a:p>
        </p:txBody>
      </p:sp>
      <p:sp>
        <p:nvSpPr>
          <p:cNvPr id="13" name="7 / 48">
            <a:extLst>
              <a:ext uri="{FF2B5EF4-FFF2-40B4-BE49-F238E27FC236}">
                <a16:creationId xmlns:a16="http://schemas.microsoft.com/office/drawing/2014/main" id="{063CD79A-ED3D-4203-8E52-58E786E8E19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7 / 48</a:t>
            </a:r>
          </a:p>
        </p:txBody>
      </p:sp>
    </p:spTree>
    <p:extLst>
      <p:ext uri="{BB962C8B-B14F-4D97-AF65-F5344CB8AC3E}">
        <p14:creationId xmlns:p14="http://schemas.microsoft.com/office/powerpoint/2010/main" val="1340424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AE82C4CA-B0D1-4E2A-86B7-343BBDEE063B}"/>
              </a:ext>
            </a:extLst>
          </p:cNvPr>
          <p:cNvCxnSpPr>
            <a:stCxn id="8" idx="2"/>
            <a:endCxn id="9" idx="0"/>
          </p:cNvCxnSpPr>
          <p:nvPr/>
        </p:nvCxnSpPr>
        <p:spPr>
          <a:xfrm>
            <a:off x="8953500" y="2886075"/>
            <a:ext cx="0" cy="542925"/>
          </a:xfrm>
          <a:prstGeom prst="straightConnector1">
            <a:avLst/>
          </a:prstGeom>
          <a:ln w="19050">
            <a:solidFill>
              <a:srgbClr val="007B83"/>
            </a:solidFill>
            <a:prstDash val="solid"/>
            <a:tailEnd type="arrow" w="med" len="med"/>
          </a:ln>
        </p:spPr>
      </p:cxnSp>
      <p:cxnSp>
        <p:nvCxnSpPr>
          <p:cNvPr id="7" name="Straight Arrow Connector 6">
            <a:extLst>
              <a:ext uri="{FF2B5EF4-FFF2-40B4-BE49-F238E27FC236}">
                <a16:creationId xmlns:a16="http://schemas.microsoft.com/office/drawing/2014/main" id="{E6778D23-1F13-47C2-B30E-42AF7AB95660}"/>
              </a:ext>
            </a:extLst>
          </p:cNvPr>
          <p:cNvCxnSpPr>
            <a:stCxn id="5" idx="2"/>
            <a:endCxn id="6" idx="0"/>
          </p:cNvCxnSpPr>
          <p:nvPr/>
        </p:nvCxnSpPr>
        <p:spPr>
          <a:xfrm>
            <a:off x="3219450" y="2886075"/>
            <a:ext cx="0" cy="542925"/>
          </a:xfrm>
          <a:prstGeom prst="straightConnector1">
            <a:avLst/>
          </a:prstGeom>
          <a:ln w="19050">
            <a:solidFill>
              <a:srgbClr val="007B83"/>
            </a:solidFill>
            <a:prstDash val="solid"/>
            <a:tailEnd type="arrow" w="med" len="med"/>
          </a:ln>
        </p:spPr>
      </p:cxnSp>
      <p:sp>
        <p:nvSpPr>
          <p:cNvPr id="19" name="Task 2(b)">
            <a:extLst>
              <a:ext uri="{FF2B5EF4-FFF2-40B4-BE49-F238E27FC236}">
                <a16:creationId xmlns:a16="http://schemas.microsoft.com/office/drawing/2014/main" id="{57E15CE3-F4C5-4E2E-A172-D612C3933790}"/>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2(b)</a:t>
            </a:r>
          </a:p>
        </p:txBody>
      </p:sp>
      <p:sp>
        <p:nvSpPr>
          <p:cNvPr id="2" name="Privacy, security and model fairness">
            <a:extLst>
              <a:ext uri="{FF2B5EF4-FFF2-40B4-BE49-F238E27FC236}">
                <a16:creationId xmlns:a16="http://schemas.microsoft.com/office/drawing/2014/main" id="{2FF3DB54-450B-497A-91FC-3533949584F5}"/>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Privacy, security and model fairness</a:t>
            </a:r>
          </a:p>
        </p:txBody>
      </p:sp>
      <p:sp>
        <p:nvSpPr>
          <p:cNvPr id="3" name="Security: protect distributed intermediates">
            <a:extLst>
              <a:ext uri="{FF2B5EF4-FFF2-40B4-BE49-F238E27FC236}">
                <a16:creationId xmlns:a16="http://schemas.microsoft.com/office/drawing/2014/main" id="{D30B05BB-6AD5-42EE-ABFD-E4DC0F1D1BE3}"/>
              </a:ext>
            </a:extLst>
          </p:cNvPr>
          <p:cNvSpPr>
            <a:spLocks noGrp="1"/>
          </p:cNvSpPr>
          <p:nvPr/>
        </p:nvSpPr>
        <p:spPr>
          <a:xfrm>
            <a:off x="609600" y="1504950"/>
            <a:ext cx="523875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Security: protect distributed intermediates</a:t>
            </a:r>
          </a:p>
        </p:txBody>
      </p:sp>
      <p:sp>
        <p:nvSpPr>
          <p:cNvPr id="4" name="Fairness: evaluate affected groups">
            <a:extLst>
              <a:ext uri="{FF2B5EF4-FFF2-40B4-BE49-F238E27FC236}">
                <a16:creationId xmlns:a16="http://schemas.microsoft.com/office/drawing/2014/main" id="{63D22827-DF65-40AF-92A6-7ECACDB914C1}"/>
              </a:ext>
            </a:extLst>
          </p:cNvPr>
          <p:cNvSpPr>
            <a:spLocks noGrp="1"/>
          </p:cNvSpPr>
          <p:nvPr/>
        </p:nvSpPr>
        <p:spPr>
          <a:xfrm>
            <a:off x="6324600" y="1504950"/>
            <a:ext cx="52578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Fairness: evaluate affected groups</a:t>
            </a:r>
          </a:p>
        </p:txBody>
      </p:sp>
      <p:sp>
        <p:nvSpPr>
          <p:cNvPr id="5" name="Rectangle 4">
            <a:extLst>
              <a:ext uri="{FF2B5EF4-FFF2-40B4-BE49-F238E27FC236}">
                <a16:creationId xmlns:a16="http://schemas.microsoft.com/office/drawing/2014/main" id="{DF10E430-5AB3-49C0-A1B6-3E1AD966874A}"/>
              </a:ext>
            </a:extLst>
          </p:cNvPr>
          <p:cNvSpPr>
            <a:spLocks noGrp="1"/>
          </p:cNvSpPr>
          <p:nvPr/>
        </p:nvSpPr>
        <p:spPr>
          <a:xfrm>
            <a:off x="609600" y="2009775"/>
            <a:ext cx="5219700" cy="8763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Workers exchange gradients</a:t>
            </a:r>
          </a:p>
          <a:p>
            <a:pPr algn="ctr">
              <a:defRPr sz="1725">
                <a:solidFill>
                  <a:srgbClr val="142D45"/>
                </a:solidFill>
                <a:latin typeface="Arial"/>
                <a:ea typeface="Arial"/>
                <a:cs typeface="Arial"/>
              </a:defRPr>
            </a:pPr>
            <a:r>
              <a:rPr sz="1725">
                <a:solidFill>
                  <a:srgbClr val="142D45"/>
                </a:solidFill>
                <a:latin typeface="Arial"/>
                <a:ea typeface="Arial"/>
                <a:cs typeface="Arial"/>
              </a:rPr>
              <a:t>and save checkpoints</a:t>
            </a:r>
          </a:p>
        </p:txBody>
      </p:sp>
      <p:sp>
        <p:nvSpPr>
          <p:cNvPr id="6" name="Rectangle 5">
            <a:extLst>
              <a:ext uri="{FF2B5EF4-FFF2-40B4-BE49-F238E27FC236}">
                <a16:creationId xmlns:a16="http://schemas.microsoft.com/office/drawing/2014/main" id="{0C56EC5E-692D-463A-AC9C-50073AC5EB8C}"/>
              </a:ext>
            </a:extLst>
          </p:cNvPr>
          <p:cNvSpPr>
            <a:spLocks noGrp="1"/>
          </p:cNvSpPr>
          <p:nvPr/>
        </p:nvSpPr>
        <p:spPr>
          <a:xfrm>
            <a:off x="609600" y="3429000"/>
            <a:ext cx="5219700" cy="8763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Least privilege, isolation,</a:t>
            </a:r>
          </a:p>
          <a:p>
            <a:pPr algn="ctr">
              <a:defRPr sz="1725">
                <a:solidFill>
                  <a:srgbClr val="142D45"/>
                </a:solidFill>
                <a:latin typeface="Arial"/>
                <a:ea typeface="Arial"/>
                <a:cs typeface="Arial"/>
              </a:defRPr>
            </a:pPr>
            <a:r>
              <a:rPr sz="1725">
                <a:solidFill>
                  <a:srgbClr val="142D45"/>
                </a:solidFill>
                <a:latin typeface="Arial"/>
                <a:ea typeface="Arial"/>
                <a:cs typeface="Arial"/>
              </a:rPr>
              <a:t>protected transport/storage</a:t>
            </a:r>
          </a:p>
        </p:txBody>
      </p:sp>
      <p:sp>
        <p:nvSpPr>
          <p:cNvPr id="8" name="Rectangle 7">
            <a:extLst>
              <a:ext uri="{FF2B5EF4-FFF2-40B4-BE49-F238E27FC236}">
                <a16:creationId xmlns:a16="http://schemas.microsoft.com/office/drawing/2014/main" id="{89176ED3-EFF6-46F6-83E4-A6D8A4D6CE97}"/>
              </a:ext>
            </a:extLst>
          </p:cNvPr>
          <p:cNvSpPr>
            <a:spLocks noGrp="1"/>
          </p:cNvSpPr>
          <p:nvPr/>
        </p:nvSpPr>
        <p:spPr>
          <a:xfrm>
            <a:off x="6324600" y="2009775"/>
            <a:ext cx="5257800" cy="8763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Example: cluster-trained multilingual LLM</a:t>
            </a:r>
          </a:p>
          <a:p>
            <a:pPr algn="ctr">
              <a:defRPr sz="1725">
                <a:solidFill>
                  <a:srgbClr val="142D45"/>
                </a:solidFill>
                <a:latin typeface="Arial"/>
                <a:ea typeface="Arial"/>
                <a:cs typeface="Arial"/>
              </a:defRPr>
            </a:pPr>
            <a:r>
              <a:rPr sz="1725">
                <a:solidFill>
                  <a:srgbClr val="142D45"/>
                </a:solidFill>
                <a:latin typeface="Arial"/>
                <a:ea typeface="Arial"/>
                <a:cs typeface="Arial"/>
              </a:rPr>
              <a:t>coverage/harms differ by language</a:t>
            </a:r>
          </a:p>
        </p:txBody>
      </p:sp>
      <p:sp>
        <p:nvSpPr>
          <p:cNvPr id="9" name="Rectangle 8">
            <a:extLst>
              <a:ext uri="{FF2B5EF4-FFF2-40B4-BE49-F238E27FC236}">
                <a16:creationId xmlns:a16="http://schemas.microsoft.com/office/drawing/2014/main" id="{410E2DDB-A3D2-409B-AA04-41E1F2C0E1B7}"/>
              </a:ext>
            </a:extLst>
          </p:cNvPr>
          <p:cNvSpPr>
            <a:spLocks noGrp="1"/>
          </p:cNvSpPr>
          <p:nvPr/>
        </p:nvSpPr>
        <p:spPr>
          <a:xfrm>
            <a:off x="6324600" y="3429000"/>
            <a:ext cx="5257800" cy="8763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Compare harmful-output rates by language</a:t>
            </a:r>
          </a:p>
          <a:p>
            <a:pPr algn="ctr">
              <a:defRPr sz="1725">
                <a:solidFill>
                  <a:srgbClr val="142D45"/>
                </a:solidFill>
                <a:latin typeface="Arial"/>
                <a:ea typeface="Arial"/>
                <a:cs typeface="Arial"/>
              </a:defRPr>
            </a:pPr>
            <a:r>
              <a:rPr sz="1725">
                <a:solidFill>
                  <a:srgbClr val="142D45"/>
                </a:solidFill>
                <a:latin typeface="Arial"/>
                <a:ea typeface="Arial"/>
                <a:cs typeface="Arial"/>
              </a:rPr>
              <a:t>+ uncertainty, data-coverage fixes, reevaluation</a:t>
            </a:r>
          </a:p>
        </p:txBody>
      </p:sp>
      <p:sp>
        <p:nvSpPr>
          <p:cNvPr id="11" name="Zhu et al. [11]: input reconstruction from exposed grad">
            <a:extLst>
              <a:ext uri="{FF2B5EF4-FFF2-40B4-BE49-F238E27FC236}">
                <a16:creationId xmlns:a16="http://schemas.microsoft.com/office/drawing/2014/main" id="{AE7F831C-C356-4908-BC6A-2C3168A819CA}"/>
              </a:ext>
            </a:extLst>
          </p:cNvPr>
          <p:cNvSpPr>
            <a:spLocks noGrp="1"/>
          </p:cNvSpPr>
          <p:nvPr/>
        </p:nvSpPr>
        <p:spPr>
          <a:xfrm>
            <a:off x="609600" y="4524375"/>
            <a:ext cx="5219700" cy="782193"/>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Zhu et al. [11]: input reconstruction from exposed</a:t>
            </a:r>
          </a:p>
          <a:p>
            <a:pPr algn="l">
              <a:defRPr sz="1575" b="0">
                <a:solidFill>
                  <a:srgbClr val="142D45"/>
                </a:solidFill>
                <a:latin typeface="Arial"/>
                <a:ea typeface="Arial"/>
                <a:cs typeface="Arial"/>
              </a:defRPr>
            </a:pPr>
            <a:r>
              <a:rPr sz="1575" b="0">
                <a:solidFill>
                  <a:srgbClr val="142D45"/>
                </a:solidFill>
                <a:latin typeface="Arial"/>
                <a:ea typeface="Arial"/>
                <a:cs typeface="Arial"/>
              </a:rPr>
              <a:t>gradients in studied settings. Protect intermediates; not</a:t>
            </a:r>
          </a:p>
          <a:p>
            <a:pPr algn="l">
              <a:defRPr sz="1575" b="0">
                <a:solidFill>
                  <a:srgbClr val="142D45"/>
                </a:solidFill>
                <a:latin typeface="Arial"/>
                <a:ea typeface="Arial"/>
                <a:cs typeface="Arial"/>
              </a:defRPr>
            </a:pPr>
            <a:r>
              <a:rPr sz="1575" b="0">
                <a:solidFill>
                  <a:srgbClr val="142D45"/>
                </a:solidFill>
                <a:latin typeface="Arial"/>
                <a:ea typeface="Arial"/>
                <a:cs typeface="Arial"/>
              </a:rPr>
              <a:t>every collective leaks.</a:t>
            </a:r>
          </a:p>
        </p:txBody>
      </p:sp>
      <p:sp>
        <p:nvSpPr>
          <p:cNvPr id="12" name="Gallegos et al. [12]: metrics/datasets/mitigations diff">
            <a:extLst>
              <a:ext uri="{FF2B5EF4-FFF2-40B4-BE49-F238E27FC236}">
                <a16:creationId xmlns:a16="http://schemas.microsoft.com/office/drawing/2014/main" id="{8CA623C4-BD57-4852-89BD-74469A4AFC5B}"/>
              </a:ext>
            </a:extLst>
          </p:cNvPr>
          <p:cNvSpPr>
            <a:spLocks noGrp="1"/>
          </p:cNvSpPr>
          <p:nvPr/>
        </p:nvSpPr>
        <p:spPr>
          <a:xfrm>
            <a:off x="6324600" y="4524375"/>
            <a:ext cx="5257800" cy="782193"/>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Gallegos et al. [12]: metrics/datasets/mitigations differ.</a:t>
            </a:r>
          </a:p>
          <a:p>
            <a:pPr algn="l">
              <a:defRPr sz="1575" b="0">
                <a:solidFill>
                  <a:srgbClr val="142D45"/>
                </a:solidFill>
                <a:latin typeface="Arial"/>
                <a:ea typeface="Arial"/>
                <a:cs typeface="Arial"/>
              </a:defRPr>
            </a:pPr>
            <a:r>
              <a:rPr sz="1575" b="0">
                <a:solidFill>
                  <a:srgbClr val="142D45"/>
                </a:solidFill>
                <a:latin typeface="Arial"/>
                <a:ea typeface="Arial"/>
                <a:cs typeface="Arial"/>
              </a:rPr>
              <a:t>Reserve evaluation compute; GPU count cannot fix</a:t>
            </a:r>
          </a:p>
          <a:p>
            <a:pPr algn="l">
              <a:defRPr sz="1575" b="0">
                <a:solidFill>
                  <a:srgbClr val="142D45"/>
                </a:solidFill>
                <a:latin typeface="Arial"/>
                <a:ea typeface="Arial"/>
                <a:cs typeface="Arial"/>
              </a:defRPr>
            </a:pPr>
            <a:r>
              <a:rPr sz="1575" b="0">
                <a:solidFill>
                  <a:srgbClr val="142D45"/>
                </a:solidFill>
                <a:latin typeface="Arial"/>
                <a:ea typeface="Arial"/>
                <a:cs typeface="Arial"/>
              </a:rPr>
              <a:t>unrepresentative data.</a:t>
            </a:r>
          </a:p>
        </p:txBody>
      </p:sp>
      <p:sp>
        <p:nvSpPr>
          <p:cNvPr id="13" name="Governance: provenance, permission, replica retention/d">
            <a:extLst>
              <a:ext uri="{FF2B5EF4-FFF2-40B4-BE49-F238E27FC236}">
                <a16:creationId xmlns:a16="http://schemas.microsoft.com/office/drawing/2014/main" id="{CC352EFE-BC7F-4DAF-9BCE-6163C13CD558}"/>
              </a:ext>
            </a:extLst>
          </p:cNvPr>
          <p:cNvSpPr>
            <a:spLocks noGrp="1"/>
          </p:cNvSpPr>
          <p:nvPr/>
        </p:nvSpPr>
        <p:spPr>
          <a:xfrm>
            <a:off x="609600" y="5353050"/>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Governance: provenance, permission, replica retention/deletion and dual-use review; named data/security owners.</a:t>
            </a:r>
          </a:p>
        </p:txBody>
      </p:sp>
      <p:sp>
        <p:nvSpPr>
          <p:cNvPr id="14" name="Straight Connector 13">
            <a:extLst>
              <a:ext uri="{FF2B5EF4-FFF2-40B4-BE49-F238E27FC236}">
                <a16:creationId xmlns:a16="http://schemas.microsoft.com/office/drawing/2014/main" id="{A8CCD77F-FD9C-445D-810C-BFEBCB6E4DD3}"/>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5" name="Protect distributed data and evaluate harms; more compu">
            <a:extLst>
              <a:ext uri="{FF2B5EF4-FFF2-40B4-BE49-F238E27FC236}">
                <a16:creationId xmlns:a16="http://schemas.microsoft.com/office/drawing/2014/main" id="{7FC3DCCB-ACF2-4A5F-A1E6-D6A45FDFCA87}"/>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Protect distributed data and evaluate harms; more compute is not a fairness guarantee.</a:t>
            </a:r>
          </a:p>
        </p:txBody>
      </p:sp>
      <p:sp>
        <p:nvSpPr>
          <p:cNvPr id="16" name="Straight Connector 15">
            <a:extLst>
              <a:ext uri="{FF2B5EF4-FFF2-40B4-BE49-F238E27FC236}">
                <a16:creationId xmlns:a16="http://schemas.microsoft.com/office/drawing/2014/main" id="{D8A8C0AA-D79A-4C45-944E-60FA56549790}"/>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7" name="Sources: [11] Zhu et al. 2019: exposed gradients; [12] ">
            <a:extLst>
              <a:ext uri="{FF2B5EF4-FFF2-40B4-BE49-F238E27FC236}">
                <a16:creationId xmlns:a16="http://schemas.microsoft.com/office/drawing/2014/main" id="{E7B338C7-8CC7-4246-B6C9-4DD35AE1980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[12] Gallegos et al. 2024: fairness evaluation; [15] OECD: rights, fairness and accountability; [16] NIST: Govern, Map, Measure,</a:t>
            </a:r>
          </a:p>
          <a:p>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8" name="8 / 48">
            <a:extLst>
              <a:ext uri="{FF2B5EF4-FFF2-40B4-BE49-F238E27FC236}">
                <a16:creationId xmlns:a16="http://schemas.microsoft.com/office/drawing/2014/main" id="{87047A7D-6C96-4BD1-BAE2-B07C7A16FB5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8 / 48</a:t>
            </a:r>
          </a:p>
        </p:txBody>
      </p:sp>
    </p:spTree>
    <p:extLst>
      <p:ext uri="{BB962C8B-B14F-4D97-AF65-F5344CB8AC3E}">
        <p14:creationId xmlns:p14="http://schemas.microsoft.com/office/powerpoint/2010/main" val="1039848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Task 2(c) • Access and socioeconomic impact">
            <a:extLst>
              <a:ext uri="{FF2B5EF4-FFF2-40B4-BE49-F238E27FC236}">
                <a16:creationId xmlns:a16="http://schemas.microsoft.com/office/drawing/2014/main" id="{57ECE86C-6EE0-4937-BCBE-46234DFDB4A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2(c) • Access and socioeconomic impact</a:t>
            </a:r>
          </a:p>
        </p:txBody>
      </p:sp>
      <p:sp>
        <p:nvSpPr>
          <p:cNvPr id="2" name="Compute concentration limits participation">
            <a:extLst>
              <a:ext uri="{FF2B5EF4-FFF2-40B4-BE49-F238E27FC236}">
                <a16:creationId xmlns:a16="http://schemas.microsoft.com/office/drawing/2014/main" id="{0F21B36B-77D6-433A-94E7-6F8712D37BE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Compute concentration limits participation</a:t>
            </a:r>
          </a:p>
        </p:txBody>
      </p:sp>
      <p:sp>
        <p:nvSpPr>
          <p:cNvPr id="3" name="Evidence and consequences">
            <a:extLst>
              <a:ext uri="{FF2B5EF4-FFF2-40B4-BE49-F238E27FC236}">
                <a16:creationId xmlns:a16="http://schemas.microsoft.com/office/drawing/2014/main" id="{C96CCDCE-44B6-4963-B6F4-9F797BFBF225}"/>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Evidence and consequences</a:t>
            </a:r>
          </a:p>
        </p:txBody>
      </p:sp>
      <p:sp>
        <p:nvSpPr>
          <p:cNvPr id="4" name="Ahmed &amp; Wahed [13]: institutional participation. Strube">
            <a:extLst>
              <a:ext uri="{FF2B5EF4-FFF2-40B4-BE49-F238E27FC236}">
                <a16:creationId xmlns:a16="http://schemas.microsoft.com/office/drawing/2014/main" id="{CED903BD-6CD8-458F-885E-56FAAE3CB3C6}"/>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Ahmed &amp; Wahed [13]: institutional participation.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Strubell et al. [8]: workload cost. Different scopes</a:t>
            </a:r>
          </a:p>
          <a:p>
            <a:pPr algn="l">
              <a:defRPr sz="1725" b="0">
                <a:solidFill>
                  <a:srgbClr val="142D45"/>
                </a:solidFill>
                <a:latin typeface="Arial"/>
                <a:ea typeface="Arial"/>
                <a:cs typeface="Arial"/>
              </a:defRPr>
            </a:pPr>
            <a:r>
              <a:rPr sz="1725" b="0">
                <a:solidFill>
                  <a:srgbClr val="142D45"/>
                </a:solidFill>
                <a:latin typeface="Arial"/>
                <a:ea typeface="Arial"/>
                <a:cs typeface="Arial"/>
              </a:rPr>
              <a:t>reveal who can train, replicate and shape the AI</a:t>
            </a:r>
          </a:p>
          <a:p>
            <a:pPr algn="l">
              <a:defRPr sz="1725" b="0">
                <a:solidFill>
                  <a:srgbClr val="142D45"/>
                </a:solidFill>
                <a:latin typeface="Arial"/>
                <a:ea typeface="Arial"/>
                <a:cs typeface="Arial"/>
              </a:defRPr>
            </a:pPr>
            <a:r>
              <a:rPr sz="1725" b="0">
                <a:solidFill>
                  <a:srgbClr val="142D45"/>
                </a:solidFill>
                <a:latin typeface="Arial"/>
                <a:ea typeface="Arial"/>
                <a:cs typeface="Arial"/>
              </a:rPr>
              <a:t>research agenda.</a:t>
            </a:r>
          </a:p>
        </p:txBody>
      </p:sp>
      <p:sp>
        <p:nvSpPr>
          <p:cNvPr id="5" name="Historical studies do not establish current global acce">
            <a:extLst>
              <a:ext uri="{FF2B5EF4-FFF2-40B4-BE49-F238E27FC236}">
                <a16:creationId xmlns:a16="http://schemas.microsoft.com/office/drawing/2014/main" id="{FDB2028B-0BA4-455F-8BC1-125CB46C6807}"/>
              </a:ext>
            </a:extLst>
          </p:cNvPr>
          <p:cNvSpPr>
            <a:spLocks noGrp="1"/>
          </p:cNvSpPr>
          <p:nvPr/>
        </p:nvSpPr>
        <p:spPr>
          <a:xfrm>
            <a:off x="609600" y="3267837"/>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Historical studies do not establish current global</a:t>
            </a:r>
          </a:p>
          <a:p>
            <a:pPr algn="l">
              <a:defRPr sz="1725" b="0">
                <a:solidFill>
                  <a:srgbClr val="142D45"/>
                </a:solidFill>
                <a:latin typeface="Arial"/>
                <a:ea typeface="Arial"/>
                <a:cs typeface="Arial"/>
              </a:defRPr>
            </a:pPr>
            <a:r>
              <a:rPr sz="1725" b="0">
                <a:solidFill>
                  <a:srgbClr val="142D45"/>
                </a:solidFill>
                <a:latin typeface="Arial"/>
                <a:ea typeface="Arial"/>
                <a:cs typeface="Arial"/>
              </a:rPr>
              <a:t>access.</a:t>
            </a:r>
          </a:p>
        </p:txBody>
      </p:sp>
      <p:sp>
        <p:nvSpPr>
          <p:cNvPr id="6" name="NAIRR: &gt;600 teams and &gt;6,000 students [7]; US reach doe">
            <a:extLst>
              <a:ext uri="{FF2B5EF4-FFF2-40B4-BE49-F238E27FC236}">
                <a16:creationId xmlns:a16="http://schemas.microsoft.com/office/drawing/2014/main" id="{01FB47C5-6005-49E9-8113-822A287D9546}"/>
              </a:ext>
            </a:extLst>
          </p:cNvPr>
          <p:cNvSpPr>
            <a:spLocks noGrp="1"/>
          </p:cNvSpPr>
          <p:nvPr/>
        </p:nvSpPr>
        <p:spPr>
          <a:xfrm>
            <a:off x="609600" y="4020693"/>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NAIRR: &gt;600 teams and &gt;6,000 students [7]; US</a:t>
            </a:r>
          </a:p>
          <a:p>
            <a:pPr algn="l">
              <a:defRPr sz="1725" b="0">
                <a:solidFill>
                  <a:srgbClr val="142D45"/>
                </a:solidFill>
                <a:latin typeface="Arial"/>
                <a:ea typeface="Arial"/>
                <a:cs typeface="Arial"/>
              </a:defRPr>
            </a:pPr>
            <a:r>
              <a:rPr sz="1725" b="0">
                <a:solidFill>
                  <a:srgbClr val="142D45"/>
                </a:solidFill>
                <a:latin typeface="Arial"/>
                <a:ea typeface="Arial"/>
                <a:cs typeface="Arial"/>
              </a:rPr>
              <a:t>reach does not establish worldwide equality.</a:t>
            </a:r>
          </a:p>
        </p:txBody>
      </p:sp>
      <p:sp>
        <p:nvSpPr>
          <p:cNvPr id="7" name="An equitable shared-cluster policy">
            <a:extLst>
              <a:ext uri="{FF2B5EF4-FFF2-40B4-BE49-F238E27FC236}">
                <a16:creationId xmlns:a16="http://schemas.microsoft.com/office/drawing/2014/main" id="{85147786-C7ED-45A8-817A-51ABC611886E}"/>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An equitable shared-cluster policy</a:t>
            </a:r>
          </a:p>
        </p:txBody>
      </p:sp>
      <p:sp>
        <p:nvSpPr>
          <p:cNvPr id="8" name="Publish GPU-hour rules; reserve capacity for smaller in">
            <a:extLst>
              <a:ext uri="{FF2B5EF4-FFF2-40B4-BE49-F238E27FC236}">
                <a16:creationId xmlns:a16="http://schemas.microsoft.com/office/drawing/2014/main" id="{3176E7B1-5823-4F60-A128-EFCCD519D8E7}"/>
              </a:ext>
            </a:extLst>
          </p:cNvPr>
          <p:cNvSpPr>
            <a:spLocks noGrp="1"/>
          </p:cNvSpPr>
          <p:nvPr/>
        </p:nvSpPr>
        <p:spPr>
          <a:xfrm>
            <a:off x="6419850" y="1971675"/>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Publish GPU-hour rules; reserve capacity for</a:t>
            </a:r>
          </a:p>
          <a:p>
            <a:pPr algn="l">
              <a:defRPr sz="1725" b="0">
                <a:solidFill>
                  <a:srgbClr val="142D45"/>
                </a:solidFill>
                <a:latin typeface="Arial"/>
                <a:ea typeface="Arial"/>
                <a:cs typeface="Arial"/>
              </a:defRPr>
            </a:pPr>
            <a:r>
              <a:rPr sz="1725" b="0">
                <a:solidFill>
                  <a:srgbClr val="142D45"/>
                </a:solidFill>
                <a:latin typeface="Arial"/>
                <a:ea typeface="Arial"/>
                <a:cs typeface="Arial"/>
              </a:rPr>
              <a:t>smaller institutions and replication.</a:t>
            </a:r>
          </a:p>
        </p:txBody>
      </p:sp>
      <p:sp>
        <p:nvSpPr>
          <p:cNvPr id="9" name="Offer training and appeals; audit waiting times and awa">
            <a:extLst>
              <a:ext uri="{FF2B5EF4-FFF2-40B4-BE49-F238E27FC236}">
                <a16:creationId xmlns:a16="http://schemas.microsoft.com/office/drawing/2014/main" id="{E7176550-3CDE-4511-8A4E-C3A34F67D7B4}"/>
              </a:ext>
            </a:extLst>
          </p:cNvPr>
          <p:cNvSpPr>
            <a:spLocks noGrp="1"/>
          </p:cNvSpPr>
          <p:nvPr/>
        </p:nvSpPr>
        <p:spPr>
          <a:xfrm>
            <a:off x="6419850" y="2724531"/>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Offer training and appeals; audit waiting times and</a:t>
            </a:r>
          </a:p>
          <a:p>
            <a:pPr algn="l">
              <a:defRPr sz="1725" b="0">
                <a:solidFill>
                  <a:srgbClr val="142D45"/>
                </a:solidFill>
                <a:latin typeface="Arial"/>
                <a:ea typeface="Arial"/>
                <a:cs typeface="Arial"/>
              </a:defRPr>
            </a:pPr>
            <a:r>
              <a:rPr sz="1725" b="0">
                <a:solidFill>
                  <a:srgbClr val="142D45"/>
                </a:solidFill>
                <a:latin typeface="Arial"/>
                <a:ea typeface="Arial"/>
                <a:cs typeface="Arial"/>
              </a:rPr>
              <a:t>awards with privacy safeguards.</a:t>
            </a:r>
          </a:p>
        </p:txBody>
      </p:sp>
      <p:sp>
        <p:nvSpPr>
          <p:cNvPr id="10" name="Trade-off: reservations can lower utilization or delay ">
            <a:extLst>
              <a:ext uri="{FF2B5EF4-FFF2-40B4-BE49-F238E27FC236}">
                <a16:creationId xmlns:a16="http://schemas.microsoft.com/office/drawing/2014/main" id="{B8D90ACE-FB7B-4DDA-8EC8-3DA931E941DC}"/>
              </a:ext>
            </a:extLst>
          </p:cNvPr>
          <p:cNvSpPr>
            <a:spLocks noGrp="1"/>
          </p:cNvSpPr>
          <p:nvPr/>
        </p:nvSpPr>
        <p:spPr>
          <a:xfrm>
            <a:off x="6419850" y="3477387"/>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Trade-off: reservations can lower utilization or delay</a:t>
            </a:r>
          </a:p>
          <a:p>
            <a:pPr algn="l">
              <a:defRPr sz="1725" b="0">
                <a:solidFill>
                  <a:srgbClr val="142D45"/>
                </a:solidFill>
                <a:latin typeface="Arial"/>
                <a:ea typeface="Arial"/>
                <a:cs typeface="Arial"/>
              </a:defRPr>
            </a:pPr>
            <a:r>
              <a:rPr sz="1725" b="0">
                <a:solidFill>
                  <a:srgbClr val="142D45"/>
                </a:solidFill>
                <a:latin typeface="Arial"/>
                <a:ea typeface="Arial"/>
                <a:cs typeface="Arial"/>
              </a:rPr>
              <a:t>urgent jobs. Prevent starvation.</a:t>
            </a:r>
          </a:p>
        </p:txBody>
      </p:sp>
      <p:sp>
        <p:nvSpPr>
          <p:cNvPr id="11" name="Straight Connector 10">
            <a:extLst>
              <a:ext uri="{FF2B5EF4-FFF2-40B4-BE49-F238E27FC236}">
                <a16:creationId xmlns:a16="http://schemas.microsoft.com/office/drawing/2014/main" id="{03266FEA-8D57-415C-AFD8-14F5BD3DC366}"/>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89C02B17-0D7B-4BE7-BFA5-EBFCED389E9D}"/>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7] NSF 2026: US programme reach; [8] Strubell">
            <a:extLst>
              <a:ext uri="{FF2B5EF4-FFF2-40B4-BE49-F238E27FC236}">
                <a16:creationId xmlns:a16="http://schemas.microsoft.com/office/drawing/2014/main" id="{56560B17-0D60-473B-95D7-12486A2E7D3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9 / 48">
            <a:extLst>
              <a:ext uri="{FF2B5EF4-FFF2-40B4-BE49-F238E27FC236}">
                <a16:creationId xmlns:a16="http://schemas.microsoft.com/office/drawing/2014/main" id="{E9A781B0-599D-4A6D-AB26-5743FCF4D6F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9 / 48</a:t>
            </a:r>
          </a:p>
        </p:txBody>
      </p:sp>
    </p:spTree>
    <p:extLst>
      <p:ext uri="{BB962C8B-B14F-4D97-AF65-F5344CB8AC3E}">
        <p14:creationId xmlns:p14="http://schemas.microsoft.com/office/powerpoint/2010/main" val="1219336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0389ECBF-106B-4D52-BC0E-A06878F7EAD7}"/>
              </a:ext>
            </a:extLst>
          </p:cNvPr>
          <p:cNvCxnSpPr>
            <a:stCxn id="4" idx="3"/>
            <a:endCxn id="5" idx="1"/>
          </p:cNvCxnSpPr>
          <p:nvPr/>
        </p:nvCxnSpPr>
        <p:spPr>
          <a:xfrm>
            <a:off x="7581900" y="2181225"/>
            <a:ext cx="1028700" cy="0"/>
          </a:xfrm>
          <a:prstGeom prst="straightConnector1">
            <a:avLst/>
          </a:prstGeom>
          <a:ln w="19050">
            <a:solidFill>
              <a:srgbClr val="007B83"/>
            </a:solidFill>
            <a:prstDash val="solid"/>
            <a:tailEnd type="arrow" w="med" len="med"/>
          </a:ln>
        </p:spPr>
      </p:cxnSp>
      <p:cxnSp>
        <p:nvCxnSpPr>
          <p:cNvPr id="6" name="Straight Arrow Connector 5">
            <a:extLst>
              <a:ext uri="{FF2B5EF4-FFF2-40B4-BE49-F238E27FC236}">
                <a16:creationId xmlns:a16="http://schemas.microsoft.com/office/drawing/2014/main" id="{22C22D21-907A-47FB-9619-B71745C6C1F1}"/>
              </a:ext>
            </a:extLst>
          </p:cNvPr>
          <p:cNvCxnSpPr>
            <a:stCxn id="3" idx="3"/>
            <a:endCxn id="4" idx="1"/>
          </p:cNvCxnSpPr>
          <p:nvPr/>
        </p:nvCxnSpPr>
        <p:spPr>
          <a:xfrm>
            <a:off x="3581400" y="2181225"/>
            <a:ext cx="1028700" cy="0"/>
          </a:xfrm>
          <a:prstGeom prst="straightConnector1">
            <a:avLst/>
          </a:prstGeom>
          <a:ln w="19050">
            <a:solidFill>
              <a:srgbClr val="007B83"/>
            </a:solidFill>
            <a:prstDash val="solid"/>
            <a:tailEnd type="arrow" w="med" len="med"/>
          </a:ln>
        </p:spPr>
      </p:cxnSp>
      <p:sp>
        <p:nvSpPr>
          <p:cNvPr id="17" name="Task 2(d) • Responsible HPC framework">
            <a:extLst>
              <a:ext uri="{FF2B5EF4-FFF2-40B4-BE49-F238E27FC236}">
                <a16:creationId xmlns:a16="http://schemas.microsoft.com/office/drawing/2014/main" id="{A3A1B4B9-DAF2-4480-9885-FAA5060D62DD}"/>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 2(d) • Responsible HPC framework</a:t>
            </a:r>
          </a:p>
        </p:txBody>
      </p:sp>
      <p:sp>
        <p:nvSpPr>
          <p:cNvPr id="2" name="Approve scale with evidence and ownership">
            <a:extLst>
              <a:ext uri="{FF2B5EF4-FFF2-40B4-BE49-F238E27FC236}">
                <a16:creationId xmlns:a16="http://schemas.microsoft.com/office/drawing/2014/main" id="{88608F6A-0528-4FA8-8B3E-CD562EB34437}"/>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Approve scale with evidence and ownership</a:t>
            </a:r>
          </a:p>
        </p:txBody>
      </p:sp>
      <p:sp>
        <p:nvSpPr>
          <p:cNvPr id="3" name="Rectangle 2">
            <a:extLst>
              <a:ext uri="{FF2B5EF4-FFF2-40B4-BE49-F238E27FC236}">
                <a16:creationId xmlns:a16="http://schemas.microsoft.com/office/drawing/2014/main" id="{7FAE8E58-FA27-4345-87D9-B9C24D54E159}"/>
              </a:ext>
            </a:extLst>
          </p:cNvPr>
          <p:cNvSpPr>
            <a:spLocks noGrp="1"/>
          </p:cNvSpPr>
          <p:nvPr/>
        </p:nvSpPr>
        <p:spPr>
          <a:xfrm>
            <a:off x="609600" y="1695450"/>
            <a:ext cx="2971800" cy="971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Map</a:t>
            </a:r>
          </a:p>
          <a:p>
            <a:pPr algn="ctr">
              <a:defRPr sz="1725">
                <a:solidFill>
                  <a:srgbClr val="142D45"/>
                </a:solidFill>
                <a:latin typeface="Arial"/>
                <a:ea typeface="Arial"/>
                <a:cs typeface="Arial"/>
              </a:defRPr>
            </a:pPr>
            <a:r>
              <a:rPr sz="1725">
                <a:solidFill>
                  <a:srgbClr val="142D45"/>
                </a:solidFill>
                <a:latin typeface="Arial"/>
                <a:ea typeface="Arial"/>
                <a:cs typeface="Arial"/>
              </a:rPr>
              <a:t>Use, stakeholders,</a:t>
            </a:r>
          </a:p>
          <a:p>
            <a:pPr algn="ctr">
              <a:defRPr sz="1725">
                <a:solidFill>
                  <a:srgbClr val="142D45"/>
                </a:solidFill>
                <a:latin typeface="Arial"/>
                <a:ea typeface="Arial"/>
                <a:cs typeface="Arial"/>
              </a:defRPr>
            </a:pPr>
            <a:r>
              <a:rPr sz="1725">
                <a:solidFill>
                  <a:srgbClr val="142D45"/>
                </a:solidFill>
                <a:latin typeface="Arial"/>
                <a:ea typeface="Arial"/>
                <a:cs typeface="Arial"/>
              </a:rPr>
              <a:t>alternatives</a:t>
            </a:r>
          </a:p>
        </p:txBody>
      </p:sp>
      <p:sp>
        <p:nvSpPr>
          <p:cNvPr id="4" name="Rectangle 3">
            <a:extLst>
              <a:ext uri="{FF2B5EF4-FFF2-40B4-BE49-F238E27FC236}">
                <a16:creationId xmlns:a16="http://schemas.microsoft.com/office/drawing/2014/main" id="{EEBC4788-108B-4769-883A-443A4764FA2D}"/>
              </a:ext>
            </a:extLst>
          </p:cNvPr>
          <p:cNvSpPr>
            <a:spLocks noGrp="1"/>
          </p:cNvSpPr>
          <p:nvPr/>
        </p:nvSpPr>
        <p:spPr>
          <a:xfrm>
            <a:off x="4610100" y="1695450"/>
            <a:ext cx="2971800" cy="971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Measure</a:t>
            </a:r>
          </a:p>
          <a:p>
            <a:pPr algn="ctr">
              <a:defRPr sz="1725">
                <a:solidFill>
                  <a:srgbClr val="142D45"/>
                </a:solidFill>
                <a:latin typeface="Arial"/>
                <a:ea typeface="Arial"/>
                <a:cs typeface="Arial"/>
              </a:defRPr>
            </a:pPr>
            <a:r>
              <a:rPr sz="1725">
                <a:solidFill>
                  <a:srgbClr val="142D45"/>
                </a:solidFill>
                <a:latin typeface="Arial"/>
                <a:ea typeface="Arial"/>
                <a:cs typeface="Arial"/>
              </a:rPr>
              <a:t>Quality, energy, security,</a:t>
            </a:r>
          </a:p>
          <a:p>
            <a:pPr algn="ctr">
              <a:defRPr sz="1725">
                <a:solidFill>
                  <a:srgbClr val="142D45"/>
                </a:solidFill>
                <a:latin typeface="Arial"/>
                <a:ea typeface="Arial"/>
                <a:cs typeface="Arial"/>
              </a:defRPr>
            </a:pPr>
            <a:r>
              <a:rPr sz="1725">
                <a:solidFill>
                  <a:srgbClr val="142D45"/>
                </a:solidFill>
                <a:latin typeface="Arial"/>
                <a:ea typeface="Arial"/>
                <a:cs typeface="Arial"/>
              </a:rPr>
              <a:t>harms</a:t>
            </a:r>
          </a:p>
        </p:txBody>
      </p:sp>
      <p:sp>
        <p:nvSpPr>
          <p:cNvPr id="5" name="Rectangle 4">
            <a:extLst>
              <a:ext uri="{FF2B5EF4-FFF2-40B4-BE49-F238E27FC236}">
                <a16:creationId xmlns:a16="http://schemas.microsoft.com/office/drawing/2014/main" id="{F5FAF5BC-5221-4667-AD85-04BF455946D7}"/>
              </a:ext>
            </a:extLst>
          </p:cNvPr>
          <p:cNvSpPr>
            <a:spLocks noGrp="1"/>
          </p:cNvSpPr>
          <p:nvPr/>
        </p:nvSpPr>
        <p:spPr>
          <a:xfrm>
            <a:off x="8610600" y="1695450"/>
            <a:ext cx="2971800" cy="9715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Manage</a:t>
            </a:r>
          </a:p>
          <a:p>
            <a:pPr algn="ctr">
              <a:defRPr sz="1725">
                <a:solidFill>
                  <a:srgbClr val="142D45"/>
                </a:solidFill>
                <a:latin typeface="Arial"/>
                <a:ea typeface="Arial"/>
                <a:cs typeface="Arial"/>
              </a:defRPr>
            </a:pPr>
            <a:r>
              <a:rPr sz="1725">
                <a:solidFill>
                  <a:srgbClr val="142D45"/>
                </a:solidFill>
                <a:latin typeface="Arial"/>
                <a:ea typeface="Arial"/>
                <a:cs typeface="Arial"/>
              </a:rPr>
              <a:t>Approve / defer / redesign</a:t>
            </a:r>
          </a:p>
        </p:txBody>
      </p:sp>
      <p:sp>
        <p:nvSpPr>
          <p:cNvPr id="8" name="Govern throughout: accountable owner, rights, data rule">
            <a:extLst>
              <a:ext uri="{FF2B5EF4-FFF2-40B4-BE49-F238E27FC236}">
                <a16:creationId xmlns:a16="http://schemas.microsoft.com/office/drawing/2014/main" id="{B7CE7E90-A81E-4FFA-B04A-4787E2182292}"/>
              </a:ext>
            </a:extLst>
          </p:cNvPr>
          <p:cNvSpPr>
            <a:spLocks noGrp="1"/>
          </p:cNvSpPr>
          <p:nvPr/>
        </p:nvSpPr>
        <p:spPr>
          <a:xfrm>
            <a:off x="609600" y="3057525"/>
            <a:ext cx="1097280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Govern throughout: accountable owner, rights, data rules and equitable access</a:t>
            </a:r>
          </a:p>
        </p:txBody>
      </p:sp>
      <p:sp>
        <p:nvSpPr>
          <p:cNvPr id="9" name="Green AI [10] measures efficiency; Radovanovic et al. [">
            <a:extLst>
              <a:ext uri="{FF2B5EF4-FFF2-40B4-BE49-F238E27FC236}">
                <a16:creationId xmlns:a16="http://schemas.microsoft.com/office/drawing/2014/main" id="{91EABFB5-1DB0-4AC0-8E5F-B485043B2DD9}"/>
              </a:ext>
            </a:extLst>
          </p:cNvPr>
          <p:cNvSpPr>
            <a:spLocks noGrp="1"/>
          </p:cNvSpPr>
          <p:nvPr/>
        </p:nvSpPr>
        <p:spPr>
          <a:xfrm>
            <a:off x="609600" y="3609975"/>
            <a:ext cx="1097280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Green AI [10] measures efficiency; Radovanovic et al. [14] turn forecasts into scheduling of flexible work.</a:t>
            </a:r>
          </a:p>
          <a:p>
            <a:pPr algn="l">
              <a:defRPr sz="1725" b="0">
                <a:solidFill>
                  <a:srgbClr val="142D45"/>
                </a:solidFill>
                <a:latin typeface="Arial"/>
                <a:ea typeface="Arial"/>
                <a:cs typeface="Arial"/>
              </a:defRPr>
            </a:pPr>
            <a:r>
              <a:rPr sz="1725" b="0">
                <a:solidFill>
                  <a:srgbClr val="142D45"/>
                </a:solidFill>
                <a:latin typeface="Arial"/>
                <a:ea typeface="Arial"/>
                <a:cs typeface="Arial"/>
              </a:rPr>
              <a:t>Measurement and action address different needs.</a:t>
            </a:r>
          </a:p>
        </p:txBody>
      </p:sp>
      <p:sp>
        <p:nvSpPr>
          <p:cNvPr id="10" name="OECD [15]: rights and accountability. NIST [16]: operat">
            <a:extLst>
              <a:ext uri="{FF2B5EF4-FFF2-40B4-BE49-F238E27FC236}">
                <a16:creationId xmlns:a16="http://schemas.microsoft.com/office/drawing/2014/main" id="{7CB22A0B-9B24-4E41-BD83-455A271CBD9A}"/>
              </a:ext>
            </a:extLst>
          </p:cNvPr>
          <p:cNvSpPr>
            <a:spLocks noGrp="1"/>
          </p:cNvSpPr>
          <p:nvPr/>
        </p:nvSpPr>
        <p:spPr>
          <a:xfrm>
            <a:off x="609600" y="4324731"/>
            <a:ext cx="1097280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OECD [15]: rights and accountability. NIST [16]: operational risk decisions. Use an energy budget, named owner,</a:t>
            </a:r>
          </a:p>
          <a:p>
            <a:pPr algn="l">
              <a:defRPr sz="1725" b="0">
                <a:solidFill>
                  <a:srgbClr val="142D45"/>
                </a:solidFill>
                <a:latin typeface="Arial"/>
                <a:ea typeface="Arial"/>
                <a:cs typeface="Arial"/>
              </a:defRPr>
            </a:pPr>
            <a:r>
              <a:rPr sz="1725" b="0">
                <a:solidFill>
                  <a:srgbClr val="142D45"/>
                </a:solidFill>
                <a:latin typeface="Arial"/>
                <a:ea typeface="Arial"/>
                <a:cs typeface="Arial"/>
              </a:rPr>
              <a:t>safeguards and outcome review.</a:t>
            </a:r>
          </a:p>
        </p:txBody>
      </p:sp>
      <p:sp>
        <p:nvSpPr>
          <p:cNvPr id="11" name="Defer only within deadlines, capacity, water/site and e">
            <a:extLst>
              <a:ext uri="{FF2B5EF4-FFF2-40B4-BE49-F238E27FC236}">
                <a16:creationId xmlns:a16="http://schemas.microsoft.com/office/drawing/2014/main" id="{0D159AFA-94FA-47F2-A4FF-2C20F8C4FB14}"/>
              </a:ext>
            </a:extLst>
          </p:cNvPr>
          <p:cNvSpPr>
            <a:spLocks noGrp="1"/>
          </p:cNvSpPr>
          <p:nvPr/>
        </p:nvSpPr>
        <p:spPr>
          <a:xfrm>
            <a:off x="609600" y="5039487"/>
            <a:ext cx="1097280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Defer only within deadlines, capacity, water/site and equitable waiting limits. Record urgent/forecast exceptions;</a:t>
            </a:r>
          </a:p>
          <a:p>
            <a:pPr algn="l">
              <a:defRPr sz="1725" b="0">
                <a:solidFill>
                  <a:srgbClr val="142D45"/>
                </a:solidFill>
                <a:latin typeface="Arial"/>
                <a:ea typeface="Arial"/>
                <a:cs typeface="Arial"/>
              </a:defRPr>
            </a:pPr>
            <a:r>
              <a:rPr sz="1725" b="0">
                <a:solidFill>
                  <a:srgbClr val="142D45"/>
                </a:solidFill>
                <a:latin typeface="Arial"/>
                <a:ea typeface="Arial"/>
                <a:cs typeface="Arial"/>
              </a:rPr>
              <a:t>prevent starvation.</a:t>
            </a:r>
          </a:p>
        </p:txBody>
      </p:sp>
      <p:sp>
        <p:nvSpPr>
          <p:cNvPr id="12" name="Straight Connector 11">
            <a:extLst>
              <a:ext uri="{FF2B5EF4-FFF2-40B4-BE49-F238E27FC236}">
                <a16:creationId xmlns:a16="http://schemas.microsoft.com/office/drawing/2014/main" id="{7051F332-E7E3-43E9-ADE1-22D3A05303F6}"/>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3" name="NIST Govern spans iterative review; unacceptable risks ">
            <a:extLst>
              <a:ext uri="{FF2B5EF4-FFF2-40B4-BE49-F238E27FC236}">
                <a16:creationId xmlns:a16="http://schemas.microsoft.com/office/drawing/2014/main" id="{8D1ABF92-BE96-4301-A489-C207EC06711D}"/>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NIST Govern spans iterative review; unacceptable risks require redesign or rejection.</a:t>
            </a:r>
          </a:p>
        </p:txBody>
      </p:sp>
      <p:sp>
        <p:nvSpPr>
          <p:cNvPr id="14" name="Straight Connector 13">
            <a:extLst>
              <a:ext uri="{FF2B5EF4-FFF2-40B4-BE49-F238E27FC236}">
                <a16:creationId xmlns:a16="http://schemas.microsoft.com/office/drawing/2014/main" id="{90543A63-C83F-4E26-9E02-66F7053267C1}"/>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5" name="Sources: [10] Schwartz et al. 2019: efficiency reportin">
            <a:extLst>
              <a:ext uri="{FF2B5EF4-FFF2-40B4-BE49-F238E27FC236}">
                <a16:creationId xmlns:a16="http://schemas.microsoft.com/office/drawing/2014/main" id="{020AA903-E3CC-451C-95D3-CEF931EA280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10 / 48">
            <a:extLst>
              <a:ext uri="{FF2B5EF4-FFF2-40B4-BE49-F238E27FC236}">
                <a16:creationId xmlns:a16="http://schemas.microsoft.com/office/drawing/2014/main" id="{CFEEFDCC-1DB3-4984-BE53-560161C5D655}"/>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10 / 48</a:t>
            </a:r>
          </a:p>
        </p:txBody>
      </p:sp>
    </p:spTree>
    <p:extLst>
      <p:ext uri="{BB962C8B-B14F-4D97-AF65-F5344CB8AC3E}">
        <p14:creationId xmlns:p14="http://schemas.microsoft.com/office/powerpoint/2010/main" val="408962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3" name="Tasks 1 and 2 • Conclusions">
            <a:extLst>
              <a:ext uri="{FF2B5EF4-FFF2-40B4-BE49-F238E27FC236}">
                <a16:creationId xmlns:a16="http://schemas.microsoft.com/office/drawing/2014/main" id="{CEBF4A30-DE5F-46A0-A168-89DB2C2F531D}"/>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Tasks 1 and 2 • Conclusions</a:t>
            </a:r>
          </a:p>
        </p:txBody>
      </p:sp>
      <p:sp>
        <p:nvSpPr>
          <p:cNvPr id="2" name="Scale useful work, then verify the outcome">
            <a:extLst>
              <a:ext uri="{FF2B5EF4-FFF2-40B4-BE49-F238E27FC236}">
                <a16:creationId xmlns:a16="http://schemas.microsoft.com/office/drawing/2014/main" id="{F2753069-2DFC-4D4F-B1D4-EA2BC8CA64D9}"/>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Scale useful work, then verify the outcome</a:t>
            </a:r>
          </a:p>
        </p:txBody>
      </p:sp>
      <p:sp>
        <p:nvSpPr>
          <p:cNvPr id="3" name="Task 1: conditional performance">
            <a:extLst>
              <a:ext uri="{FF2B5EF4-FFF2-40B4-BE49-F238E27FC236}">
                <a16:creationId xmlns:a16="http://schemas.microsoft.com/office/drawing/2014/main" id="{46C03E6E-1153-4285-BD82-E7421045A10C}"/>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1: conditional performance</a:t>
            </a:r>
          </a:p>
        </p:txBody>
      </p:sp>
      <p:sp>
        <p:nvSpPr>
          <p:cNvPr id="4" name="Independent inverse-gather pixels suit CUDA; locality, ">
            <a:extLst>
              <a:ext uri="{FF2B5EF4-FFF2-40B4-BE49-F238E27FC236}">
                <a16:creationId xmlns:a16="http://schemas.microsoft.com/office/drawing/2014/main" id="{E1AACA14-8FCF-40DA-AA15-5A2AD575F9C7}"/>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Independent inverse-gather pixels suit CUDA;</a:t>
            </a:r>
          </a:p>
          <a:p>
            <a:pPr algn="l">
              <a:defRPr sz="1725" b="0">
                <a:solidFill>
                  <a:srgbClr val="142D45"/>
                </a:solidFill>
                <a:latin typeface="Arial"/>
                <a:ea typeface="Arial"/>
                <a:cs typeface="Arial"/>
              </a:defRPr>
            </a:pPr>
            <a:r>
              <a:rPr sz="1725" b="0">
                <a:solidFill>
                  <a:srgbClr val="142D45"/>
                </a:solidFill>
                <a:latin typeface="Arial"/>
                <a:ea typeface="Arial"/>
                <a:cs typeface="Arial"/>
              </a:rPr>
              <a:t>locality, transfers and SM scheduling determine</a:t>
            </a:r>
          </a:p>
          <a:p>
            <a:pPr algn="l">
              <a:defRPr sz="1725" b="0">
                <a:solidFill>
                  <a:srgbClr val="142D45"/>
                </a:solidFill>
                <a:latin typeface="Arial"/>
                <a:ea typeface="Arial"/>
                <a:cs typeface="Arial"/>
              </a:defRPr>
            </a:pPr>
            <a:r>
              <a:rPr sz="1725" b="0">
                <a:solidFill>
                  <a:srgbClr val="142D45"/>
                </a:solidFill>
                <a:latin typeface="Arial"/>
                <a:ea typeface="Arial"/>
                <a:cs typeface="Arial"/>
              </a:rPr>
              <a:t>speedup.</a:t>
            </a:r>
          </a:p>
        </p:txBody>
      </p:sp>
      <p:sp>
        <p:nvSpPr>
          <p:cNvPr id="5" name="GDS helps only a compatible storage-bound path. Next: c">
            <a:extLst>
              <a:ext uri="{FF2B5EF4-FFF2-40B4-BE49-F238E27FC236}">
                <a16:creationId xmlns:a16="http://schemas.microsoft.com/office/drawing/2014/main" id="{A9A5B3B9-317E-444E-B9FF-85A45AED4D1E}"/>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GDS helps only a compatible storage-bound path.</a:t>
            </a:r>
          </a:p>
          <a:p>
            <a:pPr algn="l">
              <a:defRPr sz="1725" b="0">
                <a:solidFill>
                  <a:srgbClr val="142D45"/>
                </a:solidFill>
                <a:latin typeface="Arial"/>
                <a:ea typeface="Arial"/>
                <a:cs typeface="Arial"/>
              </a:defRPr>
            </a:pPr>
            <a:r>
              <a:rPr sz="1725" b="0">
                <a:solidFill>
                  <a:srgbClr val="142D45"/>
                </a:solidFill>
                <a:latin typeface="Arial"/>
                <a:ea typeface="Arial"/>
                <a:cs typeface="Arial"/>
              </a:rPr>
              <a:t>Next: compile, compare CPU/GPU output and</a:t>
            </a:r>
          </a:p>
          <a:p>
            <a:pPr algn="l">
              <a:defRPr sz="1725" b="0">
                <a:solidFill>
                  <a:srgbClr val="142D45"/>
                </a:solidFill>
                <a:latin typeface="Arial"/>
                <a:ea typeface="Arial"/>
                <a:cs typeface="Arial"/>
              </a:defRPr>
            </a:pPr>
            <a:r>
              <a:rPr sz="1725" b="0">
                <a:solidFill>
                  <a:srgbClr val="142D45"/>
                </a:solidFill>
                <a:latin typeface="Arial"/>
                <a:ea typeface="Arial"/>
                <a:cs typeface="Arial"/>
              </a:rPr>
              <a:t>measure completed workloads.</a:t>
            </a:r>
          </a:p>
        </p:txBody>
      </p:sp>
      <p:sp>
        <p:nvSpPr>
          <p:cNvPr id="6" name="Task 2: accountable scaling">
            <a:extLst>
              <a:ext uri="{FF2B5EF4-FFF2-40B4-BE49-F238E27FC236}">
                <a16:creationId xmlns:a16="http://schemas.microsoft.com/office/drawing/2014/main" id="{2B05B132-0399-4F3E-804B-FDDDDECAE5D1}"/>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2: accountable scaling</a:t>
            </a:r>
          </a:p>
        </p:txBody>
      </p:sp>
      <p:sp>
        <p:nvSpPr>
          <p:cNvPr id="7" name="Measure energy and useful output; protect data, evaluat">
            <a:extLst>
              <a:ext uri="{FF2B5EF4-FFF2-40B4-BE49-F238E27FC236}">
                <a16:creationId xmlns:a16="http://schemas.microsoft.com/office/drawing/2014/main" id="{746A85F5-B048-489A-B402-9C9772D5F9DD}"/>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Measure energy and useful output; protect data,</a:t>
            </a:r>
          </a:p>
          <a:p>
            <a:pPr algn="l">
              <a:defRPr sz="1725" b="0">
                <a:solidFill>
                  <a:srgbClr val="142D45"/>
                </a:solidFill>
                <a:latin typeface="Arial"/>
                <a:ea typeface="Arial"/>
                <a:cs typeface="Arial"/>
              </a:defRPr>
            </a:pPr>
            <a:r>
              <a:rPr sz="1725" b="0">
                <a:solidFill>
                  <a:srgbClr val="142D45"/>
                </a:solidFill>
                <a:latin typeface="Arial"/>
                <a:ea typeface="Arial"/>
                <a:cs typeface="Arial"/>
              </a:rPr>
              <a:t>evaluate group harms and allocate access</a:t>
            </a:r>
          </a:p>
          <a:p>
            <a:pPr algn="l">
              <a:defRPr sz="1725" b="0">
                <a:solidFill>
                  <a:srgbClr val="142D45"/>
                </a:solidFill>
                <a:latin typeface="Arial"/>
                <a:ea typeface="Arial"/>
                <a:cs typeface="Arial"/>
              </a:defRPr>
            </a:pPr>
            <a:r>
              <a:rPr sz="1725" b="0">
                <a:solidFill>
                  <a:srgbClr val="142D45"/>
                </a:solidFill>
                <a:latin typeface="Arial"/>
                <a:ea typeface="Arial"/>
                <a:cs typeface="Arial"/>
              </a:rPr>
              <a:t>transparently.</a:t>
            </a:r>
          </a:p>
        </p:txBody>
      </p:sp>
      <p:sp>
        <p:nvSpPr>
          <p:cNvPr id="8" name="Next: test a real cluster job and review outcomes. Sect">
            <a:extLst>
              <a:ext uri="{FF2B5EF4-FFF2-40B4-BE49-F238E27FC236}">
                <a16:creationId xmlns:a16="http://schemas.microsoft.com/office/drawing/2014/main" id="{B4B10A9E-72B1-4D77-A7C6-6CFEF7F18DFA}"/>
              </a:ext>
            </a:extLst>
          </p:cNvPr>
          <p:cNvSpPr>
            <a:spLocks noGrp="1"/>
          </p:cNvSpPr>
          <p:nvPr/>
        </p:nvSpPr>
        <p:spPr>
          <a:xfrm>
            <a:off x="641985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Next: test a real cluster job and review outcomes.</a:t>
            </a:r>
          </a:p>
          <a:p>
            <a:pPr algn="l">
              <a:defRPr sz="1725" b="0">
                <a:solidFill>
                  <a:srgbClr val="142D45"/>
                </a:solidFill>
                <a:latin typeface="Arial"/>
                <a:ea typeface="Arial"/>
                <a:cs typeface="Arial"/>
              </a:defRPr>
            </a:pPr>
            <a:r>
              <a:rPr sz="1725" b="0">
                <a:solidFill>
                  <a:srgbClr val="142D45"/>
                </a:solidFill>
                <a:latin typeface="Arial"/>
                <a:ea typeface="Arial"/>
                <a:cs typeface="Arial"/>
              </a:rPr>
              <a:t>Sector projections and proposed policies are</a:t>
            </a:r>
          </a:p>
          <a:p>
            <a:pPr algn="l">
              <a:defRPr sz="1725" b="0">
                <a:solidFill>
                  <a:srgbClr val="142D45"/>
                </a:solidFill>
                <a:latin typeface="Arial"/>
                <a:ea typeface="Arial"/>
                <a:cs typeface="Arial"/>
              </a:defRPr>
            </a:pPr>
            <a:r>
              <a:rPr sz="1725" b="0">
                <a:solidFill>
                  <a:srgbClr val="142D45"/>
                </a:solidFill>
                <a:latin typeface="Arial"/>
                <a:ea typeface="Arial"/>
                <a:cs typeface="Arial"/>
              </a:rPr>
              <a:t>evidence limits, not measured results.</a:t>
            </a:r>
          </a:p>
        </p:txBody>
      </p:sp>
      <p:sp>
        <p:nvSpPr>
          <p:cNvPr id="9" name="Straight Connector 8">
            <a:extLst>
              <a:ext uri="{FF2B5EF4-FFF2-40B4-BE49-F238E27FC236}">
                <a16:creationId xmlns:a16="http://schemas.microsoft.com/office/drawing/2014/main" id="{5C611DBD-6DE1-4E04-9BEA-597CAD10F583}"/>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0" name="Straight Connector 9">
            <a:extLst>
              <a:ext uri="{FF2B5EF4-FFF2-40B4-BE49-F238E27FC236}">
                <a16:creationId xmlns:a16="http://schemas.microsoft.com/office/drawing/2014/main" id="{8E60B53B-2255-48B4-AF6B-B349395AE69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1" name="Sources: [2] NVIDIA CUDA Best Practices; [3] NVIDIA GDS">
            <a:extLst>
              <a:ext uri="{FF2B5EF4-FFF2-40B4-BE49-F238E27FC236}">
                <a16:creationId xmlns:a16="http://schemas.microsoft.com/office/drawing/2014/main" id="{B6B69914-173E-48B9-920C-A9D90E2CCCC2}"/>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[16] NIST: Govern, Map, Measure,</a:t>
            </a:r>
          </a:p>
          <a:p>
            <a:pPr algn="l">
              <a:defRPr sz="990" b="0">
                <a:solidFill>
                  <a:srgbClr val="516170"/>
                </a:solidFill>
                <a:latin typeface="Arial"/>
                <a:ea typeface="Arial"/>
                <a:cs typeface="Arial"/>
              </a:defRPr>
            </a:pPr>
            <a:r>
              <a:rPr sz="990" b="0">
                <a:solidFill>
                  <a:srgbClr val="516170"/>
                </a:solidFill>
                <a:latin typeface="Arial"/>
                <a:ea typeface="Arial"/>
                <a:cs typeface="Arial"/>
              </a:rPr>
              <a:t>Manage</a:t>
            </a:r>
          </a:p>
        </p:txBody>
      </p:sp>
      <p:sp>
        <p:nvSpPr>
          <p:cNvPr id="12" name="11 / 46">
            <a:extLst>
              <a:ext uri="{FF2B5EF4-FFF2-40B4-BE49-F238E27FC236}">
                <a16:creationId xmlns:a16="http://schemas.microsoft.com/office/drawing/2014/main" id="{5ABFB511-CBF4-4EE2-BC46-0E1E11D09925}"/>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11 / 48</a:t>
            </a:r>
          </a:p>
        </p:txBody>
      </p:sp>
    </p:spTree>
    <p:extLst>
      <p:ext uri="{BB962C8B-B14F-4D97-AF65-F5344CB8AC3E}">
        <p14:creationId xmlns:p14="http://schemas.microsoft.com/office/powerpoint/2010/main" val="85732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3" name="Appendix • Not part of the seven-minute presentation">
            <a:extLst>
              <a:ext uri="{FF2B5EF4-FFF2-40B4-BE49-F238E27FC236}">
                <a16:creationId xmlns:a16="http://schemas.microsoft.com/office/drawing/2014/main" id="{81A6BFA1-8A95-491B-8BFD-44C689C2F9D0}"/>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Not part of the seven-minute presentation</a:t>
            </a:r>
          </a:p>
        </p:txBody>
      </p:sp>
      <p:sp>
        <p:nvSpPr>
          <p:cNvPr id="2" name="Detailed answers and supporting evidence">
            <a:extLst>
              <a:ext uri="{FF2B5EF4-FFF2-40B4-BE49-F238E27FC236}">
                <a16:creationId xmlns:a16="http://schemas.microsoft.com/office/drawing/2014/main" id="{E330342B-280D-499D-ACD1-1426A6414762}"/>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Detailed answers and supporting evidence</a:t>
            </a:r>
          </a:p>
        </p:txBody>
      </p:sp>
      <p:sp>
        <p:nvSpPr>
          <p:cNvPr id="3" name="Task 1: implementation and analysis">
            <a:extLst>
              <a:ext uri="{FF2B5EF4-FFF2-40B4-BE49-F238E27FC236}">
                <a16:creationId xmlns:a16="http://schemas.microsoft.com/office/drawing/2014/main" id="{9F56A032-6B2B-4346-A634-AF424B1C1299}"/>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and analysis</a:t>
            </a:r>
          </a:p>
        </p:txBody>
      </p:sp>
      <p:sp>
        <p:nvSpPr>
          <p:cNvPr id="4" name="Complete rotation and brightness examples, thread/grid ">
            <a:extLst>
              <a:ext uri="{FF2B5EF4-FFF2-40B4-BE49-F238E27FC236}">
                <a16:creationId xmlns:a16="http://schemas.microsoft.com/office/drawing/2014/main" id="{E90CB734-B7A2-4918-AB81-F90B54D5F83C}"/>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Complete rotation and brightness examples,</a:t>
            </a:r>
          </a:p>
          <a:p>
            <a:pPr algn="l">
              <a:defRPr sz="1725" b="0">
                <a:solidFill>
                  <a:srgbClr val="142D45"/>
                </a:solidFill>
                <a:latin typeface="Arial"/>
                <a:ea typeface="Arial"/>
                <a:cs typeface="Arial"/>
              </a:defRPr>
            </a:pPr>
            <a:r>
              <a:rPr sz="1725" b="0">
                <a:solidFill>
                  <a:srgbClr val="142D45"/>
                </a:solidFill>
                <a:latin typeface="Arial"/>
                <a:ea typeface="Arial"/>
                <a:cs typeface="Arial"/>
              </a:rPr>
              <a:t>thread/grid calculations, host launch and stream</a:t>
            </a:r>
          </a:p>
          <a:p>
            <a:pPr algn="l">
              <a:defRPr sz="1725" b="0">
                <a:solidFill>
                  <a:srgbClr val="142D45"/>
                </a:solidFill>
                <a:latin typeface="Arial"/>
                <a:ea typeface="Arial"/>
                <a:cs typeface="Arial"/>
              </a:defRPr>
            </a:pPr>
            <a:r>
              <a:rPr sz="1725" b="0">
                <a:solidFill>
                  <a:srgbClr val="142D45"/>
                </a:solidFill>
                <a:latin typeface="Arial"/>
                <a:ea typeface="Arial"/>
                <a:cs typeface="Arial"/>
              </a:rPr>
              <a:t>completion.</a:t>
            </a:r>
          </a:p>
        </p:txBody>
      </p:sp>
      <p:sp>
        <p:nvSpPr>
          <p:cNvPr id="5" name="Worked rotation, coordinate assumptions, launch-shape t">
            <a:extLst>
              <a:ext uri="{FF2B5EF4-FFF2-40B4-BE49-F238E27FC236}">
                <a16:creationId xmlns:a16="http://schemas.microsoft.com/office/drawing/2014/main" id="{41177EE8-805A-4416-9F2F-36073AA65D89}"/>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Worked rotation, coordinate assumptions,</a:t>
            </a:r>
          </a:p>
          <a:p>
            <a:pPr algn="l">
              <a:defRPr sz="1725" b="0">
                <a:solidFill>
                  <a:srgbClr val="142D45"/>
                </a:solidFill>
                <a:latin typeface="Arial"/>
                <a:ea typeface="Arial"/>
                <a:cs typeface="Arial"/>
              </a:defRPr>
            </a:pPr>
            <a:r>
              <a:rPr sz="1725" b="0">
                <a:solidFill>
                  <a:srgbClr val="142D45"/>
                </a:solidFill>
                <a:latin typeface="Arial"/>
                <a:ea typeface="Arial"/>
                <a:cs typeface="Arial"/>
              </a:rPr>
              <a:t>launch-shape trade-offs, Amdahl bound, profiling</a:t>
            </a:r>
          </a:p>
          <a:p>
            <a:pPr algn="l">
              <a:defRPr sz="1725" b="0">
                <a:solidFill>
                  <a:srgbClr val="142D45"/>
                </a:solidFill>
                <a:latin typeface="Arial"/>
                <a:ea typeface="Arial"/>
                <a:cs typeface="Arial"/>
              </a:defRPr>
            </a:pPr>
            <a:r>
              <a:rPr sz="1725" b="0">
                <a:solidFill>
                  <a:srgbClr val="142D45"/>
                </a:solidFill>
                <a:latin typeface="Arial"/>
                <a:ea typeface="Arial"/>
                <a:cs typeface="Arial"/>
              </a:rPr>
              <a:t>and GPUDirect Storage decision.</a:t>
            </a:r>
          </a:p>
        </p:txBody>
      </p:sp>
      <p:sp>
        <p:nvSpPr>
          <p:cNvPr id="6" name="Task 2: research and policy">
            <a:extLst>
              <a:ext uri="{FF2B5EF4-FFF2-40B4-BE49-F238E27FC236}">
                <a16:creationId xmlns:a16="http://schemas.microsoft.com/office/drawing/2014/main" id="{D06953AD-D30F-40A0-82C9-DFEA736A92FA}"/>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2: research and policy</a:t>
            </a:r>
          </a:p>
        </p:txBody>
      </p:sp>
      <p:sp>
        <p:nvSpPr>
          <p:cNvPr id="7" name="Parallel training, energy/carbon calculations, environm">
            <a:extLst>
              <a:ext uri="{FF2B5EF4-FFF2-40B4-BE49-F238E27FC236}">
                <a16:creationId xmlns:a16="http://schemas.microsoft.com/office/drawing/2014/main" id="{A2C1936B-0F5E-4407-8A68-0E542E67ECF8}"/>
              </a:ext>
            </a:extLst>
          </p:cNvPr>
          <p:cNvSpPr>
            <a:spLocks noGrp="1"/>
          </p:cNvSpPr>
          <p:nvPr/>
        </p:nvSpPr>
        <p:spPr>
          <a:xfrm>
            <a:off x="6419850" y="1971675"/>
            <a:ext cx="512445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Parallel training, energy/carbon calculations,</a:t>
            </a:r>
          </a:p>
          <a:p>
            <a:pPr algn="l">
              <a:defRPr sz="1725" b="0">
                <a:solidFill>
                  <a:srgbClr val="142D45"/>
                </a:solidFill>
                <a:latin typeface="Arial"/>
                <a:ea typeface="Arial"/>
                <a:cs typeface="Arial"/>
              </a:defRPr>
            </a:pPr>
            <a:r>
              <a:rPr sz="1725" b="0">
                <a:solidFill>
                  <a:srgbClr val="142D45"/>
                </a:solidFill>
                <a:latin typeface="Arial"/>
                <a:ea typeface="Arial"/>
                <a:cs typeface="Arial"/>
              </a:rPr>
              <a:t>environmental accounting and research limitations.</a:t>
            </a:r>
          </a:p>
        </p:txBody>
      </p:sp>
      <p:sp>
        <p:nvSpPr>
          <p:cNvPr id="8" name="Risk owners, fairness example, allocation policy, frame">
            <a:extLst>
              <a:ext uri="{FF2B5EF4-FFF2-40B4-BE49-F238E27FC236}">
                <a16:creationId xmlns:a16="http://schemas.microsoft.com/office/drawing/2014/main" id="{C9084ECC-F277-4A46-B4A3-F58D07104E49}"/>
              </a:ext>
            </a:extLst>
          </p:cNvPr>
          <p:cNvSpPr>
            <a:spLocks noGrp="1"/>
          </p:cNvSpPr>
          <p:nvPr/>
        </p:nvSpPr>
        <p:spPr>
          <a:xfrm>
            <a:off x="6419850" y="2724531"/>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Risk owners, fairness example, allocation policy,</a:t>
            </a:r>
          </a:p>
          <a:p>
            <a:pPr algn="l">
              <a:defRPr sz="1725" b="0">
                <a:solidFill>
                  <a:srgbClr val="142D45"/>
                </a:solidFill>
                <a:latin typeface="Arial"/>
                <a:ea typeface="Arial"/>
                <a:cs typeface="Arial"/>
              </a:defRPr>
            </a:pPr>
            <a:r>
              <a:rPr sz="1725" b="0">
                <a:solidFill>
                  <a:srgbClr val="142D45"/>
                </a:solidFill>
                <a:latin typeface="Arial"/>
                <a:ea typeface="Arial"/>
                <a:cs typeface="Arial"/>
              </a:rPr>
              <a:t>framework roles, carbon-aware scheduling and</a:t>
            </a:r>
          </a:p>
          <a:p>
            <a:pPr algn="l">
              <a:defRPr sz="1725" b="0">
                <a:solidFill>
                  <a:srgbClr val="142D45"/>
                </a:solidFill>
                <a:latin typeface="Arial"/>
                <a:ea typeface="Arial"/>
                <a:cs typeface="Arial"/>
              </a:defRPr>
            </a:pPr>
            <a:r>
              <a:rPr sz="1725" b="0">
                <a:solidFill>
                  <a:srgbClr val="142D45"/>
                </a:solidFill>
                <a:latin typeface="Arial"/>
                <a:ea typeface="Arial"/>
                <a:cs typeface="Arial"/>
              </a:rPr>
              <a:t>cross-topic comparisons.</a:t>
            </a:r>
          </a:p>
        </p:txBody>
      </p:sp>
      <p:sp>
        <p:nvSpPr>
          <p:cNvPr id="9" name="Straight Connector 8">
            <a:extLst>
              <a:ext uri="{FF2B5EF4-FFF2-40B4-BE49-F238E27FC236}">
                <a16:creationId xmlns:a16="http://schemas.microsoft.com/office/drawing/2014/main" id="{DF840030-3C17-4D32-B30D-3274768A5063}"/>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0" name="Straight Connector 9">
            <a:extLst>
              <a:ext uri="{FF2B5EF4-FFF2-40B4-BE49-F238E27FC236}">
                <a16:creationId xmlns:a16="http://schemas.microsoft.com/office/drawing/2014/main" id="{75386AC4-DFAA-43BD-9473-07D96204AB2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1" name="FIT3143 Applied 2">
            <a:extLst>
              <a:ext uri="{FF2B5EF4-FFF2-40B4-BE49-F238E27FC236}">
                <a16:creationId xmlns:a16="http://schemas.microsoft.com/office/drawing/2014/main" id="{8335136D-7353-4306-8432-B598918CB956}"/>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2 / 46">
            <a:extLst>
              <a:ext uri="{FF2B5EF4-FFF2-40B4-BE49-F238E27FC236}">
                <a16:creationId xmlns:a16="http://schemas.microsoft.com/office/drawing/2014/main" id="{6D8A6003-C94D-498B-A72D-21382E7EBA29}"/>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12 / 48</a:t>
            </a:r>
          </a:p>
        </p:txBody>
      </p:sp>
    </p:spTree>
    <p:extLst>
      <p:ext uri="{BB962C8B-B14F-4D97-AF65-F5344CB8AC3E}">
        <p14:creationId xmlns:p14="http://schemas.microsoft.com/office/powerpoint/2010/main" val="1438580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0" name="Straight Arrow Connector 9">
            <a:extLst>
              <a:ext uri="{FF2B5EF4-FFF2-40B4-BE49-F238E27FC236}">
                <a16:creationId xmlns:a16="http://schemas.microsoft.com/office/drawing/2014/main" id="{BC0CE83F-FCE0-4E44-8F10-F3FB3BD2E200}"/>
              </a:ext>
            </a:extLst>
          </p:cNvPr>
          <p:cNvCxnSpPr>
            <a:stCxn id="7" idx="2"/>
            <a:endCxn id="8" idx="0"/>
          </p:cNvCxnSpPr>
          <p:nvPr/>
        </p:nvCxnSpPr>
        <p:spPr>
          <a:xfrm>
            <a:off x="9801225" y="3429000"/>
            <a:ext cx="0" cy="476250"/>
          </a:xfrm>
          <a:prstGeom prst="straightConnector1">
            <a:avLst/>
          </a:prstGeom>
          <a:ln w="19050">
            <a:solidFill>
              <a:srgbClr val="007B83"/>
            </a:solidFill>
            <a:prstDash val="solid"/>
            <a:tailEnd type="arrow" w="med" len="med"/>
          </a:ln>
        </p:spPr>
      </p:cxnSp>
      <p:cxnSp>
        <p:nvCxnSpPr>
          <p:cNvPr id="9" name="Straight Arrow Connector 8">
            <a:extLst>
              <a:ext uri="{FF2B5EF4-FFF2-40B4-BE49-F238E27FC236}">
                <a16:creationId xmlns:a16="http://schemas.microsoft.com/office/drawing/2014/main" id="{D7154E82-4CD1-429A-BFEB-D26F70B4F724}"/>
              </a:ext>
            </a:extLst>
          </p:cNvPr>
          <p:cNvCxnSpPr>
            <a:stCxn id="6" idx="2"/>
            <a:endCxn id="7" idx="0"/>
          </p:cNvCxnSpPr>
          <p:nvPr/>
        </p:nvCxnSpPr>
        <p:spPr>
          <a:xfrm>
            <a:off x="9801225" y="2171700"/>
            <a:ext cx="0" cy="476250"/>
          </a:xfrm>
          <a:prstGeom prst="straightConnector1">
            <a:avLst/>
          </a:prstGeom>
          <a:ln w="19050">
            <a:solidFill>
              <a:srgbClr val="007B83"/>
            </a:solidFill>
            <a:prstDash val="solid"/>
            <a:tailEnd type="arrow" w="med" len="med"/>
          </a:ln>
        </p:spPr>
      </p:cxnSp>
      <p:sp>
        <p:nvSpPr>
          <p:cNvPr id="21" name="Task 1(b) • Execution model">
            <a:extLst>
              <a:ext uri="{FF2B5EF4-FFF2-40B4-BE49-F238E27FC236}">
                <a16:creationId xmlns:a16="http://schemas.microsoft.com/office/drawing/2014/main" id="{13A7F43F-371A-4759-904B-BA68A15A0347}"/>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CUDA examples and execution detail</a:t>
            </a:r>
          </a:p>
        </p:txBody>
      </p:sp>
      <p:sp>
        <p:nvSpPr>
          <p:cNvPr id="2" name="CUDA maps pixels to scheduled threads">
            <a:extLst>
              <a:ext uri="{FF2B5EF4-FFF2-40B4-BE49-F238E27FC236}">
                <a16:creationId xmlns:a16="http://schemas.microsoft.com/office/drawing/2014/main" id="{8DC1AFFF-D33C-48C5-AFDB-A17A270179D1}"/>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maps pixels to scheduled threads</a:t>
            </a:r>
          </a:p>
        </p:txBody>
      </p:sp>
      <p:sp>
        <p:nvSpPr>
          <p:cNvPr id="3" name="Host launch + device pixel indexing">
            <a:extLst>
              <a:ext uri="{FF2B5EF4-FFF2-40B4-BE49-F238E27FC236}">
                <a16:creationId xmlns:a16="http://schemas.microsoft.com/office/drawing/2014/main" id="{6AA7408F-85BA-4165-A2BA-3D6D0B3DCF41}"/>
              </a:ext>
            </a:extLst>
          </p:cNvPr>
          <p:cNvSpPr>
            <a:spLocks noGrp="1"/>
          </p:cNvSpPr>
          <p:nvPr/>
        </p:nvSpPr>
        <p:spPr>
          <a:xfrm>
            <a:off x="609600" y="1476375"/>
            <a:ext cx="6534150" cy="345186"/>
          </a:xfrm>
          <a:prstGeom prst="rect">
            <a:avLst/>
          </a:prstGeom>
          <a:noFill/>
          <a:ln w="0">
            <a:noFill/>
          </a:ln>
        </p:spPr>
        <p:txBody>
          <a:bodyPr wrap="square" lIns="0" tIns="0" rIns="0" bIns="0" anchor="t">
            <a:noAutofit/>
          </a:bodyPr>
          <a:lstStyle>
            <a:defPPr algn="l">
              <a:defRPr sz="1950" b="1">
                <a:solidFill>
                  <a:srgbClr val="007B83"/>
                </a:solidFill>
                <a:latin typeface="Arial"/>
                <a:ea typeface="Arial"/>
                <a:cs typeface="Arial"/>
              </a:defRPr>
            </a:defPPr>
          </a:lstStyle>
          <a:p>
            <a:pPr algn="l">
              <a:defRPr sz="1950" b="1">
                <a:solidFill>
                  <a:srgbClr val="007B83"/>
                </a:solidFill>
                <a:latin typeface="Arial"/>
                <a:ea typeface="Arial"/>
                <a:cs typeface="Arial"/>
              </a:defRPr>
            </a:pPr>
            <a:r>
              <a:rPr sz="1950" b="1">
                <a:solidFill>
                  <a:srgbClr val="007B83"/>
                </a:solidFill>
                <a:latin typeface="Arial"/>
                <a:ea typeface="Arial"/>
                <a:cs typeface="Arial"/>
              </a:rPr>
              <a:t>Host launch + device pixel indexing</a:t>
            </a:r>
          </a:p>
        </p:txBody>
      </p:sp>
      <p:sp>
        <p:nvSpPr>
          <p:cNvPr id="4" name="Rectangle 3">
            <a:extLst>
              <a:ext uri="{FF2B5EF4-FFF2-40B4-BE49-F238E27FC236}">
                <a16:creationId xmlns:a16="http://schemas.microsoft.com/office/drawing/2014/main" id="{D4EC3987-5777-4E3F-8FE2-72CD832AC991}"/>
              </a:ext>
            </a:extLst>
          </p:cNvPr>
          <p:cNvSpPr>
            <a:spLocks noGrp="1"/>
          </p:cNvSpPr>
          <p:nvPr/>
        </p:nvSpPr>
        <p:spPr>
          <a:xfrm>
            <a:off x="609600" y="1876425"/>
            <a:ext cx="6800850" cy="1600200"/>
          </a:xfrm>
          <a:prstGeom prst="rect">
            <a:avLst/>
          </a:prstGeom>
          <a:solidFill>
            <a:srgbClr val="EDF1F5"/>
          </a:solidFill>
          <a:ln w="14288">
            <a:noFill/>
            <a:prstDash val="solid"/>
          </a:ln>
        </p:spPr>
        <p:txBody>
          <a:bodyPr/>
          <a:lstStyle/>
          <a:p>
            <a:endParaRPr lang="en-US"/>
          </a:p>
        </p:txBody>
      </p:sp>
      <p:sp>
        <p:nvSpPr>
          <p:cNvPr id="5" name="dim3 block(16,16), grid(64,64);&#10;rotate_rgb&lt;&lt;&lt;grid,block">
            <a:extLst>
              <a:ext uri="{FF2B5EF4-FFF2-40B4-BE49-F238E27FC236}">
                <a16:creationId xmlns:a16="http://schemas.microsoft.com/office/drawing/2014/main" id="{69FB720A-C3A3-4181-A921-BC71521D4905}"/>
              </a:ext>
            </a:extLst>
          </p:cNvPr>
          <p:cNvSpPr>
            <a:spLocks noGrp="1"/>
          </p:cNvSpPr>
          <p:nvPr/>
        </p:nvSpPr>
        <p:spPr>
          <a:xfrm>
            <a:off x="723900" y="1962150"/>
            <a:ext cx="6572250" cy="1466850"/>
          </a:xfrm>
          <a:prstGeom prst="rect">
            <a:avLst/>
          </a:prstGeom>
          <a:noFill/>
          <a:ln w="0">
            <a:noFill/>
          </a:ln>
        </p:spPr>
        <p:txBody>
          <a:bodyPr wrap="none" lIns="0" tIns="0" rIns="0" bIns="0" anchor="t">
            <a:noAutofit/>
          </a:bodyPr>
          <a:lstStyle>
            <a:defPPr algn="l">
              <a:defRPr sz="1500" b="0">
                <a:solidFill>
                  <a:srgbClr val="142D45"/>
                </a:solidFill>
                <a:latin typeface="Consolas"/>
                <a:ea typeface="Consolas"/>
                <a:cs typeface="Consolas"/>
              </a:defRPr>
            </a:defPPr>
          </a:lstStyle>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dim3 block(16,16), grid(64,64);</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rotate_rgb&lt;&lt;&lt;grid,block&gt;&gt;&gt;(</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    d_in,d_out,1024,1024,c,s);</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x = blockIdx.x*blockDim.x + threadIdx.x;</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y = blockIdx.y*blockDim.y + threadIdx.y;</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if (x &gt;= W || y &gt;= H) return;</a:t>
            </a:r>
          </a:p>
        </p:txBody>
      </p:sp>
      <p:sp>
        <p:nvSpPr>
          <p:cNvPr id="6" name="Rectangle 5">
            <a:extLst>
              <a:ext uri="{FF2B5EF4-FFF2-40B4-BE49-F238E27FC236}">
                <a16:creationId xmlns:a16="http://schemas.microsoft.com/office/drawing/2014/main" id="{3B65EE38-2BA7-45D4-86C0-B93F77E3A71B}"/>
              </a:ext>
            </a:extLst>
          </p:cNvPr>
          <p:cNvSpPr>
            <a:spLocks noGrp="1"/>
          </p:cNvSpPr>
          <p:nvPr/>
        </p:nvSpPr>
        <p:spPr>
          <a:xfrm>
            <a:off x="8020050" y="1571625"/>
            <a:ext cx="3562350" cy="600075"/>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Grid: 64 × 64 blocks</a:t>
            </a:r>
          </a:p>
        </p:txBody>
      </p:sp>
      <p:sp>
        <p:nvSpPr>
          <p:cNvPr id="7" name="Rectangle 6">
            <a:extLst>
              <a:ext uri="{FF2B5EF4-FFF2-40B4-BE49-F238E27FC236}">
                <a16:creationId xmlns:a16="http://schemas.microsoft.com/office/drawing/2014/main" id="{B1F763CB-F44B-4BDB-91D4-6403A85CAB88}"/>
              </a:ext>
            </a:extLst>
          </p:cNvPr>
          <p:cNvSpPr>
            <a:spLocks noGrp="1"/>
          </p:cNvSpPr>
          <p:nvPr/>
        </p:nvSpPr>
        <p:spPr>
          <a:xfrm>
            <a:off x="8020050" y="2647950"/>
            <a:ext cx="3562350" cy="7810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Block: 16 × 16 threads</a:t>
            </a:r>
          </a:p>
          <a:p>
            <a:pPr algn="ctr">
              <a:defRPr sz="1725">
                <a:solidFill>
                  <a:srgbClr val="142D45"/>
                </a:solidFill>
                <a:latin typeface="Arial"/>
                <a:ea typeface="Arial"/>
                <a:cs typeface="Arial"/>
              </a:defRPr>
            </a:pPr>
            <a:r>
              <a:rPr sz="1725">
                <a:solidFill>
                  <a:srgbClr val="142D45"/>
                </a:solidFill>
                <a:latin typeface="Arial"/>
                <a:ea typeface="Arial"/>
                <a:cs typeface="Arial"/>
              </a:rPr>
              <a:t>256 threads = 8 warps</a:t>
            </a:r>
          </a:p>
        </p:txBody>
      </p:sp>
      <p:sp>
        <p:nvSpPr>
          <p:cNvPr id="8" name="Rectangle 7">
            <a:extLst>
              <a:ext uri="{FF2B5EF4-FFF2-40B4-BE49-F238E27FC236}">
                <a16:creationId xmlns:a16="http://schemas.microsoft.com/office/drawing/2014/main" id="{2DA5CA27-DD70-40CD-928D-0583BF3639E1}"/>
              </a:ext>
            </a:extLst>
          </p:cNvPr>
          <p:cNvSpPr>
            <a:spLocks noGrp="1"/>
          </p:cNvSpPr>
          <p:nvPr/>
        </p:nvSpPr>
        <p:spPr>
          <a:xfrm>
            <a:off x="8020050" y="3905250"/>
            <a:ext cx="3562350" cy="7810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SMs schedule resident warps</a:t>
            </a:r>
          </a:p>
          <a:p>
            <a:pPr algn="ctr">
              <a:defRPr sz="1725">
                <a:solidFill>
                  <a:srgbClr val="142D45"/>
                </a:solidFill>
                <a:latin typeface="Arial"/>
                <a:ea typeface="Arial"/>
                <a:cs typeface="Arial"/>
              </a:defRPr>
            </a:pPr>
            <a:r>
              <a:rPr sz="1725">
                <a:solidFill>
                  <a:srgbClr val="142D45"/>
                </a:solidFill>
                <a:latin typeface="Arial"/>
                <a:ea typeface="Arial"/>
                <a:cs typeface="Arial"/>
              </a:rPr>
              <a:t>32 threads/warp • SIMT</a:t>
            </a:r>
          </a:p>
        </p:txBody>
      </p:sp>
      <p:sp>
        <p:nvSpPr>
          <p:cNvPr id="11" name="Second kernel feature: clamp a brightness channel">
            <a:extLst>
              <a:ext uri="{FF2B5EF4-FFF2-40B4-BE49-F238E27FC236}">
                <a16:creationId xmlns:a16="http://schemas.microsoft.com/office/drawing/2014/main" id="{0F4DA787-33B6-431D-B363-BAF7A7433706}"/>
              </a:ext>
            </a:extLst>
          </p:cNvPr>
          <p:cNvSpPr>
            <a:spLocks noGrp="1"/>
          </p:cNvSpPr>
          <p:nvPr/>
        </p:nvSpPr>
        <p:spPr>
          <a:xfrm>
            <a:off x="609600" y="3743325"/>
            <a:ext cx="6534150" cy="309753"/>
          </a:xfrm>
          <a:prstGeom prst="rect">
            <a:avLst/>
          </a:prstGeom>
          <a:noFill/>
          <a:ln w="0">
            <a:noFill/>
          </a:ln>
        </p:spPr>
        <p:txBody>
          <a:bodyPr wrap="square" lIns="0" tIns="0" rIns="0" bIns="0" anchor="t">
            <a:noAutofit/>
          </a:bodyPr>
          <a:lstStyle>
            <a:defPPr algn="l">
              <a:defRPr sz="1725" b="1">
                <a:solidFill>
                  <a:srgbClr val="007B83"/>
                </a:solidFill>
                <a:latin typeface="Arial"/>
                <a:ea typeface="Arial"/>
                <a:cs typeface="Arial"/>
              </a:defRPr>
            </a:defPPr>
          </a:lstStyle>
          <a:p>
            <a:pPr algn="l">
              <a:defRPr sz="1725" b="1">
                <a:solidFill>
                  <a:srgbClr val="007B83"/>
                </a:solidFill>
                <a:latin typeface="Arial"/>
                <a:ea typeface="Arial"/>
                <a:cs typeface="Arial"/>
              </a:defRPr>
            </a:pPr>
            <a:r>
              <a:rPr sz="1725" b="1">
                <a:solidFill>
                  <a:srgbClr val="007B83"/>
                </a:solidFill>
                <a:latin typeface="Arial"/>
                <a:ea typeface="Arial"/>
                <a:cs typeface="Arial"/>
              </a:rPr>
              <a:t>Second kernel feature: clamp a brightness channel</a:t>
            </a:r>
          </a:p>
        </p:txBody>
      </p:sp>
      <p:sp>
        <p:nvSpPr>
          <p:cNvPr id="12" name="Rectangle 11">
            <a:extLst>
              <a:ext uri="{FF2B5EF4-FFF2-40B4-BE49-F238E27FC236}">
                <a16:creationId xmlns:a16="http://schemas.microsoft.com/office/drawing/2014/main" id="{4243F19C-AD62-4311-9707-6B0A56919D0C}"/>
              </a:ext>
            </a:extLst>
          </p:cNvPr>
          <p:cNvSpPr>
            <a:spLocks noGrp="1"/>
          </p:cNvSpPr>
          <p:nvPr/>
        </p:nvSpPr>
        <p:spPr>
          <a:xfrm>
            <a:off x="609600" y="4105275"/>
            <a:ext cx="6800850" cy="685800"/>
          </a:xfrm>
          <a:prstGeom prst="rect">
            <a:avLst/>
          </a:prstGeom>
          <a:solidFill>
            <a:srgbClr val="EDF1F5"/>
          </a:solidFill>
          <a:ln w="14288">
            <a:noFill/>
            <a:prstDash val="solid"/>
          </a:ln>
        </p:spPr>
        <p:txBody>
          <a:bodyPr/>
          <a:lstStyle/>
          <a:p>
            <a:endParaRPr lang="en-US"/>
          </a:p>
        </p:txBody>
      </p:sp>
      <p:sp>
        <p:nvSpPr>
          <p:cNvPr id="13" name="int v = int(in[p]) + delta;&#10;out[p] = v&lt;0 ? 0 : (v&gt;255 ?">
            <a:extLst>
              <a:ext uri="{FF2B5EF4-FFF2-40B4-BE49-F238E27FC236}">
                <a16:creationId xmlns:a16="http://schemas.microsoft.com/office/drawing/2014/main" id="{2B0EEAF8-7E1C-4547-B5F1-A0D5A3B88882}"/>
              </a:ext>
            </a:extLst>
          </p:cNvPr>
          <p:cNvSpPr>
            <a:spLocks noGrp="1"/>
          </p:cNvSpPr>
          <p:nvPr/>
        </p:nvSpPr>
        <p:spPr>
          <a:xfrm>
            <a:off x="723900" y="4191000"/>
            <a:ext cx="6572250" cy="552450"/>
          </a:xfrm>
          <a:prstGeom prst="rect">
            <a:avLst/>
          </a:prstGeom>
          <a:noFill/>
          <a:ln w="0">
            <a:noFill/>
          </a:ln>
        </p:spPr>
        <p:txBody>
          <a:bodyPr wrap="none" lIns="0" tIns="0" rIns="0" bIns="0" anchor="t">
            <a:noAutofit/>
          </a:bodyPr>
          <a:lstStyle>
            <a:defPPr algn="l">
              <a:defRPr sz="1500" b="0">
                <a:solidFill>
                  <a:srgbClr val="142D45"/>
                </a:solidFill>
                <a:latin typeface="Consolas"/>
                <a:ea typeface="Consolas"/>
                <a:cs typeface="Consolas"/>
              </a:defRPr>
            </a:defPPr>
          </a:lstStyle>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int v = int(in[p]) + delta;</a:t>
            </a:r>
          </a:p>
          <a:p>
            <a:pPr algn="l">
              <a:defRPr sz="1500" b="0">
                <a:solidFill>
                  <a:srgbClr val="142D45"/>
                </a:solidFill>
                <a:latin typeface="Consolas"/>
                <a:ea typeface="Consolas"/>
                <a:cs typeface="Consolas"/>
              </a:defRPr>
            </a:pPr>
            <a:r>
              <a:rPr sz="1500" b="0">
                <a:solidFill>
                  <a:srgbClr val="142D45"/>
                </a:solidFill>
                <a:latin typeface="Consolas"/>
                <a:ea typeface="Consolas"/>
                <a:cs typeface="Consolas"/>
              </a:rPr>
              <a:t>out[p] = v&lt;0 ? 0 : (v&gt;255 ? 255 : v);</a:t>
            </a:r>
          </a:p>
        </p:txBody>
      </p:sp>
      <p:sp>
        <p:nvSpPr>
          <p:cNvPr id="14" name="After bounds checks: p = 3*(size_t(y)*W+x)+ch; ch ∈ [0,">
            <a:extLst>
              <a:ext uri="{FF2B5EF4-FFF2-40B4-BE49-F238E27FC236}">
                <a16:creationId xmlns:a16="http://schemas.microsoft.com/office/drawing/2014/main" id="{854C6CDD-A025-4FEA-A03F-EC9E76522F37}"/>
              </a:ext>
            </a:extLst>
          </p:cNvPr>
          <p:cNvSpPr>
            <a:spLocks noGrp="1"/>
          </p:cNvSpPr>
          <p:nvPr/>
        </p:nvSpPr>
        <p:spPr>
          <a:xfrm>
            <a:off x="609600" y="4981575"/>
            <a:ext cx="6762750" cy="486918"/>
          </a:xfrm>
          <a:prstGeom prst="rect">
            <a:avLst/>
          </a:prstGeom>
          <a:noFill/>
          <a:ln w="0">
            <a:noFill/>
          </a:ln>
        </p:spPr>
        <p:txBody>
          <a:bodyPr wrap="square" lIns="0" tIns="0" rIns="0" bIns="0" anchor="t">
            <a:noAutofit/>
          </a:bodyPr>
          <a:lstStyle>
            <a:defPPr algn="l">
              <a:defRPr sz="1425" b="0">
                <a:solidFill>
                  <a:srgbClr val="142D45"/>
                </a:solidFill>
                <a:latin typeface="Arial"/>
                <a:ea typeface="Arial"/>
                <a:cs typeface="Arial"/>
              </a:defRPr>
            </a:defPPr>
          </a:lstStyle>
          <a:p>
            <a:pPr algn="l">
              <a:defRPr sz="1425" b="0">
                <a:solidFill>
                  <a:srgbClr val="142D45"/>
                </a:solidFill>
                <a:latin typeface="Arial"/>
                <a:ea typeface="Arial"/>
                <a:cs typeface="Arial"/>
              </a:defRPr>
            </a:pPr>
            <a:r>
              <a:rPr sz="1425" b="0">
                <a:solidFill>
                  <a:srgbClr val="142D45"/>
                </a:solidFill>
                <a:latin typeface="Arial"/>
                <a:ea typeface="Arial"/>
                <a:cs typeface="Arial"/>
              </a:rPr>
              <a:t>After bounds checks: p = 3*(size_t(y)*W+x)+ch; ch ∈ [0,2]; delta ∈ [−255,255].</a:t>
            </a:r>
          </a:p>
          <a:p>
            <a:pPr algn="l">
              <a:defRPr sz="1425" b="0">
                <a:solidFill>
                  <a:srgbClr val="142D45"/>
                </a:solidFill>
                <a:latin typeface="Arial"/>
                <a:ea typeface="Arial"/>
                <a:cs typeface="Arial"/>
              </a:defRPr>
            </a:pPr>
            <a:r>
              <a:rPr sz="1425" b="0">
                <a:solidFill>
                  <a:srgbClr val="142D45"/>
                </a:solidFill>
                <a:latin typeface="Arial"/>
                <a:ea typeface="Arial"/>
                <a:cs typeface="Arial"/>
              </a:rPr>
              <a:t>Separate RGB buffers. Uncompiled excerpts.</a:t>
            </a:r>
          </a:p>
        </p:txBody>
      </p:sp>
      <p:sp>
        <p:nvSpPr>
          <p:cNvPr id="15" name="Residency hides latency; registers and divergence limit">
            <a:extLst>
              <a:ext uri="{FF2B5EF4-FFF2-40B4-BE49-F238E27FC236}">
                <a16:creationId xmlns:a16="http://schemas.microsoft.com/office/drawing/2014/main" id="{8DB01AEE-5A8B-466B-8103-B3463BE2FFD9}"/>
              </a:ext>
            </a:extLst>
          </p:cNvPr>
          <p:cNvSpPr>
            <a:spLocks noGrp="1"/>
          </p:cNvSpPr>
          <p:nvPr/>
        </p:nvSpPr>
        <p:spPr>
          <a:xfrm>
            <a:off x="8020050" y="4981575"/>
            <a:ext cx="356235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Residency hides latency; registers and</a:t>
            </a:r>
          </a:p>
          <a:p>
            <a:pPr algn="l">
              <a:defRPr sz="1575" b="0">
                <a:solidFill>
                  <a:srgbClr val="142D45"/>
                </a:solidFill>
                <a:latin typeface="Arial"/>
                <a:ea typeface="Arial"/>
                <a:cs typeface="Arial"/>
              </a:defRPr>
            </a:pPr>
            <a:r>
              <a:rPr sz="1575" b="0">
                <a:solidFill>
                  <a:srgbClr val="142D45"/>
                </a:solidFill>
                <a:latin typeface="Arial"/>
                <a:ea typeface="Arial"/>
                <a:cs typeface="Arial"/>
              </a:rPr>
              <a:t>divergence limit execution.</a:t>
            </a:r>
          </a:p>
        </p:txBody>
      </p:sp>
      <p:sp>
        <p:nvSpPr>
          <p:cNvPr id="16" name="Straight Connector 15">
            <a:extLst>
              <a:ext uri="{FF2B5EF4-FFF2-40B4-BE49-F238E27FC236}">
                <a16:creationId xmlns:a16="http://schemas.microsoft.com/office/drawing/2014/main" id="{B3CDE638-CB45-4CE6-B258-7BF33354C1B2}"/>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7" name="A logical grid exposes work; SMs execute resident warps">
            <a:extLst>
              <a:ext uri="{FF2B5EF4-FFF2-40B4-BE49-F238E27FC236}">
                <a16:creationId xmlns:a16="http://schemas.microsoft.com/office/drawing/2014/main" id="{84585DF9-64C6-4788-A356-6B5F4B02F517}"/>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A logical grid exposes work; SMs execute resident warps with SIMT.</a:t>
            </a:r>
          </a:p>
        </p:txBody>
      </p:sp>
      <p:sp>
        <p:nvSpPr>
          <p:cNvPr id="18" name="Straight Connector 17">
            <a:extLst>
              <a:ext uri="{FF2B5EF4-FFF2-40B4-BE49-F238E27FC236}">
                <a16:creationId xmlns:a16="http://schemas.microsoft.com/office/drawing/2014/main" id="{6C1A110C-09DE-42CC-A080-7DB8883CB509}"/>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9" name="Sources: [1] NVIDIA CUDA programming model; [2] NVIDIA ">
            <a:extLst>
              <a:ext uri="{FF2B5EF4-FFF2-40B4-BE49-F238E27FC236}">
                <a16:creationId xmlns:a16="http://schemas.microsoft.com/office/drawing/2014/main" id="{1607D06D-5E45-427C-85A6-C632FDEB8F68}"/>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20" name="4 / 46">
            <a:extLst>
              <a:ext uri="{FF2B5EF4-FFF2-40B4-BE49-F238E27FC236}">
                <a16:creationId xmlns:a16="http://schemas.microsoft.com/office/drawing/2014/main" id="{5F69076E-5771-47BB-894D-EB5E70977156}"/>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13 / 48</a:t>
            </a:r>
          </a:p>
        </p:txBody>
      </p:sp>
    </p:spTree>
    <p:extLst>
      <p:ext uri="{BB962C8B-B14F-4D97-AF65-F5344CB8AC3E}">
        <p14:creationId xmlns:p14="http://schemas.microsoft.com/office/powerpoint/2010/main" val="1755254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Task 2(a)">
            <a:extLst>
              <a:ext uri="{FF2B5EF4-FFF2-40B4-BE49-F238E27FC236}">
                <a16:creationId xmlns:a16="http://schemas.microsoft.com/office/drawing/2014/main" id="{DCA6008F-E212-4ACD-A1DA-0741AA529EAC}"/>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Sector charts and scope</a:t>
            </a:r>
          </a:p>
        </p:txBody>
      </p:sp>
      <p:sp>
        <p:nvSpPr>
          <p:cNvPr id="2" name="Electricity demand and environmental costs">
            <a:extLst>
              <a:ext uri="{FF2B5EF4-FFF2-40B4-BE49-F238E27FC236}">
                <a16:creationId xmlns:a16="http://schemas.microsoft.com/office/drawing/2014/main" id="{2BF496FD-A4C3-4813-9936-F9B10CA3DDD9}"/>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Electricity demand and environmental costs</a:t>
            </a:r>
          </a:p>
        </p:txBody>
      </p:sp>
      <p:sp>
        <p:nvSpPr>
          <p:cNvPr id="3" name="Global data-centre electricity (TWh/year)">
            <a:extLst>
              <a:ext uri="{FF2B5EF4-FFF2-40B4-BE49-F238E27FC236}">
                <a16:creationId xmlns:a16="http://schemas.microsoft.com/office/drawing/2014/main" id="{CD5664A8-65A7-420A-B206-C89D4688C0D4}"/>
              </a:ext>
            </a:extLst>
          </p:cNvPr>
          <p:cNvSpPr>
            <a:spLocks noGrp="1"/>
          </p:cNvSpPr>
          <p:nvPr/>
        </p:nvSpPr>
        <p:spPr>
          <a:xfrm>
            <a:off x="609600" y="1438275"/>
            <a:ext cx="5257800" cy="309753"/>
          </a:xfrm>
          <a:prstGeom prst="rect">
            <a:avLst/>
          </a:prstGeom>
          <a:noFill/>
          <a:ln w="0">
            <a:noFill/>
          </a:ln>
        </p:spPr>
        <p:txBody>
          <a:bodyPr wrap="square" lIns="0" tIns="0" rIns="0" bIns="0" anchor="t">
            <a:noAutofit/>
          </a:bodyPr>
          <a:lstStyle>
            <a:defPPr algn="l">
              <a:defRPr sz="1725" b="1">
                <a:solidFill>
                  <a:srgbClr val="142D45"/>
                </a:solidFill>
                <a:latin typeface="Arial"/>
                <a:ea typeface="Arial"/>
                <a:cs typeface="Arial"/>
              </a:defRPr>
            </a:defPPr>
          </a:lstStyle>
          <a:p>
            <a:pPr algn="l">
              <a:defRPr sz="1725" b="1">
                <a:solidFill>
                  <a:srgbClr val="142D45"/>
                </a:solidFill>
                <a:latin typeface="Arial"/>
                <a:ea typeface="Arial"/>
                <a:cs typeface="Arial"/>
              </a:defRPr>
            </a:pPr>
            <a:r>
              <a:rPr sz="1725" b="1">
                <a:solidFill>
                  <a:srgbClr val="142D45"/>
                </a:solidFill>
                <a:latin typeface="Arial"/>
                <a:ea typeface="Arial"/>
                <a:cs typeface="Arial"/>
              </a:rPr>
              <a:t>Global data-centre electricity (TWh/year)</a:t>
            </a:r>
          </a:p>
        </p:txBody>
      </p:sp>
      <p:sp>
        <p:nvSpPr>
          <p:cNvPr id="4" name="Electricity growth during 2025">
            <a:extLst>
              <a:ext uri="{FF2B5EF4-FFF2-40B4-BE49-F238E27FC236}">
                <a16:creationId xmlns:a16="http://schemas.microsoft.com/office/drawing/2014/main" id="{433A1842-0A34-49CD-A333-808C1AC5BFA7}"/>
              </a:ext>
            </a:extLst>
          </p:cNvPr>
          <p:cNvSpPr>
            <a:spLocks noGrp="1"/>
          </p:cNvSpPr>
          <p:nvPr/>
        </p:nvSpPr>
        <p:spPr>
          <a:xfrm>
            <a:off x="6324600" y="1438275"/>
            <a:ext cx="5257800" cy="309753"/>
          </a:xfrm>
          <a:prstGeom prst="rect">
            <a:avLst/>
          </a:prstGeom>
          <a:noFill/>
          <a:ln w="0">
            <a:noFill/>
          </a:ln>
        </p:spPr>
        <p:txBody>
          <a:bodyPr wrap="square" lIns="0" tIns="0" rIns="0" bIns="0" anchor="t">
            <a:noAutofit/>
          </a:bodyPr>
          <a:lstStyle>
            <a:defPPr algn="l">
              <a:defRPr sz="1725" b="1">
                <a:solidFill>
                  <a:srgbClr val="142D45"/>
                </a:solidFill>
                <a:latin typeface="Arial"/>
                <a:ea typeface="Arial"/>
                <a:cs typeface="Arial"/>
              </a:defRPr>
            </a:defPPr>
          </a:lstStyle>
          <a:p>
            <a:pPr algn="l">
              <a:defRPr sz="1725" b="1">
                <a:solidFill>
                  <a:srgbClr val="142D45"/>
                </a:solidFill>
                <a:latin typeface="Arial"/>
                <a:ea typeface="Arial"/>
                <a:cs typeface="Arial"/>
              </a:defRPr>
            </a:pPr>
            <a:r>
              <a:rPr sz="1725" b="1">
                <a:solidFill>
                  <a:srgbClr val="142D45"/>
                </a:solidFill>
                <a:latin typeface="Arial"/>
                <a:ea typeface="Arial"/>
                <a:cs typeface="Arial"/>
              </a:rPr>
              <a:t>Electricity growth during 2025</a:t>
            </a:r>
          </a:p>
        </p:txBody>
      </p:sp>
      <p:graphicFrame>
        <p:nvGraphicFramePr>
          <p:cNvPr id="5" name="Chart">
            <a:extLst>
              <a:ext uri="{FF2B5EF4-FFF2-40B4-BE49-F238E27FC236}">
                <a16:creationId xmlns:a16="http://schemas.microsoft.com/office/drawing/2014/main" id="{C5508891-6872-41C8-A33F-43D6029F08FC}"/>
              </a:ext>
            </a:extLst>
          </p:cNvPr>
          <p:cNvGraphicFramePr/>
          <p:nvPr/>
        </p:nvGraphicFramePr>
        <p:xfrm>
          <a:off x="609600" y="1876425"/>
          <a:ext cx="5257800" cy="28479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a:extLst>
              <a:ext uri="{FF2B5EF4-FFF2-40B4-BE49-F238E27FC236}">
                <a16:creationId xmlns:a16="http://schemas.microsoft.com/office/drawing/2014/main" id="{3AF0D89F-1479-433C-ADA8-C97FEDDD53FB}"/>
              </a:ext>
            </a:extLst>
          </p:cNvPr>
          <p:cNvGraphicFramePr/>
          <p:nvPr/>
        </p:nvGraphicFramePr>
        <p:xfrm>
          <a:off x="6324600" y="1876425"/>
          <a:ext cx="5257800" cy="2847975"/>
        </p:xfrm>
        <a:graphic>
          <a:graphicData uri="http://schemas.openxmlformats.org/drawingml/2006/chart">
            <c:chart xmlns:c="http://schemas.openxmlformats.org/drawingml/2006/chart" xmlns:r="http://schemas.openxmlformats.org/officeDocument/2006/relationships" r:id="rId4"/>
          </a:graphicData>
        </a:graphic>
      </p:graphicFrame>
      <p:sp>
        <p:nvSpPr>
          <p:cNvPr id="7" name="IEA 2026: ≈96% increase to 2030. These cover the whole ">
            <a:extLst>
              <a:ext uri="{FF2B5EF4-FFF2-40B4-BE49-F238E27FC236}">
                <a16:creationId xmlns:a16="http://schemas.microsoft.com/office/drawing/2014/main" id="{B28E6D88-7793-4E54-8E36-611DAA42245F}"/>
              </a:ext>
            </a:extLst>
          </p:cNvPr>
          <p:cNvSpPr>
            <a:spLocks noGrp="1"/>
          </p:cNvSpPr>
          <p:nvPr/>
        </p:nvSpPr>
        <p:spPr>
          <a:xfrm>
            <a:off x="609600" y="4867275"/>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IEA 2026: ≈96% increase to 2030. These cover the whole sector, not AI training alone; growth categories overlap and</a:t>
            </a:r>
          </a:p>
          <a:p>
            <a:pPr algn="l">
              <a:defRPr sz="1575" b="0">
                <a:solidFill>
                  <a:srgbClr val="142D45"/>
                </a:solidFill>
                <a:latin typeface="Arial"/>
                <a:ea typeface="Arial"/>
                <a:cs typeface="Arial"/>
              </a:defRPr>
            </a:pPr>
            <a:r>
              <a:rPr sz="1575" b="0">
                <a:solidFill>
                  <a:srgbClr val="142D45"/>
                </a:solidFill>
                <a:latin typeface="Arial"/>
                <a:ea typeface="Arial"/>
                <a:cs typeface="Arial"/>
              </a:rPr>
              <a:t>cannot be added.</a:t>
            </a:r>
          </a:p>
        </p:txBody>
      </p:sp>
      <p:sp>
        <p:nvSpPr>
          <p:cNvPr id="8" name="Research comparison: Green AI [10] emphasizes efficienc">
            <a:extLst>
              <a:ext uri="{FF2B5EF4-FFF2-40B4-BE49-F238E27FC236}">
                <a16:creationId xmlns:a16="http://schemas.microsoft.com/office/drawing/2014/main" id="{C3A4FFBE-B9AD-4A98-89A8-5BFE0E189A0E}"/>
              </a:ext>
            </a:extLst>
          </p:cNvPr>
          <p:cNvSpPr>
            <a:spLocks noGrp="1"/>
          </p:cNvSpPr>
          <p:nvPr/>
        </p:nvSpPr>
        <p:spPr>
          <a:xfrm>
            <a:off x="609600" y="5381625"/>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Research comparison: Green AI [10] emphasizes efficiency; water research [9] adds site/time constraints. Track energy,</a:t>
            </a:r>
          </a:p>
          <a:p>
            <a:pPr algn="l">
              <a:defRPr sz="1575" b="0">
                <a:solidFill>
                  <a:srgbClr val="142D45"/>
                </a:solidFill>
                <a:latin typeface="Arial"/>
                <a:ea typeface="Arial"/>
                <a:cs typeface="Arial"/>
              </a:defRPr>
            </a:pPr>
            <a:r>
              <a:rPr sz="1575" b="0">
                <a:solidFill>
                  <a:srgbClr val="142D45"/>
                </a:solidFill>
                <a:latin typeface="Arial"/>
                <a:ea typeface="Arial"/>
                <a:cs typeface="Arial"/>
              </a:rPr>
              <a:t>carbon and local cooling impacts.</a:t>
            </a:r>
          </a:p>
        </p:txBody>
      </p:sp>
      <p:sp>
        <p:nvSpPr>
          <p:cNvPr id="9" name="Straight Connector 8">
            <a:extLst>
              <a:ext uri="{FF2B5EF4-FFF2-40B4-BE49-F238E27FC236}">
                <a16:creationId xmlns:a16="http://schemas.microsoft.com/office/drawing/2014/main" id="{290BC39D-E3C9-47FC-AB3B-ACEDF3CD6E89}"/>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6] IEA 2026: sector estimates and projection;">
            <a:extLst>
              <a:ext uri="{FF2B5EF4-FFF2-40B4-BE49-F238E27FC236}">
                <a16:creationId xmlns:a16="http://schemas.microsoft.com/office/drawing/2014/main" id="{33A0564E-3CEB-487F-A05E-03513B4882A5}"/>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[9] Li et al. 2025 revision: water impacts; [10] Schwartz et al. 2019: efficiency reporting</a:t>
            </a:r>
          </a:p>
        </p:txBody>
      </p:sp>
      <p:sp>
        <p:nvSpPr>
          <p:cNvPr id="11" name="7 / 46">
            <a:extLst>
              <a:ext uri="{FF2B5EF4-FFF2-40B4-BE49-F238E27FC236}">
                <a16:creationId xmlns:a16="http://schemas.microsoft.com/office/drawing/2014/main" id="{950E147C-1927-401F-BA0C-DA4D4797204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14 / 48</a:t>
            </a:r>
          </a:p>
        </p:txBody>
      </p:sp>
    </p:spTree>
    <p:extLst>
      <p:ext uri="{BB962C8B-B14F-4D97-AF65-F5344CB8AC3E}">
        <p14:creationId xmlns:p14="http://schemas.microsoft.com/office/powerpoint/2010/main" val="1340424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3" name="Appendix • Task 1 • Task 1(b) • Worked rotation">
            <a:extLst>
              <a:ext uri="{FF2B5EF4-FFF2-40B4-BE49-F238E27FC236}">
                <a16:creationId xmlns:a16="http://schemas.microsoft.com/office/drawing/2014/main" id="{D8871691-07E4-4EF6-9700-4801BB90779A}"/>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Worked rotation</a:t>
            </a:r>
          </a:p>
        </p:txBody>
      </p:sp>
      <p:sp>
        <p:nvSpPr>
          <p:cNvPr id="2" name="A 90-degree rotation example">
            <a:extLst>
              <a:ext uri="{FF2B5EF4-FFF2-40B4-BE49-F238E27FC236}">
                <a16:creationId xmlns:a16="http://schemas.microsoft.com/office/drawing/2014/main" id="{6E49EEDC-A200-482D-B702-5EE0AC573125}"/>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 90-degree rotation example</a:t>
            </a:r>
          </a:p>
        </p:txBody>
      </p:sp>
      <p:sp>
        <p:nvSpPr>
          <p:cNvPr id="3" name="Input">
            <a:extLst>
              <a:ext uri="{FF2B5EF4-FFF2-40B4-BE49-F238E27FC236}">
                <a16:creationId xmlns:a16="http://schemas.microsoft.com/office/drawing/2014/main" id="{414C1C26-2F79-4340-935C-E1BCD800D6C9}"/>
              </a:ext>
            </a:extLst>
          </p:cNvPr>
          <p:cNvSpPr>
            <a:spLocks noGrp="1"/>
          </p:cNvSpPr>
          <p:nvPr/>
        </p:nvSpPr>
        <p:spPr>
          <a:xfrm>
            <a:off x="609600" y="1514475"/>
            <a:ext cx="403860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Input</a:t>
            </a:r>
          </a:p>
        </p:txBody>
      </p:sp>
      <p:graphicFrame>
        <p:nvGraphicFramePr>
          <p:cNvPr id="4" name="Table 3">
            <a:extLst>
              <a:ext uri="{FF2B5EF4-FFF2-40B4-BE49-F238E27FC236}">
                <a16:creationId xmlns:a16="http://schemas.microsoft.com/office/drawing/2014/main" id="{9082771E-C7FD-4C54-9EE2-D12C66BBBA81}"/>
              </a:ext>
            </a:extLst>
          </p:cNvPr>
          <p:cNvGraphicFramePr/>
          <p:nvPr/>
        </p:nvGraphicFramePr>
        <p:xfrm>
          <a:off x="609600" y="2019300"/>
          <a:ext cx="4019550" cy="2857500"/>
        </p:xfrm>
        <a:graphic>
          <a:graphicData uri="http://schemas.openxmlformats.org/drawingml/2006/table">
            <a:tbl>
              <a:tblPr/>
              <a:tblGrid>
                <a:gridCol w="803910">
                  <a:extLst>
                    <a:ext uri="{9D8B030D-6E8A-4147-A177-3AD203B41FA5}">
                      <a16:colId xmlns:a16="http://schemas.microsoft.com/office/drawing/2014/main" val="20000"/>
                    </a:ext>
                  </a:extLst>
                </a:gridCol>
                <a:gridCol w="803910">
                  <a:extLst>
                    <a:ext uri="{9D8B030D-6E8A-4147-A177-3AD203B41FA5}">
                      <a16:colId xmlns:a16="http://schemas.microsoft.com/office/drawing/2014/main" val="20001"/>
                    </a:ext>
                  </a:extLst>
                </a:gridCol>
                <a:gridCol w="803910">
                  <a:extLst>
                    <a:ext uri="{9D8B030D-6E8A-4147-A177-3AD203B41FA5}">
                      <a16:colId xmlns:a16="http://schemas.microsoft.com/office/drawing/2014/main" val="20002"/>
                    </a:ext>
                  </a:extLst>
                </a:gridCol>
                <a:gridCol w="803910">
                  <a:extLst>
                    <a:ext uri="{9D8B030D-6E8A-4147-A177-3AD203B41FA5}">
                      <a16:colId xmlns:a16="http://schemas.microsoft.com/office/drawing/2014/main" val="20003"/>
                    </a:ext>
                  </a:extLst>
                </a:gridCol>
                <a:gridCol w="803910">
                  <a:extLst>
                    <a:ext uri="{9D8B030D-6E8A-4147-A177-3AD203B41FA5}">
                      <a16:colId xmlns:a16="http://schemas.microsoft.com/office/drawing/2014/main" val="20004"/>
                    </a:ext>
                  </a:extLst>
                </a:gridCol>
              </a:tblGrid>
              <a:tr h="571500">
                <a:tc>
                  <a:txBody>
                    <a:bodyPr/>
                    <a:lstStyle/>
                    <a:p>
                      <a:pPr algn="ctr"/>
                      <a:r>
                        <a:rPr sz="2025">
                          <a:solidFill>
                            <a:srgbClr val="142D45"/>
                          </a:solidFill>
                          <a:latin typeface="Arial"/>
                          <a:ea typeface="Arial"/>
                          <a:cs typeface="Arial"/>
                        </a:rPr>
                        <a:t>0</a:t>
                      </a:r>
                    </a:p>
                  </a:txBody>
                  <a:tcPr anchor="ctr">
                    <a:solidFill>
                      <a:srgbClr val="FFFFFF"/>
                    </a:solidFill>
                  </a:tcPr>
                </a:tc>
                <a:tc>
                  <a:txBody>
                    <a:bodyPr/>
                    <a:lstStyle/>
                    <a:p>
                      <a:pPr algn="ctr"/>
                      <a:r>
                        <a:rPr sz="2025">
                          <a:solidFill>
                            <a:srgbClr val="142D45"/>
                          </a:solidFill>
                          <a:latin typeface="Arial"/>
                          <a:ea typeface="Arial"/>
                          <a:cs typeface="Arial"/>
                        </a:rPr>
                        <a:t>1</a:t>
                      </a:r>
                    </a:p>
                  </a:txBody>
                  <a:tcPr anchor="ctr">
                    <a:solidFill>
                      <a:srgbClr val="FFFFFF"/>
                    </a:solidFill>
                  </a:tcPr>
                </a:tc>
                <a:tc>
                  <a:txBody>
                    <a:bodyPr/>
                    <a:lstStyle/>
                    <a:p>
                      <a:pPr algn="ctr"/>
                      <a:r>
                        <a:rPr sz="2025">
                          <a:solidFill>
                            <a:srgbClr val="142D45"/>
                          </a:solidFill>
                          <a:latin typeface="Arial"/>
                          <a:ea typeface="Arial"/>
                          <a:cs typeface="Arial"/>
                        </a:rPr>
                        <a:t>2</a:t>
                      </a:r>
                    </a:p>
                  </a:txBody>
                  <a:tcPr anchor="ctr">
                    <a:solidFill>
                      <a:srgbClr val="FFFFFF"/>
                    </a:solidFill>
                  </a:tcPr>
                </a:tc>
                <a:tc>
                  <a:txBody>
                    <a:bodyPr/>
                    <a:lstStyle/>
                    <a:p>
                      <a:pPr algn="ctr"/>
                      <a:r>
                        <a:rPr sz="2025">
                          <a:solidFill>
                            <a:srgbClr val="142D45"/>
                          </a:solidFill>
                          <a:latin typeface="Arial"/>
                          <a:ea typeface="Arial"/>
                          <a:cs typeface="Arial"/>
                        </a:rPr>
                        <a:t>3</a:t>
                      </a:r>
                    </a:p>
                  </a:txBody>
                  <a:tcPr anchor="ctr">
                    <a:solidFill>
                      <a:srgbClr val="C2E7E5"/>
                    </a:solidFill>
                  </a:tcPr>
                </a:tc>
                <a:tc>
                  <a:txBody>
                    <a:bodyPr/>
                    <a:lstStyle/>
                    <a:p>
                      <a:pPr algn="ctr"/>
                      <a:r>
                        <a:rPr sz="2025">
                          <a:solidFill>
                            <a:srgbClr val="142D45"/>
                          </a:solidFill>
                          <a:latin typeface="Arial"/>
                          <a:ea typeface="Arial"/>
                          <a:cs typeface="Arial"/>
                        </a:rPr>
                        <a:t>4</a:t>
                      </a:r>
                    </a:p>
                  </a:txBody>
                  <a:tcPr anchor="ctr">
                    <a:solidFill>
                      <a:srgbClr val="FFFFFF"/>
                    </a:solidFill>
                  </a:tcPr>
                </a:tc>
                <a:extLst>
                  <a:ext uri="{0D108BD9-81ED-4DB2-BD59-A6C34878D82A}">
                    <a16:rowId xmlns:a16="http://schemas.microsoft.com/office/drawing/2014/main" val="10000"/>
                  </a:ext>
                </a:extLst>
              </a:tr>
              <a:tr h="571500">
                <a:tc>
                  <a:txBody>
                    <a:bodyPr/>
                    <a:lstStyle/>
                    <a:p>
                      <a:pPr algn="ctr"/>
                      <a:r>
                        <a:rPr sz="2025">
                          <a:solidFill>
                            <a:srgbClr val="142D45"/>
                          </a:solidFill>
                          <a:latin typeface="Arial"/>
                          <a:ea typeface="Arial"/>
                          <a:cs typeface="Arial"/>
                        </a:rPr>
                        <a:t>5</a:t>
                      </a:r>
                    </a:p>
                  </a:txBody>
                  <a:tcPr anchor="ctr">
                    <a:solidFill>
                      <a:srgbClr val="FFFFFF"/>
                    </a:solidFill>
                  </a:tcPr>
                </a:tc>
                <a:tc>
                  <a:txBody>
                    <a:bodyPr/>
                    <a:lstStyle/>
                    <a:p>
                      <a:pPr algn="ctr"/>
                      <a:r>
                        <a:rPr sz="2025">
                          <a:solidFill>
                            <a:srgbClr val="142D45"/>
                          </a:solidFill>
                          <a:latin typeface="Arial"/>
                          <a:ea typeface="Arial"/>
                          <a:cs typeface="Arial"/>
                        </a:rPr>
                        <a:t>6</a:t>
                      </a:r>
                    </a:p>
                  </a:txBody>
                  <a:tcPr anchor="ctr">
                    <a:solidFill>
                      <a:srgbClr val="FFFFFF"/>
                    </a:solidFill>
                  </a:tcPr>
                </a:tc>
                <a:tc>
                  <a:txBody>
                    <a:bodyPr/>
                    <a:lstStyle/>
                    <a:p>
                      <a:pPr algn="ctr"/>
                      <a:r>
                        <a:rPr sz="2025">
                          <a:solidFill>
                            <a:srgbClr val="142D45"/>
                          </a:solidFill>
                          <a:latin typeface="Arial"/>
                          <a:ea typeface="Arial"/>
                          <a:cs typeface="Arial"/>
                        </a:rPr>
                        <a:t>7</a:t>
                      </a:r>
                    </a:p>
                  </a:txBody>
                  <a:tcPr anchor="ctr">
                    <a:solidFill>
                      <a:srgbClr val="FFFFFF"/>
                    </a:solidFill>
                  </a:tcPr>
                </a:tc>
                <a:tc>
                  <a:txBody>
                    <a:bodyPr/>
                    <a:lstStyle/>
                    <a:p>
                      <a:pPr algn="ctr"/>
                      <a:r>
                        <a:rPr sz="2025">
                          <a:solidFill>
                            <a:srgbClr val="142D45"/>
                          </a:solidFill>
                          <a:latin typeface="Arial"/>
                          <a:ea typeface="Arial"/>
                          <a:cs typeface="Arial"/>
                        </a:rPr>
                        <a:t>8</a:t>
                      </a:r>
                    </a:p>
                  </a:txBody>
                  <a:tcPr anchor="ctr">
                    <a:solidFill>
                      <a:srgbClr val="FFFFFF"/>
                    </a:solidFill>
                  </a:tcPr>
                </a:tc>
                <a:tc>
                  <a:txBody>
                    <a:bodyPr/>
                    <a:lstStyle/>
                    <a:p>
                      <a:pPr algn="ctr"/>
                      <a:r>
                        <a:rPr sz="2025">
                          <a:solidFill>
                            <a:srgbClr val="142D45"/>
                          </a:solidFill>
                          <a:latin typeface="Arial"/>
                          <a:ea typeface="Arial"/>
                          <a:cs typeface="Arial"/>
                        </a:rPr>
                        <a:t>9</a:t>
                      </a:r>
                    </a:p>
                  </a:txBody>
                  <a:tcPr anchor="ctr">
                    <a:solidFill>
                      <a:srgbClr val="FFFFFF"/>
                    </a:solidFill>
                  </a:tcPr>
                </a:tc>
                <a:extLst>
                  <a:ext uri="{0D108BD9-81ED-4DB2-BD59-A6C34878D82A}">
                    <a16:rowId xmlns:a16="http://schemas.microsoft.com/office/drawing/2014/main" val="10001"/>
                  </a:ext>
                </a:extLst>
              </a:tr>
              <a:tr h="571500">
                <a:tc>
                  <a:txBody>
                    <a:bodyPr/>
                    <a:lstStyle/>
                    <a:p>
                      <a:pPr algn="ctr"/>
                      <a:r>
                        <a:rPr sz="2025">
                          <a:solidFill>
                            <a:srgbClr val="142D45"/>
                          </a:solidFill>
                          <a:latin typeface="Arial"/>
                          <a:ea typeface="Arial"/>
                          <a:cs typeface="Arial"/>
                        </a:rPr>
                        <a:t>10</a:t>
                      </a:r>
                    </a:p>
                  </a:txBody>
                  <a:tcPr anchor="ctr">
                    <a:solidFill>
                      <a:srgbClr val="FFFFFF"/>
                    </a:solidFill>
                  </a:tcPr>
                </a:tc>
                <a:tc>
                  <a:txBody>
                    <a:bodyPr/>
                    <a:lstStyle/>
                    <a:p>
                      <a:pPr algn="ctr"/>
                      <a:r>
                        <a:rPr sz="2025">
                          <a:solidFill>
                            <a:srgbClr val="142D45"/>
                          </a:solidFill>
                          <a:latin typeface="Arial"/>
                          <a:ea typeface="Arial"/>
                          <a:cs typeface="Arial"/>
                        </a:rPr>
                        <a:t>11</a:t>
                      </a:r>
                    </a:p>
                  </a:txBody>
                  <a:tcPr anchor="ctr">
                    <a:solidFill>
                      <a:srgbClr val="FFFFFF"/>
                    </a:solidFill>
                  </a:tcPr>
                </a:tc>
                <a:tc>
                  <a:txBody>
                    <a:bodyPr/>
                    <a:lstStyle/>
                    <a:p>
                      <a:pPr algn="ctr"/>
                      <a:r>
                        <a:rPr sz="2025">
                          <a:solidFill>
                            <a:srgbClr val="142D45"/>
                          </a:solidFill>
                          <a:latin typeface="Arial"/>
                          <a:ea typeface="Arial"/>
                          <a:cs typeface="Arial"/>
                        </a:rPr>
                        <a:t>12</a:t>
                      </a:r>
                    </a:p>
                  </a:txBody>
                  <a:tcPr anchor="ctr">
                    <a:solidFill>
                      <a:srgbClr val="FFFFFF"/>
                    </a:solidFill>
                  </a:tcPr>
                </a:tc>
                <a:tc>
                  <a:txBody>
                    <a:bodyPr/>
                    <a:lstStyle/>
                    <a:p>
                      <a:pPr algn="ctr"/>
                      <a:r>
                        <a:rPr sz="2025">
                          <a:solidFill>
                            <a:srgbClr val="142D45"/>
                          </a:solidFill>
                          <a:latin typeface="Arial"/>
                          <a:ea typeface="Arial"/>
                          <a:cs typeface="Arial"/>
                        </a:rPr>
                        <a:t>13</a:t>
                      </a:r>
                    </a:p>
                  </a:txBody>
                  <a:tcPr anchor="ctr">
                    <a:solidFill>
                      <a:srgbClr val="FFFFFF"/>
                    </a:solidFill>
                  </a:tcPr>
                </a:tc>
                <a:tc>
                  <a:txBody>
                    <a:bodyPr/>
                    <a:lstStyle/>
                    <a:p>
                      <a:pPr algn="ctr"/>
                      <a:r>
                        <a:rPr sz="2025">
                          <a:solidFill>
                            <a:srgbClr val="142D45"/>
                          </a:solidFill>
                          <a:latin typeface="Arial"/>
                          <a:ea typeface="Arial"/>
                          <a:cs typeface="Arial"/>
                        </a:rPr>
                        <a:t>14</a:t>
                      </a:r>
                    </a:p>
                  </a:txBody>
                  <a:tcPr anchor="ctr">
                    <a:solidFill>
                      <a:srgbClr val="FFFFFF"/>
                    </a:solidFill>
                  </a:tcPr>
                </a:tc>
                <a:extLst>
                  <a:ext uri="{0D108BD9-81ED-4DB2-BD59-A6C34878D82A}">
                    <a16:rowId xmlns:a16="http://schemas.microsoft.com/office/drawing/2014/main" val="10002"/>
                  </a:ext>
                </a:extLst>
              </a:tr>
              <a:tr h="571500">
                <a:tc>
                  <a:txBody>
                    <a:bodyPr/>
                    <a:lstStyle/>
                    <a:p>
                      <a:pPr algn="ctr"/>
                      <a:r>
                        <a:rPr sz="2025">
                          <a:solidFill>
                            <a:srgbClr val="142D45"/>
                          </a:solidFill>
                          <a:latin typeface="Arial"/>
                          <a:ea typeface="Arial"/>
                          <a:cs typeface="Arial"/>
                        </a:rPr>
                        <a:t>15</a:t>
                      </a:r>
                    </a:p>
                  </a:txBody>
                  <a:tcPr anchor="ctr">
                    <a:solidFill>
                      <a:srgbClr val="FFFFFF"/>
                    </a:solidFill>
                  </a:tcPr>
                </a:tc>
                <a:tc>
                  <a:txBody>
                    <a:bodyPr/>
                    <a:lstStyle/>
                    <a:p>
                      <a:pPr algn="ctr"/>
                      <a:r>
                        <a:rPr sz="2025">
                          <a:solidFill>
                            <a:srgbClr val="142D45"/>
                          </a:solidFill>
                          <a:latin typeface="Arial"/>
                          <a:ea typeface="Arial"/>
                          <a:cs typeface="Arial"/>
                        </a:rPr>
                        <a:t>16</a:t>
                      </a:r>
                    </a:p>
                  </a:txBody>
                  <a:tcPr anchor="ctr">
                    <a:solidFill>
                      <a:srgbClr val="FFFFFF"/>
                    </a:solidFill>
                  </a:tcPr>
                </a:tc>
                <a:tc>
                  <a:txBody>
                    <a:bodyPr/>
                    <a:lstStyle/>
                    <a:p>
                      <a:pPr algn="ctr"/>
                      <a:r>
                        <a:rPr sz="2025">
                          <a:solidFill>
                            <a:srgbClr val="142D45"/>
                          </a:solidFill>
                          <a:latin typeface="Arial"/>
                          <a:ea typeface="Arial"/>
                          <a:cs typeface="Arial"/>
                        </a:rPr>
                        <a:t>17</a:t>
                      </a:r>
                    </a:p>
                  </a:txBody>
                  <a:tcPr anchor="ctr">
                    <a:solidFill>
                      <a:srgbClr val="FFFFFF"/>
                    </a:solidFill>
                  </a:tcPr>
                </a:tc>
                <a:tc>
                  <a:txBody>
                    <a:bodyPr/>
                    <a:lstStyle/>
                    <a:p>
                      <a:pPr algn="ctr"/>
                      <a:r>
                        <a:rPr sz="2025">
                          <a:solidFill>
                            <a:srgbClr val="142D45"/>
                          </a:solidFill>
                          <a:latin typeface="Arial"/>
                          <a:ea typeface="Arial"/>
                          <a:cs typeface="Arial"/>
                        </a:rPr>
                        <a:t>18</a:t>
                      </a:r>
                    </a:p>
                  </a:txBody>
                  <a:tcPr anchor="ctr">
                    <a:solidFill>
                      <a:srgbClr val="FFFFFF"/>
                    </a:solidFill>
                  </a:tcPr>
                </a:tc>
                <a:tc>
                  <a:txBody>
                    <a:bodyPr/>
                    <a:lstStyle/>
                    <a:p>
                      <a:pPr algn="ctr"/>
                      <a:r>
                        <a:rPr sz="2025">
                          <a:solidFill>
                            <a:srgbClr val="142D45"/>
                          </a:solidFill>
                          <a:latin typeface="Arial"/>
                          <a:ea typeface="Arial"/>
                          <a:cs typeface="Arial"/>
                        </a:rPr>
                        <a:t>19</a:t>
                      </a:r>
                    </a:p>
                  </a:txBody>
                  <a:tcPr anchor="ctr">
                    <a:solidFill>
                      <a:srgbClr val="FFFFFF"/>
                    </a:solidFill>
                  </a:tcPr>
                </a:tc>
                <a:extLst>
                  <a:ext uri="{0D108BD9-81ED-4DB2-BD59-A6C34878D82A}">
                    <a16:rowId xmlns:a16="http://schemas.microsoft.com/office/drawing/2014/main" val="10003"/>
                  </a:ext>
                </a:extLst>
              </a:tr>
              <a:tr h="571500">
                <a:tc>
                  <a:txBody>
                    <a:bodyPr/>
                    <a:lstStyle/>
                    <a:p>
                      <a:pPr algn="ctr"/>
                      <a:r>
                        <a:rPr sz="2025">
                          <a:solidFill>
                            <a:srgbClr val="142D45"/>
                          </a:solidFill>
                          <a:latin typeface="Arial"/>
                          <a:ea typeface="Arial"/>
                          <a:cs typeface="Arial"/>
                        </a:rPr>
                        <a:t>20</a:t>
                      </a:r>
                    </a:p>
                  </a:txBody>
                  <a:tcPr anchor="ctr">
                    <a:solidFill>
                      <a:srgbClr val="FFFFFF"/>
                    </a:solidFill>
                  </a:tcPr>
                </a:tc>
                <a:tc>
                  <a:txBody>
                    <a:bodyPr/>
                    <a:lstStyle/>
                    <a:p>
                      <a:pPr algn="ctr"/>
                      <a:r>
                        <a:rPr sz="2025">
                          <a:solidFill>
                            <a:srgbClr val="142D45"/>
                          </a:solidFill>
                          <a:latin typeface="Arial"/>
                          <a:ea typeface="Arial"/>
                          <a:cs typeface="Arial"/>
                        </a:rPr>
                        <a:t>21</a:t>
                      </a:r>
                    </a:p>
                  </a:txBody>
                  <a:tcPr anchor="ctr">
                    <a:solidFill>
                      <a:srgbClr val="FFFFFF"/>
                    </a:solidFill>
                  </a:tcPr>
                </a:tc>
                <a:tc>
                  <a:txBody>
                    <a:bodyPr/>
                    <a:lstStyle/>
                    <a:p>
                      <a:pPr algn="ctr"/>
                      <a:r>
                        <a:rPr sz="2025">
                          <a:solidFill>
                            <a:srgbClr val="142D45"/>
                          </a:solidFill>
                          <a:latin typeface="Arial"/>
                          <a:ea typeface="Arial"/>
                          <a:cs typeface="Arial"/>
                        </a:rPr>
                        <a:t>22</a:t>
                      </a:r>
                    </a:p>
                  </a:txBody>
                  <a:tcPr anchor="ctr">
                    <a:solidFill>
                      <a:srgbClr val="FFFFFF"/>
                    </a:solidFill>
                  </a:tcPr>
                </a:tc>
                <a:tc>
                  <a:txBody>
                    <a:bodyPr/>
                    <a:lstStyle/>
                    <a:p>
                      <a:pPr algn="ctr"/>
                      <a:r>
                        <a:rPr sz="2025">
                          <a:solidFill>
                            <a:srgbClr val="142D45"/>
                          </a:solidFill>
                          <a:latin typeface="Arial"/>
                          <a:ea typeface="Arial"/>
                          <a:cs typeface="Arial"/>
                        </a:rPr>
                        <a:t>23</a:t>
                      </a:r>
                    </a:p>
                  </a:txBody>
                  <a:tcPr anchor="ctr">
                    <a:solidFill>
                      <a:srgbClr val="FFFFFF"/>
                    </a:solidFill>
                  </a:tcPr>
                </a:tc>
                <a:tc>
                  <a:txBody>
                    <a:bodyPr/>
                    <a:lstStyle/>
                    <a:p>
                      <a:pPr algn="ctr"/>
                      <a:r>
                        <a:rPr sz="2025">
                          <a:solidFill>
                            <a:srgbClr val="142D45"/>
                          </a:solidFill>
                          <a:latin typeface="Arial"/>
                          <a:ea typeface="Arial"/>
                          <a:cs typeface="Arial"/>
                        </a:rPr>
                        <a:t>24</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Output: 90° counterclockwise">
            <a:extLst>
              <a:ext uri="{FF2B5EF4-FFF2-40B4-BE49-F238E27FC236}">
                <a16:creationId xmlns:a16="http://schemas.microsoft.com/office/drawing/2014/main" id="{B2CBA795-95DE-419E-9589-14F2BECE7E33}"/>
              </a:ext>
            </a:extLst>
          </p:cNvPr>
          <p:cNvSpPr>
            <a:spLocks noGrp="1"/>
          </p:cNvSpPr>
          <p:nvPr/>
        </p:nvSpPr>
        <p:spPr>
          <a:xfrm>
            <a:off x="7562850" y="1514475"/>
            <a:ext cx="403860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Output: 90° counterclockwise</a:t>
            </a:r>
          </a:p>
        </p:txBody>
      </p:sp>
      <p:graphicFrame>
        <p:nvGraphicFramePr>
          <p:cNvPr id="6" name="Table 5">
            <a:extLst>
              <a:ext uri="{FF2B5EF4-FFF2-40B4-BE49-F238E27FC236}">
                <a16:creationId xmlns:a16="http://schemas.microsoft.com/office/drawing/2014/main" id="{C8B341A8-A171-4E93-9593-4576F80A7AF3}"/>
              </a:ext>
            </a:extLst>
          </p:cNvPr>
          <p:cNvGraphicFramePr/>
          <p:nvPr/>
        </p:nvGraphicFramePr>
        <p:xfrm>
          <a:off x="7562850" y="2019300"/>
          <a:ext cx="4019550" cy="2857500"/>
        </p:xfrm>
        <a:graphic>
          <a:graphicData uri="http://schemas.openxmlformats.org/drawingml/2006/table">
            <a:tbl>
              <a:tblPr/>
              <a:tblGrid>
                <a:gridCol w="803910">
                  <a:extLst>
                    <a:ext uri="{9D8B030D-6E8A-4147-A177-3AD203B41FA5}">
                      <a16:colId xmlns:a16="http://schemas.microsoft.com/office/drawing/2014/main" val="20000"/>
                    </a:ext>
                  </a:extLst>
                </a:gridCol>
                <a:gridCol w="803910">
                  <a:extLst>
                    <a:ext uri="{9D8B030D-6E8A-4147-A177-3AD203B41FA5}">
                      <a16:colId xmlns:a16="http://schemas.microsoft.com/office/drawing/2014/main" val="20001"/>
                    </a:ext>
                  </a:extLst>
                </a:gridCol>
                <a:gridCol w="803910">
                  <a:extLst>
                    <a:ext uri="{9D8B030D-6E8A-4147-A177-3AD203B41FA5}">
                      <a16:colId xmlns:a16="http://schemas.microsoft.com/office/drawing/2014/main" val="20002"/>
                    </a:ext>
                  </a:extLst>
                </a:gridCol>
                <a:gridCol w="803910">
                  <a:extLst>
                    <a:ext uri="{9D8B030D-6E8A-4147-A177-3AD203B41FA5}">
                      <a16:colId xmlns:a16="http://schemas.microsoft.com/office/drawing/2014/main" val="20003"/>
                    </a:ext>
                  </a:extLst>
                </a:gridCol>
                <a:gridCol w="803910">
                  <a:extLst>
                    <a:ext uri="{9D8B030D-6E8A-4147-A177-3AD203B41FA5}">
                      <a16:colId xmlns:a16="http://schemas.microsoft.com/office/drawing/2014/main" val="20004"/>
                    </a:ext>
                  </a:extLst>
                </a:gridCol>
              </a:tblGrid>
              <a:tr h="571500">
                <a:tc>
                  <a:txBody>
                    <a:bodyPr/>
                    <a:lstStyle/>
                    <a:p>
                      <a:pPr algn="ctr"/>
                      <a:r>
                        <a:rPr sz="2025">
                          <a:solidFill>
                            <a:srgbClr val="142D45"/>
                          </a:solidFill>
                          <a:latin typeface="Arial"/>
                          <a:ea typeface="Arial"/>
                          <a:cs typeface="Arial"/>
                        </a:rPr>
                        <a:t>4</a:t>
                      </a:r>
                    </a:p>
                  </a:txBody>
                  <a:tcPr anchor="ctr">
                    <a:solidFill>
                      <a:srgbClr val="FFFFFF"/>
                    </a:solidFill>
                  </a:tcPr>
                </a:tc>
                <a:tc>
                  <a:txBody>
                    <a:bodyPr/>
                    <a:lstStyle/>
                    <a:p>
                      <a:pPr algn="ctr"/>
                      <a:r>
                        <a:rPr sz="2025">
                          <a:solidFill>
                            <a:srgbClr val="142D45"/>
                          </a:solidFill>
                          <a:latin typeface="Arial"/>
                          <a:ea typeface="Arial"/>
                          <a:cs typeface="Arial"/>
                        </a:rPr>
                        <a:t>9</a:t>
                      </a:r>
                    </a:p>
                  </a:txBody>
                  <a:tcPr anchor="ctr">
                    <a:solidFill>
                      <a:srgbClr val="FFFFFF"/>
                    </a:solidFill>
                  </a:tcPr>
                </a:tc>
                <a:tc>
                  <a:txBody>
                    <a:bodyPr/>
                    <a:lstStyle/>
                    <a:p>
                      <a:pPr algn="ctr"/>
                      <a:r>
                        <a:rPr sz="2025">
                          <a:solidFill>
                            <a:srgbClr val="142D45"/>
                          </a:solidFill>
                          <a:latin typeface="Arial"/>
                          <a:ea typeface="Arial"/>
                          <a:cs typeface="Arial"/>
                        </a:rPr>
                        <a:t>14</a:t>
                      </a:r>
                    </a:p>
                  </a:txBody>
                  <a:tcPr anchor="ctr">
                    <a:solidFill>
                      <a:srgbClr val="FFFFFF"/>
                    </a:solidFill>
                  </a:tcPr>
                </a:tc>
                <a:tc>
                  <a:txBody>
                    <a:bodyPr/>
                    <a:lstStyle/>
                    <a:p>
                      <a:pPr algn="ctr"/>
                      <a:r>
                        <a:rPr sz="2025">
                          <a:solidFill>
                            <a:srgbClr val="142D45"/>
                          </a:solidFill>
                          <a:latin typeface="Arial"/>
                          <a:ea typeface="Arial"/>
                          <a:cs typeface="Arial"/>
                        </a:rPr>
                        <a:t>19</a:t>
                      </a:r>
                    </a:p>
                  </a:txBody>
                  <a:tcPr anchor="ctr">
                    <a:solidFill>
                      <a:srgbClr val="FFFFFF"/>
                    </a:solidFill>
                  </a:tcPr>
                </a:tc>
                <a:tc>
                  <a:txBody>
                    <a:bodyPr/>
                    <a:lstStyle/>
                    <a:p>
                      <a:pPr algn="ctr"/>
                      <a:r>
                        <a:rPr sz="2025">
                          <a:solidFill>
                            <a:srgbClr val="142D45"/>
                          </a:solidFill>
                          <a:latin typeface="Arial"/>
                          <a:ea typeface="Arial"/>
                          <a:cs typeface="Arial"/>
                        </a:rPr>
                        <a:t>24</a:t>
                      </a:r>
                    </a:p>
                  </a:txBody>
                  <a:tcPr anchor="ctr">
                    <a:solidFill>
                      <a:srgbClr val="FFFFFF"/>
                    </a:solidFill>
                  </a:tcPr>
                </a:tc>
                <a:extLst>
                  <a:ext uri="{0D108BD9-81ED-4DB2-BD59-A6C34878D82A}">
                    <a16:rowId xmlns:a16="http://schemas.microsoft.com/office/drawing/2014/main" val="10000"/>
                  </a:ext>
                </a:extLst>
              </a:tr>
              <a:tr h="571500">
                <a:tc>
                  <a:txBody>
                    <a:bodyPr/>
                    <a:lstStyle/>
                    <a:p>
                      <a:pPr algn="ctr"/>
                      <a:r>
                        <a:rPr sz="2025">
                          <a:solidFill>
                            <a:srgbClr val="142D45"/>
                          </a:solidFill>
                          <a:latin typeface="Arial"/>
                          <a:ea typeface="Arial"/>
                          <a:cs typeface="Arial"/>
                        </a:rPr>
                        <a:t>3</a:t>
                      </a:r>
                    </a:p>
                  </a:txBody>
                  <a:tcPr anchor="ctr">
                    <a:solidFill>
                      <a:srgbClr val="C2E7E5"/>
                    </a:solidFill>
                  </a:tcPr>
                </a:tc>
                <a:tc>
                  <a:txBody>
                    <a:bodyPr/>
                    <a:lstStyle/>
                    <a:p>
                      <a:pPr algn="ctr"/>
                      <a:r>
                        <a:rPr sz="2025">
                          <a:solidFill>
                            <a:srgbClr val="142D45"/>
                          </a:solidFill>
                          <a:latin typeface="Arial"/>
                          <a:ea typeface="Arial"/>
                          <a:cs typeface="Arial"/>
                        </a:rPr>
                        <a:t>8</a:t>
                      </a:r>
                    </a:p>
                  </a:txBody>
                  <a:tcPr anchor="ctr">
                    <a:solidFill>
                      <a:srgbClr val="FFFFFF"/>
                    </a:solidFill>
                  </a:tcPr>
                </a:tc>
                <a:tc>
                  <a:txBody>
                    <a:bodyPr/>
                    <a:lstStyle/>
                    <a:p>
                      <a:pPr algn="ctr"/>
                      <a:r>
                        <a:rPr sz="2025">
                          <a:solidFill>
                            <a:srgbClr val="142D45"/>
                          </a:solidFill>
                          <a:latin typeface="Arial"/>
                          <a:ea typeface="Arial"/>
                          <a:cs typeface="Arial"/>
                        </a:rPr>
                        <a:t>13</a:t>
                      </a:r>
                    </a:p>
                  </a:txBody>
                  <a:tcPr anchor="ctr">
                    <a:solidFill>
                      <a:srgbClr val="FFFFFF"/>
                    </a:solidFill>
                  </a:tcPr>
                </a:tc>
                <a:tc>
                  <a:txBody>
                    <a:bodyPr/>
                    <a:lstStyle/>
                    <a:p>
                      <a:pPr algn="ctr"/>
                      <a:r>
                        <a:rPr sz="2025">
                          <a:solidFill>
                            <a:srgbClr val="142D45"/>
                          </a:solidFill>
                          <a:latin typeface="Arial"/>
                          <a:ea typeface="Arial"/>
                          <a:cs typeface="Arial"/>
                        </a:rPr>
                        <a:t>18</a:t>
                      </a:r>
                    </a:p>
                  </a:txBody>
                  <a:tcPr anchor="ctr">
                    <a:solidFill>
                      <a:srgbClr val="FFFFFF"/>
                    </a:solidFill>
                  </a:tcPr>
                </a:tc>
                <a:tc>
                  <a:txBody>
                    <a:bodyPr/>
                    <a:lstStyle/>
                    <a:p>
                      <a:pPr algn="ctr"/>
                      <a:r>
                        <a:rPr sz="2025">
                          <a:solidFill>
                            <a:srgbClr val="142D45"/>
                          </a:solidFill>
                          <a:latin typeface="Arial"/>
                          <a:ea typeface="Arial"/>
                          <a:cs typeface="Arial"/>
                        </a:rPr>
                        <a:t>23</a:t>
                      </a:r>
                    </a:p>
                  </a:txBody>
                  <a:tcPr anchor="ctr">
                    <a:solidFill>
                      <a:srgbClr val="FFFFFF"/>
                    </a:solidFill>
                  </a:tcPr>
                </a:tc>
                <a:extLst>
                  <a:ext uri="{0D108BD9-81ED-4DB2-BD59-A6C34878D82A}">
                    <a16:rowId xmlns:a16="http://schemas.microsoft.com/office/drawing/2014/main" val="10001"/>
                  </a:ext>
                </a:extLst>
              </a:tr>
              <a:tr h="571500">
                <a:tc>
                  <a:txBody>
                    <a:bodyPr/>
                    <a:lstStyle/>
                    <a:p>
                      <a:pPr algn="ctr"/>
                      <a:r>
                        <a:rPr sz="2025">
                          <a:solidFill>
                            <a:srgbClr val="142D45"/>
                          </a:solidFill>
                          <a:latin typeface="Arial"/>
                          <a:ea typeface="Arial"/>
                          <a:cs typeface="Arial"/>
                        </a:rPr>
                        <a:t>2</a:t>
                      </a:r>
                    </a:p>
                  </a:txBody>
                  <a:tcPr anchor="ctr">
                    <a:solidFill>
                      <a:srgbClr val="FFFFFF"/>
                    </a:solidFill>
                  </a:tcPr>
                </a:tc>
                <a:tc>
                  <a:txBody>
                    <a:bodyPr/>
                    <a:lstStyle/>
                    <a:p>
                      <a:pPr algn="ctr"/>
                      <a:r>
                        <a:rPr sz="2025">
                          <a:solidFill>
                            <a:srgbClr val="142D45"/>
                          </a:solidFill>
                          <a:latin typeface="Arial"/>
                          <a:ea typeface="Arial"/>
                          <a:cs typeface="Arial"/>
                        </a:rPr>
                        <a:t>7</a:t>
                      </a:r>
                    </a:p>
                  </a:txBody>
                  <a:tcPr anchor="ctr">
                    <a:solidFill>
                      <a:srgbClr val="FFFFFF"/>
                    </a:solidFill>
                  </a:tcPr>
                </a:tc>
                <a:tc>
                  <a:txBody>
                    <a:bodyPr/>
                    <a:lstStyle/>
                    <a:p>
                      <a:pPr algn="ctr"/>
                      <a:r>
                        <a:rPr sz="2025">
                          <a:solidFill>
                            <a:srgbClr val="142D45"/>
                          </a:solidFill>
                          <a:latin typeface="Arial"/>
                          <a:ea typeface="Arial"/>
                          <a:cs typeface="Arial"/>
                        </a:rPr>
                        <a:t>12</a:t>
                      </a:r>
                    </a:p>
                  </a:txBody>
                  <a:tcPr anchor="ctr">
                    <a:solidFill>
                      <a:srgbClr val="FFFFFF"/>
                    </a:solidFill>
                  </a:tcPr>
                </a:tc>
                <a:tc>
                  <a:txBody>
                    <a:bodyPr/>
                    <a:lstStyle/>
                    <a:p>
                      <a:pPr algn="ctr"/>
                      <a:r>
                        <a:rPr sz="2025">
                          <a:solidFill>
                            <a:srgbClr val="142D45"/>
                          </a:solidFill>
                          <a:latin typeface="Arial"/>
                          <a:ea typeface="Arial"/>
                          <a:cs typeface="Arial"/>
                        </a:rPr>
                        <a:t>17</a:t>
                      </a:r>
                    </a:p>
                  </a:txBody>
                  <a:tcPr anchor="ctr">
                    <a:solidFill>
                      <a:srgbClr val="FFFFFF"/>
                    </a:solidFill>
                  </a:tcPr>
                </a:tc>
                <a:tc>
                  <a:txBody>
                    <a:bodyPr/>
                    <a:lstStyle/>
                    <a:p>
                      <a:pPr algn="ctr"/>
                      <a:r>
                        <a:rPr sz="2025">
                          <a:solidFill>
                            <a:srgbClr val="142D45"/>
                          </a:solidFill>
                          <a:latin typeface="Arial"/>
                          <a:ea typeface="Arial"/>
                          <a:cs typeface="Arial"/>
                        </a:rPr>
                        <a:t>22</a:t>
                      </a:r>
                    </a:p>
                  </a:txBody>
                  <a:tcPr anchor="ctr">
                    <a:solidFill>
                      <a:srgbClr val="FFFFFF"/>
                    </a:solidFill>
                  </a:tcPr>
                </a:tc>
                <a:extLst>
                  <a:ext uri="{0D108BD9-81ED-4DB2-BD59-A6C34878D82A}">
                    <a16:rowId xmlns:a16="http://schemas.microsoft.com/office/drawing/2014/main" val="10002"/>
                  </a:ext>
                </a:extLst>
              </a:tr>
              <a:tr h="571500">
                <a:tc>
                  <a:txBody>
                    <a:bodyPr/>
                    <a:lstStyle/>
                    <a:p>
                      <a:pPr algn="ctr"/>
                      <a:r>
                        <a:rPr sz="2025">
                          <a:solidFill>
                            <a:srgbClr val="142D45"/>
                          </a:solidFill>
                          <a:latin typeface="Arial"/>
                          <a:ea typeface="Arial"/>
                          <a:cs typeface="Arial"/>
                        </a:rPr>
                        <a:t>1</a:t>
                      </a:r>
                    </a:p>
                  </a:txBody>
                  <a:tcPr anchor="ctr">
                    <a:solidFill>
                      <a:srgbClr val="FFFFFF"/>
                    </a:solidFill>
                  </a:tcPr>
                </a:tc>
                <a:tc>
                  <a:txBody>
                    <a:bodyPr/>
                    <a:lstStyle/>
                    <a:p>
                      <a:pPr algn="ctr"/>
                      <a:r>
                        <a:rPr sz="2025">
                          <a:solidFill>
                            <a:srgbClr val="142D45"/>
                          </a:solidFill>
                          <a:latin typeface="Arial"/>
                          <a:ea typeface="Arial"/>
                          <a:cs typeface="Arial"/>
                        </a:rPr>
                        <a:t>6</a:t>
                      </a:r>
                    </a:p>
                  </a:txBody>
                  <a:tcPr anchor="ctr">
                    <a:solidFill>
                      <a:srgbClr val="FFFFFF"/>
                    </a:solidFill>
                  </a:tcPr>
                </a:tc>
                <a:tc>
                  <a:txBody>
                    <a:bodyPr/>
                    <a:lstStyle/>
                    <a:p>
                      <a:pPr algn="ctr"/>
                      <a:r>
                        <a:rPr sz="2025">
                          <a:solidFill>
                            <a:srgbClr val="142D45"/>
                          </a:solidFill>
                          <a:latin typeface="Arial"/>
                          <a:ea typeface="Arial"/>
                          <a:cs typeface="Arial"/>
                        </a:rPr>
                        <a:t>11</a:t>
                      </a:r>
                    </a:p>
                  </a:txBody>
                  <a:tcPr anchor="ctr">
                    <a:solidFill>
                      <a:srgbClr val="FFFFFF"/>
                    </a:solidFill>
                  </a:tcPr>
                </a:tc>
                <a:tc>
                  <a:txBody>
                    <a:bodyPr/>
                    <a:lstStyle/>
                    <a:p>
                      <a:pPr algn="ctr"/>
                      <a:r>
                        <a:rPr sz="2025">
                          <a:solidFill>
                            <a:srgbClr val="142D45"/>
                          </a:solidFill>
                          <a:latin typeface="Arial"/>
                          <a:ea typeface="Arial"/>
                          <a:cs typeface="Arial"/>
                        </a:rPr>
                        <a:t>16</a:t>
                      </a:r>
                    </a:p>
                  </a:txBody>
                  <a:tcPr anchor="ctr">
                    <a:solidFill>
                      <a:srgbClr val="FFFFFF"/>
                    </a:solidFill>
                  </a:tcPr>
                </a:tc>
                <a:tc>
                  <a:txBody>
                    <a:bodyPr/>
                    <a:lstStyle/>
                    <a:p>
                      <a:pPr algn="ctr"/>
                      <a:r>
                        <a:rPr sz="2025">
                          <a:solidFill>
                            <a:srgbClr val="142D45"/>
                          </a:solidFill>
                          <a:latin typeface="Arial"/>
                          <a:ea typeface="Arial"/>
                          <a:cs typeface="Arial"/>
                        </a:rPr>
                        <a:t>21</a:t>
                      </a:r>
                    </a:p>
                  </a:txBody>
                  <a:tcPr anchor="ctr">
                    <a:solidFill>
                      <a:srgbClr val="FFFFFF"/>
                    </a:solidFill>
                  </a:tcPr>
                </a:tc>
                <a:extLst>
                  <a:ext uri="{0D108BD9-81ED-4DB2-BD59-A6C34878D82A}">
                    <a16:rowId xmlns:a16="http://schemas.microsoft.com/office/drawing/2014/main" val="10003"/>
                  </a:ext>
                </a:extLst>
              </a:tr>
              <a:tr h="571500">
                <a:tc>
                  <a:txBody>
                    <a:bodyPr/>
                    <a:lstStyle/>
                    <a:p>
                      <a:pPr algn="ctr"/>
                      <a:r>
                        <a:rPr sz="2025">
                          <a:solidFill>
                            <a:srgbClr val="142D45"/>
                          </a:solidFill>
                          <a:latin typeface="Arial"/>
                          <a:ea typeface="Arial"/>
                          <a:cs typeface="Arial"/>
                        </a:rPr>
                        <a:t>0</a:t>
                      </a:r>
                    </a:p>
                  </a:txBody>
                  <a:tcPr anchor="ctr">
                    <a:solidFill>
                      <a:srgbClr val="FFFFFF"/>
                    </a:solidFill>
                  </a:tcPr>
                </a:tc>
                <a:tc>
                  <a:txBody>
                    <a:bodyPr/>
                    <a:lstStyle/>
                    <a:p>
                      <a:pPr algn="ctr"/>
                      <a:r>
                        <a:rPr sz="2025">
                          <a:solidFill>
                            <a:srgbClr val="142D45"/>
                          </a:solidFill>
                          <a:latin typeface="Arial"/>
                          <a:ea typeface="Arial"/>
                          <a:cs typeface="Arial"/>
                        </a:rPr>
                        <a:t>5</a:t>
                      </a:r>
                    </a:p>
                  </a:txBody>
                  <a:tcPr anchor="ctr">
                    <a:solidFill>
                      <a:srgbClr val="FFFFFF"/>
                    </a:solidFill>
                  </a:tcPr>
                </a:tc>
                <a:tc>
                  <a:txBody>
                    <a:bodyPr/>
                    <a:lstStyle/>
                    <a:p>
                      <a:pPr algn="ctr"/>
                      <a:r>
                        <a:rPr sz="2025">
                          <a:solidFill>
                            <a:srgbClr val="142D45"/>
                          </a:solidFill>
                          <a:latin typeface="Arial"/>
                          <a:ea typeface="Arial"/>
                          <a:cs typeface="Arial"/>
                        </a:rPr>
                        <a:t>10</a:t>
                      </a:r>
                    </a:p>
                  </a:txBody>
                  <a:tcPr anchor="ctr">
                    <a:solidFill>
                      <a:srgbClr val="FFFFFF"/>
                    </a:solidFill>
                  </a:tcPr>
                </a:tc>
                <a:tc>
                  <a:txBody>
                    <a:bodyPr/>
                    <a:lstStyle/>
                    <a:p>
                      <a:pPr algn="ctr"/>
                      <a:r>
                        <a:rPr sz="2025">
                          <a:solidFill>
                            <a:srgbClr val="142D45"/>
                          </a:solidFill>
                          <a:latin typeface="Arial"/>
                          <a:ea typeface="Arial"/>
                          <a:cs typeface="Arial"/>
                        </a:rPr>
                        <a:t>15</a:t>
                      </a:r>
                    </a:p>
                  </a:txBody>
                  <a:tcPr anchor="ctr">
                    <a:solidFill>
                      <a:srgbClr val="FFFFFF"/>
                    </a:solidFill>
                  </a:tcPr>
                </a:tc>
                <a:tc>
                  <a:txBody>
                    <a:bodyPr/>
                    <a:lstStyle/>
                    <a:p>
                      <a:pPr algn="ctr"/>
                      <a:r>
                        <a:rPr sz="2025">
                          <a:solidFill>
                            <a:srgbClr val="142D45"/>
                          </a:solidFill>
                          <a:latin typeface="Arial"/>
                          <a:ea typeface="Arial"/>
                          <a:cs typeface="Arial"/>
                        </a:rPr>
                        <a:t>20</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θ = 90°&#10;c = 0, s = 1&#10;center = (2,2)">
            <a:extLst>
              <a:ext uri="{FF2B5EF4-FFF2-40B4-BE49-F238E27FC236}">
                <a16:creationId xmlns:a16="http://schemas.microsoft.com/office/drawing/2014/main" id="{A39B6767-E11B-45CB-9377-FAD7375405D6}"/>
              </a:ext>
            </a:extLst>
          </p:cNvPr>
          <p:cNvSpPr>
            <a:spLocks noGrp="1"/>
          </p:cNvSpPr>
          <p:nvPr/>
        </p:nvSpPr>
        <p:spPr>
          <a:xfrm>
            <a:off x="4991100" y="2286000"/>
            <a:ext cx="2057400" cy="959358"/>
          </a:xfrm>
          <a:prstGeom prst="rect">
            <a:avLst/>
          </a:prstGeom>
          <a:noFill/>
          <a:ln w="0">
            <a:noFill/>
          </a:ln>
        </p:spPr>
        <p:txBody>
          <a:bodyPr wrap="square" lIns="0" tIns="0" rIns="0" bIns="0" anchor="t">
            <a:noAutofit/>
          </a:bodyPr>
          <a:lstStyle>
            <a:defPPr algn="ctr">
              <a:defRPr sz="1950" b="0">
                <a:solidFill>
                  <a:srgbClr val="142D45"/>
                </a:solidFill>
                <a:latin typeface="Arial"/>
                <a:ea typeface="Arial"/>
                <a:cs typeface="Arial"/>
              </a:defRPr>
            </a:defPPr>
          </a:lstStyle>
          <a:p>
            <a:pPr algn="ctr">
              <a:defRPr sz="1950" b="0">
                <a:solidFill>
                  <a:srgbClr val="142D45"/>
                </a:solidFill>
                <a:latin typeface="Arial"/>
                <a:ea typeface="Arial"/>
                <a:cs typeface="Arial"/>
              </a:defRPr>
            </a:pPr>
            <a:r>
              <a:rPr sz="1950" b="0">
                <a:solidFill>
                  <a:srgbClr val="142D45"/>
                </a:solidFill>
                <a:latin typeface="Arial"/>
                <a:ea typeface="Arial"/>
                <a:cs typeface="Arial"/>
              </a:rPr>
              <a:t>θ = 90°</a:t>
            </a:r>
          </a:p>
          <a:p>
            <a:pPr algn="ctr">
              <a:defRPr sz="1950" b="0">
                <a:solidFill>
                  <a:srgbClr val="142D45"/>
                </a:solidFill>
                <a:latin typeface="Arial"/>
                <a:ea typeface="Arial"/>
                <a:cs typeface="Arial"/>
              </a:defRPr>
            </a:pPr>
            <a:r>
              <a:rPr sz="1950" b="0">
                <a:solidFill>
                  <a:srgbClr val="142D45"/>
                </a:solidFill>
                <a:latin typeface="Arial"/>
                <a:ea typeface="Arial"/>
                <a:cs typeface="Arial"/>
              </a:rPr>
              <a:t>c = 0, s = 1</a:t>
            </a:r>
          </a:p>
          <a:p>
            <a:pPr algn="ctr">
              <a:defRPr sz="1950" b="0">
                <a:solidFill>
                  <a:srgbClr val="142D45"/>
                </a:solidFill>
                <a:latin typeface="Arial"/>
                <a:ea typeface="Arial"/>
                <a:cs typeface="Arial"/>
              </a:defRPr>
            </a:pPr>
            <a:r>
              <a:rPr sz="1950" b="0">
                <a:solidFill>
                  <a:srgbClr val="142D45"/>
                </a:solidFill>
                <a:latin typeface="Arial"/>
                <a:ea typeface="Arial"/>
                <a:cs typeface="Arial"/>
              </a:rPr>
              <a:t>center = (2,2)</a:t>
            </a:r>
          </a:p>
        </p:txBody>
      </p:sp>
      <p:sp>
        <p:nvSpPr>
          <p:cNvPr id="8" name="Output (0,1) → source (3,0) → value 3">
            <a:extLst>
              <a:ext uri="{FF2B5EF4-FFF2-40B4-BE49-F238E27FC236}">
                <a16:creationId xmlns:a16="http://schemas.microsoft.com/office/drawing/2014/main" id="{2B16DFC9-B962-4F55-B67E-AD6F1A078D31}"/>
              </a:ext>
            </a:extLst>
          </p:cNvPr>
          <p:cNvSpPr>
            <a:spLocks noGrp="1"/>
          </p:cNvSpPr>
          <p:nvPr/>
        </p:nvSpPr>
        <p:spPr>
          <a:xfrm>
            <a:off x="609600" y="5238750"/>
            <a:ext cx="10972800" cy="356997"/>
          </a:xfrm>
          <a:prstGeom prst="rect">
            <a:avLst/>
          </a:prstGeom>
          <a:noFill/>
          <a:ln w="0">
            <a:noFill/>
          </a:ln>
        </p:spPr>
        <p:txBody>
          <a:bodyPr wrap="square" lIns="0" tIns="0" rIns="0" bIns="0" anchor="t">
            <a:noAutofit/>
          </a:bodyPr>
          <a:lstStyle>
            <a:defPPr algn="l">
              <a:defRPr sz="2025" b="1">
                <a:solidFill>
                  <a:srgbClr val="142D45"/>
                </a:solidFill>
                <a:latin typeface="Arial"/>
                <a:ea typeface="Arial"/>
                <a:cs typeface="Arial"/>
              </a:defRPr>
            </a:defPPr>
          </a:lstStyle>
          <a:p>
            <a:pPr algn="l">
              <a:defRPr sz="2025" b="1">
                <a:solidFill>
                  <a:srgbClr val="142D45"/>
                </a:solidFill>
                <a:latin typeface="Arial"/>
                <a:ea typeface="Arial"/>
                <a:cs typeface="Arial"/>
              </a:defRPr>
            </a:pPr>
            <a:r>
              <a:rPr sz="2025" b="1">
                <a:solidFill>
                  <a:srgbClr val="142D45"/>
                </a:solidFill>
                <a:latin typeface="Arial"/>
                <a:ea typeface="Arial"/>
                <a:cs typeface="Arial"/>
              </a:rPr>
              <a:t>Output (0,1) → source (3,0) → value 3</a:t>
            </a:r>
          </a:p>
        </p:txBody>
      </p:sp>
      <p:sp>
        <p:nvSpPr>
          <p:cNvPr id="9" name="The matrix values are illustrative pixel identifiers, n">
            <a:extLst>
              <a:ext uri="{FF2B5EF4-FFF2-40B4-BE49-F238E27FC236}">
                <a16:creationId xmlns:a16="http://schemas.microsoft.com/office/drawing/2014/main" id="{F53AD597-0F79-4620-969E-ACDF8E32EC8D}"/>
              </a:ext>
            </a:extLst>
          </p:cNvPr>
          <p:cNvSpPr>
            <a:spLocks noGrp="1"/>
          </p:cNvSpPr>
          <p:nvPr/>
        </p:nvSpPr>
        <p:spPr>
          <a:xfrm>
            <a:off x="609600" y="5762625"/>
            <a:ext cx="10972800" cy="297942"/>
          </a:xfrm>
          <a:prstGeom prst="rect">
            <a:avLst/>
          </a:prstGeom>
          <a:noFill/>
          <a:ln w="0">
            <a:noFill/>
          </a:ln>
        </p:spPr>
        <p:txBody>
          <a:bodyPr wrap="square" lIns="0" tIns="0" rIns="0" bIns="0" anchor="t">
            <a:noAutofit/>
          </a:bodyPr>
          <a:lstStyle>
            <a:defPPr algn="l">
              <a:defRPr sz="1650" b="0">
                <a:solidFill>
                  <a:srgbClr val="516170"/>
                </a:solidFill>
                <a:latin typeface="Arial"/>
                <a:ea typeface="Arial"/>
                <a:cs typeface="Arial"/>
              </a:defRPr>
            </a:defPPr>
          </a:lstStyle>
          <a:p>
            <a:pPr algn="l">
              <a:defRPr sz="1650" b="0">
                <a:solidFill>
                  <a:srgbClr val="516170"/>
                </a:solidFill>
                <a:latin typeface="Arial"/>
                <a:ea typeface="Arial"/>
                <a:cs typeface="Arial"/>
              </a:defRPr>
            </a:pPr>
            <a:r>
              <a:rPr sz="1650" b="0">
                <a:solidFill>
                  <a:srgbClr val="516170"/>
                </a:solidFill>
                <a:latin typeface="Arial"/>
                <a:ea typeface="Arial"/>
                <a:cs typeface="Arial"/>
              </a:rPr>
              <a:t>The matrix values are illustrative pixel identifiers, not channel intensities.</a:t>
            </a:r>
          </a:p>
        </p:txBody>
      </p:sp>
      <p:sp>
        <p:nvSpPr>
          <p:cNvPr id="10" name="Straight Connector 9">
            <a:extLst>
              <a:ext uri="{FF2B5EF4-FFF2-40B4-BE49-F238E27FC236}">
                <a16:creationId xmlns:a16="http://schemas.microsoft.com/office/drawing/2014/main" id="{15CF9FA0-BB55-4F6D-8F2B-0E3F6E61A8CD}"/>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1" name="FIT3143 Applied 2">
            <a:extLst>
              <a:ext uri="{FF2B5EF4-FFF2-40B4-BE49-F238E27FC236}">
                <a16:creationId xmlns:a16="http://schemas.microsoft.com/office/drawing/2014/main" id="{1ACAD791-9170-4660-8B3C-7F991469C627}"/>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13 / 46">
            <a:extLst>
              <a:ext uri="{FF2B5EF4-FFF2-40B4-BE49-F238E27FC236}">
                <a16:creationId xmlns:a16="http://schemas.microsoft.com/office/drawing/2014/main" id="{E54B2D4D-CC06-4443-9DE7-CF5F8EC68FE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15 / 48</a:t>
            </a:r>
          </a:p>
        </p:txBody>
      </p:sp>
    </p:spTree>
    <p:extLst>
      <p:ext uri="{BB962C8B-B14F-4D97-AF65-F5344CB8AC3E}">
        <p14:creationId xmlns:p14="http://schemas.microsoft.com/office/powerpoint/2010/main" val="1575689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51" name="Appendix • Task 1 • Task 1(b)">
            <a:extLst>
              <a:ext uri="{FF2B5EF4-FFF2-40B4-BE49-F238E27FC236}">
                <a16:creationId xmlns:a16="http://schemas.microsoft.com/office/drawing/2014/main" id="{04F485BE-35DF-45D1-BC04-8FCABCA17954}"/>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launch and execution hierarchy">
            <a:extLst>
              <a:ext uri="{FF2B5EF4-FFF2-40B4-BE49-F238E27FC236}">
                <a16:creationId xmlns:a16="http://schemas.microsoft.com/office/drawing/2014/main" id="{8FAC4D22-0820-4CD5-895A-1D6471C4769D}"/>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launch and execution hierarchy</a:t>
            </a:r>
          </a:p>
        </p:txBody>
      </p:sp>
      <p:sp>
        <p:nvSpPr>
          <p:cNvPr id="3" name="Rectangle 2">
            <a:extLst>
              <a:ext uri="{FF2B5EF4-FFF2-40B4-BE49-F238E27FC236}">
                <a16:creationId xmlns:a16="http://schemas.microsoft.com/office/drawing/2014/main" id="{F84F948C-9A8B-4B52-ACD1-29E4E0122795}"/>
              </a:ext>
            </a:extLst>
          </p:cNvPr>
          <p:cNvSpPr>
            <a:spLocks noGrp="1"/>
          </p:cNvSpPr>
          <p:nvPr/>
        </p:nvSpPr>
        <p:spPr>
          <a:xfrm>
            <a:off x="609600" y="1514475"/>
            <a:ext cx="5943600" cy="1234440"/>
          </a:xfrm>
          <a:prstGeom prst="rect">
            <a:avLst/>
          </a:prstGeom>
          <a:solidFill>
            <a:srgbClr val="EDF1F5"/>
          </a:solidFill>
          <a:ln w="14288">
            <a:noFill/>
            <a:prstDash val="solid"/>
          </a:ln>
        </p:spPr>
        <p:txBody>
          <a:bodyPr/>
          <a:lstStyle/>
          <a:p>
            <a:endParaRPr lang="en-US"/>
          </a:p>
        </p:txBody>
      </p:sp>
      <p:sp>
        <p:nvSpPr>
          <p:cNvPr id="4" name="dim3 block(16,16);&#10;dim3 grid(64,64);&#10;rotate_rgb&lt;&lt;&lt;grid,">
            <a:extLst>
              <a:ext uri="{FF2B5EF4-FFF2-40B4-BE49-F238E27FC236}">
                <a16:creationId xmlns:a16="http://schemas.microsoft.com/office/drawing/2014/main" id="{7CEB8B08-2F55-4B3B-B2AD-15CA00BCDE81}"/>
              </a:ext>
            </a:extLst>
          </p:cNvPr>
          <p:cNvSpPr>
            <a:spLocks noGrp="1"/>
          </p:cNvSpPr>
          <p:nvPr/>
        </p:nvSpPr>
        <p:spPr>
          <a:xfrm>
            <a:off x="723900" y="1600200"/>
            <a:ext cx="5715000" cy="1101090"/>
          </a:xfrm>
          <a:prstGeom prst="rect">
            <a:avLst/>
          </a:prstGeom>
          <a:noFill/>
          <a:ln w="0">
            <a:noFill/>
          </a:ln>
        </p:spPr>
        <p:txBody>
          <a:bodyPr wrap="none" lIns="0" tIns="0" rIns="0" bIns="0" anchor="t">
            <a:noAutofit/>
          </a:bodyPr>
          <a:lstStyle>
            <a:defPPr algn="l">
              <a:defRPr sz="1650" b="0">
                <a:solidFill>
                  <a:srgbClr val="142D45"/>
                </a:solidFill>
                <a:latin typeface="Consolas"/>
                <a:ea typeface="Consolas"/>
                <a:cs typeface="Consolas"/>
              </a:defRPr>
            </a:defPPr>
          </a:lstStyle>
          <a:p>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block(16,16);</a:t>
            </a:r>
          </a:p>
          <a:p>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dim3 grid(64,64);</a:t>
            </a:r>
          </a:p>
          <a:p>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rotate_rgb&lt;&lt;&lt;grid,block&gt;&gt;&gt;(</a:t>
            </a:r>
          </a:p>
          <a:p>
            <a:pPr algn="l">
              <a:defRPr sz="1650" b="0">
                <a:solidFill>
                  <a:srgbClr val="142D45"/>
                </a:solidFill>
                <a:latin typeface="Consolas"/>
                <a:ea typeface="Consolas"/>
                <a:cs typeface="Consolas"/>
              </a:defRPr>
            </a:pPr>
            <a:r>
              <a:rPr sz="1650" b="0">
                <a:solidFill>
                  <a:srgbClr val="142D45"/>
                </a:solidFill>
                <a:latin typeface="Consolas"/>
                <a:ea typeface="Consolas"/>
                <a:cs typeface="Consolas"/>
              </a:rPr>
              <a:t>  d_in,d_out,1024,1024,c,s);</a:t>
            </a:r>
          </a:p>
        </p:txBody>
      </p:sp>
      <p:sp>
        <p:nvSpPr>
          <p:cNvPr id="5" name="Rectangle 4">
            <a:extLst>
              <a:ext uri="{FF2B5EF4-FFF2-40B4-BE49-F238E27FC236}">
                <a16:creationId xmlns:a16="http://schemas.microsoft.com/office/drawing/2014/main" id="{75A52D97-5B73-4971-A672-B6F17E9298F7}"/>
              </a:ext>
            </a:extLst>
          </p:cNvPr>
          <p:cNvSpPr>
            <a:spLocks noGrp="1"/>
          </p:cNvSpPr>
          <p:nvPr/>
        </p:nvSpPr>
        <p:spPr>
          <a:xfrm>
            <a:off x="609600" y="3219450"/>
            <a:ext cx="5943600" cy="948690"/>
          </a:xfrm>
          <a:prstGeom prst="rect">
            <a:avLst/>
          </a:prstGeom>
          <a:solidFill>
            <a:srgbClr val="EDF1F5"/>
          </a:solidFill>
          <a:ln w="14288">
            <a:noFill/>
            <a:prstDash val="solid"/>
          </a:ln>
        </p:spPr>
        <p:txBody>
          <a:bodyPr/>
          <a:lstStyle/>
          <a:p>
            <a:endParaRPr lang="en-US"/>
          </a:p>
        </p:txBody>
      </p:sp>
      <p:sp>
        <p:nvSpPr>
          <p:cNvPr id="6" name="x = blockIdx.x*blockDim.x + threadIdx.x;&#10;y = blockIdx.y">
            <a:extLst>
              <a:ext uri="{FF2B5EF4-FFF2-40B4-BE49-F238E27FC236}">
                <a16:creationId xmlns:a16="http://schemas.microsoft.com/office/drawing/2014/main" id="{BD94402B-DAAA-4D9F-AC1B-08CCCEAAD8D0}"/>
              </a:ext>
            </a:extLst>
          </p:cNvPr>
          <p:cNvSpPr>
            <a:spLocks noGrp="1"/>
          </p:cNvSpPr>
          <p:nvPr/>
        </p:nvSpPr>
        <p:spPr>
          <a:xfrm>
            <a:off x="723900" y="3305175"/>
            <a:ext cx="5715000" cy="815340"/>
          </a:xfrm>
          <a:prstGeom prst="rect">
            <a:avLst/>
          </a:prstGeom>
          <a:noFill/>
          <a:ln w="0">
            <a:noFill/>
          </a:ln>
        </p:spPr>
        <p:txBody>
          <a:bodyPr wrap="none" lIns="0" tIns="0" rIns="0" bIns="0" anchor="t">
            <a:noAutofit/>
          </a:bodyPr>
          <a:lstStyle>
            <a:defPPr algn="l">
              <a:defRPr sz="1575" b="0">
                <a:solidFill>
                  <a:srgbClr val="142D45"/>
                </a:solidFill>
                <a:latin typeface="Consolas"/>
                <a:ea typeface="Consolas"/>
                <a:cs typeface="Consolas"/>
              </a:defRPr>
            </a:defPPr>
          </a:lstStyle>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x = blockIdx.x*blockDim.x + threadIdx.x;</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y = blockIdx.y*blockDim.y + threadIdx.y;</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if (x &gt;= W || y &gt;= H) return;</a:t>
            </a:r>
          </a:p>
        </p:txBody>
      </p:sp>
      <p:sp>
        <p:nvSpPr>
          <p:cNvPr id="7" name="1024 × 1024 output">
            <a:extLst>
              <a:ext uri="{FF2B5EF4-FFF2-40B4-BE49-F238E27FC236}">
                <a16:creationId xmlns:a16="http://schemas.microsoft.com/office/drawing/2014/main" id="{608C80A8-3DCA-4DF5-B0EB-1E67583A16BC}"/>
              </a:ext>
            </a:extLst>
          </p:cNvPr>
          <p:cNvSpPr>
            <a:spLocks noGrp="1"/>
          </p:cNvSpPr>
          <p:nvPr/>
        </p:nvSpPr>
        <p:spPr>
          <a:xfrm>
            <a:off x="7239000" y="1562100"/>
            <a:ext cx="4343400" cy="368808"/>
          </a:xfrm>
          <a:prstGeom prst="rect">
            <a:avLst/>
          </a:prstGeom>
          <a:noFill/>
          <a:ln w="0">
            <a:noFill/>
          </a:ln>
        </p:spPr>
        <p:txBody>
          <a:bodyPr wrap="square" lIns="0" tIns="0" rIns="0" bIns="0" anchor="t">
            <a:noAutofit/>
          </a:bodyPr>
          <a:lstStyle>
            <a:defPPr algn="l">
              <a:defRPr sz="2100" b="1">
                <a:solidFill>
                  <a:srgbClr val="007B83"/>
                </a:solidFill>
                <a:latin typeface="Arial"/>
                <a:ea typeface="Arial"/>
                <a:cs typeface="Arial"/>
              </a:defRPr>
            </a:defPPr>
          </a:lstStyle>
          <a:p>
            <a:pPr algn="l">
              <a:defRPr sz="2100" b="1">
                <a:solidFill>
                  <a:srgbClr val="007B83"/>
                </a:solidFill>
                <a:latin typeface="Arial"/>
                <a:ea typeface="Arial"/>
                <a:cs typeface="Arial"/>
              </a:defRPr>
            </a:pPr>
            <a:r>
              <a:rPr sz="2100" b="1">
                <a:solidFill>
                  <a:srgbClr val="007B83"/>
                </a:solidFill>
                <a:latin typeface="Arial"/>
                <a:ea typeface="Arial"/>
                <a:cs typeface="Arial"/>
              </a:rPr>
              <a:t>1024 × 1024 output</a:t>
            </a:r>
          </a:p>
        </p:txBody>
      </p:sp>
      <p:sp>
        <p:nvSpPr>
          <p:cNvPr id="8" name="64 × 64 = 4,096 blocks">
            <a:extLst>
              <a:ext uri="{FF2B5EF4-FFF2-40B4-BE49-F238E27FC236}">
                <a16:creationId xmlns:a16="http://schemas.microsoft.com/office/drawing/2014/main" id="{F7C1A297-85A4-4707-A398-79CCC5D0E16B}"/>
              </a:ext>
            </a:extLst>
          </p:cNvPr>
          <p:cNvSpPr>
            <a:spLocks noGrp="1"/>
          </p:cNvSpPr>
          <p:nvPr/>
        </p:nvSpPr>
        <p:spPr>
          <a:xfrm>
            <a:off x="7239000" y="2085975"/>
            <a:ext cx="4343400" cy="333375"/>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64 × 64 = 4,096 blocks</a:t>
            </a:r>
          </a:p>
        </p:txBody>
      </p:sp>
      <p:sp>
        <p:nvSpPr>
          <p:cNvPr id="9" name="16 × 16 = 256 threads/block">
            <a:extLst>
              <a:ext uri="{FF2B5EF4-FFF2-40B4-BE49-F238E27FC236}">
                <a16:creationId xmlns:a16="http://schemas.microsoft.com/office/drawing/2014/main" id="{F59E2AD1-0E72-4646-B98C-655B2FD8E208}"/>
              </a:ext>
            </a:extLst>
          </p:cNvPr>
          <p:cNvSpPr>
            <a:spLocks noGrp="1"/>
          </p:cNvSpPr>
          <p:nvPr/>
        </p:nvSpPr>
        <p:spPr>
          <a:xfrm>
            <a:off x="7239000" y="2571750"/>
            <a:ext cx="4343400" cy="333375"/>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16 × 16 = 256 threads/block</a:t>
            </a:r>
          </a:p>
        </p:txBody>
      </p:sp>
      <p:sp>
        <p:nvSpPr>
          <p:cNvPr id="10" name="1,048,576 logical threads">
            <a:extLst>
              <a:ext uri="{FF2B5EF4-FFF2-40B4-BE49-F238E27FC236}">
                <a16:creationId xmlns:a16="http://schemas.microsoft.com/office/drawing/2014/main" id="{0FE3CDA4-621F-432C-9003-B26BD01ADBF2}"/>
              </a:ext>
            </a:extLst>
          </p:cNvPr>
          <p:cNvSpPr>
            <a:spLocks noGrp="1"/>
          </p:cNvSpPr>
          <p:nvPr/>
        </p:nvSpPr>
        <p:spPr>
          <a:xfrm>
            <a:off x="7239000" y="3057525"/>
            <a:ext cx="4343400" cy="333375"/>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1,048,576 logical threads</a:t>
            </a:r>
          </a:p>
        </p:txBody>
      </p:sp>
      <p:sp>
        <p:nvSpPr>
          <p:cNvPr id="11" name="32 threads/warp → 8 warps/block">
            <a:extLst>
              <a:ext uri="{FF2B5EF4-FFF2-40B4-BE49-F238E27FC236}">
                <a16:creationId xmlns:a16="http://schemas.microsoft.com/office/drawing/2014/main" id="{8C1FDD40-FDB3-495C-B1C0-5C07C206205B}"/>
              </a:ext>
            </a:extLst>
          </p:cNvPr>
          <p:cNvSpPr>
            <a:spLocks noGrp="1"/>
          </p:cNvSpPr>
          <p:nvPr/>
        </p:nvSpPr>
        <p:spPr>
          <a:xfrm>
            <a:off x="7239000" y="3543300"/>
            <a:ext cx="4343400" cy="333375"/>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32 threads/warp → 8 warps/block</a:t>
            </a:r>
          </a:p>
        </p:txBody>
      </p:sp>
      <p:sp>
        <p:nvSpPr>
          <p:cNvPr id="12" name="One highlighted warp within a 16-wide block">
            <a:extLst>
              <a:ext uri="{FF2B5EF4-FFF2-40B4-BE49-F238E27FC236}">
                <a16:creationId xmlns:a16="http://schemas.microsoft.com/office/drawing/2014/main" id="{4D6720C3-DB89-4BE4-B82C-974CCE844F62}"/>
              </a:ext>
            </a:extLst>
          </p:cNvPr>
          <p:cNvSpPr>
            <a:spLocks noGrp="1"/>
          </p:cNvSpPr>
          <p:nvPr/>
        </p:nvSpPr>
        <p:spPr>
          <a:xfrm>
            <a:off x="7239000" y="4029075"/>
            <a:ext cx="4343400" cy="27432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One highlighted warp within a 16-wide block</a:t>
            </a:r>
          </a:p>
        </p:txBody>
      </p:sp>
      <p:sp>
        <p:nvSpPr>
          <p:cNvPr id="13" name="Rectangle 12">
            <a:extLst>
              <a:ext uri="{FF2B5EF4-FFF2-40B4-BE49-F238E27FC236}">
                <a16:creationId xmlns:a16="http://schemas.microsoft.com/office/drawing/2014/main" id="{313BFD3F-0C7D-4DF5-BE43-CCE7598F0659}"/>
              </a:ext>
            </a:extLst>
          </p:cNvPr>
          <p:cNvSpPr>
            <a:spLocks noGrp="1"/>
          </p:cNvSpPr>
          <p:nvPr/>
        </p:nvSpPr>
        <p:spPr>
          <a:xfrm>
            <a:off x="723900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4" name="Rectangle 13">
            <a:extLst>
              <a:ext uri="{FF2B5EF4-FFF2-40B4-BE49-F238E27FC236}">
                <a16:creationId xmlns:a16="http://schemas.microsoft.com/office/drawing/2014/main" id="{A85A09C1-56A1-4562-8724-B2E487BCD615}"/>
              </a:ext>
            </a:extLst>
          </p:cNvPr>
          <p:cNvSpPr>
            <a:spLocks noGrp="1"/>
          </p:cNvSpPr>
          <p:nvPr/>
        </p:nvSpPr>
        <p:spPr>
          <a:xfrm>
            <a:off x="747712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5" name="Rectangle 14">
            <a:extLst>
              <a:ext uri="{FF2B5EF4-FFF2-40B4-BE49-F238E27FC236}">
                <a16:creationId xmlns:a16="http://schemas.microsoft.com/office/drawing/2014/main" id="{4AD206BB-8E29-464D-91A6-81B221DCD180}"/>
              </a:ext>
            </a:extLst>
          </p:cNvPr>
          <p:cNvSpPr>
            <a:spLocks noGrp="1"/>
          </p:cNvSpPr>
          <p:nvPr/>
        </p:nvSpPr>
        <p:spPr>
          <a:xfrm>
            <a:off x="771525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6" name="Rectangle 15">
            <a:extLst>
              <a:ext uri="{FF2B5EF4-FFF2-40B4-BE49-F238E27FC236}">
                <a16:creationId xmlns:a16="http://schemas.microsoft.com/office/drawing/2014/main" id="{F452EC67-B3D3-4937-88AC-11C8D8D6D38E}"/>
              </a:ext>
            </a:extLst>
          </p:cNvPr>
          <p:cNvSpPr>
            <a:spLocks noGrp="1"/>
          </p:cNvSpPr>
          <p:nvPr/>
        </p:nvSpPr>
        <p:spPr>
          <a:xfrm>
            <a:off x="795337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7" name="Rectangle 16">
            <a:extLst>
              <a:ext uri="{FF2B5EF4-FFF2-40B4-BE49-F238E27FC236}">
                <a16:creationId xmlns:a16="http://schemas.microsoft.com/office/drawing/2014/main" id="{71491BD8-6A07-486B-9FD5-81F79AAB0DDF}"/>
              </a:ext>
            </a:extLst>
          </p:cNvPr>
          <p:cNvSpPr>
            <a:spLocks noGrp="1"/>
          </p:cNvSpPr>
          <p:nvPr/>
        </p:nvSpPr>
        <p:spPr>
          <a:xfrm>
            <a:off x="819150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8" name="Rectangle 17">
            <a:extLst>
              <a:ext uri="{FF2B5EF4-FFF2-40B4-BE49-F238E27FC236}">
                <a16:creationId xmlns:a16="http://schemas.microsoft.com/office/drawing/2014/main" id="{480ED638-7403-4118-A3E1-32BE82831617}"/>
              </a:ext>
            </a:extLst>
          </p:cNvPr>
          <p:cNvSpPr>
            <a:spLocks noGrp="1"/>
          </p:cNvSpPr>
          <p:nvPr/>
        </p:nvSpPr>
        <p:spPr>
          <a:xfrm>
            <a:off x="842962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19" name="Rectangle 18">
            <a:extLst>
              <a:ext uri="{FF2B5EF4-FFF2-40B4-BE49-F238E27FC236}">
                <a16:creationId xmlns:a16="http://schemas.microsoft.com/office/drawing/2014/main" id="{F8DC1049-2EE0-49E3-8908-F210BE0765EF}"/>
              </a:ext>
            </a:extLst>
          </p:cNvPr>
          <p:cNvSpPr>
            <a:spLocks noGrp="1"/>
          </p:cNvSpPr>
          <p:nvPr/>
        </p:nvSpPr>
        <p:spPr>
          <a:xfrm>
            <a:off x="866775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0" name="Rectangle 19">
            <a:extLst>
              <a:ext uri="{FF2B5EF4-FFF2-40B4-BE49-F238E27FC236}">
                <a16:creationId xmlns:a16="http://schemas.microsoft.com/office/drawing/2014/main" id="{11F8C41B-E053-40FA-A2B7-C172A6550CB3}"/>
              </a:ext>
            </a:extLst>
          </p:cNvPr>
          <p:cNvSpPr>
            <a:spLocks noGrp="1"/>
          </p:cNvSpPr>
          <p:nvPr/>
        </p:nvSpPr>
        <p:spPr>
          <a:xfrm>
            <a:off x="890587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1" name="Rectangle 20">
            <a:extLst>
              <a:ext uri="{FF2B5EF4-FFF2-40B4-BE49-F238E27FC236}">
                <a16:creationId xmlns:a16="http://schemas.microsoft.com/office/drawing/2014/main" id="{AC76518D-5802-4F26-AF6D-2DD336CA8C7C}"/>
              </a:ext>
            </a:extLst>
          </p:cNvPr>
          <p:cNvSpPr>
            <a:spLocks noGrp="1"/>
          </p:cNvSpPr>
          <p:nvPr/>
        </p:nvSpPr>
        <p:spPr>
          <a:xfrm>
            <a:off x="914400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2" name="Rectangle 21">
            <a:extLst>
              <a:ext uri="{FF2B5EF4-FFF2-40B4-BE49-F238E27FC236}">
                <a16:creationId xmlns:a16="http://schemas.microsoft.com/office/drawing/2014/main" id="{0BEAC2DA-BDA7-42C1-B8FE-3B567298BFDD}"/>
              </a:ext>
            </a:extLst>
          </p:cNvPr>
          <p:cNvSpPr>
            <a:spLocks noGrp="1"/>
          </p:cNvSpPr>
          <p:nvPr/>
        </p:nvSpPr>
        <p:spPr>
          <a:xfrm>
            <a:off x="938212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3" name="Rectangle 22">
            <a:extLst>
              <a:ext uri="{FF2B5EF4-FFF2-40B4-BE49-F238E27FC236}">
                <a16:creationId xmlns:a16="http://schemas.microsoft.com/office/drawing/2014/main" id="{E4E49AB2-2168-4364-A5FC-E574B393A7D3}"/>
              </a:ext>
            </a:extLst>
          </p:cNvPr>
          <p:cNvSpPr>
            <a:spLocks noGrp="1"/>
          </p:cNvSpPr>
          <p:nvPr/>
        </p:nvSpPr>
        <p:spPr>
          <a:xfrm>
            <a:off x="962025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4" name="Rectangle 23">
            <a:extLst>
              <a:ext uri="{FF2B5EF4-FFF2-40B4-BE49-F238E27FC236}">
                <a16:creationId xmlns:a16="http://schemas.microsoft.com/office/drawing/2014/main" id="{C9411523-0AAC-4765-9BD4-4E44F3CB167F}"/>
              </a:ext>
            </a:extLst>
          </p:cNvPr>
          <p:cNvSpPr>
            <a:spLocks noGrp="1"/>
          </p:cNvSpPr>
          <p:nvPr/>
        </p:nvSpPr>
        <p:spPr>
          <a:xfrm>
            <a:off x="985837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5" name="Rectangle 24">
            <a:extLst>
              <a:ext uri="{FF2B5EF4-FFF2-40B4-BE49-F238E27FC236}">
                <a16:creationId xmlns:a16="http://schemas.microsoft.com/office/drawing/2014/main" id="{50E6EDAC-27B5-459B-83F1-A4772855EC6C}"/>
              </a:ext>
            </a:extLst>
          </p:cNvPr>
          <p:cNvSpPr>
            <a:spLocks noGrp="1"/>
          </p:cNvSpPr>
          <p:nvPr/>
        </p:nvSpPr>
        <p:spPr>
          <a:xfrm>
            <a:off x="1009650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6" name="Rectangle 25">
            <a:extLst>
              <a:ext uri="{FF2B5EF4-FFF2-40B4-BE49-F238E27FC236}">
                <a16:creationId xmlns:a16="http://schemas.microsoft.com/office/drawing/2014/main" id="{7DE45605-8DAA-4A08-85D9-CEA84D8CDC2E}"/>
              </a:ext>
            </a:extLst>
          </p:cNvPr>
          <p:cNvSpPr>
            <a:spLocks noGrp="1"/>
          </p:cNvSpPr>
          <p:nvPr/>
        </p:nvSpPr>
        <p:spPr>
          <a:xfrm>
            <a:off x="1033462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7" name="Rectangle 26">
            <a:extLst>
              <a:ext uri="{FF2B5EF4-FFF2-40B4-BE49-F238E27FC236}">
                <a16:creationId xmlns:a16="http://schemas.microsoft.com/office/drawing/2014/main" id="{342F46F1-DB5D-444D-92D6-2BE913F73333}"/>
              </a:ext>
            </a:extLst>
          </p:cNvPr>
          <p:cNvSpPr>
            <a:spLocks noGrp="1"/>
          </p:cNvSpPr>
          <p:nvPr/>
        </p:nvSpPr>
        <p:spPr>
          <a:xfrm>
            <a:off x="10572750"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8" name="Rectangle 27">
            <a:extLst>
              <a:ext uri="{FF2B5EF4-FFF2-40B4-BE49-F238E27FC236}">
                <a16:creationId xmlns:a16="http://schemas.microsoft.com/office/drawing/2014/main" id="{CBF7CD13-3C16-42D9-9D57-F11014EBB39F}"/>
              </a:ext>
            </a:extLst>
          </p:cNvPr>
          <p:cNvSpPr>
            <a:spLocks noGrp="1"/>
          </p:cNvSpPr>
          <p:nvPr/>
        </p:nvSpPr>
        <p:spPr>
          <a:xfrm>
            <a:off x="10810875" y="4410075"/>
            <a:ext cx="190500" cy="190500"/>
          </a:xfrm>
          <a:prstGeom prst="rect">
            <a:avLst/>
          </a:prstGeom>
          <a:solidFill>
            <a:srgbClr val="007B83"/>
          </a:solidFill>
          <a:ln w="14288">
            <a:solidFill>
              <a:srgbClr val="007B83"/>
            </a:solidFill>
            <a:prstDash val="solid"/>
          </a:ln>
        </p:spPr>
        <p:txBody>
          <a:bodyPr/>
          <a:lstStyle/>
          <a:p>
            <a:endParaRPr lang="en-US"/>
          </a:p>
        </p:txBody>
      </p:sp>
      <p:sp>
        <p:nvSpPr>
          <p:cNvPr id="29" name="Rectangle 28">
            <a:extLst>
              <a:ext uri="{FF2B5EF4-FFF2-40B4-BE49-F238E27FC236}">
                <a16:creationId xmlns:a16="http://schemas.microsoft.com/office/drawing/2014/main" id="{1EBBD3B5-F00E-4848-BBAE-7776E4CC4282}"/>
              </a:ext>
            </a:extLst>
          </p:cNvPr>
          <p:cNvSpPr>
            <a:spLocks noGrp="1"/>
          </p:cNvSpPr>
          <p:nvPr/>
        </p:nvSpPr>
        <p:spPr>
          <a:xfrm>
            <a:off x="723900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0" name="Rectangle 29">
            <a:extLst>
              <a:ext uri="{FF2B5EF4-FFF2-40B4-BE49-F238E27FC236}">
                <a16:creationId xmlns:a16="http://schemas.microsoft.com/office/drawing/2014/main" id="{F8905826-A8FA-489F-B4A2-71CA2E8DD02B}"/>
              </a:ext>
            </a:extLst>
          </p:cNvPr>
          <p:cNvSpPr>
            <a:spLocks noGrp="1"/>
          </p:cNvSpPr>
          <p:nvPr/>
        </p:nvSpPr>
        <p:spPr>
          <a:xfrm>
            <a:off x="747712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1" name="Rectangle 30">
            <a:extLst>
              <a:ext uri="{FF2B5EF4-FFF2-40B4-BE49-F238E27FC236}">
                <a16:creationId xmlns:a16="http://schemas.microsoft.com/office/drawing/2014/main" id="{E86881ED-2501-4632-B494-4AD527BE422E}"/>
              </a:ext>
            </a:extLst>
          </p:cNvPr>
          <p:cNvSpPr>
            <a:spLocks noGrp="1"/>
          </p:cNvSpPr>
          <p:nvPr/>
        </p:nvSpPr>
        <p:spPr>
          <a:xfrm>
            <a:off x="771525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2" name="Rectangle 31">
            <a:extLst>
              <a:ext uri="{FF2B5EF4-FFF2-40B4-BE49-F238E27FC236}">
                <a16:creationId xmlns:a16="http://schemas.microsoft.com/office/drawing/2014/main" id="{016EB699-88B2-4794-9DCF-3E025AD5F609}"/>
              </a:ext>
            </a:extLst>
          </p:cNvPr>
          <p:cNvSpPr>
            <a:spLocks noGrp="1"/>
          </p:cNvSpPr>
          <p:nvPr/>
        </p:nvSpPr>
        <p:spPr>
          <a:xfrm>
            <a:off x="795337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3" name="Rectangle 32">
            <a:extLst>
              <a:ext uri="{FF2B5EF4-FFF2-40B4-BE49-F238E27FC236}">
                <a16:creationId xmlns:a16="http://schemas.microsoft.com/office/drawing/2014/main" id="{02EABCE2-34AE-4522-AD1B-3F071CF5563E}"/>
              </a:ext>
            </a:extLst>
          </p:cNvPr>
          <p:cNvSpPr>
            <a:spLocks noGrp="1"/>
          </p:cNvSpPr>
          <p:nvPr/>
        </p:nvSpPr>
        <p:spPr>
          <a:xfrm>
            <a:off x="819150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4" name="Rectangle 33">
            <a:extLst>
              <a:ext uri="{FF2B5EF4-FFF2-40B4-BE49-F238E27FC236}">
                <a16:creationId xmlns:a16="http://schemas.microsoft.com/office/drawing/2014/main" id="{C9988559-E918-4A54-AA71-E076889B4482}"/>
              </a:ext>
            </a:extLst>
          </p:cNvPr>
          <p:cNvSpPr>
            <a:spLocks noGrp="1"/>
          </p:cNvSpPr>
          <p:nvPr/>
        </p:nvSpPr>
        <p:spPr>
          <a:xfrm>
            <a:off x="842962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5" name="Rectangle 34">
            <a:extLst>
              <a:ext uri="{FF2B5EF4-FFF2-40B4-BE49-F238E27FC236}">
                <a16:creationId xmlns:a16="http://schemas.microsoft.com/office/drawing/2014/main" id="{BD95F003-0A69-4479-A54D-798995C78C83}"/>
              </a:ext>
            </a:extLst>
          </p:cNvPr>
          <p:cNvSpPr>
            <a:spLocks noGrp="1"/>
          </p:cNvSpPr>
          <p:nvPr/>
        </p:nvSpPr>
        <p:spPr>
          <a:xfrm>
            <a:off x="866775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6" name="Rectangle 35">
            <a:extLst>
              <a:ext uri="{FF2B5EF4-FFF2-40B4-BE49-F238E27FC236}">
                <a16:creationId xmlns:a16="http://schemas.microsoft.com/office/drawing/2014/main" id="{39A270EA-28F3-4268-8B53-DB5650015CDB}"/>
              </a:ext>
            </a:extLst>
          </p:cNvPr>
          <p:cNvSpPr>
            <a:spLocks noGrp="1"/>
          </p:cNvSpPr>
          <p:nvPr/>
        </p:nvSpPr>
        <p:spPr>
          <a:xfrm>
            <a:off x="890587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7" name="Rectangle 36">
            <a:extLst>
              <a:ext uri="{FF2B5EF4-FFF2-40B4-BE49-F238E27FC236}">
                <a16:creationId xmlns:a16="http://schemas.microsoft.com/office/drawing/2014/main" id="{49E622B9-475A-43B2-85DF-592D0DBB81A7}"/>
              </a:ext>
            </a:extLst>
          </p:cNvPr>
          <p:cNvSpPr>
            <a:spLocks noGrp="1"/>
          </p:cNvSpPr>
          <p:nvPr/>
        </p:nvSpPr>
        <p:spPr>
          <a:xfrm>
            <a:off x="914400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8" name="Rectangle 37">
            <a:extLst>
              <a:ext uri="{FF2B5EF4-FFF2-40B4-BE49-F238E27FC236}">
                <a16:creationId xmlns:a16="http://schemas.microsoft.com/office/drawing/2014/main" id="{FE9AE0AC-2491-43EF-A097-3DDBC7A22387}"/>
              </a:ext>
            </a:extLst>
          </p:cNvPr>
          <p:cNvSpPr>
            <a:spLocks noGrp="1"/>
          </p:cNvSpPr>
          <p:nvPr/>
        </p:nvSpPr>
        <p:spPr>
          <a:xfrm>
            <a:off x="938212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39" name="Rectangle 38">
            <a:extLst>
              <a:ext uri="{FF2B5EF4-FFF2-40B4-BE49-F238E27FC236}">
                <a16:creationId xmlns:a16="http://schemas.microsoft.com/office/drawing/2014/main" id="{2EA9610B-DFB1-4972-A6D2-3971914DE61D}"/>
              </a:ext>
            </a:extLst>
          </p:cNvPr>
          <p:cNvSpPr>
            <a:spLocks noGrp="1"/>
          </p:cNvSpPr>
          <p:nvPr/>
        </p:nvSpPr>
        <p:spPr>
          <a:xfrm>
            <a:off x="962025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0" name="Rectangle 39">
            <a:extLst>
              <a:ext uri="{FF2B5EF4-FFF2-40B4-BE49-F238E27FC236}">
                <a16:creationId xmlns:a16="http://schemas.microsoft.com/office/drawing/2014/main" id="{FA154CC3-BD87-423F-94E0-51A7CF3CF69D}"/>
              </a:ext>
            </a:extLst>
          </p:cNvPr>
          <p:cNvSpPr>
            <a:spLocks noGrp="1"/>
          </p:cNvSpPr>
          <p:nvPr/>
        </p:nvSpPr>
        <p:spPr>
          <a:xfrm>
            <a:off x="985837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1" name="Rectangle 40">
            <a:extLst>
              <a:ext uri="{FF2B5EF4-FFF2-40B4-BE49-F238E27FC236}">
                <a16:creationId xmlns:a16="http://schemas.microsoft.com/office/drawing/2014/main" id="{825EE67F-A607-4875-91C3-5174D1C32F0F}"/>
              </a:ext>
            </a:extLst>
          </p:cNvPr>
          <p:cNvSpPr>
            <a:spLocks noGrp="1"/>
          </p:cNvSpPr>
          <p:nvPr/>
        </p:nvSpPr>
        <p:spPr>
          <a:xfrm>
            <a:off x="1009650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2" name="Rectangle 41">
            <a:extLst>
              <a:ext uri="{FF2B5EF4-FFF2-40B4-BE49-F238E27FC236}">
                <a16:creationId xmlns:a16="http://schemas.microsoft.com/office/drawing/2014/main" id="{29FA10AA-33CE-454B-8C0F-A3607BE7DBC5}"/>
              </a:ext>
            </a:extLst>
          </p:cNvPr>
          <p:cNvSpPr>
            <a:spLocks noGrp="1"/>
          </p:cNvSpPr>
          <p:nvPr/>
        </p:nvSpPr>
        <p:spPr>
          <a:xfrm>
            <a:off x="1033462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3" name="Rectangle 42">
            <a:extLst>
              <a:ext uri="{FF2B5EF4-FFF2-40B4-BE49-F238E27FC236}">
                <a16:creationId xmlns:a16="http://schemas.microsoft.com/office/drawing/2014/main" id="{F13B9249-0BD7-4AEB-8034-C92F29761828}"/>
              </a:ext>
            </a:extLst>
          </p:cNvPr>
          <p:cNvSpPr>
            <a:spLocks noGrp="1"/>
          </p:cNvSpPr>
          <p:nvPr/>
        </p:nvSpPr>
        <p:spPr>
          <a:xfrm>
            <a:off x="10572750"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4" name="Rectangle 43">
            <a:extLst>
              <a:ext uri="{FF2B5EF4-FFF2-40B4-BE49-F238E27FC236}">
                <a16:creationId xmlns:a16="http://schemas.microsoft.com/office/drawing/2014/main" id="{B35199B7-84EE-4143-A0F4-C90A334E89AE}"/>
              </a:ext>
            </a:extLst>
          </p:cNvPr>
          <p:cNvSpPr>
            <a:spLocks noGrp="1"/>
          </p:cNvSpPr>
          <p:nvPr/>
        </p:nvSpPr>
        <p:spPr>
          <a:xfrm>
            <a:off x="10810875" y="4648200"/>
            <a:ext cx="190500" cy="190500"/>
          </a:xfrm>
          <a:prstGeom prst="rect">
            <a:avLst/>
          </a:prstGeom>
          <a:solidFill>
            <a:srgbClr val="007B83"/>
          </a:solidFill>
          <a:ln w="14288">
            <a:solidFill>
              <a:srgbClr val="007B83"/>
            </a:solidFill>
            <a:prstDash val="solid"/>
          </a:ln>
        </p:spPr>
        <p:txBody>
          <a:bodyPr/>
          <a:lstStyle/>
          <a:p>
            <a:endParaRPr lang="en-US"/>
          </a:p>
        </p:txBody>
      </p:sp>
      <p:sp>
        <p:nvSpPr>
          <p:cNvPr id="45" name="Non-multiple dimensions: ceil-divide the grid and keep ">
            <a:extLst>
              <a:ext uri="{FF2B5EF4-FFF2-40B4-BE49-F238E27FC236}">
                <a16:creationId xmlns:a16="http://schemas.microsoft.com/office/drawing/2014/main" id="{28A8B3E8-0C0E-4BEB-8765-9FC77E276C48}"/>
              </a:ext>
            </a:extLst>
          </p:cNvPr>
          <p:cNvSpPr>
            <a:spLocks noGrp="1"/>
          </p:cNvSpPr>
          <p:nvPr/>
        </p:nvSpPr>
        <p:spPr>
          <a:xfrm>
            <a:off x="609600" y="5143500"/>
            <a:ext cx="10972800" cy="309753"/>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Non-multiple dimensions: ceil-divide the grid and keep the bounds guard.</a:t>
            </a:r>
          </a:p>
        </p:txBody>
      </p:sp>
      <p:sp>
        <p:nvSpPr>
          <p:cNvPr id="46" name="Straight Connector 45">
            <a:extLst>
              <a:ext uri="{FF2B5EF4-FFF2-40B4-BE49-F238E27FC236}">
                <a16:creationId xmlns:a16="http://schemas.microsoft.com/office/drawing/2014/main" id="{2D692DBD-6D65-4934-94CD-C29D00F88A39}"/>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47" name="A grid specifies logical work; finite SMs schedule its ">
            <a:extLst>
              <a:ext uri="{FF2B5EF4-FFF2-40B4-BE49-F238E27FC236}">
                <a16:creationId xmlns:a16="http://schemas.microsoft.com/office/drawing/2014/main" id="{02D6D90F-1459-4B1E-906C-6DFCADA75884}"/>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A grid specifies logical work; finite SMs schedule its blocks and warps.</a:t>
            </a:r>
          </a:p>
        </p:txBody>
      </p:sp>
      <p:sp>
        <p:nvSpPr>
          <p:cNvPr id="48" name="Straight Connector 47">
            <a:extLst>
              <a:ext uri="{FF2B5EF4-FFF2-40B4-BE49-F238E27FC236}">
                <a16:creationId xmlns:a16="http://schemas.microsoft.com/office/drawing/2014/main" id="{3592D7B8-34E2-4109-9AEF-D848FAC2F91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49" name="Sources: [1] NVIDIA CUDA programming model">
            <a:extLst>
              <a:ext uri="{FF2B5EF4-FFF2-40B4-BE49-F238E27FC236}">
                <a16:creationId xmlns:a16="http://schemas.microsoft.com/office/drawing/2014/main" id="{3904C9FD-493E-45E3-BA87-C701E65966CF}"/>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50" name="14 / 46">
            <a:extLst>
              <a:ext uri="{FF2B5EF4-FFF2-40B4-BE49-F238E27FC236}">
                <a16:creationId xmlns:a16="http://schemas.microsoft.com/office/drawing/2014/main" id="{0AEEDE87-B9BC-4A39-BF81-596DDD3A49F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16 / 48</a:t>
            </a:r>
          </a:p>
        </p:txBody>
      </p:sp>
    </p:spTree>
    <p:extLst>
      <p:ext uri="{BB962C8B-B14F-4D97-AF65-F5344CB8AC3E}">
        <p14:creationId xmlns:p14="http://schemas.microsoft.com/office/powerpoint/2010/main" val="1553126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Task 1(b) • Rotation implementation">
            <a:extLst>
              <a:ext uri="{FF2B5EF4-FFF2-40B4-BE49-F238E27FC236}">
                <a16:creationId xmlns:a16="http://schemas.microsoft.com/office/drawing/2014/main" id="{89DE2432-9907-4EC5-A42B-D9CAB6774240}"/>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Rotation implementation</a:t>
            </a:r>
          </a:p>
        </p:txBody>
      </p:sp>
      <p:sp>
        <p:nvSpPr>
          <p:cNvPr id="2" name="CUDA rotation kernel">
            <a:extLst>
              <a:ext uri="{FF2B5EF4-FFF2-40B4-BE49-F238E27FC236}">
                <a16:creationId xmlns:a16="http://schemas.microsoft.com/office/drawing/2014/main" id="{A85FC162-6DA1-41F2-93CE-40A601115F66}"/>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rotation kernel</a:t>
            </a:r>
          </a:p>
        </p:txBody>
      </p:sp>
      <p:sp>
        <p:nvSpPr>
          <p:cNvPr id="3" name="Rectangle 2">
            <a:extLst>
              <a:ext uri="{FF2B5EF4-FFF2-40B4-BE49-F238E27FC236}">
                <a16:creationId xmlns:a16="http://schemas.microsoft.com/office/drawing/2014/main" id="{54F18394-A524-44A1-86F8-434AEFB82981}"/>
              </a:ext>
            </a:extLst>
          </p:cNvPr>
          <p:cNvSpPr>
            <a:spLocks noGrp="1"/>
          </p:cNvSpPr>
          <p:nvPr/>
        </p:nvSpPr>
        <p:spPr>
          <a:xfrm>
            <a:off x="609600" y="1495425"/>
            <a:ext cx="7705725" cy="3703320"/>
          </a:xfrm>
          <a:prstGeom prst="rect">
            <a:avLst/>
          </a:prstGeom>
          <a:solidFill>
            <a:srgbClr val="EDF1F5"/>
          </a:solidFill>
          <a:ln w="14288">
            <a:noFill/>
            <a:prstDash val="solid"/>
          </a:ln>
        </p:spPr>
        <p:txBody>
          <a:bodyPr/>
          <a:lstStyle/>
          <a:p>
            <a:endParaRPr lang="en-US"/>
          </a:p>
        </p:txBody>
      </p:sp>
      <p:sp>
        <p:nvSpPr>
          <p:cNvPr id="4" name="__global__ void rotate_rgb(const unsigned char* in,&#10;   ">
            <a:extLst>
              <a:ext uri="{FF2B5EF4-FFF2-40B4-BE49-F238E27FC236}">
                <a16:creationId xmlns:a16="http://schemas.microsoft.com/office/drawing/2014/main" id="{06F95351-D42B-451D-A25A-7273A57F316A}"/>
              </a:ext>
            </a:extLst>
          </p:cNvPr>
          <p:cNvSpPr>
            <a:spLocks noGrp="1"/>
          </p:cNvSpPr>
          <p:nvPr/>
        </p:nvSpPr>
        <p:spPr>
          <a:xfrm>
            <a:off x="723900" y="1581150"/>
            <a:ext cx="7477125" cy="356997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 int W, int H, float c, float s)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x = blockIdx.x*blockDim.x + threadIdx.x;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y = blockIdx.y*blockDim.y + threadIdx.y;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 || y &gt;= H) return;</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cx = (W-1)*0.5f, cy = (H-1)*0.5f;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ix = int(floorf(c*(x-cx)-s*(y-cy)+cx+0.5f));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iy = int(floorf(s*(x-cx)+c*(y-cy)+cy+0.5f));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dst = 3*(size_t(y)*W + 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 &amp;&amp; iy &gt;= 0 &amp;&amp; iy &lt; H)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src = 3*(size_t(iy)*W + ix);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in[src+ch];</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ch=0; ch&lt;3; ++ch) out[dst+ch] = 0;</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One thread owns one output pixel. Guard partial edge bl">
            <a:extLst>
              <a:ext uri="{FF2B5EF4-FFF2-40B4-BE49-F238E27FC236}">
                <a16:creationId xmlns:a16="http://schemas.microsoft.com/office/drawing/2014/main" id="{83D291F2-031C-4762-9C15-EC5AD93F2471}"/>
              </a:ext>
            </a:extLst>
          </p:cNvPr>
          <p:cNvSpPr>
            <a:spLocks noGrp="1"/>
          </p:cNvSpPr>
          <p:nvPr/>
        </p:nvSpPr>
        <p:spPr>
          <a:xfrm>
            <a:off x="8648700" y="1581150"/>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One thread owns one output</a:t>
            </a:r>
          </a:p>
          <a:p>
            <a:pPr algn="l">
              <a:defRPr sz="1650" b="0">
                <a:solidFill>
                  <a:srgbClr val="142D45"/>
                </a:solidFill>
                <a:latin typeface="Arial"/>
                <a:ea typeface="Arial"/>
                <a:cs typeface="Arial"/>
              </a:defRPr>
            </a:pPr>
            <a:r>
              <a:rPr sz="1650" b="0">
                <a:solidFill>
                  <a:srgbClr val="142D45"/>
                </a:solidFill>
                <a:latin typeface="Arial"/>
                <a:ea typeface="Arial"/>
                <a:cs typeface="Arial"/>
              </a:rPr>
              <a:t>pixel. Guard partial edge</a:t>
            </a:r>
          </a:p>
          <a:p>
            <a:pPr algn="l">
              <a:defRPr sz="1650" b="0">
                <a:solidFill>
                  <a:srgbClr val="142D45"/>
                </a:solidFill>
                <a:latin typeface="Arial"/>
                <a:ea typeface="Arial"/>
                <a:cs typeface="Arial"/>
              </a:defRPr>
            </a:pPr>
            <a:r>
              <a:rPr sz="1650" b="0">
                <a:solidFill>
                  <a:srgbClr val="142D45"/>
                </a:solidFill>
                <a:latin typeface="Arial"/>
                <a:ea typeface="Arial"/>
                <a:cs typeface="Arial"/>
              </a:rPr>
              <a:t>blocks.</a:t>
            </a:r>
          </a:p>
        </p:txBody>
      </p:sp>
      <p:sp>
        <p:nvSpPr>
          <p:cNvPr id="6" name="Inverse gather copies RGB; out-of-bounds indices write ">
            <a:extLst>
              <a:ext uri="{FF2B5EF4-FFF2-40B4-BE49-F238E27FC236}">
                <a16:creationId xmlns:a16="http://schemas.microsoft.com/office/drawing/2014/main" id="{791BAF7C-028E-4185-AD57-BC20E9CC0532}"/>
              </a:ext>
            </a:extLst>
          </p:cNvPr>
          <p:cNvSpPr>
            <a:spLocks noGrp="1"/>
          </p:cNvSpPr>
          <p:nvPr/>
        </p:nvSpPr>
        <p:spPr>
          <a:xfrm>
            <a:off x="8648700" y="2589276"/>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Inverse gather copies RGB;</a:t>
            </a:r>
          </a:p>
          <a:p>
            <a:pPr algn="l">
              <a:defRPr sz="1650" b="0">
                <a:solidFill>
                  <a:srgbClr val="142D45"/>
                </a:solidFill>
                <a:latin typeface="Arial"/>
                <a:ea typeface="Arial"/>
                <a:cs typeface="Arial"/>
              </a:defRPr>
            </a:pPr>
            <a:r>
              <a:rPr sz="1650" b="0">
                <a:solidFill>
                  <a:srgbClr val="142D45"/>
                </a:solidFill>
                <a:latin typeface="Arial"/>
                <a:ea typeface="Arial"/>
                <a:cs typeface="Arial"/>
              </a:rPr>
              <a:t>out-of-bounds indices write</a:t>
            </a:r>
          </a:p>
          <a:p>
            <a:pPr algn="l">
              <a:defRPr sz="1650" b="0">
                <a:solidFill>
                  <a:srgbClr val="142D45"/>
                </a:solidFill>
                <a:latin typeface="Arial"/>
                <a:ea typeface="Arial"/>
                <a:cs typeface="Arial"/>
              </a:defRPr>
            </a:pPr>
            <a:r>
              <a:rPr sz="1650" b="0">
                <a:solidFill>
                  <a:srgbClr val="142D45"/>
                </a:solidFill>
                <a:latin typeface="Arial"/>
                <a:ea typeface="Arial"/>
                <a:cs typeface="Arial"/>
              </a:rPr>
              <a:t>black.</a:t>
            </a:r>
          </a:p>
        </p:txBody>
      </p:sp>
      <p:sp>
        <p:nvSpPr>
          <p:cNvPr id="7" name="Disjoint outputs need no atomics/barrier. Work and stor">
            <a:extLst>
              <a:ext uri="{FF2B5EF4-FFF2-40B4-BE49-F238E27FC236}">
                <a16:creationId xmlns:a16="http://schemas.microsoft.com/office/drawing/2014/main" id="{B439F71B-0609-4F94-BF41-6D6931729FDF}"/>
              </a:ext>
            </a:extLst>
          </p:cNvPr>
          <p:cNvSpPr>
            <a:spLocks noGrp="1"/>
          </p:cNvSpPr>
          <p:nvPr/>
        </p:nvSpPr>
        <p:spPr>
          <a:xfrm>
            <a:off x="8648700" y="3597402"/>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Disjoint outputs need no</a:t>
            </a:r>
          </a:p>
          <a:p>
            <a:pPr algn="l">
              <a:defRPr sz="1650" b="0">
                <a:solidFill>
                  <a:srgbClr val="142D45"/>
                </a:solidFill>
                <a:latin typeface="Arial"/>
                <a:ea typeface="Arial"/>
                <a:cs typeface="Arial"/>
              </a:defRPr>
            </a:pPr>
            <a:r>
              <a:rPr sz="1650" b="0">
                <a:solidFill>
                  <a:srgbClr val="142D45"/>
                </a:solidFill>
                <a:latin typeface="Arial"/>
                <a:ea typeface="Arial"/>
                <a:cs typeface="Arial"/>
              </a:rPr>
              <a:t>atomics/barrier. Work and</a:t>
            </a:r>
          </a:p>
          <a:p>
            <a:pPr algn="l">
              <a:defRPr sz="1650" b="0">
                <a:solidFill>
                  <a:srgbClr val="142D45"/>
                </a:solidFill>
                <a:latin typeface="Arial"/>
                <a:ea typeface="Arial"/>
                <a:cs typeface="Arial"/>
              </a:defRPr>
            </a:pPr>
            <a:r>
              <a:rPr sz="1650" b="0">
                <a:solidFill>
                  <a:srgbClr val="142D45"/>
                </a:solidFill>
                <a:latin typeface="Arial"/>
                <a:ea typeface="Arial"/>
                <a:cs typeface="Arial"/>
              </a:rPr>
              <a:t>storage: O(W × H).</a:t>
            </a:r>
          </a:p>
        </p:txBody>
      </p:sp>
      <p:sp>
        <p:nvSpPr>
          <p:cNvPr id="8" name="Separate RGB buffers; W/H &gt; 0; valid sizes, c/s. Uncomp">
            <a:extLst>
              <a:ext uri="{FF2B5EF4-FFF2-40B4-BE49-F238E27FC236}">
                <a16:creationId xmlns:a16="http://schemas.microsoft.com/office/drawing/2014/main" id="{64385362-390C-42CF-92AA-9CD36BD1ABF4}"/>
              </a:ext>
            </a:extLst>
          </p:cNvPr>
          <p:cNvSpPr>
            <a:spLocks noGrp="1"/>
          </p:cNvSpPr>
          <p:nvPr/>
        </p:nvSpPr>
        <p:spPr>
          <a:xfrm>
            <a:off x="8648700" y="4605528"/>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Separate RGB buffers; W/H &gt;</a:t>
            </a:r>
          </a:p>
          <a:p>
            <a:pPr algn="l">
              <a:defRPr sz="1650" b="0">
                <a:solidFill>
                  <a:srgbClr val="142D45"/>
                </a:solidFill>
                <a:latin typeface="Arial"/>
                <a:ea typeface="Arial"/>
                <a:cs typeface="Arial"/>
              </a:defRPr>
            </a:pPr>
            <a:r>
              <a:rPr sz="1650" b="0">
                <a:solidFill>
                  <a:srgbClr val="142D45"/>
                </a:solidFill>
                <a:latin typeface="Arial"/>
                <a:ea typeface="Arial"/>
                <a:cs typeface="Arial"/>
              </a:rPr>
              <a:t>0; valid sizes, c/s. Uncompiled</a:t>
            </a:r>
          </a:p>
          <a:p>
            <a:pPr algn="l">
              <a:defRPr sz="1650" b="0">
                <a:solidFill>
                  <a:srgbClr val="142D45"/>
                </a:solidFill>
                <a:latin typeface="Arial"/>
                <a:ea typeface="Arial"/>
                <a:cs typeface="Arial"/>
              </a:defRPr>
            </a:pPr>
            <a:r>
              <a:rPr sz="1650" b="0">
                <a:solidFill>
                  <a:srgbClr val="142D45"/>
                </a:solidFill>
                <a:latin typeface="Arial"/>
                <a:ea typeface="Arial"/>
                <a:cs typeface="Arial"/>
              </a:rPr>
              <a:t>and unbenchmarked.</a:t>
            </a:r>
          </a:p>
        </p:txBody>
      </p:sp>
      <p:sp>
        <p:nvSpPr>
          <p:cNvPr id="9" name="Straight Connector 8">
            <a:extLst>
              <a:ext uri="{FF2B5EF4-FFF2-40B4-BE49-F238E27FC236}">
                <a16:creationId xmlns:a16="http://schemas.microsoft.com/office/drawing/2014/main" id="{CC7A2B0A-F76E-4CBB-AE52-0A3384C366FA}"/>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a:extLst>
              <a:ext uri="{FF2B5EF4-FFF2-40B4-BE49-F238E27FC236}">
                <a16:creationId xmlns:a16="http://schemas.microsoft.com/office/drawing/2014/main" id="{58E3EA1C-86DC-4432-B46C-D319FB2544ED}"/>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15 / 46">
            <a:extLst>
              <a:ext uri="{FF2B5EF4-FFF2-40B4-BE49-F238E27FC236}">
                <a16:creationId xmlns:a16="http://schemas.microsoft.com/office/drawing/2014/main" id="{804C0547-F3ED-4989-B5E2-9BA09EBC9E0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17 / 48</a:t>
            </a:r>
          </a:p>
        </p:txBody>
      </p:sp>
    </p:spTree>
    <p:extLst>
      <p:ext uri="{BB962C8B-B14F-4D97-AF65-F5344CB8AC3E}">
        <p14:creationId xmlns:p14="http://schemas.microsoft.com/office/powerpoint/2010/main" val="16435711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Task 1(b) • Host orchestration">
            <a:extLst>
              <a:ext uri="{FF2B5EF4-FFF2-40B4-BE49-F238E27FC236}">
                <a16:creationId xmlns:a16="http://schemas.microsoft.com/office/drawing/2014/main" id="{FD55FB7D-4723-4BCE-85AE-241BCDADE0BC}"/>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Host orchestration</a:t>
            </a:r>
          </a:p>
        </p:txBody>
      </p:sp>
      <p:sp>
        <p:nvSpPr>
          <p:cNvPr id="2" name="Host orchestration and completion">
            <a:extLst>
              <a:ext uri="{FF2B5EF4-FFF2-40B4-BE49-F238E27FC236}">
                <a16:creationId xmlns:a16="http://schemas.microsoft.com/office/drawing/2014/main" id="{68C31195-3B8E-454B-B576-B56F49E6830E}"/>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Host orchestration and completion</a:t>
            </a:r>
          </a:p>
        </p:txBody>
      </p:sp>
      <p:sp>
        <p:nvSpPr>
          <p:cNvPr id="3" name="Rectangle 2">
            <a:extLst>
              <a:ext uri="{FF2B5EF4-FFF2-40B4-BE49-F238E27FC236}">
                <a16:creationId xmlns:a16="http://schemas.microsoft.com/office/drawing/2014/main" id="{78996245-3FA7-4A87-9A85-D336C7B3DBB4}"/>
              </a:ext>
            </a:extLst>
          </p:cNvPr>
          <p:cNvSpPr>
            <a:spLocks noGrp="1"/>
          </p:cNvSpPr>
          <p:nvPr/>
        </p:nvSpPr>
        <p:spPr>
          <a:xfrm>
            <a:off x="609600" y="1495425"/>
            <a:ext cx="6419850" cy="2400300"/>
          </a:xfrm>
          <a:prstGeom prst="rect">
            <a:avLst/>
          </a:prstGeom>
          <a:solidFill>
            <a:srgbClr val="EDF1F5"/>
          </a:solidFill>
          <a:ln w="14288">
            <a:noFill/>
            <a:prstDash val="solid"/>
          </a:ln>
        </p:spPr>
        <p:txBody>
          <a:bodyPr/>
          <a:lstStyle/>
          <a:p>
            <a:endParaRPr lang="en-US"/>
          </a:p>
        </p:txBody>
      </p:sp>
      <p:sp>
        <p:nvSpPr>
          <p:cNvPr id="4" name="dim3 block(16, 16);&#10;dim3 grid(1u + (unsigned(W)-1u)/blo">
            <a:extLst>
              <a:ext uri="{FF2B5EF4-FFF2-40B4-BE49-F238E27FC236}">
                <a16:creationId xmlns:a16="http://schemas.microsoft.com/office/drawing/2014/main" id="{16585E18-4AB8-4D0E-81D5-1E283E939B19}"/>
              </a:ext>
            </a:extLst>
          </p:cNvPr>
          <p:cNvSpPr>
            <a:spLocks noGrp="1"/>
          </p:cNvSpPr>
          <p:nvPr/>
        </p:nvSpPr>
        <p:spPr>
          <a:xfrm>
            <a:off x="723900" y="1581150"/>
            <a:ext cx="6191250" cy="226695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block(16, 16);</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dim3 grid(1u + (unsigned(W)-1u)/block.x,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1u + (unsigned(H)-1u)/block.y);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cudaMemcpy(d_in, h_in, bytes,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rotate_rgb&lt;&lt;&lt;grid, block&gt;&gt;&gt;(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d_in, d_out, W, H, c, 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cudaGetLastError();</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cudaMemcpy(h_out, d_out, bytes,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a:t>
            </a:r>
          </a:p>
        </p:txBody>
      </p:sp>
      <p:sp>
        <p:nvSpPr>
          <p:cNvPr id="5" name="Illustrative excerpt, not a complete program: W/H &gt; 0; ">
            <a:extLst>
              <a:ext uri="{FF2B5EF4-FFF2-40B4-BE49-F238E27FC236}">
                <a16:creationId xmlns:a16="http://schemas.microsoft.com/office/drawing/2014/main" id="{0CC5D451-5063-4F1F-800E-817F2B38EA76}"/>
              </a:ext>
            </a:extLst>
          </p:cNvPr>
          <p:cNvSpPr>
            <a:spLocks noGrp="1"/>
          </p:cNvSpPr>
          <p:nvPr/>
        </p:nvSpPr>
        <p:spPr>
          <a:xfrm>
            <a:off x="609600" y="4276725"/>
            <a:ext cx="6191250" cy="782193"/>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Illustrative excerpt, not a complete program: W/H &gt; 0; bytes = 3 × W</a:t>
            </a:r>
          </a:p>
          <a:p>
            <a:pPr algn="l">
              <a:defRPr sz="1575" b="0">
                <a:solidFill>
                  <a:srgbClr val="142D45"/>
                </a:solidFill>
                <a:latin typeface="Arial"/>
                <a:ea typeface="Arial"/>
                <a:cs typeface="Arial"/>
              </a:defRPr>
            </a:pPr>
            <a:r>
              <a:rPr sz="1575" b="0">
                <a:solidFill>
                  <a:srgbClr val="142D45"/>
                </a:solidFill>
                <a:latin typeface="Arial"/>
                <a:ea typeface="Arial"/>
                <a:cs typeface="Arial"/>
              </a:rPr>
              <a:t>× H checked in size_t; valid separate buffers; grid/device limits</a:t>
            </a:r>
          </a:p>
          <a:p>
            <a:pPr algn="l">
              <a:defRPr sz="1575" b="0">
                <a:solidFill>
                  <a:srgbClr val="142D45"/>
                </a:solidFill>
                <a:latin typeface="Arial"/>
                <a:ea typeface="Arial"/>
                <a:cs typeface="Arial"/>
              </a:defRPr>
            </a:pPr>
            <a:r>
              <a:rPr sz="1575" b="0">
                <a:solidFill>
                  <a:srgbClr val="142D45"/>
                </a:solidFill>
                <a:latin typeface="Arial"/>
                <a:ea typeface="Arial"/>
                <a:cs typeface="Arial"/>
              </a:rPr>
              <a:t>validated.</a:t>
            </a:r>
          </a:p>
        </p:txBody>
      </p:sp>
      <p:sp>
        <p:nvSpPr>
          <p:cNvPr id="6" name="CPU loads/decodes, allocates host/device buffers, check">
            <a:extLst>
              <a:ext uri="{FF2B5EF4-FFF2-40B4-BE49-F238E27FC236}">
                <a16:creationId xmlns:a16="http://schemas.microsoft.com/office/drawing/2014/main" id="{E2CB4124-8D3F-4204-8623-379A3A9F3DEC}"/>
              </a:ext>
            </a:extLst>
          </p:cNvPr>
          <p:cNvSpPr>
            <a:spLocks noGrp="1"/>
          </p:cNvSpPr>
          <p:nvPr/>
        </p:nvSpPr>
        <p:spPr>
          <a:xfrm>
            <a:off x="7219950" y="1581150"/>
            <a:ext cx="436245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CPU loads/decodes, allocates host/device</a:t>
            </a:r>
          </a:p>
          <a:p>
            <a:pPr algn="l">
              <a:defRPr sz="1650" b="0">
                <a:solidFill>
                  <a:srgbClr val="142D45"/>
                </a:solidFill>
                <a:latin typeface="Arial"/>
                <a:ea typeface="Arial"/>
                <a:cs typeface="Arial"/>
              </a:defRPr>
            </a:pPr>
            <a:r>
              <a:rPr sz="1650" b="0">
                <a:solidFill>
                  <a:srgbClr val="142D45"/>
                </a:solidFill>
                <a:latin typeface="Arial"/>
                <a:ea typeface="Arial"/>
                <a:cs typeface="Arial"/>
              </a:rPr>
              <a:t>buffers, checks every API/launch/completion</a:t>
            </a:r>
          </a:p>
          <a:p>
            <a:pPr algn="l">
              <a:defRPr sz="1650" b="0">
                <a:solidFill>
                  <a:srgbClr val="142D45"/>
                </a:solidFill>
                <a:latin typeface="Arial"/>
                <a:ea typeface="Arial"/>
                <a:cs typeface="Arial"/>
              </a:defRPr>
            </a:pPr>
            <a:r>
              <a:rPr sz="1650" b="0">
                <a:solidFill>
                  <a:srgbClr val="142D45"/>
                </a:solidFill>
                <a:latin typeface="Arial"/>
                <a:ea typeface="Arial"/>
                <a:cs typeface="Arial"/>
              </a:rPr>
              <a:t>result, saves output and frees resources</a:t>
            </a:r>
          </a:p>
          <a:p>
            <a:pPr algn="l">
              <a:defRPr sz="1650" b="0">
                <a:solidFill>
                  <a:srgbClr val="142D45"/>
                </a:solidFill>
                <a:latin typeface="Arial"/>
                <a:ea typeface="Arial"/>
                <a:cs typeface="Arial"/>
              </a:defRPr>
            </a:pPr>
            <a:r>
              <a:rPr sz="1650" b="0">
                <a:solidFill>
                  <a:srgbClr val="142D45"/>
                </a:solidFill>
                <a:latin typeface="Arial"/>
                <a:ea typeface="Arial"/>
                <a:cs typeface="Arial"/>
              </a:rPr>
              <a:t>safely.</a:t>
            </a:r>
          </a:p>
        </p:txBody>
      </p:sp>
      <p:sp>
        <p:nvSpPr>
          <p:cNvPr id="7" name="For this ordered synchronous-copy example, D2H supplies">
            <a:extLst>
              <a:ext uri="{FF2B5EF4-FFF2-40B4-BE49-F238E27FC236}">
                <a16:creationId xmlns:a16="http://schemas.microsoft.com/office/drawing/2014/main" id="{8492C92A-9165-427C-A6F9-60AABB054A2F}"/>
              </a:ext>
            </a:extLst>
          </p:cNvPr>
          <p:cNvSpPr>
            <a:spLocks noGrp="1"/>
          </p:cNvSpPr>
          <p:nvPr/>
        </p:nvSpPr>
        <p:spPr>
          <a:xfrm>
            <a:off x="7219950" y="2830068"/>
            <a:ext cx="436245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For this ordered synchronous-copy example,</a:t>
            </a:r>
          </a:p>
          <a:p>
            <a:pPr algn="l">
              <a:defRPr sz="1650" b="0">
                <a:solidFill>
                  <a:srgbClr val="142D45"/>
                </a:solidFill>
                <a:latin typeface="Arial"/>
                <a:ea typeface="Arial"/>
                <a:cs typeface="Arial"/>
              </a:defRPr>
            </a:pPr>
            <a:r>
              <a:rPr sz="1650" b="0">
                <a:solidFill>
                  <a:srgbClr val="142D45"/>
                </a:solidFill>
                <a:latin typeface="Arial"/>
                <a:ea typeface="Arial"/>
                <a:cs typeface="Arial"/>
              </a:rPr>
              <a:t>D2H supplies completed host data. A launch is</a:t>
            </a:r>
          </a:p>
          <a:p>
            <a:pPr algn="l">
              <a:defRPr sz="1650" b="0">
                <a:solidFill>
                  <a:srgbClr val="142D45"/>
                </a:solidFill>
                <a:latin typeface="Arial"/>
                <a:ea typeface="Arial"/>
                <a:cs typeface="Arial"/>
              </a:defRPr>
            </a:pPr>
            <a:r>
              <a:rPr sz="1650" b="0">
                <a:solidFill>
                  <a:srgbClr val="142D45"/>
                </a:solidFill>
                <a:latin typeface="Arial"/>
                <a:ea typeface="Arial"/>
                <a:cs typeface="Arial"/>
              </a:rPr>
              <a:t>asynchronous; launch-error checks alone do</a:t>
            </a:r>
          </a:p>
          <a:p>
            <a:pPr algn="l">
              <a:defRPr sz="1650" b="0">
                <a:solidFill>
                  <a:srgbClr val="142D45"/>
                </a:solidFill>
                <a:latin typeface="Arial"/>
                <a:ea typeface="Arial"/>
                <a:cs typeface="Arial"/>
              </a:defRPr>
            </a:pPr>
            <a:r>
              <a:rPr sz="1650" b="0">
                <a:solidFill>
                  <a:srgbClr val="142D45"/>
                </a:solidFill>
                <a:latin typeface="Arial"/>
                <a:ea typeface="Arial"/>
                <a:cs typeface="Arial"/>
              </a:rPr>
              <a:t>not establish successful completion.</a:t>
            </a:r>
          </a:p>
        </p:txBody>
      </p:sp>
      <p:sp>
        <p:nvSpPr>
          <p:cNvPr id="8" name="Pinned host storage is page-locked and supports efficie">
            <a:extLst>
              <a:ext uri="{FF2B5EF4-FFF2-40B4-BE49-F238E27FC236}">
                <a16:creationId xmlns:a16="http://schemas.microsoft.com/office/drawing/2014/main" id="{0754AADE-59BD-46A8-8762-42DFF4647D69}"/>
              </a:ext>
            </a:extLst>
          </p:cNvPr>
          <p:cNvSpPr>
            <a:spLocks noGrp="1"/>
          </p:cNvSpPr>
          <p:nvPr/>
        </p:nvSpPr>
        <p:spPr>
          <a:xfrm>
            <a:off x="7219950" y="4078986"/>
            <a:ext cx="436245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Pinned host storage is page-locked and</a:t>
            </a:r>
          </a:p>
          <a:p>
            <a:pPr algn="l">
              <a:defRPr sz="1650" b="0">
                <a:solidFill>
                  <a:srgbClr val="142D45"/>
                </a:solidFill>
                <a:latin typeface="Arial"/>
                <a:ea typeface="Arial"/>
                <a:cs typeface="Arial"/>
              </a:defRPr>
            </a:pPr>
            <a:r>
              <a:rPr sz="1650" b="0">
                <a:solidFill>
                  <a:srgbClr val="142D45"/>
                </a:solidFill>
                <a:latin typeface="Arial"/>
                <a:ea typeface="Arial"/>
                <a:cs typeface="Arial"/>
              </a:rPr>
              <a:t>supports efficient DMA. Pageable memory</a:t>
            </a:r>
          </a:p>
          <a:p>
            <a:pPr algn="l">
              <a:defRPr sz="1650" b="0">
                <a:solidFill>
                  <a:srgbClr val="142D45"/>
                </a:solidFill>
                <a:latin typeface="Arial"/>
                <a:ea typeface="Arial"/>
                <a:cs typeface="Arial"/>
              </a:defRPr>
            </a:pPr>
            <a:r>
              <a:rPr sz="1650" b="0">
                <a:solidFill>
                  <a:srgbClr val="142D45"/>
                </a:solidFill>
                <a:latin typeface="Arial"/>
                <a:ea typeface="Arial"/>
                <a:cs typeface="Arial"/>
              </a:rPr>
              <a:t>may need runtime staging. Avoid excessive</a:t>
            </a:r>
          </a:p>
          <a:p>
            <a:pPr algn="l">
              <a:defRPr sz="1650" b="0">
                <a:solidFill>
                  <a:srgbClr val="142D45"/>
                </a:solidFill>
                <a:latin typeface="Arial"/>
                <a:ea typeface="Arial"/>
                <a:cs typeface="Arial"/>
              </a:defRPr>
            </a:pPr>
            <a:r>
              <a:rPr sz="1650" b="0">
                <a:solidFill>
                  <a:srgbClr val="142D45"/>
                </a:solidFill>
                <a:latin typeface="Arial"/>
                <a:ea typeface="Arial"/>
                <a:cs typeface="Arial"/>
              </a:rPr>
              <a:t>pinning.</a:t>
            </a:r>
          </a:p>
        </p:txBody>
      </p:sp>
      <p:sp>
        <p:nvSpPr>
          <p:cNvPr id="9" name="Straight Connector 8">
            <a:extLst>
              <a:ext uri="{FF2B5EF4-FFF2-40B4-BE49-F238E27FC236}">
                <a16:creationId xmlns:a16="http://schemas.microsoft.com/office/drawing/2014/main" id="{8BC1FDF4-0A97-42F7-9FA8-04F64F9FA8DD}"/>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2] NVIDIA ">
            <a:extLst>
              <a:ext uri="{FF2B5EF4-FFF2-40B4-BE49-F238E27FC236}">
                <a16:creationId xmlns:a16="http://schemas.microsoft.com/office/drawing/2014/main" id="{1DB9978C-CCD7-4528-83D7-268900904A1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1" name="16 / 46">
            <a:extLst>
              <a:ext uri="{FF2B5EF4-FFF2-40B4-BE49-F238E27FC236}">
                <a16:creationId xmlns:a16="http://schemas.microsoft.com/office/drawing/2014/main" id="{412B8453-F74A-4144-A9D2-AE69E1AF227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18 / 48</a:t>
            </a:r>
          </a:p>
        </p:txBody>
      </p:sp>
    </p:spTree>
    <p:extLst>
      <p:ext uri="{BB962C8B-B14F-4D97-AF65-F5344CB8AC3E}">
        <p14:creationId xmlns:p14="http://schemas.microsoft.com/office/powerpoint/2010/main" val="919687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D81009FB-63A2-47C8-84DE-5B31800A68D5}"/>
              </a:ext>
            </a:extLst>
          </p:cNvPr>
          <p:cNvCxnSpPr>
            <a:stCxn id="7" idx="2"/>
            <a:endCxn id="8" idx="0"/>
          </p:cNvCxnSpPr>
          <p:nvPr/>
        </p:nvCxnSpPr>
        <p:spPr>
          <a:xfrm flipH="1">
            <a:off x="9644063" y="2305050"/>
            <a:ext cx="4763" cy="695325"/>
          </a:xfrm>
          <a:prstGeom prst="straightConnector1">
            <a:avLst/>
          </a:prstGeom>
          <a:ln w="19050">
            <a:solidFill>
              <a:srgbClr val="007B83"/>
            </a:solidFill>
            <a:prstDash val="solid"/>
            <a:tailEnd type="arrow" w="med" len="med"/>
          </a:ln>
        </p:spPr>
      </p:cxnSp>
      <p:sp>
        <p:nvSpPr>
          <p:cNvPr id="17" name="Appendix • Task 1 • Task 1(b)">
            <a:extLst>
              <a:ext uri="{FF2B5EF4-FFF2-40B4-BE49-F238E27FC236}">
                <a16:creationId xmlns:a16="http://schemas.microsoft.com/office/drawing/2014/main" id="{2F28EFD6-6341-4486-9984-9C52366E8EC9}"/>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CUDA features that affect throughput">
            <a:extLst>
              <a:ext uri="{FF2B5EF4-FFF2-40B4-BE49-F238E27FC236}">
                <a16:creationId xmlns:a16="http://schemas.microsoft.com/office/drawing/2014/main" id="{3D336FEC-34BD-44D6-A60A-A0DEB22AEDDD}"/>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CUDA features that affect throughput</a:t>
            </a:r>
          </a:p>
        </p:txBody>
      </p:sp>
      <p:sp>
        <p:nvSpPr>
          <p:cNvPr id="3" name="Example: independent brightness channels">
            <a:extLst>
              <a:ext uri="{FF2B5EF4-FFF2-40B4-BE49-F238E27FC236}">
                <a16:creationId xmlns:a16="http://schemas.microsoft.com/office/drawing/2014/main" id="{EC268C5C-03F1-4371-B062-67F1E2E380F9}"/>
              </a:ext>
            </a:extLst>
          </p:cNvPr>
          <p:cNvSpPr>
            <a:spLocks noGrp="1"/>
          </p:cNvSpPr>
          <p:nvPr/>
        </p:nvSpPr>
        <p:spPr>
          <a:xfrm>
            <a:off x="609600" y="1562100"/>
            <a:ext cx="6238875"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Example: independent brightness channels</a:t>
            </a:r>
          </a:p>
        </p:txBody>
      </p:sp>
      <p:sp>
        <p:nvSpPr>
          <p:cNvPr id="4" name="Rectangle 3">
            <a:extLst>
              <a:ext uri="{FF2B5EF4-FFF2-40B4-BE49-F238E27FC236}">
                <a16:creationId xmlns:a16="http://schemas.microsoft.com/office/drawing/2014/main" id="{D33D18D6-5536-4DCE-A7FD-AB0707226B38}"/>
              </a:ext>
            </a:extLst>
          </p:cNvPr>
          <p:cNvSpPr>
            <a:spLocks noGrp="1"/>
          </p:cNvSpPr>
          <p:nvPr/>
        </p:nvSpPr>
        <p:spPr>
          <a:xfrm>
            <a:off x="609600" y="2019300"/>
            <a:ext cx="6419850" cy="1428750"/>
          </a:xfrm>
          <a:prstGeom prst="rect">
            <a:avLst/>
          </a:prstGeom>
          <a:solidFill>
            <a:srgbClr val="EDF1F5"/>
          </a:solidFill>
          <a:ln w="14288">
            <a:noFill/>
            <a:prstDash val="solid"/>
          </a:ln>
        </p:spPr>
        <p:txBody>
          <a:bodyPr/>
          <a:lstStyle/>
          <a:p>
            <a:endParaRPr lang="en-US"/>
          </a:p>
        </p:txBody>
      </p:sp>
      <p:sp>
        <p:nvSpPr>
          <p:cNvPr id="5" name="size_t p = 3*(size_t(y)*W + x);&#10;for (int ch=0; ch&lt;3; ++">
            <a:extLst>
              <a:ext uri="{FF2B5EF4-FFF2-40B4-BE49-F238E27FC236}">
                <a16:creationId xmlns:a16="http://schemas.microsoft.com/office/drawing/2014/main" id="{57B0DB62-CBD5-4911-8F8E-F9B6C455839F}"/>
              </a:ext>
            </a:extLst>
          </p:cNvPr>
          <p:cNvSpPr>
            <a:spLocks noGrp="1"/>
          </p:cNvSpPr>
          <p:nvPr/>
        </p:nvSpPr>
        <p:spPr>
          <a:xfrm>
            <a:off x="723900" y="2105025"/>
            <a:ext cx="6191250" cy="1295400"/>
          </a:xfrm>
          <a:prstGeom prst="rect">
            <a:avLst/>
          </a:prstGeom>
          <a:noFill/>
          <a:ln w="0">
            <a:noFill/>
          </a:ln>
        </p:spPr>
        <p:txBody>
          <a:bodyPr wrap="none" lIns="0" tIns="0" rIns="0" bIns="0" anchor="t">
            <a:noAutofit/>
          </a:bodyPr>
          <a:lstStyle>
            <a:defPPr algn="l">
              <a:defRPr sz="1575" b="0">
                <a:solidFill>
                  <a:srgbClr val="142D45"/>
                </a:solidFill>
                <a:latin typeface="Consolas"/>
                <a:ea typeface="Consolas"/>
                <a:cs typeface="Consolas"/>
              </a:defRPr>
            </a:defPPr>
          </a:lstStyle>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size_t p = 3*(size_t(y)*W + x);</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for (int ch=0; ch&lt;3; ++ch) {</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int v = int(in[p+ch]) + delta;</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out[p+ch] = v&lt;0 ? 0 : (v&gt;255 ? 255 : v);</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a:t>
            </a:r>
          </a:p>
        </p:txBody>
      </p:sp>
      <p:sp>
        <p:nvSpPr>
          <p:cNvPr id="6" name="After coordinate/bounds checks; valid RGB buffers; delt">
            <a:extLst>
              <a:ext uri="{FF2B5EF4-FFF2-40B4-BE49-F238E27FC236}">
                <a16:creationId xmlns:a16="http://schemas.microsoft.com/office/drawing/2014/main" id="{1558BAA2-41CA-459D-9F1E-78E2D26ABB3D}"/>
              </a:ext>
            </a:extLst>
          </p:cNvPr>
          <p:cNvSpPr>
            <a:spLocks noGrp="1"/>
          </p:cNvSpPr>
          <p:nvPr/>
        </p:nvSpPr>
        <p:spPr>
          <a:xfrm>
            <a:off x="609600" y="3581400"/>
            <a:ext cx="6324600" cy="485775"/>
          </a:xfrm>
          <a:prstGeom prst="rect">
            <a:avLst/>
          </a:prstGeom>
          <a:noFill/>
          <a:ln w="0">
            <a:noFill/>
          </a:ln>
        </p:spPr>
        <p:txBody>
          <a:bodyPr wrap="square" lIns="0" tIns="0" rIns="0" bIns="0" anchor="t">
            <a:noAutofit/>
          </a:bodyPr>
          <a:lstStyle>
            <a:defPPr algn="l">
              <a:defRPr sz="1425" b="0">
                <a:solidFill>
                  <a:srgbClr val="516170"/>
                </a:solidFill>
                <a:latin typeface="Arial"/>
                <a:ea typeface="Arial"/>
                <a:cs typeface="Arial"/>
              </a:defRPr>
            </a:defPPr>
          </a:lstStyle>
          <a:p>
            <a:pPr algn="l">
              <a:defRPr sz="1425" b="0">
                <a:solidFill>
                  <a:srgbClr val="516170"/>
                </a:solidFill>
                <a:latin typeface="Arial"/>
                <a:ea typeface="Arial"/>
                <a:cs typeface="Arial"/>
              </a:defRPr>
            </a:pPr>
            <a:r>
              <a:rPr sz="1425" b="0">
                <a:solidFill>
                  <a:srgbClr val="516170"/>
                </a:solidFill>
                <a:latin typeface="Arial"/>
                <a:ea typeface="Arial"/>
                <a:cs typeface="Arial"/>
              </a:rPr>
              <a:t>After coordinate/bounds checks; valid RGB buffers; delta ∈ [−255,255].</a:t>
            </a:r>
          </a:p>
        </p:txBody>
      </p:sp>
      <p:sp>
        <p:nvSpPr>
          <p:cNvPr id="7" name="Rectangle 6">
            <a:extLst>
              <a:ext uri="{FF2B5EF4-FFF2-40B4-BE49-F238E27FC236}">
                <a16:creationId xmlns:a16="http://schemas.microsoft.com/office/drawing/2014/main" id="{5AEF432C-F91B-4502-8342-85768704B79C}"/>
              </a:ext>
            </a:extLst>
          </p:cNvPr>
          <p:cNvSpPr>
            <a:spLocks noGrp="1"/>
          </p:cNvSpPr>
          <p:nvPr/>
        </p:nvSpPr>
        <p:spPr>
          <a:xfrm>
            <a:off x="8191500" y="1638300"/>
            <a:ext cx="2914650" cy="6667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Pending blocks</a:t>
            </a:r>
          </a:p>
        </p:txBody>
      </p:sp>
      <p:sp>
        <p:nvSpPr>
          <p:cNvPr id="8" name="Rectangle 7">
            <a:extLst>
              <a:ext uri="{FF2B5EF4-FFF2-40B4-BE49-F238E27FC236}">
                <a16:creationId xmlns:a16="http://schemas.microsoft.com/office/drawing/2014/main" id="{8EF77AD2-8190-4F06-BC07-6B1DA4EEDE74}"/>
              </a:ext>
            </a:extLst>
          </p:cNvPr>
          <p:cNvSpPr>
            <a:spLocks noGrp="1"/>
          </p:cNvSpPr>
          <p:nvPr/>
        </p:nvSpPr>
        <p:spPr>
          <a:xfrm>
            <a:off x="7810500" y="3000375"/>
            <a:ext cx="3667125" cy="11049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Streaming multiprocessor</a:t>
            </a:r>
          </a:p>
          <a:p>
            <a:pPr algn="ctr">
              <a:defRPr sz="1725">
                <a:solidFill>
                  <a:srgbClr val="142D45"/>
                </a:solidFill>
                <a:latin typeface="Arial"/>
                <a:ea typeface="Arial"/>
                <a:cs typeface="Arial"/>
              </a:defRPr>
            </a:pPr>
            <a:r>
              <a:rPr sz="1725">
                <a:solidFill>
                  <a:srgbClr val="142D45"/>
                </a:solidFill>
                <a:latin typeface="Arial"/>
                <a:ea typeface="Arial"/>
                <a:cs typeface="Arial"/>
              </a:rPr>
              <a:t>resident warps → execution units</a:t>
            </a:r>
          </a:p>
        </p:txBody>
      </p:sp>
      <p:sp>
        <p:nvSpPr>
          <p:cNvPr id="10" name="SIMT = single instruction, multiple threads. A warp iss">
            <a:extLst>
              <a:ext uri="{FF2B5EF4-FFF2-40B4-BE49-F238E27FC236}">
                <a16:creationId xmlns:a16="http://schemas.microsoft.com/office/drawing/2014/main" id="{B4C98503-7CA6-4137-8BED-73A587918D15}"/>
              </a:ext>
            </a:extLst>
          </p:cNvPr>
          <p:cNvSpPr>
            <a:spLocks noGrp="1"/>
          </p:cNvSpPr>
          <p:nvPr/>
        </p:nvSpPr>
        <p:spPr>
          <a:xfrm>
            <a:off x="7715250" y="4295775"/>
            <a:ext cx="3867150" cy="1171956"/>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SIMT = single instruction, multiple</a:t>
            </a:r>
          </a:p>
          <a:p>
            <a:pPr algn="l">
              <a:defRPr sz="1800" b="0">
                <a:solidFill>
                  <a:srgbClr val="142D45"/>
                </a:solidFill>
                <a:latin typeface="Arial"/>
                <a:ea typeface="Arial"/>
                <a:cs typeface="Arial"/>
              </a:defRPr>
            </a:pPr>
            <a:r>
              <a:rPr sz="1800" b="0">
                <a:solidFill>
                  <a:srgbClr val="142D45"/>
                </a:solidFill>
                <a:latin typeface="Arial"/>
                <a:ea typeface="Arial"/>
                <a:cs typeface="Arial"/>
              </a:rPr>
              <a:t>threads. A warp issues common</a:t>
            </a:r>
          </a:p>
          <a:p>
            <a:pPr algn="l">
              <a:defRPr sz="1800" b="0">
                <a:solidFill>
                  <a:srgbClr val="142D45"/>
                </a:solidFill>
                <a:latin typeface="Arial"/>
                <a:ea typeface="Arial"/>
                <a:cs typeface="Arial"/>
              </a:defRPr>
            </a:pPr>
            <a:r>
              <a:rPr sz="1800" b="0">
                <a:solidFill>
                  <a:srgbClr val="142D45"/>
                </a:solidFill>
                <a:latin typeface="Arial"/>
                <a:ea typeface="Arial"/>
                <a:cs typeface="Arial"/>
              </a:rPr>
              <a:t>instructions; divergent paths can</a:t>
            </a:r>
          </a:p>
          <a:p>
            <a:pPr algn="l">
              <a:defRPr sz="1800" b="0">
                <a:solidFill>
                  <a:srgbClr val="142D45"/>
                </a:solidFill>
                <a:latin typeface="Arial"/>
                <a:ea typeface="Arial"/>
                <a:cs typeface="Arial"/>
              </a:defRPr>
            </a:pPr>
            <a:r>
              <a:rPr sz="1800" b="0">
                <a:solidFill>
                  <a:srgbClr val="142D45"/>
                </a:solidFill>
                <a:latin typeface="Arial"/>
                <a:ea typeface="Arial"/>
                <a:cs typeface="Arial"/>
              </a:rPr>
              <a:t>reduce efficiency.</a:t>
            </a:r>
          </a:p>
        </p:txBody>
      </p:sp>
      <p:sp>
        <p:nvSpPr>
          <p:cNvPr id="11" name="Resident warps hide latency; registers limit residency.">
            <a:extLst>
              <a:ext uri="{FF2B5EF4-FFF2-40B4-BE49-F238E27FC236}">
                <a16:creationId xmlns:a16="http://schemas.microsoft.com/office/drawing/2014/main" id="{E1B6C2D7-7111-4AD9-8CF9-D400B72C9599}"/>
              </a:ext>
            </a:extLst>
          </p:cNvPr>
          <p:cNvSpPr>
            <a:spLocks noGrp="1"/>
          </p:cNvSpPr>
          <p:nvPr/>
        </p:nvSpPr>
        <p:spPr>
          <a:xfrm>
            <a:off x="609600" y="4362450"/>
            <a:ext cx="6515100" cy="888492"/>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Resident warps hide latency; registers limit residency.</a:t>
            </a:r>
          </a:p>
          <a:p>
            <a:pPr algn="l">
              <a:defRPr sz="1800" b="0">
                <a:solidFill>
                  <a:srgbClr val="142D45"/>
                </a:solidFill>
                <a:latin typeface="Arial"/>
                <a:ea typeface="Arial"/>
                <a:cs typeface="Arial"/>
              </a:defRPr>
            </a:pPr>
            <a:r>
              <a:rPr sz="1800" b="0">
                <a:solidFill>
                  <a:srgbClr val="142D45"/>
                </a:solidFill>
                <a:latin typeface="Arial"/>
                <a:ea typeface="Arial"/>
                <a:cs typeface="Arial"/>
              </a:rPr>
              <a:t>Coalescing groups nearby accesses into fewer transactions;</a:t>
            </a:r>
          </a:p>
          <a:p>
            <a:pPr algn="l">
              <a:defRPr sz="1800" b="0">
                <a:solidFill>
                  <a:srgbClr val="142D45"/>
                </a:solidFill>
                <a:latin typeface="Arial"/>
                <a:ea typeface="Arial"/>
                <a:cs typeface="Arial"/>
              </a:defRPr>
            </a:pPr>
            <a:r>
              <a:rPr sz="1800" b="0">
                <a:solidFill>
                  <a:srgbClr val="142D45"/>
                </a:solidFill>
                <a:latin typeface="Arial"/>
                <a:ea typeface="Arial"/>
                <a:cs typeface="Arial"/>
              </a:rPr>
              <a:t>rotation can disrupt read locality.</a:t>
            </a:r>
          </a:p>
        </p:txBody>
      </p:sp>
      <p:sp>
        <p:nvSpPr>
          <p:cNvPr id="12" name="Straight Connector 11">
            <a:extLst>
              <a:ext uri="{FF2B5EF4-FFF2-40B4-BE49-F238E27FC236}">
                <a16:creationId xmlns:a16="http://schemas.microsoft.com/office/drawing/2014/main" id="{4A085186-60CC-48B4-BA0E-8D762768104B}"/>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3" name="Concurrency helps only when memory access and resource ">
            <a:extLst>
              <a:ext uri="{FF2B5EF4-FFF2-40B4-BE49-F238E27FC236}">
                <a16:creationId xmlns:a16="http://schemas.microsoft.com/office/drawing/2014/main" id="{20F3BCDE-CF3C-4B23-838B-8E49D5A3E9CB}"/>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Concurrency helps only when memory access and resource use support it.</a:t>
            </a:r>
          </a:p>
        </p:txBody>
      </p:sp>
      <p:sp>
        <p:nvSpPr>
          <p:cNvPr id="14" name="Straight Connector 13">
            <a:extLst>
              <a:ext uri="{FF2B5EF4-FFF2-40B4-BE49-F238E27FC236}">
                <a16:creationId xmlns:a16="http://schemas.microsoft.com/office/drawing/2014/main" id="{4D9537DF-74B1-4667-8F24-B0082B6751BB}"/>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5" name="Sources: [1] NVIDIA CUDA programming model; [2] NVIDIA ">
            <a:extLst>
              <a:ext uri="{FF2B5EF4-FFF2-40B4-BE49-F238E27FC236}">
                <a16:creationId xmlns:a16="http://schemas.microsoft.com/office/drawing/2014/main" id="{6AE6CBEF-96E8-446A-BC2E-AEE26BA69F2C}"/>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16" name="17 / 46">
            <a:extLst>
              <a:ext uri="{FF2B5EF4-FFF2-40B4-BE49-F238E27FC236}">
                <a16:creationId xmlns:a16="http://schemas.microsoft.com/office/drawing/2014/main" id="{154477E3-2537-461B-BD9A-648F72D902B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19 / 48</a:t>
            </a:r>
          </a:p>
        </p:txBody>
      </p:sp>
    </p:spTree>
    <p:extLst>
      <p:ext uri="{BB962C8B-B14F-4D97-AF65-F5344CB8AC3E}">
        <p14:creationId xmlns:p14="http://schemas.microsoft.com/office/powerpoint/2010/main" val="1393059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1 • Task 1(b) • Memory access and launc">
            <a:extLst>
              <a:ext uri="{FF2B5EF4-FFF2-40B4-BE49-F238E27FC236}">
                <a16:creationId xmlns:a16="http://schemas.microsoft.com/office/drawing/2014/main" id="{50B50A78-9444-4C75-8813-CC6EFB5575AF}"/>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Memory access and launch shape</a:t>
            </a:r>
          </a:p>
        </p:txBody>
      </p:sp>
      <p:sp>
        <p:nvSpPr>
          <p:cNvPr id="2" name="Launch shape and memory access">
            <a:extLst>
              <a:ext uri="{FF2B5EF4-FFF2-40B4-BE49-F238E27FC236}">
                <a16:creationId xmlns:a16="http://schemas.microsoft.com/office/drawing/2014/main" id="{0CF1452F-9CA6-4FFC-B7BB-BBC2A579F491}"/>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Launch shape and memory access</a:t>
            </a:r>
          </a:p>
        </p:txBody>
      </p:sp>
      <p:graphicFrame>
        <p:nvGraphicFramePr>
          <p:cNvPr id="3" name="Table 2">
            <a:extLst>
              <a:ext uri="{FF2B5EF4-FFF2-40B4-BE49-F238E27FC236}">
                <a16:creationId xmlns:a16="http://schemas.microsoft.com/office/drawing/2014/main" id="{8A0A2971-C305-4C80-A018-18919F731226}"/>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Choice</a:t>
                      </a:r>
                    </a:p>
                  </a:txBody>
                  <a:tcPr anchor="ctr">
                    <a:solidFill>
                      <a:srgbClr val="142D45"/>
                    </a:solidFill>
                  </a:tcPr>
                </a:tc>
                <a:tc>
                  <a:txBody>
                    <a:bodyPr/>
                    <a:lstStyle/>
                    <a:p>
                      <a:pPr algn="l"/>
                      <a:r>
                        <a:rPr sz="1650" b="1">
                          <a:solidFill>
                            <a:srgbClr val="FFFFFF"/>
                          </a:solidFill>
                          <a:latin typeface="Arial"/>
                          <a:ea typeface="Arial"/>
                          <a:cs typeface="Arial"/>
                        </a:rPr>
                        <a:t>Mechanism</a:t>
                      </a:r>
                    </a:p>
                  </a:txBody>
                  <a:tcPr anchor="ctr">
                    <a:solidFill>
                      <a:srgbClr val="142D45"/>
                    </a:solidFill>
                  </a:tcPr>
                </a:tc>
                <a:tc>
                  <a:txBody>
                    <a:bodyPr/>
                    <a:lstStyle/>
                    <a:p>
                      <a:pPr algn="l"/>
                      <a:r>
                        <a:rPr sz="1650" b="1">
                          <a:solidFill>
                            <a:srgbClr val="FFFFFF"/>
                          </a:solidFill>
                          <a:latin typeface="Arial"/>
                          <a:ea typeface="Arial"/>
                          <a:cs typeface="Arial"/>
                        </a:rPr>
                        <a:t>Performance implication</a:t>
                      </a:r>
                    </a:p>
                  </a:txBody>
                  <a:tcPr anchor="ctr">
                    <a:solidFill>
                      <a:srgbClr val="142D45"/>
                    </a:solidFill>
                  </a:tcPr>
                </a:tc>
                <a:extLst>
                  <a:ext uri="{0D108BD9-81ED-4DB2-BD59-A6C34878D82A}">
                    <a16:rowId xmlns:a16="http://schemas.microsoft.com/office/drawing/2014/main" val="10000"/>
                  </a:ext>
                </a:extLst>
              </a:tr>
              <a:tr h="666750">
                <a:tc>
                  <a:txBody>
                    <a:bodyPr/>
                    <a:lstStyle/>
                    <a:p>
                      <a:pPr algn="l"/>
                      <a:r>
                        <a:rPr sz="1500" b="0">
                          <a:solidFill>
                            <a:srgbClr val="142D45"/>
                          </a:solidFill>
                          <a:latin typeface="Arial"/>
                          <a:ea typeface="Arial"/>
                          <a:cs typeface="Arial"/>
                        </a:rPr>
                        <a:t>16 × 16 block</a:t>
                      </a:r>
                    </a:p>
                  </a:txBody>
                  <a:tcPr anchor="ctr">
                    <a:solidFill>
                      <a:srgbClr val="FFFFFF"/>
                    </a:solidFill>
                  </a:tcPr>
                </a:tc>
                <a:tc>
                  <a:txBody>
                    <a:bodyPr/>
                    <a:lstStyle/>
                    <a:p>
                      <a:pPr algn="l"/>
                      <a:r>
                        <a:rPr sz="1500" b="0">
                          <a:solidFill>
                            <a:srgbClr val="142D45"/>
                          </a:solidFill>
                          <a:latin typeface="Arial"/>
                          <a:ea typeface="Arial"/>
                          <a:cs typeface="Arial"/>
                        </a:rPr>
                        <a:t>256 threads; each warp spans two 16-wide rows</a:t>
                      </a:r>
                    </a:p>
                  </a:txBody>
                  <a:tcPr anchor="ctr">
                    <a:solidFill>
                      <a:srgbClr val="FFFFFF"/>
                    </a:solidFill>
                  </a:tcPr>
                </a:tc>
                <a:tc>
                  <a:txBody>
                    <a:bodyPr/>
                    <a:lstStyle/>
                    <a:p>
                      <a:pPr algn="l"/>
                      <a:r>
                        <a:rPr sz="1500" b="0">
                          <a:solidFill>
                            <a:srgbClr val="142D45"/>
                          </a:solidFill>
                          <a:latin typeface="Arial"/>
                          <a:ea typeface="Arial"/>
                          <a:cs typeface="Arial"/>
                        </a:rPr>
                        <a:t>Reasonable 2D starting point; row edges/alignment matter.</a:t>
                      </a:r>
                    </a:p>
                  </a:txBody>
                  <a:tcPr anchor="ctr">
                    <a:solidFill>
                      <a:srgbClr val="FFFFFF"/>
                    </a:solidFill>
                  </a:tcPr>
                </a:tc>
                <a:extLst>
                  <a:ext uri="{0D108BD9-81ED-4DB2-BD59-A6C34878D82A}">
                    <a16:rowId xmlns:a16="http://schemas.microsoft.com/office/drawing/2014/main" val="10001"/>
                  </a:ext>
                </a:extLst>
              </a:tr>
              <a:tr h="666750">
                <a:tc>
                  <a:txBody>
                    <a:bodyPr/>
                    <a:lstStyle/>
                    <a:p>
                      <a:pPr algn="l"/>
                      <a:r>
                        <a:rPr sz="1500" b="0">
                          <a:solidFill>
                            <a:srgbClr val="142D45"/>
                          </a:solidFill>
                          <a:latin typeface="Arial"/>
                          <a:ea typeface="Arial"/>
                          <a:cs typeface="Arial"/>
                        </a:rPr>
                        <a:t>32 × 8 block</a:t>
                      </a:r>
                    </a:p>
                  </a:txBody>
                  <a:tcPr anchor="ctr">
                    <a:solidFill>
                      <a:srgbClr val="F0F4F4"/>
                    </a:solidFill>
                  </a:tcPr>
                </a:tc>
                <a:tc>
                  <a:txBody>
                    <a:bodyPr/>
                    <a:lstStyle/>
                    <a:p>
                      <a:pPr algn="l"/>
                      <a:r>
                        <a:rPr sz="1500" b="0">
                          <a:solidFill>
                            <a:srgbClr val="142D45"/>
                          </a:solidFill>
                          <a:latin typeface="Arial"/>
                          <a:ea typeface="Arial"/>
                          <a:cs typeface="Arial"/>
                        </a:rPr>
                        <a:t>256 threads; each warp spans one 32-wide row</a:t>
                      </a:r>
                    </a:p>
                  </a:txBody>
                  <a:tcPr anchor="ctr">
                    <a:solidFill>
                      <a:srgbClr val="F0F4F4"/>
                    </a:solidFill>
                  </a:tcPr>
                </a:tc>
                <a:tc>
                  <a:txBody>
                    <a:bodyPr/>
                    <a:lstStyle/>
                    <a:p>
                      <a:pPr algn="l"/>
                      <a:r>
                        <a:rPr sz="1500" b="0">
                          <a:solidFill>
                            <a:srgbClr val="142D45"/>
                          </a:solidFill>
                          <a:latin typeface="Arial"/>
                          <a:ea typeface="Arial"/>
                          <a:cs typeface="Arial"/>
                        </a:rPr>
                        <a:t>May improve row-oriented access; no universal winner.</a:t>
                      </a:r>
                    </a:p>
                  </a:txBody>
                  <a:tcPr anchor="ctr">
                    <a:solidFill>
                      <a:srgbClr val="F0F4F4"/>
                    </a:solidFill>
                  </a:tcPr>
                </a:tc>
                <a:extLst>
                  <a:ext uri="{0D108BD9-81ED-4DB2-BD59-A6C34878D82A}">
                    <a16:rowId xmlns:a16="http://schemas.microsoft.com/office/drawing/2014/main" val="10002"/>
                  </a:ext>
                </a:extLst>
              </a:tr>
              <a:tr h="666750">
                <a:tc>
                  <a:txBody>
                    <a:bodyPr/>
                    <a:lstStyle/>
                    <a:p>
                      <a:pPr algn="l"/>
                      <a:r>
                        <a:rPr sz="1500" b="0">
                          <a:solidFill>
                            <a:srgbClr val="142D45"/>
                          </a:solidFill>
                          <a:latin typeface="Arial"/>
                          <a:ea typeface="Arial"/>
                          <a:cs typeface="Arial"/>
                        </a:rPr>
                        <a:t>Output gathering</a:t>
                      </a:r>
                    </a:p>
                  </a:txBody>
                  <a:tcPr anchor="ctr">
                    <a:solidFill>
                      <a:srgbClr val="FFFFFF"/>
                    </a:solidFill>
                  </a:tcPr>
                </a:tc>
                <a:tc>
                  <a:txBody>
                    <a:bodyPr/>
                    <a:lstStyle/>
                    <a:p>
                      <a:pPr algn="l"/>
                      <a:r>
                        <a:rPr sz="1500" b="0">
                          <a:solidFill>
                            <a:srgbClr val="142D45"/>
                          </a:solidFill>
                          <a:latin typeface="Arial"/>
                          <a:ea typeface="Arial"/>
                          <a:cs typeface="Arial"/>
                        </a:rPr>
                        <a:t>Adjacent x threads write adjacent RGB pixels</a:t>
                      </a:r>
                    </a:p>
                  </a:txBody>
                  <a:tcPr anchor="ctr">
                    <a:solidFill>
                      <a:srgbClr val="FFFFFF"/>
                    </a:solidFill>
                  </a:tcPr>
                </a:tc>
                <a:tc>
                  <a:txBody>
                    <a:bodyPr/>
                    <a:lstStyle/>
                    <a:p>
                      <a:pPr algn="l"/>
                      <a:r>
                        <a:rPr sz="1500" b="0">
                          <a:solidFill>
                            <a:srgbClr val="142D45"/>
                          </a:solidFill>
                          <a:latin typeface="Arial"/>
                          <a:ea typeface="Arial"/>
                          <a:cs typeface="Arial"/>
                        </a:rPr>
                        <a:t>Useful write locality; per-channel byte operations still require efficient transactions.</a:t>
                      </a:r>
                    </a:p>
                  </a:txBody>
                  <a:tcPr anchor="ctr">
                    <a:solidFill>
                      <a:srgbClr val="FFFFFF"/>
                    </a:solidFill>
                  </a:tcPr>
                </a:tc>
                <a:extLst>
                  <a:ext uri="{0D108BD9-81ED-4DB2-BD59-A6C34878D82A}">
                    <a16:rowId xmlns:a16="http://schemas.microsoft.com/office/drawing/2014/main" val="10003"/>
                  </a:ext>
                </a:extLst>
              </a:tr>
              <a:tr h="666750">
                <a:tc>
                  <a:txBody>
                    <a:bodyPr/>
                    <a:lstStyle/>
                    <a:p>
                      <a:pPr algn="l"/>
                      <a:r>
                        <a:rPr sz="1500" b="0">
                          <a:solidFill>
                            <a:srgbClr val="142D45"/>
                          </a:solidFill>
                          <a:latin typeface="Arial"/>
                          <a:ea typeface="Arial"/>
                          <a:cs typeface="Arial"/>
                        </a:rPr>
                        <a:t>Rotated input reads</a:t>
                      </a:r>
                    </a:p>
                  </a:txBody>
                  <a:tcPr anchor="ctr">
                    <a:solidFill>
                      <a:srgbClr val="F0F4F4"/>
                    </a:solidFill>
                  </a:tcPr>
                </a:tc>
                <a:tc>
                  <a:txBody>
                    <a:bodyPr/>
                    <a:lstStyle/>
                    <a:p>
                      <a:pPr algn="l"/>
                      <a:r>
                        <a:rPr sz="1500" b="0">
                          <a:solidFill>
                            <a:srgbClr val="142D45"/>
                          </a:solidFill>
                          <a:latin typeface="Arial"/>
                          <a:ea typeface="Arial"/>
                          <a:cs typeface="Arial"/>
                        </a:rPr>
                        <a:t>Angle changes the source addresses visited by a warp</a:t>
                      </a:r>
                    </a:p>
                  </a:txBody>
                  <a:tcPr anchor="ctr">
                    <a:solidFill>
                      <a:srgbClr val="F0F4F4"/>
                    </a:solidFill>
                  </a:tcPr>
                </a:tc>
                <a:tc>
                  <a:txBody>
                    <a:bodyPr/>
                    <a:lstStyle/>
                    <a:p>
                      <a:pPr algn="l"/>
                      <a:r>
                        <a:rPr sz="1500" b="0">
                          <a:solidFill>
                            <a:srgbClr val="142D45"/>
                          </a:solidFill>
                          <a:latin typeface="Arial"/>
                          <a:ea typeface="Arial"/>
                          <a:cs typeface="Arial"/>
                        </a:rPr>
                        <a:t>Irregular gathers can reduce effective read bandwidth/cache reuse.</a:t>
                      </a:r>
                    </a:p>
                  </a:txBody>
                  <a:tcPr anchor="ctr">
                    <a:solidFill>
                      <a:srgbClr val="F0F4F4"/>
                    </a:solidFill>
                  </a:tcPr>
                </a:tc>
                <a:extLst>
                  <a:ext uri="{0D108BD9-81ED-4DB2-BD59-A6C34878D82A}">
                    <a16:rowId xmlns:a16="http://schemas.microsoft.com/office/drawing/2014/main" val="10004"/>
                  </a:ext>
                </a:extLst>
              </a:tr>
              <a:tr h="666750">
                <a:tc>
                  <a:txBody>
                    <a:bodyPr/>
                    <a:lstStyle/>
                    <a:p>
                      <a:pPr algn="l"/>
                      <a:r>
                        <a:rPr sz="1500" b="0">
                          <a:solidFill>
                            <a:srgbClr val="142D45"/>
                          </a:solidFill>
                          <a:latin typeface="Arial"/>
                          <a:ea typeface="Arial"/>
                          <a:cs typeface="Arial"/>
                        </a:rPr>
                        <a:t>Higher residency</a:t>
                      </a:r>
                    </a:p>
                  </a:txBody>
                  <a:tcPr anchor="ctr">
                    <a:solidFill>
                      <a:srgbClr val="FFFFFF"/>
                    </a:solidFill>
                  </a:tcPr>
                </a:tc>
                <a:tc>
                  <a:txBody>
                    <a:bodyPr/>
                    <a:lstStyle/>
                    <a:p>
                      <a:pPr algn="l"/>
                      <a:r>
                        <a:rPr sz="1500" b="0">
                          <a:solidFill>
                            <a:srgbClr val="142D45"/>
                          </a:solidFill>
                          <a:latin typeface="Arial"/>
                          <a:ea typeface="Arial"/>
                          <a:cs typeface="Arial"/>
                        </a:rPr>
                        <a:t>Registers, shared memory and block/thread limits constrain active warps</a:t>
                      </a:r>
                    </a:p>
                  </a:txBody>
                  <a:tcPr anchor="ctr">
                    <a:solidFill>
                      <a:srgbClr val="FFFFFF"/>
                    </a:solidFill>
                  </a:tcPr>
                </a:tc>
                <a:tc>
                  <a:txBody>
                    <a:bodyPr/>
                    <a:lstStyle/>
                    <a:p>
                      <a:pPr algn="l"/>
                      <a:r>
                        <a:rPr sz="1500" b="0">
                          <a:solidFill>
                            <a:srgbClr val="142D45"/>
                          </a:solidFill>
                          <a:latin typeface="Arial"/>
                          <a:ea typeface="Arial"/>
                          <a:cs typeface="Arial"/>
                        </a:rPr>
                        <a:t>Helps hide latency; maximum occupancy is not automatically fastest.</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Recompute grid for each block shape. Profile actual tra">
            <a:extLst>
              <a:ext uri="{FF2B5EF4-FFF2-40B4-BE49-F238E27FC236}">
                <a16:creationId xmlns:a16="http://schemas.microsoft.com/office/drawing/2014/main" id="{EFE5A7E1-66A8-49BD-8BFE-3E053A6E041A}"/>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Recompute grid for each block shape. Profile actual transactions, latency and registers before selecting a shape.</a:t>
            </a:r>
          </a:p>
        </p:txBody>
      </p:sp>
      <p:sp>
        <p:nvSpPr>
          <p:cNvPr id="5" name="Straight Connector 4">
            <a:extLst>
              <a:ext uri="{FF2B5EF4-FFF2-40B4-BE49-F238E27FC236}">
                <a16:creationId xmlns:a16="http://schemas.microsoft.com/office/drawing/2014/main" id="{5FEF45D7-D3B5-4AF1-8C89-7DFA3C05A927}"/>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1] NVIDIA CUDA programming model; [2] NVIDIA ">
            <a:extLst>
              <a:ext uri="{FF2B5EF4-FFF2-40B4-BE49-F238E27FC236}">
                <a16:creationId xmlns:a16="http://schemas.microsoft.com/office/drawing/2014/main" id="{D78992FE-B80B-4231-94B4-A70AE218600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 [2] NVIDIA CUDA Best Practices</a:t>
            </a:r>
          </a:p>
        </p:txBody>
      </p:sp>
      <p:sp>
        <p:nvSpPr>
          <p:cNvPr id="7" name="18 / 46">
            <a:extLst>
              <a:ext uri="{FF2B5EF4-FFF2-40B4-BE49-F238E27FC236}">
                <a16:creationId xmlns:a16="http://schemas.microsoft.com/office/drawing/2014/main" id="{33ECB07D-6586-4109-946B-F49937FBD662}"/>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20 / 48</a:t>
            </a:r>
          </a:p>
        </p:txBody>
      </p:sp>
    </p:spTree>
    <p:extLst>
      <p:ext uri="{BB962C8B-B14F-4D97-AF65-F5344CB8AC3E}">
        <p14:creationId xmlns:p14="http://schemas.microsoft.com/office/powerpoint/2010/main" val="1293331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Appendix • Task 1 • Task 1(b)">
            <a:extLst>
              <a:ext uri="{FF2B5EF4-FFF2-40B4-BE49-F238E27FC236}">
                <a16:creationId xmlns:a16="http://schemas.microsoft.com/office/drawing/2014/main" id="{00D88D3D-317D-47F4-92E4-C17554E51785}"/>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a:t>
            </a:r>
          </a:p>
        </p:txBody>
      </p:sp>
      <p:sp>
        <p:nvSpPr>
          <p:cNvPr id="2" name="Expected speedup and its limits">
            <a:extLst>
              <a:ext uri="{FF2B5EF4-FFF2-40B4-BE49-F238E27FC236}">
                <a16:creationId xmlns:a16="http://schemas.microsoft.com/office/drawing/2014/main" id="{EA57C725-020A-47B1-9B7D-395955B5B0AE}"/>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Expected speedup and its limits</a:t>
            </a:r>
          </a:p>
        </p:txBody>
      </p:sp>
      <p:sp>
        <p:nvSpPr>
          <p:cNvPr id="3" name="Baseline: single CPU thread, same rotation and sampling">
            <a:extLst>
              <a:ext uri="{FF2B5EF4-FFF2-40B4-BE49-F238E27FC236}">
                <a16:creationId xmlns:a16="http://schemas.microsoft.com/office/drawing/2014/main" id="{AC9864A6-1389-46F3-B66F-070F938900F8}"/>
              </a:ext>
            </a:extLst>
          </p:cNvPr>
          <p:cNvSpPr>
            <a:spLocks noGrp="1"/>
          </p:cNvSpPr>
          <p:nvPr/>
        </p:nvSpPr>
        <p:spPr>
          <a:xfrm>
            <a:off x="609600" y="1514475"/>
            <a:ext cx="1097280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Baseline: single CPU thread, same rotation and sampling</a:t>
            </a:r>
          </a:p>
        </p:txBody>
      </p:sp>
      <p:sp>
        <p:nvSpPr>
          <p:cNvPr id="4" name="Also compare a multithreaded CPU; identical output and ">
            <a:extLst>
              <a:ext uri="{FF2B5EF4-FFF2-40B4-BE49-F238E27FC236}">
                <a16:creationId xmlns:a16="http://schemas.microsoft.com/office/drawing/2014/main" id="{AA776F31-790D-4170-84B0-C9113FF925EC}"/>
              </a:ext>
            </a:extLst>
          </p:cNvPr>
          <p:cNvSpPr>
            <a:spLocks noGrp="1"/>
          </p:cNvSpPr>
          <p:nvPr/>
        </p:nvSpPr>
        <p:spPr>
          <a:xfrm>
            <a:off x="609600" y="1924050"/>
            <a:ext cx="10972800" cy="321564"/>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Also compare a multithreaded CPU; identical output and timing boundaries.</a:t>
            </a:r>
          </a:p>
        </p:txBody>
      </p:sp>
      <p:sp>
        <p:nvSpPr>
          <p:cNvPr id="5" name="Speedup = TCPU / TGPU,total">
            <a:extLst>
              <a:ext uri="{FF2B5EF4-FFF2-40B4-BE49-F238E27FC236}">
                <a16:creationId xmlns:a16="http://schemas.microsoft.com/office/drawing/2014/main" id="{A1000CFA-FBD6-4D0C-BA7F-8CC64CFCC501}"/>
              </a:ext>
            </a:extLst>
          </p:cNvPr>
          <p:cNvSpPr>
            <a:spLocks noGrp="1"/>
          </p:cNvSpPr>
          <p:nvPr/>
        </p:nvSpPr>
        <p:spPr>
          <a:xfrm>
            <a:off x="609600" y="2505075"/>
            <a:ext cx="10972800" cy="439674"/>
          </a:xfrm>
          <a:prstGeom prst="rect">
            <a:avLst/>
          </a:prstGeom>
          <a:noFill/>
          <a:ln w="0">
            <a:noFill/>
          </a:ln>
        </p:spPr>
        <p:txBody>
          <a:bodyPr wrap="square" lIns="0" tIns="0" rIns="0" bIns="0" anchor="t">
            <a:noAutofit/>
          </a:bodyPr>
          <a:lstStyle>
            <a:defPPr algn="l">
              <a:defRPr sz="2550" b="1">
                <a:solidFill>
                  <a:srgbClr val="142D45"/>
                </a:solidFill>
                <a:latin typeface="Arial"/>
                <a:ea typeface="Arial"/>
                <a:cs typeface="Arial"/>
              </a:defRPr>
            </a:defPPr>
          </a:lstStyle>
          <a:p>
            <a:pPr algn="l">
              <a:defRPr sz="2550" b="1">
                <a:solidFill>
                  <a:srgbClr val="142D45"/>
                </a:solidFill>
                <a:latin typeface="Arial"/>
                <a:ea typeface="Arial"/>
                <a:cs typeface="Arial"/>
              </a:defRPr>
            </a:pPr>
            <a:r>
              <a:rPr sz="2550" b="1">
                <a:solidFill>
                  <a:srgbClr val="142D45"/>
                </a:solidFill>
                <a:latin typeface="Arial"/>
                <a:ea typeface="Arial"/>
                <a:cs typeface="Arial"/>
              </a:rPr>
              <a:t>Speedup = TCPU / TGPU,total</a:t>
            </a:r>
          </a:p>
        </p:txBody>
      </p:sp>
      <p:sp>
        <p:nvSpPr>
          <p:cNvPr id="6" name="TGPU,total = allocation/setup + H2D + kernel + D2H">
            <a:extLst>
              <a:ext uri="{FF2B5EF4-FFF2-40B4-BE49-F238E27FC236}">
                <a16:creationId xmlns:a16="http://schemas.microsoft.com/office/drawing/2014/main" id="{317BF2EA-57DD-461C-A4E6-925F98F6AEFF}"/>
              </a:ext>
            </a:extLst>
          </p:cNvPr>
          <p:cNvSpPr>
            <a:spLocks noGrp="1"/>
          </p:cNvSpPr>
          <p:nvPr/>
        </p:nvSpPr>
        <p:spPr>
          <a:xfrm>
            <a:off x="609600" y="3038475"/>
            <a:ext cx="10972800" cy="356997"/>
          </a:xfrm>
          <a:prstGeom prst="rect">
            <a:avLst/>
          </a:prstGeom>
          <a:noFill/>
          <a:ln w="0">
            <a:noFill/>
          </a:ln>
        </p:spPr>
        <p:txBody>
          <a:bodyPr wrap="square" lIns="0" tIns="0" rIns="0" bIns="0" anchor="t">
            <a:noAutofit/>
          </a:bodyPr>
          <a:lstStyle>
            <a:defPPr algn="l">
              <a:defRPr sz="2025" b="0">
                <a:solidFill>
                  <a:srgbClr val="142D45"/>
                </a:solidFill>
                <a:latin typeface="Arial"/>
                <a:ea typeface="Arial"/>
                <a:cs typeface="Arial"/>
              </a:defRPr>
            </a:defPPr>
          </a:lstStyle>
          <a:p>
            <a:pPr algn="l">
              <a:defRPr sz="2025" b="0">
                <a:solidFill>
                  <a:srgbClr val="142D45"/>
                </a:solidFill>
                <a:latin typeface="Arial"/>
                <a:ea typeface="Arial"/>
                <a:cs typeface="Arial"/>
              </a:defRPr>
            </a:pPr>
            <a:r>
              <a:rPr sz="2025" b="0">
                <a:solidFill>
                  <a:srgbClr val="142D45"/>
                </a:solidFill>
                <a:latin typeface="Arial"/>
                <a:ea typeface="Arial"/>
                <a:cs typeface="Arial"/>
              </a:rPr>
              <a:t>TGPU,total = allocation/setup + H2D + kernel + D2H</a:t>
            </a:r>
          </a:p>
        </p:txBody>
      </p:sp>
      <p:sp>
        <p:nvSpPr>
          <p:cNvPr id="7" name="Many GPU execution units and high device bandwidth favo">
            <a:extLst>
              <a:ext uri="{FF2B5EF4-FFF2-40B4-BE49-F238E27FC236}">
                <a16:creationId xmlns:a16="http://schemas.microsoft.com/office/drawing/2014/main" id="{1A822BB1-CE55-4A84-A377-48DB87E6B2D3}"/>
              </a:ext>
            </a:extLst>
          </p:cNvPr>
          <p:cNvSpPr>
            <a:spLocks noGrp="1"/>
          </p:cNvSpPr>
          <p:nvPr/>
        </p:nvSpPr>
        <p:spPr>
          <a:xfrm>
            <a:off x="609600" y="3714750"/>
            <a:ext cx="5219700" cy="1171956"/>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Many GPU execution units and high device</a:t>
            </a:r>
          </a:p>
          <a:p>
            <a:pPr algn="l">
              <a:defRPr sz="1800" b="0">
                <a:solidFill>
                  <a:srgbClr val="142D45"/>
                </a:solidFill>
                <a:latin typeface="Arial"/>
                <a:ea typeface="Arial"/>
                <a:cs typeface="Arial"/>
              </a:defRPr>
            </a:pPr>
            <a:r>
              <a:rPr sz="1800" b="0">
                <a:solidFill>
                  <a:srgbClr val="142D45"/>
                </a:solidFill>
                <a:latin typeface="Arial"/>
                <a:ea typeface="Arial"/>
                <a:cs typeface="Arial"/>
              </a:rPr>
              <a:t>bandwidth favor parallel throughput. Large or</a:t>
            </a:r>
          </a:p>
          <a:p>
            <a:pPr algn="l">
              <a:defRPr sz="1800" b="0">
                <a:solidFill>
                  <a:srgbClr val="142D45"/>
                </a:solidFill>
                <a:latin typeface="Arial"/>
                <a:ea typeface="Arial"/>
                <a:cs typeface="Arial"/>
              </a:defRPr>
            </a:pPr>
            <a:r>
              <a:rPr sz="1800" b="0">
                <a:solidFill>
                  <a:srgbClr val="142D45"/>
                </a:solidFill>
                <a:latin typeface="Arial"/>
                <a:ea typeface="Arial"/>
                <a:cs typeface="Arial"/>
              </a:rPr>
              <a:t>resident images amortize setup; gathered reads</a:t>
            </a:r>
          </a:p>
          <a:p>
            <a:pPr algn="l">
              <a:defRPr sz="1800" b="0">
                <a:solidFill>
                  <a:srgbClr val="142D45"/>
                </a:solidFill>
                <a:latin typeface="Arial"/>
                <a:ea typeface="Arial"/>
                <a:cs typeface="Arial"/>
              </a:defRPr>
            </a:pPr>
            <a:r>
              <a:rPr sz="1800" b="0">
                <a:solidFill>
                  <a:srgbClr val="142D45"/>
                </a:solidFill>
                <a:latin typeface="Arial"/>
                <a:ea typeface="Arial"/>
                <a:cs typeface="Arial"/>
              </a:rPr>
              <a:t>may limit bandwidth.</a:t>
            </a:r>
          </a:p>
        </p:txBody>
      </p:sp>
      <p:sp>
        <p:nvSpPr>
          <p:cNvPr id="8" name="Amdahl: S = 1 / (s + (1−s)/a). s is the unchanged seria">
            <a:extLst>
              <a:ext uri="{FF2B5EF4-FFF2-40B4-BE49-F238E27FC236}">
                <a16:creationId xmlns:a16="http://schemas.microsoft.com/office/drawing/2014/main" id="{19BF3856-B1B1-419B-A541-A3453E926525}"/>
              </a:ext>
            </a:extLst>
          </p:cNvPr>
          <p:cNvSpPr>
            <a:spLocks noGrp="1"/>
          </p:cNvSpPr>
          <p:nvPr/>
        </p:nvSpPr>
        <p:spPr>
          <a:xfrm>
            <a:off x="6419850" y="3714750"/>
            <a:ext cx="5162550" cy="1171956"/>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Amdahl: S = 1 / (s + (1−s)/a). s is the unchanged</a:t>
            </a:r>
          </a:p>
          <a:p>
            <a:pPr algn="l">
              <a:defRPr sz="1800" b="0">
                <a:solidFill>
                  <a:srgbClr val="142D45"/>
                </a:solidFill>
                <a:latin typeface="Arial"/>
                <a:ea typeface="Arial"/>
                <a:cs typeface="Arial"/>
              </a:defRPr>
            </a:pPr>
            <a:r>
              <a:rPr sz="1800" b="0">
                <a:solidFill>
                  <a:srgbClr val="142D45"/>
                </a:solidFill>
                <a:latin typeface="Arial"/>
                <a:ea typeface="Arial"/>
                <a:cs typeface="Arial"/>
              </a:rPr>
              <a:t>serial share; a accelerates the remainder. s = 0.20</a:t>
            </a:r>
          </a:p>
          <a:p>
            <a:pPr algn="l">
              <a:defRPr sz="1800" b="0">
                <a:solidFill>
                  <a:srgbClr val="142D45"/>
                </a:solidFill>
                <a:latin typeface="Arial"/>
                <a:ea typeface="Arial"/>
                <a:cs typeface="Arial"/>
              </a:defRPr>
            </a:pPr>
            <a:r>
              <a:rPr sz="1800" b="0">
                <a:solidFill>
                  <a:srgbClr val="142D45"/>
                </a:solidFill>
                <a:latin typeface="Arial"/>
                <a:ea typeface="Arial"/>
                <a:cs typeface="Arial"/>
              </a:rPr>
              <a:t>gives a 5× ideal ceiling before added transfers.</a:t>
            </a:r>
          </a:p>
          <a:p>
            <a:pPr algn="l">
              <a:defRPr sz="1800" b="0">
                <a:solidFill>
                  <a:srgbClr val="142D45"/>
                </a:solidFill>
                <a:latin typeface="Arial"/>
                <a:ea typeface="Arial"/>
                <a:cs typeface="Arial"/>
              </a:defRPr>
            </a:pPr>
            <a:r>
              <a:rPr sz="1800" b="0">
                <a:solidFill>
                  <a:srgbClr val="142D45"/>
                </a:solidFill>
                <a:latin typeface="Arial"/>
                <a:ea typeface="Arial"/>
                <a:cs typeface="Arial"/>
              </a:rPr>
              <a:t>Theoretical, not measured.</a:t>
            </a:r>
          </a:p>
        </p:txBody>
      </p:sp>
      <p:sp>
        <p:nvSpPr>
          <p:cNvPr id="9" name="Straight Connector 8">
            <a:extLst>
              <a:ext uri="{FF2B5EF4-FFF2-40B4-BE49-F238E27FC236}">
                <a16:creationId xmlns:a16="http://schemas.microsoft.com/office/drawing/2014/main" id="{8FE83224-6E48-444D-A202-7B17FC1AB46E}"/>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0" name="Expect gains for large or resident workloads; measure t">
            <a:extLst>
              <a:ext uri="{FF2B5EF4-FFF2-40B4-BE49-F238E27FC236}">
                <a16:creationId xmlns:a16="http://schemas.microsoft.com/office/drawing/2014/main" id="{8542EDC5-9B23-4648-B8EA-2A93639AF303}"/>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Expect gains for large or resident workloads; measure the whole pipeline.</a:t>
            </a:r>
          </a:p>
        </p:txBody>
      </p:sp>
      <p:sp>
        <p:nvSpPr>
          <p:cNvPr id="11" name="Straight Connector 10">
            <a:extLst>
              <a:ext uri="{FF2B5EF4-FFF2-40B4-BE49-F238E27FC236}">
                <a16:creationId xmlns:a16="http://schemas.microsoft.com/office/drawing/2014/main" id="{0E567D70-3BD1-4023-A1F0-90D439CAC9D4}"/>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Sources: [2] NVIDIA CUDA Best Practices">
            <a:extLst>
              <a:ext uri="{FF2B5EF4-FFF2-40B4-BE49-F238E27FC236}">
                <a16:creationId xmlns:a16="http://schemas.microsoft.com/office/drawing/2014/main" id="{6071803A-2BD8-4FB0-BF7A-9893A4D8142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3" name="19 / 46">
            <a:extLst>
              <a:ext uri="{FF2B5EF4-FFF2-40B4-BE49-F238E27FC236}">
                <a16:creationId xmlns:a16="http://schemas.microsoft.com/office/drawing/2014/main" id="{71896EB6-1E23-4006-98EA-1DC2A7F606F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21 / 48</a:t>
            </a:r>
          </a:p>
        </p:txBody>
      </p:sp>
    </p:spTree>
    <p:extLst>
      <p:ext uri="{BB962C8B-B14F-4D97-AF65-F5344CB8AC3E}">
        <p14:creationId xmlns:p14="http://schemas.microsoft.com/office/powerpoint/2010/main" val="20106748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9E48FE12-12A3-4BD6-8059-EADA5801D7E4}"/>
              </a:ext>
            </a:extLst>
          </p:cNvPr>
          <p:cNvCxnSpPr>
            <a:stCxn id="16" idx="3"/>
            <a:endCxn id="17" idx="1"/>
          </p:cNvCxnSpPr>
          <p:nvPr/>
        </p:nvCxnSpPr>
        <p:spPr>
          <a:xfrm>
            <a:off x="10287000" y="3619500"/>
            <a:ext cx="333375" cy="0"/>
          </a:xfrm>
          <a:prstGeom prst="straightConnector1">
            <a:avLst/>
          </a:prstGeom>
          <a:ln w="19050">
            <a:solidFill>
              <a:srgbClr val="007B83"/>
            </a:solidFill>
            <a:prstDash val="solid"/>
            <a:tailEnd type="arrow" w="med" len="med"/>
          </a:ln>
        </p:spPr>
      </p:cxnSp>
      <p:cxnSp>
        <p:nvCxnSpPr>
          <p:cNvPr id="18" name="Straight Arrow Connector 17">
            <a:extLst>
              <a:ext uri="{FF2B5EF4-FFF2-40B4-BE49-F238E27FC236}">
                <a16:creationId xmlns:a16="http://schemas.microsoft.com/office/drawing/2014/main" id="{EEA6B7E3-6CC3-4341-8D9B-65AB8B3616D4}"/>
              </a:ext>
            </a:extLst>
          </p:cNvPr>
          <p:cNvCxnSpPr>
            <a:stCxn id="15" idx="3"/>
            <a:endCxn id="16" idx="1"/>
          </p:cNvCxnSpPr>
          <p:nvPr/>
        </p:nvCxnSpPr>
        <p:spPr>
          <a:xfrm>
            <a:off x="8924925" y="3619500"/>
            <a:ext cx="333375" cy="0"/>
          </a:xfrm>
          <a:prstGeom prst="straightConnector1">
            <a:avLst/>
          </a:prstGeom>
          <a:ln w="19050">
            <a:solidFill>
              <a:srgbClr val="007B83"/>
            </a:solidFill>
            <a:prstDash val="solid"/>
            <a:tailEnd type="arrow" w="med" len="med"/>
          </a:ln>
        </p:spPr>
      </p:cxnSp>
      <p:cxnSp>
        <p:nvCxnSpPr>
          <p:cNvPr id="13" name="Straight Arrow Connector 12">
            <a:extLst>
              <a:ext uri="{FF2B5EF4-FFF2-40B4-BE49-F238E27FC236}">
                <a16:creationId xmlns:a16="http://schemas.microsoft.com/office/drawing/2014/main" id="{17DD4747-E56F-434A-B7AA-6ADE0880D148}"/>
              </a:ext>
            </a:extLst>
          </p:cNvPr>
          <p:cNvCxnSpPr>
            <a:stCxn id="10" idx="3"/>
            <a:endCxn id="11" idx="1"/>
          </p:cNvCxnSpPr>
          <p:nvPr/>
        </p:nvCxnSpPr>
        <p:spPr>
          <a:xfrm>
            <a:off x="9953625" y="2419350"/>
            <a:ext cx="333375" cy="0"/>
          </a:xfrm>
          <a:prstGeom prst="straightConnector1">
            <a:avLst/>
          </a:prstGeom>
          <a:ln w="19050">
            <a:solidFill>
              <a:srgbClr val="007B83"/>
            </a:solidFill>
            <a:prstDash val="solid"/>
            <a:tailEnd type="arrow" w="med" len="med"/>
          </a:ln>
        </p:spPr>
      </p:cxnSp>
      <p:cxnSp>
        <p:nvCxnSpPr>
          <p:cNvPr id="12" name="Straight Arrow Connector 11">
            <a:extLst>
              <a:ext uri="{FF2B5EF4-FFF2-40B4-BE49-F238E27FC236}">
                <a16:creationId xmlns:a16="http://schemas.microsoft.com/office/drawing/2014/main" id="{487B0E51-B532-471B-94CD-EBB7353F1626}"/>
              </a:ext>
            </a:extLst>
          </p:cNvPr>
          <p:cNvCxnSpPr>
            <a:stCxn id="9" idx="3"/>
            <a:endCxn id="10" idx="1"/>
          </p:cNvCxnSpPr>
          <p:nvPr/>
        </p:nvCxnSpPr>
        <p:spPr>
          <a:xfrm>
            <a:off x="8591550" y="2419350"/>
            <a:ext cx="333375" cy="0"/>
          </a:xfrm>
          <a:prstGeom prst="straightConnector1">
            <a:avLst/>
          </a:prstGeom>
          <a:ln w="19050">
            <a:solidFill>
              <a:srgbClr val="007B83"/>
            </a:solidFill>
            <a:prstDash val="solid"/>
            <a:tailEnd type="arrow" w="med" len="med"/>
          </a:ln>
        </p:spPr>
      </p:cxnSp>
      <p:sp>
        <p:nvSpPr>
          <p:cNvPr id="27" name="Appendix • Task 1 • Task 1(b) • Concurrency and speedup">
            <a:extLst>
              <a:ext uri="{FF2B5EF4-FFF2-40B4-BE49-F238E27FC236}">
                <a16:creationId xmlns:a16="http://schemas.microsoft.com/office/drawing/2014/main" id="{29DE1871-0B17-4EA6-8E0C-145AF80B7262}"/>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Task 1(b) • Concurrency and speedup</a:t>
            </a:r>
          </a:p>
        </p:txBody>
      </p:sp>
      <p:sp>
        <p:nvSpPr>
          <p:cNvPr id="2" name="Streams, overlap and completed output">
            <a:extLst>
              <a:ext uri="{FF2B5EF4-FFF2-40B4-BE49-F238E27FC236}">
                <a16:creationId xmlns:a16="http://schemas.microsoft.com/office/drawing/2014/main" id="{269BC5FA-BB75-4A7D-BCDE-F4F7101526F7}"/>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Streams, overlap and completed output</a:t>
            </a:r>
          </a:p>
        </p:txBody>
      </p:sp>
      <p:sp>
        <p:nvSpPr>
          <p:cNvPr id="3" name="Ordered work in one stream">
            <a:extLst>
              <a:ext uri="{FF2B5EF4-FFF2-40B4-BE49-F238E27FC236}">
                <a16:creationId xmlns:a16="http://schemas.microsoft.com/office/drawing/2014/main" id="{92A222C6-E3DD-4A00-98D1-A719C9646319}"/>
              </a:ext>
            </a:extLst>
          </p:cNvPr>
          <p:cNvSpPr>
            <a:spLocks noGrp="1"/>
          </p:cNvSpPr>
          <p:nvPr/>
        </p:nvSpPr>
        <p:spPr>
          <a:xfrm>
            <a:off x="609600" y="1504950"/>
            <a:ext cx="61912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Ordered work in one stream</a:t>
            </a:r>
          </a:p>
        </p:txBody>
      </p:sp>
      <p:sp>
        <p:nvSpPr>
          <p:cNvPr id="4" name="Rectangle 3">
            <a:extLst>
              <a:ext uri="{FF2B5EF4-FFF2-40B4-BE49-F238E27FC236}">
                <a16:creationId xmlns:a16="http://schemas.microsoft.com/office/drawing/2014/main" id="{2A89D397-210E-4021-AC51-3055D25E8CDB}"/>
              </a:ext>
            </a:extLst>
          </p:cNvPr>
          <p:cNvSpPr>
            <a:spLocks noGrp="1"/>
          </p:cNvSpPr>
          <p:nvPr/>
        </p:nvSpPr>
        <p:spPr>
          <a:xfrm>
            <a:off x="609600" y="1971675"/>
            <a:ext cx="6419850" cy="2148840"/>
          </a:xfrm>
          <a:prstGeom prst="rect">
            <a:avLst/>
          </a:prstGeom>
          <a:solidFill>
            <a:srgbClr val="EDF1F5"/>
          </a:solidFill>
          <a:ln w="14288">
            <a:noFill/>
            <a:prstDash val="solid"/>
          </a:ln>
        </p:spPr>
        <p:txBody>
          <a:bodyPr/>
          <a:lstStyle/>
          <a:p>
            <a:endParaRPr lang="en-US"/>
          </a:p>
        </p:txBody>
      </p:sp>
      <p:sp>
        <p:nvSpPr>
          <p:cNvPr id="5" name="cudaMemcpyAsync(d_in, h_in, bytes,&#10;  cudaMemcpyHostToDe">
            <a:extLst>
              <a:ext uri="{FF2B5EF4-FFF2-40B4-BE49-F238E27FC236}">
                <a16:creationId xmlns:a16="http://schemas.microsoft.com/office/drawing/2014/main" id="{8D53AF13-1AB1-4C3A-B253-4536B4806144}"/>
              </a:ext>
            </a:extLst>
          </p:cNvPr>
          <p:cNvSpPr>
            <a:spLocks noGrp="1"/>
          </p:cNvSpPr>
          <p:nvPr/>
        </p:nvSpPr>
        <p:spPr>
          <a:xfrm>
            <a:off x="723900" y="2057400"/>
            <a:ext cx="6191250" cy="2015490"/>
          </a:xfrm>
          <a:prstGeom prst="rect">
            <a:avLst/>
          </a:prstGeom>
          <a:noFill/>
          <a:ln w="0">
            <a:noFill/>
          </a:ln>
        </p:spPr>
        <p:txBody>
          <a:bodyPr wrap="none" lIns="0" tIns="0" rIns="0" bIns="0" anchor="t">
            <a:noAutofit/>
          </a:bodyPr>
          <a:lstStyle>
            <a:defPPr algn="l">
              <a:defRPr sz="1575" b="0">
                <a:solidFill>
                  <a:srgbClr val="142D45"/>
                </a:solidFill>
                <a:latin typeface="Consolas"/>
                <a:ea typeface="Consolas"/>
                <a:cs typeface="Consolas"/>
              </a:defRPr>
            </a:defPPr>
          </a:lstStyle>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cudaMemcpyAsync(d_in, h_in, bytes,</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cudaMemcpyHostToDevice, stream);</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rotate_rgb&lt;&lt;&lt;grid, block, 0, stream&gt;&gt;&gt;(</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d_in, d_out, W, H, c, s);</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cudaMemcpyAsync(h_out, d_out, bytes,</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cudaMemcpyDeviceToHost, stream);</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 After enqueueing all batch images:</a:t>
            </a:r>
          </a:p>
          <a:p>
            <a:pPr algn="l">
              <a:defRPr sz="1575" b="0">
                <a:solidFill>
                  <a:srgbClr val="142D45"/>
                </a:solidFill>
                <a:latin typeface="Consolas"/>
                <a:ea typeface="Consolas"/>
                <a:cs typeface="Consolas"/>
              </a:defRPr>
            </a:pPr>
            <a:r>
              <a:rPr sz="1575" b="0">
                <a:solidFill>
                  <a:srgbClr val="142D45"/>
                </a:solidFill>
                <a:latin typeface="Consolas"/>
                <a:ea typeface="Consolas"/>
                <a:cs typeface="Consolas"/>
              </a:rPr>
              <a:t>cudaStreamSynchronize(stream);</a:t>
            </a:r>
          </a:p>
        </p:txBody>
      </p:sp>
      <p:sp>
        <p:nvSpPr>
          <p:cNvPr id="6" name="Batch: enqueue all streams before waiting. Check every ">
            <a:extLst>
              <a:ext uri="{FF2B5EF4-FFF2-40B4-BE49-F238E27FC236}">
                <a16:creationId xmlns:a16="http://schemas.microsoft.com/office/drawing/2014/main" id="{DC56D63D-53C4-4EC0-9C48-0428B42B5EC6}"/>
              </a:ext>
            </a:extLst>
          </p:cNvPr>
          <p:cNvSpPr>
            <a:spLocks noGrp="1"/>
          </p:cNvSpPr>
          <p:nvPr/>
        </p:nvSpPr>
        <p:spPr>
          <a:xfrm>
            <a:off x="609600" y="4162425"/>
            <a:ext cx="619125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Batch: enqueue all streams before waiting. Check every API,</a:t>
            </a:r>
          </a:p>
          <a:p>
            <a:pPr algn="l">
              <a:defRPr sz="1650" b="0">
                <a:solidFill>
                  <a:srgbClr val="142D45"/>
                </a:solidFill>
                <a:latin typeface="Arial"/>
                <a:ea typeface="Arial"/>
                <a:cs typeface="Arial"/>
              </a:defRPr>
            </a:pPr>
            <a:r>
              <a:rPr sz="1650" b="0">
                <a:solidFill>
                  <a:srgbClr val="142D45"/>
                </a:solidFill>
                <a:latin typeface="Arial"/>
                <a:ea typeface="Arial"/>
                <a:cs typeface="Arial"/>
              </a:rPr>
              <a:t>launch and completion result; submission is not completion.</a:t>
            </a:r>
          </a:p>
        </p:txBody>
      </p:sp>
      <p:sp>
        <p:nvSpPr>
          <p:cNvPr id="7" name="Independent images / streams">
            <a:extLst>
              <a:ext uri="{FF2B5EF4-FFF2-40B4-BE49-F238E27FC236}">
                <a16:creationId xmlns:a16="http://schemas.microsoft.com/office/drawing/2014/main" id="{964E85FF-A627-4391-A7D8-96B42ADF7990}"/>
              </a:ext>
            </a:extLst>
          </p:cNvPr>
          <p:cNvSpPr>
            <a:spLocks noGrp="1"/>
          </p:cNvSpPr>
          <p:nvPr/>
        </p:nvSpPr>
        <p:spPr>
          <a:xfrm>
            <a:off x="7524750" y="1504950"/>
            <a:ext cx="4057650" cy="333375"/>
          </a:xfrm>
          <a:prstGeom prst="rect">
            <a:avLst/>
          </a:prstGeom>
          <a:noFill/>
          <a:ln w="0">
            <a:noFill/>
          </a:ln>
        </p:spPr>
        <p:txBody>
          <a:bodyPr wrap="square" lIns="0" tIns="0" rIns="0" bIns="0" anchor="t">
            <a:noAutofit/>
          </a:bodyPr>
          <a:lstStyle>
            <a:defPPr algn="l">
              <a:defRPr sz="1875" b="1">
                <a:solidFill>
                  <a:srgbClr val="007B83"/>
                </a:solidFill>
                <a:latin typeface="Arial"/>
                <a:ea typeface="Arial"/>
                <a:cs typeface="Arial"/>
              </a:defRPr>
            </a:defPPr>
          </a:lstStyle>
          <a:p>
            <a:pPr algn="l">
              <a:defRPr sz="1875" b="1">
                <a:solidFill>
                  <a:srgbClr val="007B83"/>
                </a:solidFill>
                <a:latin typeface="Arial"/>
                <a:ea typeface="Arial"/>
                <a:cs typeface="Arial"/>
              </a:defRPr>
            </a:pPr>
            <a:r>
              <a:rPr sz="1875" b="1">
                <a:solidFill>
                  <a:srgbClr val="007B83"/>
                </a:solidFill>
                <a:latin typeface="Arial"/>
                <a:ea typeface="Arial"/>
                <a:cs typeface="Arial"/>
              </a:rPr>
              <a:t>Independent images / streams</a:t>
            </a:r>
          </a:p>
        </p:txBody>
      </p:sp>
      <p:sp>
        <p:nvSpPr>
          <p:cNvPr id="8" name="A">
            <a:extLst>
              <a:ext uri="{FF2B5EF4-FFF2-40B4-BE49-F238E27FC236}">
                <a16:creationId xmlns:a16="http://schemas.microsoft.com/office/drawing/2014/main" id="{B2DFF980-BAC1-4E1D-8027-3F5A38AC0CEA}"/>
              </a:ext>
            </a:extLst>
          </p:cNvPr>
          <p:cNvSpPr>
            <a:spLocks noGrp="1"/>
          </p:cNvSpPr>
          <p:nvPr/>
        </p:nvSpPr>
        <p:spPr>
          <a:xfrm>
            <a:off x="7191375" y="2295525"/>
            <a:ext cx="323850" cy="286131"/>
          </a:xfrm>
          <a:prstGeom prst="rect">
            <a:avLst/>
          </a:prstGeom>
          <a:noFill/>
          <a:ln w="0">
            <a:noFill/>
          </a:ln>
        </p:spPr>
        <p:txBody>
          <a:bodyPr wrap="square" lIns="0" tIns="0" rIns="0" bIns="0" anchor="t">
            <a:noAutofit/>
          </a:bodyPr>
          <a:lstStyle>
            <a:defPPr algn="l">
              <a:defRPr sz="1575" b="1">
                <a:solidFill>
                  <a:srgbClr val="142D45"/>
                </a:solidFill>
                <a:latin typeface="Arial"/>
                <a:ea typeface="Arial"/>
                <a:cs typeface="Arial"/>
              </a:defRPr>
            </a:defPPr>
          </a:lstStyle>
          <a:p>
            <a:pPr algn="l">
              <a:defRPr sz="1575" b="1">
                <a:solidFill>
                  <a:srgbClr val="142D45"/>
                </a:solidFill>
                <a:latin typeface="Arial"/>
                <a:ea typeface="Arial"/>
                <a:cs typeface="Arial"/>
              </a:defRPr>
            </a:pPr>
            <a:r>
              <a:rPr sz="1575" b="1">
                <a:solidFill>
                  <a:srgbClr val="142D45"/>
                </a:solidFill>
                <a:latin typeface="Arial"/>
                <a:ea typeface="Arial"/>
                <a:cs typeface="Arial"/>
              </a:rPr>
              <a:t>A</a:t>
            </a:r>
          </a:p>
        </p:txBody>
      </p:sp>
      <p:sp>
        <p:nvSpPr>
          <p:cNvPr id="9" name="Rectangle 8">
            <a:extLst>
              <a:ext uri="{FF2B5EF4-FFF2-40B4-BE49-F238E27FC236}">
                <a16:creationId xmlns:a16="http://schemas.microsoft.com/office/drawing/2014/main" id="{113211BD-343C-4095-BF16-77D048C0B6A5}"/>
              </a:ext>
            </a:extLst>
          </p:cNvPr>
          <p:cNvSpPr>
            <a:spLocks noGrp="1"/>
          </p:cNvSpPr>
          <p:nvPr/>
        </p:nvSpPr>
        <p:spPr>
          <a:xfrm>
            <a:off x="7620000" y="2095500"/>
            <a:ext cx="97155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0" name="Rectangle 9">
            <a:extLst>
              <a:ext uri="{FF2B5EF4-FFF2-40B4-BE49-F238E27FC236}">
                <a16:creationId xmlns:a16="http://schemas.microsoft.com/office/drawing/2014/main" id="{DDC7643D-7F80-4F7B-A610-18DEBFA3ECDF}"/>
              </a:ext>
            </a:extLst>
          </p:cNvPr>
          <p:cNvSpPr>
            <a:spLocks noGrp="1"/>
          </p:cNvSpPr>
          <p:nvPr/>
        </p:nvSpPr>
        <p:spPr>
          <a:xfrm>
            <a:off x="8924925" y="2095500"/>
            <a:ext cx="102870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1" name="Rectangle 10">
            <a:extLst>
              <a:ext uri="{FF2B5EF4-FFF2-40B4-BE49-F238E27FC236}">
                <a16:creationId xmlns:a16="http://schemas.microsoft.com/office/drawing/2014/main" id="{0F993D00-8C63-4709-A20F-B9A8E28DDAFC}"/>
              </a:ext>
            </a:extLst>
          </p:cNvPr>
          <p:cNvSpPr>
            <a:spLocks noGrp="1"/>
          </p:cNvSpPr>
          <p:nvPr/>
        </p:nvSpPr>
        <p:spPr>
          <a:xfrm>
            <a:off x="10287000" y="2095500"/>
            <a:ext cx="97155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14" name="B">
            <a:extLst>
              <a:ext uri="{FF2B5EF4-FFF2-40B4-BE49-F238E27FC236}">
                <a16:creationId xmlns:a16="http://schemas.microsoft.com/office/drawing/2014/main" id="{549774AC-AB21-4AE0-A78F-1457CEB052BB}"/>
              </a:ext>
            </a:extLst>
          </p:cNvPr>
          <p:cNvSpPr>
            <a:spLocks noGrp="1"/>
          </p:cNvSpPr>
          <p:nvPr/>
        </p:nvSpPr>
        <p:spPr>
          <a:xfrm>
            <a:off x="7191375" y="3495675"/>
            <a:ext cx="323850" cy="286131"/>
          </a:xfrm>
          <a:prstGeom prst="rect">
            <a:avLst/>
          </a:prstGeom>
          <a:noFill/>
          <a:ln w="0">
            <a:noFill/>
          </a:ln>
        </p:spPr>
        <p:txBody>
          <a:bodyPr wrap="square" lIns="0" tIns="0" rIns="0" bIns="0" anchor="t">
            <a:noAutofit/>
          </a:bodyPr>
          <a:lstStyle>
            <a:defPPr algn="l">
              <a:defRPr sz="1575" b="1">
                <a:solidFill>
                  <a:srgbClr val="142D45"/>
                </a:solidFill>
                <a:latin typeface="Arial"/>
                <a:ea typeface="Arial"/>
                <a:cs typeface="Arial"/>
              </a:defRPr>
            </a:defPPr>
          </a:lstStyle>
          <a:p>
            <a:pPr algn="l">
              <a:defRPr sz="1575" b="1">
                <a:solidFill>
                  <a:srgbClr val="142D45"/>
                </a:solidFill>
                <a:latin typeface="Arial"/>
                <a:ea typeface="Arial"/>
                <a:cs typeface="Arial"/>
              </a:defRPr>
            </a:pPr>
            <a:r>
              <a:rPr sz="1575" b="1">
                <a:solidFill>
                  <a:srgbClr val="142D45"/>
                </a:solidFill>
                <a:latin typeface="Arial"/>
                <a:ea typeface="Arial"/>
                <a:cs typeface="Arial"/>
              </a:rPr>
              <a:t>B</a:t>
            </a:r>
          </a:p>
        </p:txBody>
      </p:sp>
      <p:sp>
        <p:nvSpPr>
          <p:cNvPr id="15" name="Rectangle 14">
            <a:extLst>
              <a:ext uri="{FF2B5EF4-FFF2-40B4-BE49-F238E27FC236}">
                <a16:creationId xmlns:a16="http://schemas.microsoft.com/office/drawing/2014/main" id="{590C99A9-A03C-4098-BFAF-B10E158E75ED}"/>
              </a:ext>
            </a:extLst>
          </p:cNvPr>
          <p:cNvSpPr>
            <a:spLocks noGrp="1"/>
          </p:cNvSpPr>
          <p:nvPr/>
        </p:nvSpPr>
        <p:spPr>
          <a:xfrm>
            <a:off x="7953375" y="3295650"/>
            <a:ext cx="97155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H2D</a:t>
            </a:r>
          </a:p>
        </p:txBody>
      </p:sp>
      <p:sp>
        <p:nvSpPr>
          <p:cNvPr id="16" name="Rectangle 15">
            <a:extLst>
              <a:ext uri="{FF2B5EF4-FFF2-40B4-BE49-F238E27FC236}">
                <a16:creationId xmlns:a16="http://schemas.microsoft.com/office/drawing/2014/main" id="{8E423F7E-26A0-4EDA-A2F7-0D4A82C8C84A}"/>
              </a:ext>
            </a:extLst>
          </p:cNvPr>
          <p:cNvSpPr>
            <a:spLocks noGrp="1"/>
          </p:cNvSpPr>
          <p:nvPr/>
        </p:nvSpPr>
        <p:spPr>
          <a:xfrm>
            <a:off x="9258300" y="3295650"/>
            <a:ext cx="102870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Kernel</a:t>
            </a:r>
          </a:p>
        </p:txBody>
      </p:sp>
      <p:sp>
        <p:nvSpPr>
          <p:cNvPr id="17" name="Rectangle 16">
            <a:extLst>
              <a:ext uri="{FF2B5EF4-FFF2-40B4-BE49-F238E27FC236}">
                <a16:creationId xmlns:a16="http://schemas.microsoft.com/office/drawing/2014/main" id="{7595C98E-9DD4-423F-95C6-8A75588555E6}"/>
              </a:ext>
            </a:extLst>
          </p:cNvPr>
          <p:cNvSpPr>
            <a:spLocks noGrp="1"/>
          </p:cNvSpPr>
          <p:nvPr/>
        </p:nvSpPr>
        <p:spPr>
          <a:xfrm>
            <a:off x="10620375" y="3295650"/>
            <a:ext cx="971550" cy="647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D2H</a:t>
            </a:r>
          </a:p>
        </p:txBody>
      </p:sp>
      <p:sp>
        <p:nvSpPr>
          <p:cNvPr id="20" name="Possible overlap depends on supporting hardware and ava">
            <a:extLst>
              <a:ext uri="{FF2B5EF4-FFF2-40B4-BE49-F238E27FC236}">
                <a16:creationId xmlns:a16="http://schemas.microsoft.com/office/drawing/2014/main" id="{FCC2CEFE-6EF6-4F1A-9E3C-5A5B0076225E}"/>
              </a:ext>
            </a:extLst>
          </p:cNvPr>
          <p:cNvSpPr>
            <a:spLocks noGrp="1"/>
          </p:cNvSpPr>
          <p:nvPr/>
        </p:nvSpPr>
        <p:spPr>
          <a:xfrm>
            <a:off x="7524750" y="4295775"/>
            <a:ext cx="4057650" cy="534162"/>
          </a:xfrm>
          <a:prstGeom prst="rect">
            <a:avLst/>
          </a:prstGeom>
          <a:noFill/>
          <a:ln w="0">
            <a:noFill/>
          </a:ln>
        </p:spPr>
        <p:txBody>
          <a:bodyPr wrap="square" lIns="0" tIns="0" rIns="0" bIns="0" anchor="t">
            <a:noAutofit/>
          </a:bodyPr>
          <a:lstStyle>
            <a:defPPr algn="l">
              <a:defRPr sz="1575" b="0">
                <a:solidFill>
                  <a:srgbClr val="516170"/>
                </a:solidFill>
                <a:latin typeface="Arial"/>
                <a:ea typeface="Arial"/>
                <a:cs typeface="Arial"/>
              </a:defRPr>
            </a:defPPr>
          </a:lstStyle>
          <a:p>
            <a:pPr algn="l">
              <a:defRPr sz="1575" b="0">
                <a:solidFill>
                  <a:srgbClr val="516170"/>
                </a:solidFill>
                <a:latin typeface="Arial"/>
                <a:ea typeface="Arial"/>
                <a:cs typeface="Arial"/>
              </a:defRPr>
            </a:pPr>
            <a:r>
              <a:rPr sz="1575" b="0">
                <a:solidFill>
                  <a:srgbClr val="516170"/>
                </a:solidFill>
                <a:latin typeface="Arial"/>
                <a:ea typeface="Arial"/>
                <a:cs typeface="Arial"/>
              </a:rPr>
              <a:t>Possible overlap depends on supporting</a:t>
            </a:r>
          </a:p>
          <a:p>
            <a:pPr algn="l">
              <a:defRPr sz="1575" b="0">
                <a:solidFill>
                  <a:srgbClr val="516170"/>
                </a:solidFill>
                <a:latin typeface="Arial"/>
                <a:ea typeface="Arial"/>
                <a:cs typeface="Arial"/>
              </a:defRPr>
            </a:pPr>
            <a:r>
              <a:rPr sz="1575" b="0">
                <a:solidFill>
                  <a:srgbClr val="516170"/>
                </a:solidFill>
                <a:latin typeface="Arial"/>
                <a:ea typeface="Arial"/>
                <a:cs typeface="Arial"/>
              </a:rPr>
              <a:t>hardware and available resources.</a:t>
            </a:r>
          </a:p>
        </p:txBody>
      </p:sp>
      <p:sp>
        <p:nvSpPr>
          <p:cNvPr id="21" name="Separate pinned/device buffers and non-default streams;">
            <a:extLst>
              <a:ext uri="{FF2B5EF4-FFF2-40B4-BE49-F238E27FC236}">
                <a16:creationId xmlns:a16="http://schemas.microsoft.com/office/drawing/2014/main" id="{2D111BA5-58D7-4D26-887E-F39A4BCF3CDB}"/>
              </a:ext>
            </a:extLst>
          </p:cNvPr>
          <p:cNvSpPr>
            <a:spLocks noGrp="1"/>
          </p:cNvSpPr>
          <p:nvPr/>
        </p:nvSpPr>
        <p:spPr>
          <a:xfrm>
            <a:off x="609600" y="4962525"/>
            <a:ext cx="10972800" cy="581406"/>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Separate pinned/device buffers and non-default streams; synchronize before reuse. More buffers cost memory.</a:t>
            </a:r>
          </a:p>
          <a:p>
            <a:pPr algn="l">
              <a:defRPr sz="1725" b="0">
                <a:solidFill>
                  <a:srgbClr val="142D45"/>
                </a:solidFill>
                <a:latin typeface="Arial"/>
                <a:ea typeface="Arial"/>
                <a:cs typeface="Arial"/>
              </a:defRPr>
            </a:pPr>
            <a:r>
              <a:rPr sz="1725" b="0">
                <a:solidFill>
                  <a:srgbClr val="142D45"/>
                </a:solidFill>
                <a:latin typeface="Arial"/>
                <a:ea typeface="Arial"/>
                <a:cs typeface="Arial"/>
              </a:rPr>
              <a:t>Keep images on the GPU across operations to avoid repeated transfers.</a:t>
            </a:r>
          </a:p>
        </p:txBody>
      </p:sp>
      <p:sp>
        <p:nvSpPr>
          <p:cNvPr id="22" name="Straight Connector 21">
            <a:extLst>
              <a:ext uri="{FF2B5EF4-FFF2-40B4-BE49-F238E27FC236}">
                <a16:creationId xmlns:a16="http://schemas.microsoft.com/office/drawing/2014/main" id="{D4E29C26-4886-4EE7-BB05-34F41F976ED1}"/>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23" name="Overlap can shorten the batch critical path; it changes">
            <a:extLst>
              <a:ext uri="{FF2B5EF4-FFF2-40B4-BE49-F238E27FC236}">
                <a16:creationId xmlns:a16="http://schemas.microsoft.com/office/drawing/2014/main" id="{94ACB811-9837-4868-B69B-58BBF5CAB82B}"/>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Overlap can shorten the batch critical path; it changes scheduling, not total work.</a:t>
            </a:r>
          </a:p>
        </p:txBody>
      </p:sp>
      <p:sp>
        <p:nvSpPr>
          <p:cNvPr id="24" name="Straight Connector 23">
            <a:extLst>
              <a:ext uri="{FF2B5EF4-FFF2-40B4-BE49-F238E27FC236}">
                <a16:creationId xmlns:a16="http://schemas.microsoft.com/office/drawing/2014/main" id="{446C26B9-0EBE-4F1F-ACB2-60CE3A1AEA8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25" name="Sources: [2] NVIDIA CUDA Best Practices">
            <a:extLst>
              <a:ext uri="{FF2B5EF4-FFF2-40B4-BE49-F238E27FC236}">
                <a16:creationId xmlns:a16="http://schemas.microsoft.com/office/drawing/2014/main" id="{016C0E14-E6FC-43F9-8FEA-B36B64A21683}"/>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26" name="20 / 46">
            <a:extLst>
              <a:ext uri="{FF2B5EF4-FFF2-40B4-BE49-F238E27FC236}">
                <a16:creationId xmlns:a16="http://schemas.microsoft.com/office/drawing/2014/main" id="{2B64BE0A-140A-4239-A707-0763A7B999A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22 / 48</a:t>
            </a:r>
          </a:p>
        </p:txBody>
      </p:sp>
    </p:spTree>
    <p:extLst>
      <p:ext uri="{BB962C8B-B14F-4D97-AF65-F5344CB8AC3E}">
        <p14:creationId xmlns:p14="http://schemas.microsoft.com/office/powerpoint/2010/main" val="473666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9" name="Appendix • Task 2 • Task 2 • HPC and AI">
            <a:extLst>
              <a:ext uri="{FF2B5EF4-FFF2-40B4-BE49-F238E27FC236}">
                <a16:creationId xmlns:a16="http://schemas.microsoft.com/office/drawing/2014/main" id="{01A03DDC-E92F-477A-9043-CE655B8DA84C}"/>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 • HPC and AI</a:t>
            </a:r>
          </a:p>
        </p:txBody>
      </p:sp>
      <p:sp>
        <p:nvSpPr>
          <p:cNvPr id="2" name="Parallel training across a compute cluster">
            <a:extLst>
              <a:ext uri="{FF2B5EF4-FFF2-40B4-BE49-F238E27FC236}">
                <a16:creationId xmlns:a16="http://schemas.microsoft.com/office/drawing/2014/main" id="{384F87FE-F7D8-4876-8CC3-DDC88AF6881B}"/>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Parallel training across a compute cluster</a:t>
            </a:r>
          </a:p>
        </p:txBody>
      </p:sp>
      <p:sp>
        <p:nvSpPr>
          <p:cNvPr id="3" name="Rectangle 2">
            <a:extLst>
              <a:ext uri="{FF2B5EF4-FFF2-40B4-BE49-F238E27FC236}">
                <a16:creationId xmlns:a16="http://schemas.microsoft.com/office/drawing/2014/main" id="{56F074B7-1647-494C-8B34-AE1F11CDD8EF}"/>
              </a:ext>
            </a:extLst>
          </p:cNvPr>
          <p:cNvSpPr>
            <a:spLocks noGrp="1"/>
          </p:cNvSpPr>
          <p:nvPr/>
        </p:nvSpPr>
        <p:spPr>
          <a:xfrm>
            <a:off x="609600" y="1733550"/>
            <a:ext cx="2971800" cy="1123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0</a:t>
            </a:r>
          </a:p>
          <a:p>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a:pPr algn="ctr">
              <a:defRPr sz="1725">
                <a:solidFill>
                  <a:srgbClr val="142D45"/>
                </a:solidFill>
                <a:latin typeface="Arial"/>
                <a:ea typeface="Arial"/>
                <a:cs typeface="Arial"/>
              </a:defRPr>
            </a:pPr>
            <a:r>
              <a:rPr sz="1725">
                <a:solidFill>
                  <a:srgbClr val="142D45"/>
                </a:solidFill>
                <a:latin typeface="Arial"/>
                <a:ea typeface="Arial"/>
                <a:cs typeface="Arial"/>
              </a:rPr>
              <a:t>data partition A</a:t>
            </a:r>
          </a:p>
        </p:txBody>
      </p:sp>
      <p:sp>
        <p:nvSpPr>
          <p:cNvPr id="4" name="Rectangle 3">
            <a:extLst>
              <a:ext uri="{FF2B5EF4-FFF2-40B4-BE49-F238E27FC236}">
                <a16:creationId xmlns:a16="http://schemas.microsoft.com/office/drawing/2014/main" id="{72B7C451-9C2C-427E-B777-8CC1D3056947}"/>
              </a:ext>
            </a:extLst>
          </p:cNvPr>
          <p:cNvSpPr>
            <a:spLocks noGrp="1"/>
          </p:cNvSpPr>
          <p:nvPr/>
        </p:nvSpPr>
        <p:spPr>
          <a:xfrm>
            <a:off x="4610100" y="1733550"/>
            <a:ext cx="2971800" cy="1123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1</a:t>
            </a:r>
          </a:p>
          <a:p>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a:pPr algn="ctr">
              <a:defRPr sz="1725">
                <a:solidFill>
                  <a:srgbClr val="142D45"/>
                </a:solidFill>
                <a:latin typeface="Arial"/>
                <a:ea typeface="Arial"/>
                <a:cs typeface="Arial"/>
              </a:defRPr>
            </a:pPr>
            <a:r>
              <a:rPr sz="1725">
                <a:solidFill>
                  <a:srgbClr val="142D45"/>
                </a:solidFill>
                <a:latin typeface="Arial"/>
                <a:ea typeface="Arial"/>
                <a:cs typeface="Arial"/>
              </a:rPr>
              <a:t>data partition B</a:t>
            </a:r>
          </a:p>
        </p:txBody>
      </p:sp>
      <p:sp>
        <p:nvSpPr>
          <p:cNvPr id="5" name="Rectangle 4">
            <a:extLst>
              <a:ext uri="{FF2B5EF4-FFF2-40B4-BE49-F238E27FC236}">
                <a16:creationId xmlns:a16="http://schemas.microsoft.com/office/drawing/2014/main" id="{320B647C-9312-42AB-BD3F-FB10CF82AA40}"/>
              </a:ext>
            </a:extLst>
          </p:cNvPr>
          <p:cNvSpPr>
            <a:spLocks noGrp="1"/>
          </p:cNvSpPr>
          <p:nvPr/>
        </p:nvSpPr>
        <p:spPr>
          <a:xfrm>
            <a:off x="8610600" y="1733550"/>
            <a:ext cx="2971800" cy="112395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GPU 2</a:t>
            </a:r>
          </a:p>
          <a:p>
            <a:pPr algn="ctr">
              <a:defRPr sz="1725">
                <a:solidFill>
                  <a:srgbClr val="142D45"/>
                </a:solidFill>
                <a:latin typeface="Arial"/>
                <a:ea typeface="Arial"/>
                <a:cs typeface="Arial"/>
              </a:defRPr>
            </a:pPr>
            <a:r>
              <a:rPr sz="1725">
                <a:solidFill>
                  <a:srgbClr val="142D45"/>
                </a:solidFill>
                <a:latin typeface="Arial"/>
                <a:ea typeface="Arial"/>
                <a:cs typeface="Arial"/>
              </a:rPr>
              <a:t>same model</a:t>
            </a:r>
          </a:p>
          <a:p>
            <a:pPr algn="ctr">
              <a:defRPr sz="1725">
                <a:solidFill>
                  <a:srgbClr val="142D45"/>
                </a:solidFill>
                <a:latin typeface="Arial"/>
                <a:ea typeface="Arial"/>
                <a:cs typeface="Arial"/>
              </a:defRPr>
            </a:pPr>
            <a:r>
              <a:rPr sz="1725">
                <a:solidFill>
                  <a:srgbClr val="142D45"/>
                </a:solidFill>
                <a:latin typeface="Arial"/>
                <a:ea typeface="Arial"/>
                <a:cs typeface="Arial"/>
              </a:rPr>
              <a:t>data partition C</a:t>
            </a:r>
          </a:p>
        </p:txBody>
      </p:sp>
      <p:sp>
        <p:nvSpPr>
          <p:cNvPr id="6" name="Rectangle 5">
            <a:extLst>
              <a:ext uri="{FF2B5EF4-FFF2-40B4-BE49-F238E27FC236}">
                <a16:creationId xmlns:a16="http://schemas.microsoft.com/office/drawing/2014/main" id="{6623B9D6-70B1-43D3-9D5B-5D628DF9965D}"/>
              </a:ext>
            </a:extLst>
          </p:cNvPr>
          <p:cNvSpPr>
            <a:spLocks noGrp="1"/>
          </p:cNvSpPr>
          <p:nvPr/>
        </p:nvSpPr>
        <p:spPr>
          <a:xfrm>
            <a:off x="609600" y="3714750"/>
            <a:ext cx="10972800" cy="7620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Gradient all-reduce: average + share → consistent update on every GPU</a:t>
            </a:r>
          </a:p>
        </p:txBody>
      </p:sp>
      <p:cxnSp>
        <p:nvCxnSpPr>
          <p:cNvPr id="7" name="Straight Arrow Connector 6">
            <a:extLst>
              <a:ext uri="{FF2B5EF4-FFF2-40B4-BE49-F238E27FC236}">
                <a16:creationId xmlns:a16="http://schemas.microsoft.com/office/drawing/2014/main" id="{E71EE1EC-524F-4EF9-9FBD-AEEAA332B000}"/>
              </a:ext>
            </a:extLst>
          </p:cNvPr>
          <p:cNvCxnSpPr/>
          <p:nvPr/>
        </p:nvCxnSpPr>
        <p:spPr>
          <a:xfrm>
            <a:off x="2095500" y="2857500"/>
            <a:ext cx="0" cy="857250"/>
          </a:xfrm>
          <a:prstGeom prst="straightConnector1">
            <a:avLst/>
          </a:prstGeom>
          <a:ln w="19050">
            <a:solidFill>
              <a:srgbClr val="007B83"/>
            </a:solidFill>
            <a:tailEnd type="arrow" w="med" len="med"/>
          </a:ln>
        </p:spPr>
      </p:cxnSp>
      <p:cxnSp>
        <p:nvCxnSpPr>
          <p:cNvPr id="8" name="Straight Arrow Connector 7">
            <a:extLst>
              <a:ext uri="{FF2B5EF4-FFF2-40B4-BE49-F238E27FC236}">
                <a16:creationId xmlns:a16="http://schemas.microsoft.com/office/drawing/2014/main" id="{F3D46D7C-C854-4C6D-A073-A344D2C0BA23}"/>
              </a:ext>
            </a:extLst>
          </p:cNvPr>
          <p:cNvCxnSpPr/>
          <p:nvPr/>
        </p:nvCxnSpPr>
        <p:spPr>
          <a:xfrm>
            <a:off x="6096000" y="2857500"/>
            <a:ext cx="0" cy="857250"/>
          </a:xfrm>
          <a:prstGeom prst="straightConnector1">
            <a:avLst/>
          </a:prstGeom>
          <a:ln w="19050">
            <a:solidFill>
              <a:srgbClr val="007B83"/>
            </a:solidFill>
            <a:tailEnd type="arrow" w="med" len="med"/>
          </a:ln>
        </p:spPr>
      </p:cxnSp>
      <p:cxnSp>
        <p:nvCxnSpPr>
          <p:cNvPr id="9" name="Straight Arrow Connector 8">
            <a:extLst>
              <a:ext uri="{FF2B5EF4-FFF2-40B4-BE49-F238E27FC236}">
                <a16:creationId xmlns:a16="http://schemas.microsoft.com/office/drawing/2014/main" id="{3E6A73F0-87A0-4683-B170-65A7B269A25D}"/>
              </a:ext>
            </a:extLst>
          </p:cNvPr>
          <p:cNvCxnSpPr/>
          <p:nvPr/>
        </p:nvCxnSpPr>
        <p:spPr>
          <a:xfrm>
            <a:off x="10096500" y="2857500"/>
            <a:ext cx="0" cy="857250"/>
          </a:xfrm>
          <a:prstGeom prst="straightConnector1">
            <a:avLst/>
          </a:prstGeom>
          <a:ln w="19050">
            <a:solidFill>
              <a:srgbClr val="007B83"/>
            </a:solidFill>
            <a:tailEnd type="arrow" w="med" len="med"/>
          </a:ln>
        </p:spPr>
      </p:cxnSp>
      <p:sp>
        <p:nvSpPr>
          <p:cNvPr id="10" name="Interconnect:&#10;latency and bandwidth">
            <a:extLst>
              <a:ext uri="{FF2B5EF4-FFF2-40B4-BE49-F238E27FC236}">
                <a16:creationId xmlns:a16="http://schemas.microsoft.com/office/drawing/2014/main" id="{F1D23A5C-B49B-4650-AC80-6101B9011C31}"/>
              </a:ext>
            </a:extLst>
          </p:cNvPr>
          <p:cNvSpPr>
            <a:spLocks noGrp="1"/>
          </p:cNvSpPr>
          <p:nvPr/>
        </p:nvSpPr>
        <p:spPr>
          <a:xfrm>
            <a:off x="2619375" y="3038475"/>
            <a:ext cx="2990850" cy="590550"/>
          </a:xfrm>
          <a:prstGeom prst="rect">
            <a:avLst/>
          </a:prstGeom>
          <a:noFill/>
          <a:ln w="0">
            <a:noFill/>
          </a:ln>
        </p:spPr>
        <p:txBody>
          <a:bodyPr wrap="square" lIns="0" tIns="0" rIns="0" bIns="0" anchor="t">
            <a:noAutofit/>
          </a:bodyPr>
          <a:lstStyle>
            <a:defPPr algn="l">
              <a:defRPr sz="1650" b="0">
                <a:solidFill>
                  <a:srgbClr val="007B83"/>
                </a:solidFill>
                <a:latin typeface="Arial"/>
                <a:ea typeface="Arial"/>
                <a:cs typeface="Arial"/>
              </a:defRPr>
            </a:defPPr>
          </a:lstStyle>
          <a:p>
            <a:pPr algn="l">
              <a:defRPr sz="1650" b="0">
                <a:solidFill>
                  <a:srgbClr val="007B83"/>
                </a:solidFill>
                <a:latin typeface="Arial"/>
                <a:ea typeface="Arial"/>
                <a:cs typeface="Arial"/>
              </a:defRPr>
            </a:pPr>
            <a:r>
              <a:rPr sz="1650" b="0">
                <a:solidFill>
                  <a:srgbClr val="007B83"/>
                </a:solidFill>
                <a:latin typeface="Arial"/>
                <a:ea typeface="Arial"/>
                <a:cs typeface="Arial"/>
              </a:rPr>
              <a:t>Interconnect:</a:t>
            </a:r>
          </a:p>
          <a:p>
            <a:pPr algn="l">
              <a:defRPr sz="1650" b="0">
                <a:solidFill>
                  <a:srgbClr val="007B83"/>
                </a:solidFill>
                <a:latin typeface="Arial"/>
                <a:ea typeface="Arial"/>
                <a:cs typeface="Arial"/>
              </a:defRPr>
            </a:pPr>
            <a:r>
              <a:rPr sz="1650" b="0">
                <a:solidFill>
                  <a:srgbClr val="007B83"/>
                </a:solidFill>
                <a:latin typeface="Arial"/>
                <a:ea typeface="Arial"/>
                <a:cs typeface="Arial"/>
              </a:rPr>
              <a:t>latency and bandwidth</a:t>
            </a:r>
          </a:p>
        </p:txBody>
      </p:sp>
      <p:sp>
        <p:nvSpPr>
          <p:cNvPr id="11" name="Gradient synchronization&#10;before each update">
            <a:extLst>
              <a:ext uri="{FF2B5EF4-FFF2-40B4-BE49-F238E27FC236}">
                <a16:creationId xmlns:a16="http://schemas.microsoft.com/office/drawing/2014/main" id="{D2E6CFB2-F10E-4974-A8A6-F5C08EF32133}"/>
              </a:ext>
            </a:extLst>
          </p:cNvPr>
          <p:cNvSpPr>
            <a:spLocks noGrp="1"/>
          </p:cNvSpPr>
          <p:nvPr/>
        </p:nvSpPr>
        <p:spPr>
          <a:xfrm>
            <a:off x="6629400" y="3038475"/>
            <a:ext cx="3048000" cy="590550"/>
          </a:xfrm>
          <a:prstGeom prst="rect">
            <a:avLst/>
          </a:prstGeom>
          <a:noFill/>
          <a:ln w="0">
            <a:noFill/>
          </a:ln>
        </p:spPr>
        <p:txBody>
          <a:bodyPr wrap="square" lIns="0" tIns="0" rIns="0" bIns="0" anchor="t">
            <a:noAutofit/>
          </a:bodyPr>
          <a:lstStyle>
            <a:defPPr algn="l">
              <a:defRPr sz="1650" b="0">
                <a:solidFill>
                  <a:srgbClr val="007B83"/>
                </a:solidFill>
                <a:latin typeface="Arial"/>
                <a:ea typeface="Arial"/>
                <a:cs typeface="Arial"/>
              </a:defRPr>
            </a:defPPr>
          </a:lstStyle>
          <a:p>
            <a:pPr algn="l">
              <a:defRPr sz="1650" b="0">
                <a:solidFill>
                  <a:srgbClr val="007B83"/>
                </a:solidFill>
                <a:latin typeface="Arial"/>
                <a:ea typeface="Arial"/>
                <a:cs typeface="Arial"/>
              </a:defRPr>
            </a:pPr>
            <a:r>
              <a:rPr sz="1650" b="0">
                <a:solidFill>
                  <a:srgbClr val="007B83"/>
                </a:solidFill>
                <a:latin typeface="Arial"/>
                <a:ea typeface="Arial"/>
                <a:cs typeface="Arial"/>
              </a:rPr>
              <a:t>Gradient synchronization</a:t>
            </a:r>
          </a:p>
          <a:p>
            <a:pPr algn="l">
              <a:defRPr sz="1650" b="0">
                <a:solidFill>
                  <a:srgbClr val="007B83"/>
                </a:solidFill>
                <a:latin typeface="Arial"/>
                <a:ea typeface="Arial"/>
                <a:cs typeface="Arial"/>
              </a:defRPr>
            </a:pPr>
            <a:r>
              <a:rPr sz="1650" b="0">
                <a:solidFill>
                  <a:srgbClr val="007B83"/>
                </a:solidFill>
                <a:latin typeface="Arial"/>
                <a:ea typeface="Arial"/>
                <a:cs typeface="Arial"/>
              </a:rPr>
              <a:t>before each update</a:t>
            </a:r>
          </a:p>
        </p:txBody>
      </p:sp>
      <p:sp>
        <p:nvSpPr>
          <p:cNvPr id="12" name="HPC combines processors, memory, networks and storage. ">
            <a:extLst>
              <a:ext uri="{FF2B5EF4-FFF2-40B4-BE49-F238E27FC236}">
                <a16:creationId xmlns:a16="http://schemas.microsoft.com/office/drawing/2014/main" id="{C49D0ED5-F329-4734-88B4-ED67D8B905FB}"/>
              </a:ext>
            </a:extLst>
          </p:cNvPr>
          <p:cNvSpPr>
            <a:spLocks noGrp="1"/>
          </p:cNvSpPr>
          <p:nvPr/>
        </p:nvSpPr>
        <p:spPr>
          <a:xfrm>
            <a:off x="609600" y="4752975"/>
            <a:ext cx="521970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HPC combines processors, memory, networks and</a:t>
            </a:r>
          </a:p>
          <a:p>
            <a:pPr algn="l">
              <a:defRPr sz="1725" b="0">
                <a:solidFill>
                  <a:srgbClr val="142D45"/>
                </a:solidFill>
                <a:latin typeface="Arial"/>
                <a:ea typeface="Arial"/>
                <a:cs typeface="Arial"/>
              </a:defRPr>
            </a:pPr>
            <a:r>
              <a:rPr sz="1725" b="0">
                <a:solidFill>
                  <a:srgbClr val="142D45"/>
                </a:solidFill>
                <a:latin typeface="Arial"/>
                <a:ea typeface="Arial"/>
                <a:cs typeface="Arial"/>
              </a:rPr>
              <a:t>storage. Tensor/pipeline parallelism can also split a</a:t>
            </a:r>
          </a:p>
          <a:p>
            <a:pPr algn="l">
              <a:defRPr sz="1725" b="0">
                <a:solidFill>
                  <a:srgbClr val="142D45"/>
                </a:solidFill>
                <a:latin typeface="Arial"/>
                <a:ea typeface="Arial"/>
                <a:cs typeface="Arial"/>
              </a:defRPr>
            </a:pPr>
            <a:r>
              <a:rPr sz="1725" b="0">
                <a:solidFill>
                  <a:srgbClr val="142D45"/>
                </a:solidFill>
                <a:latin typeface="Arial"/>
                <a:ea typeface="Arial"/>
                <a:cs typeface="Arial"/>
              </a:rPr>
              <a:t>model.</a:t>
            </a:r>
          </a:p>
        </p:txBody>
      </p:sp>
      <p:sp>
        <p:nvSpPr>
          <p:cNvPr id="13" name="More GPUs enable larger work; communication, serial wor">
            <a:extLst>
              <a:ext uri="{FF2B5EF4-FFF2-40B4-BE49-F238E27FC236}">
                <a16:creationId xmlns:a16="http://schemas.microsoft.com/office/drawing/2014/main" id="{ABB1F818-4CC6-4BA3-A22F-F84E50984861}"/>
              </a:ext>
            </a:extLst>
          </p:cNvPr>
          <p:cNvSpPr>
            <a:spLocks noGrp="1"/>
          </p:cNvSpPr>
          <p:nvPr/>
        </p:nvSpPr>
        <p:spPr>
          <a:xfrm>
            <a:off x="6419850" y="4752975"/>
            <a:ext cx="51625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More GPUs enable larger work; communication,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serial work and imbalance limit speedup. Evaluate</a:t>
            </a:r>
          </a:p>
          <a:p>
            <a:pPr algn="l">
              <a:defRPr sz="1725" b="0">
                <a:solidFill>
                  <a:srgbClr val="142D45"/>
                </a:solidFill>
                <a:latin typeface="Arial"/>
                <a:ea typeface="Arial"/>
                <a:cs typeface="Arial"/>
              </a:defRPr>
            </a:pPr>
            <a:r>
              <a:rPr sz="1725" b="0">
                <a:solidFill>
                  <a:srgbClr val="142D45"/>
                </a:solidFill>
                <a:latin typeface="Arial"/>
                <a:ea typeface="Arial"/>
                <a:cs typeface="Arial"/>
              </a:rPr>
              <a:t>useful output against resource cost.</a:t>
            </a:r>
          </a:p>
        </p:txBody>
      </p:sp>
      <p:sp>
        <p:nvSpPr>
          <p:cNvPr id="14" name="Straight Connector 13">
            <a:extLst>
              <a:ext uri="{FF2B5EF4-FFF2-40B4-BE49-F238E27FC236}">
                <a16:creationId xmlns:a16="http://schemas.microsoft.com/office/drawing/2014/main" id="{B4C12D67-A669-4860-9392-A165846C5BCC}"/>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5" name="Scaling adds capacity and communication: ethical costs ">
            <a:extLst>
              <a:ext uri="{FF2B5EF4-FFF2-40B4-BE49-F238E27FC236}">
                <a16:creationId xmlns:a16="http://schemas.microsoft.com/office/drawing/2014/main" id="{4759CE8E-5583-466C-BA63-0873BDEC93AA}"/>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Scaling adds capacity and communication: ethical costs depend on useful work.</a:t>
            </a:r>
          </a:p>
        </p:txBody>
      </p:sp>
      <p:sp>
        <p:nvSpPr>
          <p:cNvPr id="16" name="Straight Connector 15">
            <a:extLst>
              <a:ext uri="{FF2B5EF4-FFF2-40B4-BE49-F238E27FC236}">
                <a16:creationId xmlns:a16="http://schemas.microsoft.com/office/drawing/2014/main" id="{59FF8D73-1C9A-485E-9130-29713F0AC094}"/>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7" name="Sources: [5] NVIDIA Megatron parallelism; [2] NVIDIA CU">
            <a:extLst>
              <a:ext uri="{FF2B5EF4-FFF2-40B4-BE49-F238E27FC236}">
                <a16:creationId xmlns:a16="http://schemas.microsoft.com/office/drawing/2014/main" id="{9D0616EA-807D-4875-B28A-39F125CBB4E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18" name="21 / 46">
            <a:extLst>
              <a:ext uri="{FF2B5EF4-FFF2-40B4-BE49-F238E27FC236}">
                <a16:creationId xmlns:a16="http://schemas.microsoft.com/office/drawing/2014/main" id="{88AC3A69-D036-44F7-8738-440150677EF7}"/>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23 / 48</a:t>
            </a:r>
          </a:p>
        </p:txBody>
      </p:sp>
    </p:spTree>
    <p:extLst>
      <p:ext uri="{BB962C8B-B14F-4D97-AF65-F5344CB8AC3E}">
        <p14:creationId xmlns:p14="http://schemas.microsoft.com/office/powerpoint/2010/main" val="1032617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9" name="Appendix • Task 2 • Task 2(a) • Illustrative energy cal">
            <a:extLst>
              <a:ext uri="{FF2B5EF4-FFF2-40B4-BE49-F238E27FC236}">
                <a16:creationId xmlns:a16="http://schemas.microsoft.com/office/drawing/2014/main" id="{CB11C866-E72A-4D32-94ED-961167B84674}"/>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Illustrative energy calculation</a:t>
            </a:r>
          </a:p>
        </p:txBody>
      </p:sp>
      <p:sp>
        <p:nvSpPr>
          <p:cNvPr id="2" name="A faster job can consume more energy">
            <a:extLst>
              <a:ext uri="{FF2B5EF4-FFF2-40B4-BE49-F238E27FC236}">
                <a16:creationId xmlns:a16="http://schemas.microsoft.com/office/drawing/2014/main" id="{54A98DC7-E40B-4732-84B8-A029AF565662}"/>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 faster job can consume more energy</a:t>
            </a:r>
          </a:p>
        </p:txBody>
      </p:sp>
      <p:graphicFrame>
        <p:nvGraphicFramePr>
          <p:cNvPr id="3" name="Table 2">
            <a:extLst>
              <a:ext uri="{FF2B5EF4-FFF2-40B4-BE49-F238E27FC236}">
                <a16:creationId xmlns:a16="http://schemas.microsoft.com/office/drawing/2014/main" id="{777B2A8E-7AC5-4F51-BFF7-67017C0C9A06}"/>
              </a:ext>
            </a:extLst>
          </p:cNvPr>
          <p:cNvGraphicFramePr/>
          <p:nvPr/>
        </p:nvGraphicFramePr>
        <p:xfrm>
          <a:off x="609600" y="1562100"/>
          <a:ext cx="10972800" cy="25717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Assumed configuration</a:t>
                      </a:r>
                    </a:p>
                  </a:txBody>
                  <a:tcPr anchor="ctr">
                    <a:solidFill>
                      <a:srgbClr val="142D45"/>
                    </a:solidFill>
                  </a:tcPr>
                </a:tc>
                <a:tc>
                  <a:txBody>
                    <a:bodyPr/>
                    <a:lstStyle/>
                    <a:p>
                      <a:pPr algn="l"/>
                      <a:r>
                        <a:rPr sz="1650" b="1">
                          <a:solidFill>
                            <a:srgbClr val="FFFFFF"/>
                          </a:solidFill>
                          <a:latin typeface="Arial"/>
                          <a:ea typeface="Arial"/>
                          <a:cs typeface="Arial"/>
                        </a:rPr>
                        <a:t>Completed runtime</a:t>
                      </a:r>
                    </a:p>
                  </a:txBody>
                  <a:tcPr anchor="ctr">
                    <a:solidFill>
                      <a:srgbClr val="142D45"/>
                    </a:solidFill>
                  </a:tcPr>
                </a:tc>
                <a:tc>
                  <a:txBody>
                    <a:bodyPr/>
                    <a:lstStyle/>
                    <a:p>
                      <a:pPr algn="l"/>
                      <a:r>
                        <a:rPr sz="1650" b="1">
                          <a:solidFill>
                            <a:srgbClr val="FFFFFF"/>
                          </a:solidFill>
                          <a:latin typeface="Arial"/>
                          <a:ea typeface="Arial"/>
                          <a:cs typeface="Arial"/>
                        </a:rPr>
                        <a:t>Whole-job energy</a:t>
                      </a:r>
                    </a:p>
                  </a:txBody>
                  <a:tcPr anchor="ctr">
                    <a:solidFill>
                      <a:srgbClr val="142D45"/>
                    </a:solidFill>
                  </a:tcPr>
                </a:tc>
                <a:extLst>
                  <a:ext uri="{0D108BD9-81ED-4DB2-BD59-A6C34878D82A}">
                    <a16:rowId xmlns:a16="http://schemas.microsoft.com/office/drawing/2014/main" val="10000"/>
                  </a:ext>
                </a:extLst>
              </a:tr>
              <a:tr h="1019175">
                <a:tc>
                  <a:txBody>
                    <a:bodyPr/>
                    <a:lstStyle/>
                    <a:p>
                      <a:pPr algn="l"/>
                      <a:r>
                        <a:rPr sz="1500" b="0">
                          <a:solidFill>
                            <a:srgbClr val="142D45"/>
                          </a:solidFill>
                          <a:latin typeface="Arial"/>
                          <a:ea typeface="Arial"/>
                          <a:cs typeface="Arial"/>
                        </a:rPr>
                        <a:t>Lower parallel scale; 1 kW</a:t>
                      </a:r>
                    </a:p>
                  </a:txBody>
                  <a:tcPr anchor="ctr">
                    <a:solidFill>
                      <a:srgbClr val="FFFFFF"/>
                    </a:solidFill>
                  </a:tcPr>
                </a:tc>
                <a:tc>
                  <a:txBody>
                    <a:bodyPr/>
                    <a:lstStyle/>
                    <a:p>
                      <a:pPr algn="l"/>
                      <a:r>
                        <a:rPr sz="1500" b="0">
                          <a:solidFill>
                            <a:srgbClr val="142D45"/>
                          </a:solidFill>
                          <a:latin typeface="Arial"/>
                          <a:ea typeface="Arial"/>
                          <a:cs typeface="Arial"/>
                        </a:rPr>
                        <a:t>2.0 hours</a:t>
                      </a:r>
                    </a:p>
                  </a:txBody>
                  <a:tcPr anchor="ctr">
                    <a:solidFill>
                      <a:srgbClr val="FFFFFF"/>
                    </a:solidFill>
                  </a:tcPr>
                </a:tc>
                <a:tc>
                  <a:txBody>
                    <a:bodyPr/>
                    <a:lstStyle/>
                    <a:p>
                      <a:pPr algn="l"/>
                      <a:r>
                        <a:rPr sz="1500" b="0">
                          <a:solidFill>
                            <a:srgbClr val="142D45"/>
                          </a:solidFill>
                          <a:latin typeface="Arial"/>
                          <a:ea typeface="Arial"/>
                          <a:cs typeface="Arial"/>
                        </a:rPr>
                        <a:t>1 × 2.0 = 2.0 kWh</a:t>
                      </a:r>
                    </a:p>
                  </a:txBody>
                  <a:tcPr anchor="ctr">
                    <a:solidFill>
                      <a:srgbClr val="FFFFFF"/>
                    </a:solidFill>
                  </a:tcPr>
                </a:tc>
                <a:extLst>
                  <a:ext uri="{0D108BD9-81ED-4DB2-BD59-A6C34878D82A}">
                    <a16:rowId xmlns:a16="http://schemas.microsoft.com/office/drawing/2014/main" val="10001"/>
                  </a:ext>
                </a:extLst>
              </a:tr>
              <a:tr h="1019175">
                <a:tc>
                  <a:txBody>
                    <a:bodyPr/>
                    <a:lstStyle/>
                    <a:p>
                      <a:pPr algn="l"/>
                      <a:r>
                        <a:rPr sz="1500" b="0">
                          <a:solidFill>
                            <a:srgbClr val="142D45"/>
                          </a:solidFill>
                          <a:latin typeface="Arial"/>
                          <a:ea typeface="Arial"/>
                          <a:cs typeface="Arial"/>
                        </a:rPr>
                        <a:t>Higher parallel scale; 2 kW</a:t>
                      </a:r>
                    </a:p>
                  </a:txBody>
                  <a:tcPr anchor="ctr">
                    <a:solidFill>
                      <a:srgbClr val="F0F4F4"/>
                    </a:solidFill>
                  </a:tcPr>
                </a:tc>
                <a:tc>
                  <a:txBody>
                    <a:bodyPr/>
                    <a:lstStyle/>
                    <a:p>
                      <a:pPr algn="l"/>
                      <a:r>
                        <a:rPr sz="1500" b="0">
                          <a:solidFill>
                            <a:srgbClr val="142D45"/>
                          </a:solidFill>
                          <a:latin typeface="Arial"/>
                          <a:ea typeface="Arial"/>
                          <a:cs typeface="Arial"/>
                        </a:rPr>
                        <a:t>1.2 hours</a:t>
                      </a:r>
                    </a:p>
                  </a:txBody>
                  <a:tcPr anchor="ctr">
                    <a:solidFill>
                      <a:srgbClr val="F0F4F4"/>
                    </a:solidFill>
                  </a:tcPr>
                </a:tc>
                <a:tc>
                  <a:txBody>
                    <a:bodyPr/>
                    <a:lstStyle/>
                    <a:p>
                      <a:pPr algn="l"/>
                      <a:r>
                        <a:rPr sz="1500" b="0">
                          <a:solidFill>
                            <a:srgbClr val="142D45"/>
                          </a:solidFill>
                          <a:latin typeface="Arial"/>
                          <a:ea typeface="Arial"/>
                          <a:cs typeface="Arial"/>
                        </a:rPr>
                        <a:t>2 × 1.2 = 2.4 kWh</a:t>
                      </a:r>
                    </a:p>
                  </a:txBody>
                  <a:tcPr anchor="ctr">
                    <a:solidFill>
                      <a:srgbClr val="F0F4F4"/>
                    </a:solidFill>
                  </a:tcPr>
                </a:tc>
                <a:extLst>
                  <a:ext uri="{0D108BD9-81ED-4DB2-BD59-A6C34878D82A}">
                    <a16:rowId xmlns:a16="http://schemas.microsoft.com/office/drawing/2014/main" val="10002"/>
                  </a:ext>
                </a:extLst>
              </a:tr>
            </a:tbl>
          </a:graphicData>
        </a:graphic>
      </p:graphicFrame>
      <p:sp>
        <p:nvSpPr>
          <p:cNvPr id="4" name="Illustrative constant power assumptions, not measuremen">
            <a:extLst>
              <a:ext uri="{FF2B5EF4-FFF2-40B4-BE49-F238E27FC236}">
                <a16:creationId xmlns:a16="http://schemas.microsoft.com/office/drawing/2014/main" id="{8F999F0A-5C1A-4DE1-9AA6-CB02AE0545A1}"/>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Illustrative constant power assumptions, not measurements. Same useful output is assumed; faster completion uses 20% more</a:t>
            </a:r>
          </a:p>
          <a:p>
            <a:pPr algn="l">
              <a:defRPr sz="1500" b="0">
                <a:solidFill>
                  <a:srgbClr val="516170"/>
                </a:solidFill>
                <a:latin typeface="Arial"/>
                <a:ea typeface="Arial"/>
                <a:cs typeface="Arial"/>
              </a:defRPr>
            </a:pPr>
            <a:r>
              <a:rPr sz="1500" b="0">
                <a:solidFill>
                  <a:srgbClr val="516170"/>
                </a:solidFill>
                <a:latin typeface="Arial"/>
                <a:ea typeface="Arial"/>
                <a:cs typeface="Arial"/>
              </a:rPr>
              <a:t>energy here.</a:t>
            </a:r>
          </a:p>
        </p:txBody>
      </p:sp>
      <p:sp>
        <p:nvSpPr>
          <p:cNvPr id="5" name="E = ∫ P(t) dt     •     Carbon ≈ Σ Einterval × carbon i">
            <a:extLst>
              <a:ext uri="{FF2B5EF4-FFF2-40B4-BE49-F238E27FC236}">
                <a16:creationId xmlns:a16="http://schemas.microsoft.com/office/drawing/2014/main" id="{4F25DDA3-3734-41A8-81CE-D378E8A17C3D}"/>
              </a:ext>
            </a:extLst>
          </p:cNvPr>
          <p:cNvSpPr>
            <a:spLocks noGrp="1"/>
          </p:cNvSpPr>
          <p:nvPr/>
        </p:nvSpPr>
        <p:spPr>
          <a:xfrm>
            <a:off x="609600" y="4552950"/>
            <a:ext cx="10972800" cy="368808"/>
          </a:xfrm>
          <a:prstGeom prst="rect">
            <a:avLst/>
          </a:prstGeom>
          <a:noFill/>
          <a:ln w="0">
            <a:noFill/>
          </a:ln>
        </p:spPr>
        <p:txBody>
          <a:bodyPr wrap="square" lIns="0" tIns="0" rIns="0" bIns="0" anchor="t">
            <a:noAutofit/>
          </a:bodyPr>
          <a:lstStyle>
            <a:defPPr algn="l">
              <a:defRPr sz="2100" b="1">
                <a:solidFill>
                  <a:srgbClr val="007B83"/>
                </a:solidFill>
                <a:latin typeface="Arial"/>
                <a:ea typeface="Arial"/>
                <a:cs typeface="Arial"/>
              </a:defRPr>
            </a:defPPr>
          </a:lstStyle>
          <a:p>
            <a:pPr algn="l">
              <a:defRPr sz="2100" b="1">
                <a:solidFill>
                  <a:srgbClr val="007B83"/>
                </a:solidFill>
                <a:latin typeface="Arial"/>
                <a:ea typeface="Arial"/>
                <a:cs typeface="Arial"/>
              </a:defRPr>
            </a:pPr>
            <a:r>
              <a:rPr sz="2100" b="1">
                <a:solidFill>
                  <a:srgbClr val="007B83"/>
                </a:solidFill>
                <a:latin typeface="Arial"/>
                <a:ea typeface="Arial"/>
                <a:cs typeface="Arial"/>
              </a:rPr>
              <a:t>E = ∫ P(t) dt • Carbon ≈ Σ Einterval × carbon intensity</a:t>
            </a:r>
          </a:p>
        </p:txBody>
      </p:sp>
      <p:sp>
        <p:nvSpPr>
          <p:cNvPr id="6" name="Straight Connector 5">
            <a:extLst>
              <a:ext uri="{FF2B5EF4-FFF2-40B4-BE49-F238E27FC236}">
                <a16:creationId xmlns:a16="http://schemas.microsoft.com/office/drawing/2014/main" id="{C506CED9-9459-4DF5-B491-FCB99E7C6714}"/>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7" name="Sources: [8] Strubell et al. 2019: cost and equity; [10">
            <a:extLst>
              <a:ext uri="{FF2B5EF4-FFF2-40B4-BE49-F238E27FC236}">
                <a16:creationId xmlns:a16="http://schemas.microsoft.com/office/drawing/2014/main" id="{3A481853-6ACB-43CA-BB10-26734B2E2204}"/>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[10] Schwartz et al. 2019: efficiency reporting; [2] NVIDIA CUDA Best Practices</a:t>
            </a:r>
          </a:p>
        </p:txBody>
      </p:sp>
      <p:sp>
        <p:nvSpPr>
          <p:cNvPr id="8" name="22 / 46">
            <a:extLst>
              <a:ext uri="{FF2B5EF4-FFF2-40B4-BE49-F238E27FC236}">
                <a16:creationId xmlns:a16="http://schemas.microsoft.com/office/drawing/2014/main" id="{2FF8E947-1675-4C19-BC80-23225C1D7397}"/>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24 / 48</a:t>
            </a:r>
          </a:p>
        </p:txBody>
      </p:sp>
    </p:spTree>
    <p:extLst>
      <p:ext uri="{BB962C8B-B14F-4D97-AF65-F5344CB8AC3E}">
        <p14:creationId xmlns:p14="http://schemas.microsoft.com/office/powerpoint/2010/main" val="1277789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2 • Task 2(a) • Environmental accountin">
            <a:extLst>
              <a:ext uri="{FF2B5EF4-FFF2-40B4-BE49-F238E27FC236}">
                <a16:creationId xmlns:a16="http://schemas.microsoft.com/office/drawing/2014/main" id="{9DF9EC87-F316-41CC-A2F8-3EA277927A7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2(a) • Environmental accounting</a:t>
            </a:r>
          </a:p>
        </p:txBody>
      </p:sp>
      <p:sp>
        <p:nvSpPr>
          <p:cNvPr id="2" name="Environmental accounting and evidence limits">
            <a:extLst>
              <a:ext uri="{FF2B5EF4-FFF2-40B4-BE49-F238E27FC236}">
                <a16:creationId xmlns:a16="http://schemas.microsoft.com/office/drawing/2014/main" id="{AD7140AC-194F-4FD8-B468-670DF2F542F8}"/>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Environmental accounting and evidence limits</a:t>
            </a:r>
          </a:p>
        </p:txBody>
      </p:sp>
      <p:sp>
        <p:nvSpPr>
          <p:cNvPr id="3" name="Define what is counted">
            <a:extLst>
              <a:ext uri="{FF2B5EF4-FFF2-40B4-BE49-F238E27FC236}">
                <a16:creationId xmlns:a16="http://schemas.microsoft.com/office/drawing/2014/main" id="{30FC1BA1-CBBD-474F-A855-AD2E264B917A}"/>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Define what is counted</a:t>
            </a:r>
          </a:p>
        </p:txBody>
      </p:sp>
      <p:sp>
        <p:nvSpPr>
          <p:cNvPr id="4" name="Energy (kWh) integrates power (kW) over hours. Operatio">
            <a:extLst>
              <a:ext uri="{FF2B5EF4-FFF2-40B4-BE49-F238E27FC236}">
                <a16:creationId xmlns:a16="http://schemas.microsoft.com/office/drawing/2014/main" id="{363DED8A-6981-4A68-B9CE-5DABE756F06E}"/>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Energy (kWh) integrates power (kW) over hours.</a:t>
            </a:r>
          </a:p>
          <a:p>
            <a:pPr algn="l">
              <a:defRPr sz="1725" b="0">
                <a:solidFill>
                  <a:srgbClr val="142D45"/>
                </a:solidFill>
                <a:latin typeface="Arial"/>
                <a:ea typeface="Arial"/>
                <a:cs typeface="Arial"/>
              </a:defRPr>
            </a:pPr>
            <a:r>
              <a:rPr sz="1725" b="0">
                <a:solidFill>
                  <a:srgbClr val="142D45"/>
                </a:solidFill>
                <a:latin typeface="Arial"/>
                <a:ea typeface="Arial"/>
                <a:cs typeface="Arial"/>
              </a:rPr>
              <a:t>Operational emissions ≈ Σ energy in each interval ×</a:t>
            </a:r>
          </a:p>
          <a:p>
            <a:pPr algn="l">
              <a:defRPr sz="1725" b="0">
                <a:solidFill>
                  <a:srgbClr val="142D45"/>
                </a:solidFill>
                <a:latin typeface="Arial"/>
                <a:ea typeface="Arial"/>
                <a:cs typeface="Arial"/>
              </a:defRPr>
            </a:pPr>
            <a:r>
              <a:rPr sz="1725" b="0">
                <a:solidFill>
                  <a:srgbClr val="142D45"/>
                </a:solidFill>
                <a:latin typeface="Arial"/>
                <a:ea typeface="Arial"/>
                <a:cs typeface="Arial"/>
              </a:rPr>
              <a:t>that interval’s carbon intensity (kg CO₂e/kWh).</a:t>
            </a:r>
          </a:p>
        </p:txBody>
      </p:sp>
      <p:sp>
        <p:nvSpPr>
          <p:cNvPr id="5" name="Report accelerators, host CPUs, storage/networking and ">
            <a:extLst>
              <a:ext uri="{FF2B5EF4-FFF2-40B4-BE49-F238E27FC236}">
                <a16:creationId xmlns:a16="http://schemas.microsoft.com/office/drawing/2014/main" id="{FEAF6228-2D14-439B-917C-1DAE3801FB7B}"/>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Report accelerators, host CPUs, storage/networking</a:t>
            </a:r>
          </a:p>
          <a:p>
            <a:pPr algn="l">
              <a:defRPr sz="1725" b="0">
                <a:solidFill>
                  <a:srgbClr val="142D45"/>
                </a:solidFill>
                <a:latin typeface="Arial"/>
                <a:ea typeface="Arial"/>
                <a:cs typeface="Arial"/>
              </a:defRPr>
            </a:pPr>
            <a:r>
              <a:rPr sz="1725" b="0">
                <a:solidFill>
                  <a:srgbClr val="142D45"/>
                </a:solidFill>
                <a:latin typeface="Arial"/>
                <a:ea typeface="Arial"/>
                <a:cs typeface="Arial"/>
              </a:rPr>
              <a:t>and allocated cooling overhead; include failed runs</a:t>
            </a:r>
          </a:p>
          <a:p>
            <a:pPr algn="l">
              <a:defRPr sz="1725" b="0">
                <a:solidFill>
                  <a:srgbClr val="142D45"/>
                </a:solidFill>
                <a:latin typeface="Arial"/>
                <a:ea typeface="Arial"/>
                <a:cs typeface="Arial"/>
              </a:defRPr>
            </a:pPr>
            <a:r>
              <a:rPr sz="1725" b="0">
                <a:solidFill>
                  <a:srgbClr val="142D45"/>
                </a:solidFill>
                <a:latin typeface="Arial"/>
                <a:ea typeface="Arial"/>
                <a:cs typeface="Arial"/>
              </a:rPr>
              <a:t>and repeated tuning when evaluating a project.</a:t>
            </a:r>
          </a:p>
        </p:txBody>
      </p:sp>
      <p:sp>
        <p:nvSpPr>
          <p:cNvPr id="6" name="Hardware manufacture and disposal are embodied impacts ">
            <a:extLst>
              <a:ext uri="{FF2B5EF4-FFF2-40B4-BE49-F238E27FC236}">
                <a16:creationId xmlns:a16="http://schemas.microsoft.com/office/drawing/2014/main" id="{FE13B4BD-6ED4-4AE5-AF22-D3441B94EDA9}"/>
              </a:ext>
            </a:extLst>
          </p:cNvPr>
          <p:cNvSpPr>
            <a:spLocks noGrp="1"/>
          </p:cNvSpPr>
          <p:nvPr/>
        </p:nvSpPr>
        <p:spPr>
          <a:xfrm>
            <a:off x="609600" y="4020693"/>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Hardware manufacture and disposal are embodied</a:t>
            </a:r>
          </a:p>
          <a:p>
            <a:pPr algn="l">
              <a:defRPr sz="1725" b="0">
                <a:solidFill>
                  <a:srgbClr val="142D45"/>
                </a:solidFill>
                <a:latin typeface="Arial"/>
                <a:ea typeface="Arial"/>
                <a:cs typeface="Arial"/>
              </a:defRPr>
            </a:pPr>
            <a:r>
              <a:rPr sz="1725" b="0">
                <a:solidFill>
                  <a:srgbClr val="142D45"/>
                </a:solidFill>
                <a:latin typeface="Arial"/>
                <a:ea typeface="Arial"/>
                <a:cs typeface="Arial"/>
              </a:rPr>
              <a:t>impacts beyond operational electricity. Water</a:t>
            </a:r>
          </a:p>
          <a:p>
            <a:pPr algn="l">
              <a:defRPr sz="1725" b="0">
                <a:solidFill>
                  <a:srgbClr val="142D45"/>
                </a:solidFill>
                <a:latin typeface="Arial"/>
                <a:ea typeface="Arial"/>
                <a:cs typeface="Arial"/>
              </a:defRPr>
            </a:pPr>
            <a:r>
              <a:rPr sz="1725" b="0">
                <a:solidFill>
                  <a:srgbClr val="142D45"/>
                </a:solidFill>
                <a:latin typeface="Arial"/>
                <a:ea typeface="Arial"/>
                <a:cs typeface="Arial"/>
              </a:rPr>
              <a:t>withdrawal and water consumption are different</a:t>
            </a:r>
          </a:p>
          <a:p>
            <a:pPr algn="l">
              <a:defRPr sz="1725" b="0">
                <a:solidFill>
                  <a:srgbClr val="142D45"/>
                </a:solidFill>
                <a:latin typeface="Arial"/>
                <a:ea typeface="Arial"/>
                <a:cs typeface="Arial"/>
              </a:defRPr>
            </a:pPr>
            <a:r>
              <a:rPr sz="1725" b="0">
                <a:solidFill>
                  <a:srgbClr val="142D45"/>
                </a:solidFill>
                <a:latin typeface="Arial"/>
                <a:ea typeface="Arial"/>
                <a:cs typeface="Arial"/>
              </a:rPr>
              <a:t>measures.</a:t>
            </a:r>
          </a:p>
        </p:txBody>
      </p:sp>
      <p:sp>
        <p:nvSpPr>
          <p:cNvPr id="7" name="Compare the evidence">
            <a:extLst>
              <a:ext uri="{FF2B5EF4-FFF2-40B4-BE49-F238E27FC236}">
                <a16:creationId xmlns:a16="http://schemas.microsoft.com/office/drawing/2014/main" id="{8CD249B2-6F3A-4B55-AF8D-67FE90650D3C}"/>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Compare the evidence</a:t>
            </a:r>
          </a:p>
        </p:txBody>
      </p:sp>
      <p:sp>
        <p:nvSpPr>
          <p:cNvPr id="8" name="Strubell et al. quantify costs for selected historical ">
            <a:extLst>
              <a:ext uri="{FF2B5EF4-FFF2-40B4-BE49-F238E27FC236}">
                <a16:creationId xmlns:a16="http://schemas.microsoft.com/office/drawing/2014/main" id="{E8AB2FAD-B7E7-48AB-8D01-9DFAEC4D3050}"/>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Strubell et al. quantify costs for selected historical</a:t>
            </a:r>
          </a:p>
          <a:p>
            <a:pPr algn="l">
              <a:defRPr sz="1725" b="0">
                <a:solidFill>
                  <a:srgbClr val="142D45"/>
                </a:solidFill>
                <a:latin typeface="Arial"/>
                <a:ea typeface="Arial"/>
                <a:cs typeface="Arial"/>
              </a:defRPr>
            </a:pPr>
            <a:r>
              <a:rPr sz="1725" b="0">
                <a:solidFill>
                  <a:srgbClr val="142D45"/>
                </a:solidFill>
                <a:latin typeface="Arial"/>
                <a:ea typeface="Arial"/>
                <a:cs typeface="Arial"/>
              </a:rPr>
              <a:t>NLP training/development workloads; those values</a:t>
            </a:r>
          </a:p>
          <a:p>
            <a:pPr algn="l">
              <a:defRPr sz="1725" b="0">
                <a:solidFill>
                  <a:srgbClr val="142D45"/>
                </a:solidFill>
                <a:latin typeface="Arial"/>
                <a:ea typeface="Arial"/>
                <a:cs typeface="Arial"/>
              </a:defRPr>
            </a:pPr>
            <a:r>
              <a:rPr sz="1725" b="0">
                <a:solidFill>
                  <a:srgbClr val="142D45"/>
                </a:solidFill>
                <a:latin typeface="Arial"/>
                <a:ea typeface="Arial"/>
                <a:cs typeface="Arial"/>
              </a:rPr>
              <a:t>are not universal 2026 model footprints.</a:t>
            </a:r>
          </a:p>
        </p:txBody>
      </p:sp>
      <p:sp>
        <p:nvSpPr>
          <p:cNvPr id="9" name="Green AI motivates reporting efficiency alongside accur">
            <a:extLst>
              <a:ext uri="{FF2B5EF4-FFF2-40B4-BE49-F238E27FC236}">
                <a16:creationId xmlns:a16="http://schemas.microsoft.com/office/drawing/2014/main" id="{C1C611EB-4EF8-4906-8C85-1894870F64AF}"/>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Green AI motivates reporting efficiency alongside</a:t>
            </a:r>
          </a:p>
          <a:p>
            <a:pPr algn="l">
              <a:defRPr sz="1725" b="0">
                <a:solidFill>
                  <a:srgbClr val="142D45"/>
                </a:solidFill>
                <a:latin typeface="Arial"/>
                <a:ea typeface="Arial"/>
                <a:cs typeface="Arial"/>
              </a:defRPr>
            </a:pPr>
            <a:r>
              <a:rPr sz="1725" b="0">
                <a:solidFill>
                  <a:srgbClr val="142D45"/>
                </a:solidFill>
                <a:latin typeface="Arial"/>
                <a:ea typeface="Arial"/>
                <a:cs typeface="Arial"/>
              </a:rPr>
              <a:t>accuracy; Li et al. show why water varies with</a:t>
            </a:r>
          </a:p>
          <a:p>
            <a:pPr algn="l">
              <a:defRPr sz="1725" b="0">
                <a:solidFill>
                  <a:srgbClr val="142D45"/>
                </a:solidFill>
                <a:latin typeface="Arial"/>
                <a:ea typeface="Arial"/>
                <a:cs typeface="Arial"/>
              </a:defRPr>
            </a:pPr>
            <a:r>
              <a:rPr sz="1725" b="0">
                <a:solidFill>
                  <a:srgbClr val="142D45"/>
                </a:solidFill>
                <a:latin typeface="Arial"/>
                <a:ea typeface="Arial"/>
                <a:cs typeface="Arial"/>
              </a:rPr>
              <a:t>place/time. Carbon alone misses local water</a:t>
            </a:r>
          </a:p>
          <a:p>
            <a:pPr algn="l">
              <a:defRPr sz="1725" b="0">
                <a:solidFill>
                  <a:srgbClr val="142D45"/>
                </a:solidFill>
                <a:latin typeface="Arial"/>
                <a:ea typeface="Arial"/>
                <a:cs typeface="Arial"/>
              </a:defRPr>
            </a:pPr>
            <a:r>
              <a:rPr sz="1725" b="0">
                <a:solidFill>
                  <a:srgbClr val="142D45"/>
                </a:solidFill>
                <a:latin typeface="Arial"/>
                <a:ea typeface="Arial"/>
                <a:cs typeface="Arial"/>
              </a:rPr>
              <a:t>pressures.</a:t>
            </a:r>
          </a:p>
        </p:txBody>
      </p:sp>
      <p:sp>
        <p:nvSpPr>
          <p:cNvPr id="10" name="IEA sector totals provide context, not causal attributi">
            <a:extLst>
              <a:ext uri="{FF2B5EF4-FFF2-40B4-BE49-F238E27FC236}">
                <a16:creationId xmlns:a16="http://schemas.microsoft.com/office/drawing/2014/main" id="{24205B77-CB0A-486D-B186-88B584AC46CC}"/>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IEA sector totals provide context, not causal</a:t>
            </a:r>
          </a:p>
          <a:p>
            <a:pPr algn="l">
              <a:defRPr sz="1725" b="0">
                <a:solidFill>
                  <a:srgbClr val="142D45"/>
                </a:solidFill>
                <a:latin typeface="Arial"/>
                <a:ea typeface="Arial"/>
                <a:cs typeface="Arial"/>
              </a:defRPr>
            </a:pPr>
            <a:r>
              <a:rPr sz="1725" b="0">
                <a:solidFill>
                  <a:srgbClr val="142D45"/>
                </a:solidFill>
                <a:latin typeface="Arial"/>
                <a:ea typeface="Arial"/>
                <a:cs typeface="Arial"/>
              </a:rPr>
              <a:t>attribution to one model. Forecasts depend on</a:t>
            </a:r>
          </a:p>
          <a:p>
            <a:pPr algn="l">
              <a:defRPr sz="1725" b="0">
                <a:solidFill>
                  <a:srgbClr val="142D45"/>
                </a:solidFill>
                <a:latin typeface="Arial"/>
                <a:ea typeface="Arial"/>
                <a:cs typeface="Arial"/>
              </a:defRPr>
            </a:pPr>
            <a:r>
              <a:rPr sz="1725" b="0">
                <a:solidFill>
                  <a:srgbClr val="142D45"/>
                </a:solidFill>
                <a:latin typeface="Arial"/>
                <a:ea typeface="Arial"/>
                <a:cs typeface="Arial"/>
              </a:rPr>
              <a:t>demand and infrastructure assumptions; local</a:t>
            </a:r>
          </a:p>
          <a:p>
            <a:pPr algn="l">
              <a:defRPr sz="1725" b="0">
                <a:solidFill>
                  <a:srgbClr val="142D45"/>
                </a:solidFill>
                <a:latin typeface="Arial"/>
                <a:ea typeface="Arial"/>
                <a:cs typeface="Arial"/>
              </a:defRPr>
            </a:pPr>
            <a:r>
              <a:rPr sz="1725" b="0">
                <a:solidFill>
                  <a:srgbClr val="142D45"/>
                </a:solidFill>
                <a:latin typeface="Arial"/>
                <a:ea typeface="Arial"/>
                <a:cs typeface="Arial"/>
              </a:rPr>
              <a:t>grid/cooling effects differ by site.</a:t>
            </a:r>
          </a:p>
        </p:txBody>
      </p:sp>
      <p:sp>
        <p:nvSpPr>
          <p:cNvPr id="11" name="Straight Connector 10">
            <a:extLst>
              <a:ext uri="{FF2B5EF4-FFF2-40B4-BE49-F238E27FC236}">
                <a16:creationId xmlns:a16="http://schemas.microsoft.com/office/drawing/2014/main" id="{4A107D46-302D-425E-8BE7-648097442553}"/>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FD4A2720-EF38-4447-B3A8-5A5CD45E10B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6] IEA 2026: sector estimates and projection;">
            <a:extLst>
              <a:ext uri="{FF2B5EF4-FFF2-40B4-BE49-F238E27FC236}">
                <a16:creationId xmlns:a16="http://schemas.microsoft.com/office/drawing/2014/main" id="{FADC6799-34E8-4203-8783-5543B1B29B8E}"/>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[6] IEA 2026: sector estimates and projection; [8] Strubell et al. 2019: cost and equity; [9] Li et al. 2025 revision: water impacts; [10] Schwartz et al. 2019: efficiency</a:t>
            </a:r>
          </a:p>
          <a:p>
            <a:pPr algn="l">
              <a:defRPr sz="990" b="0">
                <a:solidFill>
                  <a:srgbClr val="516170"/>
                </a:solidFill>
                <a:latin typeface="Arial"/>
                <a:ea typeface="Arial"/>
                <a:cs typeface="Arial"/>
              </a:defRPr>
            </a:pPr>
            <a:r>
              <a:rPr sz="990" b="0">
                <a:solidFill>
                  <a:srgbClr val="516170"/>
                </a:solidFill>
                <a:latin typeface="Arial"/>
                <a:ea typeface="Arial"/>
                <a:cs typeface="Arial"/>
              </a:rPr>
              <a:t>reporting</a:t>
            </a:r>
          </a:p>
        </p:txBody>
      </p:sp>
      <p:sp>
        <p:nvSpPr>
          <p:cNvPr id="14" name="23 / 46">
            <a:extLst>
              <a:ext uri="{FF2B5EF4-FFF2-40B4-BE49-F238E27FC236}">
                <a16:creationId xmlns:a16="http://schemas.microsoft.com/office/drawing/2014/main" id="{BFC94D57-4B0E-4D1D-A00F-E8C3BD56EC81}"/>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25 / 48</a:t>
            </a:r>
          </a:p>
        </p:txBody>
      </p:sp>
    </p:spTree>
    <p:extLst>
      <p:ext uri="{BB962C8B-B14F-4D97-AF65-F5344CB8AC3E}">
        <p14:creationId xmlns:p14="http://schemas.microsoft.com/office/powerpoint/2010/main" val="593865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2 • Task 2(b) • Proposed governance con">
            <a:extLst>
              <a:ext uri="{FF2B5EF4-FFF2-40B4-BE49-F238E27FC236}">
                <a16:creationId xmlns:a16="http://schemas.microsoft.com/office/drawing/2014/main" id="{2A24317B-2207-427E-9DB8-3F7D877BA2DF}"/>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Proposed governance controls</a:t>
            </a:r>
          </a:p>
        </p:txBody>
      </p:sp>
      <p:sp>
        <p:nvSpPr>
          <p:cNvPr id="2" name="Governance controls and remaining risks">
            <a:extLst>
              <a:ext uri="{FF2B5EF4-FFF2-40B4-BE49-F238E27FC236}">
                <a16:creationId xmlns:a16="http://schemas.microsoft.com/office/drawing/2014/main" id="{960F7162-0D04-48C4-A97F-CCF0D3098ED8}"/>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Governance controls and remaining risks</a:t>
            </a:r>
          </a:p>
        </p:txBody>
      </p:sp>
      <p:graphicFrame>
        <p:nvGraphicFramePr>
          <p:cNvPr id="3" name="Table 2">
            <a:extLst>
              <a:ext uri="{FF2B5EF4-FFF2-40B4-BE49-F238E27FC236}">
                <a16:creationId xmlns:a16="http://schemas.microsoft.com/office/drawing/2014/main" id="{1676AAB6-C702-4918-AE8B-ADCC24E006F2}"/>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Risk / stakeholder</a:t>
                      </a:r>
                    </a:p>
                  </a:txBody>
                  <a:tcPr anchor="ctr">
                    <a:solidFill>
                      <a:srgbClr val="142D45"/>
                    </a:solidFill>
                  </a:tcPr>
                </a:tc>
                <a:tc>
                  <a:txBody>
                    <a:bodyPr/>
                    <a:lstStyle/>
                    <a:p>
                      <a:pPr algn="l"/>
                      <a:r>
                        <a:rPr sz="1650" b="1">
                          <a:solidFill>
                            <a:srgbClr val="FFFFFF"/>
                          </a:solidFill>
                          <a:latin typeface="Arial"/>
                          <a:ea typeface="Arial"/>
                          <a:cs typeface="Arial"/>
                        </a:rPr>
                        <a:t>Proposed control</a:t>
                      </a:r>
                    </a:p>
                  </a:txBody>
                  <a:tcPr anchor="ctr">
                    <a:solidFill>
                      <a:srgbClr val="142D45"/>
                    </a:solidFill>
                  </a:tcPr>
                </a:tc>
                <a:tc>
                  <a:txBody>
                    <a:bodyPr/>
                    <a:lstStyle/>
                    <a:p>
                      <a:pPr algn="l"/>
                      <a:r>
                        <a:rPr sz="1650" b="1">
                          <a:solidFill>
                            <a:srgbClr val="FFFFFF"/>
                          </a:solidFill>
                          <a:latin typeface="Arial"/>
                          <a:ea typeface="Arial"/>
                          <a:cs typeface="Arial"/>
                        </a:rPr>
                        <a:t>Residual limitation / owner</a:t>
                      </a:r>
                    </a:p>
                  </a:txBody>
                  <a:tcPr anchor="ctr">
                    <a:solidFill>
                      <a:srgbClr val="142D45"/>
                    </a:solidFill>
                  </a:tcPr>
                </a:tc>
                <a:extLst>
                  <a:ext uri="{0D108BD9-81ED-4DB2-BD59-A6C34878D82A}">
                    <a16:rowId xmlns:a16="http://schemas.microsoft.com/office/drawing/2014/main" val="10000"/>
                  </a:ext>
                </a:extLst>
              </a:tr>
              <a:tr h="833438">
                <a:tc>
                  <a:txBody>
                    <a:bodyPr/>
                    <a:lstStyle/>
                    <a:p>
                      <a:pPr algn="l"/>
                      <a:r>
                        <a:rPr sz="1500" b="0">
                          <a:solidFill>
                            <a:srgbClr val="142D45"/>
                          </a:solidFill>
                          <a:latin typeface="Arial"/>
                          <a:ea typeface="Arial"/>
                          <a:cs typeface="Arial"/>
                        </a:rPr>
                        <a:t>Dataset misuse / data subjects</a:t>
                      </a:r>
                    </a:p>
                  </a:txBody>
                  <a:tcPr anchor="ctr">
                    <a:solidFill>
                      <a:srgbClr val="FFFFFF"/>
                    </a:solidFill>
                  </a:tcPr>
                </a:tc>
                <a:tc>
                  <a:txBody>
                    <a:bodyPr/>
                    <a:lstStyle/>
                    <a:p>
                      <a:pPr algn="l"/>
                      <a:r>
                        <a:rPr sz="1500" b="0">
                          <a:solidFill>
                            <a:srgbClr val="142D45"/>
                          </a:solidFill>
                          <a:latin typeface="Arial"/>
                          <a:ea typeface="Arial"/>
                          <a:cs typeface="Arial"/>
                        </a:rPr>
                        <a:t>Provenance, permission checks, retention limits and access logs</a:t>
                      </a:r>
                    </a:p>
                  </a:txBody>
                  <a:tcPr anchor="ctr">
                    <a:solidFill>
                      <a:srgbClr val="FFFFFF"/>
                    </a:solidFill>
                  </a:tcPr>
                </a:tc>
                <a:tc>
                  <a:txBody>
                    <a:bodyPr/>
                    <a:lstStyle/>
                    <a:p>
                      <a:pPr algn="l"/>
                      <a:r>
                        <a:rPr sz="1500" b="0">
                          <a:solidFill>
                            <a:srgbClr val="142D45"/>
                          </a:solidFill>
                          <a:latin typeface="Arial"/>
                          <a:ea typeface="Arial"/>
                          <a:cs typeface="Arial"/>
                        </a:rPr>
                        <a:t>A licence alone may not justify every use; data steward reviews purpose.</a:t>
                      </a:r>
                    </a:p>
                  </a:txBody>
                  <a:tcPr anchor="ctr">
                    <a:solidFill>
                      <a:srgbClr val="FFFFFF"/>
                    </a:solidFill>
                  </a:tcPr>
                </a:tc>
                <a:extLst>
                  <a:ext uri="{0D108BD9-81ED-4DB2-BD59-A6C34878D82A}">
                    <a16:rowId xmlns:a16="http://schemas.microsoft.com/office/drawing/2014/main" val="10001"/>
                  </a:ext>
                </a:extLst>
              </a:tr>
              <a:tr h="833438">
                <a:tc>
                  <a:txBody>
                    <a:bodyPr/>
                    <a:lstStyle/>
                    <a:p>
                      <a:pPr algn="l"/>
                      <a:r>
                        <a:rPr sz="1500" b="0">
                          <a:solidFill>
                            <a:srgbClr val="142D45"/>
                          </a:solidFill>
                          <a:latin typeface="Arial"/>
                          <a:ea typeface="Arial"/>
                          <a:cs typeface="Arial"/>
                        </a:rPr>
                        <a:t>Gradient/checkpoint exposure / participants</a:t>
                      </a:r>
                    </a:p>
                  </a:txBody>
                  <a:tcPr anchor="ctr">
                    <a:solidFill>
                      <a:srgbClr val="F0F4F4"/>
                    </a:solidFill>
                  </a:tcPr>
                </a:tc>
                <a:tc>
                  <a:txBody>
                    <a:bodyPr/>
                    <a:lstStyle/>
                    <a:p>
                      <a:pPr algn="l"/>
                      <a:r>
                        <a:rPr sz="1500" b="0">
                          <a:solidFill>
                            <a:srgbClr val="142D45"/>
                          </a:solidFill>
                          <a:latin typeface="Arial"/>
                          <a:ea typeface="Arial"/>
                          <a:cs typeface="Arial"/>
                        </a:rPr>
                        <a:t>Least privilege, tenant isolation, protected transport and secure checkpoint storage</a:t>
                      </a:r>
                    </a:p>
                  </a:txBody>
                  <a:tcPr anchor="ctr">
                    <a:solidFill>
                      <a:srgbClr val="F0F4F4"/>
                    </a:solidFill>
                  </a:tcPr>
                </a:tc>
                <a:tc>
                  <a:txBody>
                    <a:bodyPr/>
                    <a:lstStyle/>
                    <a:p>
                      <a:pPr algn="l"/>
                      <a:r>
                        <a:rPr sz="1500" b="0">
                          <a:solidFill>
                            <a:srgbClr val="142D45"/>
                          </a:solidFill>
                          <a:latin typeface="Arial"/>
                          <a:ea typeface="Arial"/>
                          <a:cs typeface="Arial"/>
                        </a:rPr>
                        <a:t>Authorized endpoints can still see sensitive values; security owner models insider risk.</a:t>
                      </a:r>
                    </a:p>
                  </a:txBody>
                  <a:tcPr anchor="ctr">
                    <a:solidFill>
                      <a:srgbClr val="F0F4F4"/>
                    </a:solidFill>
                  </a:tcPr>
                </a:tc>
                <a:extLst>
                  <a:ext uri="{0D108BD9-81ED-4DB2-BD59-A6C34878D82A}">
                    <a16:rowId xmlns:a16="http://schemas.microsoft.com/office/drawing/2014/main" val="10002"/>
                  </a:ext>
                </a:extLst>
              </a:tr>
              <a:tr h="833438">
                <a:tc>
                  <a:txBody>
                    <a:bodyPr/>
                    <a:lstStyle/>
                    <a:p>
                      <a:pPr algn="l"/>
                      <a:r>
                        <a:rPr sz="1500" b="0">
                          <a:solidFill>
                            <a:srgbClr val="142D45"/>
                          </a:solidFill>
                          <a:latin typeface="Arial"/>
                          <a:ea typeface="Arial"/>
                          <a:cs typeface="Arial"/>
                        </a:rPr>
                        <a:t>Unsafe dual use / affected public</a:t>
                      </a:r>
                    </a:p>
                  </a:txBody>
                  <a:tcPr anchor="ctr">
                    <a:solidFill>
                      <a:srgbClr val="FFFFFF"/>
                    </a:solidFill>
                  </a:tcPr>
                </a:tc>
                <a:tc>
                  <a:txBody>
                    <a:bodyPr/>
                    <a:lstStyle/>
                    <a:p>
                      <a:pPr algn="l"/>
                      <a:r>
                        <a:rPr sz="1500" b="0">
                          <a:solidFill>
                            <a:srgbClr val="142D45"/>
                          </a:solidFill>
                          <a:latin typeface="Arial"/>
                          <a:ea typeface="Arial"/>
                          <a:cs typeface="Arial"/>
                        </a:rPr>
                        <a:t>Authorized-use review, restricted access where justified and review of deployment risks</a:t>
                      </a:r>
                    </a:p>
                  </a:txBody>
                  <a:tcPr anchor="ctr">
                    <a:solidFill>
                      <a:srgbClr val="FFFFFF"/>
                    </a:solidFill>
                  </a:tcPr>
                </a:tc>
                <a:tc>
                  <a:txBody>
                    <a:bodyPr/>
                    <a:lstStyle/>
                    <a:p>
                      <a:pPr algn="l"/>
                      <a:r>
                        <a:rPr sz="1500" b="0">
                          <a:solidFill>
                            <a:srgbClr val="142D45"/>
                          </a:solidFill>
                          <a:latin typeface="Arial"/>
                          <a:ea typeface="Arial"/>
                          <a:cs typeface="Arial"/>
                        </a:rPr>
                        <a:t>Controls cannot prevent every misuse; accountable owner weighs benefits/restrictions.</a:t>
                      </a:r>
                    </a:p>
                  </a:txBody>
                  <a:tcPr anchor="ctr">
                    <a:solidFill>
                      <a:srgbClr val="FFFFFF"/>
                    </a:solidFill>
                  </a:tcPr>
                </a:tc>
                <a:extLst>
                  <a:ext uri="{0D108BD9-81ED-4DB2-BD59-A6C34878D82A}">
                    <a16:rowId xmlns:a16="http://schemas.microsoft.com/office/drawing/2014/main" val="10003"/>
                  </a:ext>
                </a:extLst>
              </a:tr>
              <a:tr h="833438">
                <a:tc>
                  <a:txBody>
                    <a:bodyPr/>
                    <a:lstStyle/>
                    <a:p>
                      <a:pPr algn="l"/>
                      <a:r>
                        <a:rPr sz="1500" b="0">
                          <a:solidFill>
                            <a:srgbClr val="142D45"/>
                          </a:solidFill>
                          <a:latin typeface="Arial"/>
                          <a:ea typeface="Arial"/>
                          <a:cs typeface="Arial"/>
                        </a:rPr>
                        <a:t>Distributed replicas / operators</a:t>
                      </a:r>
                    </a:p>
                  </a:txBody>
                  <a:tcPr anchor="ctr">
                    <a:solidFill>
                      <a:srgbClr val="F0F4F4"/>
                    </a:solidFill>
                  </a:tcPr>
                </a:tc>
                <a:tc>
                  <a:txBody>
                    <a:bodyPr/>
                    <a:lstStyle/>
                    <a:p>
                      <a:pPr algn="l"/>
                      <a:r>
                        <a:rPr sz="1500" b="0">
                          <a:solidFill>
                            <a:srgbClr val="142D45"/>
                          </a:solidFill>
                          <a:latin typeface="Arial"/>
                          <a:ea typeface="Arial"/>
                          <a:cs typeface="Arial"/>
                        </a:rPr>
                        <a:t>Track copies, deletion obligations and incident response across workers</a:t>
                      </a:r>
                    </a:p>
                  </a:txBody>
                  <a:tcPr anchor="ctr">
                    <a:solidFill>
                      <a:srgbClr val="F0F4F4"/>
                    </a:solidFill>
                  </a:tcPr>
                </a:tc>
                <a:tc>
                  <a:txBody>
                    <a:bodyPr/>
                    <a:lstStyle/>
                    <a:p>
                      <a:pPr algn="l"/>
                      <a:r>
                        <a:rPr sz="1500" b="0">
                          <a:solidFill>
                            <a:srgbClr val="142D45"/>
                          </a:solidFill>
                          <a:latin typeface="Arial"/>
                          <a:ea typeface="Arial"/>
                          <a:cs typeface="Arial"/>
                        </a:rPr>
                        <a:t>Replication increases the number of assets to protect; operator audits recovery.</a:t>
                      </a:r>
                    </a:p>
                  </a:txBody>
                  <a:tcPr anchor="ctr">
                    <a:solidFill>
                      <a:srgbClr val="F0F4F4"/>
                    </a:solidFill>
                  </a:tcPr>
                </a:tc>
                <a:extLst>
                  <a:ext uri="{0D108BD9-81ED-4DB2-BD59-A6C34878D82A}">
                    <a16:rowId xmlns:a16="http://schemas.microsoft.com/office/drawing/2014/main" val="10004"/>
                  </a:ext>
                </a:extLst>
              </a:tr>
            </a:tbl>
          </a:graphicData>
        </a:graphic>
      </p:graphicFrame>
      <p:sp>
        <p:nvSpPr>
          <p:cNvPr id="4" name="These are proposed mitigations informed by research/fra">
            <a:extLst>
              <a:ext uri="{FF2B5EF4-FFF2-40B4-BE49-F238E27FC236}">
                <a16:creationId xmlns:a16="http://schemas.microsoft.com/office/drawing/2014/main" id="{F8D5F737-B440-4122-900A-FB518CAAA315}"/>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These are proposed mitigations informed by research/frameworks, not a proof of privacy or a compliance certification.</a:t>
            </a:r>
          </a:p>
        </p:txBody>
      </p:sp>
      <p:sp>
        <p:nvSpPr>
          <p:cNvPr id="5" name="Straight Connector 4">
            <a:extLst>
              <a:ext uri="{FF2B5EF4-FFF2-40B4-BE49-F238E27FC236}">
                <a16:creationId xmlns:a16="http://schemas.microsoft.com/office/drawing/2014/main" id="{3E73DEC4-C4E7-4B44-8D93-9069E7314F55}"/>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11] Zhu et al. 2019: exposed gradients; [15] ">
            <a:extLst>
              <a:ext uri="{FF2B5EF4-FFF2-40B4-BE49-F238E27FC236}">
                <a16:creationId xmlns:a16="http://schemas.microsoft.com/office/drawing/2014/main" id="{ADFE05A8-4350-4514-8538-CFCCEC62A7D2}"/>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[11] Zhu et al. 2019: exposed gradients; [15] OECD: rights, fairness and accountability; [16] NIST: Govern, Map, Measure, Manage</a:t>
            </a:r>
          </a:p>
        </p:txBody>
      </p:sp>
      <p:sp>
        <p:nvSpPr>
          <p:cNvPr id="7" name="24 / 46">
            <a:extLst>
              <a:ext uri="{FF2B5EF4-FFF2-40B4-BE49-F238E27FC236}">
                <a16:creationId xmlns:a16="http://schemas.microsoft.com/office/drawing/2014/main" id="{6A778DFD-51DC-4BD3-BA3B-EDC31B67B5D9}"/>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26 / 48</a:t>
            </a:r>
          </a:p>
        </p:txBody>
      </p:sp>
    </p:spTree>
    <p:extLst>
      <p:ext uri="{BB962C8B-B14F-4D97-AF65-F5344CB8AC3E}">
        <p14:creationId xmlns:p14="http://schemas.microsoft.com/office/powerpoint/2010/main" val="1857718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2 • Task 2(b) • Fairness with large-sca">
            <a:extLst>
              <a:ext uri="{FF2B5EF4-FFF2-40B4-BE49-F238E27FC236}">
                <a16:creationId xmlns:a16="http://schemas.microsoft.com/office/drawing/2014/main" id="{907D5207-D09A-4767-8498-BC709D86F2B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2(b) • Fairness with large-scale compute</a:t>
            </a:r>
          </a:p>
        </p:txBody>
      </p:sp>
      <p:sp>
        <p:nvSpPr>
          <p:cNvPr id="2" name="Fairness evaluation with large-scale compute">
            <a:extLst>
              <a:ext uri="{FF2B5EF4-FFF2-40B4-BE49-F238E27FC236}">
                <a16:creationId xmlns:a16="http://schemas.microsoft.com/office/drawing/2014/main" id="{5783C3BC-EDE7-41EF-AAB0-D62D50900C4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Fairness evaluation with large-scale compute</a:t>
            </a:r>
          </a:p>
        </p:txBody>
      </p:sp>
      <p:sp>
        <p:nvSpPr>
          <p:cNvPr id="3" name="Compute connection">
            <a:extLst>
              <a:ext uri="{FF2B5EF4-FFF2-40B4-BE49-F238E27FC236}">
                <a16:creationId xmlns:a16="http://schemas.microsoft.com/office/drawing/2014/main" id="{96382FC2-FF7A-4533-A106-81F7913FE824}"/>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Compute connection</a:t>
            </a:r>
          </a:p>
        </p:txBody>
      </p:sp>
      <p:sp>
        <p:nvSpPr>
          <p:cNvPr id="4" name="An illustrative multilingual LLM service may have unequ">
            <a:extLst>
              <a:ext uri="{FF2B5EF4-FFF2-40B4-BE49-F238E27FC236}">
                <a16:creationId xmlns:a16="http://schemas.microsoft.com/office/drawing/2014/main" id="{2C349487-0DFE-4364-A5E4-5FCF83963300}"/>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An illustrative multilingual LLM service may have</a:t>
            </a:r>
          </a:p>
          <a:p>
            <a:pPr algn="l">
              <a:defRPr sz="1725" b="0">
                <a:solidFill>
                  <a:srgbClr val="142D45"/>
                </a:solidFill>
                <a:latin typeface="Arial"/>
                <a:ea typeface="Arial"/>
                <a:cs typeface="Arial"/>
              </a:defRPr>
            </a:pPr>
            <a:r>
              <a:rPr sz="1725" b="0">
                <a:solidFill>
                  <a:srgbClr val="142D45"/>
                </a:solidFill>
                <a:latin typeface="Arial"/>
                <a:ea typeface="Arial"/>
                <a:cs typeface="Arial"/>
              </a:rPr>
              <a:t>unequal performance or stereotyped outputs across</a:t>
            </a:r>
          </a:p>
          <a:p>
            <a:pPr algn="l">
              <a:defRPr sz="1725" b="0">
                <a:solidFill>
                  <a:srgbClr val="142D45"/>
                </a:solidFill>
                <a:latin typeface="Arial"/>
                <a:ea typeface="Arial"/>
                <a:cs typeface="Arial"/>
              </a:defRPr>
            </a:pPr>
            <a:r>
              <a:rPr sz="1725" b="0">
                <a:solidFill>
                  <a:srgbClr val="142D45"/>
                </a:solidFill>
                <a:latin typeface="Arial"/>
                <a:ea typeface="Arial"/>
                <a:cs typeface="Arial"/>
              </a:rPr>
              <a:t>language groups. Identify the actual harm before</a:t>
            </a:r>
          </a:p>
          <a:p>
            <a:pPr algn="l">
              <a:defRPr sz="1725" b="0">
                <a:solidFill>
                  <a:srgbClr val="142D45"/>
                </a:solidFill>
                <a:latin typeface="Arial"/>
                <a:ea typeface="Arial"/>
                <a:cs typeface="Arial"/>
              </a:defRPr>
            </a:pPr>
            <a:r>
              <a:rPr sz="1725" b="0">
                <a:solidFill>
                  <a:srgbClr val="142D45"/>
                </a:solidFill>
                <a:latin typeface="Arial"/>
                <a:ea typeface="Arial"/>
                <a:cs typeface="Arial"/>
              </a:rPr>
              <a:t>choosing a metric.</a:t>
            </a:r>
          </a:p>
        </p:txBody>
      </p:sp>
      <p:sp>
        <p:nvSpPr>
          <p:cNvPr id="5" name="A cluster enables larger datasets and repeated training">
            <a:extLst>
              <a:ext uri="{FF2B5EF4-FFF2-40B4-BE49-F238E27FC236}">
                <a16:creationId xmlns:a16="http://schemas.microsoft.com/office/drawing/2014/main" id="{D97B86C8-5161-4D04-9629-628521B587F5}"/>
              </a:ext>
            </a:extLst>
          </p:cNvPr>
          <p:cNvSpPr>
            <a:spLocks noGrp="1"/>
          </p:cNvSpPr>
          <p:nvPr/>
        </p:nvSpPr>
        <p:spPr>
          <a:xfrm>
            <a:off x="609600" y="3267837"/>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 cluster enables larger datasets and repeated</a:t>
            </a:r>
          </a:p>
          <a:p>
            <a:pPr algn="l">
              <a:defRPr sz="1725" b="0">
                <a:solidFill>
                  <a:srgbClr val="142D45"/>
                </a:solidFill>
                <a:latin typeface="Arial"/>
                <a:ea typeface="Arial"/>
                <a:cs typeface="Arial"/>
              </a:defRPr>
            </a:pPr>
            <a:r>
              <a:rPr sz="1725" b="0">
                <a:solidFill>
                  <a:srgbClr val="142D45"/>
                </a:solidFill>
                <a:latin typeface="Arial"/>
                <a:ea typeface="Arial"/>
                <a:cs typeface="Arial"/>
              </a:rPr>
              <a:t>training, but neither data volume nor GPU count</a:t>
            </a:r>
          </a:p>
          <a:p>
            <a:pPr algn="l">
              <a:defRPr sz="1725" b="0">
                <a:solidFill>
                  <a:srgbClr val="142D45"/>
                </a:solidFill>
                <a:latin typeface="Arial"/>
                <a:ea typeface="Arial"/>
                <a:cs typeface="Arial"/>
              </a:defRPr>
            </a:pPr>
            <a:r>
              <a:rPr sz="1725" b="0">
                <a:solidFill>
                  <a:srgbClr val="142D45"/>
                </a:solidFill>
                <a:latin typeface="Arial"/>
                <a:ea typeface="Arial"/>
                <a:cs typeface="Arial"/>
              </a:rPr>
              <a:t>guarantees representative data or equitable</a:t>
            </a:r>
          </a:p>
          <a:p>
            <a:pPr algn="l">
              <a:defRPr sz="1725" b="0">
                <a:solidFill>
                  <a:srgbClr val="142D45"/>
                </a:solidFill>
                <a:latin typeface="Arial"/>
                <a:ea typeface="Arial"/>
                <a:cs typeface="Arial"/>
              </a:defRPr>
            </a:pPr>
            <a:r>
              <a:rPr sz="1725" b="0">
                <a:solidFill>
                  <a:srgbClr val="142D45"/>
                </a:solidFill>
                <a:latin typeface="Arial"/>
                <a:ea typeface="Arial"/>
                <a:cs typeface="Arial"/>
              </a:rPr>
              <a:t>outcomes.</a:t>
            </a:r>
          </a:p>
        </p:txBody>
      </p:sp>
      <p:sp>
        <p:nvSpPr>
          <p:cNvPr id="6" name="Reserve evaluation compute for affected groups; documen">
            <a:extLst>
              <a:ext uri="{FF2B5EF4-FFF2-40B4-BE49-F238E27FC236}">
                <a16:creationId xmlns:a16="http://schemas.microsoft.com/office/drawing/2014/main" id="{03183D29-9A3A-43D2-BAE7-EDC2773C08CE}"/>
              </a:ext>
            </a:extLst>
          </p:cNvPr>
          <p:cNvSpPr>
            <a:spLocks noGrp="1"/>
          </p:cNvSpPr>
          <p:nvPr/>
        </p:nvSpPr>
        <p:spPr>
          <a:xfrm>
            <a:off x="609600" y="4563999"/>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Reserve evaluation compute for affected groups;</a:t>
            </a:r>
          </a:p>
          <a:p>
            <a:pPr algn="l">
              <a:defRPr sz="1725" b="0">
                <a:solidFill>
                  <a:srgbClr val="142D45"/>
                </a:solidFill>
                <a:latin typeface="Arial"/>
                <a:ea typeface="Arial"/>
                <a:cs typeface="Arial"/>
              </a:defRPr>
            </a:pPr>
            <a:r>
              <a:rPr sz="1725" b="0">
                <a:solidFill>
                  <a:srgbClr val="142D45"/>
                </a:solidFill>
                <a:latin typeface="Arial"/>
                <a:ea typeface="Arial"/>
                <a:cs typeface="Arial"/>
              </a:rPr>
              <a:t>document dataset coverage and compare</a:t>
            </a:r>
          </a:p>
          <a:p>
            <a:pPr algn="l">
              <a:defRPr sz="1725" b="0">
                <a:solidFill>
                  <a:srgbClr val="142D45"/>
                </a:solidFill>
                <a:latin typeface="Arial"/>
                <a:ea typeface="Arial"/>
                <a:cs typeface="Arial"/>
              </a:defRPr>
            </a:pPr>
            <a:r>
              <a:rPr sz="1725" b="0">
                <a:solidFill>
                  <a:srgbClr val="142D45"/>
                </a:solidFill>
                <a:latin typeface="Arial"/>
                <a:ea typeface="Arial"/>
                <a:cs typeface="Arial"/>
              </a:rPr>
              <a:t>disaggregated error or harmful-output rates using a</a:t>
            </a:r>
          </a:p>
          <a:p>
            <a:pPr algn="l">
              <a:defRPr sz="1725" b="0">
                <a:solidFill>
                  <a:srgbClr val="142D45"/>
                </a:solidFill>
                <a:latin typeface="Arial"/>
                <a:ea typeface="Arial"/>
                <a:cs typeface="Arial"/>
              </a:defRPr>
            </a:pPr>
            <a:r>
              <a:rPr sz="1725" b="0">
                <a:solidFill>
                  <a:srgbClr val="142D45"/>
                </a:solidFill>
                <a:latin typeface="Arial"/>
                <a:ea typeface="Arial"/>
                <a:cs typeface="Arial"/>
              </a:rPr>
              <a:t>task-appropriate test.</a:t>
            </a:r>
          </a:p>
        </p:txBody>
      </p:sp>
      <p:sp>
        <p:nvSpPr>
          <p:cNvPr id="7" name="Evidence and decision">
            <a:extLst>
              <a:ext uri="{FF2B5EF4-FFF2-40B4-BE49-F238E27FC236}">
                <a16:creationId xmlns:a16="http://schemas.microsoft.com/office/drawing/2014/main" id="{C260589D-0BFC-4A8B-BEDB-2AE5C5CFAF95}"/>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Evidence and decision</a:t>
            </a:r>
          </a:p>
        </p:txBody>
      </p:sp>
      <p:sp>
        <p:nvSpPr>
          <p:cNvPr id="8" name="Gallegos et al. separate metrics, evaluation datasets a">
            <a:extLst>
              <a:ext uri="{FF2B5EF4-FFF2-40B4-BE49-F238E27FC236}">
                <a16:creationId xmlns:a16="http://schemas.microsoft.com/office/drawing/2014/main" id="{B48B1D7D-AA47-4589-AD03-9CD58C23B219}"/>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Gallegos et al. separate metrics, evaluation datasets</a:t>
            </a:r>
          </a:p>
          <a:p>
            <a:pPr algn="l">
              <a:defRPr sz="1725" b="0">
                <a:solidFill>
                  <a:srgbClr val="142D45"/>
                </a:solidFill>
                <a:latin typeface="Arial"/>
                <a:ea typeface="Arial"/>
                <a:cs typeface="Arial"/>
              </a:defRPr>
            </a:pPr>
            <a:r>
              <a:rPr sz="1725" b="0">
                <a:solidFill>
                  <a:srgbClr val="142D45"/>
                </a:solidFill>
                <a:latin typeface="Arial"/>
                <a:ea typeface="Arial"/>
                <a:cs typeface="Arial"/>
              </a:rPr>
              <a:t>and mitigation stages. A single aggregate accuracy</a:t>
            </a:r>
          </a:p>
          <a:p>
            <a:pPr algn="l">
              <a:defRPr sz="1725" b="0">
                <a:solidFill>
                  <a:srgbClr val="142D45"/>
                </a:solidFill>
                <a:latin typeface="Arial"/>
                <a:ea typeface="Arial"/>
                <a:cs typeface="Arial"/>
              </a:defRPr>
            </a:pPr>
            <a:r>
              <a:rPr sz="1725" b="0">
                <a:solidFill>
                  <a:srgbClr val="142D45"/>
                </a:solidFill>
                <a:latin typeface="Arial"/>
                <a:ea typeface="Arial"/>
                <a:cs typeface="Arial"/>
              </a:rPr>
              <a:t>score can hide a relevant subgroup harm.</a:t>
            </a:r>
          </a:p>
        </p:txBody>
      </p:sp>
      <p:sp>
        <p:nvSpPr>
          <p:cNvPr id="9" name="Specify justified acceptance criteria before training; ">
            <a:extLst>
              <a:ext uri="{FF2B5EF4-FFF2-40B4-BE49-F238E27FC236}">
                <a16:creationId xmlns:a16="http://schemas.microsoft.com/office/drawing/2014/main" id="{8916C6F4-CAC5-4D4E-8006-E25680E4F7CF}"/>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Specify justified acceptance criteria before training;</a:t>
            </a:r>
          </a:p>
          <a:p>
            <a:pPr algn="l">
              <a:defRPr sz="1725" b="0">
                <a:solidFill>
                  <a:srgbClr val="142D45"/>
                </a:solidFill>
                <a:latin typeface="Arial"/>
                <a:ea typeface="Arial"/>
                <a:cs typeface="Arial"/>
              </a:defRPr>
            </a:pPr>
            <a:r>
              <a:rPr sz="1725" b="0">
                <a:solidFill>
                  <a:srgbClr val="142D45"/>
                </a:solidFill>
                <a:latin typeface="Arial"/>
                <a:ea typeface="Arial"/>
                <a:cs typeface="Arial"/>
              </a:rPr>
              <a:t>examine uncertainty and small-group sample limits.</a:t>
            </a:r>
          </a:p>
          <a:p>
            <a:pPr algn="l">
              <a:defRPr sz="1725" b="0">
                <a:solidFill>
                  <a:srgbClr val="142D45"/>
                </a:solidFill>
                <a:latin typeface="Arial"/>
                <a:ea typeface="Arial"/>
                <a:cs typeface="Arial"/>
              </a:defRPr>
            </a:pPr>
            <a:r>
              <a:rPr sz="1725" b="0">
                <a:solidFill>
                  <a:srgbClr val="142D45"/>
                </a:solidFill>
                <a:latin typeface="Arial"/>
                <a:ea typeface="Arial"/>
                <a:cs typeface="Arial"/>
              </a:rPr>
              <a:t>Mitigate, reevaluate, and document unresolved</a:t>
            </a:r>
          </a:p>
          <a:p>
            <a:pPr algn="l">
              <a:defRPr sz="1725" b="0">
                <a:solidFill>
                  <a:srgbClr val="142D45"/>
                </a:solidFill>
                <a:latin typeface="Arial"/>
                <a:ea typeface="Arial"/>
                <a:cs typeface="Arial"/>
              </a:defRPr>
            </a:pPr>
            <a:r>
              <a:rPr sz="1725" b="0">
                <a:solidFill>
                  <a:srgbClr val="142D45"/>
                </a:solidFill>
                <a:latin typeface="Arial"/>
                <a:ea typeface="Arial"/>
                <a:cs typeface="Arial"/>
              </a:rPr>
              <a:t>harms.</a:t>
            </a:r>
          </a:p>
        </p:txBody>
      </p:sp>
      <p:sp>
        <p:nvSpPr>
          <p:cNvPr id="10" name="Security and fairness have different objectives: encryp">
            <a:extLst>
              <a:ext uri="{FF2B5EF4-FFF2-40B4-BE49-F238E27FC236}">
                <a16:creationId xmlns:a16="http://schemas.microsoft.com/office/drawing/2014/main" id="{B2A995E3-965C-4711-9DE0-7FC65D9DDABD}"/>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Security and fairness have different objectives:</a:t>
            </a:r>
          </a:p>
          <a:p>
            <a:pPr algn="l">
              <a:defRPr sz="1725" b="0">
                <a:solidFill>
                  <a:srgbClr val="142D45"/>
                </a:solidFill>
                <a:latin typeface="Arial"/>
                <a:ea typeface="Arial"/>
                <a:cs typeface="Arial"/>
              </a:defRPr>
            </a:pPr>
            <a:r>
              <a:rPr sz="1725" b="0">
                <a:solidFill>
                  <a:srgbClr val="142D45"/>
                </a:solidFill>
                <a:latin typeface="Arial"/>
                <a:ea typeface="Arial"/>
                <a:cs typeface="Arial"/>
              </a:rPr>
              <a:t>encrypted gradients do not establish fair outputs.</a:t>
            </a:r>
          </a:p>
          <a:p>
            <a:pPr algn="l">
              <a:defRPr sz="1725" b="0">
                <a:solidFill>
                  <a:srgbClr val="142D45"/>
                </a:solidFill>
                <a:latin typeface="Arial"/>
                <a:ea typeface="Arial"/>
                <a:cs typeface="Arial"/>
              </a:defRPr>
            </a:pPr>
            <a:r>
              <a:rPr sz="1725" b="0">
                <a:solidFill>
                  <a:srgbClr val="142D45"/>
                </a:solidFill>
                <a:latin typeface="Arial"/>
                <a:ea typeface="Arial"/>
                <a:cs typeface="Arial"/>
              </a:rPr>
              <a:t>The source supports model-bias analysis, not a</a:t>
            </a:r>
          </a:p>
          <a:p>
            <a:pPr algn="l">
              <a:defRPr sz="1725" b="0">
                <a:solidFill>
                  <a:srgbClr val="142D45"/>
                </a:solidFill>
                <a:latin typeface="Arial"/>
                <a:ea typeface="Arial"/>
                <a:cs typeface="Arial"/>
              </a:defRPr>
            </a:pPr>
            <a:r>
              <a:rPr sz="1725" b="0">
                <a:solidFill>
                  <a:srgbClr val="142D45"/>
                </a:solidFill>
                <a:latin typeface="Arial"/>
                <a:ea typeface="Arial"/>
                <a:cs typeface="Arial"/>
              </a:rPr>
              <a:t>claim that HPC itself causes bias.</a:t>
            </a:r>
          </a:p>
        </p:txBody>
      </p:sp>
      <p:sp>
        <p:nvSpPr>
          <p:cNvPr id="11" name="Straight Connector 10">
            <a:extLst>
              <a:ext uri="{FF2B5EF4-FFF2-40B4-BE49-F238E27FC236}">
                <a16:creationId xmlns:a16="http://schemas.microsoft.com/office/drawing/2014/main" id="{B1212D49-E824-49E0-B9CE-4298FADE8D2F}"/>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04B29031-8402-4190-9B66-1C502C8D88B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12] Gallegos et al. 2024: fairness evaluation">
            <a:extLst>
              <a:ext uri="{FF2B5EF4-FFF2-40B4-BE49-F238E27FC236}">
                <a16:creationId xmlns:a16="http://schemas.microsoft.com/office/drawing/2014/main" id="{DA1DAEF1-5198-4799-A3B9-36B13D6CBF2F}"/>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[12] Gallegos et al. 2024: fairness evaluation; [15] OECD: rights, fairness and accountability; [16] NIST: Govern, Map, Measure, Manage</a:t>
            </a:r>
          </a:p>
        </p:txBody>
      </p:sp>
      <p:sp>
        <p:nvSpPr>
          <p:cNvPr id="14" name="25 / 46">
            <a:extLst>
              <a:ext uri="{FF2B5EF4-FFF2-40B4-BE49-F238E27FC236}">
                <a16:creationId xmlns:a16="http://schemas.microsoft.com/office/drawing/2014/main" id="{042BAB57-C147-4ED0-924E-D38E252417E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27 / 48</a:t>
            </a:r>
          </a:p>
        </p:txBody>
      </p:sp>
    </p:spTree>
    <p:extLst>
      <p:ext uri="{BB962C8B-B14F-4D97-AF65-F5344CB8AC3E}">
        <p14:creationId xmlns:p14="http://schemas.microsoft.com/office/powerpoint/2010/main" val="1289230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2 • Task 2(c)">
            <a:extLst>
              <a:ext uri="{FF2B5EF4-FFF2-40B4-BE49-F238E27FC236}">
                <a16:creationId xmlns:a16="http://schemas.microsoft.com/office/drawing/2014/main" id="{C40F89EE-958F-44DE-B816-ED6617090E4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a:t>
            </a:r>
          </a:p>
        </p:txBody>
      </p:sp>
      <p:sp>
        <p:nvSpPr>
          <p:cNvPr id="2" name="Unequal access to HPC resources">
            <a:extLst>
              <a:ext uri="{FF2B5EF4-FFF2-40B4-BE49-F238E27FC236}">
                <a16:creationId xmlns:a16="http://schemas.microsoft.com/office/drawing/2014/main" id="{8023B4A1-14C8-4194-BD81-7CDC368FBDF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Unequal access to HPC resources</a:t>
            </a:r>
          </a:p>
        </p:txBody>
      </p:sp>
      <p:graphicFrame>
        <p:nvGraphicFramePr>
          <p:cNvPr id="3" name="Table 2">
            <a:extLst>
              <a:ext uri="{FF2B5EF4-FFF2-40B4-BE49-F238E27FC236}">
                <a16:creationId xmlns:a16="http://schemas.microsoft.com/office/drawing/2014/main" id="{28DDE5A1-965E-49AD-9CD0-640A6340052E}"/>
              </a:ext>
            </a:extLst>
          </p:cNvPr>
          <p:cNvGraphicFramePr/>
          <p:nvPr/>
        </p:nvGraphicFramePr>
        <p:xfrm>
          <a:off x="609600" y="1571625"/>
          <a:ext cx="10972800" cy="2381250"/>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019550">
                  <a:extLst>
                    <a:ext uri="{9D8B030D-6E8A-4147-A177-3AD203B41FA5}">
                      <a16:colId xmlns:a16="http://schemas.microsoft.com/office/drawing/2014/main" val="20002"/>
                    </a:ext>
                  </a:extLst>
                </a:gridCol>
              </a:tblGrid>
              <a:tr h="533400">
                <a:tc>
                  <a:txBody>
                    <a:bodyPr/>
                    <a:lstStyle/>
                    <a:p>
                      <a:r>
                        <a:rPr sz="1725" b="1">
                          <a:solidFill>
                            <a:srgbClr val="FFFFFF"/>
                          </a:solidFill>
                          <a:latin typeface="Arial"/>
                          <a:ea typeface="Arial"/>
                          <a:cs typeface="Arial"/>
                        </a:rPr>
                        <a:t>Evidence</a:t>
                      </a:r>
                    </a:p>
                  </a:txBody>
                  <a:tcPr anchor="ctr">
                    <a:solidFill>
                      <a:srgbClr val="142D45"/>
                    </a:solidFill>
                  </a:tcPr>
                </a:tc>
                <a:tc>
                  <a:txBody>
                    <a:bodyPr/>
                    <a:lstStyle/>
                    <a:p>
                      <a:r>
                        <a:rPr sz="1725" b="1">
                          <a:solidFill>
                            <a:srgbClr val="FFFFFF"/>
                          </a:solidFill>
                          <a:latin typeface="Arial"/>
                          <a:ea typeface="Arial"/>
                          <a:cs typeface="Arial"/>
                        </a:rPr>
                        <a:t>What it shows</a:t>
                      </a:r>
                    </a:p>
                  </a:txBody>
                  <a:tcPr anchor="ctr">
                    <a:solidFill>
                      <a:srgbClr val="142D45"/>
                    </a:solidFill>
                  </a:tcPr>
                </a:tc>
                <a:tc>
                  <a:txBody>
                    <a:bodyPr/>
                    <a:lstStyle/>
                    <a:p>
                      <a:r>
                        <a:rPr sz="1725" b="1">
                          <a:solidFill>
                            <a:srgbClr val="FFFFFF"/>
                          </a:solidFill>
                          <a:latin typeface="Arial"/>
                          <a:ea typeface="Arial"/>
                          <a:cs typeface="Arial"/>
                        </a:rPr>
                        <a:t>What it cannot establish</a:t>
                      </a:r>
                    </a:p>
                  </a:txBody>
                  <a:tcPr anchor="ctr">
                    <a:solidFill>
                      <a:srgbClr val="142D45"/>
                    </a:solidFill>
                  </a:tcPr>
                </a:tc>
                <a:extLst>
                  <a:ext uri="{0D108BD9-81ED-4DB2-BD59-A6C34878D82A}">
                    <a16:rowId xmlns:a16="http://schemas.microsoft.com/office/drawing/2014/main" val="10000"/>
                  </a:ext>
                </a:extLst>
              </a:tr>
              <a:tr h="923925">
                <a:tc>
                  <a:txBody>
                    <a:bodyPr/>
                    <a:lstStyle/>
                    <a:p>
                      <a:r>
                        <a:rPr sz="1725" b="0">
                          <a:solidFill>
                            <a:srgbClr val="142D45"/>
                          </a:solidFill>
                          <a:latin typeface="Arial"/>
                          <a:ea typeface="Arial"/>
                          <a:cs typeface="Arial"/>
                        </a:rPr>
                        <a:t>Ahmed &amp; Wahed [13]</a:t>
                      </a:r>
                    </a:p>
                  </a:txBody>
                  <a:tcPr anchor="ctr">
                    <a:solidFill>
                      <a:srgbClr val="FFFFFF"/>
                    </a:solidFill>
                  </a:tcPr>
                </a:tc>
                <a:tc>
                  <a:txBody>
                    <a:bodyPr/>
                    <a:lstStyle/>
                    <a:p>
                      <a:r>
                        <a:rPr sz="1725" b="0">
                          <a:solidFill>
                            <a:srgbClr val="142D45"/>
                          </a:solidFill>
                          <a:latin typeface="Arial"/>
                          <a:ea typeface="Arial"/>
                          <a:cs typeface="Arial"/>
                        </a:rPr>
                        <a:t>Historical research participation and compute concentration</a:t>
                      </a:r>
                    </a:p>
                  </a:txBody>
                  <a:tcPr anchor="ctr">
                    <a:solidFill>
                      <a:srgbClr val="FFFFFF"/>
                    </a:solidFill>
                  </a:tcPr>
                </a:tc>
                <a:tc>
                  <a:txBody>
                    <a:bodyPr/>
                    <a:lstStyle/>
                    <a:p>
                      <a:r>
                        <a:rPr sz="1725" b="0">
                          <a:solidFill>
                            <a:srgbClr val="142D45"/>
                          </a:solidFill>
                          <a:latin typeface="Arial"/>
                          <a:ea typeface="Arial"/>
                          <a:cs typeface="Arial"/>
                        </a:rPr>
                        <a:t>Current worldwide access or a universal causal effect</a:t>
                      </a:r>
                    </a:p>
                  </a:txBody>
                  <a:tcPr anchor="ctr">
                    <a:solidFill>
                      <a:srgbClr val="FFFFFF"/>
                    </a:solidFill>
                  </a:tcPr>
                </a:tc>
                <a:extLst>
                  <a:ext uri="{0D108BD9-81ED-4DB2-BD59-A6C34878D82A}">
                    <a16:rowId xmlns:a16="http://schemas.microsoft.com/office/drawing/2014/main" val="10001"/>
                  </a:ext>
                </a:extLst>
              </a:tr>
              <a:tr h="923925">
                <a:tc>
                  <a:txBody>
                    <a:bodyPr/>
                    <a:lstStyle/>
                    <a:p>
                      <a:r>
                        <a:rPr sz="1725" b="0">
                          <a:solidFill>
                            <a:srgbClr val="142D45"/>
                          </a:solidFill>
                          <a:latin typeface="Arial"/>
                          <a:ea typeface="Arial"/>
                          <a:cs typeface="Arial"/>
                        </a:rPr>
                        <a:t>Strubell et al. [8]</a:t>
                      </a:r>
                    </a:p>
                  </a:txBody>
                  <a:tcPr anchor="ctr">
                    <a:solidFill>
                      <a:srgbClr val="FFFFFF"/>
                    </a:solidFill>
                  </a:tcPr>
                </a:tc>
                <a:tc>
                  <a:txBody>
                    <a:bodyPr/>
                    <a:lstStyle/>
                    <a:p>
                      <a:r>
                        <a:rPr sz="1725" b="0">
                          <a:solidFill>
                            <a:srgbClr val="142D45"/>
                          </a:solidFill>
                          <a:latin typeface="Arial"/>
                          <a:ea typeface="Arial"/>
                          <a:cs typeface="Arial"/>
                        </a:rPr>
                        <a:t>Selected NLP workload costs and financial barriers</a:t>
                      </a:r>
                    </a:p>
                  </a:txBody>
                  <a:tcPr anchor="ctr">
                    <a:solidFill>
                      <a:srgbClr val="FFFFFF"/>
                    </a:solidFill>
                  </a:tcPr>
                </a:tc>
                <a:tc>
                  <a:txBody>
                    <a:bodyPr/>
                    <a:lstStyle/>
                    <a:p>
                      <a:r>
                        <a:rPr sz="1725" b="0">
                          <a:solidFill>
                            <a:srgbClr val="142D45"/>
                          </a:solidFill>
                          <a:latin typeface="Arial"/>
                          <a:ea typeface="Arial"/>
                          <a:cs typeface="Arial"/>
                        </a:rPr>
                        <a:t>The cost of every current AI workload</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4" name="Current response: NAIRR supported &gt;600 teams and &gt;6,000">
            <a:extLst>
              <a:ext uri="{FF2B5EF4-FFF2-40B4-BE49-F238E27FC236}">
                <a16:creationId xmlns:a16="http://schemas.microsoft.com/office/drawing/2014/main" id="{025B08D1-35C8-425F-A2A2-CC63427A0DEF}"/>
              </a:ext>
            </a:extLst>
          </p:cNvPr>
          <p:cNvSpPr>
            <a:spLocks noGrp="1"/>
          </p:cNvSpPr>
          <p:nvPr/>
        </p:nvSpPr>
        <p:spPr>
          <a:xfrm>
            <a:off x="609600" y="4276725"/>
            <a:ext cx="10972800" cy="368808"/>
          </a:xfrm>
          <a:prstGeom prst="rect">
            <a:avLst/>
          </a:prstGeom>
          <a:noFill/>
          <a:ln w="0">
            <a:noFill/>
          </a:ln>
        </p:spPr>
        <p:txBody>
          <a:bodyPr wrap="square" lIns="0" tIns="0" rIns="0" bIns="0" anchor="t">
            <a:noAutofit/>
          </a:bodyPr>
          <a:lstStyle>
            <a:defPPr algn="l">
              <a:defRPr sz="2100" b="1">
                <a:solidFill>
                  <a:srgbClr val="007B83"/>
                </a:solidFill>
                <a:latin typeface="Arial"/>
                <a:ea typeface="Arial"/>
                <a:cs typeface="Arial"/>
              </a:defRPr>
            </a:defPPr>
          </a:lstStyle>
          <a:p>
            <a:pPr algn="l">
              <a:defRPr sz="2100" b="1">
                <a:solidFill>
                  <a:srgbClr val="007B83"/>
                </a:solidFill>
                <a:latin typeface="Arial"/>
                <a:ea typeface="Arial"/>
                <a:cs typeface="Arial"/>
              </a:defRPr>
            </a:pPr>
            <a:r>
              <a:rPr sz="2100" b="1">
                <a:solidFill>
                  <a:srgbClr val="007B83"/>
                </a:solidFill>
                <a:latin typeface="Arial"/>
                <a:ea typeface="Arial"/>
                <a:cs typeface="Arial"/>
              </a:rPr>
              <a:t>Current response: NAIRR supported &gt;600 teams and &gt;6,000 students</a:t>
            </a:r>
          </a:p>
        </p:txBody>
      </p:sp>
      <p:sp>
        <p:nvSpPr>
          <p:cNvPr id="5" name="NSF, March 2026; US programme since 2024. Reach does no">
            <a:extLst>
              <a:ext uri="{FF2B5EF4-FFF2-40B4-BE49-F238E27FC236}">
                <a16:creationId xmlns:a16="http://schemas.microsoft.com/office/drawing/2014/main" id="{361FE106-0D78-4446-9521-A0C8F23B929F}"/>
              </a:ext>
            </a:extLst>
          </p:cNvPr>
          <p:cNvSpPr>
            <a:spLocks noGrp="1"/>
          </p:cNvSpPr>
          <p:nvPr/>
        </p:nvSpPr>
        <p:spPr>
          <a:xfrm>
            <a:off x="609600" y="4676775"/>
            <a:ext cx="10972800" cy="297942"/>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NSF, March 2026; US programme since 2024. Reach does not prove global equality.</a:t>
            </a:r>
          </a:p>
        </p:txBody>
      </p:sp>
      <p:sp>
        <p:nvSpPr>
          <p:cNvPr id="6" name="Proposal: transparent GPU-hour allocation, smaller-inst">
            <a:extLst>
              <a:ext uri="{FF2B5EF4-FFF2-40B4-BE49-F238E27FC236}">
                <a16:creationId xmlns:a16="http://schemas.microsoft.com/office/drawing/2014/main" id="{AA039C5A-8CFF-4DD0-BE0F-713CB9E8A84E}"/>
              </a:ext>
            </a:extLst>
          </p:cNvPr>
          <p:cNvSpPr>
            <a:spLocks noGrp="1"/>
          </p:cNvSpPr>
          <p:nvPr/>
        </p:nvSpPr>
        <p:spPr>
          <a:xfrm>
            <a:off x="609600" y="5124450"/>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Proposal: transparent GPU-hour allocation, smaller-institution support and appeals. Trade-off: reserved</a:t>
            </a:r>
          </a:p>
          <a:p>
            <a:pPr algn="l">
              <a:defRPr sz="1800" b="0">
                <a:solidFill>
                  <a:srgbClr val="142D45"/>
                </a:solidFill>
                <a:latin typeface="Arial"/>
                <a:ea typeface="Arial"/>
                <a:cs typeface="Arial"/>
              </a:defRPr>
            </a:pPr>
            <a:r>
              <a:rPr sz="1800" b="0">
                <a:solidFill>
                  <a:srgbClr val="142D45"/>
                </a:solidFill>
                <a:latin typeface="Arial"/>
                <a:ea typeface="Arial"/>
                <a:cs typeface="Arial"/>
              </a:rPr>
              <a:t>access can reduce immediate utilization or delay urgent jobs.</a:t>
            </a:r>
          </a:p>
        </p:txBody>
      </p:sp>
      <p:sp>
        <p:nvSpPr>
          <p:cNvPr id="7" name="Straight Connector 6">
            <a:extLst>
              <a:ext uri="{FF2B5EF4-FFF2-40B4-BE49-F238E27FC236}">
                <a16:creationId xmlns:a16="http://schemas.microsoft.com/office/drawing/2014/main" id="{0C5DF58D-621D-4D69-AB38-FEBC5AE5DFDC}"/>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8" name="Shared capacity helps; allocation, expertise and reprod">
            <a:extLst>
              <a:ext uri="{FF2B5EF4-FFF2-40B4-BE49-F238E27FC236}">
                <a16:creationId xmlns:a16="http://schemas.microsoft.com/office/drawing/2014/main" id="{0A0E0B22-E121-468A-869F-837E6765B1D2}"/>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Shared capacity helps; allocation, expertise and reproducibility still need support.</a:t>
            </a:r>
          </a:p>
        </p:txBody>
      </p:sp>
      <p:sp>
        <p:nvSpPr>
          <p:cNvPr id="9" name="Straight Connector 8">
            <a:extLst>
              <a:ext uri="{FF2B5EF4-FFF2-40B4-BE49-F238E27FC236}">
                <a16:creationId xmlns:a16="http://schemas.microsoft.com/office/drawing/2014/main" id="{830A5059-B027-42FA-A1E7-D91D9F6435C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7] NSF 2026: US programme reach; [8] Strubell">
            <a:extLst>
              <a:ext uri="{FF2B5EF4-FFF2-40B4-BE49-F238E27FC236}">
                <a16:creationId xmlns:a16="http://schemas.microsoft.com/office/drawing/2014/main" id="{7665C087-3D9A-4EFD-8DD7-B17A210A45DE}"/>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1" name="26 / 46">
            <a:extLst>
              <a:ext uri="{FF2B5EF4-FFF2-40B4-BE49-F238E27FC236}">
                <a16:creationId xmlns:a16="http://schemas.microsoft.com/office/drawing/2014/main" id="{4C015614-2B20-41E3-971D-63A457E5B538}"/>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28 / 48</a:t>
            </a:r>
          </a:p>
        </p:txBody>
      </p:sp>
    </p:spTree>
    <p:extLst>
      <p:ext uri="{BB962C8B-B14F-4D97-AF65-F5344CB8AC3E}">
        <p14:creationId xmlns:p14="http://schemas.microsoft.com/office/powerpoint/2010/main" val="553436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2 • Task 2(c) • Research and allocation">
            <a:extLst>
              <a:ext uri="{FF2B5EF4-FFF2-40B4-BE49-F238E27FC236}">
                <a16:creationId xmlns:a16="http://schemas.microsoft.com/office/drawing/2014/main" id="{885EFE98-56F0-4F1D-ABAD-7C4F60D83214}"/>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2(c) • Research and allocation decisions</a:t>
            </a:r>
          </a:p>
        </p:txBody>
      </p:sp>
      <p:sp>
        <p:nvSpPr>
          <p:cNvPr id="2" name="Access research and allocation choices">
            <a:extLst>
              <a:ext uri="{FF2B5EF4-FFF2-40B4-BE49-F238E27FC236}">
                <a16:creationId xmlns:a16="http://schemas.microsoft.com/office/drawing/2014/main" id="{291E4F96-D598-4492-9DBE-5B6317677954}"/>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Access research and allocation choices</a:t>
            </a:r>
          </a:p>
        </p:txBody>
      </p:sp>
      <p:sp>
        <p:nvSpPr>
          <p:cNvPr id="3" name="Research comparison">
            <a:extLst>
              <a:ext uri="{FF2B5EF4-FFF2-40B4-BE49-F238E27FC236}">
                <a16:creationId xmlns:a16="http://schemas.microsoft.com/office/drawing/2014/main" id="{6BC3097A-15EC-4468-A46E-E2219DB3FDC9}"/>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Research comparison</a:t>
            </a:r>
          </a:p>
        </p:txBody>
      </p:sp>
      <p:sp>
        <p:nvSpPr>
          <p:cNvPr id="4" name="Ahmed and Wahed study historical conference participati">
            <a:extLst>
              <a:ext uri="{FF2B5EF4-FFF2-40B4-BE49-F238E27FC236}">
                <a16:creationId xmlns:a16="http://schemas.microsoft.com/office/drawing/2014/main" id="{5603F8B1-D94D-46E7-9BAB-FF74009BC320}"/>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Ahmed and Wahed study historical conference</a:t>
            </a:r>
          </a:p>
          <a:p>
            <a:pPr algn="l">
              <a:defRPr sz="1725" b="0">
                <a:solidFill>
                  <a:srgbClr val="142D45"/>
                </a:solidFill>
                <a:latin typeface="Arial"/>
                <a:ea typeface="Arial"/>
                <a:cs typeface="Arial"/>
              </a:defRPr>
            </a:pPr>
            <a:r>
              <a:rPr sz="1725" b="0">
                <a:solidFill>
                  <a:srgbClr val="142D45"/>
                </a:solidFill>
                <a:latin typeface="Arial"/>
                <a:ea typeface="Arial"/>
                <a:cs typeface="Arial"/>
              </a:rPr>
              <a:t>participation and a compute divide. Strubell et al.</a:t>
            </a:r>
          </a:p>
          <a:p>
            <a:pPr algn="l">
              <a:defRPr sz="1725" b="0">
                <a:solidFill>
                  <a:srgbClr val="142D45"/>
                </a:solidFill>
                <a:latin typeface="Arial"/>
                <a:ea typeface="Arial"/>
                <a:cs typeface="Arial"/>
              </a:defRPr>
            </a:pPr>
            <a:r>
              <a:rPr sz="1725" b="0">
                <a:solidFill>
                  <a:srgbClr val="142D45"/>
                </a:solidFill>
                <a:latin typeface="Arial"/>
                <a:ea typeface="Arial"/>
                <a:cs typeface="Arial"/>
              </a:rPr>
              <a:t>examine financial/resource barriers in selected NLP</a:t>
            </a:r>
          </a:p>
          <a:p>
            <a:pPr algn="l">
              <a:defRPr sz="1725" b="0">
                <a:solidFill>
                  <a:srgbClr val="142D45"/>
                </a:solidFill>
                <a:latin typeface="Arial"/>
                <a:ea typeface="Arial"/>
                <a:cs typeface="Arial"/>
              </a:defRPr>
            </a:pPr>
            <a:r>
              <a:rPr sz="1725" b="0">
                <a:solidFill>
                  <a:srgbClr val="142D45"/>
                </a:solidFill>
                <a:latin typeface="Arial"/>
                <a:ea typeface="Arial"/>
                <a:cs typeface="Arial"/>
              </a:rPr>
              <a:t>workloads.</a:t>
            </a:r>
          </a:p>
        </p:txBody>
      </p:sp>
      <p:sp>
        <p:nvSpPr>
          <p:cNvPr id="5" name="The first concerns institutional participation; the sec">
            <a:extLst>
              <a:ext uri="{FF2B5EF4-FFF2-40B4-BE49-F238E27FC236}">
                <a16:creationId xmlns:a16="http://schemas.microsoft.com/office/drawing/2014/main" id="{783B8D08-4D05-40BF-BB7C-1C8B0319176A}"/>
              </a:ext>
            </a:extLst>
          </p:cNvPr>
          <p:cNvSpPr>
            <a:spLocks noGrp="1"/>
          </p:cNvSpPr>
          <p:nvPr/>
        </p:nvSpPr>
        <p:spPr>
          <a:xfrm>
            <a:off x="609600" y="3267837"/>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first concerns institutional participation; the</a:t>
            </a:r>
          </a:p>
          <a:p>
            <a:pPr algn="l">
              <a:defRPr sz="1725" b="0">
                <a:solidFill>
                  <a:srgbClr val="142D45"/>
                </a:solidFill>
                <a:latin typeface="Arial"/>
                <a:ea typeface="Arial"/>
                <a:cs typeface="Arial"/>
              </a:defRPr>
            </a:pPr>
            <a:r>
              <a:rPr sz="1725" b="0">
                <a:solidFill>
                  <a:srgbClr val="142D45"/>
                </a:solidFill>
                <a:latin typeface="Arial"/>
                <a:ea typeface="Arial"/>
                <a:cs typeface="Arial"/>
              </a:rPr>
              <a:t>second concerns workload cost. Together they</a:t>
            </a:r>
          </a:p>
          <a:p>
            <a:pPr algn="l">
              <a:defRPr sz="1725" b="0">
                <a:solidFill>
                  <a:srgbClr val="142D45"/>
                </a:solidFill>
                <a:latin typeface="Arial"/>
                <a:ea typeface="Arial"/>
                <a:cs typeface="Arial"/>
              </a:defRPr>
            </a:pPr>
            <a:r>
              <a:rPr sz="1725" b="0">
                <a:solidFill>
                  <a:srgbClr val="142D45"/>
                </a:solidFill>
                <a:latin typeface="Arial"/>
                <a:ea typeface="Arial"/>
                <a:cs typeface="Arial"/>
              </a:rPr>
              <a:t>motivate access support, but neither is a current</a:t>
            </a:r>
          </a:p>
          <a:p>
            <a:pPr algn="l">
              <a:defRPr sz="1725" b="0">
                <a:solidFill>
                  <a:srgbClr val="142D45"/>
                </a:solidFill>
                <a:latin typeface="Arial"/>
                <a:ea typeface="Arial"/>
                <a:cs typeface="Arial"/>
              </a:defRPr>
            </a:pPr>
            <a:r>
              <a:rPr sz="1725" b="0">
                <a:solidFill>
                  <a:srgbClr val="142D45"/>
                </a:solidFill>
                <a:latin typeface="Arial"/>
                <a:ea typeface="Arial"/>
                <a:cs typeface="Arial"/>
              </a:rPr>
              <a:t>worldwide access census.</a:t>
            </a:r>
          </a:p>
        </p:txBody>
      </p:sp>
      <p:sp>
        <p:nvSpPr>
          <p:cNvPr id="6" name="NSF’s March 2026 participation figures describe a US sh">
            <a:extLst>
              <a:ext uri="{FF2B5EF4-FFF2-40B4-BE49-F238E27FC236}">
                <a16:creationId xmlns:a16="http://schemas.microsoft.com/office/drawing/2014/main" id="{64EA389B-715E-4633-88FB-CE83AD6B8ACE}"/>
              </a:ext>
            </a:extLst>
          </p:cNvPr>
          <p:cNvSpPr>
            <a:spLocks noGrp="1"/>
          </p:cNvSpPr>
          <p:nvPr/>
        </p:nvSpPr>
        <p:spPr>
          <a:xfrm>
            <a:off x="609600" y="4563999"/>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NSF’s March 2026 participation figures describe a</a:t>
            </a:r>
          </a:p>
          <a:p>
            <a:pPr algn="l">
              <a:defRPr sz="1725" b="0">
                <a:solidFill>
                  <a:srgbClr val="142D45"/>
                </a:solidFill>
                <a:latin typeface="Arial"/>
                <a:ea typeface="Arial"/>
                <a:cs typeface="Arial"/>
              </a:defRPr>
            </a:pPr>
            <a:r>
              <a:rPr sz="1725" b="0">
                <a:solidFill>
                  <a:srgbClr val="142D45"/>
                </a:solidFill>
                <a:latin typeface="Arial"/>
                <a:ea typeface="Arial"/>
                <a:cs typeface="Arial"/>
              </a:rPr>
              <a:t>US shared-resource response. Programme reach is</a:t>
            </a:r>
          </a:p>
          <a:p>
            <a:pPr algn="l">
              <a:defRPr sz="1725" b="0">
                <a:solidFill>
                  <a:srgbClr val="142D45"/>
                </a:solidFill>
                <a:latin typeface="Arial"/>
                <a:ea typeface="Arial"/>
                <a:cs typeface="Arial"/>
              </a:defRPr>
            </a:pPr>
            <a:r>
              <a:rPr sz="1725" b="0">
                <a:solidFill>
                  <a:srgbClr val="142D45"/>
                </a:solidFill>
                <a:latin typeface="Arial"/>
                <a:ea typeface="Arial"/>
                <a:cs typeface="Arial"/>
              </a:rPr>
              <a:t>not proof of equal allocation, global access or</a:t>
            </a:r>
          </a:p>
          <a:p>
            <a:pPr algn="l">
              <a:defRPr sz="1725" b="0">
                <a:solidFill>
                  <a:srgbClr val="142D45"/>
                </a:solidFill>
                <a:latin typeface="Arial"/>
                <a:ea typeface="Arial"/>
                <a:cs typeface="Arial"/>
              </a:defRPr>
            </a:pPr>
            <a:r>
              <a:rPr sz="1725" b="0">
                <a:solidFill>
                  <a:srgbClr val="142D45"/>
                </a:solidFill>
                <a:latin typeface="Arial"/>
                <a:ea typeface="Arial"/>
                <a:cs typeface="Arial"/>
              </a:rPr>
              <a:t>eliminated inequality.</a:t>
            </a:r>
          </a:p>
        </p:txBody>
      </p:sp>
      <p:sp>
        <p:nvSpPr>
          <p:cNvPr id="7" name="Proposed shared-cluster policy">
            <a:extLst>
              <a:ext uri="{FF2B5EF4-FFF2-40B4-BE49-F238E27FC236}">
                <a16:creationId xmlns:a16="http://schemas.microsoft.com/office/drawing/2014/main" id="{2B5F31FD-6D1B-470F-B761-766D51FF4A6B}"/>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Proposed shared-cluster policy</a:t>
            </a:r>
          </a:p>
        </p:txBody>
      </p:sp>
      <p:sp>
        <p:nvSpPr>
          <p:cNvPr id="8" name="Publish eligibility, GPU-hour limits and allocation cri">
            <a:extLst>
              <a:ext uri="{FF2B5EF4-FFF2-40B4-BE49-F238E27FC236}">
                <a16:creationId xmlns:a16="http://schemas.microsoft.com/office/drawing/2014/main" id="{AD144FA0-1576-4659-A4B4-61CE444FCA92}"/>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Publish eligibility, GPU-hour limits and allocation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criteria; reserve some capacity for teaching, smaller</a:t>
            </a:r>
          </a:p>
          <a:p>
            <a:pPr algn="l">
              <a:defRPr sz="1725" b="0">
                <a:solidFill>
                  <a:srgbClr val="142D45"/>
                </a:solidFill>
                <a:latin typeface="Arial"/>
                <a:ea typeface="Arial"/>
                <a:cs typeface="Arial"/>
              </a:defRPr>
            </a:pPr>
            <a:r>
              <a:rPr sz="1725" b="0">
                <a:solidFill>
                  <a:srgbClr val="142D45"/>
                </a:solidFill>
                <a:latin typeface="Arial"/>
                <a:ea typeface="Arial"/>
                <a:cs typeface="Arial"/>
              </a:rPr>
              <a:t>institutions and independent replication.</a:t>
            </a:r>
          </a:p>
        </p:txBody>
      </p:sp>
      <p:sp>
        <p:nvSpPr>
          <p:cNvPr id="9" name="Provide application support and training; allow appeals">
            <a:extLst>
              <a:ext uri="{FF2B5EF4-FFF2-40B4-BE49-F238E27FC236}">
                <a16:creationId xmlns:a16="http://schemas.microsoft.com/office/drawing/2014/main" id="{3597047B-DA38-4586-AFA2-2B365423112B}"/>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Provide application support and training; allow</a:t>
            </a:r>
          </a:p>
          <a:p>
            <a:pPr algn="l">
              <a:defRPr sz="1725" b="0">
                <a:solidFill>
                  <a:srgbClr val="142D45"/>
                </a:solidFill>
                <a:latin typeface="Arial"/>
                <a:ea typeface="Arial"/>
                <a:cs typeface="Arial"/>
              </a:defRPr>
            </a:pPr>
            <a:r>
              <a:rPr sz="1725" b="0">
                <a:solidFill>
                  <a:srgbClr val="142D45"/>
                </a:solidFill>
                <a:latin typeface="Arial"/>
                <a:ea typeface="Arial"/>
                <a:cs typeface="Arial"/>
              </a:rPr>
              <a:t>appeals. Track applicant-to-award outcomes and</a:t>
            </a:r>
          </a:p>
          <a:p>
            <a:pPr algn="l">
              <a:defRPr sz="1725" b="0">
                <a:solidFill>
                  <a:srgbClr val="142D45"/>
                </a:solidFill>
                <a:latin typeface="Arial"/>
                <a:ea typeface="Arial"/>
                <a:cs typeface="Arial"/>
              </a:defRPr>
            </a:pPr>
            <a:r>
              <a:rPr sz="1725" b="0">
                <a:solidFill>
                  <a:srgbClr val="142D45"/>
                </a:solidFill>
                <a:latin typeface="Arial"/>
                <a:ea typeface="Arial"/>
                <a:cs typeface="Arial"/>
              </a:rPr>
              <a:t>waiting times across institution groups with privacy</a:t>
            </a:r>
          </a:p>
          <a:p>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10" name="Trade-offs: reservations may reduce immediate utilizati">
            <a:extLst>
              <a:ext uri="{FF2B5EF4-FFF2-40B4-BE49-F238E27FC236}">
                <a16:creationId xmlns:a16="http://schemas.microsoft.com/office/drawing/2014/main" id="{EAF9232A-AC8F-4D00-9D5E-9BAE19CF4C53}"/>
              </a:ext>
            </a:extLst>
          </p:cNvPr>
          <p:cNvSpPr>
            <a:spLocks noGrp="1"/>
          </p:cNvSpPr>
          <p:nvPr/>
        </p:nvSpPr>
        <p:spPr>
          <a:xfrm>
            <a:off x="6419850" y="4292346"/>
            <a:ext cx="5124450" cy="1396365"/>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Trade-offs: reservations may reduce immediate</a:t>
            </a:r>
          </a:p>
          <a:p>
            <a:pPr algn="l">
              <a:defRPr sz="1725" b="0">
                <a:solidFill>
                  <a:srgbClr val="142D45"/>
                </a:solidFill>
                <a:latin typeface="Arial"/>
                <a:ea typeface="Arial"/>
                <a:cs typeface="Arial"/>
              </a:defRPr>
            </a:pPr>
            <a:r>
              <a:rPr sz="1725" b="0">
                <a:solidFill>
                  <a:srgbClr val="142D45"/>
                </a:solidFill>
                <a:latin typeface="Arial"/>
                <a:ea typeface="Arial"/>
                <a:cs typeface="Arial"/>
              </a:rPr>
              <a:t>utilization; queueing can delay urgent work;</a:t>
            </a:r>
          </a:p>
          <a:p>
            <a:pPr algn="l">
              <a:defRPr sz="1725" b="0">
                <a:solidFill>
                  <a:srgbClr val="142D45"/>
                </a:solidFill>
                <a:latin typeface="Arial"/>
                <a:ea typeface="Arial"/>
                <a:cs typeface="Arial"/>
              </a:defRPr>
            </a:pPr>
            <a:r>
              <a:rPr sz="1725" b="0">
                <a:solidFill>
                  <a:srgbClr val="142D45"/>
                </a:solidFill>
                <a:latin typeface="Arial"/>
                <a:ea typeface="Arial"/>
                <a:cs typeface="Arial"/>
              </a:rPr>
              <a:t>unrestricted access can conflict with</a:t>
            </a:r>
          </a:p>
          <a:p>
            <a:pPr algn="l">
              <a:defRPr sz="1725" b="0">
                <a:solidFill>
                  <a:srgbClr val="142D45"/>
                </a:solidFill>
                <a:latin typeface="Arial"/>
                <a:ea typeface="Arial"/>
                <a:cs typeface="Arial"/>
              </a:defRPr>
            </a:pPr>
            <a:r>
              <a:rPr sz="1725" b="0">
                <a:solidFill>
                  <a:srgbClr val="142D45"/>
                </a:solidFill>
                <a:latin typeface="Arial"/>
                <a:ea typeface="Arial"/>
                <a:cs typeface="Arial"/>
              </a:rPr>
              <a:t>security/budgets. Prevent repeated deferral or</a:t>
            </a:r>
          </a:p>
          <a:p>
            <a:pPr algn="l">
              <a:defRPr sz="1725" b="0">
                <a:solidFill>
                  <a:srgbClr val="142D45"/>
                </a:solidFill>
                <a:latin typeface="Arial"/>
                <a:ea typeface="Arial"/>
                <a:cs typeface="Arial"/>
              </a:defRPr>
            </a:pPr>
            <a:r>
              <a:rPr sz="1725" b="0">
                <a:solidFill>
                  <a:srgbClr val="142D45"/>
                </a:solidFill>
                <a:latin typeface="Arial"/>
                <a:ea typeface="Arial"/>
                <a:cs typeface="Arial"/>
              </a:rPr>
              <a:t>resource starvation.</a:t>
            </a:r>
          </a:p>
        </p:txBody>
      </p:sp>
      <p:sp>
        <p:nvSpPr>
          <p:cNvPr id="11" name="Straight Connector 10">
            <a:extLst>
              <a:ext uri="{FF2B5EF4-FFF2-40B4-BE49-F238E27FC236}">
                <a16:creationId xmlns:a16="http://schemas.microsoft.com/office/drawing/2014/main" id="{D559A0FE-7A2A-4773-BCC1-9E30963E336C}"/>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DC50D72C-47BD-4915-A009-26A97CC67D89}"/>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7] NSF 2026: US programme reach; [8] Strubell">
            <a:extLst>
              <a:ext uri="{FF2B5EF4-FFF2-40B4-BE49-F238E27FC236}">
                <a16:creationId xmlns:a16="http://schemas.microsoft.com/office/drawing/2014/main" id="{E6CAF63F-8D4D-45EA-B2B5-97280EFAA0A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[7] NSF 2026: US programme reach; [8] Strubell et al. 2019: cost and equity; [13] Ahmed and Wahed 2020: compute divide</a:t>
            </a:r>
          </a:p>
        </p:txBody>
      </p:sp>
      <p:sp>
        <p:nvSpPr>
          <p:cNvPr id="14" name="27 / 46">
            <a:extLst>
              <a:ext uri="{FF2B5EF4-FFF2-40B4-BE49-F238E27FC236}">
                <a16:creationId xmlns:a16="http://schemas.microsoft.com/office/drawing/2014/main" id="{0BE8B5B6-E279-4A4C-84D3-603D2CAB3DD8}"/>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29 / 48</a:t>
            </a:r>
          </a:p>
        </p:txBody>
      </p:sp>
    </p:spTree>
    <p:extLst>
      <p:ext uri="{BB962C8B-B14F-4D97-AF65-F5344CB8AC3E}">
        <p14:creationId xmlns:p14="http://schemas.microsoft.com/office/powerpoint/2010/main" val="380235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5092C37E-7A35-4936-B28D-00399F9C6756}"/>
              </a:ext>
            </a:extLst>
          </p:cNvPr>
          <p:cNvCxnSpPr>
            <a:stCxn id="4" idx="3"/>
            <a:endCxn id="5" idx="1"/>
          </p:cNvCxnSpPr>
          <p:nvPr/>
        </p:nvCxnSpPr>
        <p:spPr>
          <a:xfrm>
            <a:off x="7581900" y="2266950"/>
            <a:ext cx="1028700" cy="0"/>
          </a:xfrm>
          <a:prstGeom prst="straightConnector1">
            <a:avLst/>
          </a:prstGeom>
          <a:ln w="19050">
            <a:solidFill>
              <a:srgbClr val="007B83"/>
            </a:solidFill>
            <a:prstDash val="solid"/>
            <a:tailEnd type="arrow" w="med" len="med"/>
          </a:ln>
        </p:spPr>
      </p:cxnSp>
      <p:cxnSp>
        <p:nvCxnSpPr>
          <p:cNvPr id="6" name="Straight Arrow Connector 5">
            <a:extLst>
              <a:ext uri="{FF2B5EF4-FFF2-40B4-BE49-F238E27FC236}">
                <a16:creationId xmlns:a16="http://schemas.microsoft.com/office/drawing/2014/main" id="{5B30C2F5-32AE-4685-87BC-0F9347C3665B}"/>
              </a:ext>
            </a:extLst>
          </p:cNvPr>
          <p:cNvCxnSpPr>
            <a:stCxn id="3" idx="3"/>
            <a:endCxn id="4" idx="1"/>
          </p:cNvCxnSpPr>
          <p:nvPr/>
        </p:nvCxnSpPr>
        <p:spPr>
          <a:xfrm>
            <a:off x="3581400" y="2266950"/>
            <a:ext cx="1028700" cy="0"/>
          </a:xfrm>
          <a:prstGeom prst="straightConnector1">
            <a:avLst/>
          </a:prstGeom>
          <a:ln w="19050">
            <a:solidFill>
              <a:srgbClr val="007B83"/>
            </a:solidFill>
            <a:prstDash val="solid"/>
            <a:tailEnd type="arrow" w="med" len="med"/>
          </a:ln>
        </p:spPr>
      </p:cxnSp>
      <p:sp>
        <p:nvSpPr>
          <p:cNvPr id="17" name="Appendix • Task 2 • Task 2(d)">
            <a:extLst>
              <a:ext uri="{FF2B5EF4-FFF2-40B4-BE49-F238E27FC236}">
                <a16:creationId xmlns:a16="http://schemas.microsoft.com/office/drawing/2014/main" id="{A90F2A14-E3F1-4566-BA5F-5DD3E3767E79}"/>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a:t>
            </a:r>
          </a:p>
        </p:txBody>
      </p:sp>
      <p:sp>
        <p:nvSpPr>
          <p:cNvPr id="2" name="An accountable HPC approval process">
            <a:extLst>
              <a:ext uri="{FF2B5EF4-FFF2-40B4-BE49-F238E27FC236}">
                <a16:creationId xmlns:a16="http://schemas.microsoft.com/office/drawing/2014/main" id="{CC469B9F-0898-4EE5-8F8E-BC4E80C7834F}"/>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An accountable HPC approval process</a:t>
            </a:r>
          </a:p>
        </p:txBody>
      </p:sp>
      <p:sp>
        <p:nvSpPr>
          <p:cNvPr id="3" name="Rectangle 2">
            <a:extLst>
              <a:ext uri="{FF2B5EF4-FFF2-40B4-BE49-F238E27FC236}">
                <a16:creationId xmlns:a16="http://schemas.microsoft.com/office/drawing/2014/main" id="{ECC04982-71E1-435F-981B-589F41E5C6EF}"/>
              </a:ext>
            </a:extLst>
          </p:cNvPr>
          <p:cNvSpPr>
            <a:spLocks noGrp="1"/>
          </p:cNvSpPr>
          <p:nvPr/>
        </p:nvSpPr>
        <p:spPr>
          <a:xfrm>
            <a:off x="609600" y="1752600"/>
            <a:ext cx="2971800" cy="1028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Define outcome</a:t>
            </a:r>
          </a:p>
          <a:p>
            <a:pPr algn="ctr">
              <a:defRPr sz="1725">
                <a:solidFill>
                  <a:srgbClr val="142D45"/>
                </a:solidFill>
                <a:latin typeface="Arial"/>
                <a:ea typeface="Arial"/>
                <a:cs typeface="Arial"/>
              </a:defRPr>
            </a:pPr>
            <a:r>
              <a:rPr sz="1725">
                <a:solidFill>
                  <a:srgbClr val="142D45"/>
                </a:solidFill>
                <a:latin typeface="Arial"/>
                <a:ea typeface="Arial"/>
                <a:cs typeface="Arial"/>
              </a:rPr>
              <a:t>+ accountable owner</a:t>
            </a:r>
          </a:p>
        </p:txBody>
      </p:sp>
      <p:sp>
        <p:nvSpPr>
          <p:cNvPr id="4" name="Rectangle 3">
            <a:extLst>
              <a:ext uri="{FF2B5EF4-FFF2-40B4-BE49-F238E27FC236}">
                <a16:creationId xmlns:a16="http://schemas.microsoft.com/office/drawing/2014/main" id="{0270C0AF-1AD3-4111-A0F7-FEE1037BEA07}"/>
              </a:ext>
            </a:extLst>
          </p:cNvPr>
          <p:cNvSpPr>
            <a:spLocks noGrp="1"/>
          </p:cNvSpPr>
          <p:nvPr/>
        </p:nvSpPr>
        <p:spPr>
          <a:xfrm>
            <a:off x="4610100" y="1752600"/>
            <a:ext cx="2971800" cy="1028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Measure quality,</a:t>
            </a:r>
          </a:p>
          <a:p>
            <a:pPr algn="ctr">
              <a:defRPr sz="1725">
                <a:solidFill>
                  <a:srgbClr val="142D45"/>
                </a:solidFill>
                <a:latin typeface="Arial"/>
                <a:ea typeface="Arial"/>
                <a:cs typeface="Arial"/>
              </a:defRPr>
            </a:pPr>
            <a:r>
              <a:rPr sz="1725">
                <a:solidFill>
                  <a:srgbClr val="142D45"/>
                </a:solidFill>
                <a:latin typeface="Arial"/>
                <a:ea typeface="Arial"/>
                <a:cs typeface="Arial"/>
              </a:rPr>
              <a:t>energy and harms</a:t>
            </a:r>
          </a:p>
        </p:txBody>
      </p:sp>
      <p:sp>
        <p:nvSpPr>
          <p:cNvPr id="5" name="Rectangle 4">
            <a:extLst>
              <a:ext uri="{FF2B5EF4-FFF2-40B4-BE49-F238E27FC236}">
                <a16:creationId xmlns:a16="http://schemas.microsoft.com/office/drawing/2014/main" id="{9FB530E4-D3AC-4F70-B9F0-BC68C0456237}"/>
              </a:ext>
            </a:extLst>
          </p:cNvPr>
          <p:cNvSpPr>
            <a:spLocks noGrp="1"/>
          </p:cNvSpPr>
          <p:nvPr/>
        </p:nvSpPr>
        <p:spPr>
          <a:xfrm>
            <a:off x="8610600" y="1752600"/>
            <a:ext cx="2971800" cy="10287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Approve / defer /</a:t>
            </a:r>
          </a:p>
          <a:p>
            <a:pPr algn="ctr">
              <a:defRPr sz="1725">
                <a:solidFill>
                  <a:srgbClr val="142D45"/>
                </a:solidFill>
                <a:latin typeface="Arial"/>
                <a:ea typeface="Arial"/>
                <a:cs typeface="Arial"/>
              </a:defRPr>
            </a:pPr>
            <a:r>
              <a:rPr sz="1725">
                <a:solidFill>
                  <a:srgbClr val="142D45"/>
                </a:solidFill>
                <a:latin typeface="Arial"/>
                <a:ea typeface="Arial"/>
                <a:cs typeface="Arial"/>
              </a:rPr>
              <a:t>reduce scale / redesign</a:t>
            </a:r>
          </a:p>
        </p:txBody>
      </p:sp>
      <p:sp>
        <p:nvSpPr>
          <p:cNvPr id="8" name="Green AI: efficiency evidence [10]  •  Carbon-aware sch">
            <a:extLst>
              <a:ext uri="{FF2B5EF4-FFF2-40B4-BE49-F238E27FC236}">
                <a16:creationId xmlns:a16="http://schemas.microsoft.com/office/drawing/2014/main" id="{FADE5E30-56FE-4F1D-9249-41A9A86E7992}"/>
              </a:ext>
            </a:extLst>
          </p:cNvPr>
          <p:cNvSpPr>
            <a:spLocks noGrp="1"/>
          </p:cNvSpPr>
          <p:nvPr/>
        </p:nvSpPr>
        <p:spPr>
          <a:xfrm>
            <a:off x="609600" y="3171825"/>
            <a:ext cx="10972800" cy="321564"/>
          </a:xfrm>
          <a:prstGeom prst="rect">
            <a:avLst/>
          </a:prstGeom>
          <a:noFill/>
          <a:ln w="0">
            <a:noFill/>
          </a:ln>
        </p:spPr>
        <p:txBody>
          <a:bodyPr wrap="square" lIns="0" tIns="0" rIns="0" bIns="0" anchor="t">
            <a:noAutofit/>
          </a:bodyPr>
          <a:lstStyle>
            <a:defPPr algn="l">
              <a:defRPr sz="1800" b="1">
                <a:solidFill>
                  <a:srgbClr val="007B83"/>
                </a:solidFill>
                <a:latin typeface="Arial"/>
                <a:ea typeface="Arial"/>
                <a:cs typeface="Arial"/>
              </a:defRPr>
            </a:defPPr>
          </a:lstStyle>
          <a:p>
            <a:pPr algn="l">
              <a:defRPr sz="1800" b="1">
                <a:solidFill>
                  <a:srgbClr val="007B83"/>
                </a:solidFill>
                <a:latin typeface="Arial"/>
                <a:ea typeface="Arial"/>
                <a:cs typeface="Arial"/>
              </a:defRPr>
            </a:pPr>
            <a:r>
              <a:rPr sz="1800" b="1">
                <a:solidFill>
                  <a:srgbClr val="007B83"/>
                </a:solidFill>
                <a:latin typeface="Arial"/>
                <a:ea typeface="Arial"/>
                <a:cs typeface="Arial"/>
              </a:rPr>
              <a:t>Green AI: efficiency evidence [10] • Carbon-aware scheduling: flexible work [14]</a:t>
            </a:r>
          </a:p>
        </p:txBody>
      </p:sp>
      <p:sp>
        <p:nvSpPr>
          <p:cNvPr id="9" name="OECD: values and rights [15]  •  NIST: Govern, Map, Mea">
            <a:extLst>
              <a:ext uri="{FF2B5EF4-FFF2-40B4-BE49-F238E27FC236}">
                <a16:creationId xmlns:a16="http://schemas.microsoft.com/office/drawing/2014/main" id="{6830CAC2-2B50-49C0-BBA3-C304A9CFC307}"/>
              </a:ext>
            </a:extLst>
          </p:cNvPr>
          <p:cNvSpPr>
            <a:spLocks noGrp="1"/>
          </p:cNvSpPr>
          <p:nvPr/>
        </p:nvSpPr>
        <p:spPr>
          <a:xfrm>
            <a:off x="609600" y="3609975"/>
            <a:ext cx="10972800" cy="321564"/>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OECD: values and rights [15] • NIST: Govern, Map, Measure, Manage [16]</a:t>
            </a:r>
          </a:p>
        </p:txBody>
      </p:sp>
      <p:sp>
        <p:nvSpPr>
          <p:cNvPr id="10" name="Use an energy budget, security/group evaluation and tra">
            <a:extLst>
              <a:ext uri="{FF2B5EF4-FFF2-40B4-BE49-F238E27FC236}">
                <a16:creationId xmlns:a16="http://schemas.microsoft.com/office/drawing/2014/main" id="{00B46626-502B-472C-8BC4-AF6951AFD595}"/>
              </a:ext>
            </a:extLst>
          </p:cNvPr>
          <p:cNvSpPr>
            <a:spLocks noGrp="1"/>
          </p:cNvSpPr>
          <p:nvPr/>
        </p:nvSpPr>
        <p:spPr>
          <a:xfrm>
            <a:off x="609600" y="4086225"/>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Use an energy budget, security/group evaluation and transparent access rules. Record owner, rationale,</a:t>
            </a:r>
          </a:p>
          <a:p>
            <a:pPr algn="l">
              <a:defRPr sz="1800" b="0">
                <a:solidFill>
                  <a:srgbClr val="142D45"/>
                </a:solidFill>
                <a:latin typeface="Arial"/>
                <a:ea typeface="Arial"/>
                <a:cs typeface="Arial"/>
              </a:defRPr>
            </a:pPr>
            <a:r>
              <a:rPr sz="1800" b="0">
                <a:solidFill>
                  <a:srgbClr val="142D45"/>
                </a:solidFill>
                <a:latin typeface="Arial"/>
                <a:ea typeface="Arial"/>
                <a:cs typeface="Arial"/>
              </a:rPr>
              <a:t>exceptions and outcomes.</a:t>
            </a:r>
          </a:p>
        </p:txBody>
      </p:sp>
      <p:sp>
        <p:nvSpPr>
          <p:cNvPr id="11" name="Measurement informs action: shift flexible jobs to clea">
            <a:extLst>
              <a:ext uri="{FF2B5EF4-FFF2-40B4-BE49-F238E27FC236}">
                <a16:creationId xmlns:a16="http://schemas.microsoft.com/office/drawing/2014/main" id="{48450D0A-381C-4BF2-8DCD-10FFA2489611}"/>
              </a:ext>
            </a:extLst>
          </p:cNvPr>
          <p:cNvSpPr>
            <a:spLocks noGrp="1"/>
          </p:cNvSpPr>
          <p:nvPr/>
        </p:nvSpPr>
        <p:spPr>
          <a:xfrm>
            <a:off x="609600" y="4815078"/>
            <a:ext cx="10972800" cy="605028"/>
          </a:xfrm>
          <a:prstGeom prst="rect">
            <a:avLst/>
          </a:prstGeom>
          <a:noFill/>
          <a:ln w="0">
            <a:noFill/>
          </a:ln>
        </p:spPr>
        <p:txBody>
          <a:bodyPr wrap="square" lIns="0" tIns="0" rIns="0" bIns="0" anchor="t">
            <a:noAutofit/>
          </a:bodyPr>
          <a:lstStyle>
            <a:defPPr algn="l">
              <a:defRPr sz="1800" b="0">
                <a:solidFill>
                  <a:srgbClr val="142D45"/>
                </a:solidFill>
                <a:latin typeface="Arial"/>
                <a:ea typeface="Arial"/>
                <a:cs typeface="Arial"/>
              </a:defRPr>
            </a:defPPr>
          </a:lstStyle>
          <a:p>
            <a:pPr algn="l">
              <a:defRPr sz="1800" b="0">
                <a:solidFill>
                  <a:srgbClr val="142D45"/>
                </a:solidFill>
                <a:latin typeface="Arial"/>
                <a:ea typeface="Arial"/>
                <a:cs typeface="Arial"/>
              </a:defRPr>
            </a:pPr>
            <a:r>
              <a:rPr sz="1800" b="0">
                <a:solidFill>
                  <a:srgbClr val="142D45"/>
                </a:solidFill>
                <a:latin typeface="Arial"/>
                <a:ea typeface="Arial"/>
                <a:cs typeface="Arial"/>
              </a:rPr>
              <a:t>Measurement informs action: shift flexible jobs to cleaner periods within deadlines/capacity. Forecast</a:t>
            </a:r>
          </a:p>
          <a:p>
            <a:pPr algn="l">
              <a:defRPr sz="1800" b="0">
                <a:solidFill>
                  <a:srgbClr val="142D45"/>
                </a:solidFill>
                <a:latin typeface="Arial"/>
                <a:ea typeface="Arial"/>
                <a:cs typeface="Arial"/>
              </a:defRPr>
            </a:pPr>
            <a:r>
              <a:rPr sz="1800" b="0">
                <a:solidFill>
                  <a:srgbClr val="142D45"/>
                </a:solidFill>
                <a:latin typeface="Arial"/>
                <a:ea typeface="Arial"/>
                <a:cs typeface="Arial"/>
              </a:rPr>
              <a:t>uncertainty, water stress and urgent access can change the decision.</a:t>
            </a:r>
          </a:p>
        </p:txBody>
      </p:sp>
      <p:sp>
        <p:nvSpPr>
          <p:cNvPr id="12" name="Straight Connector 11">
            <a:extLst>
              <a:ext uri="{FF2B5EF4-FFF2-40B4-BE49-F238E27FC236}">
                <a16:creationId xmlns:a16="http://schemas.microsoft.com/office/drawing/2014/main" id="{FF5C2DF8-8CF1-4FC1-A190-0F7D59D91078}"/>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3" name="Approve useful work with explicit budgets, safeguards a">
            <a:extLst>
              <a:ext uri="{FF2B5EF4-FFF2-40B4-BE49-F238E27FC236}">
                <a16:creationId xmlns:a16="http://schemas.microsoft.com/office/drawing/2014/main" id="{442AD847-48A1-43D3-BC7B-A2CE8D37AF2D}"/>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Approve useful work with explicit budgets, safeguards and an accountable owner.</a:t>
            </a:r>
          </a:p>
        </p:txBody>
      </p:sp>
      <p:sp>
        <p:nvSpPr>
          <p:cNvPr id="14" name="Straight Connector 13">
            <a:extLst>
              <a:ext uri="{FF2B5EF4-FFF2-40B4-BE49-F238E27FC236}">
                <a16:creationId xmlns:a16="http://schemas.microsoft.com/office/drawing/2014/main" id="{393BA7BF-F7B5-42AE-8250-1B4F3343949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5" name="Sources: [10] Schwartz et al. 2019: efficiency reportin">
            <a:extLst>
              <a:ext uri="{FF2B5EF4-FFF2-40B4-BE49-F238E27FC236}">
                <a16:creationId xmlns:a16="http://schemas.microsoft.com/office/drawing/2014/main" id="{F77A31D6-4C6B-42FB-93EC-EF56A99A8542}"/>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16" name="28 / 46">
            <a:extLst>
              <a:ext uri="{FF2B5EF4-FFF2-40B4-BE49-F238E27FC236}">
                <a16:creationId xmlns:a16="http://schemas.microsoft.com/office/drawing/2014/main" id="{299F6597-96EC-4033-B09E-9A91ADF5FBD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30 / 48</a:t>
            </a:r>
          </a:p>
        </p:txBody>
      </p:sp>
    </p:spTree>
    <p:extLst>
      <p:ext uri="{BB962C8B-B14F-4D97-AF65-F5344CB8AC3E}">
        <p14:creationId xmlns:p14="http://schemas.microsoft.com/office/powerpoint/2010/main" val="583087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2 • Task 2(d) • Framework actions and o">
            <a:extLst>
              <a:ext uri="{FF2B5EF4-FFF2-40B4-BE49-F238E27FC236}">
                <a16:creationId xmlns:a16="http://schemas.microsoft.com/office/drawing/2014/main" id="{62A4225A-F098-4DB3-B370-3663524AF20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Framework actions and owners</a:t>
            </a:r>
          </a:p>
        </p:txBody>
      </p:sp>
      <p:sp>
        <p:nvSpPr>
          <p:cNvPr id="2" name="Framework roles and accountable decisions">
            <a:extLst>
              <a:ext uri="{FF2B5EF4-FFF2-40B4-BE49-F238E27FC236}">
                <a16:creationId xmlns:a16="http://schemas.microsoft.com/office/drawing/2014/main" id="{31DCAEF8-28EF-4D10-B125-6E17AE21DFDD}"/>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Framework roles and accountable decisions</a:t>
            </a:r>
          </a:p>
        </p:txBody>
      </p:sp>
      <p:graphicFrame>
        <p:nvGraphicFramePr>
          <p:cNvPr id="3" name="Table 2">
            <a:extLst>
              <a:ext uri="{FF2B5EF4-FFF2-40B4-BE49-F238E27FC236}">
                <a16:creationId xmlns:a16="http://schemas.microsoft.com/office/drawing/2014/main" id="{B3463672-5179-4E4A-829A-12ED156262E8}"/>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Function / evidence</a:t>
                      </a:r>
                    </a:p>
                  </a:txBody>
                  <a:tcPr anchor="ctr">
                    <a:solidFill>
                      <a:srgbClr val="142D45"/>
                    </a:solidFill>
                  </a:tcPr>
                </a:tc>
                <a:tc>
                  <a:txBody>
                    <a:bodyPr/>
                    <a:lstStyle/>
                    <a:p>
                      <a:pPr algn="l"/>
                      <a:r>
                        <a:rPr sz="1650" b="1">
                          <a:solidFill>
                            <a:srgbClr val="FFFFFF"/>
                          </a:solidFill>
                          <a:latin typeface="Arial"/>
                          <a:ea typeface="Arial"/>
                          <a:cs typeface="Arial"/>
                        </a:rPr>
                        <a:t>Concrete action</a:t>
                      </a:r>
                    </a:p>
                  </a:txBody>
                  <a:tcPr anchor="ctr">
                    <a:solidFill>
                      <a:srgbClr val="142D45"/>
                    </a:solidFill>
                  </a:tcPr>
                </a:tc>
                <a:tc>
                  <a:txBody>
                    <a:bodyPr/>
                    <a:lstStyle/>
                    <a:p>
                      <a:pPr algn="l"/>
                      <a:r>
                        <a:rPr sz="1650" b="1">
                          <a:solidFill>
                            <a:srgbClr val="FFFFFF"/>
                          </a:solidFill>
                          <a:latin typeface="Arial"/>
                          <a:ea typeface="Arial"/>
                          <a:cs typeface="Arial"/>
                        </a:rPr>
                        <a:t>Decision / responsible role</a:t>
                      </a:r>
                    </a:p>
                  </a:txBody>
                  <a:tcPr anchor="ctr">
                    <a:solidFill>
                      <a:srgbClr val="142D45"/>
                    </a:solidFill>
                  </a:tcPr>
                </a:tc>
                <a:extLst>
                  <a:ext uri="{0D108BD9-81ED-4DB2-BD59-A6C34878D82A}">
                    <a16:rowId xmlns:a16="http://schemas.microsoft.com/office/drawing/2014/main" val="10000"/>
                  </a:ext>
                </a:extLst>
              </a:tr>
              <a:tr h="833438">
                <a:tc>
                  <a:txBody>
                    <a:bodyPr/>
                    <a:lstStyle/>
                    <a:p>
                      <a:pPr algn="l"/>
                      <a:r>
                        <a:rPr sz="1500" b="0">
                          <a:solidFill>
                            <a:srgbClr val="142D45"/>
                          </a:solidFill>
                          <a:latin typeface="Arial"/>
                          <a:ea typeface="Arial"/>
                          <a:cs typeface="Arial"/>
                        </a:rPr>
                        <a:t>Govern / OECD values + NIST</a:t>
                      </a:r>
                    </a:p>
                  </a:txBody>
                  <a:tcPr anchor="ctr">
                    <a:solidFill>
                      <a:srgbClr val="FFFFFF"/>
                    </a:solidFill>
                  </a:tcPr>
                </a:tc>
                <a:tc>
                  <a:txBody>
                    <a:bodyPr/>
                    <a:lstStyle/>
                    <a:p>
                      <a:pPr algn="l"/>
                      <a:r>
                        <a:rPr sz="1500" b="0">
                          <a:solidFill>
                            <a:srgbClr val="142D45"/>
                          </a:solidFill>
                          <a:latin typeface="Arial"/>
                          <a:ea typeface="Arial"/>
                          <a:cs typeface="Arial"/>
                        </a:rPr>
                        <a:t>Assign ownership, data rules, access policy and escalation</a:t>
                      </a:r>
                    </a:p>
                  </a:txBody>
                  <a:tcPr anchor="ctr">
                    <a:solidFill>
                      <a:srgbClr val="FFFFFF"/>
                    </a:solidFill>
                  </a:tcPr>
                </a:tc>
                <a:tc>
                  <a:txBody>
                    <a:bodyPr/>
                    <a:lstStyle/>
                    <a:p>
                      <a:pPr algn="l"/>
                      <a:r>
                        <a:rPr sz="1500" b="0">
                          <a:solidFill>
                            <a:srgbClr val="142D45"/>
                          </a:solidFill>
                          <a:latin typeface="Arial"/>
                          <a:ea typeface="Arial"/>
                          <a:cs typeface="Arial"/>
                        </a:rPr>
                        <a:t>Accountable owner accepts obligations and review process.</a:t>
                      </a:r>
                    </a:p>
                  </a:txBody>
                  <a:tcPr anchor="ctr">
                    <a:solidFill>
                      <a:srgbClr val="FFFFFF"/>
                    </a:solidFill>
                  </a:tcPr>
                </a:tc>
                <a:extLst>
                  <a:ext uri="{0D108BD9-81ED-4DB2-BD59-A6C34878D82A}">
                    <a16:rowId xmlns:a16="http://schemas.microsoft.com/office/drawing/2014/main" val="10001"/>
                  </a:ext>
                </a:extLst>
              </a:tr>
              <a:tr h="833438">
                <a:tc>
                  <a:txBody>
                    <a:bodyPr/>
                    <a:lstStyle/>
                    <a:p>
                      <a:pPr algn="l"/>
                      <a:r>
                        <a:rPr sz="1500" b="0">
                          <a:solidFill>
                            <a:srgbClr val="142D45"/>
                          </a:solidFill>
                          <a:latin typeface="Arial"/>
                          <a:ea typeface="Arial"/>
                          <a:cs typeface="Arial"/>
                        </a:rPr>
                        <a:t>Map / NIST</a:t>
                      </a:r>
                    </a:p>
                  </a:txBody>
                  <a:tcPr anchor="ctr">
                    <a:solidFill>
                      <a:srgbClr val="F0F4F4"/>
                    </a:solidFill>
                  </a:tcPr>
                </a:tc>
                <a:tc>
                  <a:txBody>
                    <a:bodyPr/>
                    <a:lstStyle/>
                    <a:p>
                      <a:pPr algn="l"/>
                      <a:r>
                        <a:rPr sz="1500" b="0">
                          <a:solidFill>
                            <a:srgbClr val="142D45"/>
                          </a:solidFill>
                          <a:latin typeface="Arial"/>
                          <a:ea typeface="Arial"/>
                          <a:cs typeface="Arial"/>
                        </a:rPr>
                        <a:t>Define use, stakeholders, misuse risks, deadline and alternatives</a:t>
                      </a:r>
                    </a:p>
                  </a:txBody>
                  <a:tcPr anchor="ctr">
                    <a:solidFill>
                      <a:srgbClr val="F0F4F4"/>
                    </a:solidFill>
                  </a:tcPr>
                </a:tc>
                <a:tc>
                  <a:txBody>
                    <a:bodyPr/>
                    <a:lstStyle/>
                    <a:p>
                      <a:pPr algn="l"/>
                      <a:r>
                        <a:rPr sz="1500" b="0">
                          <a:solidFill>
                            <a:srgbClr val="142D45"/>
                          </a:solidFill>
                          <a:latin typeface="Arial"/>
                          <a:ea typeface="Arial"/>
                          <a:cs typeface="Arial"/>
                        </a:rPr>
                        <a:t>Data/risk stewards establish the application-specific scope.</a:t>
                      </a:r>
                    </a:p>
                  </a:txBody>
                  <a:tcPr anchor="ctr">
                    <a:solidFill>
                      <a:srgbClr val="F0F4F4"/>
                    </a:solidFill>
                  </a:tcPr>
                </a:tc>
                <a:extLst>
                  <a:ext uri="{0D108BD9-81ED-4DB2-BD59-A6C34878D82A}">
                    <a16:rowId xmlns:a16="http://schemas.microsoft.com/office/drawing/2014/main" val="10002"/>
                  </a:ext>
                </a:extLst>
              </a:tr>
              <a:tr h="833438">
                <a:tc>
                  <a:txBody>
                    <a:bodyPr/>
                    <a:lstStyle/>
                    <a:p>
                      <a:pPr algn="l"/>
                      <a:r>
                        <a:rPr sz="1500" b="0">
                          <a:solidFill>
                            <a:srgbClr val="142D45"/>
                          </a:solidFill>
                          <a:latin typeface="Arial"/>
                          <a:ea typeface="Arial"/>
                          <a:cs typeface="Arial"/>
                        </a:rPr>
                        <a:t>Measure / Green AI + NIST</a:t>
                      </a:r>
                    </a:p>
                  </a:txBody>
                  <a:tcPr anchor="ctr">
                    <a:solidFill>
                      <a:srgbClr val="FFFFFF"/>
                    </a:solidFill>
                  </a:tcPr>
                </a:tc>
                <a:tc>
                  <a:txBody>
                    <a:bodyPr/>
                    <a:lstStyle/>
                    <a:p>
                      <a:pPr algn="l"/>
                      <a:r>
                        <a:rPr sz="1500" b="0">
                          <a:solidFill>
                            <a:srgbClr val="142D45"/>
                          </a:solidFill>
                          <a:latin typeface="Arial"/>
                          <a:ea typeface="Arial"/>
                          <a:cs typeface="Arial"/>
                        </a:rPr>
                        <a:t>Track energy per useful outcome, model quality, group harms and scaling efficiency</a:t>
                      </a:r>
                    </a:p>
                  </a:txBody>
                  <a:tcPr anchor="ctr">
                    <a:solidFill>
                      <a:srgbClr val="FFFFFF"/>
                    </a:solidFill>
                  </a:tcPr>
                </a:tc>
                <a:tc>
                  <a:txBody>
                    <a:bodyPr/>
                    <a:lstStyle/>
                    <a:p>
                      <a:pPr algn="l"/>
                      <a:r>
                        <a:rPr sz="1500" b="0">
                          <a:solidFill>
                            <a:srgbClr val="142D45"/>
                          </a:solidFill>
                          <a:latin typeface="Arial"/>
                          <a:ea typeface="Arial"/>
                          <a:cs typeface="Arial"/>
                        </a:rPr>
                        <a:t>Operator/evaluator provides evidence and uncertainty.</a:t>
                      </a:r>
                    </a:p>
                  </a:txBody>
                  <a:tcPr anchor="ctr">
                    <a:solidFill>
                      <a:srgbClr val="FFFFFF"/>
                    </a:solidFill>
                  </a:tcPr>
                </a:tc>
                <a:extLst>
                  <a:ext uri="{0D108BD9-81ED-4DB2-BD59-A6C34878D82A}">
                    <a16:rowId xmlns:a16="http://schemas.microsoft.com/office/drawing/2014/main" val="10003"/>
                  </a:ext>
                </a:extLst>
              </a:tr>
              <a:tr h="833438">
                <a:tc>
                  <a:txBody>
                    <a:bodyPr/>
                    <a:lstStyle/>
                    <a:p>
                      <a:pPr algn="l"/>
                      <a:r>
                        <a:rPr sz="1500" b="0">
                          <a:solidFill>
                            <a:srgbClr val="142D45"/>
                          </a:solidFill>
                          <a:latin typeface="Arial"/>
                          <a:ea typeface="Arial"/>
                          <a:cs typeface="Arial"/>
                        </a:rPr>
                        <a:t>Manage / scheduling research + NIST</a:t>
                      </a:r>
                    </a:p>
                  </a:txBody>
                  <a:tcPr anchor="ctr">
                    <a:solidFill>
                      <a:srgbClr val="F0F4F4"/>
                    </a:solidFill>
                  </a:tcPr>
                </a:tc>
                <a:tc>
                  <a:txBody>
                    <a:bodyPr/>
                    <a:lstStyle/>
                    <a:p>
                      <a:pPr algn="l"/>
                      <a:r>
                        <a:rPr sz="1500" b="0">
                          <a:solidFill>
                            <a:srgbClr val="142D45"/>
                          </a:solidFill>
                          <a:latin typeface="Arial"/>
                          <a:ea typeface="Arial"/>
                          <a:cs typeface="Arial"/>
                        </a:rPr>
                        <a:t>Approve, defer, reduce scale or redesign; enforce safeguards and review outcomes</a:t>
                      </a:r>
                    </a:p>
                  </a:txBody>
                  <a:tcPr anchor="ctr">
                    <a:solidFill>
                      <a:srgbClr val="F0F4F4"/>
                    </a:solidFill>
                  </a:tcPr>
                </a:tc>
                <a:tc>
                  <a:txBody>
                    <a:bodyPr/>
                    <a:lstStyle/>
                    <a:p>
                      <a:pPr algn="l"/>
                      <a:r>
                        <a:rPr sz="1500" b="0">
                          <a:solidFill>
                            <a:srgbClr val="142D45"/>
                          </a:solidFill>
                          <a:latin typeface="Arial"/>
                          <a:ea typeface="Arial"/>
                          <a:cs typeface="Arial"/>
                        </a:rPr>
                        <a:t>Owner authorizes exceptions or rejects unresolved risks.</a:t>
                      </a:r>
                    </a:p>
                  </a:txBody>
                  <a:tcPr anchor="ctr">
                    <a:solidFill>
                      <a:srgbClr val="F0F4F4"/>
                    </a:solidFill>
                  </a:tcPr>
                </a:tc>
                <a:extLst>
                  <a:ext uri="{0D108BD9-81ED-4DB2-BD59-A6C34878D82A}">
                    <a16:rowId xmlns:a16="http://schemas.microsoft.com/office/drawing/2014/main" val="10004"/>
                  </a:ext>
                </a:extLst>
              </a:tr>
            </a:tbl>
          </a:graphicData>
        </a:graphic>
      </p:graphicFrame>
      <p:sp>
        <p:nvSpPr>
          <p:cNvPr id="4" name="Our proposal combines measurement, scheduling and risk ">
            <a:extLst>
              <a:ext uri="{FF2B5EF4-FFF2-40B4-BE49-F238E27FC236}">
                <a16:creationId xmlns:a16="http://schemas.microsoft.com/office/drawing/2014/main" id="{F2456272-2AB9-4C47-869A-CA9FABFE62D5}"/>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Our proposal combines measurement, scheduling and risk management. NIST Govern spans the other functions; risk</a:t>
            </a:r>
          </a:p>
          <a:p>
            <a:pPr algn="l">
              <a:defRPr sz="1500" b="0">
                <a:solidFill>
                  <a:srgbClr val="516170"/>
                </a:solidFill>
                <a:latin typeface="Arial"/>
                <a:ea typeface="Arial"/>
                <a:cs typeface="Arial"/>
              </a:defRPr>
            </a:pPr>
            <a:r>
              <a:rPr sz="1500" b="0">
                <a:solidFill>
                  <a:srgbClr val="516170"/>
                </a:solidFill>
                <a:latin typeface="Arial"/>
                <a:ea typeface="Arial"/>
                <a:cs typeface="Arial"/>
              </a:rPr>
              <a:t>management is iterative, not a certification.</a:t>
            </a:r>
          </a:p>
        </p:txBody>
      </p:sp>
      <p:sp>
        <p:nvSpPr>
          <p:cNvPr id="5" name="Straight Connector 4">
            <a:extLst>
              <a:ext uri="{FF2B5EF4-FFF2-40B4-BE49-F238E27FC236}">
                <a16:creationId xmlns:a16="http://schemas.microsoft.com/office/drawing/2014/main" id="{41118CBA-C2FD-44BA-A330-8DE34938540A}"/>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10] Schwartz et al. 2019: efficiency reportin">
            <a:extLst>
              <a:ext uri="{FF2B5EF4-FFF2-40B4-BE49-F238E27FC236}">
                <a16:creationId xmlns:a16="http://schemas.microsoft.com/office/drawing/2014/main" id="{1D992F3E-0F2E-4C32-958E-5F1DF240EF80}"/>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[10] Schwartz et al. 2019: efficiency reporting; [14] Radovanovic et al. 2021: flexible scheduling; [15] OECD: rights, fairness and accountability; [16] NIST: Govern, Map,</a:t>
            </a:r>
          </a:p>
          <a:p>
            <a:pPr algn="l">
              <a:defRPr sz="990" b="0">
                <a:solidFill>
                  <a:srgbClr val="516170"/>
                </a:solidFill>
                <a:latin typeface="Arial"/>
                <a:ea typeface="Arial"/>
                <a:cs typeface="Arial"/>
              </a:defRPr>
            </a:pPr>
            <a:r>
              <a:rPr sz="990" b="0">
                <a:solidFill>
                  <a:srgbClr val="516170"/>
                </a:solidFill>
                <a:latin typeface="Arial"/>
                <a:ea typeface="Arial"/>
                <a:cs typeface="Arial"/>
              </a:rPr>
              <a:t>Measure, Manage</a:t>
            </a:r>
          </a:p>
        </p:txBody>
      </p:sp>
      <p:sp>
        <p:nvSpPr>
          <p:cNvPr id="7" name="29 / 46">
            <a:extLst>
              <a:ext uri="{FF2B5EF4-FFF2-40B4-BE49-F238E27FC236}">
                <a16:creationId xmlns:a16="http://schemas.microsoft.com/office/drawing/2014/main" id="{71F07190-0ACA-4CDF-AD3B-42826A3D58C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31 / 48</a:t>
            </a:r>
          </a:p>
        </p:txBody>
      </p:sp>
    </p:spTree>
    <p:extLst>
      <p:ext uri="{BB962C8B-B14F-4D97-AF65-F5344CB8AC3E}">
        <p14:creationId xmlns:p14="http://schemas.microsoft.com/office/powerpoint/2010/main" val="18854939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A95050A2-8368-4D80-96E5-4C8ADB0B0F9D}"/>
              </a:ext>
            </a:extLst>
          </p:cNvPr>
          <p:cNvCxnSpPr>
            <a:stCxn id="4" idx="3"/>
            <a:endCxn id="5" idx="1"/>
          </p:cNvCxnSpPr>
          <p:nvPr/>
        </p:nvCxnSpPr>
        <p:spPr>
          <a:xfrm>
            <a:off x="7448550" y="2314575"/>
            <a:ext cx="1447800" cy="0"/>
          </a:xfrm>
          <a:prstGeom prst="straightConnector1">
            <a:avLst/>
          </a:prstGeom>
          <a:ln w="19050">
            <a:solidFill>
              <a:srgbClr val="007B83"/>
            </a:solidFill>
            <a:prstDash val="solid"/>
            <a:tailEnd type="arrow" w="med" len="med"/>
          </a:ln>
        </p:spPr>
      </p:cxnSp>
      <p:cxnSp>
        <p:nvCxnSpPr>
          <p:cNvPr id="6" name="Straight Arrow Connector 5">
            <a:extLst>
              <a:ext uri="{FF2B5EF4-FFF2-40B4-BE49-F238E27FC236}">
                <a16:creationId xmlns:a16="http://schemas.microsoft.com/office/drawing/2014/main" id="{81FA886F-0893-4985-A3DC-EC8A06CFA5D1}"/>
              </a:ext>
            </a:extLst>
          </p:cNvPr>
          <p:cNvCxnSpPr>
            <a:stCxn id="3" idx="3"/>
            <a:endCxn id="4" idx="1"/>
          </p:cNvCxnSpPr>
          <p:nvPr/>
        </p:nvCxnSpPr>
        <p:spPr>
          <a:xfrm>
            <a:off x="3181350" y="2314575"/>
            <a:ext cx="1333500" cy="0"/>
          </a:xfrm>
          <a:prstGeom prst="straightConnector1">
            <a:avLst/>
          </a:prstGeom>
          <a:ln w="19050">
            <a:solidFill>
              <a:srgbClr val="007B83"/>
            </a:solidFill>
            <a:prstDash val="solid"/>
            <a:tailEnd type="arrow" w="med" len="med"/>
          </a:ln>
        </p:spPr>
      </p:cxnSp>
      <p:sp>
        <p:nvSpPr>
          <p:cNvPr id="16" name="Appendix • Task 2 • Task 2(d) • Carbon-aware scheduling">
            <a:extLst>
              <a:ext uri="{FF2B5EF4-FFF2-40B4-BE49-F238E27FC236}">
                <a16:creationId xmlns:a16="http://schemas.microsoft.com/office/drawing/2014/main" id="{95BA9C81-AAC6-4107-939E-F1CFA94EC0E1}"/>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Task 2(d) • Carbon-aware scheduling</a:t>
            </a:r>
          </a:p>
        </p:txBody>
      </p:sp>
      <p:sp>
        <p:nvSpPr>
          <p:cNvPr id="2" name="Carbon-aware scheduling under constraints">
            <a:extLst>
              <a:ext uri="{FF2B5EF4-FFF2-40B4-BE49-F238E27FC236}">
                <a16:creationId xmlns:a16="http://schemas.microsoft.com/office/drawing/2014/main" id="{74145335-ABD8-4B6F-910D-D58FE7E988C8}"/>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Carbon-aware scheduling under constraints</a:t>
            </a:r>
          </a:p>
        </p:txBody>
      </p:sp>
      <p:sp>
        <p:nvSpPr>
          <p:cNvPr id="3" name="Rectangle 2">
            <a:extLst>
              <a:ext uri="{FF2B5EF4-FFF2-40B4-BE49-F238E27FC236}">
                <a16:creationId xmlns:a16="http://schemas.microsoft.com/office/drawing/2014/main" id="{2FBFD39D-7B81-4A37-A55A-F17AA334EB60}"/>
              </a:ext>
            </a:extLst>
          </p:cNvPr>
          <p:cNvSpPr>
            <a:spLocks noGrp="1"/>
          </p:cNvSpPr>
          <p:nvPr/>
        </p:nvSpPr>
        <p:spPr>
          <a:xfrm>
            <a:off x="609600" y="1838325"/>
            <a:ext cx="2571750" cy="9525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Flexible job</a:t>
            </a:r>
          </a:p>
          <a:p>
            <a:pPr algn="ctr">
              <a:defRPr sz="1725">
                <a:solidFill>
                  <a:srgbClr val="142D45"/>
                </a:solidFill>
                <a:latin typeface="Arial"/>
                <a:ea typeface="Arial"/>
                <a:cs typeface="Arial"/>
              </a:defRPr>
            </a:pPr>
            <a:r>
              <a:rPr sz="1725">
                <a:solidFill>
                  <a:srgbClr val="142D45"/>
                </a:solidFill>
                <a:latin typeface="Arial"/>
                <a:ea typeface="Arial"/>
                <a:cs typeface="Arial"/>
              </a:rPr>
              <a:t>ready</a:t>
            </a:r>
          </a:p>
        </p:txBody>
      </p:sp>
      <p:sp>
        <p:nvSpPr>
          <p:cNvPr id="4" name="Rectangle 3">
            <a:extLst>
              <a:ext uri="{FF2B5EF4-FFF2-40B4-BE49-F238E27FC236}">
                <a16:creationId xmlns:a16="http://schemas.microsoft.com/office/drawing/2014/main" id="{04C6AB03-0029-49BF-9FD2-6B48F11565D7}"/>
              </a:ext>
            </a:extLst>
          </p:cNvPr>
          <p:cNvSpPr>
            <a:spLocks noGrp="1"/>
          </p:cNvSpPr>
          <p:nvPr/>
        </p:nvSpPr>
        <p:spPr>
          <a:xfrm>
            <a:off x="4514850" y="1838325"/>
            <a:ext cx="2933700" cy="9525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Lower-carbon</a:t>
            </a:r>
          </a:p>
          <a:p>
            <a:pPr algn="ctr">
              <a:defRPr sz="1725">
                <a:solidFill>
                  <a:srgbClr val="142D45"/>
                </a:solidFill>
                <a:latin typeface="Arial"/>
                <a:ea typeface="Arial"/>
                <a:cs typeface="Arial"/>
              </a:defRPr>
            </a:pPr>
            <a:r>
              <a:rPr sz="1725">
                <a:solidFill>
                  <a:srgbClr val="142D45"/>
                </a:solidFill>
                <a:latin typeface="Arial"/>
                <a:ea typeface="Arial"/>
                <a:cs typeface="Arial"/>
              </a:rPr>
              <a:t>forecast window</a:t>
            </a:r>
          </a:p>
        </p:txBody>
      </p:sp>
      <p:sp>
        <p:nvSpPr>
          <p:cNvPr id="5" name="Rectangle 4">
            <a:extLst>
              <a:ext uri="{FF2B5EF4-FFF2-40B4-BE49-F238E27FC236}">
                <a16:creationId xmlns:a16="http://schemas.microsoft.com/office/drawing/2014/main" id="{080C57E4-2A97-4C8E-BBB0-0985F703E442}"/>
              </a:ext>
            </a:extLst>
          </p:cNvPr>
          <p:cNvSpPr>
            <a:spLocks noGrp="1"/>
          </p:cNvSpPr>
          <p:nvPr/>
        </p:nvSpPr>
        <p:spPr>
          <a:xfrm>
            <a:off x="8896350" y="1838325"/>
            <a:ext cx="2686050" cy="952500"/>
          </a:xfrm>
          <a:prstGeom prst="rect">
            <a:avLst/>
          </a:prstGeom>
          <a:solidFill>
            <a:srgbClr val="FFFFFF"/>
          </a:solidFill>
          <a:ln w="14288">
            <a:solidFill>
              <a:srgbClr val="007B83"/>
            </a:solidFill>
            <a:prstDash val="solid"/>
          </a:ln>
        </p:spPr>
        <p:txBody>
          <a:bodyPr lIns="95250" tIns="95250" rIns="95250" bIns="95250" anchor="ctr">
            <a:noAutofit/>
          </a:bodyPr>
          <a:lstStyle>
            <a:defPPr algn="ctr">
              <a:defRPr sz="1725">
                <a:solidFill>
                  <a:srgbClr val="142D45"/>
                </a:solidFill>
                <a:latin typeface="Arial"/>
                <a:ea typeface="Arial"/>
                <a:cs typeface="Arial"/>
              </a:defRPr>
            </a:defPPr>
          </a:lstStyle>
          <a:p>
            <a:pPr algn="ctr">
              <a:defRPr sz="1725">
                <a:solidFill>
                  <a:srgbClr val="142D45"/>
                </a:solidFill>
                <a:latin typeface="Arial"/>
                <a:ea typeface="Arial"/>
                <a:cs typeface="Arial"/>
              </a:defRPr>
            </a:pPr>
            <a:r>
              <a:rPr sz="1725">
                <a:solidFill>
                  <a:srgbClr val="142D45"/>
                </a:solidFill>
                <a:latin typeface="Arial"/>
                <a:ea typeface="Arial"/>
                <a:cs typeface="Arial"/>
              </a:rPr>
              <a:t>Complete before</a:t>
            </a:r>
          </a:p>
          <a:p>
            <a:pPr algn="ctr">
              <a:defRPr sz="1725">
                <a:solidFill>
                  <a:srgbClr val="142D45"/>
                </a:solidFill>
                <a:latin typeface="Arial"/>
                <a:ea typeface="Arial"/>
                <a:cs typeface="Arial"/>
              </a:defRPr>
            </a:pPr>
            <a:r>
              <a:rPr sz="1725">
                <a:solidFill>
                  <a:srgbClr val="142D45"/>
                </a:solidFill>
                <a:latin typeface="Arial"/>
                <a:ea typeface="Arial"/>
                <a:cs typeface="Arial"/>
              </a:rPr>
              <a:t>deadline</a:t>
            </a:r>
          </a:p>
        </p:txBody>
      </p:sp>
      <p:sp>
        <p:nvSpPr>
          <p:cNvPr id="8" name="Research [14] demonstrates shifting temporally flexible">
            <a:extLst>
              <a:ext uri="{FF2B5EF4-FFF2-40B4-BE49-F238E27FC236}">
                <a16:creationId xmlns:a16="http://schemas.microsoft.com/office/drawing/2014/main" id="{A67EF257-43C9-49A2-AE4E-4C69DB16FA4D}"/>
              </a:ext>
            </a:extLst>
          </p:cNvPr>
          <p:cNvSpPr>
            <a:spLocks noGrp="1"/>
          </p:cNvSpPr>
          <p:nvPr/>
        </p:nvSpPr>
        <p:spPr>
          <a:xfrm>
            <a:off x="609600" y="3390900"/>
            <a:ext cx="10972800" cy="628650"/>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Research [14] demonstrates shifting temporally flexible workloads using forecasts while preserving daily</a:t>
            </a:r>
          </a:p>
          <a:p>
            <a:pPr algn="l">
              <a:defRPr sz="1875" b="0">
                <a:solidFill>
                  <a:srgbClr val="142D45"/>
                </a:solidFill>
                <a:latin typeface="Arial"/>
                <a:ea typeface="Arial"/>
                <a:cs typeface="Arial"/>
              </a:defRPr>
            </a:pPr>
            <a:r>
              <a:rPr sz="1875" b="0">
                <a:solidFill>
                  <a:srgbClr val="142D45"/>
                </a:solidFill>
                <a:latin typeface="Arial"/>
                <a:ea typeface="Arial"/>
                <a:cs typeface="Arial"/>
              </a:rPr>
              <a:t>capacity. It does not show every urgent GPU job can wait.</a:t>
            </a:r>
          </a:p>
        </p:txBody>
      </p:sp>
      <p:sp>
        <p:nvSpPr>
          <p:cNvPr id="9" name="Proposed rule: defer only if deadline, energy budget, w">
            <a:extLst>
              <a:ext uri="{FF2B5EF4-FFF2-40B4-BE49-F238E27FC236}">
                <a16:creationId xmlns:a16="http://schemas.microsoft.com/office/drawing/2014/main" id="{18084F52-B35B-4A2C-A128-F2A483208F4F}"/>
              </a:ext>
            </a:extLst>
          </p:cNvPr>
          <p:cNvSpPr>
            <a:spLocks noGrp="1"/>
          </p:cNvSpPr>
          <p:nvPr/>
        </p:nvSpPr>
        <p:spPr>
          <a:xfrm>
            <a:off x="609600" y="4200525"/>
            <a:ext cx="10972800" cy="628650"/>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Proposed rule: defer only if deadline, energy budget, water/site limits and equitable waiting-time</a:t>
            </a:r>
          </a:p>
          <a:p>
            <a:pPr algn="l">
              <a:defRPr sz="1875" b="0">
                <a:solidFill>
                  <a:srgbClr val="142D45"/>
                </a:solidFill>
                <a:latin typeface="Arial"/>
                <a:ea typeface="Arial"/>
                <a:cs typeface="Arial"/>
              </a:defRPr>
            </a:pPr>
            <a:r>
              <a:rPr sz="1875" b="0">
                <a:solidFill>
                  <a:srgbClr val="142D45"/>
                </a:solidFill>
                <a:latin typeface="Arial"/>
                <a:ea typeface="Arial"/>
                <a:cs typeface="Arial"/>
              </a:rPr>
              <a:t>commitments remain satisfied; record exceptions.</a:t>
            </a:r>
          </a:p>
        </p:txBody>
      </p:sp>
      <p:sp>
        <p:nvSpPr>
          <p:cNvPr id="10" name="No feasible window: reduce scale, redesign or approve a">
            <a:extLst>
              <a:ext uri="{FF2B5EF4-FFF2-40B4-BE49-F238E27FC236}">
                <a16:creationId xmlns:a16="http://schemas.microsoft.com/office/drawing/2014/main" id="{5AD3AEDA-31BD-4DB4-9532-11F526B8E996}"/>
              </a:ext>
            </a:extLst>
          </p:cNvPr>
          <p:cNvSpPr>
            <a:spLocks noGrp="1"/>
          </p:cNvSpPr>
          <p:nvPr/>
        </p:nvSpPr>
        <p:spPr>
          <a:xfrm>
            <a:off x="609600" y="5010150"/>
            <a:ext cx="10972800" cy="628650"/>
          </a:xfrm>
          <a:prstGeom prst="rect">
            <a:avLst/>
          </a:prstGeom>
          <a:noFill/>
          <a:ln w="0">
            <a:noFill/>
          </a:ln>
        </p:spPr>
        <p:txBody>
          <a:bodyPr wrap="square" lIns="0" tIns="0" rIns="0" bIns="0" anchor="t">
            <a:noAutofit/>
          </a:bodyPr>
          <a:lstStyle>
            <a:defPPr algn="l">
              <a:defRPr sz="1875" b="0">
                <a:solidFill>
                  <a:srgbClr val="142D45"/>
                </a:solidFill>
                <a:latin typeface="Arial"/>
                <a:ea typeface="Arial"/>
                <a:cs typeface="Arial"/>
              </a:defRPr>
            </a:defPPr>
          </a:lstStyle>
          <a:p>
            <a:pPr algn="l">
              <a:defRPr sz="1875" b="0">
                <a:solidFill>
                  <a:srgbClr val="142D45"/>
                </a:solidFill>
                <a:latin typeface="Arial"/>
                <a:ea typeface="Arial"/>
                <a:cs typeface="Arial"/>
              </a:defRPr>
            </a:pPr>
            <a:r>
              <a:rPr sz="1875" b="0">
                <a:solidFill>
                  <a:srgbClr val="142D45"/>
                </a:solidFill>
                <a:latin typeface="Arial"/>
                <a:ea typeface="Arial"/>
                <a:cs typeface="Arial"/>
              </a:rPr>
              <a:t>No feasible window: reduce scale, redesign or approve a justified urgent exception. Prevent indefinite</a:t>
            </a:r>
          </a:p>
          <a:p>
            <a:pPr algn="l">
              <a:defRPr sz="1875" b="0">
                <a:solidFill>
                  <a:srgbClr val="142D45"/>
                </a:solidFill>
                <a:latin typeface="Arial"/>
                <a:ea typeface="Arial"/>
                <a:cs typeface="Arial"/>
              </a:defRPr>
            </a:pPr>
            <a:r>
              <a:rPr sz="1875" b="0">
                <a:solidFill>
                  <a:srgbClr val="142D45"/>
                </a:solidFill>
                <a:latin typeface="Arial"/>
                <a:ea typeface="Arial"/>
                <a:cs typeface="Arial"/>
              </a:rPr>
              <a:t>deferral. Data residency and transfer costs constrain moving work between sites.</a:t>
            </a:r>
          </a:p>
        </p:txBody>
      </p:sp>
      <p:sp>
        <p:nvSpPr>
          <p:cNvPr id="11" name="Straight Connector 10">
            <a:extLst>
              <a:ext uri="{FF2B5EF4-FFF2-40B4-BE49-F238E27FC236}">
                <a16:creationId xmlns:a16="http://schemas.microsoft.com/office/drawing/2014/main" id="{F9D30F1F-2DD5-48C6-A250-B158CE7A32D9}"/>
              </a:ext>
            </a:extLst>
          </p:cNvPr>
          <p:cNvSpPr>
            <a:spLocks noGrp="1"/>
          </p:cNvSpPr>
          <p:nvPr/>
        </p:nvSpPr>
        <p:spPr>
          <a:xfrm>
            <a:off x="609600" y="5686425"/>
            <a:ext cx="10972800" cy="0"/>
          </a:xfrm>
          <a:prstGeom prst="line">
            <a:avLst/>
          </a:prstGeom>
          <a:noFill/>
          <a:ln w="19050">
            <a:solidFill>
              <a:srgbClr val="007B83"/>
            </a:solidFill>
            <a:prstDash val="solid"/>
          </a:ln>
        </p:spPr>
        <p:txBody>
          <a:bodyPr/>
          <a:lstStyle/>
          <a:p>
            <a:endParaRPr lang="en-US"/>
          </a:p>
        </p:txBody>
      </p:sp>
      <p:sp>
        <p:nvSpPr>
          <p:cNvPr id="12" name="Flexible jobs may move; urgent jobs, water constraints ">
            <a:extLst>
              <a:ext uri="{FF2B5EF4-FFF2-40B4-BE49-F238E27FC236}">
                <a16:creationId xmlns:a16="http://schemas.microsoft.com/office/drawing/2014/main" id="{1848F616-E26E-4589-B3A6-A867ED412164}"/>
              </a:ext>
            </a:extLst>
          </p:cNvPr>
          <p:cNvSpPr>
            <a:spLocks noGrp="1"/>
          </p:cNvSpPr>
          <p:nvPr/>
        </p:nvSpPr>
        <p:spPr>
          <a:xfrm>
            <a:off x="609600" y="5819775"/>
            <a:ext cx="10972800" cy="457200"/>
          </a:xfrm>
          <a:prstGeom prst="rect">
            <a:avLst/>
          </a:prstGeom>
          <a:noFill/>
          <a:ln w="0">
            <a:noFill/>
          </a:ln>
        </p:spPr>
        <p:txBody>
          <a:bodyPr wrap="square" lIns="0" tIns="0" rIns="0" bIns="0" anchor="t">
            <a:noAutofit/>
          </a:bodyPr>
          <a:lstStyle>
            <a:defPPr algn="l">
              <a:defRPr sz="1650" b="1">
                <a:solidFill>
                  <a:srgbClr val="142D45"/>
                </a:solidFill>
                <a:latin typeface="Arial"/>
                <a:ea typeface="Arial"/>
                <a:cs typeface="Arial"/>
              </a:defRPr>
            </a:defPPr>
          </a:lstStyle>
          <a:p>
            <a:pPr algn="l">
              <a:defRPr sz="1650" b="1">
                <a:solidFill>
                  <a:srgbClr val="142D45"/>
                </a:solidFill>
                <a:latin typeface="Arial"/>
                <a:ea typeface="Arial"/>
                <a:cs typeface="Arial"/>
              </a:defRPr>
            </a:pPr>
            <a:r>
              <a:rPr sz="1650" b="1">
                <a:solidFill>
                  <a:srgbClr val="142D45"/>
                </a:solidFill>
                <a:latin typeface="Arial"/>
                <a:ea typeface="Arial"/>
                <a:cs typeface="Arial"/>
              </a:rPr>
              <a:t>Flexible jobs may move; urgent jobs, water constraints and access commitments can override deferral.</a:t>
            </a:r>
          </a:p>
        </p:txBody>
      </p:sp>
      <p:sp>
        <p:nvSpPr>
          <p:cNvPr id="13" name="Straight Connector 12">
            <a:extLst>
              <a:ext uri="{FF2B5EF4-FFF2-40B4-BE49-F238E27FC236}">
                <a16:creationId xmlns:a16="http://schemas.microsoft.com/office/drawing/2014/main" id="{FCAD32D1-0E8B-4B01-985F-56F0F2968967}"/>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4" name="Sources: [9] Li et al. 2025 revision: water impacts; [1">
            <a:extLst>
              <a:ext uri="{FF2B5EF4-FFF2-40B4-BE49-F238E27FC236}">
                <a16:creationId xmlns:a16="http://schemas.microsoft.com/office/drawing/2014/main" id="{57AF12BE-DC5E-4C12-9368-6FFCCFB5772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[9] Li et al. 2025 revision: water impacts; [14] Radovanovic et al. 2021: flexible scheduling; [16] NIST: Govern, Map, Measure, Manage</a:t>
            </a:r>
          </a:p>
        </p:txBody>
      </p:sp>
      <p:sp>
        <p:nvSpPr>
          <p:cNvPr id="15" name="30 / 46">
            <a:extLst>
              <a:ext uri="{FF2B5EF4-FFF2-40B4-BE49-F238E27FC236}">
                <a16:creationId xmlns:a16="http://schemas.microsoft.com/office/drawing/2014/main" id="{DAC51F21-7DA8-4715-97AD-BC82EFE31DC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32 / 48</a:t>
            </a:r>
          </a:p>
        </p:txBody>
      </p:sp>
    </p:spTree>
    <p:extLst>
      <p:ext uri="{BB962C8B-B14F-4D97-AF65-F5344CB8AC3E}">
        <p14:creationId xmlns:p14="http://schemas.microsoft.com/office/powerpoint/2010/main" val="1510388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Supporting material • Tasks 1 and 2 • Conclu">
            <a:extLst>
              <a:ext uri="{FF2B5EF4-FFF2-40B4-BE49-F238E27FC236}">
                <a16:creationId xmlns:a16="http://schemas.microsoft.com/office/drawing/2014/main" id="{5AA224F4-338E-448F-AEF6-E5051491459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Tasks 1 and 2 • Conclusions and limitations</a:t>
            </a:r>
          </a:p>
        </p:txBody>
      </p:sp>
      <p:sp>
        <p:nvSpPr>
          <p:cNvPr id="2" name="Conclusions and next measurements">
            <a:extLst>
              <a:ext uri="{FF2B5EF4-FFF2-40B4-BE49-F238E27FC236}">
                <a16:creationId xmlns:a16="http://schemas.microsoft.com/office/drawing/2014/main" id="{8385FE28-AC58-402D-BB17-2F9E2051345B}"/>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Conclusions and next measurements</a:t>
            </a:r>
          </a:p>
        </p:txBody>
      </p:sp>
      <p:sp>
        <p:nvSpPr>
          <p:cNvPr id="3" name="GPU rotation">
            <a:extLst>
              <a:ext uri="{FF2B5EF4-FFF2-40B4-BE49-F238E27FC236}">
                <a16:creationId xmlns:a16="http://schemas.microsoft.com/office/drawing/2014/main" id="{7AB02CF6-4C11-4646-974A-F82EBB9083C2}"/>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GPU rotation</a:t>
            </a:r>
          </a:p>
        </p:txBody>
      </p:sp>
      <p:sp>
        <p:nvSpPr>
          <p:cNvPr id="4" name="Inverse gathering exposes independent pixel work. SM sc">
            <a:extLst>
              <a:ext uri="{FF2B5EF4-FFF2-40B4-BE49-F238E27FC236}">
                <a16:creationId xmlns:a16="http://schemas.microsoft.com/office/drawing/2014/main" id="{D51EE109-9703-41D8-A3A4-FAEEE1B4A774}"/>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Inverse gathering exposes independent pixel work.</a:t>
            </a:r>
          </a:p>
          <a:p>
            <a:pPr algn="l">
              <a:defRPr sz="1725" b="0">
                <a:solidFill>
                  <a:srgbClr val="142D45"/>
                </a:solidFill>
                <a:latin typeface="Arial"/>
                <a:ea typeface="Arial"/>
                <a:cs typeface="Arial"/>
              </a:defRPr>
            </a:pPr>
            <a:r>
              <a:rPr sz="1725" b="0">
                <a:solidFill>
                  <a:srgbClr val="142D45"/>
                </a:solidFill>
                <a:latin typeface="Arial"/>
                <a:ea typeface="Arial"/>
                <a:cs typeface="Arial"/>
              </a:rPr>
              <a:t>SM scheduling, memory locality and transfer costs</a:t>
            </a:r>
          </a:p>
          <a:p>
            <a:pPr algn="l">
              <a:defRPr sz="1725" b="0">
                <a:solidFill>
                  <a:srgbClr val="142D45"/>
                </a:solidFill>
                <a:latin typeface="Arial"/>
                <a:ea typeface="Arial"/>
                <a:cs typeface="Arial"/>
              </a:defRPr>
            </a:pPr>
            <a:r>
              <a:rPr sz="1725" b="0">
                <a:solidFill>
                  <a:srgbClr val="142D45"/>
                </a:solidFill>
                <a:latin typeface="Arial"/>
                <a:ea typeface="Arial"/>
                <a:cs typeface="Arial"/>
              </a:rPr>
              <a:t>determine achieved performance.</a:t>
            </a:r>
          </a:p>
        </p:txBody>
      </p:sp>
      <p:sp>
        <p:nvSpPr>
          <p:cNvPr id="5" name="Choose a CPU baseline and compare completed equivalent ">
            <a:extLst>
              <a:ext uri="{FF2B5EF4-FFF2-40B4-BE49-F238E27FC236}">
                <a16:creationId xmlns:a16="http://schemas.microsoft.com/office/drawing/2014/main" id="{D3C48822-31C7-41CB-B95A-B6F46E2E512F}"/>
              </a:ext>
            </a:extLst>
          </p:cNvPr>
          <p:cNvSpPr>
            <a:spLocks noGrp="1"/>
          </p:cNvSpPr>
          <p:nvPr/>
        </p:nvSpPr>
        <p:spPr>
          <a:xfrm>
            <a:off x="60960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Choose a CPU baseline and compare completed</a:t>
            </a:r>
          </a:p>
          <a:p>
            <a:pPr algn="l">
              <a:defRPr sz="1725" b="0">
                <a:solidFill>
                  <a:srgbClr val="142D45"/>
                </a:solidFill>
                <a:latin typeface="Arial"/>
                <a:ea typeface="Arial"/>
                <a:cs typeface="Arial"/>
              </a:defRPr>
            </a:pPr>
            <a:r>
              <a:rPr sz="1725" b="0">
                <a:solidFill>
                  <a:srgbClr val="142D45"/>
                </a:solidFill>
                <a:latin typeface="Arial"/>
                <a:ea typeface="Arial"/>
                <a:cs typeface="Arial"/>
              </a:rPr>
              <a:t>equivalent pipelines. GDS is conditional on storage</a:t>
            </a:r>
          </a:p>
          <a:p>
            <a:pPr algn="l">
              <a:defRPr sz="1725" b="0">
                <a:solidFill>
                  <a:srgbClr val="142D45"/>
                </a:solidFill>
                <a:latin typeface="Arial"/>
                <a:ea typeface="Arial"/>
                <a:cs typeface="Arial"/>
              </a:defRPr>
            </a:pPr>
            <a:r>
              <a:rPr sz="1725" b="0">
                <a:solidFill>
                  <a:srgbClr val="142D45"/>
                </a:solidFill>
                <a:latin typeface="Arial"/>
                <a:ea typeface="Arial"/>
                <a:cs typeface="Arial"/>
              </a:rPr>
              <a:t>bottlenecks, a compatible data path and verified</a:t>
            </a:r>
          </a:p>
          <a:p>
            <a:pPr algn="l">
              <a:defRPr sz="1725" b="0">
                <a:solidFill>
                  <a:srgbClr val="142D45"/>
                </a:solidFill>
                <a:latin typeface="Arial"/>
                <a:ea typeface="Arial"/>
                <a:cs typeface="Arial"/>
              </a:defRPr>
            </a:pPr>
            <a:r>
              <a:rPr sz="1725" b="0">
                <a:solidFill>
                  <a:srgbClr val="142D45"/>
                </a:solidFill>
                <a:latin typeface="Arial"/>
                <a:ea typeface="Arial"/>
                <a:cs typeface="Arial"/>
              </a:rPr>
              <a:t>support.</a:t>
            </a:r>
          </a:p>
        </p:txBody>
      </p:sp>
      <p:sp>
        <p:nvSpPr>
          <p:cNvPr id="6" name="Next: compile the teaching examples, check output again">
            <a:extLst>
              <a:ext uri="{FF2B5EF4-FFF2-40B4-BE49-F238E27FC236}">
                <a16:creationId xmlns:a16="http://schemas.microsoft.com/office/drawing/2014/main" id="{140ECD95-BEAF-4679-8832-50324DA4EE59}"/>
              </a:ext>
            </a:extLst>
          </p:cNvPr>
          <p:cNvSpPr>
            <a:spLocks noGrp="1"/>
          </p:cNvSpPr>
          <p:nvPr/>
        </p:nvSpPr>
        <p:spPr>
          <a:xfrm>
            <a:off x="609600" y="4292346"/>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Next: compile the teaching examples, check output</a:t>
            </a:r>
          </a:p>
          <a:p>
            <a:pPr algn="l">
              <a:defRPr sz="1725" b="0">
                <a:solidFill>
                  <a:srgbClr val="142D45"/>
                </a:solidFill>
                <a:latin typeface="Arial"/>
                <a:ea typeface="Arial"/>
                <a:cs typeface="Arial"/>
              </a:defRPr>
            </a:pPr>
            <a:r>
              <a:rPr sz="1725" b="0">
                <a:solidFill>
                  <a:srgbClr val="142D45"/>
                </a:solidFill>
                <a:latin typeface="Arial"/>
                <a:ea typeface="Arial"/>
                <a:cs typeface="Arial"/>
              </a:rPr>
              <a:t>against a CPU reference and profile representative</a:t>
            </a:r>
          </a:p>
          <a:p>
            <a:pPr algn="l">
              <a:defRPr sz="1725" b="0">
                <a:solidFill>
                  <a:srgbClr val="142D45"/>
                </a:solidFill>
                <a:latin typeface="Arial"/>
                <a:ea typeface="Arial"/>
                <a:cs typeface="Arial"/>
              </a:defRPr>
            </a:pPr>
            <a:r>
              <a:rPr sz="1725" b="0">
                <a:solidFill>
                  <a:srgbClr val="142D45"/>
                </a:solidFill>
                <a:latin typeface="Arial"/>
                <a:ea typeface="Arial"/>
                <a:cs typeface="Arial"/>
              </a:rPr>
              <a:t>image sizes/angles/batches. No result is assumed.</a:t>
            </a:r>
          </a:p>
        </p:txBody>
      </p:sp>
      <p:sp>
        <p:nvSpPr>
          <p:cNvPr id="7" name="Responsible scaling">
            <a:extLst>
              <a:ext uri="{FF2B5EF4-FFF2-40B4-BE49-F238E27FC236}">
                <a16:creationId xmlns:a16="http://schemas.microsoft.com/office/drawing/2014/main" id="{7A8B305E-2380-43C8-AC79-E758AD8667F8}"/>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Responsible scaling</a:t>
            </a:r>
          </a:p>
        </p:txBody>
      </p:sp>
      <p:sp>
        <p:nvSpPr>
          <p:cNvPr id="8" name="More compute can enable valuable research while concent">
            <a:extLst>
              <a:ext uri="{FF2B5EF4-FFF2-40B4-BE49-F238E27FC236}">
                <a16:creationId xmlns:a16="http://schemas.microsoft.com/office/drawing/2014/main" id="{44FD1CE8-E08C-430D-B829-14EE7D5E467E}"/>
              </a:ext>
            </a:extLst>
          </p:cNvPr>
          <p:cNvSpPr>
            <a:spLocks noGrp="1"/>
          </p:cNvSpPr>
          <p:nvPr/>
        </p:nvSpPr>
        <p:spPr>
          <a:xfrm>
            <a:off x="641985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More compute can enable valuable research while</a:t>
            </a:r>
          </a:p>
          <a:p>
            <a:pPr algn="l">
              <a:defRPr sz="1725" b="0">
                <a:solidFill>
                  <a:srgbClr val="142D45"/>
                </a:solidFill>
                <a:latin typeface="Arial"/>
                <a:ea typeface="Arial"/>
                <a:cs typeface="Arial"/>
              </a:defRPr>
            </a:pPr>
            <a:r>
              <a:rPr sz="1725" b="0">
                <a:solidFill>
                  <a:srgbClr val="142D45"/>
                </a:solidFill>
                <a:latin typeface="Arial"/>
                <a:ea typeface="Arial"/>
                <a:cs typeface="Arial"/>
              </a:rPr>
              <a:t>concentrating access and increasing resource</a:t>
            </a:r>
          </a:p>
          <a:p>
            <a:pPr algn="l">
              <a:defRPr sz="1725" b="0">
                <a:solidFill>
                  <a:srgbClr val="142D45"/>
                </a:solidFill>
                <a:latin typeface="Arial"/>
                <a:ea typeface="Arial"/>
                <a:cs typeface="Arial"/>
              </a:defRPr>
            </a:pPr>
            <a:r>
              <a:rPr sz="1725" b="0">
                <a:solidFill>
                  <a:srgbClr val="142D45"/>
                </a:solidFill>
                <a:latin typeface="Arial"/>
                <a:ea typeface="Arial"/>
                <a:cs typeface="Arial"/>
              </a:rPr>
              <a:t>demand. Approve scale for useful outcomes, with</a:t>
            </a:r>
          </a:p>
          <a:p>
            <a:pPr algn="l">
              <a:defRPr sz="1725" b="0">
                <a:solidFill>
                  <a:srgbClr val="142D45"/>
                </a:solidFill>
                <a:latin typeface="Arial"/>
                <a:ea typeface="Arial"/>
                <a:cs typeface="Arial"/>
              </a:defRPr>
            </a:pPr>
            <a:r>
              <a:rPr sz="1725" b="0">
                <a:solidFill>
                  <a:srgbClr val="142D45"/>
                </a:solidFill>
                <a:latin typeface="Arial"/>
                <a:ea typeface="Arial"/>
                <a:cs typeface="Arial"/>
              </a:rPr>
              <a:t>safeguards.</a:t>
            </a:r>
          </a:p>
        </p:txBody>
      </p:sp>
      <p:sp>
        <p:nvSpPr>
          <p:cNvPr id="9" name="Combine job-level energy/resource evidence, separate se">
            <a:extLst>
              <a:ext uri="{FF2B5EF4-FFF2-40B4-BE49-F238E27FC236}">
                <a16:creationId xmlns:a16="http://schemas.microsoft.com/office/drawing/2014/main" id="{245CCA49-28E8-4B51-AC03-93F36B743FF0}"/>
              </a:ext>
            </a:extLst>
          </p:cNvPr>
          <p:cNvSpPr>
            <a:spLocks noGrp="1"/>
          </p:cNvSpPr>
          <p:nvPr/>
        </p:nvSpPr>
        <p:spPr>
          <a:xfrm>
            <a:off x="641985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Combine job-level energy/resource evidence,</a:t>
            </a:r>
          </a:p>
          <a:p>
            <a:pPr algn="l">
              <a:defRPr sz="1725" b="0">
                <a:solidFill>
                  <a:srgbClr val="142D45"/>
                </a:solidFill>
                <a:latin typeface="Arial"/>
                <a:ea typeface="Arial"/>
                <a:cs typeface="Arial"/>
              </a:defRPr>
            </a:pPr>
            <a:r>
              <a:rPr sz="1725" b="0">
                <a:solidFill>
                  <a:srgbClr val="142D45"/>
                </a:solidFill>
                <a:latin typeface="Arial"/>
                <a:ea typeface="Arial"/>
                <a:cs typeface="Arial"/>
              </a:rPr>
              <a:t>separate security/fairness evaluation, transparent</a:t>
            </a:r>
          </a:p>
          <a:p>
            <a:pPr algn="l">
              <a:defRPr sz="1725" b="0">
                <a:solidFill>
                  <a:srgbClr val="142D45"/>
                </a:solidFill>
                <a:latin typeface="Arial"/>
                <a:ea typeface="Arial"/>
                <a:cs typeface="Arial"/>
              </a:defRPr>
            </a:pPr>
            <a:r>
              <a:rPr sz="1725" b="0">
                <a:solidFill>
                  <a:srgbClr val="142D45"/>
                </a:solidFill>
                <a:latin typeface="Arial"/>
                <a:ea typeface="Arial"/>
                <a:cs typeface="Arial"/>
              </a:rPr>
              <a:t>allocations and deadline-aware scheduling.</a:t>
            </a:r>
          </a:p>
        </p:txBody>
      </p:sp>
      <p:sp>
        <p:nvSpPr>
          <p:cNvPr id="10" name="Next: measure a real cluster job’s energy, quality, sca">
            <a:extLst>
              <a:ext uri="{FF2B5EF4-FFF2-40B4-BE49-F238E27FC236}">
                <a16:creationId xmlns:a16="http://schemas.microsoft.com/office/drawing/2014/main" id="{F5554082-1433-4D82-AB8D-DD0B03A3DDF7}"/>
              </a:ext>
            </a:extLst>
          </p:cNvPr>
          <p:cNvSpPr>
            <a:spLocks noGrp="1"/>
          </p:cNvSpPr>
          <p:nvPr/>
        </p:nvSpPr>
        <p:spPr>
          <a:xfrm>
            <a:off x="6419850" y="4292346"/>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Next: measure a real cluster job’s energy, quality,</a:t>
            </a:r>
          </a:p>
          <a:p>
            <a:pPr algn="l">
              <a:defRPr sz="1725" b="0">
                <a:solidFill>
                  <a:srgbClr val="142D45"/>
                </a:solidFill>
                <a:latin typeface="Arial"/>
                <a:ea typeface="Arial"/>
                <a:cs typeface="Arial"/>
              </a:defRPr>
            </a:pPr>
            <a:r>
              <a:rPr sz="1725" b="0">
                <a:solidFill>
                  <a:srgbClr val="142D45"/>
                </a:solidFill>
                <a:latin typeface="Arial"/>
                <a:ea typeface="Arial"/>
                <a:cs typeface="Arial"/>
              </a:rPr>
              <a:t>scaling efficiency and allocation outcomes; revise</a:t>
            </a:r>
          </a:p>
          <a:p>
            <a:pPr algn="l">
              <a:defRPr sz="1725" b="0">
                <a:solidFill>
                  <a:srgbClr val="142D45"/>
                </a:solidFill>
                <a:latin typeface="Arial"/>
                <a:ea typeface="Arial"/>
                <a:cs typeface="Arial"/>
              </a:defRPr>
            </a:pPr>
            <a:r>
              <a:rPr sz="1725" b="0">
                <a:solidFill>
                  <a:srgbClr val="142D45"/>
                </a:solidFill>
                <a:latin typeface="Arial"/>
                <a:ea typeface="Arial"/>
                <a:cs typeface="Arial"/>
              </a:rPr>
              <a:t>policy when evidence or conditions change.</a:t>
            </a:r>
          </a:p>
        </p:txBody>
      </p:sp>
      <p:sp>
        <p:nvSpPr>
          <p:cNvPr id="11" name="Straight Connector 10">
            <a:extLst>
              <a:ext uri="{FF2B5EF4-FFF2-40B4-BE49-F238E27FC236}">
                <a16:creationId xmlns:a16="http://schemas.microsoft.com/office/drawing/2014/main" id="{0712BACD-D15D-4237-9E46-EFF57C2E1DDC}"/>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C76DC275-3FF7-41C5-8F8B-3DC762FA5E84}"/>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2] NVIDIA CUDA Best Practices; [3] NVIDIA GDS">
            <a:extLst>
              <a:ext uri="{FF2B5EF4-FFF2-40B4-BE49-F238E27FC236}">
                <a16:creationId xmlns:a16="http://schemas.microsoft.com/office/drawing/2014/main" id="{6968FAF2-709E-4E5C-90F9-5349462A797E}"/>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 [3] NVIDIA GDS overview; [4] NVIDIA GDS design; [10] Schwartz et al. 2019: efficiency reporting; [14] Radovanovic et al. 2021: flexible</a:t>
            </a:r>
          </a:p>
          <a:p>
            <a:pPr algn="l">
              <a:defRPr sz="990" b="0">
                <a:solidFill>
                  <a:srgbClr val="516170"/>
                </a:solidFill>
                <a:latin typeface="Arial"/>
                <a:ea typeface="Arial"/>
                <a:cs typeface="Arial"/>
              </a:defRPr>
            </a:pPr>
            <a:r>
              <a:rPr sz="990" b="0">
                <a:solidFill>
                  <a:srgbClr val="516170"/>
                </a:solidFill>
                <a:latin typeface="Arial"/>
                <a:ea typeface="Arial"/>
                <a:cs typeface="Arial"/>
              </a:rPr>
              <a:t>scheduling; [16] NIST: Govern, Map, Measure, Manage</a:t>
            </a:r>
          </a:p>
        </p:txBody>
      </p:sp>
      <p:sp>
        <p:nvSpPr>
          <p:cNvPr id="14" name="31 / 46">
            <a:extLst>
              <a:ext uri="{FF2B5EF4-FFF2-40B4-BE49-F238E27FC236}">
                <a16:creationId xmlns:a16="http://schemas.microsoft.com/office/drawing/2014/main" id="{925A49EC-F4CB-4375-BECC-B8B71D433A55}"/>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33 / 48</a:t>
            </a:r>
          </a:p>
        </p:txBody>
      </p:sp>
    </p:spTree>
    <p:extLst>
      <p:ext uri="{BB962C8B-B14F-4D97-AF65-F5344CB8AC3E}">
        <p14:creationId xmlns:p14="http://schemas.microsoft.com/office/powerpoint/2010/main" val="981526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3" name="Appendix • Supporting material • Appendix • Reading gui">
            <a:extLst>
              <a:ext uri="{FF2B5EF4-FFF2-40B4-BE49-F238E27FC236}">
                <a16:creationId xmlns:a16="http://schemas.microsoft.com/office/drawing/2014/main" id="{B7114EE5-583D-4F6E-86EC-B0592C7AA41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Supporting material • Appendix • Reading guide</a:t>
            </a:r>
          </a:p>
        </p:txBody>
      </p:sp>
      <p:sp>
        <p:nvSpPr>
          <p:cNvPr id="2" name="Optional supporting material">
            <a:extLst>
              <a:ext uri="{FF2B5EF4-FFF2-40B4-BE49-F238E27FC236}">
                <a16:creationId xmlns:a16="http://schemas.microsoft.com/office/drawing/2014/main" id="{98DD198F-C2BD-4FD8-9B7C-A4617B900CDB}"/>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Optional supporting material</a:t>
            </a:r>
          </a:p>
        </p:txBody>
      </p:sp>
      <p:sp>
        <p:nvSpPr>
          <p:cNvPr id="3" name="Task 1: implementation expansions">
            <a:extLst>
              <a:ext uri="{FF2B5EF4-FFF2-40B4-BE49-F238E27FC236}">
                <a16:creationId xmlns:a16="http://schemas.microsoft.com/office/drawing/2014/main" id="{067A9BA4-1B23-4632-B62A-FA051D8DFB4A}"/>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1: implementation expansions</a:t>
            </a:r>
          </a:p>
        </p:txBody>
      </p:sp>
      <p:sp>
        <p:nvSpPr>
          <p:cNvPr id="4" name="The Task 1 answers already contain the rotation formula">
            <a:extLst>
              <a:ext uri="{FF2B5EF4-FFF2-40B4-BE49-F238E27FC236}">
                <a16:creationId xmlns:a16="http://schemas.microsoft.com/office/drawing/2014/main" id="{844F363D-9E06-43DA-BA41-51314259F548}"/>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Task 1 answers already contain the rotation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formula, worked calculation, kernel, host launch,</a:t>
            </a:r>
          </a:p>
          <a:p>
            <a:pPr algn="l">
              <a:defRPr sz="1725" b="0">
                <a:solidFill>
                  <a:srgbClr val="142D45"/>
                </a:solidFill>
                <a:latin typeface="Arial"/>
                <a:ea typeface="Arial"/>
                <a:cs typeface="Arial"/>
              </a:defRPr>
            </a:pPr>
            <a:r>
              <a:rPr sz="1725" b="0">
                <a:solidFill>
                  <a:srgbClr val="142D45"/>
                </a:solidFill>
                <a:latin typeface="Arial"/>
                <a:ea typeface="Arial"/>
                <a:cs typeface="Arial"/>
              </a:rPr>
              <a:t>launch-shape comparison and stream/overlap</a:t>
            </a:r>
          </a:p>
          <a:p>
            <a:pPr algn="l">
              <a:defRPr sz="1725" b="0">
                <a:solidFill>
                  <a:srgbClr val="142D45"/>
                </a:solidFill>
                <a:latin typeface="Arial"/>
                <a:ea typeface="Arial"/>
                <a:cs typeface="Arial"/>
              </a:defRPr>
            </a:pPr>
            <a:r>
              <a:rPr sz="1725" b="0">
                <a:solidFill>
                  <a:srgbClr val="142D45"/>
                </a:solidFill>
                <a:latin typeface="Arial"/>
                <a:ea typeface="Arial"/>
                <a:cs typeface="Arial"/>
              </a:rPr>
              <a:t>example.</a:t>
            </a:r>
          </a:p>
        </p:txBody>
      </p:sp>
      <p:sp>
        <p:nvSpPr>
          <p:cNvPr id="5" name="The following slides expand coordinate conventions and ">
            <a:extLst>
              <a:ext uri="{FF2B5EF4-FFF2-40B4-BE49-F238E27FC236}">
                <a16:creationId xmlns:a16="http://schemas.microsoft.com/office/drawing/2014/main" id="{650A153E-717E-448B-A5B8-C3671E441630}"/>
              </a:ext>
            </a:extLst>
          </p:cNvPr>
          <p:cNvSpPr>
            <a:spLocks noGrp="1"/>
          </p:cNvSpPr>
          <p:nvPr/>
        </p:nvSpPr>
        <p:spPr>
          <a:xfrm>
            <a:off x="60960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following slides expand coordinate conventions</a:t>
            </a:r>
          </a:p>
          <a:p>
            <a:pPr algn="l">
              <a:defRPr sz="1725" b="0">
                <a:solidFill>
                  <a:srgbClr val="142D45"/>
                </a:solidFill>
                <a:latin typeface="Arial"/>
                <a:ea typeface="Arial"/>
                <a:cs typeface="Arial"/>
              </a:defRPr>
            </a:pPr>
            <a:r>
              <a:rPr sz="1725" b="0">
                <a:solidFill>
                  <a:srgbClr val="142D45"/>
                </a:solidFill>
                <a:latin typeface="Arial"/>
                <a:ea typeface="Arial"/>
                <a:cs typeface="Arial"/>
              </a:rPr>
              <a:t>and complete source examples, then give an</a:t>
            </a:r>
          </a:p>
          <a:p>
            <a:pPr algn="l">
              <a:defRPr sz="1725" b="0">
                <a:solidFill>
                  <a:srgbClr val="142D45"/>
                </a:solidFill>
                <a:latin typeface="Arial"/>
                <a:ea typeface="Arial"/>
                <a:cs typeface="Arial"/>
              </a:defRPr>
            </a:pPr>
            <a:r>
              <a:rPr sz="1725" b="0">
                <a:solidFill>
                  <a:srgbClr val="142D45"/>
                </a:solidFill>
                <a:latin typeface="Arial"/>
                <a:ea typeface="Arial"/>
                <a:cs typeface="Arial"/>
              </a:rPr>
              <a:t>optional profiling plan and GDS background.</a:t>
            </a:r>
          </a:p>
        </p:txBody>
      </p:sp>
      <p:sp>
        <p:nvSpPr>
          <p:cNvPr id="6" name="Task 2: supplementary comparisons">
            <a:extLst>
              <a:ext uri="{FF2B5EF4-FFF2-40B4-BE49-F238E27FC236}">
                <a16:creationId xmlns:a16="http://schemas.microsoft.com/office/drawing/2014/main" id="{10886C40-136B-400C-AD40-9D35BD57CEB2}"/>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Task 2: supplementary comparisons</a:t>
            </a:r>
          </a:p>
        </p:txBody>
      </p:sp>
      <p:sp>
        <p:nvSpPr>
          <p:cNvPr id="7" name="The Task 2 answers already contain energy/carbon calcul">
            <a:extLst>
              <a:ext uri="{FF2B5EF4-FFF2-40B4-BE49-F238E27FC236}">
                <a16:creationId xmlns:a16="http://schemas.microsoft.com/office/drawing/2014/main" id="{35E62DF7-686B-4B00-983C-BE44B294C03C}"/>
              </a:ext>
            </a:extLst>
          </p:cNvPr>
          <p:cNvSpPr>
            <a:spLocks noGrp="1"/>
          </p:cNvSpPr>
          <p:nvPr/>
        </p:nvSpPr>
        <p:spPr>
          <a:xfrm>
            <a:off x="641985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Task 2 answers already contain energy/carbon</a:t>
            </a:r>
          </a:p>
          <a:p>
            <a:pPr algn="l">
              <a:defRPr sz="1725" b="0">
                <a:solidFill>
                  <a:srgbClr val="142D45"/>
                </a:solidFill>
                <a:latin typeface="Arial"/>
                <a:ea typeface="Arial"/>
                <a:cs typeface="Arial"/>
              </a:defRPr>
            </a:pPr>
            <a:r>
              <a:rPr sz="1725" b="0">
                <a:solidFill>
                  <a:srgbClr val="142D45"/>
                </a:solidFill>
                <a:latin typeface="Arial"/>
                <a:ea typeface="Arial"/>
                <a:cs typeface="Arial"/>
              </a:rPr>
              <a:t>calculations, research comparisons, governance</a:t>
            </a:r>
          </a:p>
          <a:p>
            <a:pPr algn="l">
              <a:defRPr sz="1725" b="0">
                <a:solidFill>
                  <a:srgbClr val="142D45"/>
                </a:solidFill>
                <a:latin typeface="Arial"/>
                <a:ea typeface="Arial"/>
                <a:cs typeface="Arial"/>
              </a:defRPr>
            </a:pPr>
            <a:r>
              <a:rPr sz="1725" b="0">
                <a:solidFill>
                  <a:srgbClr val="142D45"/>
                </a:solidFill>
                <a:latin typeface="Arial"/>
                <a:ea typeface="Arial"/>
                <a:cs typeface="Arial"/>
              </a:rPr>
              <a:t>and fairness decisions, access policy and</a:t>
            </a:r>
          </a:p>
          <a:p>
            <a:pPr algn="l">
              <a:defRPr sz="1725" b="0">
                <a:solidFill>
                  <a:srgbClr val="142D45"/>
                </a:solidFill>
                <a:latin typeface="Arial"/>
                <a:ea typeface="Arial"/>
                <a:cs typeface="Arial"/>
              </a:defRPr>
            </a:pPr>
            <a:r>
              <a:rPr sz="1725" b="0">
                <a:solidFill>
                  <a:srgbClr val="142D45"/>
                </a:solidFill>
                <a:latin typeface="Arial"/>
                <a:ea typeface="Arial"/>
                <a:cs typeface="Arial"/>
              </a:rPr>
              <a:t>accountable scheduling.</a:t>
            </a:r>
          </a:p>
        </p:txBody>
      </p:sp>
      <p:sp>
        <p:nvSpPr>
          <p:cNvPr id="8" name="Additional parallelism and cross-topic comparison table">
            <a:extLst>
              <a:ext uri="{FF2B5EF4-FFF2-40B4-BE49-F238E27FC236}">
                <a16:creationId xmlns:a16="http://schemas.microsoft.com/office/drawing/2014/main" id="{70230785-23F0-4F57-822A-266E28465575}"/>
              </a:ext>
            </a:extLst>
          </p:cNvPr>
          <p:cNvSpPr>
            <a:spLocks noGrp="1"/>
          </p:cNvSpPr>
          <p:nvPr/>
        </p:nvSpPr>
        <p:spPr>
          <a:xfrm>
            <a:off x="641985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Additional parallelism and cross-topic comparison</a:t>
            </a:r>
          </a:p>
          <a:p>
            <a:pPr algn="l">
              <a:defRPr sz="1725" b="0">
                <a:solidFill>
                  <a:srgbClr val="142D45"/>
                </a:solidFill>
                <a:latin typeface="Arial"/>
                <a:ea typeface="Arial"/>
                <a:cs typeface="Arial"/>
              </a:defRPr>
            </a:pPr>
            <a:r>
              <a:rPr sz="1725" b="0">
                <a:solidFill>
                  <a:srgbClr val="142D45"/>
                </a:solidFill>
                <a:latin typeface="Arial"/>
                <a:ea typeface="Arial"/>
                <a:cs typeface="Arial"/>
              </a:rPr>
              <a:t>tables follow. Website references and one brief</a:t>
            </a:r>
          </a:p>
          <a:p>
            <a:pPr algn="l">
              <a:defRPr sz="1725" b="0">
                <a:solidFill>
                  <a:srgbClr val="142D45"/>
                </a:solidFill>
                <a:latin typeface="Arial"/>
                <a:ea typeface="Arial"/>
                <a:cs typeface="Arial"/>
              </a:defRPr>
            </a:pPr>
            <a:r>
              <a:rPr sz="1725" b="0">
                <a:solidFill>
                  <a:srgbClr val="142D45"/>
                </a:solidFill>
                <a:latin typeface="Arial"/>
                <a:ea typeface="Arial"/>
                <a:cs typeface="Arial"/>
              </a:rPr>
              <a:t>AI-use declaration complete the deck.</a:t>
            </a:r>
          </a:p>
        </p:txBody>
      </p:sp>
      <p:sp>
        <p:nvSpPr>
          <p:cNvPr id="9" name="Straight Connector 8">
            <a:extLst>
              <a:ext uri="{FF2B5EF4-FFF2-40B4-BE49-F238E27FC236}">
                <a16:creationId xmlns:a16="http://schemas.microsoft.com/office/drawing/2014/main" id="{A0FBDAFD-FBF8-433B-BF0A-9695B0F22F3A}"/>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0" name="Straight Connector 9">
            <a:extLst>
              <a:ext uri="{FF2B5EF4-FFF2-40B4-BE49-F238E27FC236}">
                <a16:creationId xmlns:a16="http://schemas.microsoft.com/office/drawing/2014/main" id="{CE3837EF-E704-4ABB-91B5-9B9EDFFDBDF1}"/>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1" name="FIT3143 Applied 2">
            <a:extLst>
              <a:ext uri="{FF2B5EF4-FFF2-40B4-BE49-F238E27FC236}">
                <a16:creationId xmlns:a16="http://schemas.microsoft.com/office/drawing/2014/main" id="{B3342A51-03DD-4501-B798-B3357B8DB57C}"/>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2" name="32 / 46">
            <a:extLst>
              <a:ext uri="{FF2B5EF4-FFF2-40B4-BE49-F238E27FC236}">
                <a16:creationId xmlns:a16="http://schemas.microsoft.com/office/drawing/2014/main" id="{3935E86D-0A26-46EB-ABBD-39382BBDD48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34 / 48</a:t>
            </a:r>
          </a:p>
        </p:txBody>
      </p:sp>
    </p:spTree>
    <p:extLst>
      <p:ext uri="{BB962C8B-B14F-4D97-AF65-F5344CB8AC3E}">
        <p14:creationId xmlns:p14="http://schemas.microsoft.com/office/powerpoint/2010/main" val="1311713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1 • Appendix A1">
            <a:extLst>
              <a:ext uri="{FF2B5EF4-FFF2-40B4-BE49-F238E27FC236}">
                <a16:creationId xmlns:a16="http://schemas.microsoft.com/office/drawing/2014/main" id="{B3D5846C-40DE-478E-8F61-E828733468A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A1</a:t>
            </a:r>
          </a:p>
        </p:txBody>
      </p:sp>
      <p:sp>
        <p:nvSpPr>
          <p:cNvPr id="2" name="Rotation coordinates and sampling">
            <a:extLst>
              <a:ext uri="{FF2B5EF4-FFF2-40B4-BE49-F238E27FC236}">
                <a16:creationId xmlns:a16="http://schemas.microsoft.com/office/drawing/2014/main" id="{5A70B0A4-9DCC-446A-9238-10AF2FAB6DC6}"/>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Rotation coordinates and sampling</a:t>
            </a:r>
          </a:p>
        </p:txBody>
      </p:sp>
      <p:sp>
        <p:nvSpPr>
          <p:cNvPr id="3" name="Coordinate convention">
            <a:extLst>
              <a:ext uri="{FF2B5EF4-FFF2-40B4-BE49-F238E27FC236}">
                <a16:creationId xmlns:a16="http://schemas.microsoft.com/office/drawing/2014/main" id="{1EC8287A-1F21-41F1-9AB3-4C4A220A97BD}"/>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Coordinate convention</a:t>
            </a:r>
          </a:p>
        </p:txBody>
      </p:sp>
      <p:sp>
        <p:nvSpPr>
          <p:cNvPr id="4" name="Input/output: contiguous 8-bit RGB; positive width W an">
            <a:extLst>
              <a:ext uri="{FF2B5EF4-FFF2-40B4-BE49-F238E27FC236}">
                <a16:creationId xmlns:a16="http://schemas.microsoft.com/office/drawing/2014/main" id="{C70AFCED-217F-49C1-848D-C0A7BE3A927A}"/>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Input/output: contiguous 8-bit RGB; positive width W</a:t>
            </a:r>
          </a:p>
          <a:p>
            <a:pPr algn="l">
              <a:defRPr sz="1725" b="0">
                <a:solidFill>
                  <a:srgbClr val="142D45"/>
                </a:solidFill>
                <a:latin typeface="Arial"/>
                <a:ea typeface="Arial"/>
                <a:cs typeface="Arial"/>
              </a:defRPr>
            </a:pPr>
            <a:r>
              <a:rPr sz="1725" b="0">
                <a:solidFill>
                  <a:srgbClr val="142D45"/>
                </a:solidFill>
                <a:latin typeface="Arial"/>
                <a:ea typeface="Arial"/>
                <a:cs typeface="Arial"/>
              </a:rPr>
              <a:t>and height H; x points right and y points down. Input</a:t>
            </a:r>
          </a:p>
          <a:p>
            <a:pPr algn="l">
              <a:defRPr sz="1725" b="0">
                <a:solidFill>
                  <a:srgbClr val="142D45"/>
                </a:solidFill>
                <a:latin typeface="Arial"/>
                <a:ea typeface="Arial"/>
                <a:cs typeface="Arial"/>
              </a:defRPr>
            </a:pPr>
            <a:r>
              <a:rPr sz="1725" b="0">
                <a:solidFill>
                  <a:srgbClr val="142D45"/>
                </a:solidFill>
                <a:latin typeface="Arial"/>
                <a:ea typeface="Arial"/>
                <a:cs typeface="Arial"/>
              </a:rPr>
              <a:t>and output buffers are distinct.</a:t>
            </a:r>
          </a:p>
        </p:txBody>
      </p:sp>
      <p:sp>
        <p:nvSpPr>
          <p:cNvPr id="5" name="Rotate around cx = (W − 1)/2 and cy = (H − 1)/2. Positi">
            <a:extLst>
              <a:ext uri="{FF2B5EF4-FFF2-40B4-BE49-F238E27FC236}">
                <a16:creationId xmlns:a16="http://schemas.microsoft.com/office/drawing/2014/main" id="{4D94C0BD-A742-44B1-BBFD-36D9EA8F9205}"/>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Rotate around cx = (W − 1)/2 and cy = (H − 1)/2.</a:t>
            </a:r>
          </a:p>
          <a:p>
            <a:pPr algn="l">
              <a:defRPr sz="1725" b="0">
                <a:solidFill>
                  <a:srgbClr val="142D45"/>
                </a:solidFill>
                <a:latin typeface="Arial"/>
                <a:ea typeface="Arial"/>
                <a:cs typeface="Arial"/>
              </a:defRPr>
            </a:pPr>
            <a:r>
              <a:rPr sz="1725" b="0">
                <a:solidFill>
                  <a:srgbClr val="142D45"/>
                </a:solidFill>
                <a:latin typeface="Arial"/>
                <a:ea typeface="Arial"/>
                <a:cs typeface="Arial"/>
              </a:rPr>
              <a:t>Positive θ is visually counterclockwise; the host</a:t>
            </a:r>
          </a:p>
          <a:p>
            <a:pPr algn="l">
              <a:defRPr sz="1725" b="0">
                <a:solidFill>
                  <a:srgbClr val="142D45"/>
                </a:solidFill>
                <a:latin typeface="Arial"/>
                <a:ea typeface="Arial"/>
                <a:cs typeface="Arial"/>
              </a:defRPr>
            </a:pPr>
            <a:r>
              <a:rPr sz="1725" b="0">
                <a:solidFill>
                  <a:srgbClr val="142D45"/>
                </a:solidFill>
                <a:latin typeface="Arial"/>
                <a:ea typeface="Arial"/>
                <a:cs typeface="Arial"/>
              </a:rPr>
              <a:t>supplies c = cos θ and s = sin θ in radians.</a:t>
            </a:r>
          </a:p>
        </p:txBody>
      </p:sp>
      <p:sp>
        <p:nvSpPr>
          <p:cNvPr id="6" name="Forward image-coordinate rotation uses [c s; −s c]. Inv">
            <a:extLst>
              <a:ext uri="{FF2B5EF4-FFF2-40B4-BE49-F238E27FC236}">
                <a16:creationId xmlns:a16="http://schemas.microsoft.com/office/drawing/2014/main" id="{4D623DB8-5B3C-4D86-8A1B-572AB27A22E8}"/>
              </a:ext>
            </a:extLst>
          </p:cNvPr>
          <p:cNvSpPr>
            <a:spLocks noGrp="1"/>
          </p:cNvSpPr>
          <p:nvPr/>
        </p:nvSpPr>
        <p:spPr>
          <a:xfrm>
            <a:off x="609600" y="4020693"/>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Forward image-coordinate rotation uses [c s; −s c].</a:t>
            </a:r>
          </a:p>
          <a:p>
            <a:pPr algn="l">
              <a:defRPr sz="1725" b="0">
                <a:solidFill>
                  <a:srgbClr val="142D45"/>
                </a:solidFill>
                <a:latin typeface="Arial"/>
                <a:ea typeface="Arial"/>
                <a:cs typeface="Arial"/>
              </a:defRPr>
            </a:pPr>
            <a:r>
              <a:rPr sz="1725" b="0">
                <a:solidFill>
                  <a:srgbClr val="142D45"/>
                </a:solidFill>
                <a:latin typeface="Arial"/>
                <a:ea typeface="Arial"/>
                <a:cs typeface="Arial"/>
              </a:rPr>
              <a:t>Inverting it gives source offsets [c −s; s c] × output</a:t>
            </a:r>
          </a:p>
          <a:p>
            <a:pPr algn="l">
              <a:defRPr sz="1725" b="0">
                <a:solidFill>
                  <a:srgbClr val="142D45"/>
                </a:solidFill>
                <a:latin typeface="Arial"/>
                <a:ea typeface="Arial"/>
                <a:cs typeface="Arial"/>
              </a:defRPr>
            </a:pPr>
            <a:r>
              <a:rPr sz="1725" b="0">
                <a:solidFill>
                  <a:srgbClr val="142D45"/>
                </a:solidFill>
                <a:latin typeface="Arial"/>
                <a:ea typeface="Arial"/>
                <a:cs typeface="Arial"/>
              </a:rPr>
              <a:t>offsets, then restores the center.</a:t>
            </a:r>
          </a:p>
        </p:txBody>
      </p:sp>
      <p:sp>
        <p:nvSpPr>
          <p:cNvPr id="7" name="Deliberate design choices">
            <a:extLst>
              <a:ext uri="{FF2B5EF4-FFF2-40B4-BE49-F238E27FC236}">
                <a16:creationId xmlns:a16="http://schemas.microsoft.com/office/drawing/2014/main" id="{6F9280F8-286F-4D5B-83EA-F0E1E352E654}"/>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Deliberate design choices</a:t>
            </a:r>
          </a:p>
        </p:txBody>
      </p:sp>
      <p:sp>
        <p:nvSpPr>
          <p:cNvPr id="8" name="Nearest-neighbour indices: ix = floor(sx + 0.5), iy = f">
            <a:extLst>
              <a:ext uri="{FF2B5EF4-FFF2-40B4-BE49-F238E27FC236}">
                <a16:creationId xmlns:a16="http://schemas.microsoft.com/office/drawing/2014/main" id="{2FA0D4D2-B817-449C-84DD-FFA7090982BA}"/>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indices: ix = floor(sx + 0.5), iy =</a:t>
            </a:r>
          </a:p>
          <a:p>
            <a:pPr algn="l">
              <a:defRPr sz="1725" b="0">
                <a:solidFill>
                  <a:srgbClr val="142D45"/>
                </a:solidFill>
                <a:latin typeface="Arial"/>
                <a:ea typeface="Arial"/>
                <a:cs typeface="Arial"/>
              </a:defRPr>
            </a:pPr>
            <a:r>
              <a:rPr sz="1725" b="0">
                <a:solidFill>
                  <a:srgbClr val="142D45"/>
                </a:solidFill>
                <a:latin typeface="Arial"/>
                <a:ea typeface="Arial"/>
                <a:cs typeface="Arial"/>
              </a:rPr>
              <a:t>floor(sy + 0.5). Copy three channels if the rounded</a:t>
            </a:r>
          </a:p>
          <a:p>
            <a:pPr algn="l">
              <a:defRPr sz="1725" b="0">
                <a:solidFill>
                  <a:srgbClr val="142D45"/>
                </a:solidFill>
                <a:latin typeface="Arial"/>
                <a:ea typeface="Arial"/>
                <a:cs typeface="Arial"/>
              </a:defRPr>
            </a:pPr>
            <a:r>
              <a:rPr sz="1725" b="0">
                <a:solidFill>
                  <a:srgbClr val="142D45"/>
                </a:solidFill>
                <a:latin typeface="Arial"/>
                <a:ea typeface="Arial"/>
                <a:cs typeface="Arial"/>
              </a:rPr>
              <a:t>indices are in bounds; otherwise write black.</a:t>
            </a:r>
          </a:p>
        </p:txBody>
      </p:sp>
      <p:sp>
        <p:nvSpPr>
          <p:cNvPr id="9" name="The fixed W × H canvas can crop rotated corners. Neares">
            <a:extLst>
              <a:ext uri="{FF2B5EF4-FFF2-40B4-BE49-F238E27FC236}">
                <a16:creationId xmlns:a16="http://schemas.microsoft.com/office/drawing/2014/main" id="{A70ED770-FDAA-4AC9-B513-3277C333F8CD}"/>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fixed W × H canvas can crop rotated corners.</a:t>
            </a:r>
          </a:p>
          <a:p>
            <a:pPr algn="l">
              <a:defRPr sz="1725" b="0">
                <a:solidFill>
                  <a:srgbClr val="142D45"/>
                </a:solidFill>
                <a:latin typeface="Arial"/>
                <a:ea typeface="Arial"/>
                <a:cs typeface="Arial"/>
              </a:defRPr>
            </a:pPr>
            <a:r>
              <a:rPr sz="1725" b="0">
                <a:solidFill>
                  <a:srgbClr val="142D45"/>
                </a:solidFill>
                <a:latin typeface="Arial"/>
                <a:ea typeface="Arial"/>
                <a:cs typeface="Arial"/>
              </a:rPr>
              <a:t>Nearest-neighbour sampling can alias; bilinear</a:t>
            </a:r>
          </a:p>
          <a:p>
            <a:pPr algn="l">
              <a:defRPr sz="1725" b="0">
                <a:solidFill>
                  <a:srgbClr val="142D45"/>
                </a:solidFill>
                <a:latin typeface="Arial"/>
                <a:ea typeface="Arial"/>
                <a:cs typeface="Arial"/>
              </a:defRPr>
            </a:pPr>
            <a:r>
              <a:rPr sz="1725" b="0">
                <a:solidFill>
                  <a:srgbClr val="142D45"/>
                </a:solidFill>
                <a:latin typeface="Arial"/>
                <a:ea typeface="Arial"/>
                <a:cs typeface="Arial"/>
              </a:rPr>
              <a:t>interpolation improves smoothness but adds source</a:t>
            </a:r>
          </a:p>
          <a:p>
            <a:pPr algn="l">
              <a:defRPr sz="1725" b="0">
                <a:solidFill>
                  <a:srgbClr val="142D45"/>
                </a:solidFill>
                <a:latin typeface="Arial"/>
                <a:ea typeface="Arial"/>
                <a:cs typeface="Arial"/>
              </a:defRPr>
            </a:pPr>
            <a:r>
              <a:rPr sz="1725" b="0">
                <a:solidFill>
                  <a:srgbClr val="142D45"/>
                </a:solidFill>
                <a:latin typeface="Arial"/>
                <a:ea typeface="Arial"/>
                <a:cs typeface="Arial"/>
              </a:rPr>
              <a:t>reads/arithmetic.</a:t>
            </a:r>
          </a:p>
        </p:txBody>
      </p:sp>
      <p:sp>
        <p:nvSpPr>
          <p:cNvPr id="10" name="Forward scatter can leave holes or competing writes aft">
            <a:extLst>
              <a:ext uri="{FF2B5EF4-FFF2-40B4-BE49-F238E27FC236}">
                <a16:creationId xmlns:a16="http://schemas.microsoft.com/office/drawing/2014/main" id="{228F654B-FEB7-4327-A7DC-85C904D3DE8A}"/>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Forward scatter can leave holes or competing writes</a:t>
            </a:r>
          </a:p>
          <a:p>
            <a:pPr algn="l">
              <a:defRPr sz="1725" b="0">
                <a:solidFill>
                  <a:srgbClr val="142D45"/>
                </a:solidFill>
                <a:latin typeface="Arial"/>
                <a:ea typeface="Arial"/>
                <a:cs typeface="Arial"/>
              </a:defRPr>
            </a:pPr>
            <a:r>
              <a:rPr sz="1725" b="0">
                <a:solidFill>
                  <a:srgbClr val="142D45"/>
                </a:solidFill>
                <a:latin typeface="Arial"/>
                <a:ea typeface="Arial"/>
                <a:cs typeface="Arial"/>
              </a:rPr>
              <a:t>after rounding. Inverse gathering assigns every</a:t>
            </a:r>
          </a:p>
          <a:p>
            <a:pPr algn="l">
              <a:defRPr sz="1725" b="0">
                <a:solidFill>
                  <a:srgbClr val="142D45"/>
                </a:solidFill>
                <a:latin typeface="Arial"/>
                <a:ea typeface="Arial"/>
                <a:cs typeface="Arial"/>
              </a:defRPr>
            </a:pPr>
            <a:r>
              <a:rPr sz="1725" b="0">
                <a:solidFill>
                  <a:srgbClr val="142D45"/>
                </a:solidFill>
                <a:latin typeface="Arial"/>
                <a:ea typeface="Arial"/>
                <a:cs typeface="Arial"/>
              </a:rPr>
              <a:t>output exactly one writer. NPP offers library rotation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with explicit interpolation/ROI choices.</a:t>
            </a:r>
          </a:p>
        </p:txBody>
      </p:sp>
      <p:sp>
        <p:nvSpPr>
          <p:cNvPr id="11" name="Straight Connector 10">
            <a:extLst>
              <a:ext uri="{FF2B5EF4-FFF2-40B4-BE49-F238E27FC236}">
                <a16:creationId xmlns:a16="http://schemas.microsoft.com/office/drawing/2014/main" id="{5F93F30A-4307-4DA3-AB8E-5C9ADCD90834}"/>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7EAE03B2-2740-43BF-81D3-66E91993CC8E}"/>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17] NVIDIA NPP: library alternative">
            <a:extLst>
              <a:ext uri="{FF2B5EF4-FFF2-40B4-BE49-F238E27FC236}">
                <a16:creationId xmlns:a16="http://schemas.microsoft.com/office/drawing/2014/main" id="{DF784F60-4826-40B6-B737-2122020DD9E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[17] NVIDIA NPP: library alternative</a:t>
            </a:r>
          </a:p>
        </p:txBody>
      </p:sp>
      <p:sp>
        <p:nvSpPr>
          <p:cNvPr id="14" name="33 / 46">
            <a:extLst>
              <a:ext uri="{FF2B5EF4-FFF2-40B4-BE49-F238E27FC236}">
                <a16:creationId xmlns:a16="http://schemas.microsoft.com/office/drawing/2014/main" id="{AE43419B-32B3-4114-A6CA-4EED24AD55C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35 / 48</a:t>
            </a:r>
          </a:p>
        </p:txBody>
      </p:sp>
    </p:spTree>
    <p:extLst>
      <p:ext uri="{BB962C8B-B14F-4D97-AF65-F5344CB8AC3E}">
        <p14:creationId xmlns:p14="http://schemas.microsoft.com/office/powerpoint/2010/main" val="2145240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Appendix A2">
            <a:extLst>
              <a:ext uri="{FF2B5EF4-FFF2-40B4-BE49-F238E27FC236}">
                <a16:creationId xmlns:a16="http://schemas.microsoft.com/office/drawing/2014/main" id="{C4162C17-039D-4AF4-8B81-5EC205F3B176}"/>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A2</a:t>
            </a:r>
          </a:p>
        </p:txBody>
      </p:sp>
      <p:sp>
        <p:nvSpPr>
          <p:cNvPr id="2" name="Crafted CUDA example: RGB brightness">
            <a:extLst>
              <a:ext uri="{FF2B5EF4-FFF2-40B4-BE49-F238E27FC236}">
                <a16:creationId xmlns:a16="http://schemas.microsoft.com/office/drawing/2014/main" id="{0D9AA92E-B3BD-46EB-8C5A-B56908C831BB}"/>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RGB brightness</a:t>
            </a:r>
          </a:p>
        </p:txBody>
      </p:sp>
      <p:sp>
        <p:nvSpPr>
          <p:cNvPr id="3" name="Rectangle 2">
            <a:extLst>
              <a:ext uri="{FF2B5EF4-FFF2-40B4-BE49-F238E27FC236}">
                <a16:creationId xmlns:a16="http://schemas.microsoft.com/office/drawing/2014/main" id="{F53AB21A-B2E1-4E75-88D7-069BD434D569}"/>
              </a:ext>
            </a:extLst>
          </p:cNvPr>
          <p:cNvSpPr>
            <a:spLocks noGrp="1"/>
          </p:cNvSpPr>
          <p:nvPr/>
        </p:nvSpPr>
        <p:spPr>
          <a:xfrm>
            <a:off x="609600" y="1495425"/>
            <a:ext cx="7705725" cy="4137660"/>
          </a:xfrm>
          <a:prstGeom prst="rect">
            <a:avLst/>
          </a:prstGeom>
          <a:solidFill>
            <a:srgbClr val="EDF1F5"/>
          </a:solidFill>
          <a:ln w="14288">
            <a:noFill/>
            <a:prstDash val="solid"/>
          </a:ln>
        </p:spPr>
        <p:txBody>
          <a:bodyPr/>
          <a:lstStyle/>
          <a:p>
            <a:endParaRPr lang="en-US"/>
          </a:p>
        </p:txBody>
      </p:sp>
      <p:sp>
        <p:nvSpPr>
          <p:cNvPr id="4" name="__global__ void brightness_rgb(const unsigned char* inp">
            <a:extLst>
              <a:ext uri="{FF2B5EF4-FFF2-40B4-BE49-F238E27FC236}">
                <a16:creationId xmlns:a16="http://schemas.microsoft.com/office/drawing/2014/main" id="{CB272311-94FF-496F-8664-35EAC3797FD0}"/>
              </a:ext>
            </a:extLst>
          </p:cNvPr>
          <p:cNvSpPr>
            <a:spLocks noGrp="1"/>
          </p:cNvSpPr>
          <p:nvPr/>
        </p:nvSpPr>
        <p:spPr>
          <a:xfrm>
            <a:off x="723900" y="1581150"/>
            <a:ext cx="7477125" cy="400431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brightness_rgb(const unsigned char* input,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brightness)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offset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value = int(input[offset + channel]) + brightness;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output[offset + channel]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value &lt; 0 ? 0 : (value &gt; 255 ? 255 : value);</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Same operation on independent pixels: a data-parallel k">
            <a:extLst>
              <a:ext uri="{FF2B5EF4-FFF2-40B4-BE49-F238E27FC236}">
                <a16:creationId xmlns:a16="http://schemas.microsoft.com/office/drawing/2014/main" id="{653E19FC-B255-489E-A879-64EF7BB9C583}"/>
              </a:ext>
            </a:extLst>
          </p:cNvPr>
          <p:cNvSpPr>
            <a:spLocks noGrp="1"/>
          </p:cNvSpPr>
          <p:nvPr/>
        </p:nvSpPr>
        <p:spPr>
          <a:xfrm>
            <a:off x="8648700" y="1581150"/>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Same operation on</a:t>
            </a:r>
          </a:p>
          <a:p>
            <a:pPr algn="l">
              <a:defRPr sz="1650" b="0">
                <a:solidFill>
                  <a:srgbClr val="142D45"/>
                </a:solidFill>
                <a:latin typeface="Arial"/>
                <a:ea typeface="Arial"/>
                <a:cs typeface="Arial"/>
              </a:defRPr>
            </a:pPr>
            <a:r>
              <a:rPr sz="1650" b="0">
                <a:solidFill>
                  <a:srgbClr val="142D45"/>
                </a:solidFill>
                <a:latin typeface="Arial"/>
                <a:ea typeface="Arial"/>
                <a:cs typeface="Arial"/>
              </a:rPr>
              <a:t>independent pixels: a</a:t>
            </a:r>
          </a:p>
          <a:p>
            <a:pPr algn="l">
              <a:defRPr sz="1650" b="0">
                <a:solidFill>
                  <a:srgbClr val="142D45"/>
                </a:solidFill>
                <a:latin typeface="Arial"/>
                <a:ea typeface="Arial"/>
                <a:cs typeface="Arial"/>
              </a:defRPr>
            </a:pPr>
            <a:r>
              <a:rPr sz="1650" b="0">
                <a:solidFill>
                  <a:srgbClr val="142D45"/>
                </a:solidFill>
                <a:latin typeface="Arial"/>
                <a:ea typeface="Arial"/>
                <a:cs typeface="Arial"/>
              </a:rPr>
              <a:t>data-parallel kernel.</a:t>
            </a:r>
          </a:p>
        </p:txBody>
      </p:sp>
      <p:sp>
        <p:nvSpPr>
          <p:cNvPr id="6" name="Assume brightness in [−255,255]. Integer addition avoid">
            <a:extLst>
              <a:ext uri="{FF2B5EF4-FFF2-40B4-BE49-F238E27FC236}">
                <a16:creationId xmlns:a16="http://schemas.microsoft.com/office/drawing/2014/main" id="{6B8C01B2-3E2D-4C4C-91A7-D6E4F1EEFE97}"/>
              </a:ext>
            </a:extLst>
          </p:cNvPr>
          <p:cNvSpPr>
            <a:spLocks noGrp="1"/>
          </p:cNvSpPr>
          <p:nvPr/>
        </p:nvSpPr>
        <p:spPr>
          <a:xfrm>
            <a:off x="8648700" y="2589276"/>
            <a:ext cx="293370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Assume brightness in</a:t>
            </a:r>
          </a:p>
          <a:p>
            <a:pPr algn="l">
              <a:defRPr sz="1650" b="0">
                <a:solidFill>
                  <a:srgbClr val="142D45"/>
                </a:solidFill>
                <a:latin typeface="Arial"/>
                <a:ea typeface="Arial"/>
                <a:cs typeface="Arial"/>
              </a:defRPr>
            </a:pPr>
            <a:r>
              <a:rPr sz="1650" b="0">
                <a:solidFill>
                  <a:srgbClr val="142D45"/>
                </a:solidFill>
                <a:latin typeface="Arial"/>
                <a:ea typeface="Arial"/>
                <a:cs typeface="Arial"/>
              </a:rPr>
              <a:t>[−255,255]. Integer addition</a:t>
            </a:r>
          </a:p>
          <a:p>
            <a:pPr algn="l">
              <a:defRPr sz="1650" b="0">
                <a:solidFill>
                  <a:srgbClr val="142D45"/>
                </a:solidFill>
                <a:latin typeface="Arial"/>
                <a:ea typeface="Arial"/>
                <a:cs typeface="Arial"/>
              </a:defRPr>
            </a:pPr>
            <a:r>
              <a:rPr sz="1650" b="0">
                <a:solidFill>
                  <a:srgbClr val="142D45"/>
                </a:solidFill>
                <a:latin typeface="Arial"/>
                <a:ea typeface="Arial"/>
                <a:cs typeface="Arial"/>
              </a:rPr>
              <a:t>avoids uint8 wrap; clamp each</a:t>
            </a:r>
          </a:p>
          <a:p>
            <a:pPr algn="l">
              <a:defRPr sz="1650" b="0">
                <a:solidFill>
                  <a:srgbClr val="142D45"/>
                </a:solidFill>
                <a:latin typeface="Arial"/>
                <a:ea typeface="Arial"/>
                <a:cs typeface="Arial"/>
              </a:defRPr>
            </a:pPr>
            <a:r>
              <a:rPr sz="1650" b="0">
                <a:solidFill>
                  <a:srgbClr val="142D45"/>
                </a:solidFill>
                <a:latin typeface="Arial"/>
                <a:ea typeface="Arial"/>
                <a:cs typeface="Arial"/>
              </a:rPr>
              <a:t>channel to [0,255].</a:t>
            </a:r>
          </a:p>
        </p:txBody>
      </p:sp>
      <p:sp>
        <p:nvSpPr>
          <p:cNvPr id="7" name="Adjacent threads touch adjacent pixel locations, provid">
            <a:extLst>
              <a:ext uri="{FF2B5EF4-FFF2-40B4-BE49-F238E27FC236}">
                <a16:creationId xmlns:a16="http://schemas.microsoft.com/office/drawing/2014/main" id="{1FC50CAF-2AB9-452F-A529-CE341CD32622}"/>
              </a:ext>
            </a:extLst>
          </p:cNvPr>
          <p:cNvSpPr>
            <a:spLocks noGrp="1"/>
          </p:cNvSpPr>
          <p:nvPr/>
        </p:nvSpPr>
        <p:spPr>
          <a:xfrm>
            <a:off x="8648700" y="385724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Adjacent threads touch</a:t>
            </a:r>
          </a:p>
          <a:p>
            <a:pPr algn="l">
              <a:defRPr sz="1650" b="0">
                <a:solidFill>
                  <a:srgbClr val="142D45"/>
                </a:solidFill>
                <a:latin typeface="Arial"/>
                <a:ea typeface="Arial"/>
                <a:cs typeface="Arial"/>
              </a:defRPr>
            </a:pPr>
            <a:r>
              <a:rPr sz="1650" b="0">
                <a:solidFill>
                  <a:srgbClr val="142D45"/>
                </a:solidFill>
                <a:latin typeface="Arial"/>
                <a:ea typeface="Arial"/>
                <a:cs typeface="Arial"/>
              </a:rPr>
              <a:t>adjacent pixel locations,</a:t>
            </a:r>
          </a:p>
          <a:p>
            <a:pPr algn="l">
              <a:defRPr sz="1650" b="0">
                <a:solidFill>
                  <a:srgbClr val="142D45"/>
                </a:solidFill>
                <a:latin typeface="Arial"/>
                <a:ea typeface="Arial"/>
                <a:cs typeface="Arial"/>
              </a:defRPr>
            </a:pPr>
            <a:r>
              <a:rPr sz="1650" b="0">
                <a:solidFill>
                  <a:srgbClr val="142D45"/>
                </a:solidFill>
                <a:latin typeface="Arial"/>
                <a:ea typeface="Arial"/>
                <a:cs typeface="Arial"/>
              </a:rPr>
              <a:t>providing useful locality.</a:t>
            </a:r>
          </a:p>
        </p:txBody>
      </p:sp>
      <p:sp>
        <p:nvSpPr>
          <p:cNvPr id="8" name="Illustrative CUDA C++; uncompiled and unbenchmarked.">
            <a:extLst>
              <a:ext uri="{FF2B5EF4-FFF2-40B4-BE49-F238E27FC236}">
                <a16:creationId xmlns:a16="http://schemas.microsoft.com/office/drawing/2014/main" id="{F3529BA9-DA02-4ADA-9EF6-1015CCF03D98}"/>
              </a:ext>
            </a:extLst>
          </p:cNvPr>
          <p:cNvSpPr>
            <a:spLocks noGrp="1"/>
          </p:cNvSpPr>
          <p:nvPr/>
        </p:nvSpPr>
        <p:spPr>
          <a:xfrm>
            <a:off x="8648700" y="4865370"/>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Illustrative CUDA C++;</a:t>
            </a:r>
          </a:p>
          <a:p>
            <a:pPr algn="l">
              <a:defRPr sz="1650" b="0">
                <a:solidFill>
                  <a:srgbClr val="142D45"/>
                </a:solidFill>
                <a:latin typeface="Arial"/>
                <a:ea typeface="Arial"/>
                <a:cs typeface="Arial"/>
              </a:defRPr>
            </a:pPr>
            <a:r>
              <a:rPr sz="1650" b="0">
                <a:solidFill>
                  <a:srgbClr val="142D45"/>
                </a:solidFill>
                <a:latin typeface="Arial"/>
                <a:ea typeface="Arial"/>
                <a:cs typeface="Arial"/>
              </a:rPr>
              <a:t>uncompiled and</a:t>
            </a:r>
          </a:p>
          <a:p>
            <a:pPr algn="l">
              <a:defRPr sz="1650" b="0">
                <a:solidFill>
                  <a:srgbClr val="142D45"/>
                </a:solidFill>
                <a:latin typeface="Arial"/>
                <a:ea typeface="Arial"/>
                <a:cs typeface="Arial"/>
              </a:defRPr>
            </a:pPr>
            <a:r>
              <a:rPr sz="1650" b="0">
                <a:solidFill>
                  <a:srgbClr val="142D45"/>
                </a:solidFill>
                <a:latin typeface="Arial"/>
                <a:ea typeface="Arial"/>
                <a:cs typeface="Arial"/>
              </a:rPr>
              <a:t>unbenchmarked.</a:t>
            </a:r>
          </a:p>
        </p:txBody>
      </p:sp>
      <p:sp>
        <p:nvSpPr>
          <p:cNvPr id="9" name="Straight Connector 8">
            <a:extLst>
              <a:ext uri="{FF2B5EF4-FFF2-40B4-BE49-F238E27FC236}">
                <a16:creationId xmlns:a16="http://schemas.microsoft.com/office/drawing/2014/main" id="{EB5B3937-19CB-419F-A347-1905B80F9807}"/>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a:extLst>
              <a:ext uri="{FF2B5EF4-FFF2-40B4-BE49-F238E27FC236}">
                <a16:creationId xmlns:a16="http://schemas.microsoft.com/office/drawing/2014/main" id="{D8FAE123-8F29-4263-A0CE-A6118561C17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4 / 46">
            <a:extLst>
              <a:ext uri="{FF2B5EF4-FFF2-40B4-BE49-F238E27FC236}">
                <a16:creationId xmlns:a16="http://schemas.microsoft.com/office/drawing/2014/main" id="{9D2A0C43-5B80-40A8-BB92-71A0EB829E1C}"/>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36 / 48</a:t>
            </a:r>
          </a:p>
        </p:txBody>
      </p:sp>
    </p:spTree>
    <p:extLst>
      <p:ext uri="{BB962C8B-B14F-4D97-AF65-F5344CB8AC3E}">
        <p14:creationId xmlns:p14="http://schemas.microsoft.com/office/powerpoint/2010/main" val="388241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Appendix A3">
            <a:extLst>
              <a:ext uri="{FF2B5EF4-FFF2-40B4-BE49-F238E27FC236}">
                <a16:creationId xmlns:a16="http://schemas.microsoft.com/office/drawing/2014/main" id="{7355F35B-C6B4-4027-B94B-E93B8896C80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A3</a:t>
            </a:r>
          </a:p>
        </p:txBody>
      </p:sp>
      <p:sp>
        <p:nvSpPr>
          <p:cNvPr id="2" name="Crafted CUDA example: inverse mapping">
            <a:extLst>
              <a:ext uri="{FF2B5EF4-FFF2-40B4-BE49-F238E27FC236}">
                <a16:creationId xmlns:a16="http://schemas.microsoft.com/office/drawing/2014/main" id="{C0C74BB9-DB83-4D6E-B721-09F1818E9F16}"/>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inverse mapping</a:t>
            </a:r>
          </a:p>
        </p:txBody>
      </p:sp>
      <p:sp>
        <p:nvSpPr>
          <p:cNvPr id="3" name="Rectangle 2">
            <a:extLst>
              <a:ext uri="{FF2B5EF4-FFF2-40B4-BE49-F238E27FC236}">
                <a16:creationId xmlns:a16="http://schemas.microsoft.com/office/drawing/2014/main" id="{94C629FE-CC62-4D77-B47A-6BEF6C8C0A8D}"/>
              </a:ext>
            </a:extLst>
          </p:cNvPr>
          <p:cNvSpPr>
            <a:spLocks noGrp="1"/>
          </p:cNvSpPr>
          <p:nvPr/>
        </p:nvSpPr>
        <p:spPr>
          <a:xfrm>
            <a:off x="609600" y="1495425"/>
            <a:ext cx="7705725" cy="4137660"/>
          </a:xfrm>
          <a:prstGeom prst="rect">
            <a:avLst/>
          </a:prstGeom>
          <a:solidFill>
            <a:srgbClr val="EDF1F5"/>
          </a:solidFill>
          <a:ln w="14288">
            <a:noFill/>
            <a:prstDash val="solid"/>
          </a:ln>
        </p:spPr>
        <p:txBody>
          <a:bodyPr/>
          <a:lstStyle/>
          <a:p>
            <a:endParaRPr lang="en-US"/>
          </a:p>
        </p:txBody>
      </p:sp>
      <p:sp>
        <p:nvSpPr>
          <p:cNvPr id="4" name="__global__ void rotate_rgb(const unsigned char* input,&#10;">
            <a:extLst>
              <a:ext uri="{FF2B5EF4-FFF2-40B4-BE49-F238E27FC236}">
                <a16:creationId xmlns:a16="http://schemas.microsoft.com/office/drawing/2014/main" id="{F287C1A2-CD86-4352-BB95-177A0C5A3781}"/>
              </a:ext>
            </a:extLst>
          </p:cNvPr>
          <p:cNvSpPr>
            <a:spLocks noGrp="1"/>
          </p:cNvSpPr>
          <p:nvPr/>
        </p:nvSpPr>
        <p:spPr>
          <a:xfrm>
            <a:off x="723900" y="1581150"/>
            <a:ext cx="7477125" cy="400431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__global__ void rotate_rgb(const unsigned char* input,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width,</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int height,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s)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x = blockIdx.x * blockDim.x + threadIdx.x;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y = blockIdx.y * blockDim.y + threadIdx.y;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(x &gt;= width || y &gt;= height)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endParaRPr sz="1425" b="0">
              <a:solidFill>
                <a:srgbClr val="142D45"/>
              </a:solidFill>
              <a:latin typeface="Consolas"/>
              <a:ea typeface="Consolas"/>
              <a:cs typeface="Consolas"/>
            </a:endParaRP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cx = (width - 1) * 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cy = (height - 1) * 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sx = c * (x - cx) - s * (y - cy) + cx;</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float sy = s * (x - cx) + c * (y - cy) + cy;</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ix = int(floorf(sx + 0.5f));</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int iy = int(floorf(sy + 0.5f));</a:t>
            </a:r>
          </a:p>
        </p:txBody>
      </p:sp>
      <p:sp>
        <p:nvSpPr>
          <p:cNvPr id="5" name="Global coordinates come from block/thread indices.">
            <a:extLst>
              <a:ext uri="{FF2B5EF4-FFF2-40B4-BE49-F238E27FC236}">
                <a16:creationId xmlns:a16="http://schemas.microsoft.com/office/drawing/2014/main" id="{B610B5F8-E655-4083-8B6A-F07D8CC27792}"/>
              </a:ext>
            </a:extLst>
          </p:cNvPr>
          <p:cNvSpPr>
            <a:spLocks noGrp="1"/>
          </p:cNvSpPr>
          <p:nvPr/>
        </p:nvSpPr>
        <p:spPr>
          <a:xfrm>
            <a:off x="8648700" y="1581150"/>
            <a:ext cx="29337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Global coordinates come from</a:t>
            </a:r>
          </a:p>
          <a:p>
            <a:pPr algn="l">
              <a:defRPr sz="1650" b="0">
                <a:solidFill>
                  <a:srgbClr val="142D45"/>
                </a:solidFill>
                <a:latin typeface="Arial"/>
                <a:ea typeface="Arial"/>
                <a:cs typeface="Arial"/>
              </a:defRPr>
            </a:pPr>
            <a:r>
              <a:rPr sz="1650" b="0">
                <a:solidFill>
                  <a:srgbClr val="142D45"/>
                </a:solidFill>
                <a:latin typeface="Arial"/>
                <a:ea typeface="Arial"/>
                <a:cs typeface="Arial"/>
              </a:rPr>
              <a:t>block/thread indices.</a:t>
            </a:r>
          </a:p>
        </p:txBody>
      </p:sp>
      <p:sp>
        <p:nvSpPr>
          <p:cNvPr id="6" name="The guard handles partial edge blocks before any memory">
            <a:extLst>
              <a:ext uri="{FF2B5EF4-FFF2-40B4-BE49-F238E27FC236}">
                <a16:creationId xmlns:a16="http://schemas.microsoft.com/office/drawing/2014/main" id="{0C5E576E-EF90-495F-8DB5-290B296D8004}"/>
              </a:ext>
            </a:extLst>
          </p:cNvPr>
          <p:cNvSpPr>
            <a:spLocks noGrp="1"/>
          </p:cNvSpPr>
          <p:nvPr/>
        </p:nvSpPr>
        <p:spPr>
          <a:xfrm>
            <a:off x="8648700" y="232943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The guard handles partial edge</a:t>
            </a:r>
          </a:p>
          <a:p>
            <a:pPr algn="l">
              <a:defRPr sz="1650" b="0">
                <a:solidFill>
                  <a:srgbClr val="142D45"/>
                </a:solidFill>
                <a:latin typeface="Arial"/>
                <a:ea typeface="Arial"/>
                <a:cs typeface="Arial"/>
              </a:defRPr>
            </a:pPr>
            <a:r>
              <a:rPr sz="1650" b="0">
                <a:solidFill>
                  <a:srgbClr val="142D45"/>
                </a:solidFill>
                <a:latin typeface="Arial"/>
                <a:ea typeface="Arial"/>
                <a:cs typeface="Arial"/>
              </a:rPr>
              <a:t>blocks before any memory</a:t>
            </a:r>
          </a:p>
          <a:p>
            <a:pPr algn="l">
              <a:defRPr sz="1650" b="0">
                <a:solidFill>
                  <a:srgbClr val="142D45"/>
                </a:solidFill>
                <a:latin typeface="Arial"/>
                <a:ea typeface="Arial"/>
                <a:cs typeface="Arial"/>
              </a:defRPr>
            </a:pPr>
            <a:r>
              <a:rPr sz="1650" b="0">
                <a:solidFill>
                  <a:srgbClr val="142D45"/>
                </a:solidFill>
                <a:latin typeface="Arial"/>
                <a:ea typeface="Arial"/>
                <a:cs typeface="Arial"/>
              </a:rPr>
              <a:t>access.</a:t>
            </a:r>
          </a:p>
        </p:txBody>
      </p:sp>
      <p:sp>
        <p:nvSpPr>
          <p:cNvPr id="7" name="The host computes sine/cosine once per angle.">
            <a:extLst>
              <a:ext uri="{FF2B5EF4-FFF2-40B4-BE49-F238E27FC236}">
                <a16:creationId xmlns:a16="http://schemas.microsoft.com/office/drawing/2014/main" id="{D09D3253-B574-452C-8E35-01D2C80277F8}"/>
              </a:ext>
            </a:extLst>
          </p:cNvPr>
          <p:cNvSpPr>
            <a:spLocks noGrp="1"/>
          </p:cNvSpPr>
          <p:nvPr/>
        </p:nvSpPr>
        <p:spPr>
          <a:xfrm>
            <a:off x="8648700" y="3337560"/>
            <a:ext cx="29337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The host computes sine/cosine</a:t>
            </a:r>
          </a:p>
          <a:p>
            <a:pPr algn="l">
              <a:defRPr sz="1650" b="0">
                <a:solidFill>
                  <a:srgbClr val="142D45"/>
                </a:solidFill>
                <a:latin typeface="Arial"/>
                <a:ea typeface="Arial"/>
                <a:cs typeface="Arial"/>
              </a:defRPr>
            </a:pPr>
            <a:r>
              <a:rPr sz="1650" b="0">
                <a:solidFill>
                  <a:srgbClr val="142D45"/>
                </a:solidFill>
                <a:latin typeface="Arial"/>
                <a:ea typeface="Arial"/>
                <a:cs typeface="Arial"/>
              </a:rPr>
              <a:t>once per angle.</a:t>
            </a:r>
          </a:p>
        </p:txBody>
      </p:sp>
      <p:sp>
        <p:nvSpPr>
          <p:cNvPr id="8" name="Nearest-neighbour mapping uses the documented y-down co">
            <a:extLst>
              <a:ext uri="{FF2B5EF4-FFF2-40B4-BE49-F238E27FC236}">
                <a16:creationId xmlns:a16="http://schemas.microsoft.com/office/drawing/2014/main" id="{C70BBC9B-0A42-460F-A136-0DEDBBC8E279}"/>
              </a:ext>
            </a:extLst>
          </p:cNvPr>
          <p:cNvSpPr>
            <a:spLocks noGrp="1"/>
          </p:cNvSpPr>
          <p:nvPr/>
        </p:nvSpPr>
        <p:spPr>
          <a:xfrm>
            <a:off x="8648700" y="408584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Nearest-neighbour mapping</a:t>
            </a:r>
          </a:p>
          <a:p>
            <a:pPr algn="l">
              <a:defRPr sz="1650" b="0">
                <a:solidFill>
                  <a:srgbClr val="142D45"/>
                </a:solidFill>
                <a:latin typeface="Arial"/>
                <a:ea typeface="Arial"/>
                <a:cs typeface="Arial"/>
              </a:defRPr>
            </a:pPr>
            <a:r>
              <a:rPr sz="1650" b="0">
                <a:solidFill>
                  <a:srgbClr val="142D45"/>
                </a:solidFill>
                <a:latin typeface="Arial"/>
                <a:ea typeface="Arial"/>
                <a:cs typeface="Arial"/>
              </a:rPr>
              <a:t>uses the documented y-down</a:t>
            </a:r>
          </a:p>
          <a:p>
            <a:pPr algn="l">
              <a:defRPr sz="1650" b="0">
                <a:solidFill>
                  <a:srgbClr val="142D45"/>
                </a:solidFill>
                <a:latin typeface="Arial"/>
                <a:ea typeface="Arial"/>
                <a:cs typeface="Arial"/>
              </a:defRPr>
            </a:pPr>
            <a:r>
              <a:rPr sz="1650" b="0">
                <a:solidFill>
                  <a:srgbClr val="142D45"/>
                </a:solidFill>
                <a:latin typeface="Arial"/>
                <a:ea typeface="Arial"/>
                <a:cs typeface="Arial"/>
              </a:rPr>
              <a:t>convention.</a:t>
            </a:r>
          </a:p>
        </p:txBody>
      </p:sp>
      <p:sp>
        <p:nvSpPr>
          <p:cNvPr id="9" name="Straight Connector 8">
            <a:extLst>
              <a:ext uri="{FF2B5EF4-FFF2-40B4-BE49-F238E27FC236}">
                <a16:creationId xmlns:a16="http://schemas.microsoft.com/office/drawing/2014/main" id="{57F5447B-40B5-419A-BA66-DF430D28DE10}"/>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a:extLst>
              <a:ext uri="{FF2B5EF4-FFF2-40B4-BE49-F238E27FC236}">
                <a16:creationId xmlns:a16="http://schemas.microsoft.com/office/drawing/2014/main" id="{BB4B520D-97C1-4BC3-B48B-06F77EEEB7D8}"/>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5 / 46">
            <a:extLst>
              <a:ext uri="{FF2B5EF4-FFF2-40B4-BE49-F238E27FC236}">
                <a16:creationId xmlns:a16="http://schemas.microsoft.com/office/drawing/2014/main" id="{4864BAE9-2970-493B-9B05-D6330E2BC9F6}"/>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37 / 48</a:t>
            </a:r>
          </a:p>
        </p:txBody>
      </p:sp>
    </p:spTree>
    <p:extLst>
      <p:ext uri="{BB962C8B-B14F-4D97-AF65-F5344CB8AC3E}">
        <p14:creationId xmlns:p14="http://schemas.microsoft.com/office/powerpoint/2010/main" val="604001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Appendix A4">
            <a:extLst>
              <a:ext uri="{FF2B5EF4-FFF2-40B4-BE49-F238E27FC236}">
                <a16:creationId xmlns:a16="http://schemas.microsoft.com/office/drawing/2014/main" id="{19FD1D99-443C-47B0-90C0-66DF941138AE}"/>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A4</a:t>
            </a:r>
          </a:p>
        </p:txBody>
      </p:sp>
      <p:sp>
        <p:nvSpPr>
          <p:cNvPr id="2" name="Crafted CUDA example: safe output writes">
            <a:extLst>
              <a:ext uri="{FF2B5EF4-FFF2-40B4-BE49-F238E27FC236}">
                <a16:creationId xmlns:a16="http://schemas.microsoft.com/office/drawing/2014/main" id="{34E35498-2EE6-4F14-AE22-007964EE13B0}"/>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Crafted CUDA example: safe output writes</a:t>
            </a:r>
          </a:p>
        </p:txBody>
      </p:sp>
      <p:sp>
        <p:nvSpPr>
          <p:cNvPr id="3" name="Rectangle 2">
            <a:extLst>
              <a:ext uri="{FF2B5EF4-FFF2-40B4-BE49-F238E27FC236}">
                <a16:creationId xmlns:a16="http://schemas.microsoft.com/office/drawing/2014/main" id="{01BD182C-312B-47E9-B346-D2829BCA61B4}"/>
              </a:ext>
            </a:extLst>
          </p:cNvPr>
          <p:cNvSpPr>
            <a:spLocks noGrp="1"/>
          </p:cNvSpPr>
          <p:nvPr/>
        </p:nvSpPr>
        <p:spPr>
          <a:xfrm>
            <a:off x="609600" y="1495425"/>
            <a:ext cx="7705725" cy="3486150"/>
          </a:xfrm>
          <a:prstGeom prst="rect">
            <a:avLst/>
          </a:prstGeom>
          <a:solidFill>
            <a:srgbClr val="EDF1F5"/>
          </a:solidFill>
          <a:ln w="14288">
            <a:noFill/>
            <a:prstDash val="solid"/>
          </a:ln>
        </p:spPr>
        <p:txBody>
          <a:bodyPr/>
          <a:lstStyle/>
          <a:p>
            <a:endParaRPr lang="en-US"/>
          </a:p>
        </p:txBody>
      </p:sp>
      <p:sp>
        <p:nvSpPr>
          <p:cNvPr id="4" name="    const size_t destination =&#10;        (size_t(y) * siz">
            <a:extLst>
              <a:ext uri="{FF2B5EF4-FFF2-40B4-BE49-F238E27FC236}">
                <a16:creationId xmlns:a16="http://schemas.microsoft.com/office/drawing/2014/main" id="{002848DD-72A2-4D6B-ABE4-E33E180EC725}"/>
              </a:ext>
            </a:extLst>
          </p:cNvPr>
          <p:cNvSpPr>
            <a:spLocks noGrp="1"/>
          </p:cNvSpPr>
          <p:nvPr/>
        </p:nvSpPr>
        <p:spPr>
          <a:xfrm>
            <a:off x="723900" y="1581150"/>
            <a:ext cx="7477125" cy="335280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destination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(size_t(y) * size_t(width) + size_t(x)) * 3;</a:t>
            </a:r>
          </a:p>
          <a:p>
            <a:endParaRPr sz="1425" b="0">
              <a:solidFill>
                <a:srgbClr val="142D45"/>
              </a:solidFill>
              <a:latin typeface="Consolas"/>
              <a:ea typeface="Consolas"/>
              <a:cs typeface="Consolas"/>
            </a:endParaRP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(ix &gt;= 0 &amp;&amp; ix &lt; width &amp;&amp; iy &gt;= 0 &amp;&amp; iy &lt; height)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size_t source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(size_t(iy) * size_t(width) + size_t(ix)) * 3;</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input[source + channel];</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 else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for (int channel = 0; channel &lt; 3; ++channel)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output[destination + channel] = 0;</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RGB address = 3 × (row × width + column).">
            <a:extLst>
              <a:ext uri="{FF2B5EF4-FFF2-40B4-BE49-F238E27FC236}">
                <a16:creationId xmlns:a16="http://schemas.microsoft.com/office/drawing/2014/main" id="{1EAD8525-E589-4E2E-A6BC-C5F69B09B2F8}"/>
              </a:ext>
            </a:extLst>
          </p:cNvPr>
          <p:cNvSpPr>
            <a:spLocks noGrp="1"/>
          </p:cNvSpPr>
          <p:nvPr/>
        </p:nvSpPr>
        <p:spPr>
          <a:xfrm>
            <a:off x="8648700" y="1581150"/>
            <a:ext cx="29337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RGB address = 3 × (row ×</a:t>
            </a:r>
          </a:p>
          <a:p>
            <a:pPr algn="l">
              <a:defRPr sz="1650" b="0">
                <a:solidFill>
                  <a:srgbClr val="142D45"/>
                </a:solidFill>
                <a:latin typeface="Arial"/>
                <a:ea typeface="Arial"/>
                <a:cs typeface="Arial"/>
              </a:defRPr>
            </a:pPr>
            <a:r>
              <a:rPr sz="1650" b="0">
                <a:solidFill>
                  <a:srgbClr val="142D45"/>
                </a:solidFill>
                <a:latin typeface="Arial"/>
                <a:ea typeface="Arial"/>
                <a:cs typeface="Arial"/>
              </a:rPr>
              <a:t>width + column).</a:t>
            </a:r>
          </a:p>
        </p:txBody>
      </p:sp>
      <p:sp>
        <p:nvSpPr>
          <p:cNvPr id="6" name="Every valid output gets three channels, including black">
            <a:extLst>
              <a:ext uri="{FF2B5EF4-FFF2-40B4-BE49-F238E27FC236}">
                <a16:creationId xmlns:a16="http://schemas.microsoft.com/office/drawing/2014/main" id="{C790AFE1-AF1E-4B3F-BCE3-FF08D7E7E383}"/>
              </a:ext>
            </a:extLst>
          </p:cNvPr>
          <p:cNvSpPr>
            <a:spLocks noGrp="1"/>
          </p:cNvSpPr>
          <p:nvPr/>
        </p:nvSpPr>
        <p:spPr>
          <a:xfrm>
            <a:off x="8648700" y="232943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Every valid output gets three</a:t>
            </a:r>
          </a:p>
          <a:p>
            <a:pPr algn="l">
              <a:defRPr sz="1650" b="0">
                <a:solidFill>
                  <a:srgbClr val="142D45"/>
                </a:solidFill>
                <a:latin typeface="Arial"/>
                <a:ea typeface="Arial"/>
                <a:cs typeface="Arial"/>
              </a:defRPr>
            </a:pPr>
            <a:r>
              <a:rPr sz="1650" b="0">
                <a:solidFill>
                  <a:srgbClr val="142D45"/>
                </a:solidFill>
                <a:latin typeface="Arial"/>
                <a:ea typeface="Arial"/>
                <a:cs typeface="Arial"/>
              </a:rPr>
              <a:t>channels, including black</a:t>
            </a:r>
          </a:p>
          <a:p>
            <a:pPr algn="l">
              <a:defRPr sz="1650" b="0">
                <a:solidFill>
                  <a:srgbClr val="142D45"/>
                </a:solidFill>
                <a:latin typeface="Arial"/>
                <a:ea typeface="Arial"/>
                <a:cs typeface="Arial"/>
              </a:defRPr>
            </a:pPr>
            <a:r>
              <a:rPr sz="1650" b="0">
                <a:solidFill>
                  <a:srgbClr val="142D45"/>
                </a:solidFill>
                <a:latin typeface="Arial"/>
                <a:ea typeface="Arial"/>
                <a:cs typeface="Arial"/>
              </a:rPr>
              <a:t>borders.</a:t>
            </a:r>
          </a:p>
        </p:txBody>
      </p:sp>
      <p:sp>
        <p:nvSpPr>
          <p:cNvPr id="7" name="No atomics, mutex or block barrier is needed: writers h">
            <a:extLst>
              <a:ext uri="{FF2B5EF4-FFF2-40B4-BE49-F238E27FC236}">
                <a16:creationId xmlns:a16="http://schemas.microsoft.com/office/drawing/2014/main" id="{B507F153-4C88-4208-ADE2-F5276644CE77}"/>
              </a:ext>
            </a:extLst>
          </p:cNvPr>
          <p:cNvSpPr>
            <a:spLocks noGrp="1"/>
          </p:cNvSpPr>
          <p:nvPr/>
        </p:nvSpPr>
        <p:spPr>
          <a:xfrm>
            <a:off x="8648700" y="3337560"/>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No atomics, mutex or block</a:t>
            </a:r>
          </a:p>
          <a:p>
            <a:pPr algn="l">
              <a:defRPr sz="1650" b="0">
                <a:solidFill>
                  <a:srgbClr val="142D45"/>
                </a:solidFill>
                <a:latin typeface="Arial"/>
                <a:ea typeface="Arial"/>
                <a:cs typeface="Arial"/>
              </a:defRPr>
            </a:pPr>
            <a:r>
              <a:rPr sz="1650" b="0">
                <a:solidFill>
                  <a:srgbClr val="142D45"/>
                </a:solidFill>
                <a:latin typeface="Arial"/>
                <a:ea typeface="Arial"/>
                <a:cs typeface="Arial"/>
              </a:rPr>
              <a:t>barrier is needed: writers have</a:t>
            </a:r>
          </a:p>
          <a:p>
            <a:pPr algn="l">
              <a:defRPr sz="1650" b="0">
                <a:solidFill>
                  <a:srgbClr val="142D45"/>
                </a:solidFill>
                <a:latin typeface="Arial"/>
                <a:ea typeface="Arial"/>
                <a:cs typeface="Arial"/>
              </a:defRPr>
            </a:pPr>
            <a:r>
              <a:rPr sz="1650" b="0">
                <a:solidFill>
                  <a:srgbClr val="142D45"/>
                </a:solidFill>
                <a:latin typeface="Arial"/>
                <a:ea typeface="Arial"/>
                <a:cs typeface="Arial"/>
              </a:rPr>
              <a:t>disjoint destinations.</a:t>
            </a:r>
          </a:p>
        </p:txBody>
      </p:sp>
      <p:sp>
        <p:nvSpPr>
          <p:cNvPr id="8" name="Total work Θ(W × H); input/output storage Θ(W × H) each">
            <a:extLst>
              <a:ext uri="{FF2B5EF4-FFF2-40B4-BE49-F238E27FC236}">
                <a16:creationId xmlns:a16="http://schemas.microsoft.com/office/drawing/2014/main" id="{F0D5970F-DFB9-41F9-80F4-CE3D0BCA705F}"/>
              </a:ext>
            </a:extLst>
          </p:cNvPr>
          <p:cNvSpPr>
            <a:spLocks noGrp="1"/>
          </p:cNvSpPr>
          <p:nvPr/>
        </p:nvSpPr>
        <p:spPr>
          <a:xfrm>
            <a:off x="8648700" y="4345686"/>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Total work Θ(W × H);</a:t>
            </a:r>
          </a:p>
          <a:p>
            <a:pPr algn="l">
              <a:defRPr sz="1650" b="0">
                <a:solidFill>
                  <a:srgbClr val="142D45"/>
                </a:solidFill>
                <a:latin typeface="Arial"/>
                <a:ea typeface="Arial"/>
                <a:cs typeface="Arial"/>
              </a:defRPr>
            </a:pPr>
            <a:r>
              <a:rPr sz="1650" b="0">
                <a:solidFill>
                  <a:srgbClr val="142D45"/>
                </a:solidFill>
                <a:latin typeface="Arial"/>
                <a:ea typeface="Arial"/>
                <a:cs typeface="Arial"/>
              </a:rPr>
              <a:t>input/output storage Θ(W × H)</a:t>
            </a:r>
          </a:p>
          <a:p>
            <a:pPr algn="l">
              <a:defRPr sz="1650" b="0">
                <a:solidFill>
                  <a:srgbClr val="142D45"/>
                </a:solidFill>
                <a:latin typeface="Arial"/>
                <a:ea typeface="Arial"/>
                <a:cs typeface="Arial"/>
              </a:defRPr>
            </a:pPr>
            <a:r>
              <a:rPr sz="1650" b="0">
                <a:solidFill>
                  <a:srgbClr val="142D45"/>
                </a:solidFill>
                <a:latin typeface="Arial"/>
                <a:ea typeface="Arial"/>
                <a:cs typeface="Arial"/>
              </a:rPr>
              <a:t>each.</a:t>
            </a:r>
          </a:p>
        </p:txBody>
      </p:sp>
      <p:sp>
        <p:nvSpPr>
          <p:cNvPr id="9" name="Straight Connector 8">
            <a:extLst>
              <a:ext uri="{FF2B5EF4-FFF2-40B4-BE49-F238E27FC236}">
                <a16:creationId xmlns:a16="http://schemas.microsoft.com/office/drawing/2014/main" id="{5D34B020-43B4-46D6-90C7-92B5A527233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1] NVIDIA CUDA programming model">
            <a:extLst>
              <a:ext uri="{FF2B5EF4-FFF2-40B4-BE49-F238E27FC236}">
                <a16:creationId xmlns:a16="http://schemas.microsoft.com/office/drawing/2014/main" id="{A65344C2-A7C8-433B-A00E-55458B7D5A4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[1] NVIDIA CUDA programming model</a:t>
            </a:r>
          </a:p>
        </p:txBody>
      </p:sp>
      <p:sp>
        <p:nvSpPr>
          <p:cNvPr id="11" name="36 / 46">
            <a:extLst>
              <a:ext uri="{FF2B5EF4-FFF2-40B4-BE49-F238E27FC236}">
                <a16:creationId xmlns:a16="http://schemas.microsoft.com/office/drawing/2014/main" id="{03534E14-F640-4EE8-A054-5BA0BE6ABF6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38 / 48</a:t>
            </a:r>
          </a:p>
        </p:txBody>
      </p:sp>
    </p:spTree>
    <p:extLst>
      <p:ext uri="{BB962C8B-B14F-4D97-AF65-F5344CB8AC3E}">
        <p14:creationId xmlns:p14="http://schemas.microsoft.com/office/powerpoint/2010/main" val="18546679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2" name="Appendix • Task 1 • Appendix A5">
            <a:extLst>
              <a:ext uri="{FF2B5EF4-FFF2-40B4-BE49-F238E27FC236}">
                <a16:creationId xmlns:a16="http://schemas.microsoft.com/office/drawing/2014/main" id="{52C2CC74-DBDD-4D67-92F4-0A99AF0F628E}"/>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A5</a:t>
            </a:r>
          </a:p>
        </p:txBody>
      </p:sp>
      <p:sp>
        <p:nvSpPr>
          <p:cNvPr id="2" name="Asynchronous work within one stream">
            <a:extLst>
              <a:ext uri="{FF2B5EF4-FFF2-40B4-BE49-F238E27FC236}">
                <a16:creationId xmlns:a16="http://schemas.microsoft.com/office/drawing/2014/main" id="{F98E5617-BAD5-43E5-B08F-08B38C41599A}"/>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Asynchronous work within one stream</a:t>
            </a:r>
          </a:p>
        </p:txBody>
      </p:sp>
      <p:sp>
        <p:nvSpPr>
          <p:cNvPr id="3" name="Rectangle 2">
            <a:extLst>
              <a:ext uri="{FF2B5EF4-FFF2-40B4-BE49-F238E27FC236}">
                <a16:creationId xmlns:a16="http://schemas.microsoft.com/office/drawing/2014/main" id="{F7FE288C-1B69-4CCB-979C-281467DDCE57}"/>
              </a:ext>
            </a:extLst>
          </p:cNvPr>
          <p:cNvSpPr>
            <a:spLocks noGrp="1"/>
          </p:cNvSpPr>
          <p:nvPr/>
        </p:nvSpPr>
        <p:spPr>
          <a:xfrm>
            <a:off x="609600" y="1495425"/>
            <a:ext cx="7705725" cy="4354830"/>
          </a:xfrm>
          <a:prstGeom prst="rect">
            <a:avLst/>
          </a:prstGeom>
          <a:solidFill>
            <a:srgbClr val="EDF1F5"/>
          </a:solidFill>
          <a:ln w="14288">
            <a:noFill/>
            <a:prstDash val="solid"/>
          </a:ln>
        </p:spPr>
        <p:txBody>
          <a:bodyPr/>
          <a:lstStyle/>
          <a:p>
            <a:endParaRPr lang="en-US"/>
          </a:p>
        </p:txBody>
      </p:sp>
      <p:sp>
        <p:nvSpPr>
          <p:cNvPr id="4" name="cudaError_t enqueue_rotation(const unsigned char* h_inp">
            <a:extLst>
              <a:ext uri="{FF2B5EF4-FFF2-40B4-BE49-F238E27FC236}">
                <a16:creationId xmlns:a16="http://schemas.microsoft.com/office/drawing/2014/main" id="{06236917-CADB-40EE-8708-AB59991FACED}"/>
              </a:ext>
            </a:extLst>
          </p:cNvPr>
          <p:cNvSpPr>
            <a:spLocks noGrp="1"/>
          </p:cNvSpPr>
          <p:nvPr/>
        </p:nvSpPr>
        <p:spPr>
          <a:xfrm>
            <a:off x="723900" y="1581150"/>
            <a:ext cx="7477125" cy="4221480"/>
          </a:xfrm>
          <a:prstGeom prst="rect">
            <a:avLst/>
          </a:prstGeom>
          <a:noFill/>
          <a:ln w="0">
            <a:noFill/>
          </a:ln>
        </p:spPr>
        <p:txBody>
          <a:bodyPr wrap="none" lIns="0" tIns="0" rIns="0" bIns="0" anchor="t">
            <a:noAutofit/>
          </a:bodyPr>
          <a:lstStyle>
            <a:defPPr algn="l">
              <a:defRPr sz="1425" b="0">
                <a:solidFill>
                  <a:srgbClr val="142D45"/>
                </a:solidFill>
                <a:latin typeface="Consolas"/>
                <a:ea typeface="Consolas"/>
                <a:cs typeface="Consolas"/>
              </a:defRPr>
            </a:defPPr>
          </a:lstStyle>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cudaError_t enqueue_rotation(const unsigned char* h_input,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h_output,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d_input,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unsigned char* d_output,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size_t bytes, int width, int height,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float c, float 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cudaStream_t stream) {</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block(32, 8);  // 256 threads.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const dim3 grid = rotation_grid(width, height, block);</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cudaError_t status = cudaMemcpyAsync(d_input, h_input, bytes,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cudaMemcpyHostToDevice, stream);</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rotate_rgb&lt;&lt;&lt;grid, block, 0, stream&gt;&gt;&gt;(d_input, d_output,</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width, height, c, 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status = cudaGetLastError();</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if (status != cudaSuccess) return status;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return cudaMemcpyAsync(h_output, d_output, bytes,</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                           cudaMemcpyDeviceToHost, stream);</a:t>
            </a:r>
          </a:p>
          <a:p>
            <a:pPr algn="l">
              <a:defRPr sz="1425" b="0">
                <a:solidFill>
                  <a:srgbClr val="142D45"/>
                </a:solidFill>
                <a:latin typeface="Consolas"/>
                <a:ea typeface="Consolas"/>
                <a:cs typeface="Consolas"/>
              </a:defRPr>
            </a:pPr>
            <a:r>
              <a:rPr sz="1425" b="0">
                <a:solidFill>
                  <a:srgbClr val="142D45"/>
                </a:solidFill>
                <a:latin typeface="Consolas"/>
                <a:ea typeface="Consolas"/>
                <a:cs typeface="Consolas"/>
              </a:rPr>
              <a:t>}</a:t>
            </a:r>
          </a:p>
        </p:txBody>
      </p:sp>
      <p:sp>
        <p:nvSpPr>
          <p:cNvPr id="5" name="Full enqueue function; rotation_grid uses the ceil-divi">
            <a:extLst>
              <a:ext uri="{FF2B5EF4-FFF2-40B4-BE49-F238E27FC236}">
                <a16:creationId xmlns:a16="http://schemas.microsoft.com/office/drawing/2014/main" id="{3705718A-F1BC-4D7E-A882-5774ED8F8354}"/>
              </a:ext>
            </a:extLst>
          </p:cNvPr>
          <p:cNvSpPr>
            <a:spLocks noGrp="1"/>
          </p:cNvSpPr>
          <p:nvPr/>
        </p:nvSpPr>
        <p:spPr>
          <a:xfrm>
            <a:off x="8648700" y="1581150"/>
            <a:ext cx="2933700" cy="1077468"/>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Full enqueue function;</a:t>
            </a:r>
          </a:p>
          <a:p>
            <a:pPr algn="l">
              <a:defRPr sz="1650" b="0">
                <a:solidFill>
                  <a:srgbClr val="142D45"/>
                </a:solidFill>
                <a:latin typeface="Arial"/>
                <a:ea typeface="Arial"/>
                <a:cs typeface="Arial"/>
              </a:defRPr>
            </a:pPr>
            <a:r>
              <a:rPr sz="1650" b="0">
                <a:solidFill>
                  <a:srgbClr val="142D45"/>
                </a:solidFill>
                <a:latin typeface="Arial"/>
                <a:ea typeface="Arial"/>
                <a:cs typeface="Arial"/>
              </a:rPr>
              <a:t>rotation_grid uses the</a:t>
            </a:r>
          </a:p>
          <a:p>
            <a:pPr algn="l">
              <a:defRPr sz="1650" b="0">
                <a:solidFill>
                  <a:srgbClr val="142D45"/>
                </a:solidFill>
                <a:latin typeface="Arial"/>
                <a:ea typeface="Arial"/>
                <a:cs typeface="Arial"/>
              </a:defRPr>
            </a:pPr>
            <a:r>
              <a:rPr sz="1650" b="0">
                <a:solidFill>
                  <a:srgbClr val="142D45"/>
                </a:solidFill>
                <a:latin typeface="Arial"/>
                <a:ea typeface="Arial"/>
                <a:cs typeface="Arial"/>
              </a:rPr>
              <a:t>ceil-division shown in the host</a:t>
            </a:r>
          </a:p>
          <a:p>
            <a:pPr algn="l">
              <a:defRPr sz="1650" b="0">
                <a:solidFill>
                  <a:srgbClr val="142D45"/>
                </a:solidFill>
                <a:latin typeface="Arial"/>
                <a:ea typeface="Arial"/>
                <a:cs typeface="Arial"/>
              </a:defRPr>
            </a:pPr>
            <a:r>
              <a:rPr sz="1650" b="0">
                <a:solidFill>
                  <a:srgbClr val="142D45"/>
                </a:solidFill>
                <a:latin typeface="Arial"/>
                <a:ea typeface="Arial"/>
                <a:cs typeface="Arial"/>
              </a:rPr>
              <a:t>orchestration answer.</a:t>
            </a:r>
          </a:p>
        </p:txBody>
      </p:sp>
      <p:sp>
        <p:nvSpPr>
          <p:cNvPr id="6" name="Pinned host buffers and checked sizes are preconditions">
            <a:extLst>
              <a:ext uri="{FF2B5EF4-FFF2-40B4-BE49-F238E27FC236}">
                <a16:creationId xmlns:a16="http://schemas.microsoft.com/office/drawing/2014/main" id="{AA4926F7-9E59-48DC-807B-2A8241FE8099}"/>
              </a:ext>
            </a:extLst>
          </p:cNvPr>
          <p:cNvSpPr>
            <a:spLocks noGrp="1"/>
          </p:cNvSpPr>
          <p:nvPr/>
        </p:nvSpPr>
        <p:spPr>
          <a:xfrm>
            <a:off x="8648700" y="2849118"/>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Pinned host buffers and</a:t>
            </a:r>
          </a:p>
          <a:p>
            <a:pPr algn="l">
              <a:defRPr sz="1650" b="0">
                <a:solidFill>
                  <a:srgbClr val="142D45"/>
                </a:solidFill>
                <a:latin typeface="Arial"/>
                <a:ea typeface="Arial"/>
                <a:cs typeface="Arial"/>
              </a:defRPr>
            </a:pPr>
            <a:r>
              <a:rPr sz="1650" b="0">
                <a:solidFill>
                  <a:srgbClr val="142D45"/>
                </a:solidFill>
                <a:latin typeface="Arial"/>
                <a:ea typeface="Arial"/>
                <a:cs typeface="Arial"/>
              </a:rPr>
              <a:t>checked sizes are</a:t>
            </a:r>
          </a:p>
          <a:p>
            <a:pPr algn="l">
              <a:defRPr sz="1650" b="0">
                <a:solidFill>
                  <a:srgbClr val="142D45"/>
                </a:solidFill>
                <a:latin typeface="Arial"/>
                <a:ea typeface="Arial"/>
                <a:cs typeface="Arial"/>
              </a:defRPr>
            </a:pPr>
            <a:r>
              <a:rPr sz="1650" b="0">
                <a:solidFill>
                  <a:srgbClr val="142D45"/>
                </a:solidFill>
                <a:latin typeface="Arial"/>
                <a:ea typeface="Arial"/>
                <a:cs typeface="Arial"/>
              </a:rPr>
              <a:t>preconditions.</a:t>
            </a:r>
          </a:p>
        </p:txBody>
      </p:sp>
      <p:sp>
        <p:nvSpPr>
          <p:cNvPr id="7" name="Success means submitted work; wait before reading, reus">
            <a:extLst>
              <a:ext uri="{FF2B5EF4-FFF2-40B4-BE49-F238E27FC236}">
                <a16:creationId xmlns:a16="http://schemas.microsoft.com/office/drawing/2014/main" id="{E588DB64-6F65-4325-8234-5FBB8EADDB70}"/>
              </a:ext>
            </a:extLst>
          </p:cNvPr>
          <p:cNvSpPr>
            <a:spLocks noGrp="1"/>
          </p:cNvSpPr>
          <p:nvPr/>
        </p:nvSpPr>
        <p:spPr>
          <a:xfrm>
            <a:off x="8648700" y="3857244"/>
            <a:ext cx="2933700" cy="817626"/>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Success means submitted</a:t>
            </a:r>
          </a:p>
          <a:p>
            <a:pPr algn="l">
              <a:defRPr sz="1650" b="0">
                <a:solidFill>
                  <a:srgbClr val="142D45"/>
                </a:solidFill>
                <a:latin typeface="Arial"/>
                <a:ea typeface="Arial"/>
                <a:cs typeface="Arial"/>
              </a:defRPr>
            </a:pPr>
            <a:r>
              <a:rPr sz="1650" b="0">
                <a:solidFill>
                  <a:srgbClr val="142D45"/>
                </a:solidFill>
                <a:latin typeface="Arial"/>
                <a:ea typeface="Arial"/>
                <a:cs typeface="Arial"/>
              </a:rPr>
              <a:t>work; wait before reading,</a:t>
            </a:r>
          </a:p>
          <a:p>
            <a:pPr algn="l">
              <a:defRPr sz="1650" b="0">
                <a:solidFill>
                  <a:srgbClr val="142D45"/>
                </a:solidFill>
                <a:latin typeface="Arial"/>
                <a:ea typeface="Arial"/>
                <a:cs typeface="Arial"/>
              </a:defRPr>
            </a:pPr>
            <a:r>
              <a:rPr sz="1650" b="0">
                <a:solidFill>
                  <a:srgbClr val="142D45"/>
                </a:solidFill>
                <a:latin typeface="Arial"/>
                <a:ea typeface="Arial"/>
                <a:cs typeface="Arial"/>
              </a:rPr>
              <a:t>reusing or freeing buffers.</a:t>
            </a:r>
          </a:p>
        </p:txBody>
      </p:sp>
      <p:sp>
        <p:nvSpPr>
          <p:cNvPr id="8" name="On error, previously enqueued work may still be pending">
            <a:extLst>
              <a:ext uri="{FF2B5EF4-FFF2-40B4-BE49-F238E27FC236}">
                <a16:creationId xmlns:a16="http://schemas.microsoft.com/office/drawing/2014/main" id="{0670BFC5-F85B-4F96-AD69-F25A92440216}"/>
              </a:ext>
            </a:extLst>
          </p:cNvPr>
          <p:cNvSpPr>
            <a:spLocks noGrp="1"/>
          </p:cNvSpPr>
          <p:nvPr/>
        </p:nvSpPr>
        <p:spPr>
          <a:xfrm>
            <a:off x="8648700" y="4865370"/>
            <a:ext cx="2933700" cy="557784"/>
          </a:xfrm>
          <a:prstGeom prst="rect">
            <a:avLst/>
          </a:prstGeom>
          <a:noFill/>
          <a:ln w="0">
            <a:noFill/>
          </a:ln>
        </p:spPr>
        <p:txBody>
          <a:bodyPr wrap="square" lIns="0" tIns="0" rIns="0" bIns="0" anchor="t">
            <a:noAutofit/>
          </a:bodyPr>
          <a:lstStyle>
            <a:defPPr algn="l">
              <a:defRPr sz="1650" b="0">
                <a:solidFill>
                  <a:srgbClr val="142D45"/>
                </a:solidFill>
                <a:latin typeface="Arial"/>
                <a:ea typeface="Arial"/>
                <a:cs typeface="Arial"/>
              </a:defRPr>
            </a:defPPr>
          </a:lstStyle>
          <a:p>
            <a:pPr algn="l">
              <a:defRPr sz="1650" b="0">
                <a:solidFill>
                  <a:srgbClr val="142D45"/>
                </a:solidFill>
                <a:latin typeface="Arial"/>
                <a:ea typeface="Arial"/>
                <a:cs typeface="Arial"/>
              </a:defRPr>
            </a:pPr>
            <a:r>
              <a:rPr sz="1650" b="0">
                <a:solidFill>
                  <a:srgbClr val="142D45"/>
                </a:solidFill>
                <a:latin typeface="Arial"/>
                <a:ea typeface="Arial"/>
                <a:cs typeface="Arial"/>
              </a:rPr>
              <a:t>On error, previously enqueued</a:t>
            </a:r>
          </a:p>
          <a:p>
            <a:pPr algn="l">
              <a:defRPr sz="1650" b="0">
                <a:solidFill>
                  <a:srgbClr val="142D45"/>
                </a:solidFill>
                <a:latin typeface="Arial"/>
                <a:ea typeface="Arial"/>
                <a:cs typeface="Arial"/>
              </a:defRPr>
            </a:pPr>
            <a:r>
              <a:rPr sz="1650" b="0">
                <a:solidFill>
                  <a:srgbClr val="142D45"/>
                </a:solidFill>
                <a:latin typeface="Arial"/>
                <a:ea typeface="Arial"/>
                <a:cs typeface="Arial"/>
              </a:rPr>
              <a:t>work may still be pending.</a:t>
            </a:r>
          </a:p>
        </p:txBody>
      </p:sp>
      <p:sp>
        <p:nvSpPr>
          <p:cNvPr id="9" name="Straight Connector 8">
            <a:extLst>
              <a:ext uri="{FF2B5EF4-FFF2-40B4-BE49-F238E27FC236}">
                <a16:creationId xmlns:a16="http://schemas.microsoft.com/office/drawing/2014/main" id="{3B1FF882-DFEF-427B-9EEA-3604D4968EE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0" name="Sources: [2] NVIDIA CUDA Best Practices">
            <a:extLst>
              <a:ext uri="{FF2B5EF4-FFF2-40B4-BE49-F238E27FC236}">
                <a16:creationId xmlns:a16="http://schemas.microsoft.com/office/drawing/2014/main" id="{ED7B9F76-E073-480B-86C0-521847F5DEF0}"/>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1" name="37 / 46">
            <a:extLst>
              <a:ext uri="{FF2B5EF4-FFF2-40B4-BE49-F238E27FC236}">
                <a16:creationId xmlns:a16="http://schemas.microsoft.com/office/drawing/2014/main" id="{A47FF164-F4A1-44FA-8716-F344D8BAC14C}"/>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39 / 48</a:t>
            </a:r>
          </a:p>
        </p:txBody>
      </p:sp>
    </p:spTree>
    <p:extLst>
      <p:ext uri="{BB962C8B-B14F-4D97-AF65-F5344CB8AC3E}">
        <p14:creationId xmlns:p14="http://schemas.microsoft.com/office/powerpoint/2010/main" val="32603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1 • Appendix A6">
            <a:extLst>
              <a:ext uri="{FF2B5EF4-FFF2-40B4-BE49-F238E27FC236}">
                <a16:creationId xmlns:a16="http://schemas.microsoft.com/office/drawing/2014/main" id="{CDBC6740-C68D-4BDC-B94F-D55E9599264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A6</a:t>
            </a:r>
          </a:p>
        </p:txBody>
      </p:sp>
      <p:sp>
        <p:nvSpPr>
          <p:cNvPr id="2" name="Fair speedup comparison and profiling">
            <a:extLst>
              <a:ext uri="{FF2B5EF4-FFF2-40B4-BE49-F238E27FC236}">
                <a16:creationId xmlns:a16="http://schemas.microsoft.com/office/drawing/2014/main" id="{BECA8CD4-472D-4994-A382-CA3D5138A7FA}"/>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Fair speedup comparison and profiling</a:t>
            </a:r>
          </a:p>
        </p:txBody>
      </p:sp>
      <p:sp>
        <p:nvSpPr>
          <p:cNvPr id="3" name="Comparable baselines">
            <a:extLst>
              <a:ext uri="{FF2B5EF4-FFF2-40B4-BE49-F238E27FC236}">
                <a16:creationId xmlns:a16="http://schemas.microsoft.com/office/drawing/2014/main" id="{8D4F23F4-AC77-4B69-B2FA-D1BF12C6E62C}"/>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Comparable baselines</a:t>
            </a:r>
          </a:p>
        </p:txBody>
      </p:sp>
      <p:sp>
        <p:nvSpPr>
          <p:cNvPr id="4" name="Primary baseline: one CPU thread performs the same RGB ">
            <a:extLst>
              <a:ext uri="{FF2B5EF4-FFF2-40B4-BE49-F238E27FC236}">
                <a16:creationId xmlns:a16="http://schemas.microsoft.com/office/drawing/2014/main" id="{0F0808AB-D5A7-4943-8EC2-B5FF0DAC12D6}"/>
              </a:ext>
            </a:extLst>
          </p:cNvPr>
          <p:cNvSpPr>
            <a:spLocks noGrp="1"/>
          </p:cNvSpPr>
          <p:nvPr/>
        </p:nvSpPr>
        <p:spPr>
          <a:xfrm>
            <a:off x="60960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Primary baseline: one CPU thread performs the</a:t>
            </a:r>
          </a:p>
          <a:p>
            <a:pPr algn="l">
              <a:defRPr sz="1725" b="0">
                <a:solidFill>
                  <a:srgbClr val="142D45"/>
                </a:solidFill>
                <a:latin typeface="Arial"/>
                <a:ea typeface="Arial"/>
                <a:cs typeface="Arial"/>
              </a:defRPr>
            </a:pPr>
            <a:r>
              <a:rPr sz="1725" b="0">
                <a:solidFill>
                  <a:srgbClr val="142D45"/>
                </a:solidFill>
                <a:latin typeface="Arial"/>
                <a:ea typeface="Arial"/>
                <a:cs typeface="Arial"/>
              </a:rPr>
              <a:t>same RGB inverse mapping, nearest-neighbour rule</a:t>
            </a:r>
          </a:p>
          <a:p>
            <a:pPr algn="l">
              <a:defRPr sz="1725" b="0">
                <a:solidFill>
                  <a:srgbClr val="142D45"/>
                </a:solidFill>
                <a:latin typeface="Arial"/>
                <a:ea typeface="Arial"/>
                <a:cs typeface="Arial"/>
              </a:defRPr>
            </a:pPr>
            <a:r>
              <a:rPr sz="1725" b="0">
                <a:solidFill>
                  <a:srgbClr val="142D45"/>
                </a:solidFill>
                <a:latin typeface="Arial"/>
                <a:ea typeface="Arial"/>
                <a:cs typeface="Arial"/>
              </a:rPr>
              <a:t>and fixed canvas. Also compare a multithreaded</a:t>
            </a:r>
          </a:p>
          <a:p>
            <a:pPr algn="l">
              <a:defRPr sz="1725" b="0">
                <a:solidFill>
                  <a:srgbClr val="142D45"/>
                </a:solidFill>
                <a:latin typeface="Arial"/>
                <a:ea typeface="Arial"/>
                <a:cs typeface="Arial"/>
              </a:defRPr>
            </a:pPr>
            <a:r>
              <a:rPr sz="1725" b="0">
                <a:solidFill>
                  <a:srgbClr val="142D45"/>
                </a:solidFill>
                <a:latin typeface="Arial"/>
                <a:ea typeface="Arial"/>
                <a:cs typeface="Arial"/>
              </a:rPr>
              <a:t>CPU for a stronger practical baseline.</a:t>
            </a:r>
          </a:p>
        </p:txBody>
      </p:sp>
      <p:sp>
        <p:nvSpPr>
          <p:cNvPr id="5" name="Use identical inputs/angles and verify identical or jus">
            <a:extLst>
              <a:ext uri="{FF2B5EF4-FFF2-40B4-BE49-F238E27FC236}">
                <a16:creationId xmlns:a16="http://schemas.microsoft.com/office/drawing/2014/main" id="{964DE8DD-43D5-4FC4-9956-DB1B145101ED}"/>
              </a:ext>
            </a:extLst>
          </p:cNvPr>
          <p:cNvSpPr>
            <a:spLocks noGrp="1"/>
          </p:cNvSpPr>
          <p:nvPr/>
        </p:nvSpPr>
        <p:spPr>
          <a:xfrm>
            <a:off x="60960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Use identical inputs/angles and verify identical or</a:t>
            </a:r>
          </a:p>
          <a:p>
            <a:pPr algn="l">
              <a:defRPr sz="1725" b="0">
                <a:solidFill>
                  <a:srgbClr val="142D45"/>
                </a:solidFill>
                <a:latin typeface="Arial"/>
                <a:ea typeface="Arial"/>
                <a:cs typeface="Arial"/>
              </a:defRPr>
            </a:pPr>
            <a:r>
              <a:rPr sz="1725" b="0">
                <a:solidFill>
                  <a:srgbClr val="142D45"/>
                </a:solidFill>
                <a:latin typeface="Arial"/>
                <a:ea typeface="Arial"/>
                <a:cs typeface="Arial"/>
              </a:rPr>
              <a:t>justified numerically equivalent outputs. Include file</a:t>
            </a:r>
          </a:p>
          <a:p>
            <a:pPr algn="l">
              <a:defRPr sz="1725" b="0">
                <a:solidFill>
                  <a:srgbClr val="142D45"/>
                </a:solidFill>
                <a:latin typeface="Arial"/>
                <a:ea typeface="Arial"/>
                <a:cs typeface="Arial"/>
              </a:defRPr>
            </a:pPr>
            <a:r>
              <a:rPr sz="1725" b="0">
                <a:solidFill>
                  <a:srgbClr val="142D45"/>
                </a:solidFill>
                <a:latin typeface="Arial"/>
                <a:ea typeface="Arial"/>
                <a:cs typeface="Arial"/>
              </a:rPr>
              <a:t>decoding/I/O in both paths or exclude it from both.</a:t>
            </a:r>
          </a:p>
        </p:txBody>
      </p:sp>
      <p:sp>
        <p:nvSpPr>
          <p:cNvPr id="6" name="For the stated decoded-buffer comparison, include GPU a">
            <a:extLst>
              <a:ext uri="{FF2B5EF4-FFF2-40B4-BE49-F238E27FC236}">
                <a16:creationId xmlns:a16="http://schemas.microsoft.com/office/drawing/2014/main" id="{8DAFF659-4A34-4D00-994E-3DF877E5C57C}"/>
              </a:ext>
            </a:extLst>
          </p:cNvPr>
          <p:cNvSpPr>
            <a:spLocks noGrp="1"/>
          </p:cNvSpPr>
          <p:nvPr/>
        </p:nvSpPr>
        <p:spPr>
          <a:xfrm>
            <a:off x="60960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For the stated decoded-buffer comparison, include</a:t>
            </a:r>
          </a:p>
          <a:p>
            <a:pPr algn="l">
              <a:defRPr sz="1725" b="0">
                <a:solidFill>
                  <a:srgbClr val="142D45"/>
                </a:solidFill>
                <a:latin typeface="Arial"/>
                <a:ea typeface="Arial"/>
                <a:cs typeface="Arial"/>
              </a:defRPr>
            </a:pPr>
            <a:r>
              <a:rPr sz="1725" b="0">
                <a:solidFill>
                  <a:srgbClr val="142D45"/>
                </a:solidFill>
                <a:latin typeface="Arial"/>
                <a:ea typeface="Arial"/>
                <a:cs typeface="Arial"/>
              </a:rPr>
              <a:t>GPU allocation, H2D, launch, completed kernel and</a:t>
            </a:r>
          </a:p>
          <a:p>
            <a:pPr algn="l">
              <a:defRPr sz="1725" b="0">
                <a:solidFill>
                  <a:srgbClr val="142D45"/>
                </a:solidFill>
                <a:latin typeface="Arial"/>
                <a:ea typeface="Arial"/>
                <a:cs typeface="Arial"/>
              </a:defRPr>
            </a:pPr>
            <a:r>
              <a:rPr sz="1725" b="0">
                <a:solidFill>
                  <a:srgbClr val="142D45"/>
                </a:solidFill>
                <a:latin typeface="Arial"/>
                <a:ea typeface="Arial"/>
                <a:cs typeface="Arial"/>
              </a:rPr>
              <a:t>D2H; CPU timing covers the corresponding output</a:t>
            </a:r>
          </a:p>
          <a:p>
            <a:pPr algn="l">
              <a:defRPr sz="1725" b="0">
                <a:solidFill>
                  <a:srgbClr val="142D45"/>
                </a:solidFill>
                <a:latin typeface="Arial"/>
                <a:ea typeface="Arial"/>
                <a:cs typeface="Arial"/>
              </a:defRPr>
            </a:pPr>
            <a:r>
              <a:rPr sz="1725" b="0">
                <a:solidFill>
                  <a:srgbClr val="142D45"/>
                </a:solidFill>
                <a:latin typeface="Arial"/>
                <a:ea typeface="Arial"/>
                <a:cs typeface="Arial"/>
              </a:rPr>
              <a:t>allocation and rotation.</a:t>
            </a:r>
          </a:p>
        </p:txBody>
      </p:sp>
      <p:sp>
        <p:nvSpPr>
          <p:cNvPr id="7" name="Measure the bottleneck">
            <a:extLst>
              <a:ext uri="{FF2B5EF4-FFF2-40B4-BE49-F238E27FC236}">
                <a16:creationId xmlns:a16="http://schemas.microsoft.com/office/drawing/2014/main" id="{DB0BD25D-171B-436D-AD43-9E6E8BEB6AD7}"/>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Measure the bottleneck</a:t>
            </a:r>
          </a:p>
        </p:txBody>
      </p:sp>
      <p:sp>
        <p:nvSpPr>
          <p:cNvPr id="8" name="Report cold-start and warmed repeated runs separately. ">
            <a:extLst>
              <a:ext uri="{FF2B5EF4-FFF2-40B4-BE49-F238E27FC236}">
                <a16:creationId xmlns:a16="http://schemas.microsoft.com/office/drawing/2014/main" id="{06D793F0-F194-4FD2-B0D1-C92C7CFA1AD0}"/>
              </a:ext>
            </a:extLst>
          </p:cNvPr>
          <p:cNvSpPr>
            <a:spLocks noGrp="1"/>
          </p:cNvSpPr>
          <p:nvPr/>
        </p:nvSpPr>
        <p:spPr>
          <a:xfrm>
            <a:off x="641985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Report cold-start and warmed repeated runs</a:t>
            </a:r>
          </a:p>
          <a:p>
            <a:pPr algn="l">
              <a:defRPr sz="1725" b="0">
                <a:solidFill>
                  <a:srgbClr val="142D45"/>
                </a:solidFill>
                <a:latin typeface="Arial"/>
                <a:ea typeface="Arial"/>
                <a:cs typeface="Arial"/>
              </a:defRPr>
            </a:pPr>
            <a:r>
              <a:rPr sz="1725" b="0">
                <a:solidFill>
                  <a:srgbClr val="142D45"/>
                </a:solidFill>
                <a:latin typeface="Arial"/>
                <a:ea typeface="Arial"/>
                <a:cs typeface="Arial"/>
              </a:rPr>
              <a:t>separately. Use CUDA events for kernel elapsed</a:t>
            </a:r>
          </a:p>
          <a:p>
            <a:pPr algn="l">
              <a:defRPr sz="1725" b="0">
                <a:solidFill>
                  <a:srgbClr val="142D45"/>
                </a:solidFill>
                <a:latin typeface="Arial"/>
                <a:ea typeface="Arial"/>
                <a:cs typeface="Arial"/>
              </a:defRPr>
            </a:pPr>
            <a:r>
              <a:rPr sz="1725" b="0">
                <a:solidFill>
                  <a:srgbClr val="142D45"/>
                </a:solidFill>
                <a:latin typeface="Arial"/>
                <a:ea typeface="Arial"/>
                <a:cs typeface="Arial"/>
              </a:rPr>
              <a:t>time after completion and a host timer through final</a:t>
            </a:r>
          </a:p>
          <a:p>
            <a:pPr algn="l">
              <a:defRPr sz="1725" b="0">
                <a:solidFill>
                  <a:srgbClr val="142D45"/>
                </a:solidFill>
                <a:latin typeface="Arial"/>
                <a:ea typeface="Arial"/>
                <a:cs typeface="Arial"/>
              </a:defRPr>
            </a:pPr>
            <a:r>
              <a:rPr sz="1725" b="0">
                <a:solidFill>
                  <a:srgbClr val="142D45"/>
                </a:solidFill>
                <a:latin typeface="Arial"/>
                <a:ea typeface="Arial"/>
                <a:cs typeface="Arial"/>
              </a:rPr>
              <a:t>completion for total latency.</a:t>
            </a:r>
          </a:p>
        </p:txBody>
      </p:sp>
      <p:sp>
        <p:nvSpPr>
          <p:cNvPr id="9" name="Vary image size, angle, block shape and batch size; rec">
            <a:extLst>
              <a:ext uri="{FF2B5EF4-FFF2-40B4-BE49-F238E27FC236}">
                <a16:creationId xmlns:a16="http://schemas.microsoft.com/office/drawing/2014/main" id="{C317D017-390E-4669-A5B6-189B16F48257}"/>
              </a:ext>
            </a:extLst>
          </p:cNvPr>
          <p:cNvSpPr>
            <a:spLocks noGrp="1"/>
          </p:cNvSpPr>
          <p:nvPr/>
        </p:nvSpPr>
        <p:spPr>
          <a:xfrm>
            <a:off x="6419850" y="3267837"/>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Vary image size, angle, block shape and batch size;</a:t>
            </a:r>
          </a:p>
          <a:p>
            <a:pPr algn="l">
              <a:defRPr sz="1725" b="0">
                <a:solidFill>
                  <a:srgbClr val="142D45"/>
                </a:solidFill>
                <a:latin typeface="Arial"/>
                <a:ea typeface="Arial"/>
                <a:cs typeface="Arial"/>
              </a:defRPr>
            </a:pPr>
            <a:r>
              <a:rPr sz="1725" b="0">
                <a:solidFill>
                  <a:srgbClr val="142D45"/>
                </a:solidFill>
                <a:latin typeface="Arial"/>
                <a:ea typeface="Arial"/>
                <a:cs typeface="Arial"/>
              </a:rPr>
              <a:t>record hardware, transfer mode, register use and</a:t>
            </a:r>
          </a:p>
          <a:p>
            <a:pPr algn="l">
              <a:defRPr sz="1725" b="0">
                <a:solidFill>
                  <a:srgbClr val="142D45"/>
                </a:solidFill>
                <a:latin typeface="Arial"/>
                <a:ea typeface="Arial"/>
                <a:cs typeface="Arial"/>
              </a:defRPr>
            </a:pPr>
            <a:r>
              <a:rPr sz="1725" b="0">
                <a:solidFill>
                  <a:srgbClr val="142D45"/>
                </a:solidFill>
                <a:latin typeface="Arial"/>
                <a:ea typeface="Arial"/>
                <a:cs typeface="Arial"/>
              </a:rPr>
              <a:t>effective memory/link bandwidth.</a:t>
            </a:r>
          </a:p>
        </p:txBody>
      </p:sp>
      <p:sp>
        <p:nvSpPr>
          <p:cNvPr id="10" name="The sequential sum does not apply unchanged to overlapp">
            <a:extLst>
              <a:ext uri="{FF2B5EF4-FFF2-40B4-BE49-F238E27FC236}">
                <a16:creationId xmlns:a16="http://schemas.microsoft.com/office/drawing/2014/main" id="{B7A6C2F7-A6E8-40E7-82D3-7F826034319D}"/>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The sequential sum does not apply unchanged to</a:t>
            </a:r>
          </a:p>
          <a:p>
            <a:pPr algn="l">
              <a:defRPr sz="1725" b="0">
                <a:solidFill>
                  <a:srgbClr val="142D45"/>
                </a:solidFill>
                <a:latin typeface="Arial"/>
                <a:ea typeface="Arial"/>
                <a:cs typeface="Arial"/>
              </a:defRPr>
            </a:pPr>
            <a:r>
              <a:rPr sz="1725" b="0">
                <a:solidFill>
                  <a:srgbClr val="142D45"/>
                </a:solidFill>
                <a:latin typeface="Arial"/>
                <a:ea typeface="Arial"/>
                <a:cs typeface="Arial"/>
              </a:rPr>
              <a:t>overlapping streams: measure the completed batch</a:t>
            </a:r>
          </a:p>
          <a:p>
            <a:pPr algn="l">
              <a:defRPr sz="1725" b="0">
                <a:solidFill>
                  <a:srgbClr val="142D45"/>
                </a:solidFill>
                <a:latin typeface="Arial"/>
                <a:ea typeface="Arial"/>
                <a:cs typeface="Arial"/>
              </a:defRPr>
            </a:pPr>
            <a:r>
              <a:rPr sz="1725" b="0">
                <a:solidFill>
                  <a:srgbClr val="142D45"/>
                </a:solidFill>
                <a:latin typeface="Arial"/>
                <a:ea typeface="Arial"/>
                <a:cs typeface="Arial"/>
              </a:rPr>
              <a:t>critical path. Lower kernel time alone cannot</a:t>
            </a:r>
          </a:p>
          <a:p>
            <a:pPr algn="l">
              <a:defRPr sz="1725" b="0">
                <a:solidFill>
                  <a:srgbClr val="142D45"/>
                </a:solidFill>
                <a:latin typeface="Arial"/>
                <a:ea typeface="Arial"/>
                <a:cs typeface="Arial"/>
              </a:defRPr>
            </a:pPr>
            <a:r>
              <a:rPr sz="1725" b="0">
                <a:solidFill>
                  <a:srgbClr val="142D45"/>
                </a:solidFill>
                <a:latin typeface="Arial"/>
                <a:ea typeface="Arial"/>
                <a:cs typeface="Arial"/>
              </a:rPr>
              <a:t>establish end-to-end speedup.</a:t>
            </a:r>
          </a:p>
        </p:txBody>
      </p:sp>
      <p:sp>
        <p:nvSpPr>
          <p:cNvPr id="11" name="Straight Connector 10">
            <a:extLst>
              <a:ext uri="{FF2B5EF4-FFF2-40B4-BE49-F238E27FC236}">
                <a16:creationId xmlns:a16="http://schemas.microsoft.com/office/drawing/2014/main" id="{D21834D7-ECE7-40BC-B284-51F70431DCA4}"/>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F712DDDE-92DA-4696-9DBB-9BFE9D1C6050}"/>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2] NVIDIA CUDA Best Practices">
            <a:extLst>
              <a:ext uri="{FF2B5EF4-FFF2-40B4-BE49-F238E27FC236}">
                <a16:creationId xmlns:a16="http://schemas.microsoft.com/office/drawing/2014/main" id="{3E898319-9B33-42B8-8FB8-043293334A73}"/>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[2] NVIDIA CUDA Best Practices</a:t>
            </a:r>
          </a:p>
        </p:txBody>
      </p:sp>
      <p:sp>
        <p:nvSpPr>
          <p:cNvPr id="14" name="38 / 46">
            <a:extLst>
              <a:ext uri="{FF2B5EF4-FFF2-40B4-BE49-F238E27FC236}">
                <a16:creationId xmlns:a16="http://schemas.microsoft.com/office/drawing/2014/main" id="{25452B37-4FF6-4607-BD85-77C1D2A5520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40 / 48</a:t>
            </a:r>
          </a:p>
        </p:txBody>
      </p:sp>
    </p:spTree>
    <p:extLst>
      <p:ext uri="{BB962C8B-B14F-4D97-AF65-F5344CB8AC3E}">
        <p14:creationId xmlns:p14="http://schemas.microsoft.com/office/powerpoint/2010/main" val="1895623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5" name="Appendix • Task 1 • Appendix A7">
            <a:extLst>
              <a:ext uri="{FF2B5EF4-FFF2-40B4-BE49-F238E27FC236}">
                <a16:creationId xmlns:a16="http://schemas.microsoft.com/office/drawing/2014/main" id="{23846F44-7DC1-4C72-A637-9BC35D8D3D5E}"/>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1 • Appendix A7</a:t>
            </a:r>
          </a:p>
        </p:txBody>
      </p:sp>
      <p:sp>
        <p:nvSpPr>
          <p:cNvPr id="2" name="GDS decision for the proposed pipeline">
            <a:extLst>
              <a:ext uri="{FF2B5EF4-FFF2-40B4-BE49-F238E27FC236}">
                <a16:creationId xmlns:a16="http://schemas.microsoft.com/office/drawing/2014/main" id="{152FC211-4D04-434D-B376-45620DAEF4CE}"/>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GDS decision for the proposed pipeline</a:t>
            </a:r>
          </a:p>
        </p:txBody>
      </p:sp>
      <p:sp>
        <p:nvSpPr>
          <p:cNvPr id="3" name="Conventional decoded-image path">
            <a:extLst>
              <a:ext uri="{FF2B5EF4-FFF2-40B4-BE49-F238E27FC236}">
                <a16:creationId xmlns:a16="http://schemas.microsoft.com/office/drawing/2014/main" id="{30AE6571-2BAB-4A54-BD56-0D520D38B127}"/>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Conventional decoded-image path</a:t>
            </a:r>
          </a:p>
        </p:txBody>
      </p:sp>
      <p:sp>
        <p:nvSpPr>
          <p:cNvPr id="4" name="CPU decoding requires host-visible compressed bytes and">
            <a:extLst>
              <a:ext uri="{FF2B5EF4-FFF2-40B4-BE49-F238E27FC236}">
                <a16:creationId xmlns:a16="http://schemas.microsoft.com/office/drawing/2014/main" id="{2BCBB1C5-33F1-4AE0-9ECC-B59BCEA12DF2}"/>
              </a:ext>
            </a:extLst>
          </p:cNvPr>
          <p:cNvSpPr>
            <a:spLocks noGrp="1"/>
          </p:cNvSpPr>
          <p:nvPr/>
        </p:nvSpPr>
        <p:spPr>
          <a:xfrm>
            <a:off x="60960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CPU decoding requires host-visible compressed</a:t>
            </a:r>
          </a:p>
          <a:p>
            <a:pPr algn="l">
              <a:defRPr sz="1725" b="0">
                <a:solidFill>
                  <a:srgbClr val="142D45"/>
                </a:solidFill>
                <a:latin typeface="Arial"/>
                <a:ea typeface="Arial"/>
                <a:cs typeface="Arial"/>
              </a:defRPr>
            </a:pPr>
            <a:r>
              <a:rPr sz="1725" b="0">
                <a:solidFill>
                  <a:srgbClr val="142D45"/>
                </a:solidFill>
                <a:latin typeface="Arial"/>
                <a:ea typeface="Arial"/>
                <a:cs typeface="Arial"/>
              </a:rPr>
              <a:t>bytes and produces pixels in RAM. Those pixels are</a:t>
            </a:r>
          </a:p>
          <a:p>
            <a:pPr algn="l">
              <a:defRPr sz="1725" b="0">
                <a:solidFill>
                  <a:srgbClr val="142D45"/>
                </a:solidFill>
                <a:latin typeface="Arial"/>
                <a:ea typeface="Arial"/>
                <a:cs typeface="Arial"/>
              </a:defRPr>
            </a:pPr>
            <a:r>
              <a:rPr sz="1725" b="0">
                <a:solidFill>
                  <a:srgbClr val="142D45"/>
                </a:solidFill>
                <a:latin typeface="Arial"/>
                <a:ea typeface="Arial"/>
                <a:cs typeface="Arial"/>
              </a:rPr>
              <a:t>copied to the GPU; the rotation kernel then runs.</a:t>
            </a:r>
          </a:p>
        </p:txBody>
      </p:sp>
      <p:sp>
        <p:nvSpPr>
          <p:cNvPr id="5" name="A single small image already in RAM gains little from b">
            <a:extLst>
              <a:ext uri="{FF2B5EF4-FFF2-40B4-BE49-F238E27FC236}">
                <a16:creationId xmlns:a16="http://schemas.microsoft.com/office/drawing/2014/main" id="{4BADD949-5794-40BB-B31B-CB627E1B1BD3}"/>
              </a:ext>
            </a:extLst>
          </p:cNvPr>
          <p:cNvSpPr>
            <a:spLocks noGrp="1"/>
          </p:cNvSpPr>
          <p:nvPr/>
        </p:nvSpPr>
        <p:spPr>
          <a:xfrm>
            <a:off x="609600" y="2996184"/>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 single small image already in RAM gains little from</a:t>
            </a:r>
          </a:p>
          <a:p>
            <a:pPr algn="l">
              <a:defRPr sz="1725" b="0">
                <a:solidFill>
                  <a:srgbClr val="142D45"/>
                </a:solidFill>
                <a:latin typeface="Arial"/>
                <a:ea typeface="Arial"/>
                <a:cs typeface="Arial"/>
              </a:defRPr>
            </a:pPr>
            <a:r>
              <a:rPr sz="1725" b="0">
                <a:solidFill>
                  <a:srgbClr val="142D45"/>
                </a:solidFill>
                <a:latin typeface="Arial"/>
                <a:ea typeface="Arial"/>
                <a:cs typeface="Arial"/>
              </a:rPr>
              <a:t>bypassing a storage step that is no longer on its</a:t>
            </a:r>
          </a:p>
          <a:p>
            <a:pPr algn="l">
              <a:defRPr sz="1725" b="0">
                <a:solidFill>
                  <a:srgbClr val="142D45"/>
                </a:solidFill>
                <a:latin typeface="Arial"/>
                <a:ea typeface="Arial"/>
                <a:cs typeface="Arial"/>
              </a:defRPr>
            </a:pPr>
            <a:r>
              <a:rPr sz="1725" b="0">
                <a:solidFill>
                  <a:srgbClr val="142D45"/>
                </a:solidFill>
                <a:latin typeface="Arial"/>
                <a:ea typeface="Arial"/>
                <a:cs typeface="Arial"/>
              </a:rPr>
              <a:t>path.</a:t>
            </a:r>
          </a:p>
        </p:txBody>
      </p:sp>
      <p:sp>
        <p:nvSpPr>
          <p:cNvPr id="6" name="GDS does not decode an image, bypass an application’s C">
            <a:extLst>
              <a:ext uri="{FF2B5EF4-FFF2-40B4-BE49-F238E27FC236}">
                <a16:creationId xmlns:a16="http://schemas.microsoft.com/office/drawing/2014/main" id="{2BE12BEE-76D4-4C08-954A-A6C849FA5EB9}"/>
              </a:ext>
            </a:extLst>
          </p:cNvPr>
          <p:cNvSpPr>
            <a:spLocks noGrp="1"/>
          </p:cNvSpPr>
          <p:nvPr/>
        </p:nvSpPr>
        <p:spPr>
          <a:xfrm>
            <a:off x="609600" y="4020693"/>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GDS does not decode an image, bypass an</a:t>
            </a:r>
          </a:p>
          <a:p>
            <a:pPr algn="l">
              <a:defRPr sz="1725" b="0">
                <a:solidFill>
                  <a:srgbClr val="142D45"/>
                </a:solidFill>
                <a:latin typeface="Arial"/>
                <a:ea typeface="Arial"/>
                <a:cs typeface="Arial"/>
              </a:defRPr>
            </a:pPr>
            <a:r>
              <a:rPr sz="1725" b="0">
                <a:solidFill>
                  <a:srgbClr val="142D45"/>
                </a:solidFill>
                <a:latin typeface="Arial"/>
                <a:ea typeface="Arial"/>
                <a:cs typeface="Arial"/>
              </a:rPr>
              <a:t>application’s CPU transformation, or make GPU</a:t>
            </a:r>
          </a:p>
          <a:p>
            <a:pPr algn="l">
              <a:defRPr sz="1725" b="0">
                <a:solidFill>
                  <a:srgbClr val="142D45"/>
                </a:solidFill>
                <a:latin typeface="Arial"/>
                <a:ea typeface="Arial"/>
                <a:cs typeface="Arial"/>
              </a:defRPr>
            </a:pPr>
            <a:r>
              <a:rPr sz="1725" b="0">
                <a:solidFill>
                  <a:srgbClr val="142D45"/>
                </a:solidFill>
                <a:latin typeface="Arial"/>
                <a:ea typeface="Arial"/>
                <a:cs typeface="Arial"/>
              </a:rPr>
              <a:t>memory access itself faster.</a:t>
            </a:r>
          </a:p>
        </p:txBody>
      </p:sp>
      <p:sp>
        <p:nvSpPr>
          <p:cNvPr id="7" name="Conditional batch alternative">
            <a:extLst>
              <a:ext uri="{FF2B5EF4-FFF2-40B4-BE49-F238E27FC236}">
                <a16:creationId xmlns:a16="http://schemas.microsoft.com/office/drawing/2014/main" id="{0DBDB424-73D7-459C-ACB1-E33ED3BBF6BE}"/>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Conditional batch alternative</a:t>
            </a:r>
          </a:p>
        </p:txBody>
      </p:sp>
      <p:sp>
        <p:nvSpPr>
          <p:cNvPr id="8" name="Large storage-bound batches of GPU-ready pixels, or a c">
            <a:extLst>
              <a:ext uri="{FF2B5EF4-FFF2-40B4-BE49-F238E27FC236}">
                <a16:creationId xmlns:a16="http://schemas.microsoft.com/office/drawing/2014/main" id="{58A0673C-52E6-4964-83A9-ECD18E7FBE57}"/>
              </a:ext>
            </a:extLst>
          </p:cNvPr>
          <p:cNvSpPr>
            <a:spLocks noGrp="1"/>
          </p:cNvSpPr>
          <p:nvPr/>
        </p:nvSpPr>
        <p:spPr>
          <a:xfrm>
            <a:off x="6419850" y="1971675"/>
            <a:ext cx="5124450" cy="853059"/>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Large storage-bound batches of GPU-ready pixels,</a:t>
            </a:r>
          </a:p>
          <a:p>
            <a:pPr algn="l">
              <a:defRPr sz="1725" b="0">
                <a:solidFill>
                  <a:srgbClr val="142D45"/>
                </a:solidFill>
                <a:latin typeface="Arial"/>
                <a:ea typeface="Arial"/>
                <a:cs typeface="Arial"/>
              </a:defRPr>
            </a:pPr>
            <a:r>
              <a:rPr sz="1725" b="0">
                <a:solidFill>
                  <a:srgbClr val="142D45"/>
                </a:solidFill>
                <a:latin typeface="Arial"/>
                <a:ea typeface="Arial"/>
                <a:cs typeface="Arial"/>
              </a:rPr>
              <a:t>or a compatible GPU decoding pipeline, may avoid</a:t>
            </a:r>
          </a:p>
          <a:p>
            <a:pPr algn="l">
              <a:defRPr sz="1725" b="0">
                <a:solidFill>
                  <a:srgbClr val="142D45"/>
                </a:solidFill>
                <a:latin typeface="Arial"/>
                <a:ea typeface="Arial"/>
                <a:cs typeface="Arial"/>
              </a:defRPr>
            </a:pPr>
            <a:r>
              <a:rPr sz="1725" b="0">
                <a:solidFill>
                  <a:srgbClr val="142D45"/>
                </a:solidFill>
                <a:latin typeface="Arial"/>
                <a:ea typeface="Arial"/>
                <a:cs typeface="Arial"/>
              </a:rPr>
              <a:t>host staging via cuFile and storage-side DMA.</a:t>
            </a:r>
          </a:p>
        </p:txBody>
      </p:sp>
      <p:sp>
        <p:nvSpPr>
          <p:cNvPr id="9" name="Verify the GPU, storage/filesystem, software and PCIe t">
            <a:extLst>
              <a:ext uri="{FF2B5EF4-FFF2-40B4-BE49-F238E27FC236}">
                <a16:creationId xmlns:a16="http://schemas.microsoft.com/office/drawing/2014/main" id="{1FAE9E88-BF1E-4E45-8F53-EF8D0FCE2EE0}"/>
              </a:ext>
            </a:extLst>
          </p:cNvPr>
          <p:cNvSpPr>
            <a:spLocks noGrp="1"/>
          </p:cNvSpPr>
          <p:nvPr/>
        </p:nvSpPr>
        <p:spPr>
          <a:xfrm>
            <a:off x="6419850" y="2996184"/>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Verify the GPU, storage/filesystem, software and</a:t>
            </a:r>
          </a:p>
          <a:p>
            <a:pPr algn="l">
              <a:defRPr sz="1725" b="0">
                <a:solidFill>
                  <a:srgbClr val="142D45"/>
                </a:solidFill>
                <a:latin typeface="Arial"/>
                <a:ea typeface="Arial"/>
                <a:cs typeface="Arial"/>
              </a:defRPr>
            </a:pPr>
            <a:r>
              <a:rPr sz="1725" b="0">
                <a:solidFill>
                  <a:srgbClr val="142D45"/>
                </a:solidFill>
                <a:latin typeface="Arial"/>
                <a:ea typeface="Arial"/>
                <a:cs typeface="Arial"/>
              </a:rPr>
              <a:t>PCIe topology support the direct path. Compatibility</a:t>
            </a:r>
          </a:p>
          <a:p>
            <a:pPr algn="l">
              <a:defRPr sz="1725" b="0">
                <a:solidFill>
                  <a:srgbClr val="142D45"/>
                </a:solidFill>
                <a:latin typeface="Arial"/>
                <a:ea typeface="Arial"/>
                <a:cs typeface="Arial"/>
              </a:defRPr>
            </a:pPr>
            <a:r>
              <a:rPr sz="1725" b="0">
                <a:solidFill>
                  <a:srgbClr val="142D45"/>
                </a:solidFill>
                <a:latin typeface="Arial"/>
                <a:ea typeface="Arial"/>
                <a:cs typeface="Arial"/>
              </a:rPr>
              <a:t>fallback uses host staging and is not evidence of</a:t>
            </a:r>
          </a:p>
          <a:p>
            <a:pPr algn="l">
              <a:defRPr sz="1725" b="0">
                <a:solidFill>
                  <a:srgbClr val="142D45"/>
                </a:solidFill>
                <a:latin typeface="Arial"/>
                <a:ea typeface="Arial"/>
                <a:cs typeface="Arial"/>
              </a:defRPr>
            </a:pPr>
            <a:r>
              <a:rPr sz="1725" b="0">
                <a:solidFill>
                  <a:srgbClr val="142D45"/>
                </a:solidFill>
                <a:latin typeface="Arial"/>
                <a:ea typeface="Arial"/>
                <a:cs typeface="Arial"/>
              </a:rPr>
              <a:t>direct DMA.</a:t>
            </a:r>
          </a:p>
        </p:txBody>
      </p:sp>
      <p:sp>
        <p:nvSpPr>
          <p:cNvPr id="10" name="Adopt only if completed batch time/CPU overhead improve">
            <a:extLst>
              <a:ext uri="{FF2B5EF4-FFF2-40B4-BE49-F238E27FC236}">
                <a16:creationId xmlns:a16="http://schemas.microsoft.com/office/drawing/2014/main" id="{C88724CD-A2E8-4D79-B4F2-94BCCD57DF54}"/>
              </a:ext>
            </a:extLst>
          </p:cNvPr>
          <p:cNvSpPr>
            <a:spLocks noGrp="1"/>
          </p:cNvSpPr>
          <p:nvPr/>
        </p:nvSpPr>
        <p:spPr>
          <a:xfrm>
            <a:off x="6419850" y="4292346"/>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Adopt only if completed batch time/CPU overhead</a:t>
            </a:r>
          </a:p>
          <a:p>
            <a:pPr algn="l">
              <a:defRPr sz="1725" b="0">
                <a:solidFill>
                  <a:srgbClr val="142D45"/>
                </a:solidFill>
                <a:latin typeface="Arial"/>
                <a:ea typeface="Arial"/>
                <a:cs typeface="Arial"/>
              </a:defRPr>
            </a:pPr>
            <a:r>
              <a:rPr sz="1725" b="0">
                <a:solidFill>
                  <a:srgbClr val="142D45"/>
                </a:solidFill>
                <a:latin typeface="Arial"/>
                <a:ea typeface="Arial"/>
                <a:cs typeface="Arial"/>
              </a:rPr>
              <a:t>improve on the real workload; include extra buffers,</a:t>
            </a:r>
          </a:p>
          <a:p>
            <a:pPr algn="l">
              <a:defRPr sz="1725" b="0">
                <a:solidFill>
                  <a:srgbClr val="142D45"/>
                </a:solidFill>
                <a:latin typeface="Arial"/>
                <a:ea typeface="Arial"/>
                <a:cs typeface="Arial"/>
              </a:defRPr>
            </a:pPr>
            <a:r>
              <a:rPr sz="1725" b="0">
                <a:solidFill>
                  <a:srgbClr val="142D45"/>
                </a:solidFill>
                <a:latin typeface="Arial"/>
                <a:ea typeface="Arial"/>
                <a:cs typeface="Arial"/>
              </a:rPr>
              <a:t>decoding and storage bandwidth. Otherwise retain</a:t>
            </a:r>
          </a:p>
          <a:p>
            <a:pPr algn="l">
              <a:defRPr sz="1725" b="0">
                <a:solidFill>
                  <a:srgbClr val="142D45"/>
                </a:solidFill>
                <a:latin typeface="Arial"/>
                <a:ea typeface="Arial"/>
                <a:cs typeface="Arial"/>
              </a:defRPr>
            </a:pPr>
            <a:r>
              <a:rPr sz="1725" b="0">
                <a:solidFill>
                  <a:srgbClr val="142D45"/>
                </a:solidFill>
                <a:latin typeface="Arial"/>
                <a:ea typeface="Arial"/>
                <a:cs typeface="Arial"/>
              </a:rPr>
              <a:t>conventional copies.</a:t>
            </a:r>
          </a:p>
        </p:txBody>
      </p:sp>
      <p:sp>
        <p:nvSpPr>
          <p:cNvPr id="11" name="Straight Connector 10">
            <a:extLst>
              <a:ext uri="{FF2B5EF4-FFF2-40B4-BE49-F238E27FC236}">
                <a16:creationId xmlns:a16="http://schemas.microsoft.com/office/drawing/2014/main" id="{4CA9BB25-51DC-4914-BB0D-1564692A5C27}"/>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12" name="Straight Connector 11">
            <a:extLst>
              <a:ext uri="{FF2B5EF4-FFF2-40B4-BE49-F238E27FC236}">
                <a16:creationId xmlns:a16="http://schemas.microsoft.com/office/drawing/2014/main" id="{66E188D0-5CC1-427E-BA12-2DF76B3F42B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3" name="Sources: [3] NVIDIA GDS overview; [4] NVIDIA GDS design">
            <a:extLst>
              <a:ext uri="{FF2B5EF4-FFF2-40B4-BE49-F238E27FC236}">
                <a16:creationId xmlns:a16="http://schemas.microsoft.com/office/drawing/2014/main" id="{4AAD21F0-CBBF-45CF-8B86-1A06ECEFCA2B}"/>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[3] NVIDIA GDS overview; [4] NVIDIA GDS design</a:t>
            </a:r>
          </a:p>
        </p:txBody>
      </p:sp>
      <p:sp>
        <p:nvSpPr>
          <p:cNvPr id="14" name="39 / 46">
            <a:extLst>
              <a:ext uri="{FF2B5EF4-FFF2-40B4-BE49-F238E27FC236}">
                <a16:creationId xmlns:a16="http://schemas.microsoft.com/office/drawing/2014/main" id="{170FB112-75A5-4F7A-970B-BF6167518F4B}"/>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41 / 48</a:t>
            </a:r>
          </a:p>
        </p:txBody>
      </p:sp>
    </p:spTree>
    <p:extLst>
      <p:ext uri="{BB962C8B-B14F-4D97-AF65-F5344CB8AC3E}">
        <p14:creationId xmlns:p14="http://schemas.microsoft.com/office/powerpoint/2010/main" val="462730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2 • Appendix B1">
            <a:extLst>
              <a:ext uri="{FF2B5EF4-FFF2-40B4-BE49-F238E27FC236}">
                <a16:creationId xmlns:a16="http://schemas.microsoft.com/office/drawing/2014/main" id="{D4A4ADC2-D3A2-46C4-BA70-8DAB8F82E337}"/>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B1</a:t>
            </a:r>
          </a:p>
        </p:txBody>
      </p:sp>
      <p:sp>
        <p:nvSpPr>
          <p:cNvPr id="2" name="Parallelism, dependencies and scaling limits">
            <a:extLst>
              <a:ext uri="{FF2B5EF4-FFF2-40B4-BE49-F238E27FC236}">
                <a16:creationId xmlns:a16="http://schemas.microsoft.com/office/drawing/2014/main" id="{06CF0D17-9260-45C5-B3B2-A8A7E0CF437C}"/>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Parallelism, dependencies and scaling limits</a:t>
            </a:r>
          </a:p>
        </p:txBody>
      </p:sp>
      <p:graphicFrame>
        <p:nvGraphicFramePr>
          <p:cNvPr id="3" name="Table 2">
            <a:extLst>
              <a:ext uri="{FF2B5EF4-FFF2-40B4-BE49-F238E27FC236}">
                <a16:creationId xmlns:a16="http://schemas.microsoft.com/office/drawing/2014/main" id="{B134D178-9763-4DF4-B563-D94E0A0EEEC4}"/>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Model</a:t>
                      </a:r>
                    </a:p>
                  </a:txBody>
                  <a:tcPr anchor="ctr">
                    <a:solidFill>
                      <a:srgbClr val="142D45"/>
                    </a:solidFill>
                  </a:tcPr>
                </a:tc>
                <a:tc>
                  <a:txBody>
                    <a:bodyPr/>
                    <a:lstStyle/>
                    <a:p>
                      <a:pPr algn="l"/>
                      <a:r>
                        <a:rPr sz="1650" b="1">
                          <a:solidFill>
                            <a:srgbClr val="FFFFFF"/>
                          </a:solidFill>
                          <a:latin typeface="Arial"/>
                          <a:ea typeface="Arial"/>
                          <a:cs typeface="Arial"/>
                        </a:rPr>
                        <a:t>Partition and communication</a:t>
                      </a:r>
                    </a:p>
                  </a:txBody>
                  <a:tcPr anchor="ctr">
                    <a:solidFill>
                      <a:srgbClr val="142D45"/>
                    </a:solidFill>
                  </a:tcPr>
                </a:tc>
                <a:tc>
                  <a:txBody>
                    <a:bodyPr/>
                    <a:lstStyle/>
                    <a:p>
                      <a:pPr algn="l"/>
                      <a:r>
                        <a:rPr sz="1650" b="1">
                          <a:solidFill>
                            <a:srgbClr val="FFFFFF"/>
                          </a:solidFill>
                          <a:latin typeface="Arial"/>
                          <a:ea typeface="Arial"/>
                          <a:cs typeface="Arial"/>
                        </a:rPr>
                        <a:t>Scaling limitation</a:t>
                      </a:r>
                    </a:p>
                  </a:txBody>
                  <a:tcPr anchor="ctr">
                    <a:solidFill>
                      <a:srgbClr val="142D45"/>
                    </a:solidFill>
                  </a:tcPr>
                </a:tc>
                <a:extLst>
                  <a:ext uri="{0D108BD9-81ED-4DB2-BD59-A6C34878D82A}">
                    <a16:rowId xmlns:a16="http://schemas.microsoft.com/office/drawing/2014/main" val="10000"/>
                  </a:ext>
                </a:extLst>
              </a:tr>
              <a:tr h="666750">
                <a:tc>
                  <a:txBody>
                    <a:bodyPr/>
                    <a:lstStyle/>
                    <a:p>
                      <a:pPr algn="l"/>
                      <a:r>
                        <a:rPr sz="1500" b="0">
                          <a:solidFill>
                            <a:srgbClr val="142D45"/>
                          </a:solidFill>
                          <a:latin typeface="Arial"/>
                          <a:ea typeface="Arial"/>
                          <a:cs typeface="Arial"/>
                        </a:rPr>
                        <a:t>Data parallel</a:t>
                      </a:r>
                    </a:p>
                  </a:txBody>
                  <a:tcPr anchor="ctr">
                    <a:solidFill>
                      <a:srgbClr val="FFFFFF"/>
                    </a:solidFill>
                  </a:tcPr>
                </a:tc>
                <a:tc>
                  <a:txBody>
                    <a:bodyPr/>
                    <a:lstStyle/>
                    <a:p>
                      <a:pPr algn="l"/>
                      <a:r>
                        <a:rPr sz="1500" b="0">
                          <a:solidFill>
                            <a:srgbClr val="142D45"/>
                          </a:solidFill>
                          <a:latin typeface="Arial"/>
                          <a:ea typeface="Arial"/>
                          <a:cs typeface="Arial"/>
                        </a:rPr>
                        <a:t>Replicate model; partition batches; reduce/average gradients before a consistent update</a:t>
                      </a:r>
                    </a:p>
                  </a:txBody>
                  <a:tcPr anchor="ctr">
                    <a:solidFill>
                      <a:srgbClr val="FFFFFF"/>
                    </a:solidFill>
                  </a:tcPr>
                </a:tc>
                <a:tc>
                  <a:txBody>
                    <a:bodyPr/>
                    <a:lstStyle/>
                    <a:p>
                      <a:pPr algn="l"/>
                      <a:r>
                        <a:rPr sz="1500" b="0">
                          <a:solidFill>
                            <a:srgbClr val="142D45"/>
                          </a:solidFill>
                          <a:latin typeface="Arial"/>
                          <a:ea typeface="Arial"/>
                          <a:cs typeface="Arial"/>
                        </a:rPr>
                        <a:t>Collective latency/bandwidth and stragglers.</a:t>
                      </a:r>
                    </a:p>
                  </a:txBody>
                  <a:tcPr anchor="ctr">
                    <a:solidFill>
                      <a:srgbClr val="FFFFFF"/>
                    </a:solidFill>
                  </a:tcPr>
                </a:tc>
                <a:extLst>
                  <a:ext uri="{0D108BD9-81ED-4DB2-BD59-A6C34878D82A}">
                    <a16:rowId xmlns:a16="http://schemas.microsoft.com/office/drawing/2014/main" val="10001"/>
                  </a:ext>
                </a:extLst>
              </a:tr>
              <a:tr h="666750">
                <a:tc>
                  <a:txBody>
                    <a:bodyPr/>
                    <a:lstStyle/>
                    <a:p>
                      <a:pPr algn="l"/>
                      <a:r>
                        <a:rPr sz="1500" b="0">
                          <a:solidFill>
                            <a:srgbClr val="142D45"/>
                          </a:solidFill>
                          <a:latin typeface="Arial"/>
                          <a:ea typeface="Arial"/>
                          <a:cs typeface="Arial"/>
                        </a:rPr>
                        <a:t>Tensor parallel</a:t>
                      </a:r>
                    </a:p>
                  </a:txBody>
                  <a:tcPr anchor="ctr">
                    <a:solidFill>
                      <a:srgbClr val="F0F4F4"/>
                    </a:solidFill>
                  </a:tcPr>
                </a:tc>
                <a:tc>
                  <a:txBody>
                    <a:bodyPr/>
                    <a:lstStyle/>
                    <a:p>
                      <a:pPr algn="l"/>
                      <a:r>
                        <a:rPr sz="1500" b="0">
                          <a:solidFill>
                            <a:srgbClr val="142D45"/>
                          </a:solidFill>
                          <a:latin typeface="Arial"/>
                          <a:ea typeface="Arial"/>
                          <a:cs typeface="Arial"/>
                        </a:rPr>
                        <a:t>Partition computations within a layer; exchange partial results</a:t>
                      </a:r>
                    </a:p>
                  </a:txBody>
                  <a:tcPr anchor="ctr">
                    <a:solidFill>
                      <a:srgbClr val="F0F4F4"/>
                    </a:solidFill>
                  </a:tcPr>
                </a:tc>
                <a:tc>
                  <a:txBody>
                    <a:bodyPr/>
                    <a:lstStyle/>
                    <a:p>
                      <a:pPr algn="l"/>
                      <a:r>
                        <a:rPr sz="1500" b="0">
                          <a:solidFill>
                            <a:srgbClr val="142D45"/>
                          </a:solidFill>
                          <a:latin typeface="Arial"/>
                          <a:ea typeface="Arial"/>
                          <a:cs typeface="Arial"/>
                        </a:rPr>
                        <a:t>Frequent inter-device communication.</a:t>
                      </a:r>
                    </a:p>
                  </a:txBody>
                  <a:tcPr anchor="ctr">
                    <a:solidFill>
                      <a:srgbClr val="F0F4F4"/>
                    </a:solidFill>
                  </a:tcPr>
                </a:tc>
                <a:extLst>
                  <a:ext uri="{0D108BD9-81ED-4DB2-BD59-A6C34878D82A}">
                    <a16:rowId xmlns:a16="http://schemas.microsoft.com/office/drawing/2014/main" val="10002"/>
                  </a:ext>
                </a:extLst>
              </a:tr>
              <a:tr h="666750">
                <a:tc>
                  <a:txBody>
                    <a:bodyPr/>
                    <a:lstStyle/>
                    <a:p>
                      <a:pPr algn="l"/>
                      <a:r>
                        <a:rPr sz="1500" b="0">
                          <a:solidFill>
                            <a:srgbClr val="142D45"/>
                          </a:solidFill>
                          <a:latin typeface="Arial"/>
                          <a:ea typeface="Arial"/>
                          <a:cs typeface="Arial"/>
                        </a:rPr>
                        <a:t>Pipeline parallel</a:t>
                      </a:r>
                    </a:p>
                  </a:txBody>
                  <a:tcPr anchor="ctr">
                    <a:solidFill>
                      <a:srgbClr val="FFFFFF"/>
                    </a:solidFill>
                  </a:tcPr>
                </a:tc>
                <a:tc>
                  <a:txBody>
                    <a:bodyPr/>
                    <a:lstStyle/>
                    <a:p>
                      <a:pPr algn="l"/>
                      <a:r>
                        <a:rPr sz="1500" b="0">
                          <a:solidFill>
                            <a:srgbClr val="142D45"/>
                          </a:solidFill>
                          <a:latin typeface="Arial"/>
                          <a:ea typeface="Arial"/>
                          <a:cs typeface="Arial"/>
                        </a:rPr>
                        <a:t>Assign layers to stages; pass activations/gradients</a:t>
                      </a:r>
                    </a:p>
                  </a:txBody>
                  <a:tcPr anchor="ctr">
                    <a:solidFill>
                      <a:srgbClr val="FFFFFF"/>
                    </a:solidFill>
                  </a:tcPr>
                </a:tc>
                <a:tc>
                  <a:txBody>
                    <a:bodyPr/>
                    <a:lstStyle/>
                    <a:p>
                      <a:pPr algn="l"/>
                      <a:r>
                        <a:rPr sz="1500" b="0">
                          <a:solidFill>
                            <a:srgbClr val="142D45"/>
                          </a:solidFill>
                          <a:latin typeface="Arial"/>
                          <a:ea typeface="Arial"/>
                          <a:cs typeface="Arial"/>
                        </a:rPr>
                        <a:t>Stage imbalance and pipeline bubbles.</a:t>
                      </a:r>
                    </a:p>
                  </a:txBody>
                  <a:tcPr anchor="ctr">
                    <a:solidFill>
                      <a:srgbClr val="FFFFFF"/>
                    </a:solidFill>
                  </a:tcPr>
                </a:tc>
                <a:extLst>
                  <a:ext uri="{0D108BD9-81ED-4DB2-BD59-A6C34878D82A}">
                    <a16:rowId xmlns:a16="http://schemas.microsoft.com/office/drawing/2014/main" val="10003"/>
                  </a:ext>
                </a:extLst>
              </a:tr>
              <a:tr h="666750">
                <a:tc>
                  <a:txBody>
                    <a:bodyPr/>
                    <a:lstStyle/>
                    <a:p>
                      <a:pPr algn="l"/>
                      <a:r>
                        <a:rPr sz="1500" b="0">
                          <a:solidFill>
                            <a:srgbClr val="142D45"/>
                          </a:solidFill>
                          <a:latin typeface="Arial"/>
                          <a:ea typeface="Arial"/>
                          <a:cs typeface="Arial"/>
                        </a:rPr>
                        <a:t>Fixed workload</a:t>
                      </a:r>
                    </a:p>
                  </a:txBody>
                  <a:tcPr anchor="ctr">
                    <a:solidFill>
                      <a:srgbClr val="F0F4F4"/>
                    </a:solidFill>
                  </a:tcPr>
                </a:tc>
                <a:tc>
                  <a:txBody>
                    <a:bodyPr/>
                    <a:lstStyle/>
                    <a:p>
                      <a:pPr algn="l"/>
                      <a:r>
                        <a:rPr sz="1500" b="0">
                          <a:solidFill>
                            <a:srgbClr val="142D45"/>
                          </a:solidFill>
                          <a:latin typeface="Arial"/>
                          <a:ea typeface="Arial"/>
                          <a:cs typeface="Arial"/>
                        </a:rPr>
                        <a:t>More GPUs reduce only the parallelizable portion</a:t>
                      </a:r>
                    </a:p>
                  </a:txBody>
                  <a:tcPr anchor="ctr">
                    <a:solidFill>
                      <a:srgbClr val="F0F4F4"/>
                    </a:solidFill>
                  </a:tcPr>
                </a:tc>
                <a:tc>
                  <a:txBody>
                    <a:bodyPr/>
                    <a:lstStyle/>
                    <a:p>
                      <a:pPr algn="l"/>
                      <a:r>
                        <a:rPr sz="1500" b="0">
                          <a:solidFill>
                            <a:srgbClr val="142D45"/>
                          </a:solidFill>
                          <a:latin typeface="Arial"/>
                          <a:ea typeface="Arial"/>
                          <a:cs typeface="Arial"/>
                        </a:rPr>
                        <a:t>Serial work and communication bound speedup.</a:t>
                      </a:r>
                    </a:p>
                  </a:txBody>
                  <a:tcPr anchor="ctr">
                    <a:solidFill>
                      <a:srgbClr val="F0F4F4"/>
                    </a:solidFill>
                  </a:tcPr>
                </a:tc>
                <a:extLst>
                  <a:ext uri="{0D108BD9-81ED-4DB2-BD59-A6C34878D82A}">
                    <a16:rowId xmlns:a16="http://schemas.microsoft.com/office/drawing/2014/main" val="10004"/>
                  </a:ext>
                </a:extLst>
              </a:tr>
              <a:tr h="666750">
                <a:tc>
                  <a:txBody>
                    <a:bodyPr/>
                    <a:lstStyle/>
                    <a:p>
                      <a:pPr algn="l"/>
                      <a:r>
                        <a:rPr sz="1500" b="0">
                          <a:solidFill>
                            <a:srgbClr val="142D45"/>
                          </a:solidFill>
                          <a:latin typeface="Arial"/>
                          <a:ea typeface="Arial"/>
                          <a:cs typeface="Arial"/>
                        </a:rPr>
                        <a:t>Larger workload</a:t>
                      </a:r>
                    </a:p>
                  </a:txBody>
                  <a:tcPr anchor="ctr">
                    <a:solidFill>
                      <a:srgbClr val="FFFFFF"/>
                    </a:solidFill>
                  </a:tcPr>
                </a:tc>
                <a:tc>
                  <a:txBody>
                    <a:bodyPr/>
                    <a:lstStyle/>
                    <a:p>
                      <a:pPr algn="l"/>
                      <a:r>
                        <a:rPr sz="1500" b="0">
                          <a:solidFill>
                            <a:srgbClr val="142D45"/>
                          </a:solidFill>
                          <a:latin typeface="Arial"/>
                          <a:ea typeface="Arial"/>
                          <a:cs typeface="Arial"/>
                        </a:rPr>
                        <a:t>Scale capacity/model/data with added resources</a:t>
                      </a:r>
                    </a:p>
                  </a:txBody>
                  <a:tcPr anchor="ctr">
                    <a:solidFill>
                      <a:srgbClr val="FFFFFF"/>
                    </a:solidFill>
                  </a:tcPr>
                </a:tc>
                <a:tc>
                  <a:txBody>
                    <a:bodyPr/>
                    <a:lstStyle/>
                    <a:p>
                      <a:pPr algn="l"/>
                      <a:r>
                        <a:rPr sz="1500" b="0">
                          <a:solidFill>
                            <a:srgbClr val="142D45"/>
                          </a:solidFill>
                          <a:latin typeface="Arial"/>
                          <a:ea typeface="Arial"/>
                          <a:cs typeface="Arial"/>
                        </a:rPr>
                        <a:t>A different claim from halving a fixed job’s runtime.</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All-reduce is a collective result-sharing concept, not ">
            <a:extLst>
              <a:ext uri="{FF2B5EF4-FFF2-40B4-BE49-F238E27FC236}">
                <a16:creationId xmlns:a16="http://schemas.microsoft.com/office/drawing/2014/main" id="{D4C086D2-4E92-44EC-B7C6-316F398DF653}"/>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All-reduce is a collective result-sharing concept, not a claim that every AI framework uses the exact classroom MPI code.</a:t>
            </a:r>
          </a:p>
        </p:txBody>
      </p:sp>
      <p:sp>
        <p:nvSpPr>
          <p:cNvPr id="5" name="Straight Connector 4">
            <a:extLst>
              <a:ext uri="{FF2B5EF4-FFF2-40B4-BE49-F238E27FC236}">
                <a16:creationId xmlns:a16="http://schemas.microsoft.com/office/drawing/2014/main" id="{96B1D9F0-C07D-4BA4-A092-2EAA1AA7014F}"/>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5] NVIDIA Megatron parallelism; [2] NVIDIA CU">
            <a:extLst>
              <a:ext uri="{FF2B5EF4-FFF2-40B4-BE49-F238E27FC236}">
                <a16:creationId xmlns:a16="http://schemas.microsoft.com/office/drawing/2014/main" id="{51735946-6893-4684-A745-B5932FAAB7FE}"/>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[5] NVIDIA Megatron parallelism; [2] NVIDIA CUDA Best Practices</a:t>
            </a:r>
          </a:p>
        </p:txBody>
      </p:sp>
      <p:sp>
        <p:nvSpPr>
          <p:cNvPr id="7" name="40 / 46">
            <a:extLst>
              <a:ext uri="{FF2B5EF4-FFF2-40B4-BE49-F238E27FC236}">
                <a16:creationId xmlns:a16="http://schemas.microsoft.com/office/drawing/2014/main" id="{AAFE524E-79EB-4E73-8419-7F24A43FF520}"/>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42 / 48</a:t>
            </a:r>
          </a:p>
        </p:txBody>
      </p:sp>
    </p:spTree>
    <p:extLst>
      <p:ext uri="{BB962C8B-B14F-4D97-AF65-F5344CB8AC3E}">
        <p14:creationId xmlns:p14="http://schemas.microsoft.com/office/powerpoint/2010/main" val="860671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8" name="Appendix • Task 2 • Appendix B2">
            <a:extLst>
              <a:ext uri="{FF2B5EF4-FFF2-40B4-BE49-F238E27FC236}">
                <a16:creationId xmlns:a16="http://schemas.microsoft.com/office/drawing/2014/main" id="{C97C182E-650B-4810-A47D-6534DC7817D4}"/>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Task 2 • Appendix B2</a:t>
            </a:r>
          </a:p>
        </p:txBody>
      </p:sp>
      <p:sp>
        <p:nvSpPr>
          <p:cNvPr id="2" name="Research comparisons across all four topics">
            <a:extLst>
              <a:ext uri="{FF2B5EF4-FFF2-40B4-BE49-F238E27FC236}">
                <a16:creationId xmlns:a16="http://schemas.microsoft.com/office/drawing/2014/main" id="{F74DC8C7-2DD8-449C-9942-0BE3A0EC9EB8}"/>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Research comparisons across all four topics</a:t>
            </a:r>
          </a:p>
        </p:txBody>
      </p:sp>
      <p:graphicFrame>
        <p:nvGraphicFramePr>
          <p:cNvPr id="3" name="Table 2">
            <a:extLst>
              <a:ext uri="{FF2B5EF4-FFF2-40B4-BE49-F238E27FC236}">
                <a16:creationId xmlns:a16="http://schemas.microsoft.com/office/drawing/2014/main" id="{23BA3964-12AC-467F-8C03-5FF437846FAF}"/>
              </a:ext>
            </a:extLst>
          </p:cNvPr>
          <p:cNvGraphicFramePr/>
          <p:nvPr/>
        </p:nvGraphicFramePr>
        <p:xfrm>
          <a:off x="609600" y="1562100"/>
          <a:ext cx="10972800" cy="3867150"/>
        </p:xfrm>
        <a:graphic>
          <a:graphicData uri="http://schemas.openxmlformats.org/drawingml/2006/table">
            <a:tbl>
              <a:tblPr firstRow="1"/>
              <a:tblGrid>
                <a:gridCol w="2238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533400">
                <a:tc>
                  <a:txBody>
                    <a:bodyPr/>
                    <a:lstStyle/>
                    <a:p>
                      <a:pPr algn="l"/>
                      <a:r>
                        <a:rPr sz="1650" b="1">
                          <a:solidFill>
                            <a:srgbClr val="FFFFFF"/>
                          </a:solidFill>
                          <a:latin typeface="Arial"/>
                          <a:ea typeface="Arial"/>
                          <a:cs typeface="Arial"/>
                        </a:rPr>
                        <a:t>Topic</a:t>
                      </a:r>
                    </a:p>
                  </a:txBody>
                  <a:tcPr anchor="ctr">
                    <a:solidFill>
                      <a:srgbClr val="142D45"/>
                    </a:solidFill>
                  </a:tcPr>
                </a:tc>
                <a:tc>
                  <a:txBody>
                    <a:bodyPr/>
                    <a:lstStyle/>
                    <a:p>
                      <a:pPr algn="l"/>
                      <a:r>
                        <a:rPr sz="1650" b="1">
                          <a:solidFill>
                            <a:srgbClr val="FFFFFF"/>
                          </a:solidFill>
                          <a:latin typeface="Arial"/>
                          <a:ea typeface="Arial"/>
                          <a:cs typeface="Arial"/>
                        </a:rPr>
                        <a:t>Comparison</a:t>
                      </a:r>
                    </a:p>
                  </a:txBody>
                  <a:tcPr anchor="ctr">
                    <a:solidFill>
                      <a:srgbClr val="142D45"/>
                    </a:solidFill>
                  </a:tcPr>
                </a:tc>
                <a:tc>
                  <a:txBody>
                    <a:bodyPr/>
                    <a:lstStyle/>
                    <a:p>
                      <a:pPr algn="l"/>
                      <a:r>
                        <a:rPr sz="1650" b="1">
                          <a:solidFill>
                            <a:srgbClr val="FFFFFF"/>
                          </a:solidFill>
                          <a:latin typeface="Arial"/>
                          <a:ea typeface="Arial"/>
                          <a:cs typeface="Arial"/>
                        </a:rPr>
                        <a:t>Interpretation / limit</a:t>
                      </a:r>
                    </a:p>
                  </a:txBody>
                  <a:tcPr anchor="ctr">
                    <a:solidFill>
                      <a:srgbClr val="142D45"/>
                    </a:solidFill>
                  </a:tcPr>
                </a:tc>
                <a:extLst>
                  <a:ext uri="{0D108BD9-81ED-4DB2-BD59-A6C34878D82A}">
                    <a16:rowId xmlns:a16="http://schemas.microsoft.com/office/drawing/2014/main" val="10000"/>
                  </a:ext>
                </a:extLst>
              </a:tr>
              <a:tr h="833438">
                <a:tc>
                  <a:txBody>
                    <a:bodyPr/>
                    <a:lstStyle/>
                    <a:p>
                      <a:pPr algn="l"/>
                      <a:r>
                        <a:rPr sz="1500" b="0">
                          <a:solidFill>
                            <a:srgbClr val="142D45"/>
                          </a:solidFill>
                          <a:latin typeface="Arial"/>
                          <a:ea typeface="Arial"/>
                          <a:cs typeface="Arial"/>
                        </a:rPr>
                        <a:t>(a) Environment</a:t>
                      </a:r>
                    </a:p>
                  </a:txBody>
                  <a:tcPr anchor="ctr">
                    <a:solidFill>
                      <a:srgbClr val="FFFFFF"/>
                    </a:solidFill>
                  </a:tcPr>
                </a:tc>
                <a:tc>
                  <a:txBody>
                    <a:bodyPr/>
                    <a:lstStyle/>
                    <a:p>
                      <a:pPr algn="l"/>
                      <a:r>
                        <a:rPr sz="1500" b="0">
                          <a:solidFill>
                            <a:srgbClr val="142D45"/>
                          </a:solidFill>
                          <a:latin typeface="Arial"/>
                          <a:ea typeface="Arial"/>
                          <a:cs typeface="Arial"/>
                        </a:rPr>
                        <a:t>Cost/efficiency research [8,10] versus water-footprint research [9]</a:t>
                      </a:r>
                    </a:p>
                  </a:txBody>
                  <a:tcPr anchor="ctr">
                    <a:solidFill>
                      <a:srgbClr val="FFFFFF"/>
                    </a:solidFill>
                  </a:tcPr>
                </a:tc>
                <a:tc>
                  <a:txBody>
                    <a:bodyPr/>
                    <a:lstStyle/>
                    <a:p>
                      <a:pPr algn="l"/>
                      <a:r>
                        <a:rPr sz="1500" b="0">
                          <a:solidFill>
                            <a:srgbClr val="142D45"/>
                          </a:solidFill>
                          <a:latin typeface="Arial"/>
                          <a:ea typeface="Arial"/>
                          <a:cs typeface="Arial"/>
                        </a:rPr>
                        <a:t>Useful-output efficiency and local resource pressure need different measures.</a:t>
                      </a:r>
                    </a:p>
                  </a:txBody>
                  <a:tcPr anchor="ctr">
                    <a:solidFill>
                      <a:srgbClr val="FFFFFF"/>
                    </a:solidFill>
                  </a:tcPr>
                </a:tc>
                <a:extLst>
                  <a:ext uri="{0D108BD9-81ED-4DB2-BD59-A6C34878D82A}">
                    <a16:rowId xmlns:a16="http://schemas.microsoft.com/office/drawing/2014/main" val="10001"/>
                  </a:ext>
                </a:extLst>
              </a:tr>
              <a:tr h="833438">
                <a:tc>
                  <a:txBody>
                    <a:bodyPr/>
                    <a:lstStyle/>
                    <a:p>
                      <a:pPr algn="l"/>
                      <a:r>
                        <a:rPr sz="1500" b="0">
                          <a:solidFill>
                            <a:srgbClr val="142D45"/>
                          </a:solidFill>
                          <a:latin typeface="Arial"/>
                          <a:ea typeface="Arial"/>
                          <a:cs typeface="Arial"/>
                        </a:rPr>
                        <a:t>(b) Governance</a:t>
                      </a:r>
                    </a:p>
                  </a:txBody>
                  <a:tcPr anchor="ctr">
                    <a:solidFill>
                      <a:srgbClr val="F0F4F4"/>
                    </a:solidFill>
                  </a:tcPr>
                </a:tc>
                <a:tc>
                  <a:txBody>
                    <a:bodyPr/>
                    <a:lstStyle/>
                    <a:p>
                      <a:pPr algn="l"/>
                      <a:r>
                        <a:rPr sz="1500" b="0">
                          <a:solidFill>
                            <a:srgbClr val="142D45"/>
                          </a:solidFill>
                          <a:latin typeface="Arial"/>
                          <a:ea typeface="Arial"/>
                          <a:cs typeface="Arial"/>
                        </a:rPr>
                        <a:t>Gradient reconstruction [11] versus fairness evaluation survey [12]</a:t>
                      </a:r>
                    </a:p>
                  </a:txBody>
                  <a:tcPr anchor="ctr">
                    <a:solidFill>
                      <a:srgbClr val="F0F4F4"/>
                    </a:solidFill>
                  </a:tcPr>
                </a:tc>
                <a:tc>
                  <a:txBody>
                    <a:bodyPr/>
                    <a:lstStyle/>
                    <a:p>
                      <a:pPr algn="l"/>
                      <a:r>
                        <a:rPr sz="1500" b="0">
                          <a:solidFill>
                            <a:srgbClr val="142D45"/>
                          </a:solidFill>
                          <a:latin typeface="Arial"/>
                          <a:ea typeface="Arial"/>
                          <a:cs typeface="Arial"/>
                        </a:rPr>
                        <a:t>Data exposure and unequal outcomes are distinct failure mechanisms.</a:t>
                      </a:r>
                    </a:p>
                  </a:txBody>
                  <a:tcPr anchor="ctr">
                    <a:solidFill>
                      <a:srgbClr val="F0F4F4"/>
                    </a:solidFill>
                  </a:tcPr>
                </a:tc>
                <a:extLst>
                  <a:ext uri="{0D108BD9-81ED-4DB2-BD59-A6C34878D82A}">
                    <a16:rowId xmlns:a16="http://schemas.microsoft.com/office/drawing/2014/main" val="10002"/>
                  </a:ext>
                </a:extLst>
              </a:tr>
              <a:tr h="833438">
                <a:tc>
                  <a:txBody>
                    <a:bodyPr/>
                    <a:lstStyle/>
                    <a:p>
                      <a:pPr algn="l"/>
                      <a:r>
                        <a:rPr sz="1500" b="0">
                          <a:solidFill>
                            <a:srgbClr val="142D45"/>
                          </a:solidFill>
                          <a:latin typeface="Arial"/>
                          <a:ea typeface="Arial"/>
                          <a:cs typeface="Arial"/>
                        </a:rPr>
                        <a:t>(c) Access</a:t>
                      </a:r>
                    </a:p>
                  </a:txBody>
                  <a:tcPr anchor="ctr">
                    <a:solidFill>
                      <a:srgbClr val="FFFFFF"/>
                    </a:solidFill>
                  </a:tcPr>
                </a:tc>
                <a:tc>
                  <a:txBody>
                    <a:bodyPr/>
                    <a:lstStyle/>
                    <a:p>
                      <a:pPr algn="l"/>
                      <a:r>
                        <a:rPr sz="1500" b="0">
                          <a:solidFill>
                            <a:srgbClr val="142D45"/>
                          </a:solidFill>
                          <a:latin typeface="Arial"/>
                          <a:ea typeface="Arial"/>
                          <a:cs typeface="Arial"/>
                        </a:rPr>
                        <a:t>Institutional participation [13] versus workload cost/equity [8]</a:t>
                      </a:r>
                    </a:p>
                  </a:txBody>
                  <a:tcPr anchor="ctr">
                    <a:solidFill>
                      <a:srgbClr val="FFFFFF"/>
                    </a:solidFill>
                  </a:tcPr>
                </a:tc>
                <a:tc>
                  <a:txBody>
                    <a:bodyPr/>
                    <a:lstStyle/>
                    <a:p>
                      <a:pPr algn="l"/>
                      <a:r>
                        <a:rPr sz="1500" b="0">
                          <a:solidFill>
                            <a:srgbClr val="142D45"/>
                          </a:solidFill>
                          <a:latin typeface="Arial"/>
                          <a:ea typeface="Arial"/>
                          <a:cs typeface="Arial"/>
                        </a:rPr>
                        <a:t>Concentration and financial barriers reinforce a concern; scopes differ.</a:t>
                      </a:r>
                    </a:p>
                  </a:txBody>
                  <a:tcPr anchor="ctr">
                    <a:solidFill>
                      <a:srgbClr val="FFFFFF"/>
                    </a:solidFill>
                  </a:tcPr>
                </a:tc>
                <a:extLst>
                  <a:ext uri="{0D108BD9-81ED-4DB2-BD59-A6C34878D82A}">
                    <a16:rowId xmlns:a16="http://schemas.microsoft.com/office/drawing/2014/main" val="10003"/>
                  </a:ext>
                </a:extLst>
              </a:tr>
              <a:tr h="833438">
                <a:tc>
                  <a:txBody>
                    <a:bodyPr/>
                    <a:lstStyle/>
                    <a:p>
                      <a:pPr algn="l"/>
                      <a:r>
                        <a:rPr sz="1500" b="0">
                          <a:solidFill>
                            <a:srgbClr val="142D45"/>
                          </a:solidFill>
                          <a:latin typeface="Arial"/>
                          <a:ea typeface="Arial"/>
                          <a:cs typeface="Arial"/>
                        </a:rPr>
                        <a:t>(d) Frameworks</a:t>
                      </a:r>
                    </a:p>
                  </a:txBody>
                  <a:tcPr anchor="ctr">
                    <a:solidFill>
                      <a:srgbClr val="F0F4F4"/>
                    </a:solidFill>
                  </a:tcPr>
                </a:tc>
                <a:tc>
                  <a:txBody>
                    <a:bodyPr/>
                    <a:lstStyle/>
                    <a:p>
                      <a:pPr algn="l"/>
                      <a:r>
                        <a:rPr sz="1500" b="0">
                          <a:solidFill>
                            <a:srgbClr val="142D45"/>
                          </a:solidFill>
                          <a:latin typeface="Arial"/>
                          <a:ea typeface="Arial"/>
                          <a:cs typeface="Arial"/>
                        </a:rPr>
                        <a:t>Efficiency-reporting argument [10] versus operational scheduling [14]</a:t>
                      </a:r>
                    </a:p>
                  </a:txBody>
                  <a:tcPr anchor="ctr">
                    <a:solidFill>
                      <a:srgbClr val="F0F4F4"/>
                    </a:solidFill>
                  </a:tcPr>
                </a:tc>
                <a:tc>
                  <a:txBody>
                    <a:bodyPr/>
                    <a:lstStyle/>
                    <a:p>
                      <a:pPr algn="l"/>
                      <a:r>
                        <a:rPr sz="1500" b="0">
                          <a:solidFill>
                            <a:srgbClr val="142D45"/>
                          </a:solidFill>
                          <a:latin typeface="Arial"/>
                          <a:ea typeface="Arial"/>
                          <a:cs typeface="Arial"/>
                        </a:rPr>
                        <a:t>Measurement motivates action; scheduling depends on flexibility and forecasts.</a:t>
                      </a:r>
                    </a:p>
                  </a:txBody>
                  <a:tcPr anchor="ctr">
                    <a:solidFill>
                      <a:srgbClr val="F0F4F4"/>
                    </a:solidFill>
                  </a:tcPr>
                </a:tc>
                <a:extLst>
                  <a:ext uri="{0D108BD9-81ED-4DB2-BD59-A6C34878D82A}">
                    <a16:rowId xmlns:a16="http://schemas.microsoft.com/office/drawing/2014/main" val="10004"/>
                  </a:ext>
                </a:extLst>
              </a:tr>
            </a:tbl>
          </a:graphicData>
        </a:graphic>
      </p:graphicFrame>
      <p:sp>
        <p:nvSpPr>
          <p:cNvPr id="4" name="Current institutional evidence [6,7] and governance fra">
            <a:extLst>
              <a:ext uri="{FF2B5EF4-FFF2-40B4-BE49-F238E27FC236}">
                <a16:creationId xmlns:a16="http://schemas.microsoft.com/office/drawing/2014/main" id="{071DD681-74A7-4E8E-966C-CAB864C62E7B}"/>
              </a:ext>
            </a:extLst>
          </p:cNvPr>
          <p:cNvSpPr>
            <a:spLocks noGrp="1"/>
          </p:cNvSpPr>
          <p:nvPr/>
        </p:nvSpPr>
        <p:spPr>
          <a:xfrm>
            <a:off x="609600" y="5724525"/>
            <a:ext cx="10972800" cy="552450"/>
          </a:xfrm>
          <a:prstGeom prst="rect">
            <a:avLst/>
          </a:prstGeom>
          <a:noFill/>
          <a:ln w="0">
            <a:noFill/>
          </a:ln>
        </p:spPr>
        <p:txBody>
          <a:bodyPr wrap="square" lIns="0" tIns="0" rIns="0" bIns="0" anchor="t">
            <a:noAutofit/>
          </a:bodyPr>
          <a:lstStyle>
            <a:defPPr algn="l">
              <a:defRPr sz="1500" b="0">
                <a:solidFill>
                  <a:srgbClr val="516170"/>
                </a:solidFill>
                <a:latin typeface="Arial"/>
                <a:ea typeface="Arial"/>
                <a:cs typeface="Arial"/>
              </a:defRPr>
            </a:defPPr>
          </a:lstStyle>
          <a:p>
            <a:pPr algn="l">
              <a:defRPr sz="1500" b="0">
                <a:solidFill>
                  <a:srgbClr val="516170"/>
                </a:solidFill>
                <a:latin typeface="Arial"/>
                <a:ea typeface="Arial"/>
                <a:cs typeface="Arial"/>
              </a:defRPr>
            </a:pPr>
            <a:r>
              <a:rPr sz="1500" b="0">
                <a:solidFill>
                  <a:srgbClr val="516170"/>
                </a:solidFill>
                <a:latin typeface="Arial"/>
                <a:ea typeface="Arial"/>
                <a:cs typeface="Arial"/>
              </a:rPr>
              <a:t>Current institutional evidence [6,7] and governance frameworks [15,16] complement the research; they do not replace its</a:t>
            </a:r>
          </a:p>
          <a:p>
            <a:pPr algn="l">
              <a:defRPr sz="1500" b="0">
                <a:solidFill>
                  <a:srgbClr val="516170"/>
                </a:solidFill>
                <a:latin typeface="Arial"/>
                <a:ea typeface="Arial"/>
                <a:cs typeface="Arial"/>
              </a:defRPr>
            </a:pPr>
            <a:r>
              <a:rPr sz="1500" b="0">
                <a:solidFill>
                  <a:srgbClr val="516170"/>
                </a:solidFill>
                <a:latin typeface="Arial"/>
                <a:ea typeface="Arial"/>
                <a:cs typeface="Arial"/>
              </a:rPr>
              <a:t>methodological limits.</a:t>
            </a:r>
          </a:p>
        </p:txBody>
      </p:sp>
      <p:sp>
        <p:nvSpPr>
          <p:cNvPr id="5" name="Straight Connector 4">
            <a:extLst>
              <a:ext uri="{FF2B5EF4-FFF2-40B4-BE49-F238E27FC236}">
                <a16:creationId xmlns:a16="http://schemas.microsoft.com/office/drawing/2014/main" id="{D280FDA4-5C25-42B2-A15C-427B2245741C}"/>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6" name="Sources: [8] Strubell et al. 2019: cost and equity; [9]">
            <a:extLst>
              <a:ext uri="{FF2B5EF4-FFF2-40B4-BE49-F238E27FC236}">
                <a16:creationId xmlns:a16="http://schemas.microsoft.com/office/drawing/2014/main" id="{7AAF8294-94AF-45E6-B649-826BCBB1622F}"/>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Sources: [8] Strubell et al. 2019: cost and equity; [9] Li et al. 2025 revision: water impacts; [10] Schwartz et al. 2019: efficiency reporting; [11] Zhu et al. 2019: exposed gradients; [12]</a:t>
            </a:r>
          </a:p>
          <a:p>
            <a:pPr algn="l">
              <a:defRPr sz="990" b="0">
                <a:solidFill>
                  <a:srgbClr val="516170"/>
                </a:solidFill>
                <a:latin typeface="Arial"/>
                <a:ea typeface="Arial"/>
                <a:cs typeface="Arial"/>
              </a:defRPr>
            </a:pPr>
            <a:r>
              <a:rPr sz="990" b="0">
                <a:solidFill>
                  <a:srgbClr val="516170"/>
                </a:solidFill>
                <a:latin typeface="Arial"/>
                <a:ea typeface="Arial"/>
                <a:cs typeface="Arial"/>
              </a:rPr>
              <a:t>Gallegos et al. 2024: fairness evaluation; [13] Ahmed and Wahed 2020: compute divide; [14] Radovanovic et al. 2021: flexible scheduling</a:t>
            </a:r>
          </a:p>
        </p:txBody>
      </p:sp>
      <p:sp>
        <p:nvSpPr>
          <p:cNvPr id="7" name="41 / 46">
            <a:extLst>
              <a:ext uri="{FF2B5EF4-FFF2-40B4-BE49-F238E27FC236}">
                <a16:creationId xmlns:a16="http://schemas.microsoft.com/office/drawing/2014/main" id="{EDFB6BF4-2A90-4AD2-AD64-C1850C56C424}"/>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43 / 48</a:t>
            </a:r>
          </a:p>
        </p:txBody>
      </p:sp>
    </p:spTree>
    <p:extLst>
      <p:ext uri="{BB962C8B-B14F-4D97-AF65-F5344CB8AC3E}">
        <p14:creationId xmlns:p14="http://schemas.microsoft.com/office/powerpoint/2010/main" val="11665842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Appendix • References 1/4">
            <a:extLst>
              <a:ext uri="{FF2B5EF4-FFF2-40B4-BE49-F238E27FC236}">
                <a16:creationId xmlns:a16="http://schemas.microsoft.com/office/drawing/2014/main" id="{5501E27C-1E9C-439C-9848-3F1A56BA5F2D}"/>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1/4</a:t>
            </a:r>
          </a:p>
        </p:txBody>
      </p:sp>
      <p:sp>
        <p:nvSpPr>
          <p:cNvPr id="2" name="References">
            <a:extLst>
              <a:ext uri="{FF2B5EF4-FFF2-40B4-BE49-F238E27FC236}">
                <a16:creationId xmlns:a16="http://schemas.microsoft.com/office/drawing/2014/main" id="{8609AF29-89CD-4C3F-8965-1D8A81435055}"/>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 NVIDIA, “Programming model,” CUDA Programming Guide">
            <a:extLst>
              <a:ext uri="{FF2B5EF4-FFF2-40B4-BE49-F238E27FC236}">
                <a16:creationId xmlns:a16="http://schemas.microsoft.com/office/drawing/2014/main" id="{38F3F8E8-5BAE-4FFB-A2A6-CDD1511252C0}"/>
              </a:ext>
            </a:extLst>
          </p:cNvPr>
          <p:cNvSpPr>
            <a:spLocks noGrp="1"/>
          </p:cNvSpPr>
          <p:nvPr/>
        </p:nvSpPr>
        <p:spPr>
          <a:xfrm>
            <a:off x="609600" y="1562100"/>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 NVIDIA, “Programming model,” CUDA Programming Guide, online documentation, accessed Oct. 8, 2026.</a:t>
            </a:r>
          </a:p>
        </p:txBody>
      </p:sp>
      <p:sp>
        <p:nvSpPr>
          <p:cNvPr id="4" name="https://docs.nvidia.com/cuda/cuda-programming-guide/01-">
            <a:extLst>
              <a:ext uri="{FF2B5EF4-FFF2-40B4-BE49-F238E27FC236}">
                <a16:creationId xmlns:a16="http://schemas.microsoft.com/office/drawing/2014/main" id="{134A1273-A30E-4681-81FF-AAC2D43EF85E}"/>
              </a:ext>
            </a:extLst>
          </p:cNvPr>
          <p:cNvSpPr>
            <a:spLocks noGrp="1"/>
          </p:cNvSpPr>
          <p:nvPr/>
        </p:nvSpPr>
        <p:spPr>
          <a:xfrm>
            <a:off x="609600" y="188633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3"/>
              </a:rPr>
              <a:t>https://docs.nvidia.com/cuda/cuda-programming-guide/01-introduction/programming-model.html</a:t>
            </a:r>
          </a:p>
        </p:txBody>
      </p:sp>
      <p:sp>
        <p:nvSpPr>
          <p:cNvPr id="5" name="[2] NVIDIA, CUDA C++ Best Practices Guide, online docum">
            <a:extLst>
              <a:ext uri="{FF2B5EF4-FFF2-40B4-BE49-F238E27FC236}">
                <a16:creationId xmlns:a16="http://schemas.microsoft.com/office/drawing/2014/main" id="{0F887F59-9729-4F97-92E9-2AF7CD84F5F9}"/>
              </a:ext>
            </a:extLst>
          </p:cNvPr>
          <p:cNvSpPr>
            <a:spLocks noGrp="1"/>
          </p:cNvSpPr>
          <p:nvPr/>
        </p:nvSpPr>
        <p:spPr>
          <a:xfrm>
            <a:off x="609600" y="2327529"/>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[2] NVIDIA, CUDA C++ Best Practices Guide, online documentation, accessed Oct. 8, 2026.</a:t>
            </a:r>
          </a:p>
        </p:txBody>
      </p:sp>
      <p:sp>
        <p:nvSpPr>
          <p:cNvPr id="6" name="https://docs.nvidia.com/cuda/cuda-c-best-practices-guid">
            <a:extLst>
              <a:ext uri="{FF2B5EF4-FFF2-40B4-BE49-F238E27FC236}">
                <a16:creationId xmlns:a16="http://schemas.microsoft.com/office/drawing/2014/main" id="{30223213-F002-4C82-B5B4-5929B6B1E930}"/>
              </a:ext>
            </a:extLst>
          </p:cNvPr>
          <p:cNvSpPr>
            <a:spLocks noGrp="1"/>
          </p:cNvSpPr>
          <p:nvPr/>
        </p:nvSpPr>
        <p:spPr>
          <a:xfrm>
            <a:off x="609600" y="2651760"/>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4"/>
              </a:rPr>
              <a:t>https://docs.nvidia.com/cuda/cuda-c-best-practices-guide/index.html</a:t>
            </a:r>
          </a:p>
        </p:txBody>
      </p:sp>
      <p:sp>
        <p:nvSpPr>
          <p:cNvPr id="7" name="[3] NVIDIA, GPUDirect Storage Overview Guide, online do">
            <a:extLst>
              <a:ext uri="{FF2B5EF4-FFF2-40B4-BE49-F238E27FC236}">
                <a16:creationId xmlns:a16="http://schemas.microsoft.com/office/drawing/2014/main" id="{5347027D-AE98-45A1-B191-9C5F38A3B175}"/>
              </a:ext>
            </a:extLst>
          </p:cNvPr>
          <p:cNvSpPr>
            <a:spLocks noGrp="1"/>
          </p:cNvSpPr>
          <p:nvPr/>
        </p:nvSpPr>
        <p:spPr>
          <a:xfrm>
            <a:off x="609600" y="3092958"/>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[3] NVIDIA, GPUDirect Storage Overview Guide, online documentation, accessed Oct. 8, 2026.</a:t>
            </a:r>
          </a:p>
        </p:txBody>
      </p:sp>
      <p:sp>
        <p:nvSpPr>
          <p:cNvPr id="8" name="https://docs.nvidia.com/gpudirect-storage/overview-guid">
            <a:extLst>
              <a:ext uri="{FF2B5EF4-FFF2-40B4-BE49-F238E27FC236}">
                <a16:creationId xmlns:a16="http://schemas.microsoft.com/office/drawing/2014/main" id="{D71D3E4A-DDD2-4BCF-92B4-A0DB478DBF77}"/>
              </a:ext>
            </a:extLst>
          </p:cNvPr>
          <p:cNvSpPr>
            <a:spLocks noGrp="1"/>
          </p:cNvSpPr>
          <p:nvPr/>
        </p:nvSpPr>
        <p:spPr>
          <a:xfrm>
            <a:off x="609600" y="3417189"/>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5"/>
              </a:rPr>
              <a:t>https://docs.nvidia.com/gpudirect-storage/overview-guide/index.html</a:t>
            </a:r>
          </a:p>
        </p:txBody>
      </p:sp>
      <p:sp>
        <p:nvSpPr>
          <p:cNvPr id="9" name="[4] NVIDIA, GPUDirect Storage Design Guide, online docu">
            <a:extLst>
              <a:ext uri="{FF2B5EF4-FFF2-40B4-BE49-F238E27FC236}">
                <a16:creationId xmlns:a16="http://schemas.microsoft.com/office/drawing/2014/main" id="{E1E3A930-ECA3-4040-BEA2-040140F9E672}"/>
              </a:ext>
            </a:extLst>
          </p:cNvPr>
          <p:cNvSpPr>
            <a:spLocks noGrp="1"/>
          </p:cNvSpPr>
          <p:nvPr/>
        </p:nvSpPr>
        <p:spPr>
          <a:xfrm>
            <a:off x="609600" y="3858387"/>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[4] NVIDIA, GPUDirect Storage Design Guide, online documentation, accessed Oct. 8, 2026.</a:t>
            </a:r>
          </a:p>
        </p:txBody>
      </p:sp>
      <p:sp>
        <p:nvSpPr>
          <p:cNvPr id="10" name="https://docs.nvidia.com/gpudirect-storage/design-guide/">
            <a:extLst>
              <a:ext uri="{FF2B5EF4-FFF2-40B4-BE49-F238E27FC236}">
                <a16:creationId xmlns:a16="http://schemas.microsoft.com/office/drawing/2014/main" id="{ADDAFFB8-B0C6-4263-A06E-12B7002B5872}"/>
              </a:ext>
            </a:extLst>
          </p:cNvPr>
          <p:cNvSpPr>
            <a:spLocks noGrp="1"/>
          </p:cNvSpPr>
          <p:nvPr/>
        </p:nvSpPr>
        <p:spPr>
          <a:xfrm>
            <a:off x="609600" y="4182618"/>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6"/>
              </a:rPr>
              <a:t>https://docs.nvidia.com/gpudirect-storage/design-guide/index.html</a:t>
            </a:r>
          </a:p>
        </p:txBody>
      </p:sp>
      <p:sp>
        <p:nvSpPr>
          <p:cNvPr id="11" name="Straight Connector 10">
            <a:extLst>
              <a:ext uri="{FF2B5EF4-FFF2-40B4-BE49-F238E27FC236}">
                <a16:creationId xmlns:a16="http://schemas.microsoft.com/office/drawing/2014/main" id="{26899596-9058-400D-8332-DB4CF9DF6AE3}"/>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FIT3143 Applied 2">
            <a:extLst>
              <a:ext uri="{FF2B5EF4-FFF2-40B4-BE49-F238E27FC236}">
                <a16:creationId xmlns:a16="http://schemas.microsoft.com/office/drawing/2014/main" id="{C507BDD4-6395-4DD6-ABCC-1119607D5942}"/>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2 / 46">
            <a:extLst>
              <a:ext uri="{FF2B5EF4-FFF2-40B4-BE49-F238E27FC236}">
                <a16:creationId xmlns:a16="http://schemas.microsoft.com/office/drawing/2014/main" id="{861AF978-8965-4420-8962-AB22ED6881FA}"/>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44 / 48</a:t>
            </a:r>
          </a:p>
        </p:txBody>
      </p:sp>
    </p:spTree>
    <p:extLst>
      <p:ext uri="{BB962C8B-B14F-4D97-AF65-F5344CB8AC3E}">
        <p14:creationId xmlns:p14="http://schemas.microsoft.com/office/powerpoint/2010/main" val="12224223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Appendix • References 2/4">
            <a:extLst>
              <a:ext uri="{FF2B5EF4-FFF2-40B4-BE49-F238E27FC236}">
                <a16:creationId xmlns:a16="http://schemas.microsoft.com/office/drawing/2014/main" id="{169A65F6-0B6D-457A-9B2B-2AE520B5B018}"/>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2/4</a:t>
            </a:r>
          </a:p>
        </p:txBody>
      </p:sp>
      <p:sp>
        <p:nvSpPr>
          <p:cNvPr id="2" name="References">
            <a:extLst>
              <a:ext uri="{FF2B5EF4-FFF2-40B4-BE49-F238E27FC236}">
                <a16:creationId xmlns:a16="http://schemas.microsoft.com/office/drawing/2014/main" id="{828E6CAB-A241-4582-B81D-61F31C9038DA}"/>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5] NVIDIA, “Parallelism strategies guide,” Megatron Co">
            <a:extLst>
              <a:ext uri="{FF2B5EF4-FFF2-40B4-BE49-F238E27FC236}">
                <a16:creationId xmlns:a16="http://schemas.microsoft.com/office/drawing/2014/main" id="{94327D8E-3629-4ADA-8A8D-A331D476C647}"/>
              </a:ext>
            </a:extLst>
          </p:cNvPr>
          <p:cNvSpPr>
            <a:spLocks noGrp="1"/>
          </p:cNvSpPr>
          <p:nvPr/>
        </p:nvSpPr>
        <p:spPr>
          <a:xfrm>
            <a:off x="609600" y="1562100"/>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[5] NVIDIA, “Parallelism strategies guide,” Megatron Core, online documentation, accessed Oct. 8, 2026.</a:t>
            </a:r>
          </a:p>
        </p:txBody>
      </p:sp>
      <p:sp>
        <p:nvSpPr>
          <p:cNvPr id="4" name="https://docs.nvidia.com/megatron-core/developer-guide/l">
            <a:extLst>
              <a:ext uri="{FF2B5EF4-FFF2-40B4-BE49-F238E27FC236}">
                <a16:creationId xmlns:a16="http://schemas.microsoft.com/office/drawing/2014/main" id="{BDF3F195-700A-4FEE-9436-B992830A294B}"/>
              </a:ext>
            </a:extLst>
          </p:cNvPr>
          <p:cNvSpPr>
            <a:spLocks noGrp="1"/>
          </p:cNvSpPr>
          <p:nvPr/>
        </p:nvSpPr>
        <p:spPr>
          <a:xfrm>
            <a:off x="609600" y="188633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3"/>
              </a:rPr>
              <a:t>https://docs.nvidia.com/megatron-core/developer-guide/latest/user-guide/parallelism-guide.html</a:t>
            </a:r>
          </a:p>
        </p:txBody>
      </p:sp>
      <p:sp>
        <p:nvSpPr>
          <p:cNvPr id="5" name="[6] International Energy Agency, Key Questions on Energ">
            <a:extLst>
              <a:ext uri="{FF2B5EF4-FFF2-40B4-BE49-F238E27FC236}">
                <a16:creationId xmlns:a16="http://schemas.microsoft.com/office/drawing/2014/main" id="{D81FD331-C1D9-4F18-AD95-19126730787C}"/>
              </a:ext>
            </a:extLst>
          </p:cNvPr>
          <p:cNvSpPr>
            <a:spLocks noGrp="1"/>
          </p:cNvSpPr>
          <p:nvPr/>
        </p:nvSpPr>
        <p:spPr>
          <a:xfrm>
            <a:off x="609600" y="2327529"/>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[6] International Energy Agency, Key Questions on Energy and AI, executive summary, Apr. 16, 2026, CC BY 4.0, accessed</a:t>
            </a:r>
          </a:p>
          <a:p>
            <a:pPr algn="l">
              <a:defRPr sz="1575" b="0">
                <a:solidFill>
                  <a:srgbClr val="142D45"/>
                </a:solidFill>
                <a:latin typeface="Arial"/>
                <a:ea typeface="Arial"/>
                <a:cs typeface="Arial"/>
              </a:defRPr>
            </a:pPr>
            <a:r>
              <a:rPr sz="1575" b="0">
                <a:solidFill>
                  <a:srgbClr val="142D45"/>
                </a:solidFill>
                <a:latin typeface="Arial"/>
                <a:ea typeface="Arial"/>
                <a:cs typeface="Arial"/>
              </a:rPr>
              <a:t>Oct. 8, 2026.</a:t>
            </a:r>
          </a:p>
        </p:txBody>
      </p:sp>
      <p:sp>
        <p:nvSpPr>
          <p:cNvPr id="6" name="https://www.iea.org/reports/key-questions-on-energy-and">
            <a:extLst>
              <a:ext uri="{FF2B5EF4-FFF2-40B4-BE49-F238E27FC236}">
                <a16:creationId xmlns:a16="http://schemas.microsoft.com/office/drawing/2014/main" id="{5AA26741-A52D-4120-B353-7BF3AB22646C}"/>
              </a:ext>
            </a:extLst>
          </p:cNvPr>
          <p:cNvSpPr>
            <a:spLocks noGrp="1"/>
          </p:cNvSpPr>
          <p:nvPr/>
        </p:nvSpPr>
        <p:spPr>
          <a:xfrm>
            <a:off x="609600" y="289979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4"/>
              </a:rPr>
              <a:t>https://www.iea.org/reports/key-questions-on-energy-and-ai/executive-summary</a:t>
            </a:r>
          </a:p>
        </p:txBody>
      </p:sp>
      <p:sp>
        <p:nvSpPr>
          <p:cNvPr id="7" name="[7] U.S. National Science Foundation, “NAIRR at 2 years">
            <a:extLst>
              <a:ext uri="{FF2B5EF4-FFF2-40B4-BE49-F238E27FC236}">
                <a16:creationId xmlns:a16="http://schemas.microsoft.com/office/drawing/2014/main" id="{EE580E5C-23C8-4973-BA58-636FE7F1F4A9}"/>
              </a:ext>
            </a:extLst>
          </p:cNvPr>
          <p:cNvSpPr>
            <a:spLocks noGrp="1"/>
          </p:cNvSpPr>
          <p:nvPr/>
        </p:nvSpPr>
        <p:spPr>
          <a:xfrm>
            <a:off x="609600" y="3340989"/>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[7] U.S. National Science Foundation, “NAIRR at 2 years: Advancing American artificial intelligence innovation and</a:t>
            </a:r>
          </a:p>
          <a:p>
            <a:pPr algn="l">
              <a:defRPr sz="1575" b="0">
                <a:solidFill>
                  <a:srgbClr val="142D45"/>
                </a:solidFill>
                <a:latin typeface="Arial"/>
                <a:ea typeface="Arial"/>
                <a:cs typeface="Arial"/>
              </a:defRPr>
            </a:pPr>
            <a:r>
              <a:rPr sz="1575" b="0">
                <a:solidFill>
                  <a:srgbClr val="142D45"/>
                </a:solidFill>
                <a:latin typeface="Arial"/>
                <a:ea typeface="Arial"/>
                <a:cs typeface="Arial"/>
              </a:rPr>
              <a:t>leadership,” Mar. 19, 2026, accessed Oct. 8, 2026.</a:t>
            </a:r>
          </a:p>
        </p:txBody>
      </p:sp>
      <p:sp>
        <p:nvSpPr>
          <p:cNvPr id="8" name="https://www.nsf.gov/cise/updates/nairr-2-years-advancin">
            <a:extLst>
              <a:ext uri="{FF2B5EF4-FFF2-40B4-BE49-F238E27FC236}">
                <a16:creationId xmlns:a16="http://schemas.microsoft.com/office/drawing/2014/main" id="{D53CAB4E-A336-4605-A3B3-642F8E739C65}"/>
              </a:ext>
            </a:extLst>
          </p:cNvPr>
          <p:cNvSpPr>
            <a:spLocks noGrp="1"/>
          </p:cNvSpPr>
          <p:nvPr/>
        </p:nvSpPr>
        <p:spPr>
          <a:xfrm>
            <a:off x="609600" y="391325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5"/>
              </a:rPr>
              <a:t>https://www.nsf.gov/cise/updates/nairr-2-years-advancing-american-artificial-intelligence</a:t>
            </a:r>
          </a:p>
        </p:txBody>
      </p:sp>
      <p:sp>
        <p:nvSpPr>
          <p:cNvPr id="9" name="[8] E. Strubell, A. Ganesh, and A. McCallum, “Energy an">
            <a:extLst>
              <a:ext uri="{FF2B5EF4-FFF2-40B4-BE49-F238E27FC236}">
                <a16:creationId xmlns:a16="http://schemas.microsoft.com/office/drawing/2014/main" id="{34C48030-774E-4837-BBFD-A8CB70EEA90D}"/>
              </a:ext>
            </a:extLst>
          </p:cNvPr>
          <p:cNvSpPr>
            <a:spLocks noGrp="1"/>
          </p:cNvSpPr>
          <p:nvPr/>
        </p:nvSpPr>
        <p:spPr>
          <a:xfrm>
            <a:off x="609600" y="4354449"/>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[8] E. Strubell, A. Ganesh, and A. McCallum, “Energy and policy considerations for deep learning in NLP,” in Proc. ACL,</a:t>
            </a:r>
          </a:p>
          <a:p>
            <a:pPr algn="l">
              <a:defRPr sz="1575" b="0">
                <a:solidFill>
                  <a:srgbClr val="142D45"/>
                </a:solidFill>
                <a:latin typeface="Arial"/>
                <a:ea typeface="Arial"/>
                <a:cs typeface="Arial"/>
              </a:defRPr>
            </a:pPr>
            <a:r>
              <a:rPr sz="1575" b="0">
                <a:solidFill>
                  <a:srgbClr val="142D45"/>
                </a:solidFill>
                <a:latin typeface="Arial"/>
                <a:ea typeface="Arial"/>
                <a:cs typeface="Arial"/>
              </a:rPr>
              <a:t>2019, pp. 3645–3650, doi: 10.18653/v1/P19-1355.</a:t>
            </a:r>
          </a:p>
        </p:txBody>
      </p:sp>
      <p:sp>
        <p:nvSpPr>
          <p:cNvPr id="10" name="https://aclanthology.org/P19-1355/">
            <a:extLst>
              <a:ext uri="{FF2B5EF4-FFF2-40B4-BE49-F238E27FC236}">
                <a16:creationId xmlns:a16="http://schemas.microsoft.com/office/drawing/2014/main" id="{1E04B077-B09E-4F05-8E91-C87D1E3DC64B}"/>
              </a:ext>
            </a:extLst>
          </p:cNvPr>
          <p:cNvSpPr>
            <a:spLocks noGrp="1"/>
          </p:cNvSpPr>
          <p:nvPr/>
        </p:nvSpPr>
        <p:spPr>
          <a:xfrm>
            <a:off x="609600" y="492671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6"/>
              </a:rPr>
              <a:t>https://aclanthology.org/P19-1355/</a:t>
            </a:r>
          </a:p>
        </p:txBody>
      </p:sp>
      <p:sp>
        <p:nvSpPr>
          <p:cNvPr id="11" name="Straight Connector 10">
            <a:extLst>
              <a:ext uri="{FF2B5EF4-FFF2-40B4-BE49-F238E27FC236}">
                <a16:creationId xmlns:a16="http://schemas.microsoft.com/office/drawing/2014/main" id="{F9FC2301-937C-409D-8535-E7F4D3DDCD1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FIT3143 Applied 2">
            <a:extLst>
              <a:ext uri="{FF2B5EF4-FFF2-40B4-BE49-F238E27FC236}">
                <a16:creationId xmlns:a16="http://schemas.microsoft.com/office/drawing/2014/main" id="{7CDF7F2F-7002-4E3D-8DC5-2997E0AA22DC}"/>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3 / 46">
            <a:extLst>
              <a:ext uri="{FF2B5EF4-FFF2-40B4-BE49-F238E27FC236}">
                <a16:creationId xmlns:a16="http://schemas.microsoft.com/office/drawing/2014/main" id="{30FFE8FC-8E6C-4BBF-B8A4-6D53DC73A269}"/>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45 / 48</a:t>
            </a:r>
          </a:p>
        </p:txBody>
      </p:sp>
    </p:spTree>
    <p:extLst>
      <p:ext uri="{BB962C8B-B14F-4D97-AF65-F5344CB8AC3E}">
        <p14:creationId xmlns:p14="http://schemas.microsoft.com/office/powerpoint/2010/main" val="20882982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4" name="Appendix • References 3/4">
            <a:extLst>
              <a:ext uri="{FF2B5EF4-FFF2-40B4-BE49-F238E27FC236}">
                <a16:creationId xmlns:a16="http://schemas.microsoft.com/office/drawing/2014/main" id="{802ABA04-3B1A-4FA2-B53A-771F684CD93B}"/>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3/4</a:t>
            </a:r>
          </a:p>
        </p:txBody>
      </p:sp>
      <p:sp>
        <p:nvSpPr>
          <p:cNvPr id="2" name="References">
            <a:extLst>
              <a:ext uri="{FF2B5EF4-FFF2-40B4-BE49-F238E27FC236}">
                <a16:creationId xmlns:a16="http://schemas.microsoft.com/office/drawing/2014/main" id="{363F7808-2A58-4559-876B-AC4E93BAE983}"/>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9] P. Li, J. Yang, M. A. Islam, and S. Ren, “Making AI">
            <a:extLst>
              <a:ext uri="{FF2B5EF4-FFF2-40B4-BE49-F238E27FC236}">
                <a16:creationId xmlns:a16="http://schemas.microsoft.com/office/drawing/2014/main" id="{08B4A86A-253D-4FB3-BF1F-2A86305299F7}"/>
              </a:ext>
            </a:extLst>
          </p:cNvPr>
          <p:cNvSpPr>
            <a:spLocks noGrp="1"/>
          </p:cNvSpPr>
          <p:nvPr/>
        </p:nvSpPr>
        <p:spPr>
          <a:xfrm>
            <a:off x="609600" y="1562100"/>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[9] P. Li, J. Yang, M. A. Islam, and S. Ren, “Making AI less ‘thirsty’: Uncovering and addressing the secret water footprint of</a:t>
            </a:r>
          </a:p>
          <a:p>
            <a:pPr algn="l">
              <a:defRPr sz="1575" b="0">
                <a:solidFill>
                  <a:srgbClr val="142D45"/>
                </a:solidFill>
                <a:latin typeface="Arial"/>
                <a:ea typeface="Arial"/>
                <a:cs typeface="Arial"/>
              </a:defRPr>
            </a:pPr>
            <a:r>
              <a:rPr sz="1575" b="0">
                <a:solidFill>
                  <a:srgbClr val="142D45"/>
                </a:solidFill>
                <a:latin typeface="Arial"/>
                <a:ea typeface="Arial"/>
                <a:cs typeface="Arial"/>
              </a:rPr>
              <a:t>AI models,” arXiv:2304.03271v5, Mar. 26, 2025; first submitted 2023.</a:t>
            </a:r>
          </a:p>
        </p:txBody>
      </p:sp>
      <p:sp>
        <p:nvSpPr>
          <p:cNvPr id="4" name="https://arxiv.org/abs/2304.03271v5">
            <a:extLst>
              <a:ext uri="{FF2B5EF4-FFF2-40B4-BE49-F238E27FC236}">
                <a16:creationId xmlns:a16="http://schemas.microsoft.com/office/drawing/2014/main" id="{0378CA7A-B46E-48C0-87A4-0040B3A080D5}"/>
              </a:ext>
            </a:extLst>
          </p:cNvPr>
          <p:cNvSpPr>
            <a:spLocks noGrp="1"/>
          </p:cNvSpPr>
          <p:nvPr/>
        </p:nvSpPr>
        <p:spPr>
          <a:xfrm>
            <a:off x="609600" y="2134362"/>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3"/>
              </a:rPr>
              <a:t>https://arxiv.org/abs/2304.03271v5</a:t>
            </a:r>
          </a:p>
        </p:txBody>
      </p:sp>
      <p:sp>
        <p:nvSpPr>
          <p:cNvPr id="5" name="[10] R. Schwartz, J. Dodge, N. A. Smith, and O. Etzioni">
            <a:extLst>
              <a:ext uri="{FF2B5EF4-FFF2-40B4-BE49-F238E27FC236}">
                <a16:creationId xmlns:a16="http://schemas.microsoft.com/office/drawing/2014/main" id="{DA1AC79B-F8F3-4770-8CB5-00B2762767A3}"/>
              </a:ext>
            </a:extLst>
          </p:cNvPr>
          <p:cNvSpPr>
            <a:spLocks noGrp="1"/>
          </p:cNvSpPr>
          <p:nvPr/>
        </p:nvSpPr>
        <p:spPr>
          <a:xfrm>
            <a:off x="609600" y="2575560"/>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[10] R. Schwartz, J. Dodge, N. A. Smith, and O. Etzioni, “Green AI,” arXiv:1907.10597, 2019.</a:t>
            </a:r>
          </a:p>
        </p:txBody>
      </p:sp>
      <p:sp>
        <p:nvSpPr>
          <p:cNvPr id="6" name="https://arxiv.org/abs/1907.10597">
            <a:extLst>
              <a:ext uri="{FF2B5EF4-FFF2-40B4-BE49-F238E27FC236}">
                <a16:creationId xmlns:a16="http://schemas.microsoft.com/office/drawing/2014/main" id="{05E99B29-383D-4504-8495-52E3A0F6A9A9}"/>
              </a:ext>
            </a:extLst>
          </p:cNvPr>
          <p:cNvSpPr>
            <a:spLocks noGrp="1"/>
          </p:cNvSpPr>
          <p:nvPr/>
        </p:nvSpPr>
        <p:spPr>
          <a:xfrm>
            <a:off x="609600" y="289979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4"/>
              </a:rPr>
              <a:t>https://arxiv.org/abs/1907.10597</a:t>
            </a:r>
          </a:p>
        </p:txBody>
      </p:sp>
      <p:sp>
        <p:nvSpPr>
          <p:cNvPr id="7" name="[11] L. Zhu, Z. Liu, and S. Han, “Deep leakage from gra">
            <a:extLst>
              <a:ext uri="{FF2B5EF4-FFF2-40B4-BE49-F238E27FC236}">
                <a16:creationId xmlns:a16="http://schemas.microsoft.com/office/drawing/2014/main" id="{9BBAA633-DC29-45AA-81B1-F3F953845C51}"/>
              </a:ext>
            </a:extLst>
          </p:cNvPr>
          <p:cNvSpPr>
            <a:spLocks noGrp="1"/>
          </p:cNvSpPr>
          <p:nvPr/>
        </p:nvSpPr>
        <p:spPr>
          <a:xfrm>
            <a:off x="609600" y="3340989"/>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[11] L. Zhu, Z. Liu, and S. Han, “Deep leakage from gradients,” arXiv:1906.08935v2, 2019.</a:t>
            </a:r>
          </a:p>
        </p:txBody>
      </p:sp>
      <p:sp>
        <p:nvSpPr>
          <p:cNvPr id="8" name="https://arxiv.org/abs/1906.08935v2">
            <a:extLst>
              <a:ext uri="{FF2B5EF4-FFF2-40B4-BE49-F238E27FC236}">
                <a16:creationId xmlns:a16="http://schemas.microsoft.com/office/drawing/2014/main" id="{588DDCCA-6FEF-426D-95BC-40E2DE160900}"/>
              </a:ext>
            </a:extLst>
          </p:cNvPr>
          <p:cNvSpPr>
            <a:spLocks noGrp="1"/>
          </p:cNvSpPr>
          <p:nvPr/>
        </p:nvSpPr>
        <p:spPr>
          <a:xfrm>
            <a:off x="609600" y="3665220"/>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5"/>
              </a:rPr>
              <a:t>https://arxiv.org/abs/1906.08935v2</a:t>
            </a:r>
          </a:p>
        </p:txBody>
      </p:sp>
      <p:sp>
        <p:nvSpPr>
          <p:cNvPr id="9" name="[12] I. O. Gallegos et al., “Bias and fairness in large">
            <a:extLst>
              <a:ext uri="{FF2B5EF4-FFF2-40B4-BE49-F238E27FC236}">
                <a16:creationId xmlns:a16="http://schemas.microsoft.com/office/drawing/2014/main" id="{CD764433-C811-426F-9E1F-AF4E3D74BA1A}"/>
              </a:ext>
            </a:extLst>
          </p:cNvPr>
          <p:cNvSpPr>
            <a:spLocks noGrp="1"/>
          </p:cNvSpPr>
          <p:nvPr/>
        </p:nvSpPr>
        <p:spPr>
          <a:xfrm>
            <a:off x="609600" y="4106418"/>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[12] I. O. Gallegos et al., “Bias and fairness in large language models: A survey,” Computational Linguistics, vol. 50, no. 3,</a:t>
            </a:r>
          </a:p>
          <a:p>
            <a:pPr algn="l">
              <a:defRPr sz="1575" b="0">
                <a:solidFill>
                  <a:srgbClr val="142D45"/>
                </a:solidFill>
                <a:latin typeface="Arial"/>
                <a:ea typeface="Arial"/>
                <a:cs typeface="Arial"/>
              </a:defRPr>
            </a:pPr>
            <a:r>
              <a:rPr sz="1575" b="0">
                <a:solidFill>
                  <a:srgbClr val="142D45"/>
                </a:solidFill>
                <a:latin typeface="Arial"/>
                <a:ea typeface="Arial"/>
                <a:cs typeface="Arial"/>
              </a:rPr>
              <a:t>pp. 1097–1179, 2024, doi: 10.1162/coli_a_00524.</a:t>
            </a:r>
          </a:p>
        </p:txBody>
      </p:sp>
      <p:sp>
        <p:nvSpPr>
          <p:cNvPr id="10" name="https://aclanthology.org/2024.cl-3.8/">
            <a:extLst>
              <a:ext uri="{FF2B5EF4-FFF2-40B4-BE49-F238E27FC236}">
                <a16:creationId xmlns:a16="http://schemas.microsoft.com/office/drawing/2014/main" id="{71EC4BE4-6054-42F4-9CF4-2127EBD51121}"/>
              </a:ext>
            </a:extLst>
          </p:cNvPr>
          <p:cNvSpPr>
            <a:spLocks noGrp="1"/>
          </p:cNvSpPr>
          <p:nvPr/>
        </p:nvSpPr>
        <p:spPr>
          <a:xfrm>
            <a:off x="609600" y="4678680"/>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6"/>
              </a:rPr>
              <a:t>https://aclanthology.org/2024.cl-3.8/</a:t>
            </a:r>
          </a:p>
        </p:txBody>
      </p:sp>
      <p:sp>
        <p:nvSpPr>
          <p:cNvPr id="11" name="Straight Connector 10">
            <a:extLst>
              <a:ext uri="{FF2B5EF4-FFF2-40B4-BE49-F238E27FC236}">
                <a16:creationId xmlns:a16="http://schemas.microsoft.com/office/drawing/2014/main" id="{B1945B16-2F25-42AA-9200-B6AE36F7D5F5}"/>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2" name="FIT3143 Applied 2">
            <a:extLst>
              <a:ext uri="{FF2B5EF4-FFF2-40B4-BE49-F238E27FC236}">
                <a16:creationId xmlns:a16="http://schemas.microsoft.com/office/drawing/2014/main" id="{F384D27A-647F-46D2-81B6-93687A08FA69}"/>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3" name="44 / 46">
            <a:extLst>
              <a:ext uri="{FF2B5EF4-FFF2-40B4-BE49-F238E27FC236}">
                <a16:creationId xmlns:a16="http://schemas.microsoft.com/office/drawing/2014/main" id="{D2C4F8CF-E4CE-4FC6-B5F2-A7D54AA85B8C}"/>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46 / 48</a:t>
            </a:r>
          </a:p>
        </p:txBody>
      </p:sp>
    </p:spTree>
    <p:extLst>
      <p:ext uri="{BB962C8B-B14F-4D97-AF65-F5344CB8AC3E}">
        <p14:creationId xmlns:p14="http://schemas.microsoft.com/office/powerpoint/2010/main" val="342134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6" name="Appendix • References 4/4">
            <a:extLst>
              <a:ext uri="{FF2B5EF4-FFF2-40B4-BE49-F238E27FC236}">
                <a16:creationId xmlns:a16="http://schemas.microsoft.com/office/drawing/2014/main" id="{CA5F18DA-DBCF-481E-8755-2FE4A8CD78FF}"/>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References 4/4</a:t>
            </a:r>
          </a:p>
        </p:txBody>
      </p:sp>
      <p:sp>
        <p:nvSpPr>
          <p:cNvPr id="2" name="References">
            <a:extLst>
              <a:ext uri="{FF2B5EF4-FFF2-40B4-BE49-F238E27FC236}">
                <a16:creationId xmlns:a16="http://schemas.microsoft.com/office/drawing/2014/main" id="{B82B5013-2990-42E5-B2C5-92F8BC85BEFF}"/>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References</a:t>
            </a:r>
          </a:p>
        </p:txBody>
      </p:sp>
      <p:sp>
        <p:nvSpPr>
          <p:cNvPr id="3" name="[13] N. Ahmed and M. Wahed, “The de-democratization of ">
            <a:extLst>
              <a:ext uri="{FF2B5EF4-FFF2-40B4-BE49-F238E27FC236}">
                <a16:creationId xmlns:a16="http://schemas.microsoft.com/office/drawing/2014/main" id="{50A22761-615A-4339-A281-4CE0693E9A64}"/>
              </a:ext>
            </a:extLst>
          </p:cNvPr>
          <p:cNvSpPr>
            <a:spLocks noGrp="1"/>
          </p:cNvSpPr>
          <p:nvPr/>
        </p:nvSpPr>
        <p:spPr>
          <a:xfrm>
            <a:off x="609600" y="1562100"/>
            <a:ext cx="10972800" cy="534162"/>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[13] N. Ahmed and M. Wahed, “The de-democratization of AI: Deep learning and the compute divide in artificial intelligence</a:t>
            </a:r>
          </a:p>
          <a:p>
            <a:pPr algn="l">
              <a:defRPr sz="1575" b="0">
                <a:solidFill>
                  <a:srgbClr val="142D45"/>
                </a:solidFill>
                <a:latin typeface="Arial"/>
                <a:ea typeface="Arial"/>
                <a:cs typeface="Arial"/>
              </a:defRPr>
            </a:pPr>
            <a:r>
              <a:rPr sz="1575" b="0">
                <a:solidFill>
                  <a:srgbClr val="142D45"/>
                </a:solidFill>
                <a:latin typeface="Arial"/>
                <a:ea typeface="Arial"/>
                <a:cs typeface="Arial"/>
              </a:rPr>
              <a:t>research,” arXiv:2010.15581v1, 2020.</a:t>
            </a:r>
          </a:p>
        </p:txBody>
      </p:sp>
      <p:sp>
        <p:nvSpPr>
          <p:cNvPr id="4" name="https://arxiv.org/abs/2010.15581v1">
            <a:extLst>
              <a:ext uri="{FF2B5EF4-FFF2-40B4-BE49-F238E27FC236}">
                <a16:creationId xmlns:a16="http://schemas.microsoft.com/office/drawing/2014/main" id="{E219E8C1-A836-4784-B443-973093268760}"/>
              </a:ext>
            </a:extLst>
          </p:cNvPr>
          <p:cNvSpPr>
            <a:spLocks noGrp="1"/>
          </p:cNvSpPr>
          <p:nvPr/>
        </p:nvSpPr>
        <p:spPr>
          <a:xfrm>
            <a:off x="609600" y="2124837"/>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3"/>
              </a:rPr>
              <a:t>https://arxiv.org/abs/2010.15581v1</a:t>
            </a:r>
          </a:p>
        </p:txBody>
      </p:sp>
      <p:sp>
        <p:nvSpPr>
          <p:cNvPr id="5" name="[14] A. Radovanovic et al., “Carbon-aware computing for">
            <a:extLst>
              <a:ext uri="{FF2B5EF4-FFF2-40B4-BE49-F238E27FC236}">
                <a16:creationId xmlns:a16="http://schemas.microsoft.com/office/drawing/2014/main" id="{453A6275-5A16-490F-839A-1F65232A3927}"/>
              </a:ext>
            </a:extLst>
          </p:cNvPr>
          <p:cNvSpPr>
            <a:spLocks noGrp="1"/>
          </p:cNvSpPr>
          <p:nvPr/>
        </p:nvSpPr>
        <p:spPr>
          <a:xfrm>
            <a:off x="609600" y="2508885"/>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[14] A. Radovanovic et al., “Carbon-aware computing for datacenters,” arXiv:2106.11750v1, 2021.</a:t>
            </a:r>
          </a:p>
        </p:txBody>
      </p:sp>
      <p:sp>
        <p:nvSpPr>
          <p:cNvPr id="6" name="https://arxiv.org/abs/2106.11750v1">
            <a:extLst>
              <a:ext uri="{FF2B5EF4-FFF2-40B4-BE49-F238E27FC236}">
                <a16:creationId xmlns:a16="http://schemas.microsoft.com/office/drawing/2014/main" id="{5A300A29-9D30-4B09-9146-2C957138CE3C}"/>
              </a:ext>
            </a:extLst>
          </p:cNvPr>
          <p:cNvSpPr>
            <a:spLocks noGrp="1"/>
          </p:cNvSpPr>
          <p:nvPr/>
        </p:nvSpPr>
        <p:spPr>
          <a:xfrm>
            <a:off x="609600" y="2823591"/>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4"/>
              </a:rPr>
              <a:t>https://arxiv.org/abs/2106.11750v1</a:t>
            </a:r>
          </a:p>
        </p:txBody>
      </p:sp>
      <p:sp>
        <p:nvSpPr>
          <p:cNvPr id="7" name="[15] OECD, “OECD AI Principles,” adopted 2019, updated ">
            <a:extLst>
              <a:ext uri="{FF2B5EF4-FFF2-40B4-BE49-F238E27FC236}">
                <a16:creationId xmlns:a16="http://schemas.microsoft.com/office/drawing/2014/main" id="{9F5A8E6D-22E6-47B4-8FF2-B28CD95E66F2}"/>
              </a:ext>
            </a:extLst>
          </p:cNvPr>
          <p:cNvSpPr>
            <a:spLocks noGrp="1"/>
          </p:cNvSpPr>
          <p:nvPr/>
        </p:nvSpPr>
        <p:spPr>
          <a:xfrm>
            <a:off x="609600" y="3207639"/>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[15] OECD, “OECD AI Principles,” adopted 2019, updated 2024, accessed Oct. 8, 2026.</a:t>
            </a:r>
          </a:p>
        </p:txBody>
      </p:sp>
      <p:sp>
        <p:nvSpPr>
          <p:cNvPr id="8" name="https://www.oecd.org/en/topics/ai-principles.html">
            <a:extLst>
              <a:ext uri="{FF2B5EF4-FFF2-40B4-BE49-F238E27FC236}">
                <a16:creationId xmlns:a16="http://schemas.microsoft.com/office/drawing/2014/main" id="{3A80C11A-85AF-434E-A374-71970A7A5A11}"/>
              </a:ext>
            </a:extLst>
          </p:cNvPr>
          <p:cNvSpPr>
            <a:spLocks noGrp="1"/>
          </p:cNvSpPr>
          <p:nvPr/>
        </p:nvSpPr>
        <p:spPr>
          <a:xfrm>
            <a:off x="609600" y="3522345"/>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5"/>
              </a:rPr>
              <a:t>https://www.oecd.org/en/topics/ai-principles.html</a:t>
            </a:r>
          </a:p>
        </p:txBody>
      </p:sp>
      <p:sp>
        <p:nvSpPr>
          <p:cNvPr id="9" name="[16] NIST, AI Risk Management Framework 1.0 Playbook, f">
            <a:extLst>
              <a:ext uri="{FF2B5EF4-FFF2-40B4-BE49-F238E27FC236}">
                <a16:creationId xmlns:a16="http://schemas.microsoft.com/office/drawing/2014/main" id="{58DE624A-70CD-45D8-8072-6752B8CF2B95}"/>
              </a:ext>
            </a:extLst>
          </p:cNvPr>
          <p:cNvSpPr>
            <a:spLocks noGrp="1"/>
          </p:cNvSpPr>
          <p:nvPr/>
        </p:nvSpPr>
        <p:spPr>
          <a:xfrm>
            <a:off x="609600" y="3906393"/>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[16] NIST, AI Risk Management Framework 1.0 Playbook, framework 2023, current online resource, accessed Oct. 8, 2026.</a:t>
            </a:r>
          </a:p>
        </p:txBody>
      </p:sp>
      <p:sp>
        <p:nvSpPr>
          <p:cNvPr id="10" name="https://airc.nist.gov/airmf-resources/playbook/">
            <a:extLst>
              <a:ext uri="{FF2B5EF4-FFF2-40B4-BE49-F238E27FC236}">
                <a16:creationId xmlns:a16="http://schemas.microsoft.com/office/drawing/2014/main" id="{D5D3C7B0-7C4E-428E-ABD5-3F67D053E238}"/>
              </a:ext>
            </a:extLst>
          </p:cNvPr>
          <p:cNvSpPr>
            <a:spLocks noGrp="1"/>
          </p:cNvSpPr>
          <p:nvPr/>
        </p:nvSpPr>
        <p:spPr>
          <a:xfrm>
            <a:off x="609600" y="4221099"/>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6"/>
              </a:rPr>
              <a:t>https://airc.nist.gov/airmf-resources/playbook/</a:t>
            </a:r>
          </a:p>
        </p:txBody>
      </p:sp>
      <p:sp>
        <p:nvSpPr>
          <p:cNvPr id="11" name="[17] NVIDIA, “Rotate,” NPP Image Geometry Transforms, C">
            <a:extLst>
              <a:ext uri="{FF2B5EF4-FFF2-40B4-BE49-F238E27FC236}">
                <a16:creationId xmlns:a16="http://schemas.microsoft.com/office/drawing/2014/main" id="{D0CC05E1-F394-42DB-BF6D-90211D1CE533}"/>
              </a:ext>
            </a:extLst>
          </p:cNvPr>
          <p:cNvSpPr>
            <a:spLocks noGrp="1"/>
          </p:cNvSpPr>
          <p:nvPr/>
        </p:nvSpPr>
        <p:spPr>
          <a:xfrm>
            <a:off x="609600" y="4605147"/>
            <a:ext cx="10972800" cy="286131"/>
          </a:xfrm>
          <a:prstGeom prst="rect">
            <a:avLst/>
          </a:prstGeom>
          <a:noFill/>
          <a:ln w="0">
            <a:noFill/>
          </a:ln>
        </p:spPr>
        <p:txBody>
          <a:bodyPr wrap="square" lIns="0" tIns="0" rIns="0" bIns="0" anchor="t">
            <a:noAutofit/>
          </a:bodyPr>
          <a:lstStyle>
            <a:defPPr algn="l">
              <a:defRPr sz="1575" b="0">
                <a:solidFill>
                  <a:srgbClr val="142D45"/>
                </a:solidFill>
                <a:latin typeface="Arial"/>
                <a:ea typeface="Arial"/>
                <a:cs typeface="Arial"/>
              </a:defRPr>
            </a:defPPr>
          </a:lstStyle>
          <a:p>
            <a:pPr algn="l">
              <a:defRPr sz="1575" b="0">
                <a:solidFill>
                  <a:srgbClr val="142D45"/>
                </a:solidFill>
                <a:latin typeface="Arial"/>
                <a:ea typeface="Arial"/>
                <a:cs typeface="Arial"/>
              </a:defRPr>
            </a:pPr>
            <a:r>
              <a:rPr sz="1575" b="0">
                <a:solidFill>
                  <a:srgbClr val="142D45"/>
                </a:solidFill>
                <a:latin typeface="Arial"/>
                <a:ea typeface="Arial"/>
                <a:cs typeface="Arial"/>
              </a:rPr>
              <a:t>[17] NVIDIA, “Rotate,” NPP Image Geometry Transforms, CUDA 13.0.3 archive documentation, accessed Oct. 8, 2026.</a:t>
            </a:r>
          </a:p>
        </p:txBody>
      </p:sp>
      <p:sp>
        <p:nvSpPr>
          <p:cNvPr id="12" name="https://docs.nvidia.com/cuda/archive/13.0.3/npp/image_g">
            <a:extLst>
              <a:ext uri="{FF2B5EF4-FFF2-40B4-BE49-F238E27FC236}">
                <a16:creationId xmlns:a16="http://schemas.microsoft.com/office/drawing/2014/main" id="{801C7216-FE0A-4EDD-A880-53ED1DF4686A}"/>
              </a:ext>
            </a:extLst>
          </p:cNvPr>
          <p:cNvSpPr>
            <a:spLocks noGrp="1"/>
          </p:cNvSpPr>
          <p:nvPr/>
        </p:nvSpPr>
        <p:spPr>
          <a:xfrm>
            <a:off x="609600" y="4919853"/>
            <a:ext cx="10972800" cy="250698"/>
          </a:xfrm>
          <a:prstGeom prst="rect">
            <a:avLst/>
          </a:prstGeom>
          <a:noFill/>
          <a:ln w="0">
            <a:noFill/>
          </a:ln>
        </p:spPr>
        <p:txBody>
          <a:bodyPr wrap="square" lIns="0" tIns="0" rIns="0" bIns="0" anchor="t">
            <a:noAutofit/>
          </a:bodyPr>
          <a:lstStyle>
            <a:defPPr algn="l">
              <a:defRPr sz="1350" b="0">
                <a:solidFill>
                  <a:srgbClr val="007B83"/>
                </a:solidFill>
                <a:latin typeface="Arial"/>
                <a:ea typeface="Arial"/>
                <a:cs typeface="Arial"/>
              </a:defRPr>
            </a:defPPr>
          </a:lstStyle>
          <a:p>
            <a:pPr algn="l">
              <a:defRPr sz="1350" b="0">
                <a:solidFill>
                  <a:srgbClr val="007B83"/>
                </a:solidFill>
                <a:latin typeface="Arial"/>
                <a:ea typeface="Arial"/>
                <a:cs typeface="Arial"/>
              </a:defRPr>
            </a:pPr>
            <a:r>
              <a:rPr sz="1350" b="0">
                <a:solidFill>
                  <a:srgbClr val="007B83"/>
                </a:solidFill>
                <a:latin typeface="Arial"/>
                <a:ea typeface="Arial"/>
                <a:cs typeface="Arial"/>
                <a:hlinkClick r:id="rId7"/>
              </a:rPr>
              <a:t>https://docs.nvidia.com/cuda/archive/13.0.3/npp/image_geometry_transforms.html#rotate</a:t>
            </a:r>
          </a:p>
        </p:txBody>
      </p:sp>
      <p:sp>
        <p:nvSpPr>
          <p:cNvPr id="13" name="Straight Connector 12">
            <a:extLst>
              <a:ext uri="{FF2B5EF4-FFF2-40B4-BE49-F238E27FC236}">
                <a16:creationId xmlns:a16="http://schemas.microsoft.com/office/drawing/2014/main" id="{54D5335B-B6CC-4944-9966-C7B716373B7F}"/>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14" name="FIT3143 Applied 2">
            <a:extLst>
              <a:ext uri="{FF2B5EF4-FFF2-40B4-BE49-F238E27FC236}">
                <a16:creationId xmlns:a16="http://schemas.microsoft.com/office/drawing/2014/main" id="{14C6A385-9404-462E-825B-8FAC55366308}"/>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5" name="45 / 46">
            <a:extLst>
              <a:ext uri="{FF2B5EF4-FFF2-40B4-BE49-F238E27FC236}">
                <a16:creationId xmlns:a16="http://schemas.microsoft.com/office/drawing/2014/main" id="{BD1B3B00-46C5-4C19-BC64-22EB9DC4DC68}"/>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47 / 48</a:t>
            </a:r>
          </a:p>
        </p:txBody>
      </p:sp>
    </p:spTree>
    <p:extLst>
      <p:ext uri="{BB962C8B-B14F-4D97-AF65-F5344CB8AC3E}">
        <p14:creationId xmlns:p14="http://schemas.microsoft.com/office/powerpoint/2010/main" val="11190672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CFCFA"/>
        </a:solidFill>
        <a:effectLst/>
      </p:bgPr>
    </p:bg>
    <p:spTree>
      <p:nvGrpSpPr>
        <p:cNvPr id="1" name=""/>
        <p:cNvGrpSpPr/>
        <p:nvPr/>
      </p:nvGrpSpPr>
      <p:grpSpPr>
        <a:xfrm>
          <a:off x="0" y="0"/>
          <a:ext cx="0" cy="0"/>
          <a:chOff x="0" y="0"/>
          <a:chExt cx="0" cy="0"/>
        </a:xfrm>
      </p:grpSpPr>
      <p:sp>
        <p:nvSpPr>
          <p:cNvPr id="11" name="Appendix • AI declaration">
            <a:extLst>
              <a:ext uri="{FF2B5EF4-FFF2-40B4-BE49-F238E27FC236}">
                <a16:creationId xmlns:a16="http://schemas.microsoft.com/office/drawing/2014/main" id="{55634464-3AD0-41D9-945A-85F0288A9C75}"/>
              </a:ext>
            </a:extLst>
          </p:cNvPr>
          <p:cNvSpPr>
            <a:spLocks noGrp="1"/>
          </p:cNvSpPr>
          <p:nvPr/>
        </p:nvSpPr>
        <p:spPr>
          <a:xfrm>
            <a:off x="609600" y="285750"/>
            <a:ext cx="10972800" cy="227076"/>
          </a:xfrm>
          <a:prstGeom prst="rect">
            <a:avLst/>
          </a:prstGeom>
          <a:noFill/>
          <a:ln w="0">
            <a:noFill/>
          </a:ln>
        </p:spPr>
        <p:txBody>
          <a:bodyPr wrap="square" lIns="0" tIns="0" rIns="0" bIns="0" anchor="t">
            <a:noAutofit/>
          </a:bodyPr>
          <a:lstStyle>
            <a:defPPr algn="l">
              <a:defRPr sz="1200" b="1">
                <a:solidFill>
                  <a:srgbClr val="007B83"/>
                </a:solidFill>
                <a:latin typeface="Arial"/>
                <a:ea typeface="Arial"/>
                <a:cs typeface="Arial"/>
              </a:defRPr>
            </a:defPPr>
          </a:lstStyle>
          <a:p>
            <a:pPr algn="l">
              <a:defRPr sz="1200" b="1">
                <a:solidFill>
                  <a:srgbClr val="007B83"/>
                </a:solidFill>
                <a:latin typeface="Arial"/>
                <a:ea typeface="Arial"/>
                <a:cs typeface="Arial"/>
              </a:defRPr>
            </a:pPr>
            <a:r>
              <a:rPr sz="1200" b="1">
                <a:solidFill>
                  <a:srgbClr val="007B83"/>
                </a:solidFill>
                <a:latin typeface="Arial"/>
                <a:ea typeface="Arial"/>
                <a:cs typeface="Arial"/>
              </a:rPr>
              <a:t>Appendix • AI declaration</a:t>
            </a:r>
          </a:p>
        </p:txBody>
      </p:sp>
      <p:sp>
        <p:nvSpPr>
          <p:cNvPr id="2" name="AI use declaration">
            <a:extLst>
              <a:ext uri="{FF2B5EF4-FFF2-40B4-BE49-F238E27FC236}">
                <a16:creationId xmlns:a16="http://schemas.microsoft.com/office/drawing/2014/main" id="{7C187805-9B0C-499F-A86F-8EC57907FEBF}"/>
              </a:ext>
            </a:extLst>
          </p:cNvPr>
          <p:cNvSpPr>
            <a:spLocks noGrp="1"/>
          </p:cNvSpPr>
          <p:nvPr/>
        </p:nvSpPr>
        <p:spPr>
          <a:xfrm>
            <a:off x="609600" y="647700"/>
            <a:ext cx="10972800" cy="714375"/>
          </a:xfrm>
          <a:prstGeom prst="rect">
            <a:avLst/>
          </a:prstGeom>
          <a:noFill/>
          <a:ln w="0">
            <a:noFill/>
          </a:ln>
        </p:spPr>
        <p:txBody>
          <a:bodyPr wrap="square" lIns="0" tIns="0" rIns="0" bIns="0" anchor="t">
            <a:noAutofit/>
          </a:bodyPr>
          <a:lstStyle>
            <a:defPPr algn="l">
              <a:defRPr sz="2700" b="1">
                <a:solidFill>
                  <a:srgbClr val="142D45"/>
                </a:solidFill>
                <a:latin typeface="Arial"/>
                <a:ea typeface="Arial"/>
                <a:cs typeface="Arial"/>
              </a:defRPr>
            </a:defPPr>
          </a:lstStyle>
          <a:p>
            <a:pPr algn="l">
              <a:defRPr sz="2700" b="1">
                <a:solidFill>
                  <a:srgbClr val="142D45"/>
                </a:solidFill>
                <a:latin typeface="Arial"/>
                <a:ea typeface="Arial"/>
                <a:cs typeface="Arial"/>
              </a:defRPr>
            </a:pPr>
            <a:r>
              <a:rPr sz="2700" b="1">
                <a:solidFill>
                  <a:srgbClr val="142D45"/>
                </a:solidFill>
                <a:latin typeface="Arial"/>
                <a:ea typeface="Arial"/>
                <a:cs typeface="Arial"/>
              </a:rPr>
              <a:t>AI use declaration</a:t>
            </a:r>
          </a:p>
        </p:txBody>
      </p:sp>
      <p:sp>
        <p:nvSpPr>
          <p:cNvPr id="3" name="AI model and tool">
            <a:extLst>
              <a:ext uri="{FF2B5EF4-FFF2-40B4-BE49-F238E27FC236}">
                <a16:creationId xmlns:a16="http://schemas.microsoft.com/office/drawing/2014/main" id="{12FA6C36-EDC1-48CA-8A4F-D363AEA95750}"/>
              </a:ext>
            </a:extLst>
          </p:cNvPr>
          <p:cNvSpPr>
            <a:spLocks noGrp="1"/>
          </p:cNvSpPr>
          <p:nvPr/>
        </p:nvSpPr>
        <p:spPr>
          <a:xfrm>
            <a:off x="60960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AI model and tool</a:t>
            </a:r>
          </a:p>
        </p:txBody>
      </p:sp>
      <p:sp>
        <p:nvSpPr>
          <p:cNvPr id="4" name="OpenAI GPT-6, accessed through Codex.">
            <a:extLst>
              <a:ext uri="{FF2B5EF4-FFF2-40B4-BE49-F238E27FC236}">
                <a16:creationId xmlns:a16="http://schemas.microsoft.com/office/drawing/2014/main" id="{DD7B29DC-4648-4C8A-80D7-FC07EBD28841}"/>
              </a:ext>
            </a:extLst>
          </p:cNvPr>
          <p:cNvSpPr>
            <a:spLocks noGrp="1"/>
          </p:cNvSpPr>
          <p:nvPr/>
        </p:nvSpPr>
        <p:spPr>
          <a:xfrm>
            <a:off x="609600" y="1971675"/>
            <a:ext cx="5124450" cy="309753"/>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dirty="0">
                <a:solidFill>
                  <a:srgbClr val="142D45"/>
                </a:solidFill>
                <a:latin typeface="Arial"/>
                <a:ea typeface="Arial"/>
                <a:cs typeface="Arial"/>
              </a:rPr>
              <a:t>OpenAI GPT-6, accessed through </a:t>
            </a:r>
            <a:r>
              <a:rPr lang="en-US" sz="1725" b="0" dirty="0">
                <a:solidFill>
                  <a:srgbClr val="142D45"/>
                </a:solidFill>
                <a:latin typeface="Arial"/>
                <a:ea typeface="Arial"/>
                <a:cs typeface="Arial"/>
              </a:rPr>
              <a:t>Chat GPT Chat</a:t>
            </a:r>
            <a:r>
              <a:rPr sz="1725" b="0" dirty="0">
                <a:solidFill>
                  <a:srgbClr val="142D45"/>
                </a:solidFill>
                <a:latin typeface="Arial"/>
                <a:ea typeface="Arial"/>
                <a:cs typeface="Arial"/>
              </a:rPr>
              <a:t>.</a:t>
            </a:r>
          </a:p>
        </p:txBody>
      </p:sp>
      <p:sp>
        <p:nvSpPr>
          <p:cNvPr id="5" name="How AI was used">
            <a:extLst>
              <a:ext uri="{FF2B5EF4-FFF2-40B4-BE49-F238E27FC236}">
                <a16:creationId xmlns:a16="http://schemas.microsoft.com/office/drawing/2014/main" id="{AD5FF553-4188-4BCD-A907-3DA5D5778920}"/>
              </a:ext>
            </a:extLst>
          </p:cNvPr>
          <p:cNvSpPr>
            <a:spLocks noGrp="1"/>
          </p:cNvSpPr>
          <p:nvPr/>
        </p:nvSpPr>
        <p:spPr>
          <a:xfrm>
            <a:off x="6419850" y="1543050"/>
            <a:ext cx="5124450" cy="356997"/>
          </a:xfrm>
          <a:prstGeom prst="rect">
            <a:avLst/>
          </a:prstGeom>
          <a:noFill/>
          <a:ln w="0">
            <a:noFill/>
          </a:ln>
        </p:spPr>
        <p:txBody>
          <a:bodyPr wrap="square" lIns="0" tIns="0" rIns="0" bIns="0" anchor="t">
            <a:noAutofit/>
          </a:bodyPr>
          <a:lstStyle>
            <a:defPPr algn="l">
              <a:defRPr sz="2025" b="1">
                <a:solidFill>
                  <a:srgbClr val="007B83"/>
                </a:solidFill>
                <a:latin typeface="Arial"/>
                <a:ea typeface="Arial"/>
                <a:cs typeface="Arial"/>
              </a:defRPr>
            </a:defPPr>
          </a:lstStyle>
          <a:p>
            <a:pPr algn="l">
              <a:defRPr sz="2025" b="1">
                <a:solidFill>
                  <a:srgbClr val="007B83"/>
                </a:solidFill>
                <a:latin typeface="Arial"/>
                <a:ea typeface="Arial"/>
                <a:cs typeface="Arial"/>
              </a:defRPr>
            </a:pPr>
            <a:r>
              <a:rPr sz="2025" b="1">
                <a:solidFill>
                  <a:srgbClr val="007B83"/>
                </a:solidFill>
                <a:latin typeface="Arial"/>
                <a:ea typeface="Arial"/>
                <a:cs typeface="Arial"/>
              </a:rPr>
              <a:t>How AI was used</a:t>
            </a:r>
          </a:p>
        </p:txBody>
      </p:sp>
      <p:sp>
        <p:nvSpPr>
          <p:cNvPr id="6" name="Research and source checks; drafting and revision of ex">
            <a:extLst>
              <a:ext uri="{FF2B5EF4-FFF2-40B4-BE49-F238E27FC236}">
                <a16:creationId xmlns:a16="http://schemas.microsoft.com/office/drawing/2014/main" id="{25CC38CE-13DB-439E-9E7E-4D73FB1691A1}"/>
              </a:ext>
            </a:extLst>
          </p:cNvPr>
          <p:cNvSpPr>
            <a:spLocks noGrp="1"/>
          </p:cNvSpPr>
          <p:nvPr/>
        </p:nvSpPr>
        <p:spPr>
          <a:xfrm>
            <a:off x="6419850" y="1971675"/>
            <a:ext cx="5124450" cy="1124712"/>
          </a:xfrm>
          <a:prstGeom prst="rect">
            <a:avLst/>
          </a:prstGeom>
          <a:noFill/>
          <a:ln w="0">
            <a:noFill/>
          </a:ln>
        </p:spPr>
        <p:txBody>
          <a:bodyPr wrap="square" lIns="0" tIns="0" rIns="0" bIns="0" anchor="t">
            <a:noAutofit/>
          </a:bodyPr>
          <a:lstStyle>
            <a:defPPr algn="l">
              <a:defRPr sz="1725" b="0">
                <a:solidFill>
                  <a:srgbClr val="142D45"/>
                </a:solidFill>
                <a:latin typeface="Arial"/>
                <a:ea typeface="Arial"/>
                <a:cs typeface="Arial"/>
              </a:defRPr>
            </a:defPPr>
          </a:lstStyle>
          <a:p>
            <a:pPr algn="l">
              <a:defRPr sz="1725" b="0">
                <a:solidFill>
                  <a:srgbClr val="142D45"/>
                </a:solidFill>
                <a:latin typeface="Arial"/>
                <a:ea typeface="Arial"/>
                <a:cs typeface="Arial"/>
              </a:defRPr>
            </a:pPr>
            <a:r>
              <a:rPr sz="1725" b="0">
                <a:solidFill>
                  <a:srgbClr val="142D45"/>
                </a:solidFill>
                <a:latin typeface="Arial"/>
                <a:ea typeface="Arial"/>
                <a:cs typeface="Arial"/>
              </a:rPr>
              <a:t>Research and source checks; drafting and revision</a:t>
            </a:r>
          </a:p>
          <a:p>
            <a:pPr algn="l">
              <a:defRPr sz="1725" b="0">
                <a:solidFill>
                  <a:srgbClr val="142D45"/>
                </a:solidFill>
                <a:latin typeface="Arial"/>
                <a:ea typeface="Arial"/>
                <a:cs typeface="Arial"/>
              </a:defRPr>
            </a:pPr>
            <a:r>
              <a:rPr sz="1725" b="0">
                <a:solidFill>
                  <a:srgbClr val="142D45"/>
                </a:solidFill>
                <a:latin typeface="Arial"/>
                <a:ea typeface="Arial"/>
                <a:cs typeface="Arial"/>
              </a:rPr>
              <a:t>of explanations and CUDA teaching examples;</a:t>
            </a:r>
          </a:p>
          <a:p>
            <a:pPr algn="l">
              <a:defRPr sz="1725" b="0">
                <a:solidFill>
                  <a:srgbClr val="142D45"/>
                </a:solidFill>
                <a:latin typeface="Arial"/>
                <a:ea typeface="Arial"/>
                <a:cs typeface="Arial"/>
              </a:defRPr>
            </a:pPr>
            <a:r>
              <a:rPr sz="1725" b="0">
                <a:solidFill>
                  <a:srgbClr val="142D45"/>
                </a:solidFill>
                <a:latin typeface="Arial"/>
                <a:ea typeface="Arial"/>
                <a:cs typeface="Arial"/>
              </a:rPr>
              <a:t>creation of diagrams and charts; presentation</a:t>
            </a:r>
          </a:p>
          <a:p>
            <a:pPr algn="l">
              <a:defRPr sz="1725" b="0">
                <a:solidFill>
                  <a:srgbClr val="142D45"/>
                </a:solidFill>
                <a:latin typeface="Arial"/>
                <a:ea typeface="Arial"/>
                <a:cs typeface="Arial"/>
              </a:defRPr>
            </a:pPr>
            <a:r>
              <a:rPr sz="1725" b="0">
                <a:solidFill>
                  <a:srgbClr val="142D45"/>
                </a:solidFill>
                <a:latin typeface="Arial"/>
                <a:ea typeface="Arial"/>
                <a:cs typeface="Arial"/>
              </a:rPr>
              <a:t>formatting and assembly.</a:t>
            </a:r>
          </a:p>
        </p:txBody>
      </p:sp>
      <p:sp>
        <p:nvSpPr>
          <p:cNvPr id="7" name="Straight Connector 6">
            <a:extLst>
              <a:ext uri="{FF2B5EF4-FFF2-40B4-BE49-F238E27FC236}">
                <a16:creationId xmlns:a16="http://schemas.microsoft.com/office/drawing/2014/main" id="{680B685C-8293-4985-BAD0-D18B2ABA1B55}"/>
              </a:ext>
            </a:extLst>
          </p:cNvPr>
          <p:cNvSpPr>
            <a:spLocks noGrp="1"/>
          </p:cNvSpPr>
          <p:nvPr/>
        </p:nvSpPr>
        <p:spPr>
          <a:xfrm>
            <a:off x="6086475" y="1543050"/>
            <a:ext cx="9525" cy="0"/>
          </a:xfrm>
          <a:prstGeom prst="line">
            <a:avLst/>
          </a:prstGeom>
          <a:noFill/>
          <a:ln w="9525">
            <a:solidFill>
              <a:srgbClr val="CBD5DC"/>
            </a:solidFill>
            <a:prstDash val="solid"/>
          </a:ln>
        </p:spPr>
        <p:txBody>
          <a:bodyPr/>
          <a:lstStyle/>
          <a:p>
            <a:endParaRPr lang="en-US"/>
          </a:p>
        </p:txBody>
      </p:sp>
      <p:sp>
        <p:nvSpPr>
          <p:cNvPr id="8" name="Straight Connector 7">
            <a:extLst>
              <a:ext uri="{FF2B5EF4-FFF2-40B4-BE49-F238E27FC236}">
                <a16:creationId xmlns:a16="http://schemas.microsoft.com/office/drawing/2014/main" id="{1EC47641-40B3-402F-AFF5-D1A63B5939C6}"/>
              </a:ext>
            </a:extLst>
          </p:cNvPr>
          <p:cNvSpPr>
            <a:spLocks noGrp="1"/>
          </p:cNvSpPr>
          <p:nvPr/>
        </p:nvSpPr>
        <p:spPr>
          <a:xfrm>
            <a:off x="609600" y="6324600"/>
            <a:ext cx="10972800" cy="0"/>
          </a:xfrm>
          <a:prstGeom prst="line">
            <a:avLst/>
          </a:prstGeom>
          <a:noFill/>
          <a:ln w="9525">
            <a:solidFill>
              <a:srgbClr val="CBD5DC"/>
            </a:solidFill>
            <a:prstDash val="solid"/>
          </a:ln>
        </p:spPr>
        <p:txBody>
          <a:bodyPr/>
          <a:lstStyle/>
          <a:p>
            <a:endParaRPr lang="en-US"/>
          </a:p>
        </p:txBody>
      </p:sp>
      <p:sp>
        <p:nvSpPr>
          <p:cNvPr id="9" name="FIT3143 Applied 2">
            <a:extLst>
              <a:ext uri="{FF2B5EF4-FFF2-40B4-BE49-F238E27FC236}">
                <a16:creationId xmlns:a16="http://schemas.microsoft.com/office/drawing/2014/main" id="{FEF34E80-CCF5-465E-9635-D55822CD5351}"/>
              </a:ext>
            </a:extLst>
          </p:cNvPr>
          <p:cNvSpPr>
            <a:spLocks noGrp="1"/>
          </p:cNvSpPr>
          <p:nvPr/>
        </p:nvSpPr>
        <p:spPr>
          <a:xfrm>
            <a:off x="609600" y="6438900"/>
            <a:ext cx="10096500" cy="266700"/>
          </a:xfrm>
          <a:prstGeom prst="rect">
            <a:avLst/>
          </a:prstGeom>
          <a:noFill/>
          <a:ln w="0">
            <a:noFill/>
          </a:ln>
        </p:spPr>
        <p:txBody>
          <a:bodyPr wrap="square" lIns="0" tIns="0" rIns="0" bIns="0" anchor="t">
            <a:noAutofit/>
          </a:bodyPr>
          <a:lstStyle>
            <a:defPPr algn="l">
              <a:defRPr sz="990" b="0">
                <a:solidFill>
                  <a:srgbClr val="516170"/>
                </a:solidFill>
                <a:latin typeface="Arial"/>
                <a:ea typeface="Arial"/>
                <a:cs typeface="Arial"/>
              </a:defRPr>
            </a:defPPr>
          </a:lstStyle>
          <a:p>
            <a:pPr algn="l">
              <a:defRPr sz="990" b="0">
                <a:solidFill>
                  <a:srgbClr val="516170"/>
                </a:solidFill>
                <a:latin typeface="Arial"/>
                <a:ea typeface="Arial"/>
                <a:cs typeface="Arial"/>
              </a:defRPr>
            </a:pPr>
            <a:r>
              <a:rPr sz="990" b="0">
                <a:solidFill>
                  <a:srgbClr val="516170"/>
                </a:solidFill>
                <a:latin typeface="Arial"/>
                <a:ea typeface="Arial"/>
                <a:cs typeface="Arial"/>
              </a:rPr>
              <a:t>FIT3143 Applied 2</a:t>
            </a:r>
          </a:p>
        </p:txBody>
      </p:sp>
      <p:sp>
        <p:nvSpPr>
          <p:cNvPr id="10" name="46 / 46">
            <a:extLst>
              <a:ext uri="{FF2B5EF4-FFF2-40B4-BE49-F238E27FC236}">
                <a16:creationId xmlns:a16="http://schemas.microsoft.com/office/drawing/2014/main" id="{213349B5-ECD4-4F34-9C91-6D925DBECCD2}"/>
              </a:ext>
            </a:extLst>
          </p:cNvPr>
          <p:cNvSpPr>
            <a:spLocks noGrp="1"/>
          </p:cNvSpPr>
          <p:nvPr/>
        </p:nvSpPr>
        <p:spPr>
          <a:xfrm>
            <a:off x="10953750" y="6438900"/>
            <a:ext cx="628650" cy="209550"/>
          </a:xfrm>
          <a:prstGeom prst="rect">
            <a:avLst/>
          </a:prstGeom>
          <a:noFill/>
          <a:ln w="0">
            <a:noFill/>
          </a:ln>
        </p:spPr>
        <p:txBody>
          <a:bodyPr wrap="square" lIns="0" tIns="0" rIns="0" bIns="0" anchor="t">
            <a:noAutofit/>
          </a:bodyPr>
          <a:lstStyle>
            <a:defPPr algn="r">
              <a:defRPr sz="990" b="0">
                <a:solidFill>
                  <a:srgbClr val="516170"/>
                </a:solidFill>
                <a:latin typeface="Arial"/>
                <a:ea typeface="Arial"/>
                <a:cs typeface="Arial"/>
              </a:defRPr>
            </a:defPPr>
          </a:lstStyle>
          <a:p>
            <a:pPr algn="r">
              <a:defRPr sz="990" b="0">
                <a:solidFill>
                  <a:srgbClr val="516170"/>
                </a:solidFill>
                <a:latin typeface="Arial"/>
                <a:ea typeface="Arial"/>
                <a:cs typeface="Arial"/>
              </a:defRPr>
            </a:pPr>
            <a:r>
              <a:rPr sz="990" b="0">
                <a:solidFill>
                  <a:srgbClr val="516170"/>
                </a:solidFill>
                <a:latin typeface="Arial"/>
                <a:ea typeface="Arial"/>
                <a:cs typeface="Arial"/>
              </a:rPr>
              <a:t>48 / 48</a:t>
            </a:r>
          </a:p>
        </p:txBody>
      </p:sp>
    </p:spTree>
    <p:extLst>
      <p:ext uri="{BB962C8B-B14F-4D97-AF65-F5344CB8AC3E}">
        <p14:creationId xmlns:p14="http://schemas.microsoft.com/office/powerpoint/2010/main" val="184967563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14158</Words>
  <Application>Microsoft Office PowerPoint</Application>
  <DocSecurity>0</DocSecurity>
  <PresentationFormat>Widescreen</PresentationFormat>
  <Paragraphs>1414</Paragraphs>
  <Slides>48</Slides>
  <Notes>48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Aptos</vt:lpstr>
      <vt:lpstr>Arial</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Savin de Alwis</cp:lastModifiedBy>
  <cp:revision>2</cp:revision>
  <dcterms:created xsi:type="dcterms:W3CDTF">2026-10-08T14:30:36Z</dcterms:created>
  <dcterms:modified xsi:type="dcterms:W3CDTF">2026-10-09T06:52:35Z</dcterms:modified>
</cp:coreProperties>
</file>